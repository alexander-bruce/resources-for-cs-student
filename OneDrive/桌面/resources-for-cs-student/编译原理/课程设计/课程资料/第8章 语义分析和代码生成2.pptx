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Lst>
  <p:notesMasterIdLst>
    <p:notesMasterId r:id="rId99"/>
  </p:notesMasterIdLst>
  <p:handoutMasterIdLst>
    <p:handoutMasterId r:id="rId100"/>
  </p:handoutMasterIdLst>
  <p:sldIdLst>
    <p:sldId id="549" r:id="rId5"/>
    <p:sldId id="313" r:id="rId6"/>
    <p:sldId id="492" r:id="rId7"/>
    <p:sldId id="493" r:id="rId8"/>
    <p:sldId id="494" r:id="rId9"/>
    <p:sldId id="495" r:id="rId10"/>
    <p:sldId id="496" r:id="rId11"/>
    <p:sldId id="497" r:id="rId12"/>
    <p:sldId id="498" r:id="rId13"/>
    <p:sldId id="355" r:id="rId14"/>
    <p:sldId id="465" r:id="rId15"/>
    <p:sldId id="467" r:id="rId16"/>
    <p:sldId id="468" r:id="rId17"/>
    <p:sldId id="469" r:id="rId18"/>
    <p:sldId id="470" r:id="rId19"/>
    <p:sldId id="472" r:id="rId20"/>
    <p:sldId id="477" r:id="rId21"/>
    <p:sldId id="471" r:id="rId22"/>
    <p:sldId id="357" r:id="rId23"/>
    <p:sldId id="415" r:id="rId24"/>
    <p:sldId id="358" r:id="rId25"/>
    <p:sldId id="296" r:id="rId26"/>
    <p:sldId id="323" r:id="rId27"/>
    <p:sldId id="359" r:id="rId28"/>
    <p:sldId id="361" r:id="rId29"/>
    <p:sldId id="362" r:id="rId30"/>
    <p:sldId id="360" r:id="rId31"/>
    <p:sldId id="363" r:id="rId32"/>
    <p:sldId id="478" r:id="rId33"/>
    <p:sldId id="365" r:id="rId34"/>
    <p:sldId id="367" r:id="rId35"/>
    <p:sldId id="499" r:id="rId36"/>
    <p:sldId id="458" r:id="rId37"/>
    <p:sldId id="375" r:id="rId38"/>
    <p:sldId id="377" r:id="rId39"/>
    <p:sldId id="376" r:id="rId40"/>
    <p:sldId id="366" r:id="rId41"/>
    <p:sldId id="379" r:id="rId42"/>
    <p:sldId id="380" r:id="rId43"/>
    <p:sldId id="381" r:id="rId44"/>
    <p:sldId id="461" r:id="rId45"/>
    <p:sldId id="382" r:id="rId46"/>
    <p:sldId id="384" r:id="rId47"/>
    <p:sldId id="385" r:id="rId48"/>
    <p:sldId id="383" r:id="rId49"/>
    <p:sldId id="386" r:id="rId50"/>
    <p:sldId id="387" r:id="rId51"/>
    <p:sldId id="388" r:id="rId52"/>
    <p:sldId id="389" r:id="rId53"/>
    <p:sldId id="390" r:id="rId54"/>
    <p:sldId id="391" r:id="rId55"/>
    <p:sldId id="392" r:id="rId56"/>
    <p:sldId id="393" r:id="rId57"/>
    <p:sldId id="394" r:id="rId58"/>
    <p:sldId id="395" r:id="rId59"/>
    <p:sldId id="396" r:id="rId60"/>
    <p:sldId id="397" r:id="rId61"/>
    <p:sldId id="398" r:id="rId62"/>
    <p:sldId id="400" r:id="rId63"/>
    <p:sldId id="402" r:id="rId64"/>
    <p:sldId id="403" r:id="rId65"/>
    <p:sldId id="406" r:id="rId66"/>
    <p:sldId id="407" r:id="rId67"/>
    <p:sldId id="408" r:id="rId68"/>
    <p:sldId id="409" r:id="rId69"/>
    <p:sldId id="404" r:id="rId70"/>
    <p:sldId id="405" r:id="rId71"/>
    <p:sldId id="410" r:id="rId72"/>
    <p:sldId id="411" r:id="rId73"/>
    <p:sldId id="480" r:id="rId74"/>
    <p:sldId id="414" r:id="rId75"/>
    <p:sldId id="500" r:id="rId76"/>
    <p:sldId id="501" r:id="rId77"/>
    <p:sldId id="503" r:id="rId78"/>
    <p:sldId id="504" r:id="rId79"/>
    <p:sldId id="505" r:id="rId80"/>
    <p:sldId id="506" r:id="rId81"/>
    <p:sldId id="507" r:id="rId82"/>
    <p:sldId id="508" r:id="rId83"/>
    <p:sldId id="509" r:id="rId84"/>
    <p:sldId id="510" r:id="rId85"/>
    <p:sldId id="511" r:id="rId86"/>
    <p:sldId id="512" r:id="rId87"/>
    <p:sldId id="513" r:id="rId88"/>
    <p:sldId id="514" r:id="rId89"/>
    <p:sldId id="515" r:id="rId90"/>
    <p:sldId id="516" r:id="rId91"/>
    <p:sldId id="517" r:id="rId92"/>
    <p:sldId id="518" r:id="rId93"/>
    <p:sldId id="519" r:id="rId94"/>
    <p:sldId id="520" r:id="rId95"/>
    <p:sldId id="521" r:id="rId96"/>
    <p:sldId id="522" r:id="rId97"/>
    <p:sldId id="258" r:id="rId98"/>
  </p:sldIdLst>
  <p:sldSz cx="9144000" cy="6858000" type="screen4x3"/>
  <p:notesSz cx="6797675" cy="99282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06AD"/>
    <a:srgbClr val="0066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4413" autoAdjust="0"/>
  </p:normalViewPr>
  <p:slideViewPr>
    <p:cSldViewPr snapToGrid="0">
      <p:cViewPr varScale="1">
        <p:scale>
          <a:sx n="95" d="100"/>
          <a:sy n="95" d="100"/>
        </p:scale>
        <p:origin x="2046"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viewProps" Target="viewProp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slideMaster" Target="slideMasters/slideMaster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2025/4/17</a:t>
            </a:fld>
            <a:endParaRPr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35281348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2025/4/17</a:t>
            </a:fld>
            <a:endParaRPr lang="zh-CN" altLang="en-US"/>
          </a:p>
        </p:txBody>
      </p:sp>
      <p:sp>
        <p:nvSpPr>
          <p:cNvPr id="4" name="幻灯片图像占位符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644574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为什么叫波兰后缀表示？后缀表示法又称逆波兰表示法，它是波兰逻辑学家卢卡西维奇发明的一种表示表达式的方法。</a:t>
            </a:r>
          </a:p>
          <a:p>
            <a:r>
              <a:rPr lang="zh-CN" altLang="en-US" dirty="0"/>
              <a:t>这种表示法把运算量写在前面，把运算符写在后面（后缀），例如a+b写作ab+，</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31</a:t>
            </a:fld>
            <a:endParaRPr lang="zh-CN" altLang="en-US"/>
          </a:p>
        </p:txBody>
      </p:sp>
    </p:spTree>
    <p:extLst>
      <p:ext uri="{BB962C8B-B14F-4D97-AF65-F5344CB8AC3E}">
        <p14:creationId xmlns:p14="http://schemas.microsoft.com/office/powerpoint/2010/main" val="3702266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参数中包括变量和字面常量，字面常量需要在左右加上单引号；</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41</a:t>
            </a:fld>
            <a:endParaRPr lang="zh-CN" altLang="en-US"/>
          </a:p>
        </p:txBody>
      </p:sp>
    </p:spTree>
    <p:extLst>
      <p:ext uri="{BB962C8B-B14F-4D97-AF65-F5344CB8AC3E}">
        <p14:creationId xmlns:p14="http://schemas.microsoft.com/office/powerpoint/2010/main" val="134502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76</a:t>
            </a:fld>
            <a:endParaRPr lang="zh-CN" altLang="en-US"/>
          </a:p>
        </p:txBody>
      </p:sp>
    </p:spTree>
    <p:extLst>
      <p:ext uri="{BB962C8B-B14F-4D97-AF65-F5344CB8AC3E}">
        <p14:creationId xmlns:p14="http://schemas.microsoft.com/office/powerpoint/2010/main" val="1664955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 name="矩形 7"/>
          <p:cNvSpPr/>
          <p:nvPr userDrawn="1"/>
        </p:nvSpPr>
        <p:spPr>
          <a:xfrm>
            <a:off x="0" y="1551305"/>
            <a:ext cx="9144000" cy="2051050"/>
          </a:xfrm>
          <a:prstGeom prst="rect">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b="1" dirty="0"/>
          </a:p>
        </p:txBody>
      </p:sp>
      <p:sp>
        <p:nvSpPr>
          <p:cNvPr id="2" name="标题 1"/>
          <p:cNvSpPr>
            <a:spLocks noGrp="1"/>
          </p:cNvSpPr>
          <p:nvPr>
            <p:ph type="ctrTitle"/>
          </p:nvPr>
        </p:nvSpPr>
        <p:spPr>
          <a:xfrm>
            <a:off x="504190" y="2025650"/>
            <a:ext cx="8135620" cy="936625"/>
          </a:xfrm>
        </p:spPr>
        <p:txBody>
          <a:bodyPr anchor="b"/>
          <a:lstStyle>
            <a:lvl1pPr algn="ctr">
              <a:defRPr sz="4800" b="1" u="none" strike="noStrike" kern="1200" cap="none" spc="0" normalizeH="0">
                <a:solidFill>
                  <a:schemeClr val="bg1"/>
                </a:solidFill>
              </a:defRPr>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4000" b="1" u="none" strike="noStrike" kern="1200" cap="none" spc="0" normalizeH="0">
                <a:solidFill>
                  <a:srgbClr val="0066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1912F6A-28D3-46E7-BE05-E34C3FC71DBB}" type="datetime1">
              <a:rPr lang="zh-CN" altLang="en-US" smtClean="0"/>
              <a:t>2025/4/17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cxnSp>
        <p:nvCxnSpPr>
          <p:cNvPr id="12" name="直接连接符 11"/>
          <p:cNvCxnSpPr/>
          <p:nvPr/>
        </p:nvCxnSpPr>
        <p:spPr>
          <a:xfrm flipV="1">
            <a:off x="0" y="4611370"/>
            <a:ext cx="9144067" cy="23495"/>
          </a:xfrm>
          <a:prstGeom prst="line">
            <a:avLst/>
          </a:prstGeom>
          <a:ln w="63500" cmpd="sng">
            <a:solidFill>
              <a:srgbClr val="0066FF"/>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4" name="文本占位符 13"/>
          <p:cNvSpPr>
            <a:spLocks noGrp="1"/>
          </p:cNvSpPr>
          <p:nvPr>
            <p:ph type="body" idx="1"/>
          </p:nvPr>
        </p:nvSpPr>
        <p:spPr>
          <a:xfrm>
            <a:off x="375920" y="793750"/>
            <a:ext cx="8361680" cy="5563235"/>
          </a:xfrm>
          <a:prstGeom prst="rect">
            <a:avLst/>
          </a:prstGeom>
        </p:spPr>
        <p:txBody>
          <a:bodyPr vert="horz" lIns="91440" tIns="45720" rIns="91440" bIns="45720" rtlCol="0">
            <a:normAutofit/>
          </a:bodyPr>
          <a:lstStyle>
            <a:lvl1pPr>
              <a:defRPr u="none" strike="noStrike" kern="1200" cap="none" spc="0" normalizeH="0" baseline="0">
                <a:solidFill>
                  <a:srgbClr val="0206AD"/>
                </a:solidFill>
                <a:uFillTx/>
                <a:latin typeface="Times New Roman" panose="02020603050405020304" pitchFamily="18" charset="0"/>
                <a:ea typeface="黑体" panose="02010609060101010101" charset="-122"/>
              </a:defRPr>
            </a:lvl1pPr>
            <a:lvl2pPr>
              <a:defRPr u="none" strike="noStrike" kern="1200" cap="none" spc="0" normalizeH="0" baseline="0">
                <a:solidFill>
                  <a:srgbClr val="0066FF"/>
                </a:solidFill>
                <a:uFillTx/>
                <a:latin typeface="Times New Roman" panose="02020603050405020304" pitchFamily="18" charset="0"/>
              </a:defRPr>
            </a:lvl2pPr>
            <a:lvl3pPr>
              <a:defRPr u="none" strike="noStrike" kern="1200" cap="none" spc="0" normalizeH="0" baseline="0">
                <a:solidFill>
                  <a:srgbClr val="0206AD"/>
                </a:solidFill>
                <a:uFillTx/>
                <a:latin typeface="Times New Roman" panose="02020603050405020304" pitchFamily="18" charset="0"/>
              </a:defRPr>
            </a:lvl3pPr>
            <a:lvl4pPr>
              <a:defRPr baseline="0">
                <a:latin typeface="Times New Roman" panose="02020603050405020304" pitchFamily="18" charset="0"/>
              </a:defRPr>
            </a:lvl4pPr>
          </a:lstStyle>
          <a:p>
            <a:pPr lvl="0"/>
            <a:r>
              <a:rPr lang="zh-CN" altLang="en-US"/>
              <a:t>单击此处编辑母版文本样式</a:t>
            </a:r>
          </a:p>
          <a:p>
            <a:pPr lvl="1"/>
            <a:r>
              <a:rPr lang="zh-CN" altLang="en-US"/>
              <a:t>第二级</a:t>
            </a:r>
          </a:p>
          <a:p>
            <a:pPr lvl="2"/>
            <a:r>
              <a:rPr lang="zh-CN" altLang="en-US"/>
              <a:t>第三级</a:t>
            </a:r>
          </a:p>
          <a:p>
            <a:pPr lvl="3"/>
            <a:endParaRPr lang="zh-CN" altLang="en-US"/>
          </a:p>
        </p:txBody>
      </p:sp>
      <p:sp>
        <p:nvSpPr>
          <p:cNvPr id="15" name="日期占位符 14"/>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baseline="0">
                <a:solidFill>
                  <a:schemeClr val="tx1">
                    <a:tint val="75000"/>
                  </a:schemeClr>
                </a:solidFill>
                <a:latin typeface="Times New Roman" panose="02020603050405020304" pitchFamily="18" charset="0"/>
              </a:defRPr>
            </a:lvl1pPr>
          </a:lstStyle>
          <a:p>
            <a:fld id="{551EB0F3-E6A7-4A58-9901-54E4436D3DB6}" type="datetime1">
              <a:rPr lang="zh-CN" altLang="en-US" smtClean="0"/>
              <a:t>2025/4/17</a:t>
            </a:fld>
            <a:endParaRPr lang="zh-CN" altLang="en-US"/>
          </a:p>
        </p:txBody>
      </p:sp>
      <p:sp>
        <p:nvSpPr>
          <p:cNvPr id="16" name="页脚占位符 15"/>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aseline="0">
                <a:solidFill>
                  <a:schemeClr val="tx1">
                    <a:tint val="75000"/>
                  </a:schemeClr>
                </a:solidFill>
                <a:latin typeface="Times New Roman" panose="02020603050405020304" pitchFamily="18" charset="0"/>
              </a:defRPr>
            </a:lvl1pPr>
          </a:lstStyle>
          <a:p>
            <a:endParaRPr lang="zh-CN" altLang="en-US"/>
          </a:p>
        </p:txBody>
      </p:sp>
      <p:sp>
        <p:nvSpPr>
          <p:cNvPr id="17" name="灯片编号占位符 16"/>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baseline="0">
                <a:solidFill>
                  <a:schemeClr val="tx1">
                    <a:tint val="75000"/>
                  </a:schemeClr>
                </a:solidFill>
                <a:latin typeface="Times New Roman" panose="02020603050405020304" pitchFamily="18" charset="0"/>
              </a:defRPr>
            </a:lvl1pPr>
          </a:lstStyle>
          <a:p>
            <a:fld id="{565CE74E-AB26-4998-AD42-012C4C1AD076}" type="slidenum">
              <a:rPr lang="zh-CN" altLang="en-US" smtClean="0"/>
              <a:pPr/>
              <a:t>‹#›</a:t>
            </a:fld>
            <a:endParaRPr lang="zh-CN" altLang="en-US"/>
          </a:p>
        </p:txBody>
      </p:sp>
      <p:sp>
        <p:nvSpPr>
          <p:cNvPr id="18" name="矩形 17"/>
          <p:cNvSpPr/>
          <p:nvPr userDrawn="1"/>
        </p:nvSpPr>
        <p:spPr>
          <a:xfrm>
            <a:off x="0" y="-67310"/>
            <a:ext cx="9144000" cy="750570"/>
          </a:xfrm>
          <a:prstGeom prst="rect">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b="1" baseline="0" dirty="0">
              <a:latin typeface="Times New Roman" panose="02020603050405020304" pitchFamily="18" charset="0"/>
            </a:endParaRPr>
          </a:p>
        </p:txBody>
      </p:sp>
      <p:sp>
        <p:nvSpPr>
          <p:cNvPr id="19" name="标题占位符 1"/>
          <p:cNvSpPr>
            <a:spLocks noGrp="1"/>
          </p:cNvSpPr>
          <p:nvPr>
            <p:ph type="title"/>
          </p:nvPr>
        </p:nvSpPr>
        <p:spPr>
          <a:xfrm>
            <a:off x="494030" y="69215"/>
            <a:ext cx="7886700" cy="476885"/>
          </a:xfrm>
          <a:prstGeom prst="rect">
            <a:avLst/>
          </a:prstGeom>
        </p:spPr>
        <p:txBody>
          <a:bodyPr vert="horz" lIns="91440" tIns="45720" rIns="91440" bIns="45720" rtlCol="0" anchor="ctr">
            <a:noAutofit/>
          </a:bodyPr>
          <a:lstStyle>
            <a:lvl1pPr>
              <a:defRPr b="1" u="none" strike="noStrike" kern="1200" cap="none" spc="0" normalizeH="0" baseline="0">
                <a:solidFill>
                  <a:schemeClr val="bg1"/>
                </a:solidFill>
                <a:uFillTx/>
                <a:latin typeface="Times New Roman" panose="02020603050405020304" pitchFamily="18" charset="0"/>
              </a:defRPr>
            </a:lvl1pPr>
          </a:lstStyle>
          <a:p>
            <a:r>
              <a:rPr lang="zh-CN" altLang="en-US"/>
              <a:t>单击此处编辑母版标题样式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044A36E-73BC-49E6-8502-564B2F33DABF}" type="datetime1">
              <a:rPr lang="zh-CN" altLang="en-US" smtClean="0"/>
              <a:t>2025/4/17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528E96E-9773-4C8D-AD2D-0D1A1FE3E9B2}" type="datetime1">
              <a:rPr lang="zh-CN" altLang="en-US" smtClean="0"/>
              <a:t>2025/4/17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072A64EC-DD00-4FCF-BD65-41C543FF0059}" type="datetime1">
              <a:rPr lang="zh-CN" altLang="en-US" smtClean="0"/>
              <a:t>2025/4/17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A0CA74F-324F-46F3-8F3D-7888F6B6079D}" type="datetime1">
              <a:rPr lang="zh-CN" altLang="en-US" smtClean="0"/>
              <a:t>2025/4/17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C663CC6-CA78-4C1D-8E26-2792C858DF48}" type="datetime1">
              <a:rPr lang="zh-CN" altLang="en-US" smtClean="0"/>
              <a:t>2025/4/17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188FC8F-0353-4483-9B97-632FCE5A22CB}" type="datetime1">
              <a:rPr lang="zh-CN" altLang="en-US" smtClean="0"/>
              <a:t>2025/4/17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D7453B7-56A9-4E5E-914A-5096F627F851}" type="datetime1">
              <a:rPr lang="zh-CN" altLang="en-US" smtClean="0"/>
              <a:t>2025/4/17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69F4D09-E746-4661-9C14-B02CD5445BBB}" type="datetime1">
              <a:rPr lang="zh-CN" altLang="en-US" smtClean="0"/>
              <a:t>2025/4/17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418BA22-1423-4853-9295-582F78B16BB3}" type="datetime1">
              <a:rPr lang="zh-CN" altLang="en-US" smtClean="0"/>
              <a:t>2025/4/17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
        <p:nvSpPr>
          <p:cNvPr id="5" name="Rectangle 4"/>
          <p:cNvSpPr>
            <a:spLocks noGrp="1" noChangeArrowheads="1"/>
          </p:cNvSpPr>
          <p:nvPr>
            <p:ph type="dt" sz="half" idx="10"/>
          </p:nvPr>
        </p:nvSpPr>
        <p:spPr/>
        <p:txBody>
          <a:bodyPr/>
          <a:lstStyle>
            <a:lvl1pPr>
              <a:defRPr/>
            </a:lvl1pPr>
          </a:lstStyle>
          <a:p>
            <a:fld id="{5D1BC408-30A6-4A14-B5CD-6B06A3C08262}" type="datetime1">
              <a:rPr lang="zh-CN" altLang="en-US" smtClean="0"/>
              <a:t>2025/4/17</a:t>
            </a:fld>
            <a:endParaRPr lang="zh-CN" altLang="en-US"/>
          </a:p>
        </p:txBody>
      </p:sp>
      <p:sp>
        <p:nvSpPr>
          <p:cNvPr id="6" name="Rectangle 5"/>
          <p:cNvSpPr>
            <a:spLocks noGrp="1" noChangeArrowheads="1"/>
          </p:cNvSpPr>
          <p:nvPr>
            <p:ph type="ftr" sz="quarter" idx="11"/>
          </p:nvPr>
        </p:nvSpPr>
        <p:spPr/>
        <p:txBody>
          <a:bodyPr/>
          <a:lstStyle>
            <a:lvl1pPr>
              <a:defRPr/>
            </a:lvl1pPr>
          </a:lstStyle>
          <a:p>
            <a:endParaRPr lang="zh-CN" altLang="en-US"/>
          </a:p>
        </p:txBody>
      </p:sp>
      <p:sp>
        <p:nvSpPr>
          <p:cNvPr id="7" name="Rectangle 6"/>
          <p:cNvSpPr>
            <a:spLocks noGrp="1" noChangeArrowheads="1"/>
          </p:cNvSpPr>
          <p:nvPr>
            <p:ph type="sldNum" sz="quarter" idx="12"/>
          </p:nvPr>
        </p:nvSpPr>
        <p:spPr/>
        <p:txBody>
          <a:bodyPr/>
          <a:lstStyle>
            <a:lvl1pPr>
              <a:defRPr/>
            </a:lvl1pPr>
          </a:lstStyle>
          <a:p>
            <a:fld id="{1B43473F-AE3F-4D1C-9C4F-7AD3C17AC1AD}" type="slidenum">
              <a:rPr lang="zh-CN" altLang="en-US" smtClean="0"/>
              <a:t>‹#›</a:t>
            </a:fld>
            <a:endParaRPr lang="zh-CN" altLang="en-US"/>
          </a:p>
        </p:txBody>
      </p:sp>
    </p:spTree>
    <p:extLst>
      <p:ext uri="{BB962C8B-B14F-4D97-AF65-F5344CB8AC3E}">
        <p14:creationId xmlns:p14="http://schemas.microsoft.com/office/powerpoint/2010/main" val="1615088995"/>
      </p:ext>
    </p:extLst>
  </p:cSld>
  <p:clrMapOvr>
    <a:masterClrMapping/>
  </p:clrMapOvr>
  <p:extLst mod="1">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fld id="{0F14BF42-3F00-49FE-AB19-5A312FBE8B5A}" type="datetime1">
              <a:rPr lang="zh-CN" altLang="en-US" smtClean="0">
                <a:solidFill>
                  <a:srgbClr val="000000"/>
                </a:solidFill>
              </a:rPr>
              <a:t>2025/4/17</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4E069C68-431E-4A45-A6FC-C9550DBBC2D3}"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008202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042CD23C-60D6-415F-8E21-37AE7C08A49E}" type="datetime1">
              <a:rPr lang="zh-CN" altLang="en-US" smtClean="0">
                <a:solidFill>
                  <a:srgbClr val="000000"/>
                </a:solidFill>
              </a:rPr>
              <a:t>2025/4/17</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DBBC0EF6-B603-432C-9C67-7FF4B1EAAA36}"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5867924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82C097A2-6C47-4945-B671-729B10B1D491}" type="datetime1">
              <a:rPr lang="zh-CN" altLang="en-US" smtClean="0">
                <a:solidFill>
                  <a:srgbClr val="000000"/>
                </a:solidFill>
              </a:rPr>
              <a:t>2025/4/17</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FFD03AF9-46A7-4CC2-A265-0D6A0BFDB91E}"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8241033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fld id="{8D893A1A-1132-4CEA-9E51-8146214C9759}" type="datetime1">
              <a:rPr lang="zh-CN" altLang="en-US" smtClean="0">
                <a:solidFill>
                  <a:srgbClr val="000000"/>
                </a:solidFill>
              </a:rPr>
              <a:t>2025/4/17</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71114FB1-1179-4223-9335-7007207CB1BF}"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269064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fld id="{88576D52-2309-4857-9BB8-4E4D097DA5CE}" type="datetime1">
              <a:rPr lang="zh-CN" altLang="en-US" smtClean="0">
                <a:solidFill>
                  <a:srgbClr val="000000"/>
                </a:solidFill>
              </a:rPr>
              <a:t>2025/4/17</a:t>
            </a:fld>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70962CBD-6B6C-46CB-A38F-B01190851E44}"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5340112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1B02E762-8157-4462-98AC-1F383EBA08AD}" type="datetime1">
              <a:rPr lang="zh-CN" altLang="en-US" smtClean="0">
                <a:solidFill>
                  <a:srgbClr val="000000"/>
                </a:solidFill>
              </a:rPr>
              <a:t>2025/4/17</a:t>
            </a:fld>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C105D48A-A3BD-49BC-81BE-D04E609B69AA}"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1955642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CB8B31D-E61E-4069-8862-A0D49905DBDC}" type="datetime1">
              <a:rPr lang="zh-CN" altLang="en-US" smtClean="0">
                <a:solidFill>
                  <a:srgbClr val="000000"/>
                </a:solidFill>
              </a:rPr>
              <a:t>2025/4/17</a:t>
            </a:fld>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C9B27C53-1071-4F6D-8F3A-EA274DC1B4D8}"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42942918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DF7B6FC2-DACA-4BBB-B072-C210A4DA4383}" type="datetime1">
              <a:rPr lang="zh-CN" altLang="en-US" smtClean="0">
                <a:solidFill>
                  <a:srgbClr val="000000"/>
                </a:solidFill>
              </a:rPr>
              <a:t>2025/4/17</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2D05937B-7901-428F-AAD0-43F7A4A01D09}"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0749493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C4737D34-CDD9-4315-95A3-8006BC77378C}" type="datetime1">
              <a:rPr lang="zh-CN" altLang="en-US" smtClean="0">
                <a:solidFill>
                  <a:srgbClr val="000000"/>
                </a:solidFill>
              </a:rPr>
              <a:t>2025/4/17</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2CF286E4-E15A-4826-BE58-3A4FE2EC81E9}"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453690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683678F3-7077-4D7D-B3BF-78B8783FD281}" type="datetime1">
              <a:rPr lang="zh-CN" altLang="en-US" smtClean="0">
                <a:solidFill>
                  <a:srgbClr val="000000"/>
                </a:solidFill>
              </a:rPr>
              <a:t>2025/4/17</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67F43C2-9D84-4D37-93AC-D5B9A5CB10AE}"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9770574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4E54E6B8-409F-499C-A66A-B27FD0B1F7A3}" type="datetime1">
              <a:rPr lang="zh-CN" altLang="en-US" smtClean="0">
                <a:solidFill>
                  <a:srgbClr val="000000"/>
                </a:solidFill>
              </a:rPr>
              <a:t>2025/4/17</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A429213A-1338-4F1C-A696-7B68425188E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1201070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fld id="{A8140602-1D10-4C5A-B9CA-92E3B68348A0}" type="datetime1">
              <a:rPr lang="zh-CN" altLang="en-US" smtClean="0">
                <a:solidFill>
                  <a:srgbClr val="000000"/>
                </a:solidFill>
              </a:rPr>
              <a:t>2025/4/17</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4E069C68-431E-4A45-A6FC-C9550DBBC2D3}"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1132859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E2E70147-695D-4904-B592-648871EA0AED}" type="datetime1">
              <a:rPr lang="zh-CN" altLang="en-US" smtClean="0">
                <a:solidFill>
                  <a:srgbClr val="000000"/>
                </a:solidFill>
              </a:rPr>
              <a:t>2025/4/17</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DBBC0EF6-B603-432C-9C67-7FF4B1EAAA36}"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1443967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156A6FA6-58C5-47C5-BA50-C5094F4842E4}" type="datetime1">
              <a:rPr lang="zh-CN" altLang="en-US" smtClean="0">
                <a:solidFill>
                  <a:srgbClr val="000000"/>
                </a:solidFill>
              </a:rPr>
              <a:t>2025/4/17</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FFD03AF9-46A7-4CC2-A265-0D6A0BFDB91E}"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2723623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fld id="{3802F159-ACE7-462F-A2E5-744AC9901004}" type="datetime1">
              <a:rPr lang="zh-CN" altLang="en-US" smtClean="0">
                <a:solidFill>
                  <a:srgbClr val="000000"/>
                </a:solidFill>
              </a:rPr>
              <a:t>2025/4/17</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71114FB1-1179-4223-9335-7007207CB1BF}"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0208473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fld id="{DB67EF98-DA49-40A2-BD3D-4BD727984BD1}" type="datetime1">
              <a:rPr lang="zh-CN" altLang="en-US" smtClean="0">
                <a:solidFill>
                  <a:srgbClr val="000000"/>
                </a:solidFill>
              </a:rPr>
              <a:t>2025/4/17</a:t>
            </a:fld>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70962CBD-6B6C-46CB-A38F-B01190851E44}"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022381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A3A84E08-6920-4F93-8AD4-9251A1C3EA84}" type="datetime1">
              <a:rPr lang="zh-CN" altLang="en-US" smtClean="0">
                <a:solidFill>
                  <a:srgbClr val="000000"/>
                </a:solidFill>
              </a:rPr>
              <a:t>2025/4/17</a:t>
            </a:fld>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C105D48A-A3BD-49BC-81BE-D04E609B69AA}"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1501137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F4EC4474-4DF6-4E2F-A112-3D2351852B37}" type="datetime1">
              <a:rPr lang="zh-CN" altLang="en-US" smtClean="0">
                <a:solidFill>
                  <a:srgbClr val="000000"/>
                </a:solidFill>
              </a:rPr>
              <a:t>2025/4/17</a:t>
            </a:fld>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C9B27C53-1071-4F6D-8F3A-EA274DC1B4D8}"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4087690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61AF06C6-DFB2-4A12-AA99-98F5F92C7102}" type="datetime1">
              <a:rPr lang="zh-CN" altLang="en-US" smtClean="0">
                <a:solidFill>
                  <a:srgbClr val="000000"/>
                </a:solidFill>
              </a:rPr>
              <a:t>2025/4/17</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2D05937B-7901-428F-AAD0-43F7A4A01D09}"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7434076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D6F5047E-7B18-4100-8E56-66F3C107345A}" type="datetime1">
              <a:rPr lang="zh-CN" altLang="en-US" smtClean="0">
                <a:solidFill>
                  <a:srgbClr val="000000"/>
                </a:solidFill>
              </a:rPr>
              <a:t>2025/4/17</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2CF286E4-E15A-4826-BE58-3A4FE2EC81E9}"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6205071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8095047F-B315-43E6-A49F-380A4B1DEA6B}" type="datetime1">
              <a:rPr lang="zh-CN" altLang="en-US" smtClean="0">
                <a:solidFill>
                  <a:srgbClr val="000000"/>
                </a:solidFill>
              </a:rPr>
              <a:t>2025/4/17</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67F43C2-9D84-4D37-93AC-D5B9A5CB10AE}"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4770025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48EC3D9F-6498-4F08-9D7F-0CF99D0CC167}" type="datetime1">
              <a:rPr lang="zh-CN" altLang="en-US" smtClean="0">
                <a:solidFill>
                  <a:srgbClr val="000000"/>
                </a:solidFill>
              </a:rPr>
              <a:t>2025/4/17</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A429213A-1338-4F1C-A696-7B68425188E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8429373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fld id="{077AE871-92E7-4B4D-BBE4-D694097463F1}" type="datetime1">
              <a:rPr lang="zh-CN" altLang="en-US" smtClean="0">
                <a:solidFill>
                  <a:srgbClr val="000000"/>
                </a:solidFill>
              </a:rPr>
              <a:t>2025/4/17</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4E069C68-431E-4A45-A6FC-C9550DBBC2D3}"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7813271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1A5DEBC3-12EB-4B18-BB1D-68DB0F8C9D68}" type="datetime1">
              <a:rPr lang="zh-CN" altLang="en-US" smtClean="0">
                <a:solidFill>
                  <a:srgbClr val="000000"/>
                </a:solidFill>
              </a:rPr>
              <a:t>2025/4/17</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DBBC0EF6-B603-432C-9C67-7FF4B1EAAA36}"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70132917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801FB905-F0B3-4415-B1F1-D8DE15234D46}" type="datetime1">
              <a:rPr lang="zh-CN" altLang="en-US" smtClean="0">
                <a:solidFill>
                  <a:srgbClr val="000000"/>
                </a:solidFill>
              </a:rPr>
              <a:t>2025/4/17</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FFD03AF9-46A7-4CC2-A265-0D6A0BFDB91E}"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0815543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fld id="{224A5D9C-2637-441A-A94A-508D24CAA551}" type="datetime1">
              <a:rPr lang="zh-CN" altLang="en-US" smtClean="0">
                <a:solidFill>
                  <a:srgbClr val="000000"/>
                </a:solidFill>
              </a:rPr>
              <a:t>2025/4/17</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71114FB1-1179-4223-9335-7007207CB1BF}"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411808650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fld id="{9A205CEF-BE87-4824-AF4A-FC5DA2838143}" type="datetime1">
              <a:rPr lang="zh-CN" altLang="en-US" smtClean="0">
                <a:solidFill>
                  <a:srgbClr val="000000"/>
                </a:solidFill>
              </a:rPr>
              <a:t>2025/4/17</a:t>
            </a:fld>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70962CBD-6B6C-46CB-A38F-B01190851E44}"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3474329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64B1D7FD-06BF-47B1-B58C-67D40620528B}" type="datetime1">
              <a:rPr lang="zh-CN" altLang="en-US" smtClean="0">
                <a:solidFill>
                  <a:srgbClr val="000000"/>
                </a:solidFill>
              </a:rPr>
              <a:t>2025/4/17</a:t>
            </a:fld>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C105D48A-A3BD-49BC-81BE-D04E609B69AA}"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79892051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ED95B328-A776-40F5-A865-CE355642305D}" type="datetime1">
              <a:rPr lang="zh-CN" altLang="en-US" smtClean="0">
                <a:solidFill>
                  <a:srgbClr val="000000"/>
                </a:solidFill>
              </a:rPr>
              <a:t>2025/4/17</a:t>
            </a:fld>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C9B27C53-1071-4F6D-8F3A-EA274DC1B4D8}"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5555006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15006C5E-AD7D-4FE4-B50C-2FB464A0EE17}" type="datetime1">
              <a:rPr lang="zh-CN" altLang="en-US" smtClean="0">
                <a:solidFill>
                  <a:srgbClr val="000000"/>
                </a:solidFill>
              </a:rPr>
              <a:t>2025/4/17</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2D05937B-7901-428F-AAD0-43F7A4A01D09}"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4167739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F659F92D-1572-4184-BD6C-4FD9D9505C88}" type="datetime1">
              <a:rPr lang="zh-CN" altLang="en-US" smtClean="0">
                <a:solidFill>
                  <a:srgbClr val="000000"/>
                </a:solidFill>
              </a:rPr>
              <a:t>2025/4/17</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2CF286E4-E15A-4826-BE58-3A4FE2EC81E9}"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9353449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5EB9A132-C44D-4F42-B56D-137FEFF0828B}" type="datetime1">
              <a:rPr lang="zh-CN" altLang="en-US" smtClean="0">
                <a:solidFill>
                  <a:srgbClr val="000000"/>
                </a:solidFill>
              </a:rPr>
              <a:t>2025/4/17</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67F43C2-9D84-4D37-93AC-D5B9A5CB10AE}"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7001436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BF339709-EB28-41D2-9843-1AF3CA43EDE7}" type="datetime1">
              <a:rPr lang="zh-CN" altLang="en-US" smtClean="0">
                <a:solidFill>
                  <a:srgbClr val="000000"/>
                </a:solidFill>
              </a:rPr>
              <a:t>2025/4/17</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A429213A-1338-4F1C-A696-7B68425188E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62337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1.pn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image" Target="../media/image1.pn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75920" y="793750"/>
            <a:ext cx="8361680" cy="556323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u="none" strike="noStrike" kern="1200" cap="none" spc="0" normalizeH="0" baseline="0">
                <a:solidFill>
                  <a:schemeClr val="tx1">
                    <a:tint val="75000"/>
                  </a:schemeClr>
                </a:solidFill>
                <a:latin typeface="Times New Roman" panose="02020603050405020304" charset="0"/>
              </a:defRPr>
            </a:lvl1pPr>
          </a:lstStyle>
          <a:p>
            <a:fld id="{C4427EA2-9BC6-4747-BE50-30FF99BA5548}" type="datetime1">
              <a:rPr lang="zh-CN" altLang="en-US" smtClean="0"/>
              <a:t>2025/4/17</a:t>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u="none" strike="noStrike" kern="1200" cap="none" spc="0" normalizeH="0" baseline="0">
                <a:solidFill>
                  <a:schemeClr val="tx1">
                    <a:tint val="75000"/>
                  </a:schemeClr>
                </a:solidFill>
                <a:latin typeface="Times New Roman" panose="02020603050405020304" charset="0"/>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u="none" strike="noStrike" kern="1200" cap="none" spc="0" normalizeH="0" baseline="0">
                <a:solidFill>
                  <a:schemeClr val="tx1">
                    <a:tint val="75000"/>
                  </a:schemeClr>
                </a:solidFill>
                <a:latin typeface="Times New Roman" panose="02020603050405020304" charset="0"/>
              </a:defRPr>
            </a:lvl1pPr>
          </a:lstStyle>
          <a:p>
            <a:fld id="{565CE74E-AB26-4998-AD42-012C4C1AD076}" type="slidenum">
              <a:rPr lang="zh-CN" altLang="en-US" smtClean="0"/>
              <a:pPr/>
              <a:t>‹#›</a:t>
            </a:fld>
            <a:endParaRPr lang="zh-CN" altLang="en-US"/>
          </a:p>
        </p:txBody>
      </p:sp>
      <p:sp>
        <p:nvSpPr>
          <p:cNvPr id="7" name="标题占位符 1"/>
          <p:cNvSpPr>
            <a:spLocks noGrp="1"/>
          </p:cNvSpPr>
          <p:nvPr>
            <p:ph type="title"/>
          </p:nvPr>
        </p:nvSpPr>
        <p:spPr>
          <a:xfrm>
            <a:off x="49530" y="69215"/>
            <a:ext cx="7886700" cy="476885"/>
          </a:xfrm>
          <a:prstGeom prst="rect">
            <a:avLst/>
          </a:prstGeom>
        </p:spPr>
        <p:txBody>
          <a:bodyPr vert="horz" lIns="91440" tIns="45720" rIns="91440" bIns="45720" rtlCol="0" anchor="ctr">
            <a:noAutofit/>
          </a:bodyPr>
          <a:lstStyle/>
          <a:p>
            <a:r>
              <a:rPr lang="zh-CN" altLang="en-US"/>
              <a:t>单击此处编辑母版标题样式</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96" r:id="rId12"/>
  </p:sldLayoutIdLst>
  <p:hf hdr="0" ftr="0" dt="0"/>
  <p:txStyles>
    <p:titleStyle>
      <a:lvl1pPr algn="l" defTabSz="914400" rtl="0" eaLnBrk="1" latinLnBrk="0" hangingPunct="1">
        <a:lnSpc>
          <a:spcPct val="90000"/>
        </a:lnSpc>
        <a:spcBef>
          <a:spcPct val="0"/>
        </a:spcBef>
        <a:buNone/>
        <a:defRPr sz="3600" u="none" strike="noStrike" kern="1200" cap="none" spc="0" normalizeH="0" baseline="0">
          <a:solidFill>
            <a:srgbClr val="0066FF"/>
          </a:solidFill>
          <a:latin typeface="Times New Roman" panose="02020603050405020304" charset="0"/>
          <a:ea typeface="黑体" panose="02010609060101010101" charset="-122"/>
          <a:cs typeface="+mj-cs"/>
        </a:defRPr>
      </a:lvl1pPr>
    </p:titleStyle>
    <p:body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baseline="0">
          <a:solidFill>
            <a:srgbClr val="0066FF"/>
          </a:solidFill>
          <a:uFillTx/>
          <a:latin typeface="Times New Roman" panose="02020603050405020304" charset="0"/>
          <a:ea typeface="黑体" panose="02010609060101010101" charset="-122"/>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baseline="0">
          <a:solidFill>
            <a:srgbClr val="0066FF"/>
          </a:solidFill>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baseline="0">
          <a:solidFill>
            <a:srgbClr val="0066FF"/>
          </a:solidFill>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baseline="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09600" y="65341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vl1pPr>
          </a:lstStyle>
          <a:p>
            <a:pPr fontAlgn="base">
              <a:spcBef>
                <a:spcPct val="0"/>
              </a:spcBef>
              <a:spcAft>
                <a:spcPct val="0"/>
              </a:spcAft>
            </a:pPr>
            <a:fld id="{FFDB92F7-F3FC-4CF4-BC1A-43DB4F44DE2F}" type="datetime1">
              <a:rPr lang="zh-CN" altLang="en-US" smtClean="0">
                <a:solidFill>
                  <a:srgbClr val="000000"/>
                </a:solidFill>
              </a:rPr>
              <a:t>2025/4/17</a:t>
            </a:fld>
            <a:endParaRPr lang="en-US" altLang="zh-CN">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a:lvl1pPr>
          </a:lstStyle>
          <a:p>
            <a:pPr fontAlgn="base">
              <a:spcBef>
                <a:spcPct val="0"/>
              </a:spcBef>
              <a:spcAft>
                <a:spcPct val="0"/>
              </a:spcAft>
            </a:pPr>
            <a:endParaRPr lang="en-US" altLang="zh-CN">
              <a:solidFill>
                <a:srgbClr val="000000"/>
              </a:solidFill>
            </a:endParaRPr>
          </a:p>
        </p:txBody>
      </p:sp>
      <p:sp>
        <p:nvSpPr>
          <p:cNvPr id="1030" name="Rectangle 6"/>
          <p:cNvSpPr>
            <a:spLocks noGrp="1" noChangeArrowheads="1"/>
          </p:cNvSpPr>
          <p:nvPr>
            <p:ph type="sldNum" sz="quarter" idx="4"/>
          </p:nvPr>
        </p:nvSpPr>
        <p:spPr bwMode="auto">
          <a:xfrm>
            <a:off x="6934200" y="65341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vl1pPr>
          </a:lstStyle>
          <a:p>
            <a:pPr fontAlgn="base">
              <a:spcBef>
                <a:spcPct val="0"/>
              </a:spcBef>
              <a:spcAft>
                <a:spcPct val="0"/>
              </a:spcAft>
            </a:pPr>
            <a:fld id="{552B0FDC-A464-4BCA-89F9-60F74F928364}" type="slidenum">
              <a:rPr lang="en-US" altLang="zh-CN" smtClean="0">
                <a:solidFill>
                  <a:srgbClr val="000000"/>
                </a:solidFill>
              </a:rPr>
              <a:pPr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31587719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fontAlgn="base">
        <a:spcBef>
          <a:spcPct val="0"/>
        </a:spcBef>
        <a:spcAft>
          <a:spcPct val="0"/>
        </a:spcAft>
        <a:defRPr sz="4400" b="1">
          <a:solidFill>
            <a:srgbClr val="0000CC"/>
          </a:solidFill>
          <a:latin typeface="+mj-lt"/>
          <a:ea typeface="+mj-ea"/>
          <a:cs typeface="+mj-cs"/>
        </a:defRPr>
      </a:lvl1pPr>
      <a:lvl2pPr algn="ctr" rtl="0" fontAlgn="base">
        <a:spcBef>
          <a:spcPct val="0"/>
        </a:spcBef>
        <a:spcAft>
          <a:spcPct val="0"/>
        </a:spcAft>
        <a:defRPr sz="4400" b="1">
          <a:solidFill>
            <a:srgbClr val="0000CC"/>
          </a:solidFill>
          <a:latin typeface="Arial" charset="0"/>
          <a:ea typeface="宋体" charset="-122"/>
        </a:defRPr>
      </a:lvl2pPr>
      <a:lvl3pPr algn="ctr" rtl="0" fontAlgn="base">
        <a:spcBef>
          <a:spcPct val="0"/>
        </a:spcBef>
        <a:spcAft>
          <a:spcPct val="0"/>
        </a:spcAft>
        <a:defRPr sz="4400" b="1">
          <a:solidFill>
            <a:srgbClr val="0000CC"/>
          </a:solidFill>
          <a:latin typeface="Arial" charset="0"/>
          <a:ea typeface="宋体" charset="-122"/>
        </a:defRPr>
      </a:lvl3pPr>
      <a:lvl4pPr algn="ctr" rtl="0" fontAlgn="base">
        <a:spcBef>
          <a:spcPct val="0"/>
        </a:spcBef>
        <a:spcAft>
          <a:spcPct val="0"/>
        </a:spcAft>
        <a:defRPr sz="4400" b="1">
          <a:solidFill>
            <a:srgbClr val="0000CC"/>
          </a:solidFill>
          <a:latin typeface="Arial" charset="0"/>
          <a:ea typeface="宋体" charset="-122"/>
        </a:defRPr>
      </a:lvl4pPr>
      <a:lvl5pPr algn="ctr" rtl="0" fontAlgn="base">
        <a:spcBef>
          <a:spcPct val="0"/>
        </a:spcBef>
        <a:spcAft>
          <a:spcPct val="0"/>
        </a:spcAft>
        <a:defRPr sz="4400" b="1">
          <a:solidFill>
            <a:srgbClr val="0000CC"/>
          </a:solidFill>
          <a:latin typeface="Arial" charset="0"/>
          <a:ea typeface="宋体" charset="-122"/>
        </a:defRPr>
      </a:lvl5pPr>
      <a:lvl6pPr marL="457200" algn="ctr" rtl="0" fontAlgn="base">
        <a:spcBef>
          <a:spcPct val="0"/>
        </a:spcBef>
        <a:spcAft>
          <a:spcPct val="0"/>
        </a:spcAft>
        <a:defRPr sz="4400" b="1">
          <a:solidFill>
            <a:srgbClr val="0000CC"/>
          </a:solidFill>
          <a:latin typeface="Arial" charset="0"/>
          <a:ea typeface="宋体" charset="-122"/>
        </a:defRPr>
      </a:lvl6pPr>
      <a:lvl7pPr marL="914400" algn="ctr" rtl="0" fontAlgn="base">
        <a:spcBef>
          <a:spcPct val="0"/>
        </a:spcBef>
        <a:spcAft>
          <a:spcPct val="0"/>
        </a:spcAft>
        <a:defRPr sz="4400" b="1">
          <a:solidFill>
            <a:srgbClr val="0000CC"/>
          </a:solidFill>
          <a:latin typeface="Arial" charset="0"/>
          <a:ea typeface="宋体" charset="-122"/>
        </a:defRPr>
      </a:lvl7pPr>
      <a:lvl8pPr marL="1371600" algn="ctr" rtl="0" fontAlgn="base">
        <a:spcBef>
          <a:spcPct val="0"/>
        </a:spcBef>
        <a:spcAft>
          <a:spcPct val="0"/>
        </a:spcAft>
        <a:defRPr sz="4400" b="1">
          <a:solidFill>
            <a:srgbClr val="0000CC"/>
          </a:solidFill>
          <a:latin typeface="Arial" charset="0"/>
          <a:ea typeface="宋体" charset="-122"/>
        </a:defRPr>
      </a:lvl8pPr>
      <a:lvl9pPr marL="1828800" algn="ctr" rtl="0" fontAlgn="base">
        <a:spcBef>
          <a:spcPct val="0"/>
        </a:spcBef>
        <a:spcAft>
          <a:spcPct val="0"/>
        </a:spcAft>
        <a:defRPr sz="4400" b="1">
          <a:solidFill>
            <a:srgbClr val="0000CC"/>
          </a:solidFill>
          <a:latin typeface="Arial" charset="0"/>
          <a:ea typeface="宋体" charset="-122"/>
        </a:defRPr>
      </a:lvl9pPr>
    </p:titleStyle>
    <p:bodyStyle>
      <a:lvl1pPr marL="342900" indent="-342900" algn="l" rtl="0" fontAlgn="base">
        <a:spcBef>
          <a:spcPct val="20000"/>
        </a:spcBef>
        <a:spcAft>
          <a:spcPct val="0"/>
        </a:spcAft>
        <a:buBlip>
          <a:blip r:embed="rId13"/>
        </a:buBlip>
        <a:defRPr sz="3200">
          <a:solidFill>
            <a:schemeClr val="tx1"/>
          </a:solidFill>
          <a:latin typeface="+mn-lt"/>
          <a:ea typeface="+mn-ea"/>
          <a:cs typeface="+mn-cs"/>
        </a:defRPr>
      </a:lvl1pPr>
      <a:lvl2pPr marL="742950" indent="-285750" algn="l" rtl="0" fontAlgn="base">
        <a:spcBef>
          <a:spcPct val="20000"/>
        </a:spcBef>
        <a:spcAft>
          <a:spcPct val="0"/>
        </a:spcAft>
        <a:buBlip>
          <a:blip r:embed="rId14"/>
        </a:buBlip>
        <a:defRPr sz="2800">
          <a:solidFill>
            <a:schemeClr val="tx1"/>
          </a:solidFill>
          <a:latin typeface="+mn-lt"/>
          <a:ea typeface="+mn-ea"/>
        </a:defRPr>
      </a:lvl2pPr>
      <a:lvl3pPr marL="1143000" indent="-228600" algn="l" rtl="0" fontAlgn="base">
        <a:spcBef>
          <a:spcPct val="20000"/>
        </a:spcBef>
        <a:spcAft>
          <a:spcPct val="0"/>
        </a:spcAft>
        <a:buClr>
          <a:srgbClr val="FF0000"/>
        </a:buClr>
        <a:buChar char="Ø"/>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09600" y="65341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vl1pPr>
          </a:lstStyle>
          <a:p>
            <a:pPr fontAlgn="base">
              <a:spcBef>
                <a:spcPct val="0"/>
              </a:spcBef>
              <a:spcAft>
                <a:spcPct val="0"/>
              </a:spcAft>
            </a:pPr>
            <a:fld id="{CB179D4F-0D9E-40E6-9D45-0A4ABFB91BCE}" type="datetime1">
              <a:rPr lang="zh-CN" altLang="en-US" smtClean="0">
                <a:solidFill>
                  <a:srgbClr val="000000"/>
                </a:solidFill>
              </a:rPr>
              <a:t>2025/4/17</a:t>
            </a:fld>
            <a:endParaRPr lang="en-US" altLang="zh-CN">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a:lvl1pPr>
          </a:lstStyle>
          <a:p>
            <a:pPr fontAlgn="base">
              <a:spcBef>
                <a:spcPct val="0"/>
              </a:spcBef>
              <a:spcAft>
                <a:spcPct val="0"/>
              </a:spcAft>
            </a:pPr>
            <a:endParaRPr lang="en-US" altLang="zh-CN">
              <a:solidFill>
                <a:srgbClr val="000000"/>
              </a:solidFill>
            </a:endParaRPr>
          </a:p>
        </p:txBody>
      </p:sp>
      <p:sp>
        <p:nvSpPr>
          <p:cNvPr id="1030" name="Rectangle 6"/>
          <p:cNvSpPr>
            <a:spLocks noGrp="1" noChangeArrowheads="1"/>
          </p:cNvSpPr>
          <p:nvPr>
            <p:ph type="sldNum" sz="quarter" idx="4"/>
          </p:nvPr>
        </p:nvSpPr>
        <p:spPr bwMode="auto">
          <a:xfrm>
            <a:off x="6934200" y="65341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vl1pPr>
          </a:lstStyle>
          <a:p>
            <a:pPr fontAlgn="base">
              <a:spcBef>
                <a:spcPct val="0"/>
              </a:spcBef>
              <a:spcAft>
                <a:spcPct val="0"/>
              </a:spcAft>
            </a:pPr>
            <a:fld id="{552B0FDC-A464-4BCA-89F9-60F74F928364}" type="slidenum">
              <a:rPr lang="en-US" altLang="zh-CN" smtClean="0">
                <a:solidFill>
                  <a:srgbClr val="000000"/>
                </a:solidFill>
              </a:rPr>
              <a:pPr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289494619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rtl="0" fontAlgn="base">
        <a:spcBef>
          <a:spcPct val="0"/>
        </a:spcBef>
        <a:spcAft>
          <a:spcPct val="0"/>
        </a:spcAft>
        <a:defRPr sz="4400" b="1">
          <a:solidFill>
            <a:srgbClr val="0000CC"/>
          </a:solidFill>
          <a:latin typeface="+mj-lt"/>
          <a:ea typeface="+mj-ea"/>
          <a:cs typeface="+mj-cs"/>
        </a:defRPr>
      </a:lvl1pPr>
      <a:lvl2pPr algn="ctr" rtl="0" fontAlgn="base">
        <a:spcBef>
          <a:spcPct val="0"/>
        </a:spcBef>
        <a:spcAft>
          <a:spcPct val="0"/>
        </a:spcAft>
        <a:defRPr sz="4400" b="1">
          <a:solidFill>
            <a:srgbClr val="0000CC"/>
          </a:solidFill>
          <a:latin typeface="Arial" charset="0"/>
          <a:ea typeface="宋体" charset="-122"/>
        </a:defRPr>
      </a:lvl2pPr>
      <a:lvl3pPr algn="ctr" rtl="0" fontAlgn="base">
        <a:spcBef>
          <a:spcPct val="0"/>
        </a:spcBef>
        <a:spcAft>
          <a:spcPct val="0"/>
        </a:spcAft>
        <a:defRPr sz="4400" b="1">
          <a:solidFill>
            <a:srgbClr val="0000CC"/>
          </a:solidFill>
          <a:latin typeface="Arial" charset="0"/>
          <a:ea typeface="宋体" charset="-122"/>
        </a:defRPr>
      </a:lvl3pPr>
      <a:lvl4pPr algn="ctr" rtl="0" fontAlgn="base">
        <a:spcBef>
          <a:spcPct val="0"/>
        </a:spcBef>
        <a:spcAft>
          <a:spcPct val="0"/>
        </a:spcAft>
        <a:defRPr sz="4400" b="1">
          <a:solidFill>
            <a:srgbClr val="0000CC"/>
          </a:solidFill>
          <a:latin typeface="Arial" charset="0"/>
          <a:ea typeface="宋体" charset="-122"/>
        </a:defRPr>
      </a:lvl4pPr>
      <a:lvl5pPr algn="ctr" rtl="0" fontAlgn="base">
        <a:spcBef>
          <a:spcPct val="0"/>
        </a:spcBef>
        <a:spcAft>
          <a:spcPct val="0"/>
        </a:spcAft>
        <a:defRPr sz="4400" b="1">
          <a:solidFill>
            <a:srgbClr val="0000CC"/>
          </a:solidFill>
          <a:latin typeface="Arial" charset="0"/>
          <a:ea typeface="宋体" charset="-122"/>
        </a:defRPr>
      </a:lvl5pPr>
      <a:lvl6pPr marL="457200" algn="ctr" rtl="0" fontAlgn="base">
        <a:spcBef>
          <a:spcPct val="0"/>
        </a:spcBef>
        <a:spcAft>
          <a:spcPct val="0"/>
        </a:spcAft>
        <a:defRPr sz="4400" b="1">
          <a:solidFill>
            <a:srgbClr val="0000CC"/>
          </a:solidFill>
          <a:latin typeface="Arial" charset="0"/>
          <a:ea typeface="宋体" charset="-122"/>
        </a:defRPr>
      </a:lvl6pPr>
      <a:lvl7pPr marL="914400" algn="ctr" rtl="0" fontAlgn="base">
        <a:spcBef>
          <a:spcPct val="0"/>
        </a:spcBef>
        <a:spcAft>
          <a:spcPct val="0"/>
        </a:spcAft>
        <a:defRPr sz="4400" b="1">
          <a:solidFill>
            <a:srgbClr val="0000CC"/>
          </a:solidFill>
          <a:latin typeface="Arial" charset="0"/>
          <a:ea typeface="宋体" charset="-122"/>
        </a:defRPr>
      </a:lvl7pPr>
      <a:lvl8pPr marL="1371600" algn="ctr" rtl="0" fontAlgn="base">
        <a:spcBef>
          <a:spcPct val="0"/>
        </a:spcBef>
        <a:spcAft>
          <a:spcPct val="0"/>
        </a:spcAft>
        <a:defRPr sz="4400" b="1">
          <a:solidFill>
            <a:srgbClr val="0000CC"/>
          </a:solidFill>
          <a:latin typeface="Arial" charset="0"/>
          <a:ea typeface="宋体" charset="-122"/>
        </a:defRPr>
      </a:lvl8pPr>
      <a:lvl9pPr marL="1828800" algn="ctr" rtl="0" fontAlgn="base">
        <a:spcBef>
          <a:spcPct val="0"/>
        </a:spcBef>
        <a:spcAft>
          <a:spcPct val="0"/>
        </a:spcAft>
        <a:defRPr sz="4400" b="1">
          <a:solidFill>
            <a:srgbClr val="0000CC"/>
          </a:solidFill>
          <a:latin typeface="Arial" charset="0"/>
          <a:ea typeface="宋体" charset="-122"/>
        </a:defRPr>
      </a:lvl9pPr>
    </p:titleStyle>
    <p:bodyStyle>
      <a:lvl1pPr marL="342900" indent="-342900" algn="l" rtl="0" fontAlgn="base">
        <a:spcBef>
          <a:spcPct val="20000"/>
        </a:spcBef>
        <a:spcAft>
          <a:spcPct val="0"/>
        </a:spcAft>
        <a:buBlip>
          <a:blip r:embed="rId13"/>
        </a:buBlip>
        <a:defRPr sz="3200">
          <a:solidFill>
            <a:schemeClr val="tx1"/>
          </a:solidFill>
          <a:latin typeface="+mn-lt"/>
          <a:ea typeface="+mn-ea"/>
          <a:cs typeface="+mn-cs"/>
        </a:defRPr>
      </a:lvl1pPr>
      <a:lvl2pPr marL="742950" indent="-285750" algn="l" rtl="0" fontAlgn="base">
        <a:spcBef>
          <a:spcPct val="20000"/>
        </a:spcBef>
        <a:spcAft>
          <a:spcPct val="0"/>
        </a:spcAft>
        <a:buBlip>
          <a:blip r:embed="rId14"/>
        </a:buBlip>
        <a:defRPr sz="2800">
          <a:solidFill>
            <a:schemeClr val="tx1"/>
          </a:solidFill>
          <a:latin typeface="+mn-lt"/>
          <a:ea typeface="+mn-ea"/>
        </a:defRPr>
      </a:lvl2pPr>
      <a:lvl3pPr marL="1143000" indent="-228600" algn="l" rtl="0" fontAlgn="base">
        <a:spcBef>
          <a:spcPct val="20000"/>
        </a:spcBef>
        <a:spcAft>
          <a:spcPct val="0"/>
        </a:spcAft>
        <a:buClr>
          <a:srgbClr val="FF0000"/>
        </a:buClr>
        <a:buChar char="Ø"/>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09600" y="65341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vl1pPr>
          </a:lstStyle>
          <a:p>
            <a:pPr fontAlgn="base">
              <a:spcBef>
                <a:spcPct val="0"/>
              </a:spcBef>
              <a:spcAft>
                <a:spcPct val="0"/>
              </a:spcAft>
            </a:pPr>
            <a:fld id="{3C7C8B0A-1066-495F-9306-820C1751519F}" type="datetime1">
              <a:rPr lang="zh-CN" altLang="en-US" smtClean="0">
                <a:solidFill>
                  <a:srgbClr val="000000"/>
                </a:solidFill>
              </a:rPr>
              <a:t>2025/4/17</a:t>
            </a:fld>
            <a:endParaRPr lang="en-US" altLang="zh-CN">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a:lvl1pPr>
          </a:lstStyle>
          <a:p>
            <a:pPr fontAlgn="base">
              <a:spcBef>
                <a:spcPct val="0"/>
              </a:spcBef>
              <a:spcAft>
                <a:spcPct val="0"/>
              </a:spcAft>
            </a:pPr>
            <a:endParaRPr lang="en-US" altLang="zh-CN">
              <a:solidFill>
                <a:srgbClr val="000000"/>
              </a:solidFill>
            </a:endParaRPr>
          </a:p>
        </p:txBody>
      </p:sp>
      <p:sp>
        <p:nvSpPr>
          <p:cNvPr id="1030" name="Rectangle 6"/>
          <p:cNvSpPr>
            <a:spLocks noGrp="1" noChangeArrowheads="1"/>
          </p:cNvSpPr>
          <p:nvPr>
            <p:ph type="sldNum" sz="quarter" idx="4"/>
          </p:nvPr>
        </p:nvSpPr>
        <p:spPr bwMode="auto">
          <a:xfrm>
            <a:off x="6934200" y="65341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vl1pPr>
          </a:lstStyle>
          <a:p>
            <a:pPr fontAlgn="base">
              <a:spcBef>
                <a:spcPct val="0"/>
              </a:spcBef>
              <a:spcAft>
                <a:spcPct val="0"/>
              </a:spcAft>
            </a:pPr>
            <a:fld id="{552B0FDC-A464-4BCA-89F9-60F74F928364}" type="slidenum">
              <a:rPr lang="en-US" altLang="zh-CN" smtClean="0">
                <a:solidFill>
                  <a:srgbClr val="000000"/>
                </a:solidFill>
              </a:rPr>
              <a:pPr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257830302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rtl="0" fontAlgn="base">
        <a:spcBef>
          <a:spcPct val="0"/>
        </a:spcBef>
        <a:spcAft>
          <a:spcPct val="0"/>
        </a:spcAft>
        <a:defRPr sz="4400" b="1">
          <a:solidFill>
            <a:srgbClr val="0000CC"/>
          </a:solidFill>
          <a:latin typeface="+mj-lt"/>
          <a:ea typeface="+mj-ea"/>
          <a:cs typeface="+mj-cs"/>
        </a:defRPr>
      </a:lvl1pPr>
      <a:lvl2pPr algn="ctr" rtl="0" fontAlgn="base">
        <a:spcBef>
          <a:spcPct val="0"/>
        </a:spcBef>
        <a:spcAft>
          <a:spcPct val="0"/>
        </a:spcAft>
        <a:defRPr sz="4400" b="1">
          <a:solidFill>
            <a:srgbClr val="0000CC"/>
          </a:solidFill>
          <a:latin typeface="Arial" charset="0"/>
          <a:ea typeface="宋体" charset="-122"/>
        </a:defRPr>
      </a:lvl2pPr>
      <a:lvl3pPr algn="ctr" rtl="0" fontAlgn="base">
        <a:spcBef>
          <a:spcPct val="0"/>
        </a:spcBef>
        <a:spcAft>
          <a:spcPct val="0"/>
        </a:spcAft>
        <a:defRPr sz="4400" b="1">
          <a:solidFill>
            <a:srgbClr val="0000CC"/>
          </a:solidFill>
          <a:latin typeface="Arial" charset="0"/>
          <a:ea typeface="宋体" charset="-122"/>
        </a:defRPr>
      </a:lvl3pPr>
      <a:lvl4pPr algn="ctr" rtl="0" fontAlgn="base">
        <a:spcBef>
          <a:spcPct val="0"/>
        </a:spcBef>
        <a:spcAft>
          <a:spcPct val="0"/>
        </a:spcAft>
        <a:defRPr sz="4400" b="1">
          <a:solidFill>
            <a:srgbClr val="0000CC"/>
          </a:solidFill>
          <a:latin typeface="Arial" charset="0"/>
          <a:ea typeface="宋体" charset="-122"/>
        </a:defRPr>
      </a:lvl4pPr>
      <a:lvl5pPr algn="ctr" rtl="0" fontAlgn="base">
        <a:spcBef>
          <a:spcPct val="0"/>
        </a:spcBef>
        <a:spcAft>
          <a:spcPct val="0"/>
        </a:spcAft>
        <a:defRPr sz="4400" b="1">
          <a:solidFill>
            <a:srgbClr val="0000CC"/>
          </a:solidFill>
          <a:latin typeface="Arial" charset="0"/>
          <a:ea typeface="宋体" charset="-122"/>
        </a:defRPr>
      </a:lvl5pPr>
      <a:lvl6pPr marL="457200" algn="ctr" rtl="0" fontAlgn="base">
        <a:spcBef>
          <a:spcPct val="0"/>
        </a:spcBef>
        <a:spcAft>
          <a:spcPct val="0"/>
        </a:spcAft>
        <a:defRPr sz="4400" b="1">
          <a:solidFill>
            <a:srgbClr val="0000CC"/>
          </a:solidFill>
          <a:latin typeface="Arial" charset="0"/>
          <a:ea typeface="宋体" charset="-122"/>
        </a:defRPr>
      </a:lvl6pPr>
      <a:lvl7pPr marL="914400" algn="ctr" rtl="0" fontAlgn="base">
        <a:spcBef>
          <a:spcPct val="0"/>
        </a:spcBef>
        <a:spcAft>
          <a:spcPct val="0"/>
        </a:spcAft>
        <a:defRPr sz="4400" b="1">
          <a:solidFill>
            <a:srgbClr val="0000CC"/>
          </a:solidFill>
          <a:latin typeface="Arial" charset="0"/>
          <a:ea typeface="宋体" charset="-122"/>
        </a:defRPr>
      </a:lvl7pPr>
      <a:lvl8pPr marL="1371600" algn="ctr" rtl="0" fontAlgn="base">
        <a:spcBef>
          <a:spcPct val="0"/>
        </a:spcBef>
        <a:spcAft>
          <a:spcPct val="0"/>
        </a:spcAft>
        <a:defRPr sz="4400" b="1">
          <a:solidFill>
            <a:srgbClr val="0000CC"/>
          </a:solidFill>
          <a:latin typeface="Arial" charset="0"/>
          <a:ea typeface="宋体" charset="-122"/>
        </a:defRPr>
      </a:lvl8pPr>
      <a:lvl9pPr marL="1828800" algn="ctr" rtl="0" fontAlgn="base">
        <a:spcBef>
          <a:spcPct val="0"/>
        </a:spcBef>
        <a:spcAft>
          <a:spcPct val="0"/>
        </a:spcAft>
        <a:defRPr sz="4400" b="1">
          <a:solidFill>
            <a:srgbClr val="0000CC"/>
          </a:solidFill>
          <a:latin typeface="Arial" charset="0"/>
          <a:ea typeface="宋体" charset="-122"/>
        </a:defRPr>
      </a:lvl9pPr>
    </p:titleStyle>
    <p:bodyStyle>
      <a:lvl1pPr marL="342900" indent="-342900" algn="l" rtl="0" fontAlgn="base">
        <a:spcBef>
          <a:spcPct val="20000"/>
        </a:spcBef>
        <a:spcAft>
          <a:spcPct val="0"/>
        </a:spcAft>
        <a:buBlip>
          <a:blip r:embed="rId13"/>
        </a:buBlip>
        <a:defRPr sz="3200">
          <a:solidFill>
            <a:schemeClr val="tx1"/>
          </a:solidFill>
          <a:latin typeface="+mn-lt"/>
          <a:ea typeface="+mn-ea"/>
          <a:cs typeface="+mn-cs"/>
        </a:defRPr>
      </a:lvl1pPr>
      <a:lvl2pPr marL="742950" indent="-285750" algn="l" rtl="0" fontAlgn="base">
        <a:spcBef>
          <a:spcPct val="20000"/>
        </a:spcBef>
        <a:spcAft>
          <a:spcPct val="0"/>
        </a:spcAft>
        <a:buBlip>
          <a:blip r:embed="rId14"/>
        </a:buBlip>
        <a:defRPr sz="2800">
          <a:solidFill>
            <a:schemeClr val="tx1"/>
          </a:solidFill>
          <a:latin typeface="+mn-lt"/>
          <a:ea typeface="+mn-ea"/>
        </a:defRPr>
      </a:lvl2pPr>
      <a:lvl3pPr marL="1143000" indent="-228600" algn="l" rtl="0" fontAlgn="base">
        <a:spcBef>
          <a:spcPct val="20000"/>
        </a:spcBef>
        <a:spcAft>
          <a:spcPct val="0"/>
        </a:spcAft>
        <a:buClr>
          <a:srgbClr val="FF0000"/>
        </a:buClr>
        <a:buChar char="Ø"/>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4.xml"/><Relationship Id="rId1" Type="http://schemas.openxmlformats.org/officeDocument/2006/relationships/vmlDrawing" Target="../drawings/vmlDrawing2.vml"/><Relationship Id="rId4" Type="http://schemas.openxmlformats.org/officeDocument/2006/relationships/image" Target="../media/image4.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oleObject" Target="../embeddings/oleObject3.bin"/></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7.e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7.emf"/></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8.wmf"/></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灯片编号占位符 2">
            <a:extLst>
              <a:ext uri="{FF2B5EF4-FFF2-40B4-BE49-F238E27FC236}">
                <a16:creationId xmlns:a16="http://schemas.microsoft.com/office/drawing/2014/main" id="{9C38AB59-711E-4D04-87EF-F6A5F0F6809F}"/>
              </a:ext>
            </a:extLst>
          </p:cNvPr>
          <p:cNvSpPr>
            <a:spLocks noGrp="1" noChangeArrowheads="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fld id="{D9FA5DE8-DDF5-4A68-A2B4-00C0013049FE}" type="slidenum">
              <a:rPr lang="en-US" altLang="zh-CN" sz="1400" b="0">
                <a:ea typeface="宋体" panose="02010600030101010101" pitchFamily="2" charset="-122"/>
              </a:rPr>
              <a:pPr/>
              <a:t>1</a:t>
            </a:fld>
            <a:endParaRPr lang="en-US" altLang="zh-CN" sz="1400" b="0">
              <a:ea typeface="宋体" panose="02010600030101010101" pitchFamily="2" charset="-122"/>
            </a:endParaRPr>
          </a:p>
        </p:txBody>
      </p:sp>
      <p:sp>
        <p:nvSpPr>
          <p:cNvPr id="4098" name="副标题 2">
            <a:extLst>
              <a:ext uri="{FF2B5EF4-FFF2-40B4-BE49-F238E27FC236}">
                <a16:creationId xmlns:a16="http://schemas.microsoft.com/office/drawing/2014/main" id="{DE8D114C-66C2-4AED-B11D-83BBF795E68A}"/>
              </a:ext>
            </a:extLst>
          </p:cNvPr>
          <p:cNvSpPr>
            <a:spLocks noGrp="1" noChangeArrowheads="1"/>
          </p:cNvSpPr>
          <p:nvPr>
            <p:ph type="subTitle" idx="4294967295"/>
          </p:nvPr>
        </p:nvSpPr>
        <p:spPr bwMode="auto">
          <a:xfrm>
            <a:off x="1331599" y="4078288"/>
            <a:ext cx="6480801" cy="6651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85725" indent="0" algn="ctr">
              <a:buNone/>
            </a:pPr>
            <a:r>
              <a:rPr lang="zh-CN" altLang="en-US" sz="3600" dirty="0">
                <a:solidFill>
                  <a:srgbClr val="003399"/>
                </a:solidFill>
                <a:latin typeface="微软雅黑" panose="020B0503020204020204" pitchFamily="34" charset="-122"/>
                <a:ea typeface="微软雅黑" panose="020B0503020204020204" pitchFamily="34" charset="-122"/>
              </a:rPr>
              <a:t>第八章 语义分析和代码生成</a:t>
            </a:r>
          </a:p>
        </p:txBody>
      </p:sp>
      <p:sp>
        <p:nvSpPr>
          <p:cNvPr id="4" name="矩形 3">
            <a:extLst>
              <a:ext uri="{FF2B5EF4-FFF2-40B4-BE49-F238E27FC236}">
                <a16:creationId xmlns:a16="http://schemas.microsoft.com/office/drawing/2014/main" id="{789D7CD7-0F3E-49B1-882F-0601A24A1CEC}"/>
              </a:ext>
            </a:extLst>
          </p:cNvPr>
          <p:cNvSpPr/>
          <p:nvPr/>
        </p:nvSpPr>
        <p:spPr>
          <a:xfrm>
            <a:off x="0" y="1484313"/>
            <a:ext cx="9144000" cy="1757362"/>
          </a:xfrm>
          <a:prstGeom prst="rect">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5400" b="1" dirty="0">
                <a:latin typeface="微软雅黑" panose="020B0503020204020204" pitchFamily="34" charset="-122"/>
                <a:ea typeface="微软雅黑" panose="020B0503020204020204" pitchFamily="34" charset="-122"/>
              </a:rPr>
              <a:t>编译原理</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教学内容</a:t>
            </a:r>
          </a:p>
        </p:txBody>
      </p:sp>
      <p:sp>
        <p:nvSpPr>
          <p:cNvPr id="5" name="文本占位符 1"/>
          <p:cNvSpPr>
            <a:spLocks noGrp="1"/>
          </p:cNvSpPr>
          <p:nvPr>
            <p:ph type="body" idx="1"/>
          </p:nvPr>
        </p:nvSpPr>
        <p:spPr>
          <a:xfrm>
            <a:off x="375920" y="793750"/>
            <a:ext cx="8361680" cy="5563235"/>
          </a:xfrm>
        </p:spPr>
        <p:txBody>
          <a:bodyPr/>
          <a:lstStyle/>
          <a:p>
            <a:r>
              <a:rPr lang="zh-CN" altLang="en-US" dirty="0">
                <a:sym typeface="+mn-ea"/>
              </a:rPr>
              <a:t>一、符号表</a:t>
            </a:r>
            <a:endParaRPr lang="en-US" altLang="zh-CN" dirty="0">
              <a:sym typeface="+mn-ea"/>
            </a:endParaRPr>
          </a:p>
          <a:p>
            <a:r>
              <a:rPr lang="zh-CN" altLang="en-US" dirty="0">
                <a:sym typeface="+mn-ea"/>
              </a:rPr>
              <a:t>二、静态语义分析</a:t>
            </a:r>
            <a:endParaRPr lang="zh-CN" altLang="en-US" dirty="0"/>
          </a:p>
          <a:p>
            <a:r>
              <a:rPr lang="zh-CN" altLang="en-US" dirty="0">
                <a:sym typeface="+mn-ea"/>
              </a:rPr>
              <a:t>三、中间代码表示</a:t>
            </a:r>
            <a:endParaRPr lang="en-US" altLang="zh-CN" dirty="0">
              <a:sym typeface="+mn-ea"/>
            </a:endParaRPr>
          </a:p>
          <a:p>
            <a:r>
              <a:rPr lang="zh-CN" altLang="en-US" dirty="0">
                <a:sym typeface="+mn-ea"/>
              </a:rPr>
              <a:t>四、中间代码生成</a:t>
            </a:r>
            <a:endParaRPr lang="zh-CN" altLang="en-US" dirty="0"/>
          </a:p>
          <a:p>
            <a:r>
              <a:rPr lang="zh-CN" altLang="en-US" dirty="0"/>
              <a:t>五、代码优化</a:t>
            </a:r>
            <a:endParaRPr lang="en-US" altLang="zh-CN" dirty="0"/>
          </a:p>
          <a:p>
            <a:r>
              <a:rPr lang="zh-CN" altLang="en-US" dirty="0"/>
              <a:t>六、目标代码生成</a:t>
            </a:r>
          </a:p>
        </p:txBody>
      </p:sp>
      <p:sp>
        <p:nvSpPr>
          <p:cNvPr id="2" name="灯片编号占位符 1">
            <a:extLst>
              <a:ext uri="{FF2B5EF4-FFF2-40B4-BE49-F238E27FC236}">
                <a16:creationId xmlns:a16="http://schemas.microsoft.com/office/drawing/2014/main" id="{4E5F03BB-7C49-48EC-BC1E-6076AD0712C2}"/>
              </a:ext>
            </a:extLst>
          </p:cNvPr>
          <p:cNvSpPr>
            <a:spLocks noGrp="1"/>
          </p:cNvSpPr>
          <p:nvPr>
            <p:ph type="sldNum" sz="quarter" idx="4"/>
          </p:nvPr>
        </p:nvSpPr>
        <p:spPr/>
        <p:txBody>
          <a:bodyPr/>
          <a:lstStyle/>
          <a:p>
            <a:fld id="{565CE74E-AB26-4998-AD42-012C4C1AD076}" type="slidenum">
              <a:rPr lang="zh-CN" altLang="en-US" smtClean="0"/>
              <a:pPr/>
              <a:t>2</a:t>
            </a:fld>
            <a:endParaRPr lang="zh-CN" altLang="en-US"/>
          </a:p>
        </p:txBody>
      </p:sp>
    </p:spTree>
    <p:extLst>
      <p:ext uri="{BB962C8B-B14F-4D97-AF65-F5344CB8AC3E}">
        <p14:creationId xmlns:p14="http://schemas.microsoft.com/office/powerpoint/2010/main" val="3249534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ChangeArrowheads="1"/>
          </p:cNvSpPr>
          <p:nvPr/>
        </p:nvSpPr>
        <p:spPr bwMode="auto">
          <a:xfrm>
            <a:off x="247609" y="1037304"/>
            <a:ext cx="8379542" cy="2227263"/>
          </a:xfrm>
          <a:prstGeom prst="rect">
            <a:avLst/>
          </a:prstGeom>
          <a:noFill/>
          <a:ln>
            <a:noFill/>
          </a:ln>
        </p:spPr>
        <p:txBody>
          <a:bodyPr wrap="squar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800" b="1" dirty="0">
                <a:latin typeface="宋体" panose="02010600030101010101" pitchFamily="2" charset="-122"/>
                <a:ea typeface="宋体" panose="02010600030101010101" pitchFamily="2" charset="-122"/>
              </a:rPr>
              <a:t>编译程序中使用最多的数据结构是表；存放源程序中的各种信息，以便查询或修改。</a:t>
            </a:r>
          </a:p>
          <a:p>
            <a:pPr algn="l" eaLnBrk="1" hangingPunct="1"/>
            <a:r>
              <a:rPr lang="zh-CN" altLang="en-US" sz="2800" b="1" dirty="0">
                <a:latin typeface="宋体" panose="02010600030101010101" pitchFamily="2" charset="-122"/>
                <a:ea typeface="宋体" panose="02010600030101010101" pitchFamily="2" charset="-122"/>
              </a:rPr>
              <a:t>在这些表中，尤以</a:t>
            </a:r>
            <a:r>
              <a:rPr lang="zh-CN" altLang="en-US" sz="2800" b="1" dirty="0">
                <a:solidFill>
                  <a:srgbClr val="FF0000"/>
                </a:solidFill>
                <a:latin typeface="宋体" panose="02010600030101010101" pitchFamily="2" charset="-122"/>
                <a:ea typeface="宋体" panose="02010600030101010101" pitchFamily="2" charset="-122"/>
              </a:rPr>
              <a:t>符号表</a:t>
            </a:r>
            <a:r>
              <a:rPr lang="zh-CN" altLang="en-US" sz="2800" b="1" dirty="0">
                <a:latin typeface="宋体" panose="02010600030101010101" pitchFamily="2" charset="-122"/>
                <a:ea typeface="宋体" panose="02010600030101010101" pitchFamily="2" charset="-122"/>
              </a:rPr>
              <a:t>最为重要</a:t>
            </a:r>
          </a:p>
          <a:p>
            <a:pPr lvl="1" algn="l" eaLnBrk="1" hangingPunct="1">
              <a:buClr>
                <a:schemeClr val="accent2"/>
              </a:buClr>
              <a:buFont typeface="Wingdings" panose="05000000000000000000" pitchFamily="2" charset="2"/>
              <a:buChar char="Ø"/>
            </a:pPr>
            <a:r>
              <a:rPr lang="zh-CN" altLang="en-US" sz="2800" b="1" dirty="0">
                <a:solidFill>
                  <a:schemeClr val="accent2"/>
                </a:solidFill>
                <a:latin typeface="宋体" panose="02010600030101010101" pitchFamily="2" charset="-122"/>
                <a:ea typeface="宋体" panose="02010600030101010101" pitchFamily="2" charset="-122"/>
              </a:rPr>
              <a:t>生存期最长</a:t>
            </a:r>
          </a:p>
          <a:p>
            <a:pPr lvl="1" algn="l" eaLnBrk="1" hangingPunct="1">
              <a:buClr>
                <a:schemeClr val="accent2"/>
              </a:buClr>
              <a:buFont typeface="Wingdings" panose="05000000000000000000" pitchFamily="2" charset="2"/>
              <a:buChar char="Ø"/>
            </a:pPr>
            <a:r>
              <a:rPr lang="zh-CN" altLang="en-US" sz="2800" b="1" dirty="0">
                <a:solidFill>
                  <a:schemeClr val="accent2"/>
                </a:solidFill>
                <a:latin typeface="宋体" panose="02010600030101010101" pitchFamily="2" charset="-122"/>
                <a:ea typeface="宋体" panose="02010600030101010101" pitchFamily="2" charset="-122"/>
              </a:rPr>
              <a:t>使用最为频繁 </a:t>
            </a:r>
          </a:p>
        </p:txBody>
      </p:sp>
      <p:sp>
        <p:nvSpPr>
          <p:cNvPr id="2" name="标题 1"/>
          <p:cNvSpPr>
            <a:spLocks noGrp="1"/>
          </p:cNvSpPr>
          <p:nvPr>
            <p:ph type="title"/>
          </p:nvPr>
        </p:nvSpPr>
        <p:spPr/>
        <p:txBody>
          <a:bodyPr/>
          <a:lstStyle/>
          <a:p>
            <a:r>
              <a:rPr lang="zh-CN" altLang="en-US" dirty="0"/>
              <a:t>一、符号表管理</a:t>
            </a:r>
          </a:p>
        </p:txBody>
      </p:sp>
      <p:sp>
        <p:nvSpPr>
          <p:cNvPr id="3" name="灯片编号占位符 2">
            <a:extLst>
              <a:ext uri="{FF2B5EF4-FFF2-40B4-BE49-F238E27FC236}">
                <a16:creationId xmlns:a16="http://schemas.microsoft.com/office/drawing/2014/main" id="{8F5E8962-84F3-408C-8784-4443050C6F9B}"/>
              </a:ext>
            </a:extLst>
          </p:cNvPr>
          <p:cNvSpPr>
            <a:spLocks noGrp="1"/>
          </p:cNvSpPr>
          <p:nvPr>
            <p:ph type="sldNum" sz="quarter" idx="4"/>
          </p:nvPr>
        </p:nvSpPr>
        <p:spPr/>
        <p:txBody>
          <a:bodyPr/>
          <a:lstStyle/>
          <a:p>
            <a:fld id="{565CE74E-AB26-4998-AD42-012C4C1AD076}" type="slidenum">
              <a:rPr lang="zh-CN" altLang="en-US" smtClean="0"/>
              <a:pPr/>
              <a:t>3</a:t>
            </a:fld>
            <a:endParaRPr lang="zh-CN" altLang="en-US"/>
          </a:p>
        </p:txBody>
      </p:sp>
    </p:spTree>
    <p:extLst>
      <p:ext uri="{BB962C8B-B14F-4D97-AF65-F5344CB8AC3E}">
        <p14:creationId xmlns:p14="http://schemas.microsoft.com/office/powerpoint/2010/main" val="2716089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838200" y="1066800"/>
            <a:ext cx="7151688" cy="1800225"/>
            <a:chOff x="528" y="3216"/>
            <a:chExt cx="4505" cy="1134"/>
          </a:xfrm>
        </p:grpSpPr>
        <p:sp>
          <p:nvSpPr>
            <p:cNvPr id="104452" name="AutoShape 4"/>
            <p:cNvSpPr>
              <a:spLocks noChangeArrowheads="1"/>
            </p:cNvSpPr>
            <p:nvPr/>
          </p:nvSpPr>
          <p:spPr bwMode="auto">
            <a:xfrm>
              <a:off x="528" y="3264"/>
              <a:ext cx="187" cy="173"/>
            </a:xfrm>
            <a:prstGeom prst="star5">
              <a:avLst/>
            </a:prstGeom>
            <a:solidFill>
              <a:srgbClr val="FF3300"/>
            </a:solidFill>
            <a:ln w="12700">
              <a:solidFill>
                <a:srgbClr val="0037E8"/>
              </a:solidFill>
              <a:miter lim="800000"/>
              <a:headEnd/>
              <a:tailEnd/>
            </a:ln>
            <a:effectLst/>
          </p:spPr>
          <p:txBody>
            <a:bodyPr wrap="none" anchor="ctr"/>
            <a:lstStyle/>
            <a:p>
              <a:pPr>
                <a:defRPr/>
              </a:pPr>
              <a:endParaRPr lang="zh-CN" altLang="en-US">
                <a:latin typeface="+mn-ea"/>
              </a:endParaRPr>
            </a:p>
          </p:txBody>
        </p:sp>
        <p:sp>
          <p:nvSpPr>
            <p:cNvPr id="8200" name="Text Box 5"/>
            <p:cNvSpPr txBox="1">
              <a:spLocks noChangeArrowheads="1"/>
            </p:cNvSpPr>
            <p:nvPr/>
          </p:nvSpPr>
          <p:spPr bwMode="auto">
            <a:xfrm>
              <a:off x="768" y="3216"/>
              <a:ext cx="4265" cy="113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800" b="1" dirty="0">
                  <a:solidFill>
                    <a:srgbClr val="FF0000"/>
                  </a:solidFill>
                  <a:latin typeface="+mn-ea"/>
                  <a:ea typeface="+mn-ea"/>
                </a:rPr>
                <a:t>作用：</a:t>
              </a:r>
            </a:p>
            <a:p>
              <a:pPr algn="l" eaLnBrk="1" hangingPunct="1"/>
              <a:r>
                <a:rPr lang="zh-CN" altLang="en-US" sz="2800" b="1" dirty="0">
                  <a:solidFill>
                    <a:schemeClr val="accent2"/>
                  </a:solidFill>
                  <a:latin typeface="+mn-ea"/>
                  <a:ea typeface="+mn-ea"/>
                </a:rPr>
                <a:t>（</a:t>
              </a:r>
              <a:r>
                <a:rPr lang="en-US" altLang="zh-CN" sz="2800" b="1" dirty="0">
                  <a:solidFill>
                    <a:schemeClr val="accent2"/>
                  </a:solidFill>
                  <a:latin typeface="+mn-ea"/>
                  <a:ea typeface="+mn-ea"/>
                </a:rPr>
                <a:t>1</a:t>
              </a:r>
              <a:r>
                <a:rPr lang="zh-CN" altLang="en-US" sz="2800" b="1" dirty="0">
                  <a:solidFill>
                    <a:schemeClr val="accent2"/>
                  </a:solidFill>
                  <a:latin typeface="+mn-ea"/>
                  <a:ea typeface="+mn-ea"/>
                </a:rPr>
                <a:t>）收集符号的各种信息 </a:t>
              </a:r>
            </a:p>
            <a:p>
              <a:pPr algn="l" eaLnBrk="1" hangingPunct="1"/>
              <a:r>
                <a:rPr lang="zh-CN" altLang="en-US" sz="2800" b="1" dirty="0">
                  <a:solidFill>
                    <a:schemeClr val="accent2"/>
                  </a:solidFill>
                  <a:latin typeface="+mn-ea"/>
                  <a:ea typeface="+mn-ea"/>
                </a:rPr>
                <a:t>（</a:t>
              </a:r>
              <a:r>
                <a:rPr lang="en-US" altLang="zh-CN" sz="2800" b="1" dirty="0">
                  <a:solidFill>
                    <a:schemeClr val="accent2"/>
                  </a:solidFill>
                  <a:latin typeface="+mn-ea"/>
                  <a:ea typeface="+mn-ea"/>
                </a:rPr>
                <a:t>2</a:t>
              </a:r>
              <a:r>
                <a:rPr lang="zh-CN" altLang="en-US" sz="2800" b="1" dirty="0">
                  <a:solidFill>
                    <a:schemeClr val="accent2"/>
                  </a:solidFill>
                  <a:latin typeface="+mn-ea"/>
                  <a:ea typeface="+mn-ea"/>
                </a:rPr>
                <a:t>）语义检查的依据 </a:t>
              </a:r>
            </a:p>
            <a:p>
              <a:pPr algn="l" eaLnBrk="1" hangingPunct="1"/>
              <a:r>
                <a:rPr lang="zh-CN" altLang="en-US" sz="2800" b="1" dirty="0">
                  <a:solidFill>
                    <a:schemeClr val="accent2"/>
                  </a:solidFill>
                  <a:latin typeface="+mn-ea"/>
                  <a:ea typeface="+mn-ea"/>
                </a:rPr>
                <a:t>（</a:t>
              </a:r>
              <a:r>
                <a:rPr lang="en-US" altLang="zh-CN" sz="2800" b="1" dirty="0">
                  <a:solidFill>
                    <a:schemeClr val="accent2"/>
                  </a:solidFill>
                  <a:latin typeface="+mn-ea"/>
                  <a:ea typeface="+mn-ea"/>
                </a:rPr>
                <a:t>3</a:t>
              </a:r>
              <a:r>
                <a:rPr lang="zh-CN" altLang="en-US" sz="2800" b="1" dirty="0">
                  <a:solidFill>
                    <a:schemeClr val="accent2"/>
                  </a:solidFill>
                  <a:latin typeface="+mn-ea"/>
                  <a:ea typeface="+mn-ea"/>
                </a:rPr>
                <a:t>）目标代码生成阶段地址分配的依据 </a:t>
              </a:r>
            </a:p>
          </p:txBody>
        </p:sp>
      </p:grpSp>
      <p:grpSp>
        <p:nvGrpSpPr>
          <p:cNvPr id="3" name="Group 6"/>
          <p:cNvGrpSpPr>
            <a:grpSpLocks/>
          </p:cNvGrpSpPr>
          <p:nvPr/>
        </p:nvGrpSpPr>
        <p:grpSpPr bwMode="auto">
          <a:xfrm>
            <a:off x="849313" y="3352800"/>
            <a:ext cx="7151687" cy="519113"/>
            <a:chOff x="528" y="3216"/>
            <a:chExt cx="4505" cy="327"/>
          </a:xfrm>
        </p:grpSpPr>
        <p:sp>
          <p:nvSpPr>
            <p:cNvPr id="104455" name="AutoShape 7"/>
            <p:cNvSpPr>
              <a:spLocks noChangeArrowheads="1"/>
            </p:cNvSpPr>
            <p:nvPr/>
          </p:nvSpPr>
          <p:spPr bwMode="auto">
            <a:xfrm>
              <a:off x="528" y="3264"/>
              <a:ext cx="187" cy="173"/>
            </a:xfrm>
            <a:prstGeom prst="star5">
              <a:avLst/>
            </a:prstGeom>
            <a:solidFill>
              <a:srgbClr val="FF3300"/>
            </a:solidFill>
            <a:ln w="12700">
              <a:solidFill>
                <a:srgbClr val="0037E8"/>
              </a:solidFill>
              <a:miter lim="800000"/>
              <a:headEnd/>
              <a:tailEnd/>
            </a:ln>
            <a:effectLst/>
          </p:spPr>
          <p:txBody>
            <a:bodyPr wrap="none" anchor="ctr"/>
            <a:lstStyle/>
            <a:p>
              <a:pPr>
                <a:defRPr/>
              </a:pPr>
              <a:endParaRPr lang="zh-CN" altLang="en-US">
                <a:latin typeface="+mn-ea"/>
              </a:endParaRPr>
            </a:p>
          </p:txBody>
        </p:sp>
        <p:sp>
          <p:nvSpPr>
            <p:cNvPr id="8198" name="Text Box 8"/>
            <p:cNvSpPr txBox="1">
              <a:spLocks noChangeArrowheads="1"/>
            </p:cNvSpPr>
            <p:nvPr/>
          </p:nvSpPr>
          <p:spPr bwMode="auto">
            <a:xfrm>
              <a:off x="768" y="3216"/>
              <a:ext cx="4265" cy="32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800" b="1" dirty="0">
                  <a:solidFill>
                    <a:srgbClr val="FF0000"/>
                  </a:solidFill>
                  <a:latin typeface="+mn-ea"/>
                  <a:ea typeface="+mn-ea"/>
                </a:rPr>
                <a:t>内容：</a:t>
              </a:r>
              <a:r>
                <a:rPr lang="zh-CN" altLang="en-US" sz="2800" b="1" dirty="0">
                  <a:solidFill>
                    <a:schemeClr val="accent2"/>
                  </a:solidFill>
                  <a:latin typeface="+mn-ea"/>
                  <a:ea typeface="+mn-ea"/>
                </a:rPr>
                <a:t>名字栏＋信息栏 </a:t>
              </a:r>
            </a:p>
          </p:txBody>
        </p:sp>
      </p:grpSp>
      <p:sp>
        <p:nvSpPr>
          <p:cNvPr id="6" name="矩形 5"/>
          <p:cNvSpPr/>
          <p:nvPr/>
        </p:nvSpPr>
        <p:spPr>
          <a:xfrm>
            <a:off x="447749" y="123309"/>
            <a:ext cx="4469493" cy="590931"/>
          </a:xfrm>
          <a:prstGeom prst="rect">
            <a:avLst/>
          </a:prstGeom>
        </p:spPr>
        <p:txBody>
          <a:bodyPr wrap="none">
            <a:spAutoFit/>
          </a:bodyPr>
          <a:lstStyle/>
          <a:p>
            <a:pPr>
              <a:lnSpc>
                <a:spcPct val="90000"/>
              </a:lnSpc>
              <a:spcBef>
                <a:spcPct val="0"/>
              </a:spcBef>
            </a:pPr>
            <a:r>
              <a:rPr lang="zh-CN" altLang="en-US" sz="3600" b="1" dirty="0">
                <a:solidFill>
                  <a:schemeClr val="bg1"/>
                </a:solidFill>
                <a:latin typeface="Times New Roman" panose="02020603050405020304" pitchFamily="18" charset="0"/>
                <a:ea typeface="黑体" panose="02010609060101010101" charset="-122"/>
                <a:cs typeface="+mj-cs"/>
              </a:rPr>
              <a:t>符号表的作用和内容 </a:t>
            </a:r>
          </a:p>
        </p:txBody>
      </p:sp>
      <p:sp>
        <p:nvSpPr>
          <p:cNvPr id="4" name="灯片编号占位符 3">
            <a:extLst>
              <a:ext uri="{FF2B5EF4-FFF2-40B4-BE49-F238E27FC236}">
                <a16:creationId xmlns:a16="http://schemas.microsoft.com/office/drawing/2014/main" id="{B0AD3C30-1688-4FC1-9DD1-D01038A0029A}"/>
              </a:ext>
            </a:extLst>
          </p:cNvPr>
          <p:cNvSpPr>
            <a:spLocks noGrp="1"/>
          </p:cNvSpPr>
          <p:nvPr>
            <p:ph type="sldNum" sz="quarter" idx="4"/>
          </p:nvPr>
        </p:nvSpPr>
        <p:spPr/>
        <p:txBody>
          <a:bodyPr/>
          <a:lstStyle/>
          <a:p>
            <a:fld id="{565CE74E-AB26-4998-AD42-012C4C1AD076}" type="slidenum">
              <a:rPr lang="zh-CN" altLang="en-US" smtClean="0"/>
              <a:pPr/>
              <a:t>4</a:t>
            </a:fld>
            <a:endParaRPr lang="zh-CN" altLang="en-US"/>
          </a:p>
        </p:txBody>
      </p:sp>
    </p:spTree>
    <p:extLst>
      <p:ext uri="{BB962C8B-B14F-4D97-AF65-F5344CB8AC3E}">
        <p14:creationId xmlns:p14="http://schemas.microsoft.com/office/powerpoint/2010/main" val="2689910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p:cNvSpPr>
            <a:spLocks noChangeArrowheads="1"/>
          </p:cNvSpPr>
          <p:nvPr/>
        </p:nvSpPr>
        <p:spPr bwMode="auto">
          <a:xfrm>
            <a:off x="0" y="0"/>
            <a:ext cx="5105400" cy="685800"/>
          </a:xfrm>
          <a:prstGeom prst="roundRect">
            <a:avLst>
              <a:gd name="adj" fmla="val 5435"/>
            </a:avLst>
          </a:prstGeom>
          <a:noFill/>
          <a:ln>
            <a:noFill/>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3600" b="1" dirty="0">
                <a:solidFill>
                  <a:schemeClr val="bg1"/>
                </a:solidFill>
                <a:ea typeface="黑体" panose="02010609060101010101" charset="-122"/>
                <a:cs typeface="+mj-cs"/>
              </a:rPr>
              <a:t>符号表的组织 </a:t>
            </a:r>
          </a:p>
        </p:txBody>
      </p:sp>
      <p:sp>
        <p:nvSpPr>
          <p:cNvPr id="105476" name="AutoShape 4"/>
          <p:cNvSpPr>
            <a:spLocks noChangeArrowheads="1"/>
          </p:cNvSpPr>
          <p:nvPr/>
        </p:nvSpPr>
        <p:spPr bwMode="auto">
          <a:xfrm>
            <a:off x="218768" y="842552"/>
            <a:ext cx="296863" cy="274638"/>
          </a:xfrm>
          <a:prstGeom prst="star5">
            <a:avLst/>
          </a:prstGeom>
          <a:solidFill>
            <a:srgbClr val="FF3300"/>
          </a:solidFill>
          <a:ln w="12700">
            <a:solidFill>
              <a:srgbClr val="0037E8"/>
            </a:solidFill>
            <a:miter lim="800000"/>
            <a:headEnd/>
            <a:tailEnd/>
          </a:ln>
          <a:effectLst/>
        </p:spPr>
        <p:txBody>
          <a:bodyPr wrap="none" anchor="ctr"/>
          <a:lstStyle/>
          <a:p>
            <a:pPr>
              <a:defRPr/>
            </a:pPr>
            <a:endParaRPr lang="zh-CN" altLang="en-US">
              <a:latin typeface="Times New Roman" charset="0"/>
            </a:endParaRPr>
          </a:p>
        </p:txBody>
      </p:sp>
      <p:sp>
        <p:nvSpPr>
          <p:cNvPr id="9220" name="Text Box 5"/>
          <p:cNvSpPr txBox="1">
            <a:spLocks noChangeArrowheads="1"/>
          </p:cNvSpPr>
          <p:nvPr/>
        </p:nvSpPr>
        <p:spPr bwMode="auto">
          <a:xfrm>
            <a:off x="739878" y="1117190"/>
            <a:ext cx="7924800" cy="30813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800" b="1" dirty="0">
                <a:solidFill>
                  <a:srgbClr val="FF0000"/>
                </a:solidFill>
                <a:latin typeface="宋体" panose="02010600030101010101" pitchFamily="2" charset="-122"/>
                <a:ea typeface="宋体" panose="02010600030101010101" pitchFamily="2" charset="-122"/>
              </a:rPr>
              <a:t>操作：</a:t>
            </a:r>
          </a:p>
          <a:p>
            <a:pPr algn="just" eaLnBrk="1" hangingPunct="1"/>
            <a:r>
              <a:rPr lang="zh-CN" altLang="en-US" sz="2800" b="1" dirty="0">
                <a:solidFill>
                  <a:schemeClr val="accent2"/>
                </a:solidFill>
                <a:latin typeface="宋体" panose="02010600030101010101" pitchFamily="2" charset="-122"/>
                <a:ea typeface="宋体" panose="02010600030101010101" pitchFamily="2" charset="-122"/>
              </a:rPr>
              <a:t>（</a:t>
            </a:r>
            <a:r>
              <a:rPr lang="en-US" altLang="zh-CN" sz="2800" b="1" dirty="0">
                <a:solidFill>
                  <a:schemeClr val="accent2"/>
                </a:solidFill>
                <a:latin typeface="宋体" panose="02010600030101010101" pitchFamily="2" charset="-122"/>
                <a:ea typeface="宋体" panose="02010600030101010101" pitchFamily="2" charset="-122"/>
              </a:rPr>
              <a:t>1</a:t>
            </a:r>
            <a:r>
              <a:rPr lang="zh-CN" altLang="en-US" sz="2800" b="1" dirty="0">
                <a:solidFill>
                  <a:schemeClr val="accent2"/>
                </a:solidFill>
                <a:latin typeface="宋体" panose="02010600030101010101" pitchFamily="2" charset="-122"/>
                <a:ea typeface="宋体" panose="02010600030101010101" pitchFamily="2" charset="-122"/>
              </a:rPr>
              <a:t>）向表中填入一个新标识符。</a:t>
            </a:r>
          </a:p>
          <a:p>
            <a:pPr algn="just" eaLnBrk="1" hangingPunct="1"/>
            <a:r>
              <a:rPr lang="zh-CN" altLang="en-US" sz="2800" b="1" dirty="0">
                <a:solidFill>
                  <a:schemeClr val="accent2"/>
                </a:solidFill>
                <a:latin typeface="宋体" panose="02010600030101010101" pitchFamily="2" charset="-122"/>
                <a:ea typeface="宋体" panose="02010600030101010101" pitchFamily="2" charset="-122"/>
              </a:rPr>
              <a:t>（</a:t>
            </a:r>
            <a:r>
              <a:rPr lang="en-US" altLang="zh-CN" sz="2800" b="1" dirty="0">
                <a:solidFill>
                  <a:schemeClr val="accent2"/>
                </a:solidFill>
                <a:latin typeface="宋体" panose="02010600030101010101" pitchFamily="2" charset="-122"/>
                <a:ea typeface="宋体" panose="02010600030101010101" pitchFamily="2" charset="-122"/>
              </a:rPr>
              <a:t>2</a:t>
            </a:r>
            <a:r>
              <a:rPr lang="zh-CN" altLang="en-US" sz="2800" b="1" dirty="0">
                <a:solidFill>
                  <a:schemeClr val="accent2"/>
                </a:solidFill>
                <a:latin typeface="宋体" panose="02010600030101010101" pitchFamily="2" charset="-122"/>
                <a:ea typeface="宋体" panose="02010600030101010101" pitchFamily="2" charset="-122"/>
              </a:rPr>
              <a:t>）对于给定一个标识符：</a:t>
            </a:r>
          </a:p>
          <a:p>
            <a:pPr algn="just" eaLnBrk="1" hangingPunct="1"/>
            <a:r>
              <a:rPr lang="zh-CN" altLang="en-US" sz="2800" b="1" dirty="0">
                <a:solidFill>
                  <a:schemeClr val="accent2"/>
                </a:solidFill>
                <a:latin typeface="宋体" panose="02010600030101010101" pitchFamily="2" charset="-122"/>
                <a:ea typeface="宋体" panose="02010600030101010101" pitchFamily="2" charset="-122"/>
              </a:rPr>
              <a:t>     ① 查找是否在表中；</a:t>
            </a:r>
          </a:p>
          <a:p>
            <a:pPr algn="just" eaLnBrk="1" hangingPunct="1"/>
            <a:r>
              <a:rPr lang="zh-CN" altLang="en-US" sz="2800" b="1" dirty="0">
                <a:solidFill>
                  <a:schemeClr val="accent2"/>
                </a:solidFill>
                <a:latin typeface="宋体" panose="02010600030101010101" pitchFamily="2" charset="-122"/>
                <a:ea typeface="宋体" panose="02010600030101010101" pitchFamily="2" charset="-122"/>
              </a:rPr>
              <a:t>     ② 访问它在表中的相关信息；</a:t>
            </a:r>
          </a:p>
          <a:p>
            <a:pPr algn="just" eaLnBrk="1" hangingPunct="1"/>
            <a:r>
              <a:rPr lang="zh-CN" altLang="en-US" sz="2800" b="1" dirty="0">
                <a:solidFill>
                  <a:schemeClr val="accent2"/>
                </a:solidFill>
                <a:latin typeface="宋体" panose="02010600030101010101" pitchFamily="2" charset="-122"/>
                <a:ea typeface="宋体" panose="02010600030101010101" pitchFamily="2" charset="-122"/>
              </a:rPr>
              <a:t>     ③ 在表中填写或更新它的某些信息。</a:t>
            </a:r>
          </a:p>
          <a:p>
            <a:pPr algn="just" eaLnBrk="1" hangingPunct="1"/>
            <a:r>
              <a:rPr lang="zh-CN" altLang="en-US" sz="2800" b="1" dirty="0">
                <a:solidFill>
                  <a:schemeClr val="accent2"/>
                </a:solidFill>
                <a:latin typeface="宋体" panose="02010600030101010101" pitchFamily="2" charset="-122"/>
                <a:ea typeface="宋体" panose="02010600030101010101" pitchFamily="2" charset="-122"/>
              </a:rPr>
              <a:t>（</a:t>
            </a:r>
            <a:r>
              <a:rPr lang="en-US" altLang="zh-CN" sz="2800" b="1" dirty="0">
                <a:solidFill>
                  <a:schemeClr val="accent2"/>
                </a:solidFill>
                <a:latin typeface="宋体" panose="02010600030101010101" pitchFamily="2" charset="-122"/>
                <a:ea typeface="宋体" panose="02010600030101010101" pitchFamily="2" charset="-122"/>
              </a:rPr>
              <a:t>3</a:t>
            </a:r>
            <a:r>
              <a:rPr lang="zh-CN" altLang="en-US" sz="2800" b="1" dirty="0">
                <a:solidFill>
                  <a:schemeClr val="accent2"/>
                </a:solidFill>
                <a:latin typeface="宋体" panose="02010600030101010101" pitchFamily="2" charset="-122"/>
                <a:ea typeface="宋体" panose="02010600030101010101" pitchFamily="2" charset="-122"/>
              </a:rPr>
              <a:t>）更新或删除一个或一组无用的项。</a:t>
            </a:r>
          </a:p>
        </p:txBody>
      </p:sp>
      <p:sp>
        <p:nvSpPr>
          <p:cNvPr id="2" name="灯片编号占位符 1">
            <a:extLst>
              <a:ext uri="{FF2B5EF4-FFF2-40B4-BE49-F238E27FC236}">
                <a16:creationId xmlns:a16="http://schemas.microsoft.com/office/drawing/2014/main" id="{8BD6BFBC-9C4C-465B-922B-AEC780C96B7D}"/>
              </a:ext>
            </a:extLst>
          </p:cNvPr>
          <p:cNvSpPr>
            <a:spLocks noGrp="1"/>
          </p:cNvSpPr>
          <p:nvPr>
            <p:ph type="sldNum" sz="quarter" idx="4"/>
          </p:nvPr>
        </p:nvSpPr>
        <p:spPr/>
        <p:txBody>
          <a:bodyPr/>
          <a:lstStyle/>
          <a:p>
            <a:fld id="{565CE74E-AB26-4998-AD42-012C4C1AD076}" type="slidenum">
              <a:rPr lang="zh-CN" altLang="en-US" smtClean="0"/>
              <a:pPr/>
              <a:t>5</a:t>
            </a:fld>
            <a:endParaRPr lang="zh-CN" altLang="en-US"/>
          </a:p>
        </p:txBody>
      </p:sp>
    </p:spTree>
    <p:extLst>
      <p:ext uri="{BB962C8B-B14F-4D97-AF65-F5344CB8AC3E}">
        <p14:creationId xmlns:p14="http://schemas.microsoft.com/office/powerpoint/2010/main" val="1090473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3" name="Group 5"/>
          <p:cNvGrpSpPr>
            <a:grpSpLocks/>
          </p:cNvGrpSpPr>
          <p:nvPr/>
        </p:nvGrpSpPr>
        <p:grpSpPr bwMode="auto">
          <a:xfrm>
            <a:off x="838200" y="1066800"/>
            <a:ext cx="7543800" cy="1800225"/>
            <a:chOff x="528" y="672"/>
            <a:chExt cx="4752" cy="1134"/>
          </a:xfrm>
        </p:grpSpPr>
        <p:sp>
          <p:nvSpPr>
            <p:cNvPr id="107523" name="AutoShape 3"/>
            <p:cNvSpPr>
              <a:spLocks noChangeArrowheads="1"/>
            </p:cNvSpPr>
            <p:nvPr/>
          </p:nvSpPr>
          <p:spPr bwMode="auto">
            <a:xfrm>
              <a:off x="528" y="720"/>
              <a:ext cx="187" cy="173"/>
            </a:xfrm>
            <a:prstGeom prst="star5">
              <a:avLst/>
            </a:prstGeom>
            <a:solidFill>
              <a:srgbClr val="FF3300"/>
            </a:solidFill>
            <a:ln w="12700">
              <a:solidFill>
                <a:srgbClr val="0037E8"/>
              </a:solidFill>
              <a:miter lim="800000"/>
              <a:headEnd/>
              <a:tailEnd/>
            </a:ln>
            <a:effectLst/>
          </p:spPr>
          <p:txBody>
            <a:bodyPr wrap="none" anchor="ctr"/>
            <a:lstStyle/>
            <a:p>
              <a:pPr>
                <a:defRPr/>
              </a:pPr>
              <a:endParaRPr lang="zh-CN" altLang="en-US">
                <a:latin typeface="宋体" panose="02010600030101010101" pitchFamily="2" charset="-122"/>
                <a:ea typeface="宋体" panose="02010600030101010101" pitchFamily="2" charset="-122"/>
              </a:endParaRPr>
            </a:p>
          </p:txBody>
        </p:sp>
        <p:sp>
          <p:nvSpPr>
            <p:cNvPr id="10248" name="Text Box 4"/>
            <p:cNvSpPr txBox="1">
              <a:spLocks noChangeArrowheads="1"/>
            </p:cNvSpPr>
            <p:nvPr/>
          </p:nvSpPr>
          <p:spPr bwMode="auto">
            <a:xfrm>
              <a:off x="768" y="672"/>
              <a:ext cx="4512" cy="113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800" b="1" dirty="0">
                  <a:solidFill>
                    <a:srgbClr val="FF0000"/>
                  </a:solidFill>
                  <a:latin typeface="宋体" panose="02010600030101010101" pitchFamily="2" charset="-122"/>
                  <a:ea typeface="宋体" panose="02010600030101010101" pitchFamily="2" charset="-122"/>
                </a:rPr>
                <a:t>符号表的总体组织：</a:t>
              </a:r>
            </a:p>
            <a:p>
              <a:pPr algn="just" eaLnBrk="1" hangingPunct="1"/>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）多张</a:t>
              </a:r>
            </a:p>
            <a:p>
              <a:pPr algn="just" eaLnBrk="1" hangingPunct="1"/>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 一张  </a:t>
              </a:r>
            </a:p>
            <a:p>
              <a:pPr algn="just" eaLnBrk="1" hangingPunct="1"/>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3</a:t>
              </a:r>
              <a:r>
                <a:rPr lang="zh-CN" altLang="en-US" sz="2800" b="1" dirty="0">
                  <a:latin typeface="宋体" panose="02010600030101010101" pitchFamily="2" charset="-122"/>
                  <a:ea typeface="宋体" panose="02010600030101010101" pitchFamily="2" charset="-122"/>
                </a:rPr>
                <a:t>）前两种的折中</a:t>
              </a:r>
            </a:p>
          </p:txBody>
        </p:sp>
      </p:grpSp>
      <p:grpSp>
        <p:nvGrpSpPr>
          <p:cNvPr id="3" name="Group 6"/>
          <p:cNvGrpSpPr>
            <a:grpSpLocks/>
          </p:cNvGrpSpPr>
          <p:nvPr/>
        </p:nvGrpSpPr>
        <p:grpSpPr bwMode="auto">
          <a:xfrm>
            <a:off x="838200" y="3228975"/>
            <a:ext cx="7543800" cy="1800225"/>
            <a:chOff x="528" y="672"/>
            <a:chExt cx="4752" cy="1134"/>
          </a:xfrm>
        </p:grpSpPr>
        <p:sp>
          <p:nvSpPr>
            <p:cNvPr id="107527" name="AutoShape 7"/>
            <p:cNvSpPr>
              <a:spLocks noChangeArrowheads="1"/>
            </p:cNvSpPr>
            <p:nvPr/>
          </p:nvSpPr>
          <p:spPr bwMode="auto">
            <a:xfrm>
              <a:off x="528" y="720"/>
              <a:ext cx="187" cy="173"/>
            </a:xfrm>
            <a:prstGeom prst="star5">
              <a:avLst/>
            </a:prstGeom>
            <a:solidFill>
              <a:srgbClr val="FF3300"/>
            </a:solidFill>
            <a:ln w="12700">
              <a:solidFill>
                <a:srgbClr val="0037E8"/>
              </a:solidFill>
              <a:miter lim="800000"/>
              <a:headEnd/>
              <a:tailEnd/>
            </a:ln>
            <a:effectLst/>
          </p:spPr>
          <p:txBody>
            <a:bodyPr wrap="none" anchor="ctr"/>
            <a:lstStyle/>
            <a:p>
              <a:pPr>
                <a:defRPr/>
              </a:pPr>
              <a:endParaRPr lang="zh-CN" altLang="en-US">
                <a:latin typeface="宋体" panose="02010600030101010101" pitchFamily="2" charset="-122"/>
                <a:ea typeface="宋体" panose="02010600030101010101" pitchFamily="2" charset="-122"/>
              </a:endParaRPr>
            </a:p>
          </p:txBody>
        </p:sp>
        <p:sp>
          <p:nvSpPr>
            <p:cNvPr id="10246" name="Text Box 8"/>
            <p:cNvSpPr txBox="1">
              <a:spLocks noChangeArrowheads="1"/>
            </p:cNvSpPr>
            <p:nvPr/>
          </p:nvSpPr>
          <p:spPr bwMode="auto">
            <a:xfrm>
              <a:off x="768" y="672"/>
              <a:ext cx="4512" cy="113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800" b="1" dirty="0">
                  <a:solidFill>
                    <a:srgbClr val="FF0000"/>
                  </a:solidFill>
                  <a:latin typeface="宋体" panose="02010600030101010101" pitchFamily="2" charset="-122"/>
                  <a:ea typeface="宋体" panose="02010600030101010101" pitchFamily="2" charset="-122"/>
                </a:rPr>
                <a:t>符号表项的组织：</a:t>
              </a:r>
            </a:p>
            <a:p>
              <a:pPr algn="just" eaLnBrk="1" hangingPunct="1"/>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）线性组织</a:t>
              </a:r>
            </a:p>
            <a:p>
              <a:pPr algn="just" eaLnBrk="1" hangingPunct="1"/>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）排序组织  </a:t>
              </a:r>
            </a:p>
            <a:p>
              <a:pPr algn="just" eaLnBrk="1" hangingPunct="1"/>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3</a:t>
              </a:r>
              <a:r>
                <a:rPr lang="zh-CN" altLang="en-US" sz="2800" b="1" dirty="0">
                  <a:latin typeface="宋体" panose="02010600030101010101" pitchFamily="2" charset="-122"/>
                  <a:ea typeface="宋体" panose="02010600030101010101" pitchFamily="2" charset="-122"/>
                </a:rPr>
                <a:t>）散列组织</a:t>
              </a:r>
              <a:r>
                <a:rPr lang="en-US" altLang="zh-CN" sz="2800" b="1" dirty="0">
                  <a:latin typeface="宋体" panose="02010600030101010101" pitchFamily="2" charset="-122"/>
                  <a:ea typeface="宋体" panose="02010600030101010101" pitchFamily="2" charset="-122"/>
                </a:rPr>
                <a:t>:</a:t>
              </a:r>
              <a:r>
                <a:rPr lang="zh-CN" altLang="en-US" b="1" dirty="0">
                  <a:solidFill>
                    <a:schemeClr val="accent2"/>
                  </a:solidFill>
                  <a:latin typeface="宋体" panose="02010600030101010101" pitchFamily="2" charset="-122"/>
                  <a:ea typeface="宋体" panose="02010600030101010101" pitchFamily="2" charset="-122"/>
                </a:rPr>
                <a:t>效率高，为多数编译程序采用</a:t>
              </a:r>
            </a:p>
          </p:txBody>
        </p:sp>
      </p:grpSp>
      <p:sp>
        <p:nvSpPr>
          <p:cNvPr id="11" name="AutoShape 2"/>
          <p:cNvSpPr>
            <a:spLocks noChangeArrowheads="1"/>
          </p:cNvSpPr>
          <p:nvPr/>
        </p:nvSpPr>
        <p:spPr bwMode="auto">
          <a:xfrm>
            <a:off x="0" y="0"/>
            <a:ext cx="5105400" cy="685800"/>
          </a:xfrm>
          <a:prstGeom prst="roundRect">
            <a:avLst>
              <a:gd name="adj" fmla="val 5435"/>
            </a:avLst>
          </a:prstGeom>
          <a:noFill/>
          <a:ln>
            <a:noFill/>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3600" b="1" dirty="0">
                <a:solidFill>
                  <a:schemeClr val="bg1"/>
                </a:solidFill>
                <a:ea typeface="黑体" panose="02010609060101010101" charset="-122"/>
                <a:cs typeface="+mj-cs"/>
              </a:rPr>
              <a:t>符号表的组织 </a:t>
            </a:r>
          </a:p>
        </p:txBody>
      </p:sp>
      <p:sp>
        <p:nvSpPr>
          <p:cNvPr id="2" name="灯片编号占位符 1">
            <a:extLst>
              <a:ext uri="{FF2B5EF4-FFF2-40B4-BE49-F238E27FC236}">
                <a16:creationId xmlns:a16="http://schemas.microsoft.com/office/drawing/2014/main" id="{E3EF88BF-8DDA-4122-804E-3BD7142F7690}"/>
              </a:ext>
            </a:extLst>
          </p:cNvPr>
          <p:cNvSpPr>
            <a:spLocks noGrp="1"/>
          </p:cNvSpPr>
          <p:nvPr>
            <p:ph type="sldNum" sz="quarter" idx="4"/>
          </p:nvPr>
        </p:nvSpPr>
        <p:spPr/>
        <p:txBody>
          <a:bodyPr/>
          <a:lstStyle/>
          <a:p>
            <a:fld id="{565CE74E-AB26-4998-AD42-012C4C1AD076}" type="slidenum">
              <a:rPr lang="zh-CN" altLang="en-US" smtClean="0"/>
              <a:pPr/>
              <a:t>6</a:t>
            </a:fld>
            <a:endParaRPr lang="zh-CN" altLang="en-US"/>
          </a:p>
        </p:txBody>
      </p:sp>
    </p:spTree>
    <p:extLst>
      <p:ext uri="{BB962C8B-B14F-4D97-AF65-F5344CB8AC3E}">
        <p14:creationId xmlns:p14="http://schemas.microsoft.com/office/powerpoint/2010/main" val="2494808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ChangeArrowheads="1"/>
          </p:cNvSpPr>
          <p:nvPr/>
        </p:nvSpPr>
        <p:spPr bwMode="auto">
          <a:xfrm>
            <a:off x="494030" y="1063164"/>
            <a:ext cx="8064500" cy="496887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en-US" altLang="zh-CN" sz="3200" b="1" dirty="0">
                <a:solidFill>
                  <a:srgbClr val="FF0000"/>
                </a:solidFill>
                <a:latin typeface="宋体" panose="02010600030101010101" pitchFamily="2" charset="-122"/>
                <a:ea typeface="宋体" panose="02010600030101010101" pitchFamily="2" charset="-122"/>
              </a:rPr>
              <a:t>Hash</a:t>
            </a:r>
            <a:r>
              <a:rPr lang="zh-CN" altLang="en-US" sz="3200" b="1" dirty="0">
                <a:solidFill>
                  <a:srgbClr val="FF0000"/>
                </a:solidFill>
                <a:latin typeface="宋体" panose="02010600030101010101" pitchFamily="2" charset="-122"/>
                <a:ea typeface="宋体" panose="02010600030101010101" pitchFamily="2" charset="-122"/>
              </a:rPr>
              <a:t>表的基本思想是：</a:t>
            </a:r>
          </a:p>
          <a:p>
            <a:pPr algn="l" eaLnBrk="1" hangingPunct="1"/>
            <a:endParaRPr lang="zh-CN" altLang="en-US" sz="2800" b="1" dirty="0">
              <a:solidFill>
                <a:srgbClr val="FF0000"/>
              </a:solidFill>
              <a:latin typeface="宋体" panose="02010600030101010101" pitchFamily="2" charset="-122"/>
              <a:ea typeface="宋体" panose="02010600030101010101" pitchFamily="2" charset="-122"/>
            </a:endParaRPr>
          </a:p>
          <a:p>
            <a:pPr algn="l" eaLnBrk="1" hangingPunct="1">
              <a:buClr>
                <a:srgbClr val="0000FF"/>
              </a:buClr>
              <a:buFont typeface="Wingdings" panose="05000000000000000000" pitchFamily="2" charset="2"/>
              <a:buChar char="p"/>
            </a:pPr>
            <a:r>
              <a:rPr lang="zh-CN" altLang="en-US" sz="2800" b="1" dirty="0">
                <a:latin typeface="宋体" panose="02010600030101010101" pitchFamily="2" charset="-122"/>
                <a:ea typeface="宋体" panose="02010600030101010101" pitchFamily="2" charset="-122"/>
              </a:rPr>
              <a:t>为符号表设置一个足够大的空间</a:t>
            </a:r>
            <a:r>
              <a:rPr lang="en-US" altLang="zh-CN" sz="2800" b="1" dirty="0">
                <a:latin typeface="宋体" panose="02010600030101010101" pitchFamily="2" charset="-122"/>
                <a:ea typeface="宋体" panose="02010600030101010101" pitchFamily="2" charset="-122"/>
              </a:rPr>
              <a:t>M</a:t>
            </a:r>
          </a:p>
          <a:p>
            <a:pPr algn="l" eaLnBrk="1" hangingPunct="1">
              <a:buClr>
                <a:srgbClr val="0000FF"/>
              </a:buClr>
              <a:buFont typeface="Wingdings" panose="05000000000000000000" pitchFamily="2" charset="2"/>
              <a:buChar char="p"/>
            </a:pPr>
            <a:endParaRPr lang="en-US" altLang="zh-CN" sz="2800" b="1" dirty="0">
              <a:latin typeface="宋体" panose="02010600030101010101" pitchFamily="2" charset="-122"/>
              <a:ea typeface="宋体" panose="02010600030101010101" pitchFamily="2" charset="-122"/>
            </a:endParaRPr>
          </a:p>
          <a:p>
            <a:pPr algn="l" eaLnBrk="1" hangingPunct="1">
              <a:buClr>
                <a:srgbClr val="0000FF"/>
              </a:buClr>
              <a:buFont typeface="Wingdings" panose="05000000000000000000" pitchFamily="2" charset="2"/>
              <a:buChar char="p"/>
            </a:pPr>
            <a:r>
              <a:rPr lang="zh-CN" altLang="en-US" sz="2800" b="1" dirty="0">
                <a:latin typeface="宋体" panose="02010600030101010101" pitchFamily="2" charset="-122"/>
                <a:ea typeface="宋体" panose="02010600030101010101" pitchFamily="2" charset="-122"/>
              </a:rPr>
              <a:t>为符号构造一个散列函数</a:t>
            </a:r>
            <a:r>
              <a:rPr lang="en-US" altLang="zh-CN" sz="2800" b="1" dirty="0">
                <a:latin typeface="宋体" panose="02010600030101010101" pitchFamily="2" charset="-122"/>
                <a:ea typeface="宋体" panose="02010600030101010101" pitchFamily="2" charset="-122"/>
              </a:rPr>
              <a:t>Hash(Ki)</a:t>
            </a:r>
            <a:r>
              <a:rPr lang="zh-CN" altLang="en-US" sz="2800" b="1" dirty="0">
                <a:latin typeface="宋体" panose="02010600030101010101" pitchFamily="2" charset="-122"/>
                <a:ea typeface="宋体" panose="02010600030101010101" pitchFamily="2" charset="-122"/>
              </a:rPr>
              <a:t>，使得</a:t>
            </a:r>
            <a:r>
              <a:rPr lang="en-US" altLang="zh-CN" sz="2800" b="1" dirty="0">
                <a:latin typeface="宋体" panose="02010600030101010101" pitchFamily="2" charset="-122"/>
                <a:ea typeface="宋体" panose="02010600030101010101" pitchFamily="2" charset="-122"/>
              </a:rPr>
              <a:t>0≤ Hash(Ki) ≤M-1,i=1</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n</a:t>
            </a:r>
          </a:p>
          <a:p>
            <a:pPr algn="l" eaLnBrk="1" hangingPunct="1">
              <a:buClr>
                <a:srgbClr val="0000FF"/>
              </a:buClr>
              <a:buFont typeface="Wingdings" panose="05000000000000000000" pitchFamily="2" charset="2"/>
              <a:buChar char="p"/>
            </a:pPr>
            <a:endParaRPr lang="en-US" altLang="zh-CN" sz="2800" b="1" dirty="0">
              <a:latin typeface="宋体" panose="02010600030101010101" pitchFamily="2" charset="-122"/>
              <a:ea typeface="宋体" panose="02010600030101010101" pitchFamily="2" charset="-122"/>
            </a:endParaRPr>
          </a:p>
          <a:p>
            <a:pPr algn="l" eaLnBrk="1" hangingPunct="1">
              <a:buClr>
                <a:srgbClr val="0000FF"/>
              </a:buClr>
              <a:buFont typeface="Wingdings" panose="05000000000000000000" pitchFamily="2" charset="2"/>
              <a:buChar char="p"/>
            </a:pPr>
            <a:r>
              <a:rPr lang="zh-CN" altLang="en-US" sz="2800" b="1" dirty="0">
                <a:latin typeface="宋体" panose="02010600030101010101" pitchFamily="2" charset="-122"/>
                <a:ea typeface="宋体" panose="02010600030101010101" pitchFamily="2" charset="-122"/>
              </a:rPr>
              <a:t>这样查找</a:t>
            </a:r>
            <a:r>
              <a:rPr lang="en-US" altLang="zh-CN" sz="2800" b="1" dirty="0">
                <a:latin typeface="宋体" panose="02010600030101010101" pitchFamily="2" charset="-122"/>
                <a:ea typeface="宋体" panose="02010600030101010101" pitchFamily="2" charset="-122"/>
              </a:rPr>
              <a:t>Ki</a:t>
            </a:r>
            <a:r>
              <a:rPr lang="zh-CN" altLang="en-US" sz="2800" b="1" dirty="0">
                <a:latin typeface="宋体" panose="02010600030101010101" pitchFamily="2" charset="-122"/>
                <a:ea typeface="宋体" panose="02010600030101010101" pitchFamily="2" charset="-122"/>
              </a:rPr>
              <a:t>时，</a:t>
            </a:r>
            <a:r>
              <a:rPr lang="en-US" altLang="zh-CN" sz="2800" b="1" dirty="0">
                <a:latin typeface="宋体" panose="02010600030101010101" pitchFamily="2" charset="-122"/>
                <a:ea typeface="宋体" panose="02010600030101010101" pitchFamily="2" charset="-122"/>
              </a:rPr>
              <a:t>Hash(Ki)</a:t>
            </a:r>
            <a:r>
              <a:rPr lang="zh-CN" altLang="en-US" sz="2800" b="1" dirty="0">
                <a:latin typeface="宋体" panose="02010600030101010101" pitchFamily="2" charset="-122"/>
                <a:ea typeface="宋体" panose="02010600030101010101" pitchFamily="2" charset="-122"/>
              </a:rPr>
              <a:t>就决定了</a:t>
            </a:r>
            <a:r>
              <a:rPr lang="en-US" altLang="zh-CN" sz="2800" b="1" dirty="0">
                <a:latin typeface="宋体" panose="02010600030101010101" pitchFamily="2" charset="-122"/>
                <a:ea typeface="宋体" panose="02010600030101010101" pitchFamily="2" charset="-122"/>
              </a:rPr>
              <a:t>Ki</a:t>
            </a:r>
            <a:r>
              <a:rPr lang="zh-CN" altLang="en-US" sz="2800" b="1" dirty="0">
                <a:latin typeface="宋体" panose="02010600030101010101" pitchFamily="2" charset="-122"/>
                <a:ea typeface="宋体" panose="02010600030101010101" pitchFamily="2" charset="-122"/>
              </a:rPr>
              <a:t>在符号表中的位置 </a:t>
            </a:r>
          </a:p>
        </p:txBody>
      </p:sp>
      <p:sp>
        <p:nvSpPr>
          <p:cNvPr id="2" name="标题 1"/>
          <p:cNvSpPr>
            <a:spLocks noGrp="1"/>
          </p:cNvSpPr>
          <p:nvPr>
            <p:ph type="title"/>
          </p:nvPr>
        </p:nvSpPr>
        <p:spPr/>
        <p:txBody>
          <a:bodyPr/>
          <a:lstStyle/>
          <a:p>
            <a:endParaRPr lang="zh-CN" altLang="en-US" dirty="0"/>
          </a:p>
        </p:txBody>
      </p:sp>
      <p:sp>
        <p:nvSpPr>
          <p:cNvPr id="3" name="灯片编号占位符 2">
            <a:extLst>
              <a:ext uri="{FF2B5EF4-FFF2-40B4-BE49-F238E27FC236}">
                <a16:creationId xmlns:a16="http://schemas.microsoft.com/office/drawing/2014/main" id="{012498EB-EAED-4898-AFE8-C10980D9E3AE}"/>
              </a:ext>
            </a:extLst>
          </p:cNvPr>
          <p:cNvSpPr>
            <a:spLocks noGrp="1"/>
          </p:cNvSpPr>
          <p:nvPr>
            <p:ph type="sldNum" sz="quarter" idx="4"/>
          </p:nvPr>
        </p:nvSpPr>
        <p:spPr/>
        <p:txBody>
          <a:bodyPr/>
          <a:lstStyle/>
          <a:p>
            <a:fld id="{565CE74E-AB26-4998-AD42-012C4C1AD076}" type="slidenum">
              <a:rPr lang="zh-CN" altLang="en-US" smtClean="0"/>
              <a:pPr/>
              <a:t>7</a:t>
            </a:fld>
            <a:endParaRPr lang="zh-CN" altLang="en-US"/>
          </a:p>
        </p:txBody>
      </p:sp>
    </p:spTree>
    <p:extLst>
      <p:ext uri="{BB962C8B-B14F-4D97-AF65-F5344CB8AC3E}">
        <p14:creationId xmlns:p14="http://schemas.microsoft.com/office/powerpoint/2010/main" val="34192395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8546">
                                            <p:bg/>
                                          </p:spTgt>
                                        </p:tgtEl>
                                        <p:attrNameLst>
                                          <p:attrName>style.visibility</p:attrName>
                                        </p:attrNameLst>
                                      </p:cBhvr>
                                      <p:to>
                                        <p:strVal val="visible"/>
                                      </p:to>
                                    </p:set>
                                    <p:animEffect transition="in" filter="box(in)">
                                      <p:cBhvr>
                                        <p:cTn id="7" dur="500"/>
                                        <p:tgtEl>
                                          <p:spTgt spid="108546">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8546">
                                            <p:txEl>
                                              <p:pRg st="0" end="0"/>
                                            </p:txEl>
                                          </p:spTgt>
                                        </p:tgtEl>
                                        <p:attrNameLst>
                                          <p:attrName>style.visibility</p:attrName>
                                        </p:attrNameLst>
                                      </p:cBhvr>
                                      <p:to>
                                        <p:strVal val="visible"/>
                                      </p:to>
                                    </p:set>
                                    <p:animEffect transition="in" filter="box(in)">
                                      <p:cBhvr>
                                        <p:cTn id="12" dur="500"/>
                                        <p:tgtEl>
                                          <p:spTgt spid="10854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8546">
                                            <p:txEl>
                                              <p:pRg st="2" end="2"/>
                                            </p:txEl>
                                          </p:spTgt>
                                        </p:tgtEl>
                                        <p:attrNameLst>
                                          <p:attrName>style.visibility</p:attrName>
                                        </p:attrNameLst>
                                      </p:cBhvr>
                                      <p:to>
                                        <p:strVal val="visible"/>
                                      </p:to>
                                    </p:set>
                                    <p:animEffect transition="in" filter="box(in)">
                                      <p:cBhvr>
                                        <p:cTn id="17" dur="500"/>
                                        <p:tgtEl>
                                          <p:spTgt spid="10854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08546">
                                            <p:txEl>
                                              <p:pRg st="4" end="4"/>
                                            </p:txEl>
                                          </p:spTgt>
                                        </p:tgtEl>
                                        <p:attrNameLst>
                                          <p:attrName>style.visibility</p:attrName>
                                        </p:attrNameLst>
                                      </p:cBhvr>
                                      <p:to>
                                        <p:strVal val="visible"/>
                                      </p:to>
                                    </p:set>
                                    <p:animEffect transition="in" filter="box(in)">
                                      <p:cBhvr>
                                        <p:cTn id="22" dur="500"/>
                                        <p:tgtEl>
                                          <p:spTgt spid="108546">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08546">
                                            <p:txEl>
                                              <p:pRg st="6" end="6"/>
                                            </p:txEl>
                                          </p:spTgt>
                                        </p:tgtEl>
                                        <p:attrNameLst>
                                          <p:attrName>style.visibility</p:attrName>
                                        </p:attrNameLst>
                                      </p:cBhvr>
                                      <p:to>
                                        <p:strVal val="visible"/>
                                      </p:to>
                                    </p:set>
                                    <p:animEffect transition="in" filter="box(in)">
                                      <p:cBhvr>
                                        <p:cTn id="27" dur="500"/>
                                        <p:tgtEl>
                                          <p:spTgt spid="10854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build="p"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ChangeArrowheads="1"/>
          </p:cNvSpPr>
          <p:nvPr/>
        </p:nvSpPr>
        <p:spPr bwMode="auto">
          <a:xfrm>
            <a:off x="408141" y="1114937"/>
            <a:ext cx="8281988" cy="48974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3200" b="1" dirty="0">
                <a:solidFill>
                  <a:srgbClr val="FF0000"/>
                </a:solidFill>
                <a:latin typeface="+mn-ea"/>
                <a:ea typeface="+mn-ea"/>
              </a:rPr>
              <a:t>构造</a:t>
            </a:r>
            <a:r>
              <a:rPr lang="en-US" altLang="zh-CN" sz="3200" b="1" dirty="0">
                <a:solidFill>
                  <a:srgbClr val="FF0000"/>
                </a:solidFill>
                <a:latin typeface="+mn-ea"/>
                <a:ea typeface="+mn-ea"/>
              </a:rPr>
              <a:t>Hash</a:t>
            </a:r>
            <a:r>
              <a:rPr lang="zh-CN" altLang="en-US" sz="3200" b="1" dirty="0">
                <a:solidFill>
                  <a:srgbClr val="FF0000"/>
                </a:solidFill>
                <a:latin typeface="+mn-ea"/>
                <a:ea typeface="+mn-ea"/>
              </a:rPr>
              <a:t>函数的方法：</a:t>
            </a:r>
          </a:p>
          <a:p>
            <a:pPr algn="l" eaLnBrk="1" hangingPunct="1"/>
            <a:endParaRPr lang="zh-CN" altLang="en-US" sz="3200" b="1" dirty="0">
              <a:solidFill>
                <a:srgbClr val="FF0000"/>
              </a:solidFill>
              <a:latin typeface="+mn-ea"/>
              <a:ea typeface="+mn-ea"/>
            </a:endParaRPr>
          </a:p>
          <a:p>
            <a:pPr algn="l" eaLnBrk="1" hangingPunct="1">
              <a:buClr>
                <a:srgbClr val="0000FF"/>
              </a:buClr>
              <a:buFont typeface="Wingdings" panose="05000000000000000000" pitchFamily="2" charset="2"/>
              <a:buChar char="p"/>
            </a:pPr>
            <a:r>
              <a:rPr lang="zh-CN" altLang="en-US" sz="2800" b="1" dirty="0">
                <a:latin typeface="+mn-ea"/>
                <a:ea typeface="+mn-ea"/>
              </a:rPr>
              <a:t>将标识符中的每个字符转换为一个非负整数</a:t>
            </a:r>
          </a:p>
          <a:p>
            <a:pPr algn="l" eaLnBrk="1" hangingPunct="1">
              <a:buClr>
                <a:srgbClr val="0000FF"/>
              </a:buClr>
              <a:buFont typeface="Wingdings" panose="05000000000000000000" pitchFamily="2" charset="2"/>
              <a:buChar char="p"/>
            </a:pPr>
            <a:endParaRPr lang="zh-CN" altLang="en-US" sz="2800" b="1" dirty="0">
              <a:latin typeface="+mn-ea"/>
              <a:ea typeface="+mn-ea"/>
            </a:endParaRPr>
          </a:p>
          <a:p>
            <a:pPr algn="l" eaLnBrk="1" hangingPunct="1">
              <a:buClr>
                <a:srgbClr val="0000FF"/>
              </a:buClr>
              <a:buFont typeface="Wingdings" panose="05000000000000000000" pitchFamily="2" charset="2"/>
              <a:buChar char="p"/>
            </a:pPr>
            <a:r>
              <a:rPr lang="zh-CN" altLang="en-US" sz="2800" b="1" dirty="0">
                <a:latin typeface="+mn-ea"/>
                <a:ea typeface="+mn-ea"/>
              </a:rPr>
              <a:t>将得到的各个整数组合成一个整数（可以将第一个、中间的和最后一个字符值加在一起，也可以将所有字符的值加起来）</a:t>
            </a:r>
          </a:p>
          <a:p>
            <a:pPr algn="l" eaLnBrk="1" hangingPunct="1">
              <a:buClr>
                <a:srgbClr val="0000FF"/>
              </a:buClr>
              <a:buFont typeface="Wingdings" panose="05000000000000000000" pitchFamily="2" charset="2"/>
              <a:buChar char="p"/>
            </a:pPr>
            <a:endParaRPr lang="zh-CN" altLang="en-US" sz="2800" b="1" dirty="0">
              <a:latin typeface="+mn-ea"/>
              <a:ea typeface="+mn-ea"/>
            </a:endParaRPr>
          </a:p>
          <a:p>
            <a:pPr algn="l" eaLnBrk="1" hangingPunct="1">
              <a:buClr>
                <a:srgbClr val="0000FF"/>
              </a:buClr>
              <a:buFont typeface="Wingdings" panose="05000000000000000000" pitchFamily="2" charset="2"/>
              <a:buChar char="p"/>
            </a:pPr>
            <a:r>
              <a:rPr lang="zh-CN" altLang="en-US" sz="2800" b="1" dirty="0">
                <a:latin typeface="+mn-ea"/>
                <a:ea typeface="+mn-ea"/>
              </a:rPr>
              <a:t>将结果数调整到</a:t>
            </a:r>
            <a:r>
              <a:rPr lang="en-US" altLang="zh-CN" sz="2800" b="1" dirty="0">
                <a:latin typeface="+mn-ea"/>
                <a:ea typeface="+mn-ea"/>
              </a:rPr>
              <a:t>0~M-1</a:t>
            </a:r>
            <a:r>
              <a:rPr lang="zh-CN" altLang="en-US" sz="2800" b="1" dirty="0">
                <a:latin typeface="+mn-ea"/>
                <a:ea typeface="+mn-ea"/>
              </a:rPr>
              <a:t>范围内，可以利用取模的方法，</a:t>
            </a:r>
            <a:r>
              <a:rPr lang="en-US" altLang="zh-CN" sz="2800" b="1" dirty="0" err="1">
                <a:latin typeface="+mn-ea"/>
                <a:ea typeface="+mn-ea"/>
              </a:rPr>
              <a:t>Ki%M</a:t>
            </a:r>
            <a:r>
              <a:rPr lang="zh-CN" altLang="en-US" sz="2800" b="1" dirty="0">
                <a:latin typeface="+mn-ea"/>
                <a:ea typeface="+mn-ea"/>
              </a:rPr>
              <a:t>（</a:t>
            </a:r>
            <a:r>
              <a:rPr lang="en-US" altLang="zh-CN" sz="2800" b="1" dirty="0">
                <a:latin typeface="+mn-ea"/>
                <a:ea typeface="+mn-ea"/>
              </a:rPr>
              <a:t>M</a:t>
            </a:r>
            <a:r>
              <a:rPr lang="zh-CN" altLang="en-US" sz="2800" b="1" dirty="0">
                <a:latin typeface="+mn-ea"/>
                <a:ea typeface="+mn-ea"/>
              </a:rPr>
              <a:t>为素数）</a:t>
            </a:r>
          </a:p>
        </p:txBody>
      </p:sp>
      <p:sp>
        <p:nvSpPr>
          <p:cNvPr id="2" name="标题 1"/>
          <p:cNvSpPr>
            <a:spLocks noGrp="1"/>
          </p:cNvSpPr>
          <p:nvPr>
            <p:ph type="title"/>
          </p:nvPr>
        </p:nvSpPr>
        <p:spPr/>
        <p:txBody>
          <a:bodyPr/>
          <a:lstStyle/>
          <a:p>
            <a:endParaRPr lang="zh-CN" altLang="en-US"/>
          </a:p>
        </p:txBody>
      </p:sp>
      <p:sp>
        <p:nvSpPr>
          <p:cNvPr id="3" name="灯片编号占位符 2">
            <a:extLst>
              <a:ext uri="{FF2B5EF4-FFF2-40B4-BE49-F238E27FC236}">
                <a16:creationId xmlns:a16="http://schemas.microsoft.com/office/drawing/2014/main" id="{6F045F2C-B7F1-44CE-A320-973003F26F47}"/>
              </a:ext>
            </a:extLst>
          </p:cNvPr>
          <p:cNvSpPr>
            <a:spLocks noGrp="1"/>
          </p:cNvSpPr>
          <p:nvPr>
            <p:ph type="sldNum" sz="quarter" idx="4"/>
          </p:nvPr>
        </p:nvSpPr>
        <p:spPr/>
        <p:txBody>
          <a:bodyPr/>
          <a:lstStyle/>
          <a:p>
            <a:fld id="{565CE74E-AB26-4998-AD42-012C4C1AD076}" type="slidenum">
              <a:rPr lang="zh-CN" altLang="en-US" smtClean="0"/>
              <a:pPr/>
              <a:t>8</a:t>
            </a:fld>
            <a:endParaRPr lang="zh-CN" altLang="en-US"/>
          </a:p>
        </p:txBody>
      </p:sp>
    </p:spTree>
    <p:extLst>
      <p:ext uri="{BB962C8B-B14F-4D97-AF65-F5344CB8AC3E}">
        <p14:creationId xmlns:p14="http://schemas.microsoft.com/office/powerpoint/2010/main" val="20390644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9570">
                                            <p:bg/>
                                          </p:spTgt>
                                        </p:tgtEl>
                                        <p:attrNameLst>
                                          <p:attrName>style.visibility</p:attrName>
                                        </p:attrNameLst>
                                      </p:cBhvr>
                                      <p:to>
                                        <p:strVal val="visible"/>
                                      </p:to>
                                    </p:set>
                                    <p:animEffect transition="in" filter="box(in)">
                                      <p:cBhvr>
                                        <p:cTn id="7" dur="500"/>
                                        <p:tgtEl>
                                          <p:spTgt spid="109570">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9570">
                                            <p:txEl>
                                              <p:pRg st="0" end="0"/>
                                            </p:txEl>
                                          </p:spTgt>
                                        </p:tgtEl>
                                        <p:attrNameLst>
                                          <p:attrName>style.visibility</p:attrName>
                                        </p:attrNameLst>
                                      </p:cBhvr>
                                      <p:to>
                                        <p:strVal val="visible"/>
                                      </p:to>
                                    </p:set>
                                    <p:animEffect transition="in" filter="box(in)">
                                      <p:cBhvr>
                                        <p:cTn id="12" dur="500"/>
                                        <p:tgtEl>
                                          <p:spTgt spid="10957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9570">
                                            <p:txEl>
                                              <p:pRg st="2" end="2"/>
                                            </p:txEl>
                                          </p:spTgt>
                                        </p:tgtEl>
                                        <p:attrNameLst>
                                          <p:attrName>style.visibility</p:attrName>
                                        </p:attrNameLst>
                                      </p:cBhvr>
                                      <p:to>
                                        <p:strVal val="visible"/>
                                      </p:to>
                                    </p:set>
                                    <p:animEffect transition="in" filter="box(in)">
                                      <p:cBhvr>
                                        <p:cTn id="17" dur="500"/>
                                        <p:tgtEl>
                                          <p:spTgt spid="10957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09570">
                                            <p:txEl>
                                              <p:pRg st="4" end="4"/>
                                            </p:txEl>
                                          </p:spTgt>
                                        </p:tgtEl>
                                        <p:attrNameLst>
                                          <p:attrName>style.visibility</p:attrName>
                                        </p:attrNameLst>
                                      </p:cBhvr>
                                      <p:to>
                                        <p:strVal val="visible"/>
                                      </p:to>
                                    </p:set>
                                    <p:animEffect transition="in" filter="box(in)">
                                      <p:cBhvr>
                                        <p:cTn id="22" dur="500"/>
                                        <p:tgtEl>
                                          <p:spTgt spid="109570">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09570">
                                            <p:txEl>
                                              <p:pRg st="6" end="6"/>
                                            </p:txEl>
                                          </p:spTgt>
                                        </p:tgtEl>
                                        <p:attrNameLst>
                                          <p:attrName>style.visibility</p:attrName>
                                        </p:attrNameLst>
                                      </p:cBhvr>
                                      <p:to>
                                        <p:strVal val="visible"/>
                                      </p:to>
                                    </p:set>
                                    <p:animEffect transition="in" filter="box(in)">
                                      <p:cBhvr>
                                        <p:cTn id="27" dur="500"/>
                                        <p:tgtEl>
                                          <p:spTgt spid="10957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build="p"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395288" y="981075"/>
            <a:ext cx="8353425" cy="338296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3200" b="1" dirty="0">
                <a:solidFill>
                  <a:srgbClr val="FF0000"/>
                </a:solidFill>
                <a:latin typeface="宋体" panose="02010600030101010101" pitchFamily="2" charset="-122"/>
                <a:ea typeface="宋体" panose="02010600030101010101" pitchFamily="2" charset="-122"/>
              </a:rPr>
              <a:t>解决地址冲突的方法：</a:t>
            </a:r>
          </a:p>
          <a:p>
            <a:pPr algn="l" eaLnBrk="1" hangingPunct="1"/>
            <a:endParaRPr lang="zh-CN" altLang="en-US" sz="3200" b="1" dirty="0">
              <a:solidFill>
                <a:srgbClr val="FF0000"/>
              </a:solidFill>
              <a:latin typeface="宋体" panose="02010600030101010101" pitchFamily="2" charset="-122"/>
              <a:ea typeface="宋体" panose="02010600030101010101" pitchFamily="2" charset="-122"/>
            </a:endParaRPr>
          </a:p>
          <a:p>
            <a:pPr algn="l" eaLnBrk="1" hangingPunct="1"/>
            <a:r>
              <a:rPr lang="zh-CN" altLang="en-US" b="1" dirty="0">
                <a:latin typeface="宋体" panose="02010600030101010101" pitchFamily="2" charset="-122"/>
                <a:ea typeface="宋体" panose="02010600030101010101" pitchFamily="2" charset="-122"/>
              </a:rPr>
              <a:t>由于用户定义标识符的随机性，</a:t>
            </a:r>
            <a:r>
              <a:rPr lang="en-US" altLang="zh-CN" b="1" dirty="0">
                <a:latin typeface="宋体" panose="02010600030101010101" pitchFamily="2" charset="-122"/>
                <a:ea typeface="宋体" panose="02010600030101010101" pitchFamily="2" charset="-122"/>
              </a:rPr>
              <a:t>Hash</a:t>
            </a:r>
            <a:r>
              <a:rPr lang="zh-CN" altLang="en-US" b="1" dirty="0">
                <a:latin typeface="宋体" panose="02010600030101010101" pitchFamily="2" charset="-122"/>
                <a:ea typeface="宋体" panose="02010600030101010101" pitchFamily="2" charset="-122"/>
              </a:rPr>
              <a:t>函数值在</a:t>
            </a:r>
            <a:r>
              <a:rPr lang="en-US" altLang="zh-CN" b="1" dirty="0">
                <a:latin typeface="宋体" panose="02010600030101010101" pitchFamily="2" charset="-122"/>
                <a:ea typeface="宋体" panose="02010600030101010101" pitchFamily="2" charset="-122"/>
              </a:rPr>
              <a:t>0~M-1</a:t>
            </a:r>
            <a:r>
              <a:rPr lang="zh-CN" altLang="en-US" b="1" dirty="0">
                <a:latin typeface="宋体" panose="02010600030101010101" pitchFamily="2" charset="-122"/>
                <a:ea typeface="宋体" panose="02010600030101010101" pitchFamily="2" charset="-122"/>
              </a:rPr>
              <a:t>范围内不一定唯一</a:t>
            </a:r>
          </a:p>
          <a:p>
            <a:pPr algn="l" eaLnBrk="1" hangingPunct="1"/>
            <a:endParaRPr lang="zh-CN" altLang="en-US" b="1" dirty="0">
              <a:latin typeface="宋体" panose="02010600030101010101" pitchFamily="2" charset="-122"/>
              <a:ea typeface="宋体" panose="02010600030101010101" pitchFamily="2" charset="-122"/>
            </a:endParaRPr>
          </a:p>
          <a:p>
            <a:pPr algn="l" eaLnBrk="1" hangingPunct="1"/>
            <a:r>
              <a:rPr lang="zh-CN" altLang="en-US" b="1" dirty="0">
                <a:latin typeface="宋体" panose="02010600030101010101" pitchFamily="2" charset="-122"/>
                <a:ea typeface="宋体" panose="02010600030101010101" pitchFamily="2" charset="-122"/>
              </a:rPr>
              <a:t>若两个标识符具有相同的函数值，则可用开放地址法或链地址法解决冲突，有关内容可以参考</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数据结构</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的教材。</a:t>
            </a:r>
          </a:p>
          <a:p>
            <a:pPr algn="l" eaLnBrk="1" hangingPunct="1">
              <a:buClr>
                <a:srgbClr val="0000FF"/>
              </a:buClr>
              <a:buFont typeface="Wingdings" panose="05000000000000000000" pitchFamily="2" charset="2"/>
              <a:buChar char="p"/>
            </a:pPr>
            <a:endParaRPr lang="en-US" altLang="zh-CN" sz="2800" b="1" dirty="0">
              <a:latin typeface="宋体" panose="02010600030101010101" pitchFamily="2" charset="-122"/>
              <a:ea typeface="宋体" panose="02010600030101010101" pitchFamily="2" charset="-122"/>
            </a:endParaRPr>
          </a:p>
        </p:txBody>
      </p:sp>
      <p:sp>
        <p:nvSpPr>
          <p:cNvPr id="2" name="标题 1"/>
          <p:cNvSpPr>
            <a:spLocks noGrp="1"/>
          </p:cNvSpPr>
          <p:nvPr>
            <p:ph type="title"/>
          </p:nvPr>
        </p:nvSpPr>
        <p:spPr/>
        <p:txBody>
          <a:bodyPr/>
          <a:lstStyle/>
          <a:p>
            <a:endParaRPr lang="zh-CN" altLang="en-US"/>
          </a:p>
        </p:txBody>
      </p:sp>
      <p:sp>
        <p:nvSpPr>
          <p:cNvPr id="3" name="灯片编号占位符 2">
            <a:extLst>
              <a:ext uri="{FF2B5EF4-FFF2-40B4-BE49-F238E27FC236}">
                <a16:creationId xmlns:a16="http://schemas.microsoft.com/office/drawing/2014/main" id="{92D21051-FFAA-4AB6-94B7-AA7AEFCB753C}"/>
              </a:ext>
            </a:extLst>
          </p:cNvPr>
          <p:cNvSpPr>
            <a:spLocks noGrp="1"/>
          </p:cNvSpPr>
          <p:nvPr>
            <p:ph type="sldNum" sz="quarter" idx="4"/>
          </p:nvPr>
        </p:nvSpPr>
        <p:spPr/>
        <p:txBody>
          <a:bodyPr/>
          <a:lstStyle/>
          <a:p>
            <a:fld id="{565CE74E-AB26-4998-AD42-012C4C1AD076}" type="slidenum">
              <a:rPr lang="zh-CN" altLang="en-US" smtClean="0"/>
              <a:pPr/>
              <a:t>9</a:t>
            </a:fld>
            <a:endParaRPr lang="zh-CN" altLang="en-US"/>
          </a:p>
        </p:txBody>
      </p:sp>
    </p:spTree>
    <p:extLst>
      <p:ext uri="{BB962C8B-B14F-4D97-AF65-F5344CB8AC3E}">
        <p14:creationId xmlns:p14="http://schemas.microsoft.com/office/powerpoint/2010/main" val="2296791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8224" y="90975"/>
            <a:ext cx="9033428" cy="476885"/>
          </a:xfrm>
        </p:spPr>
        <p:txBody>
          <a:bodyPr/>
          <a:lstStyle/>
          <a:p>
            <a:r>
              <a:rPr lang="zh-CN" altLang="en-US" dirty="0"/>
              <a:t>二、静态语义分析               </a:t>
            </a:r>
            <a:r>
              <a:rPr lang="zh-CN" altLang="en-US" dirty="0">
                <a:solidFill>
                  <a:srgbClr val="FF0000"/>
                </a:solidFill>
              </a:rPr>
              <a:t>相关的工作任务</a:t>
            </a:r>
          </a:p>
        </p:txBody>
      </p:sp>
      <p:sp>
        <p:nvSpPr>
          <p:cNvPr id="5" name="Rectangle 13"/>
          <p:cNvSpPr>
            <a:spLocks noGrp="1" noChangeArrowheads="1"/>
          </p:cNvSpPr>
          <p:nvPr>
            <p:ph type="body" idx="1"/>
          </p:nvPr>
        </p:nvSpPr>
        <p:spPr>
          <a:xfrm>
            <a:off x="609600" y="872660"/>
            <a:ext cx="8001000" cy="5105400"/>
          </a:xfrm>
          <a:noFill/>
          <a:ln/>
        </p:spPr>
        <p:txBody>
          <a:bodyPr lIns="92075" tIns="46038" rIns="92075" bIns="46038">
            <a:normAutofit lnSpcReduction="10000"/>
          </a:bodyPr>
          <a:lstStyle/>
          <a:p>
            <a:pPr>
              <a:spcBef>
                <a:spcPct val="5000"/>
              </a:spcBef>
            </a:pPr>
            <a:r>
              <a:rPr lang="zh-CN" altLang="en-US" b="1" dirty="0"/>
              <a:t>静态语义检查</a:t>
            </a:r>
          </a:p>
          <a:p>
            <a:pPr>
              <a:spcBef>
                <a:spcPct val="5000"/>
              </a:spcBef>
            </a:pPr>
            <a:endParaRPr lang="zh-CN" altLang="en-US" b="1" dirty="0"/>
          </a:p>
          <a:p>
            <a:pPr>
              <a:spcBef>
                <a:spcPct val="5000"/>
              </a:spcBef>
            </a:pPr>
            <a:endParaRPr lang="zh-CN" altLang="en-US" b="1" dirty="0"/>
          </a:p>
          <a:p>
            <a:pPr>
              <a:spcBef>
                <a:spcPct val="5000"/>
              </a:spcBef>
            </a:pPr>
            <a:endParaRPr lang="en-US" altLang="zh-CN" b="1" dirty="0"/>
          </a:p>
          <a:p>
            <a:pPr>
              <a:spcBef>
                <a:spcPct val="5000"/>
              </a:spcBef>
            </a:pPr>
            <a:r>
              <a:rPr lang="zh-CN" altLang="en-US" b="1" dirty="0"/>
              <a:t>动态语义处理</a:t>
            </a:r>
            <a:r>
              <a:rPr lang="en-US" altLang="zh-CN" b="1" dirty="0"/>
              <a:t>——</a:t>
            </a:r>
            <a:r>
              <a:rPr lang="zh-CN" altLang="en-US" b="1" dirty="0"/>
              <a:t>翻译</a:t>
            </a:r>
          </a:p>
          <a:p>
            <a:pPr lvl="1">
              <a:spcBef>
                <a:spcPct val="5000"/>
              </a:spcBef>
            </a:pPr>
            <a:endParaRPr lang="zh-CN" altLang="en-US" b="1" dirty="0"/>
          </a:p>
          <a:p>
            <a:pPr>
              <a:spcBef>
                <a:spcPct val="5000"/>
              </a:spcBef>
            </a:pPr>
            <a:endParaRPr lang="zh-CN" altLang="en-US" b="1" dirty="0"/>
          </a:p>
          <a:p>
            <a:pPr>
              <a:spcBef>
                <a:spcPct val="5000"/>
              </a:spcBef>
            </a:pPr>
            <a:endParaRPr lang="zh-CN" altLang="en-US" b="1" dirty="0"/>
          </a:p>
          <a:p>
            <a:pPr>
              <a:spcBef>
                <a:spcPct val="5000"/>
              </a:spcBef>
            </a:pPr>
            <a:endParaRPr lang="zh-CN" altLang="en-US" b="1" dirty="0"/>
          </a:p>
          <a:p>
            <a:pPr>
              <a:spcBef>
                <a:spcPct val="5000"/>
              </a:spcBef>
            </a:pPr>
            <a:endParaRPr lang="en-US" altLang="zh-CN" b="1" dirty="0"/>
          </a:p>
          <a:p>
            <a:pPr>
              <a:spcBef>
                <a:spcPct val="5000"/>
              </a:spcBef>
            </a:pPr>
            <a:r>
              <a:rPr lang="zh-CN" altLang="en-US" b="1" dirty="0"/>
              <a:t>总目标</a:t>
            </a:r>
          </a:p>
        </p:txBody>
      </p:sp>
      <p:sp>
        <p:nvSpPr>
          <p:cNvPr id="6" name="Rectangle 18"/>
          <p:cNvSpPr>
            <a:spLocks noChangeArrowheads="1"/>
          </p:cNvSpPr>
          <p:nvPr/>
        </p:nvSpPr>
        <p:spPr bwMode="auto">
          <a:xfrm>
            <a:off x="533400" y="1482260"/>
            <a:ext cx="7772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Blip>
                <a:blip r:embed="rId2"/>
              </a:buBlip>
              <a:defRPr sz="3200">
                <a:solidFill>
                  <a:schemeClr val="tx1"/>
                </a:solidFill>
                <a:latin typeface="Arial" charset="0"/>
                <a:ea typeface="宋体" charset="-122"/>
              </a:defRPr>
            </a:lvl1pPr>
            <a:lvl2pPr marL="742950" indent="-285750">
              <a:spcBef>
                <a:spcPct val="20000"/>
              </a:spcBef>
              <a:buBlip>
                <a:blip r:embed="rId3"/>
              </a:buBlip>
              <a:defRPr sz="2800">
                <a:solidFill>
                  <a:schemeClr val="tx1"/>
                </a:solidFill>
                <a:latin typeface="Arial" charset="0"/>
                <a:ea typeface="宋体" charset="-122"/>
              </a:defRPr>
            </a:lvl2pPr>
            <a:lvl3pPr marL="1143000" indent="-228600">
              <a:spcBef>
                <a:spcPct val="20000"/>
              </a:spcBef>
              <a:buClr>
                <a:srgbClr val="FF0000"/>
              </a:buClr>
              <a:buChar char="Ø"/>
              <a:defRPr sz="2400">
                <a:solidFill>
                  <a:schemeClr val="tx1"/>
                </a:solidFill>
                <a:latin typeface="Arial" charset="0"/>
                <a:ea typeface="宋体" charset="-122"/>
              </a:defRPr>
            </a:lvl3pPr>
            <a:lvl4pPr marL="1600200" indent="-228600">
              <a:spcBef>
                <a:spcPct val="20000"/>
              </a:spcBef>
              <a:buChar char="–"/>
              <a:defRPr sz="2000">
                <a:solidFill>
                  <a:schemeClr val="tx1"/>
                </a:solidFill>
                <a:latin typeface="Arial" charset="0"/>
                <a:ea typeface="宋体" charset="-122"/>
              </a:defRPr>
            </a:lvl4pPr>
            <a:lvl5pPr marL="2057400" indent="-228600">
              <a:spcBef>
                <a:spcPct val="20000"/>
              </a:spcBef>
              <a:buChar char="»"/>
              <a:defRPr sz="2000">
                <a:solidFill>
                  <a:schemeClr val="tx1"/>
                </a:solidFill>
                <a:latin typeface="Arial" charset="0"/>
                <a:ea typeface="宋体" charset="-122"/>
              </a:defRPr>
            </a:lvl5pPr>
            <a:lvl6pPr marL="2514600" indent="-228600" fontAlgn="base">
              <a:spcBef>
                <a:spcPct val="20000"/>
              </a:spcBef>
              <a:spcAft>
                <a:spcPct val="0"/>
              </a:spcAft>
              <a:buChar char="»"/>
              <a:defRPr sz="2000">
                <a:solidFill>
                  <a:schemeClr val="tx1"/>
                </a:solidFill>
                <a:latin typeface="Arial" charset="0"/>
                <a:ea typeface="宋体" charset="-122"/>
              </a:defRPr>
            </a:lvl6pPr>
            <a:lvl7pPr marL="2971800" indent="-228600" fontAlgn="base">
              <a:spcBef>
                <a:spcPct val="20000"/>
              </a:spcBef>
              <a:spcAft>
                <a:spcPct val="0"/>
              </a:spcAft>
              <a:buChar char="»"/>
              <a:defRPr sz="2000">
                <a:solidFill>
                  <a:schemeClr val="tx1"/>
                </a:solidFill>
                <a:latin typeface="Arial" charset="0"/>
                <a:ea typeface="宋体" charset="-122"/>
              </a:defRPr>
            </a:lvl7pPr>
            <a:lvl8pPr marL="3429000" indent="-228600" fontAlgn="base">
              <a:spcBef>
                <a:spcPct val="20000"/>
              </a:spcBef>
              <a:spcAft>
                <a:spcPct val="0"/>
              </a:spcAft>
              <a:buChar char="»"/>
              <a:defRPr sz="2000">
                <a:solidFill>
                  <a:schemeClr val="tx1"/>
                </a:solidFill>
                <a:latin typeface="Arial" charset="0"/>
                <a:ea typeface="宋体" charset="-122"/>
              </a:defRPr>
            </a:lvl8pPr>
            <a:lvl9pPr marL="3886200" indent="-228600" fontAlgn="base">
              <a:spcBef>
                <a:spcPct val="20000"/>
              </a:spcBef>
              <a:spcAft>
                <a:spcPct val="0"/>
              </a:spcAft>
              <a:buChar char="»"/>
              <a:defRPr sz="2000">
                <a:solidFill>
                  <a:schemeClr val="tx1"/>
                </a:solidFill>
                <a:latin typeface="Arial" charset="0"/>
                <a:ea typeface="宋体" charset="-122"/>
              </a:defRPr>
            </a:lvl9pPr>
          </a:lstStyle>
          <a:p>
            <a:pPr lvl="1">
              <a:lnSpc>
                <a:spcPct val="90000"/>
              </a:lnSpc>
            </a:pPr>
            <a:r>
              <a:rPr lang="zh-CN" altLang="en-US" dirty="0"/>
              <a:t>例：类型检查、控制流检查、一致性检查、相关名字检查</a:t>
            </a:r>
          </a:p>
        </p:txBody>
      </p:sp>
      <p:sp>
        <p:nvSpPr>
          <p:cNvPr id="7" name="Rectangle 19"/>
          <p:cNvSpPr>
            <a:spLocks noChangeArrowheads="1"/>
          </p:cNvSpPr>
          <p:nvPr/>
        </p:nvSpPr>
        <p:spPr bwMode="auto">
          <a:xfrm>
            <a:off x="609600" y="3006260"/>
            <a:ext cx="76200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Blip>
                <a:blip r:embed="rId2"/>
              </a:buBlip>
              <a:defRPr sz="3200">
                <a:solidFill>
                  <a:schemeClr val="tx1"/>
                </a:solidFill>
                <a:latin typeface="Arial" charset="0"/>
                <a:ea typeface="宋体" charset="-122"/>
              </a:defRPr>
            </a:lvl1pPr>
            <a:lvl2pPr marL="742950" indent="-285750">
              <a:spcBef>
                <a:spcPct val="20000"/>
              </a:spcBef>
              <a:buBlip>
                <a:blip r:embed="rId3"/>
              </a:buBlip>
              <a:defRPr sz="2800">
                <a:solidFill>
                  <a:schemeClr val="tx1"/>
                </a:solidFill>
                <a:latin typeface="Arial" charset="0"/>
                <a:ea typeface="宋体" charset="-122"/>
              </a:defRPr>
            </a:lvl2pPr>
            <a:lvl3pPr marL="1143000" indent="-228600">
              <a:spcBef>
                <a:spcPct val="20000"/>
              </a:spcBef>
              <a:buClr>
                <a:srgbClr val="FF0000"/>
              </a:buClr>
              <a:buChar char="Ø"/>
              <a:defRPr sz="2400">
                <a:solidFill>
                  <a:schemeClr val="tx1"/>
                </a:solidFill>
                <a:latin typeface="Arial" charset="0"/>
                <a:ea typeface="宋体" charset="-122"/>
              </a:defRPr>
            </a:lvl3pPr>
            <a:lvl4pPr marL="1600200" indent="-228600">
              <a:spcBef>
                <a:spcPct val="20000"/>
              </a:spcBef>
              <a:buChar char="–"/>
              <a:defRPr sz="2000">
                <a:solidFill>
                  <a:schemeClr val="tx1"/>
                </a:solidFill>
                <a:latin typeface="Arial" charset="0"/>
                <a:ea typeface="宋体" charset="-122"/>
              </a:defRPr>
            </a:lvl4pPr>
            <a:lvl5pPr marL="2057400" indent="-228600">
              <a:spcBef>
                <a:spcPct val="20000"/>
              </a:spcBef>
              <a:buChar char="»"/>
              <a:defRPr sz="2000">
                <a:solidFill>
                  <a:schemeClr val="tx1"/>
                </a:solidFill>
                <a:latin typeface="Arial" charset="0"/>
                <a:ea typeface="宋体" charset="-122"/>
              </a:defRPr>
            </a:lvl5pPr>
            <a:lvl6pPr marL="2514600" indent="-228600" fontAlgn="base">
              <a:spcBef>
                <a:spcPct val="20000"/>
              </a:spcBef>
              <a:spcAft>
                <a:spcPct val="0"/>
              </a:spcAft>
              <a:buChar char="»"/>
              <a:defRPr sz="2000">
                <a:solidFill>
                  <a:schemeClr val="tx1"/>
                </a:solidFill>
                <a:latin typeface="Arial" charset="0"/>
                <a:ea typeface="宋体" charset="-122"/>
              </a:defRPr>
            </a:lvl6pPr>
            <a:lvl7pPr marL="2971800" indent="-228600" fontAlgn="base">
              <a:spcBef>
                <a:spcPct val="20000"/>
              </a:spcBef>
              <a:spcAft>
                <a:spcPct val="0"/>
              </a:spcAft>
              <a:buChar char="»"/>
              <a:defRPr sz="2000">
                <a:solidFill>
                  <a:schemeClr val="tx1"/>
                </a:solidFill>
                <a:latin typeface="Arial" charset="0"/>
                <a:ea typeface="宋体" charset="-122"/>
              </a:defRPr>
            </a:lvl7pPr>
            <a:lvl8pPr marL="3429000" indent="-228600" fontAlgn="base">
              <a:spcBef>
                <a:spcPct val="20000"/>
              </a:spcBef>
              <a:spcAft>
                <a:spcPct val="0"/>
              </a:spcAft>
              <a:buChar char="»"/>
              <a:defRPr sz="2000">
                <a:solidFill>
                  <a:schemeClr val="tx1"/>
                </a:solidFill>
                <a:latin typeface="Arial" charset="0"/>
                <a:ea typeface="宋体" charset="-122"/>
              </a:defRPr>
            </a:lvl8pPr>
            <a:lvl9pPr marL="3886200" indent="-228600" fontAlgn="base">
              <a:spcBef>
                <a:spcPct val="20000"/>
              </a:spcBef>
              <a:spcAft>
                <a:spcPct val="0"/>
              </a:spcAft>
              <a:buChar char="»"/>
              <a:defRPr sz="2000">
                <a:solidFill>
                  <a:schemeClr val="tx1"/>
                </a:solidFill>
                <a:latin typeface="Arial" charset="0"/>
                <a:ea typeface="宋体" charset="-122"/>
              </a:defRPr>
            </a:lvl9pPr>
          </a:lstStyle>
          <a:p>
            <a:pPr lvl="1">
              <a:lnSpc>
                <a:spcPct val="90000"/>
              </a:lnSpc>
            </a:pPr>
            <a:r>
              <a:rPr lang="zh-CN" altLang="en-US" dirty="0"/>
              <a:t>对程序意义的解释，执行真正的翻译</a:t>
            </a:r>
          </a:p>
          <a:p>
            <a:pPr lvl="1">
              <a:lnSpc>
                <a:spcPct val="90000"/>
              </a:lnSpc>
            </a:pPr>
            <a:r>
              <a:rPr lang="zh-CN" altLang="en-US" dirty="0"/>
              <a:t>例：变量的存储分配</a:t>
            </a:r>
          </a:p>
          <a:p>
            <a:pPr lvl="1">
              <a:lnSpc>
                <a:spcPct val="90000"/>
              </a:lnSpc>
              <a:buFontTx/>
              <a:buNone/>
            </a:pPr>
            <a:r>
              <a:rPr lang="zh-CN" altLang="en-US" dirty="0"/>
              <a:t>   例：表达式的求值</a:t>
            </a:r>
          </a:p>
          <a:p>
            <a:pPr lvl="1">
              <a:lnSpc>
                <a:spcPct val="90000"/>
              </a:lnSpc>
              <a:buFontTx/>
              <a:buNone/>
            </a:pPr>
            <a:r>
              <a:rPr lang="zh-CN" altLang="en-US" dirty="0"/>
              <a:t>   例：语句的翻译（中间代码的生成）</a:t>
            </a:r>
          </a:p>
        </p:txBody>
      </p:sp>
      <p:sp>
        <p:nvSpPr>
          <p:cNvPr id="8" name="Rectangle 20"/>
          <p:cNvSpPr>
            <a:spLocks noChangeArrowheads="1"/>
          </p:cNvSpPr>
          <p:nvPr/>
        </p:nvSpPr>
        <p:spPr bwMode="auto">
          <a:xfrm>
            <a:off x="609600" y="5444660"/>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Blip>
                <a:blip r:embed="rId2"/>
              </a:buBlip>
              <a:defRPr sz="3200">
                <a:solidFill>
                  <a:schemeClr val="tx1"/>
                </a:solidFill>
                <a:latin typeface="Arial" charset="0"/>
                <a:ea typeface="宋体" charset="-122"/>
              </a:defRPr>
            </a:lvl1pPr>
            <a:lvl2pPr marL="742950" indent="-285750">
              <a:spcBef>
                <a:spcPct val="20000"/>
              </a:spcBef>
              <a:buBlip>
                <a:blip r:embed="rId3"/>
              </a:buBlip>
              <a:defRPr sz="2800">
                <a:solidFill>
                  <a:schemeClr val="tx1"/>
                </a:solidFill>
                <a:latin typeface="Arial" charset="0"/>
                <a:ea typeface="宋体" charset="-122"/>
              </a:defRPr>
            </a:lvl2pPr>
            <a:lvl3pPr marL="1143000" indent="-228600">
              <a:spcBef>
                <a:spcPct val="20000"/>
              </a:spcBef>
              <a:buClr>
                <a:srgbClr val="FF0000"/>
              </a:buClr>
              <a:buChar char="Ø"/>
              <a:defRPr sz="2400">
                <a:solidFill>
                  <a:schemeClr val="tx1"/>
                </a:solidFill>
                <a:latin typeface="Arial" charset="0"/>
                <a:ea typeface="宋体" charset="-122"/>
              </a:defRPr>
            </a:lvl3pPr>
            <a:lvl4pPr marL="1600200" indent="-228600">
              <a:spcBef>
                <a:spcPct val="20000"/>
              </a:spcBef>
              <a:buChar char="–"/>
              <a:defRPr sz="2000">
                <a:solidFill>
                  <a:schemeClr val="tx1"/>
                </a:solidFill>
                <a:latin typeface="Arial" charset="0"/>
                <a:ea typeface="宋体" charset="-122"/>
              </a:defRPr>
            </a:lvl4pPr>
            <a:lvl5pPr marL="2057400" indent="-228600">
              <a:spcBef>
                <a:spcPct val="20000"/>
              </a:spcBef>
              <a:buChar char="»"/>
              <a:defRPr sz="2000">
                <a:solidFill>
                  <a:schemeClr val="tx1"/>
                </a:solidFill>
                <a:latin typeface="Arial" charset="0"/>
                <a:ea typeface="宋体" charset="-122"/>
              </a:defRPr>
            </a:lvl5pPr>
            <a:lvl6pPr marL="2514600" indent="-228600" fontAlgn="base">
              <a:spcBef>
                <a:spcPct val="20000"/>
              </a:spcBef>
              <a:spcAft>
                <a:spcPct val="0"/>
              </a:spcAft>
              <a:buChar char="»"/>
              <a:defRPr sz="2000">
                <a:solidFill>
                  <a:schemeClr val="tx1"/>
                </a:solidFill>
                <a:latin typeface="Arial" charset="0"/>
                <a:ea typeface="宋体" charset="-122"/>
              </a:defRPr>
            </a:lvl6pPr>
            <a:lvl7pPr marL="2971800" indent="-228600" fontAlgn="base">
              <a:spcBef>
                <a:spcPct val="20000"/>
              </a:spcBef>
              <a:spcAft>
                <a:spcPct val="0"/>
              </a:spcAft>
              <a:buChar char="»"/>
              <a:defRPr sz="2000">
                <a:solidFill>
                  <a:schemeClr val="tx1"/>
                </a:solidFill>
                <a:latin typeface="Arial" charset="0"/>
                <a:ea typeface="宋体" charset="-122"/>
              </a:defRPr>
            </a:lvl7pPr>
            <a:lvl8pPr marL="3429000" indent="-228600" fontAlgn="base">
              <a:spcBef>
                <a:spcPct val="20000"/>
              </a:spcBef>
              <a:spcAft>
                <a:spcPct val="0"/>
              </a:spcAft>
              <a:buChar char="»"/>
              <a:defRPr sz="2000">
                <a:solidFill>
                  <a:schemeClr val="tx1"/>
                </a:solidFill>
                <a:latin typeface="Arial" charset="0"/>
                <a:ea typeface="宋体" charset="-122"/>
              </a:defRPr>
            </a:lvl8pPr>
            <a:lvl9pPr marL="3886200" indent="-228600" fontAlgn="base">
              <a:spcBef>
                <a:spcPct val="20000"/>
              </a:spcBef>
              <a:spcAft>
                <a:spcPct val="0"/>
              </a:spcAft>
              <a:buChar char="»"/>
              <a:defRPr sz="2000">
                <a:solidFill>
                  <a:schemeClr val="tx1"/>
                </a:solidFill>
                <a:latin typeface="Arial" charset="0"/>
                <a:ea typeface="宋体" charset="-122"/>
              </a:defRPr>
            </a:lvl9pPr>
          </a:lstStyle>
          <a:p>
            <a:pPr lvl="1">
              <a:lnSpc>
                <a:spcPct val="90000"/>
              </a:lnSpc>
            </a:pPr>
            <a:r>
              <a:rPr lang="zh-CN" altLang="en-US" dirty="0"/>
              <a:t>生成等价的中间代码（中间表示形式）</a:t>
            </a:r>
          </a:p>
        </p:txBody>
      </p:sp>
      <p:sp>
        <p:nvSpPr>
          <p:cNvPr id="2" name="灯片编号占位符 1">
            <a:extLst>
              <a:ext uri="{FF2B5EF4-FFF2-40B4-BE49-F238E27FC236}">
                <a16:creationId xmlns:a16="http://schemas.microsoft.com/office/drawing/2014/main" id="{6239E9FD-E278-4B1C-B4D7-5AE45D6A3CBF}"/>
              </a:ext>
            </a:extLst>
          </p:cNvPr>
          <p:cNvSpPr>
            <a:spLocks noGrp="1"/>
          </p:cNvSpPr>
          <p:nvPr>
            <p:ph type="sldNum" sz="quarter" idx="4"/>
          </p:nvPr>
        </p:nvSpPr>
        <p:spPr/>
        <p:txBody>
          <a:bodyPr/>
          <a:lstStyle/>
          <a:p>
            <a:fld id="{565CE74E-AB26-4998-AD42-012C4C1AD076}" type="slidenum">
              <a:rPr lang="zh-CN" altLang="en-US" smtClean="0"/>
              <a:pPr/>
              <a:t>10</a:t>
            </a:fld>
            <a:endParaRPr lang="zh-CN" altLang="en-US"/>
          </a:p>
        </p:txBody>
      </p:sp>
    </p:spTree>
    <p:extLst>
      <p:ext uri="{BB962C8B-B14F-4D97-AF65-F5344CB8AC3E}">
        <p14:creationId xmlns:p14="http://schemas.microsoft.com/office/powerpoint/2010/main" val="1088734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blinds(horizontal)">
                                      <p:cBhvr>
                                        <p:cTn id="12" dur="500"/>
                                        <p:tgtEl>
                                          <p:spTgt spid="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10" end="10"/>
                                            </p:txEl>
                                          </p:spTgt>
                                        </p:tgtEl>
                                        <p:attrNameLst>
                                          <p:attrName>style.visibility</p:attrName>
                                        </p:attrNameLst>
                                      </p:cBhvr>
                                      <p:to>
                                        <p:strVal val="visible"/>
                                      </p:to>
                                    </p:set>
                                    <p:animEffect transition="in" filter="blinds(horizontal)">
                                      <p:cBhvr>
                                        <p:cTn id="17" dur="500"/>
                                        <p:tgtEl>
                                          <p:spTgt spid="5">
                                            <p:txEl>
                                              <p:pRg st="10" end="1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blinds(horizontal)">
                                      <p:cBhvr>
                                        <p:cTn id="22" dur="500"/>
                                        <p:tgtEl>
                                          <p:spTgt spid="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blinds(horizontal)">
                                      <p:cBhvr>
                                        <p:cTn id="27" dur="500"/>
                                        <p:tgtEl>
                                          <p:spTgt spid="7">
                                            <p:txEl>
                                              <p:pRg st="0" end="0"/>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7">
                                            <p:txEl>
                                              <p:pRg st="1" end="1"/>
                                            </p:txEl>
                                          </p:spTgt>
                                        </p:tgtEl>
                                        <p:attrNameLst>
                                          <p:attrName>style.visibility</p:attrName>
                                        </p:attrNameLst>
                                      </p:cBhvr>
                                      <p:to>
                                        <p:strVal val="visible"/>
                                      </p:to>
                                    </p:set>
                                    <p:animEffect transition="in" filter="blinds(horizontal)">
                                      <p:cBhvr>
                                        <p:cTn id="30" dur="500"/>
                                        <p:tgtEl>
                                          <p:spTgt spid="7">
                                            <p:txEl>
                                              <p:pRg st="1" end="1"/>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7">
                                            <p:txEl>
                                              <p:pRg st="2" end="2"/>
                                            </p:txEl>
                                          </p:spTgt>
                                        </p:tgtEl>
                                        <p:attrNameLst>
                                          <p:attrName>style.visibility</p:attrName>
                                        </p:attrNameLst>
                                      </p:cBhvr>
                                      <p:to>
                                        <p:strVal val="visible"/>
                                      </p:to>
                                    </p:set>
                                    <p:animEffect transition="in" filter="blinds(horizontal)">
                                      <p:cBhvr>
                                        <p:cTn id="33" dur="500"/>
                                        <p:tgtEl>
                                          <p:spTgt spid="7">
                                            <p:txEl>
                                              <p:pRg st="2" end="2"/>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7">
                                            <p:txEl>
                                              <p:pRg st="3" end="3"/>
                                            </p:txEl>
                                          </p:spTgt>
                                        </p:tgtEl>
                                        <p:attrNameLst>
                                          <p:attrName>style.visibility</p:attrName>
                                        </p:attrNameLst>
                                      </p:cBhvr>
                                      <p:to>
                                        <p:strVal val="visible"/>
                                      </p:to>
                                    </p:set>
                                    <p:animEffect transition="in" filter="blinds(horizontal)">
                                      <p:cBhvr>
                                        <p:cTn id="36" dur="500"/>
                                        <p:tgtEl>
                                          <p:spTgt spid="7">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8">
                                            <p:txEl>
                                              <p:pRg st="0" end="0"/>
                                            </p:txEl>
                                          </p:spTgt>
                                        </p:tgtEl>
                                        <p:attrNameLst>
                                          <p:attrName>style.visibility</p:attrName>
                                        </p:attrNameLst>
                                      </p:cBhvr>
                                      <p:to>
                                        <p:strVal val="visible"/>
                                      </p:to>
                                    </p:set>
                                    <p:animEffect transition="in" filter="blinds(horizontal)">
                                      <p:cBhvr>
                                        <p:cTn id="41"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6" grpId="0" build="p" autoUpdateAnimBg="0"/>
      <p:bldP spid="7" grpId="0" build="p" autoUpdateAnimBg="0"/>
      <p:bldP spid="8"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375920" y="793750"/>
            <a:ext cx="8361680" cy="6064250"/>
          </a:xfrm>
        </p:spPr>
        <p:txBody>
          <a:bodyPr>
            <a:normAutofit fontScale="85000" lnSpcReduction="20000"/>
          </a:bodyPr>
          <a:lstStyle/>
          <a:p>
            <a:r>
              <a:rPr lang="zh-CN" altLang="en-US" dirty="0"/>
              <a:t>代码生成前程序合法性检查的最后阶段</a:t>
            </a:r>
          </a:p>
          <a:p>
            <a:pPr lvl="1">
              <a:lnSpc>
                <a:spcPct val="120000"/>
              </a:lnSpc>
            </a:pPr>
            <a:r>
              <a:rPr lang="zh-CN" altLang="en-US" dirty="0"/>
              <a:t>静态类型检查（</a:t>
            </a:r>
            <a:r>
              <a:rPr lang="en-US" altLang="zh-CN" dirty="0"/>
              <a:t>type checks</a:t>
            </a:r>
            <a:r>
              <a:rPr lang="zh-CN" altLang="en-US" dirty="0"/>
              <a:t>） </a:t>
            </a:r>
          </a:p>
          <a:p>
            <a:pPr lvl="2">
              <a:lnSpc>
                <a:spcPct val="120000"/>
              </a:lnSpc>
            </a:pPr>
            <a:r>
              <a:rPr lang="zh-CN" altLang="en-US" dirty="0"/>
              <a:t>检查每个操作是否遵守语言类型系统的定义</a:t>
            </a:r>
          </a:p>
          <a:p>
            <a:pPr lvl="1">
              <a:lnSpc>
                <a:spcPct val="120000"/>
              </a:lnSpc>
            </a:pPr>
            <a:r>
              <a:rPr lang="zh-CN" altLang="en-US" dirty="0"/>
              <a:t>名字的作用域（</a:t>
            </a:r>
            <a:r>
              <a:rPr lang="en-US" altLang="zh-CN" dirty="0"/>
              <a:t>scope</a:t>
            </a:r>
            <a:r>
              <a:rPr lang="zh-CN" altLang="en-US" dirty="0"/>
              <a:t>）分析  </a:t>
            </a:r>
          </a:p>
          <a:p>
            <a:pPr lvl="2">
              <a:lnSpc>
                <a:spcPct val="120000"/>
              </a:lnSpc>
            </a:pPr>
            <a:r>
              <a:rPr lang="zh-CN" altLang="en-US" dirty="0"/>
              <a:t>建立名字的定义和使用之间联系</a:t>
            </a:r>
          </a:p>
          <a:p>
            <a:pPr lvl="1">
              <a:lnSpc>
                <a:spcPct val="120000"/>
              </a:lnSpc>
            </a:pPr>
            <a:r>
              <a:rPr lang="zh-CN" altLang="en-US" dirty="0"/>
              <a:t>控制流检查（</a:t>
            </a:r>
            <a:r>
              <a:rPr lang="en-US" altLang="zh-CN" dirty="0"/>
              <a:t>flow-of-control checks</a:t>
            </a:r>
            <a:r>
              <a:rPr lang="zh-CN" altLang="en-US" dirty="0"/>
              <a:t>）</a:t>
            </a:r>
          </a:p>
          <a:p>
            <a:pPr lvl="2">
              <a:lnSpc>
                <a:spcPct val="120000"/>
              </a:lnSpc>
            </a:pPr>
            <a:r>
              <a:rPr lang="zh-CN" altLang="en-US" dirty="0"/>
              <a:t>控制流语句必须使控制转移到合法的地方（如 </a:t>
            </a:r>
            <a:r>
              <a:rPr lang="en-US" altLang="zh-CN" dirty="0"/>
              <a:t>break</a:t>
            </a:r>
            <a:r>
              <a:rPr lang="zh-CN" altLang="en-US" dirty="0"/>
              <a:t>语句必须有合法的语句包围它）</a:t>
            </a:r>
          </a:p>
          <a:p>
            <a:pPr lvl="1">
              <a:lnSpc>
                <a:spcPct val="120000"/>
              </a:lnSpc>
            </a:pPr>
            <a:r>
              <a:rPr lang="zh-CN" altLang="en-US" dirty="0"/>
              <a:t> 唯一性检查（</a:t>
            </a:r>
            <a:r>
              <a:rPr lang="en-US" altLang="zh-CN" dirty="0"/>
              <a:t>uniqueness checks</a:t>
            </a:r>
            <a:r>
              <a:rPr lang="zh-CN" altLang="en-US" dirty="0"/>
              <a:t>）</a:t>
            </a:r>
            <a:endParaRPr lang="en-US" altLang="zh-CN" dirty="0"/>
          </a:p>
          <a:p>
            <a:pPr lvl="2">
              <a:lnSpc>
                <a:spcPct val="120000"/>
              </a:lnSpc>
            </a:pPr>
            <a:r>
              <a:rPr lang="zh-CN" altLang="en-US" dirty="0"/>
              <a:t> 很多场合要求对象只能被定义一次（如标识符在上下文范围内只允许定义一次）</a:t>
            </a:r>
          </a:p>
          <a:p>
            <a:pPr lvl="1">
              <a:lnSpc>
                <a:spcPct val="120000"/>
              </a:lnSpc>
            </a:pPr>
            <a:r>
              <a:rPr lang="zh-CN" altLang="en-US" dirty="0"/>
              <a:t>名字的上下文相关性（</a:t>
            </a:r>
            <a:r>
              <a:rPr lang="en-US" altLang="zh-CN" dirty="0"/>
              <a:t>name-related checks</a:t>
            </a:r>
            <a:r>
              <a:rPr lang="zh-CN" altLang="en-US" dirty="0"/>
              <a:t>） </a:t>
            </a:r>
            <a:endParaRPr lang="en-US" altLang="zh-CN" dirty="0"/>
          </a:p>
          <a:p>
            <a:pPr lvl="2">
              <a:lnSpc>
                <a:spcPct val="120000"/>
              </a:lnSpc>
            </a:pPr>
            <a:r>
              <a:rPr lang="zh-CN" altLang="en-US" dirty="0"/>
              <a:t>名字的出现在遵循作用域与可见性前提下应该满足一定的上下文相关性</a:t>
            </a:r>
            <a:endParaRPr lang="en-US" altLang="zh-CN" dirty="0"/>
          </a:p>
          <a:p>
            <a:pPr lvl="2"/>
            <a:endParaRPr lang="en-US" altLang="zh-CN" dirty="0"/>
          </a:p>
          <a:p>
            <a:r>
              <a:rPr lang="zh-CN" altLang="en-US" dirty="0">
                <a:solidFill>
                  <a:srgbClr val="FF0000"/>
                </a:solidFill>
              </a:rPr>
              <a:t>上述检查工作可以在语法制导翻译过程中实现。</a:t>
            </a:r>
          </a:p>
        </p:txBody>
      </p:sp>
      <p:sp>
        <p:nvSpPr>
          <p:cNvPr id="3" name="标题 2"/>
          <p:cNvSpPr>
            <a:spLocks noGrp="1"/>
          </p:cNvSpPr>
          <p:nvPr>
            <p:ph type="title"/>
          </p:nvPr>
        </p:nvSpPr>
        <p:spPr/>
        <p:txBody>
          <a:bodyPr/>
          <a:lstStyle/>
          <a:p>
            <a:r>
              <a:rPr lang="zh-CN" altLang="en-US" dirty="0"/>
              <a:t>二、静态语义分析</a:t>
            </a:r>
            <a:endParaRPr lang="zh-CN" altLang="en-US" dirty="0">
              <a:solidFill>
                <a:srgbClr val="FF0000"/>
              </a:solidFill>
            </a:endParaRPr>
          </a:p>
        </p:txBody>
      </p:sp>
      <p:sp>
        <p:nvSpPr>
          <p:cNvPr id="4" name="灯片编号占位符 3">
            <a:extLst>
              <a:ext uri="{FF2B5EF4-FFF2-40B4-BE49-F238E27FC236}">
                <a16:creationId xmlns:a16="http://schemas.microsoft.com/office/drawing/2014/main" id="{9FFFE070-2466-49A7-819D-34BC668B36B4}"/>
              </a:ext>
            </a:extLst>
          </p:cNvPr>
          <p:cNvSpPr>
            <a:spLocks noGrp="1"/>
          </p:cNvSpPr>
          <p:nvPr>
            <p:ph type="sldNum" sz="quarter" idx="4"/>
          </p:nvPr>
        </p:nvSpPr>
        <p:spPr/>
        <p:txBody>
          <a:bodyPr/>
          <a:lstStyle/>
          <a:p>
            <a:fld id="{565CE74E-AB26-4998-AD42-012C4C1AD076}" type="slidenum">
              <a:rPr lang="zh-CN" altLang="en-US" smtClean="0"/>
              <a:pPr/>
              <a:t>11</a:t>
            </a:fld>
            <a:endParaRPr lang="zh-CN" altLang="en-US"/>
          </a:p>
        </p:txBody>
      </p:sp>
    </p:spTree>
    <p:extLst>
      <p:ext uri="{BB962C8B-B14F-4D97-AF65-F5344CB8AC3E}">
        <p14:creationId xmlns:p14="http://schemas.microsoft.com/office/powerpoint/2010/main" val="2043431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pPr>
              <a:buClrTx/>
              <a:buFont typeface="Symbol" pitchFamily="18" charset="2"/>
              <a:buChar char="-"/>
            </a:pPr>
            <a:r>
              <a:rPr lang="zh-CN" altLang="en-US" dirty="0"/>
              <a:t>以下是定义某个简单语言的上下文无关文法</a:t>
            </a:r>
          </a:p>
          <a:p>
            <a:pPr>
              <a:buClrTx/>
              <a:buFont typeface="Symbol" pitchFamily="18" charset="2"/>
              <a:buNone/>
            </a:pPr>
            <a:r>
              <a:rPr lang="zh-CN" altLang="en-US" dirty="0"/>
              <a:t>   </a:t>
            </a:r>
            <a:r>
              <a:rPr lang="en-US" altLang="zh-CN" i="1" dirty="0"/>
              <a:t>G</a:t>
            </a:r>
            <a:r>
              <a:rPr lang="en-US" altLang="zh-CN" dirty="0"/>
              <a:t>[</a:t>
            </a:r>
            <a:r>
              <a:rPr lang="en-US" altLang="zh-CN" i="1" dirty="0"/>
              <a:t>P</a:t>
            </a:r>
            <a:r>
              <a:rPr lang="en-US" altLang="zh-CN" dirty="0"/>
              <a:t>] </a:t>
            </a:r>
            <a:r>
              <a:rPr lang="zh-CN" altLang="en-US" dirty="0"/>
              <a:t>：</a:t>
            </a:r>
            <a:endParaRPr lang="zh-CN" altLang="en-US" sz="1050" dirty="0"/>
          </a:p>
          <a:p>
            <a:endParaRPr lang="zh-CN" altLang="en-US" dirty="0"/>
          </a:p>
        </p:txBody>
      </p:sp>
      <p:sp>
        <p:nvSpPr>
          <p:cNvPr id="3" name="标题 2"/>
          <p:cNvSpPr>
            <a:spLocks noGrp="1"/>
          </p:cNvSpPr>
          <p:nvPr>
            <p:ph type="title"/>
          </p:nvPr>
        </p:nvSpPr>
        <p:spPr>
          <a:xfrm>
            <a:off x="103955" y="99239"/>
            <a:ext cx="8905609" cy="476885"/>
          </a:xfrm>
        </p:spPr>
        <p:txBody>
          <a:bodyPr/>
          <a:lstStyle/>
          <a:p>
            <a:r>
              <a:rPr lang="zh-CN" altLang="en-US" dirty="0"/>
              <a:t>二、静态语义分析                   </a:t>
            </a:r>
            <a:r>
              <a:rPr lang="zh-CN" altLang="en-US" dirty="0">
                <a:solidFill>
                  <a:srgbClr val="FF0000"/>
                </a:solidFill>
              </a:rPr>
              <a:t>类型检查</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1912783321"/>
              </p:ext>
            </p:extLst>
          </p:nvPr>
        </p:nvGraphicFramePr>
        <p:xfrm>
          <a:off x="1072598" y="2144230"/>
          <a:ext cx="7129463" cy="3843338"/>
        </p:xfrm>
        <a:graphic>
          <a:graphicData uri="http://schemas.openxmlformats.org/presentationml/2006/ole">
            <mc:AlternateContent xmlns:mc="http://schemas.openxmlformats.org/markup-compatibility/2006">
              <mc:Choice xmlns:v="urn:schemas-microsoft-com:vml" Requires="v">
                <p:oleObj spid="_x0000_s6264" name="Visio" r:id="rId3" imgW="5811201" imgH="2926759" progId="Visio.Drawing.11">
                  <p:embed/>
                </p:oleObj>
              </mc:Choice>
              <mc:Fallback>
                <p:oleObj name="Visio" r:id="rId3" imgW="5811201" imgH="2926759" progId="Visio.Drawing.11">
                  <p:embed/>
                  <p:pic>
                    <p:nvPicPr>
                      <p:cNvPr id="0" name="Object 5"/>
                      <p:cNvPicPr>
                        <a:picLocks noChangeAspect="1" noChangeArrowheads="1"/>
                      </p:cNvPicPr>
                      <p:nvPr/>
                    </p:nvPicPr>
                    <p:blipFill>
                      <a:blip r:embed="rId4"/>
                      <a:srcRect/>
                      <a:stretch>
                        <a:fillRect/>
                      </a:stretch>
                    </p:blipFill>
                    <p:spPr bwMode="auto">
                      <a:xfrm>
                        <a:off x="1072598" y="2144230"/>
                        <a:ext cx="7129463" cy="3843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p:cNvSpPr txBox="1"/>
          <p:nvPr/>
        </p:nvSpPr>
        <p:spPr>
          <a:xfrm>
            <a:off x="6430617" y="3279916"/>
            <a:ext cx="864705" cy="369332"/>
          </a:xfrm>
          <a:prstGeom prst="rect">
            <a:avLst/>
          </a:prstGeom>
          <a:noFill/>
        </p:spPr>
        <p:txBody>
          <a:bodyPr wrap="square" rtlCol="0">
            <a:spAutoFit/>
          </a:bodyPr>
          <a:lstStyle/>
          <a:p>
            <a:r>
              <a:rPr lang="zh-CN" altLang="en-US" dirty="0"/>
              <a:t>声明</a:t>
            </a:r>
          </a:p>
        </p:txBody>
      </p:sp>
      <p:sp>
        <p:nvSpPr>
          <p:cNvPr id="6" name="TextBox 5"/>
          <p:cNvSpPr txBox="1"/>
          <p:nvPr/>
        </p:nvSpPr>
        <p:spPr>
          <a:xfrm>
            <a:off x="7875104" y="4793977"/>
            <a:ext cx="1268896" cy="369332"/>
          </a:xfrm>
          <a:prstGeom prst="rect">
            <a:avLst/>
          </a:prstGeom>
          <a:noFill/>
        </p:spPr>
        <p:txBody>
          <a:bodyPr wrap="square" rtlCol="0">
            <a:spAutoFit/>
          </a:bodyPr>
          <a:lstStyle/>
          <a:p>
            <a:r>
              <a:rPr lang="zh-CN" altLang="en-US" dirty="0"/>
              <a:t>表达式</a:t>
            </a:r>
          </a:p>
        </p:txBody>
      </p:sp>
      <p:sp>
        <p:nvSpPr>
          <p:cNvPr id="7" name="TextBox 6"/>
          <p:cNvSpPr txBox="1"/>
          <p:nvPr/>
        </p:nvSpPr>
        <p:spPr>
          <a:xfrm>
            <a:off x="7240656" y="4050130"/>
            <a:ext cx="1268896" cy="369332"/>
          </a:xfrm>
          <a:prstGeom prst="rect">
            <a:avLst/>
          </a:prstGeom>
          <a:noFill/>
        </p:spPr>
        <p:txBody>
          <a:bodyPr wrap="square" rtlCol="0">
            <a:spAutoFit/>
          </a:bodyPr>
          <a:lstStyle/>
          <a:p>
            <a:r>
              <a:rPr lang="zh-CN" altLang="en-US" dirty="0"/>
              <a:t>语句</a:t>
            </a:r>
          </a:p>
        </p:txBody>
      </p:sp>
      <p:sp>
        <p:nvSpPr>
          <p:cNvPr id="8" name="TextBox 7"/>
          <p:cNvSpPr txBox="1"/>
          <p:nvPr/>
        </p:nvSpPr>
        <p:spPr>
          <a:xfrm>
            <a:off x="7295322" y="5202928"/>
            <a:ext cx="1268896" cy="369332"/>
          </a:xfrm>
          <a:prstGeom prst="rect">
            <a:avLst/>
          </a:prstGeom>
          <a:noFill/>
        </p:spPr>
        <p:txBody>
          <a:bodyPr wrap="square" rtlCol="0">
            <a:spAutoFit/>
          </a:bodyPr>
          <a:lstStyle/>
          <a:p>
            <a:r>
              <a:rPr lang="zh-CN" altLang="en-US" dirty="0"/>
              <a:t>过程</a:t>
            </a:r>
          </a:p>
        </p:txBody>
      </p:sp>
      <p:sp>
        <p:nvSpPr>
          <p:cNvPr id="9" name="灯片编号占位符 8">
            <a:extLst>
              <a:ext uri="{FF2B5EF4-FFF2-40B4-BE49-F238E27FC236}">
                <a16:creationId xmlns:a16="http://schemas.microsoft.com/office/drawing/2014/main" id="{FD8E13F9-3604-41C9-86FB-B62F8A4CB45C}"/>
              </a:ext>
            </a:extLst>
          </p:cNvPr>
          <p:cNvSpPr>
            <a:spLocks noGrp="1"/>
          </p:cNvSpPr>
          <p:nvPr>
            <p:ph type="sldNum" sz="quarter" idx="4"/>
          </p:nvPr>
        </p:nvSpPr>
        <p:spPr/>
        <p:txBody>
          <a:bodyPr/>
          <a:lstStyle/>
          <a:p>
            <a:fld id="{565CE74E-AB26-4998-AD42-012C4C1AD076}" type="slidenum">
              <a:rPr lang="zh-CN" altLang="en-US" smtClean="0"/>
              <a:pPr/>
              <a:t>12</a:t>
            </a:fld>
            <a:endParaRPr lang="zh-CN" altLang="en-US"/>
          </a:p>
        </p:txBody>
      </p:sp>
    </p:spTree>
    <p:extLst>
      <p:ext uri="{BB962C8B-B14F-4D97-AF65-F5344CB8AC3E}">
        <p14:creationId xmlns:p14="http://schemas.microsoft.com/office/powerpoint/2010/main" val="535671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a:bodyPr>
          <a:lstStyle/>
          <a:p>
            <a:r>
              <a:rPr lang="zh-CN" altLang="en-US" dirty="0"/>
              <a:t> 类型表达式和类型系统</a:t>
            </a:r>
          </a:p>
          <a:p>
            <a:pPr lvl="1"/>
            <a:r>
              <a:rPr lang="zh-CN" altLang="en-US" dirty="0"/>
              <a:t>类型表达式（</a:t>
            </a:r>
            <a:r>
              <a:rPr lang="en-US" altLang="zh-CN" dirty="0"/>
              <a:t>type expressions</a:t>
            </a:r>
            <a:r>
              <a:rPr lang="zh-CN" altLang="en-US" dirty="0"/>
              <a:t>）</a:t>
            </a:r>
          </a:p>
          <a:p>
            <a:pPr lvl="2"/>
            <a:r>
              <a:rPr lang="zh-CN" altLang="en-US" dirty="0"/>
              <a:t>是由</a:t>
            </a:r>
            <a:r>
              <a:rPr lang="zh-CN" altLang="en-US" dirty="0">
                <a:solidFill>
                  <a:srgbClr val="FF0000"/>
                </a:solidFill>
              </a:rPr>
              <a:t>基本类型，类型名字，类型变量</a:t>
            </a:r>
            <a:r>
              <a:rPr lang="zh-CN" altLang="en-US" dirty="0"/>
              <a:t>，及</a:t>
            </a:r>
            <a:r>
              <a:rPr lang="zh-CN" altLang="en-US" dirty="0">
                <a:solidFill>
                  <a:srgbClr val="FF0000"/>
                </a:solidFill>
              </a:rPr>
              <a:t>类型构造子</a:t>
            </a:r>
            <a:r>
              <a:rPr lang="zh-CN" altLang="en-US" dirty="0"/>
              <a:t> </a:t>
            </a:r>
            <a:r>
              <a:rPr lang="en-US" altLang="zh-CN" dirty="0"/>
              <a:t>type constructor</a:t>
            </a:r>
            <a:r>
              <a:rPr lang="zh-CN" altLang="en-US" dirty="0"/>
              <a:t>）归纳定义的</a:t>
            </a:r>
            <a:r>
              <a:rPr lang="zh-CN" altLang="en-US" dirty="0">
                <a:solidFill>
                  <a:srgbClr val="FF0000"/>
                </a:solidFill>
              </a:rPr>
              <a:t>表达式</a:t>
            </a:r>
          </a:p>
          <a:p>
            <a:pPr lvl="1"/>
            <a:r>
              <a:rPr lang="zh-CN" altLang="en-US" dirty="0"/>
              <a:t>类型系统（</a:t>
            </a:r>
            <a:r>
              <a:rPr lang="en-US" altLang="zh-CN" dirty="0"/>
              <a:t>type systems</a:t>
            </a:r>
            <a:r>
              <a:rPr lang="zh-CN" altLang="en-US" dirty="0"/>
              <a:t>）</a:t>
            </a:r>
          </a:p>
          <a:p>
            <a:pPr lvl="2"/>
            <a:r>
              <a:rPr lang="zh-CN" altLang="en-US" dirty="0"/>
              <a:t>将类型表达式赋给程序各个部分的</a:t>
            </a:r>
            <a:r>
              <a:rPr lang="zh-CN" altLang="en-US" dirty="0">
                <a:solidFill>
                  <a:srgbClr val="FF0000"/>
                </a:solidFill>
              </a:rPr>
              <a:t>规则集合</a:t>
            </a:r>
          </a:p>
          <a:p>
            <a:endParaRPr lang="zh-CN" altLang="en-US" dirty="0"/>
          </a:p>
        </p:txBody>
      </p:sp>
      <p:sp>
        <p:nvSpPr>
          <p:cNvPr id="6" name="标题 2"/>
          <p:cNvSpPr>
            <a:spLocks noGrp="1"/>
          </p:cNvSpPr>
          <p:nvPr>
            <p:ph type="title"/>
          </p:nvPr>
        </p:nvSpPr>
        <p:spPr>
          <a:xfrm>
            <a:off x="103955" y="99239"/>
            <a:ext cx="8905609" cy="476885"/>
          </a:xfrm>
        </p:spPr>
        <p:txBody>
          <a:bodyPr/>
          <a:lstStyle/>
          <a:p>
            <a:r>
              <a:rPr lang="zh-CN" altLang="en-US" dirty="0"/>
              <a:t>二、静态语义分析                   </a:t>
            </a:r>
            <a:r>
              <a:rPr lang="zh-CN" altLang="en-US" dirty="0">
                <a:solidFill>
                  <a:srgbClr val="FF0000"/>
                </a:solidFill>
              </a:rPr>
              <a:t>类型检查</a:t>
            </a:r>
            <a:endParaRPr lang="zh-CN" altLang="en-US" dirty="0"/>
          </a:p>
        </p:txBody>
      </p:sp>
      <p:sp>
        <p:nvSpPr>
          <p:cNvPr id="3" name="灯片编号占位符 2">
            <a:extLst>
              <a:ext uri="{FF2B5EF4-FFF2-40B4-BE49-F238E27FC236}">
                <a16:creationId xmlns:a16="http://schemas.microsoft.com/office/drawing/2014/main" id="{DEADB5D9-83F7-4D5D-976A-BF268874488C}"/>
              </a:ext>
            </a:extLst>
          </p:cNvPr>
          <p:cNvSpPr>
            <a:spLocks noGrp="1"/>
          </p:cNvSpPr>
          <p:nvPr>
            <p:ph type="sldNum" sz="quarter" idx="4"/>
          </p:nvPr>
        </p:nvSpPr>
        <p:spPr/>
        <p:txBody>
          <a:bodyPr/>
          <a:lstStyle/>
          <a:p>
            <a:fld id="{565CE74E-AB26-4998-AD42-012C4C1AD076}" type="slidenum">
              <a:rPr lang="zh-CN" altLang="en-US" smtClean="0"/>
              <a:pPr/>
              <a:t>13</a:t>
            </a:fld>
            <a:endParaRPr lang="zh-CN" altLang="en-US"/>
          </a:p>
        </p:txBody>
      </p:sp>
    </p:spTree>
    <p:extLst>
      <p:ext uri="{BB962C8B-B14F-4D97-AF65-F5344CB8AC3E}">
        <p14:creationId xmlns:p14="http://schemas.microsoft.com/office/powerpoint/2010/main" val="24942384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375920" y="793750"/>
            <a:ext cx="8361680" cy="5848210"/>
          </a:xfrm>
        </p:spPr>
        <p:txBody>
          <a:bodyPr>
            <a:normAutofit fontScale="92500" lnSpcReduction="20000"/>
          </a:bodyPr>
          <a:lstStyle/>
          <a:p>
            <a:r>
              <a:rPr lang="zh-CN" altLang="en-US" dirty="0"/>
              <a:t>类型表达式</a:t>
            </a:r>
          </a:p>
          <a:p>
            <a:pPr lvl="1">
              <a:lnSpc>
                <a:spcPct val="110000"/>
              </a:lnSpc>
            </a:pPr>
            <a:r>
              <a:rPr lang="zh-CN" altLang="en-US" dirty="0"/>
              <a:t>分四类定义</a:t>
            </a:r>
          </a:p>
          <a:p>
            <a:pPr lvl="2">
              <a:lnSpc>
                <a:spcPct val="110000"/>
              </a:lnSpc>
            </a:pPr>
            <a:r>
              <a:rPr lang="zh-CN" altLang="en-US" dirty="0"/>
              <a:t>基本数据类型表达式，积类型表达式，过程类型表达式，专用类型表达式</a:t>
            </a:r>
          </a:p>
          <a:p>
            <a:pPr lvl="1">
              <a:lnSpc>
                <a:spcPct val="110000"/>
              </a:lnSpc>
            </a:pPr>
            <a:r>
              <a:rPr lang="zh-CN" altLang="en-US" dirty="0"/>
              <a:t>基本数据类型表达式</a:t>
            </a:r>
          </a:p>
          <a:p>
            <a:pPr lvl="2">
              <a:lnSpc>
                <a:spcPct val="110000"/>
              </a:lnSpc>
            </a:pPr>
            <a:r>
              <a:rPr lang="zh-CN" altLang="en-US" dirty="0"/>
              <a:t>纯量类型表达式：</a:t>
            </a:r>
            <a:r>
              <a:rPr lang="en-US" altLang="zh-CN" dirty="0"/>
              <a:t>bool, </a:t>
            </a:r>
            <a:r>
              <a:rPr lang="en-US" altLang="zh-CN" dirty="0" err="1"/>
              <a:t>int</a:t>
            </a:r>
            <a:r>
              <a:rPr lang="en-US" altLang="zh-CN" dirty="0"/>
              <a:t>, real</a:t>
            </a:r>
          </a:p>
          <a:p>
            <a:pPr lvl="2">
              <a:lnSpc>
                <a:spcPct val="110000"/>
              </a:lnSpc>
            </a:pPr>
            <a:r>
              <a:rPr lang="zh-CN" altLang="en-US" dirty="0"/>
              <a:t>有界数组类型表达式：</a:t>
            </a:r>
            <a:r>
              <a:rPr lang="en-US" altLang="zh-CN" dirty="0"/>
              <a:t>array(I,T) </a:t>
            </a:r>
          </a:p>
          <a:p>
            <a:pPr lvl="3">
              <a:lnSpc>
                <a:spcPct val="110000"/>
              </a:lnSpc>
            </a:pPr>
            <a:r>
              <a:rPr lang="en-US" altLang="zh-CN" dirty="0"/>
              <a:t>T </a:t>
            </a:r>
            <a:r>
              <a:rPr lang="en-US" altLang="zh-CN" dirty="0">
                <a:sym typeface="Symbol" pitchFamily="18" charset="2"/>
              </a:rPr>
              <a:t> </a:t>
            </a:r>
            <a:r>
              <a:rPr lang="en-US" altLang="zh-CN" dirty="0"/>
              <a:t>{ bool, </a:t>
            </a:r>
            <a:r>
              <a:rPr lang="en-US" altLang="zh-CN" dirty="0" err="1"/>
              <a:t>int</a:t>
            </a:r>
            <a:r>
              <a:rPr lang="en-US" altLang="zh-CN" dirty="0"/>
              <a:t>, real }</a:t>
            </a:r>
            <a:r>
              <a:rPr lang="zh-CN" altLang="en-US" dirty="0"/>
              <a:t>；</a:t>
            </a:r>
            <a:r>
              <a:rPr lang="en-US" altLang="zh-CN" dirty="0"/>
              <a:t>I </a:t>
            </a:r>
            <a:r>
              <a:rPr lang="zh-CN" altLang="en-US" dirty="0"/>
              <a:t>代表一个整数区间，如 </a:t>
            </a:r>
            <a:r>
              <a:rPr lang="en-US" altLang="zh-CN" dirty="0"/>
              <a:t>1..10</a:t>
            </a:r>
          </a:p>
          <a:p>
            <a:pPr lvl="2">
              <a:lnSpc>
                <a:spcPct val="110000"/>
              </a:lnSpc>
            </a:pPr>
            <a:r>
              <a:rPr lang="zh-CN" altLang="en-US" dirty="0"/>
              <a:t>指针数据类型表达式：</a:t>
            </a:r>
            <a:r>
              <a:rPr lang="en-US" altLang="zh-CN" dirty="0"/>
              <a:t>pointer(T)</a:t>
            </a:r>
          </a:p>
          <a:p>
            <a:pPr lvl="3">
              <a:lnSpc>
                <a:spcPct val="110000"/>
              </a:lnSpc>
            </a:pPr>
            <a:r>
              <a:rPr lang="en-US" altLang="zh-CN" dirty="0"/>
              <a:t>T </a:t>
            </a:r>
            <a:r>
              <a:rPr lang="en-US" altLang="zh-CN" dirty="0">
                <a:sym typeface="Symbol" pitchFamily="18" charset="2"/>
              </a:rPr>
              <a:t></a:t>
            </a:r>
            <a:r>
              <a:rPr lang="en-US" altLang="zh-CN" dirty="0"/>
              <a:t> { bool, </a:t>
            </a:r>
            <a:r>
              <a:rPr lang="en-US" altLang="zh-CN" dirty="0" err="1"/>
              <a:t>int</a:t>
            </a:r>
            <a:r>
              <a:rPr lang="en-US" altLang="zh-CN" dirty="0"/>
              <a:t>, real }</a:t>
            </a:r>
          </a:p>
          <a:p>
            <a:pPr lvl="2">
              <a:lnSpc>
                <a:spcPct val="110000"/>
              </a:lnSpc>
            </a:pPr>
            <a:r>
              <a:rPr lang="zh-CN" altLang="en-US" dirty="0"/>
              <a:t>积类型表达式</a:t>
            </a:r>
          </a:p>
          <a:p>
            <a:pPr lvl="3">
              <a:lnSpc>
                <a:spcPct val="110000"/>
              </a:lnSpc>
            </a:pPr>
            <a:r>
              <a:rPr lang="en-US" altLang="zh-CN" dirty="0"/>
              <a:t>&lt;T1, T2, …, </a:t>
            </a:r>
            <a:r>
              <a:rPr lang="en-US" altLang="zh-CN" dirty="0" err="1"/>
              <a:t>Tn</a:t>
            </a:r>
            <a:r>
              <a:rPr lang="en-US" altLang="zh-CN" dirty="0"/>
              <a:t>&gt;</a:t>
            </a:r>
          </a:p>
          <a:p>
            <a:pPr lvl="3">
              <a:lnSpc>
                <a:spcPct val="110000"/>
              </a:lnSpc>
            </a:pPr>
            <a:r>
              <a:rPr lang="en-US" altLang="zh-CN" dirty="0"/>
              <a:t>T1, T2, …, </a:t>
            </a:r>
            <a:r>
              <a:rPr lang="en-US" altLang="zh-CN" dirty="0" err="1"/>
              <a:t>Tn</a:t>
            </a:r>
            <a:r>
              <a:rPr lang="en-US" altLang="zh-CN" dirty="0"/>
              <a:t> </a:t>
            </a:r>
            <a:r>
              <a:rPr lang="zh-CN" altLang="en-US" dirty="0"/>
              <a:t>为上述数据类型表达式；若</a:t>
            </a:r>
            <a:r>
              <a:rPr lang="en-US" altLang="zh-CN" dirty="0"/>
              <a:t>n=0</a:t>
            </a:r>
            <a:r>
              <a:rPr lang="zh-CN" altLang="en-US" dirty="0"/>
              <a:t>，则表示为 </a:t>
            </a:r>
            <a:r>
              <a:rPr lang="en-US" altLang="zh-CN" dirty="0"/>
              <a:t>&lt; &gt; </a:t>
            </a:r>
          </a:p>
          <a:p>
            <a:pPr lvl="2">
              <a:lnSpc>
                <a:spcPct val="110000"/>
              </a:lnSpc>
            </a:pPr>
            <a:r>
              <a:rPr lang="zh-CN" altLang="en-US" dirty="0"/>
              <a:t>过程类型表达式</a:t>
            </a:r>
          </a:p>
          <a:p>
            <a:pPr lvl="3">
              <a:lnSpc>
                <a:spcPct val="110000"/>
              </a:lnSpc>
            </a:pPr>
            <a:r>
              <a:rPr lang="en-US" altLang="zh-CN" dirty="0"/>
              <a:t>fun</a:t>
            </a:r>
            <a:r>
              <a:rPr lang="zh-CN" altLang="en-US" dirty="0"/>
              <a:t>（</a:t>
            </a:r>
            <a:r>
              <a:rPr lang="en-US" altLang="zh-CN" dirty="0"/>
              <a:t>T</a:t>
            </a:r>
            <a:r>
              <a:rPr lang="zh-CN" altLang="en-US" dirty="0"/>
              <a:t>）</a:t>
            </a:r>
          </a:p>
          <a:p>
            <a:pPr lvl="3">
              <a:lnSpc>
                <a:spcPct val="110000"/>
              </a:lnSpc>
            </a:pPr>
            <a:r>
              <a:rPr lang="zh-CN" altLang="en-US" dirty="0"/>
              <a:t> </a:t>
            </a:r>
            <a:r>
              <a:rPr lang="en-US" altLang="zh-CN" dirty="0"/>
              <a:t>T </a:t>
            </a:r>
            <a:r>
              <a:rPr lang="zh-CN" altLang="en-US" dirty="0"/>
              <a:t>是上述积类型表达式</a:t>
            </a:r>
          </a:p>
          <a:p>
            <a:pPr lvl="2"/>
            <a:endParaRPr lang="en-US" altLang="zh-CN" dirty="0"/>
          </a:p>
          <a:p>
            <a:endParaRPr lang="zh-CN" altLang="en-US" dirty="0"/>
          </a:p>
        </p:txBody>
      </p:sp>
      <p:sp>
        <p:nvSpPr>
          <p:cNvPr id="5" name="标题 2"/>
          <p:cNvSpPr>
            <a:spLocks noGrp="1"/>
          </p:cNvSpPr>
          <p:nvPr>
            <p:ph type="title"/>
          </p:nvPr>
        </p:nvSpPr>
        <p:spPr>
          <a:xfrm>
            <a:off x="103955" y="99239"/>
            <a:ext cx="8905609" cy="476885"/>
          </a:xfrm>
        </p:spPr>
        <p:txBody>
          <a:bodyPr/>
          <a:lstStyle/>
          <a:p>
            <a:r>
              <a:rPr lang="zh-CN" altLang="en-US" dirty="0"/>
              <a:t>二、静态语义分析                   </a:t>
            </a:r>
            <a:r>
              <a:rPr lang="zh-CN" altLang="en-US" dirty="0">
                <a:solidFill>
                  <a:srgbClr val="FF0000"/>
                </a:solidFill>
              </a:rPr>
              <a:t>类型检查</a:t>
            </a:r>
            <a:endParaRPr lang="zh-CN" altLang="en-US" dirty="0"/>
          </a:p>
        </p:txBody>
      </p:sp>
      <p:sp>
        <p:nvSpPr>
          <p:cNvPr id="3" name="灯片编号占位符 2">
            <a:extLst>
              <a:ext uri="{FF2B5EF4-FFF2-40B4-BE49-F238E27FC236}">
                <a16:creationId xmlns:a16="http://schemas.microsoft.com/office/drawing/2014/main" id="{D0F8FBAA-C77C-4D1A-88DA-ABF97CC6B297}"/>
              </a:ext>
            </a:extLst>
          </p:cNvPr>
          <p:cNvSpPr>
            <a:spLocks noGrp="1"/>
          </p:cNvSpPr>
          <p:nvPr>
            <p:ph type="sldNum" sz="quarter" idx="4"/>
          </p:nvPr>
        </p:nvSpPr>
        <p:spPr/>
        <p:txBody>
          <a:bodyPr/>
          <a:lstStyle/>
          <a:p>
            <a:fld id="{565CE74E-AB26-4998-AD42-012C4C1AD076}" type="slidenum">
              <a:rPr lang="zh-CN" altLang="en-US" smtClean="0"/>
              <a:pPr/>
              <a:t>14</a:t>
            </a:fld>
            <a:endParaRPr lang="zh-CN" altLang="en-US"/>
          </a:p>
        </p:txBody>
      </p:sp>
    </p:spTree>
    <p:extLst>
      <p:ext uri="{BB962C8B-B14F-4D97-AF65-F5344CB8AC3E}">
        <p14:creationId xmlns:p14="http://schemas.microsoft.com/office/powerpoint/2010/main" val="2589451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375920" y="793750"/>
            <a:ext cx="8361680" cy="5927725"/>
          </a:xfrm>
        </p:spPr>
        <p:txBody>
          <a:bodyPr>
            <a:normAutofit/>
          </a:bodyPr>
          <a:lstStyle/>
          <a:p>
            <a:pPr lvl="2">
              <a:lnSpc>
                <a:spcPct val="150000"/>
              </a:lnSpc>
            </a:pPr>
            <a:r>
              <a:rPr lang="zh-CN" altLang="en-US" dirty="0"/>
              <a:t>专用类型表达式</a:t>
            </a:r>
          </a:p>
          <a:p>
            <a:pPr lvl="3">
              <a:lnSpc>
                <a:spcPct val="150000"/>
              </a:lnSpc>
            </a:pPr>
            <a:r>
              <a:rPr lang="zh-CN" altLang="en-US" dirty="0"/>
              <a:t> </a:t>
            </a:r>
            <a:r>
              <a:rPr lang="en-US" altLang="zh-CN" dirty="0" err="1"/>
              <a:t>type_error</a:t>
            </a:r>
            <a:r>
              <a:rPr lang="en-US" altLang="zh-CN" dirty="0"/>
              <a:t>    </a:t>
            </a:r>
            <a:r>
              <a:rPr lang="zh-CN" altLang="en-US" dirty="0"/>
              <a:t>专用于有类型错误的程序单元 </a:t>
            </a:r>
          </a:p>
          <a:p>
            <a:pPr lvl="3">
              <a:lnSpc>
                <a:spcPct val="150000"/>
              </a:lnSpc>
            </a:pPr>
            <a:r>
              <a:rPr lang="zh-CN" altLang="en-US" dirty="0"/>
              <a:t> </a:t>
            </a:r>
            <a:r>
              <a:rPr lang="en-US" altLang="zh-CN" dirty="0"/>
              <a:t>ok                  </a:t>
            </a:r>
            <a:r>
              <a:rPr lang="zh-CN" altLang="en-US" dirty="0"/>
              <a:t>专用于没有类型错误的程序单元 </a:t>
            </a:r>
            <a:endParaRPr lang="en-US" altLang="zh-CN" dirty="0"/>
          </a:p>
          <a:p>
            <a:pPr>
              <a:lnSpc>
                <a:spcPct val="150000"/>
              </a:lnSpc>
            </a:pPr>
            <a:r>
              <a:rPr lang="zh-CN" altLang="en-US" dirty="0"/>
              <a:t>类型检查程序的设计</a:t>
            </a:r>
          </a:p>
          <a:p>
            <a:pPr lvl="1">
              <a:lnSpc>
                <a:spcPct val="150000"/>
              </a:lnSpc>
            </a:pPr>
            <a:r>
              <a:rPr lang="zh-CN" altLang="en-US" dirty="0">
                <a:solidFill>
                  <a:srgbClr val="FF0000"/>
                </a:solidFill>
              </a:rPr>
              <a:t>语法制导的方法</a:t>
            </a:r>
          </a:p>
          <a:p>
            <a:pPr lvl="2">
              <a:lnSpc>
                <a:spcPct val="150000"/>
              </a:lnSpc>
            </a:pPr>
            <a:r>
              <a:rPr lang="zh-CN" altLang="en-US" dirty="0"/>
              <a:t>将类型表达式作为属性值赋给程序各个部分</a:t>
            </a:r>
          </a:p>
          <a:p>
            <a:pPr lvl="2">
              <a:lnSpc>
                <a:spcPct val="150000"/>
              </a:lnSpc>
            </a:pPr>
            <a:r>
              <a:rPr lang="zh-CN" altLang="en-US" dirty="0"/>
              <a:t>设计恰当的翻译模式</a:t>
            </a:r>
          </a:p>
          <a:p>
            <a:pPr lvl="2">
              <a:lnSpc>
                <a:spcPct val="150000"/>
              </a:lnSpc>
            </a:pPr>
            <a:r>
              <a:rPr lang="zh-CN" altLang="en-US" dirty="0"/>
              <a:t>可实现相应语言的一个类型系统</a:t>
            </a:r>
          </a:p>
        </p:txBody>
      </p:sp>
      <p:sp>
        <p:nvSpPr>
          <p:cNvPr id="5" name="标题 2"/>
          <p:cNvSpPr>
            <a:spLocks noGrp="1"/>
          </p:cNvSpPr>
          <p:nvPr>
            <p:ph type="title"/>
          </p:nvPr>
        </p:nvSpPr>
        <p:spPr>
          <a:xfrm>
            <a:off x="103955" y="99239"/>
            <a:ext cx="8905609" cy="476885"/>
          </a:xfrm>
        </p:spPr>
        <p:txBody>
          <a:bodyPr/>
          <a:lstStyle/>
          <a:p>
            <a:r>
              <a:rPr lang="zh-CN" altLang="en-US" dirty="0"/>
              <a:t>二、静态语义分析                   </a:t>
            </a:r>
            <a:r>
              <a:rPr lang="zh-CN" altLang="en-US" dirty="0">
                <a:solidFill>
                  <a:srgbClr val="FF0000"/>
                </a:solidFill>
              </a:rPr>
              <a:t>类型检查</a:t>
            </a:r>
            <a:endParaRPr lang="zh-CN" altLang="en-US" dirty="0"/>
          </a:p>
        </p:txBody>
      </p:sp>
      <p:sp>
        <p:nvSpPr>
          <p:cNvPr id="3" name="灯片编号占位符 2">
            <a:extLst>
              <a:ext uri="{FF2B5EF4-FFF2-40B4-BE49-F238E27FC236}">
                <a16:creationId xmlns:a16="http://schemas.microsoft.com/office/drawing/2014/main" id="{7B02D74B-31F6-4819-8444-498DA497ADFA}"/>
              </a:ext>
            </a:extLst>
          </p:cNvPr>
          <p:cNvSpPr>
            <a:spLocks noGrp="1"/>
          </p:cNvSpPr>
          <p:nvPr>
            <p:ph type="sldNum" sz="quarter" idx="4"/>
          </p:nvPr>
        </p:nvSpPr>
        <p:spPr/>
        <p:txBody>
          <a:bodyPr/>
          <a:lstStyle/>
          <a:p>
            <a:fld id="{565CE74E-AB26-4998-AD42-012C4C1AD076}" type="slidenum">
              <a:rPr lang="zh-CN" altLang="en-US" smtClean="0"/>
              <a:pPr/>
              <a:t>15</a:t>
            </a:fld>
            <a:endParaRPr lang="zh-CN" altLang="en-US"/>
          </a:p>
        </p:txBody>
      </p:sp>
    </p:spTree>
    <p:extLst>
      <p:ext uri="{BB962C8B-B14F-4D97-AF65-F5344CB8AC3E}">
        <p14:creationId xmlns:p14="http://schemas.microsoft.com/office/powerpoint/2010/main" val="3773881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语法制导的类型检查程序 （举例）</a:t>
            </a:r>
            <a:endParaRPr lang="en-US" altLang="zh-CN" dirty="0"/>
          </a:p>
          <a:p>
            <a:pPr lvl="1"/>
            <a:r>
              <a:rPr lang="zh-CN" altLang="en-US" dirty="0"/>
              <a:t> 处理类型</a:t>
            </a:r>
            <a:r>
              <a:rPr lang="zh-CN" altLang="en-US" dirty="0">
                <a:solidFill>
                  <a:srgbClr val="FF0000"/>
                </a:solidFill>
              </a:rPr>
              <a:t>表达式</a:t>
            </a:r>
            <a:r>
              <a:rPr lang="zh-CN" altLang="en-US" dirty="0"/>
              <a:t>的翻译模式</a:t>
            </a:r>
          </a:p>
          <a:p>
            <a:endParaRPr lang="zh-CN" altLang="en-US" dirty="0"/>
          </a:p>
        </p:txBody>
      </p:sp>
      <p:sp>
        <p:nvSpPr>
          <p:cNvPr id="4" name="Text Box 90"/>
          <p:cNvSpPr txBox="1">
            <a:spLocks noChangeArrowheads="1"/>
          </p:cNvSpPr>
          <p:nvPr/>
        </p:nvSpPr>
        <p:spPr bwMode="auto">
          <a:xfrm>
            <a:off x="1182825" y="2363856"/>
            <a:ext cx="7056437" cy="2835275"/>
          </a:xfrm>
          <a:prstGeom prst="rect">
            <a:avLst/>
          </a:prstGeom>
          <a:noFill/>
          <a:ln w="9525">
            <a:noFill/>
            <a:miter lim="800000"/>
            <a:headEnd/>
            <a:tailEnd/>
          </a:ln>
        </p:spPr>
        <p:txBody>
          <a:bodyPr>
            <a:spAutoFit/>
          </a:bodyPr>
          <a:lstStyle/>
          <a:p>
            <a:pPr>
              <a:buFont typeface="Wingdings" pitchFamily="2" charset="2"/>
              <a:buNone/>
            </a:pPr>
            <a:r>
              <a:rPr lang="en-US" altLang="zh-CN" sz="2000" i="1" dirty="0">
                <a:solidFill>
                  <a:srgbClr val="0206AD"/>
                </a:solidFill>
                <a:sym typeface="Symbol" pitchFamily="18" charset="2"/>
              </a:rPr>
              <a:t>E </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 true         </a:t>
            </a:r>
            <a:r>
              <a:rPr lang="en-US" altLang="zh-CN" sz="2000" dirty="0">
                <a:solidFill>
                  <a:srgbClr val="0206AD"/>
                </a:solidFill>
                <a:sym typeface="Symbol" pitchFamily="18" charset="2"/>
              </a:rPr>
              <a:t> {</a:t>
            </a:r>
            <a:r>
              <a:rPr lang="en-US" altLang="zh-CN" sz="2000" i="1" dirty="0">
                <a:solidFill>
                  <a:srgbClr val="0206AD"/>
                </a:solidFill>
                <a:sym typeface="Symbol" pitchFamily="18" charset="2"/>
              </a:rPr>
              <a:t> </a:t>
            </a:r>
            <a:r>
              <a:rPr lang="en-US" altLang="zh-CN" sz="2000" i="1" dirty="0" err="1">
                <a:solidFill>
                  <a:srgbClr val="0206AD"/>
                </a:solidFill>
                <a:sym typeface="Symbol" pitchFamily="18" charset="2"/>
              </a:rPr>
              <a:t>E.type</a:t>
            </a:r>
            <a:r>
              <a:rPr lang="en-US" altLang="zh-CN" sz="2000" i="1" dirty="0">
                <a:solidFill>
                  <a:srgbClr val="0206AD"/>
                </a:solidFill>
                <a:sym typeface="Symbol" pitchFamily="18" charset="2"/>
              </a:rPr>
              <a:t> </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 bool </a:t>
            </a:r>
            <a:r>
              <a:rPr lang="en-US" altLang="zh-CN" sz="2000" dirty="0">
                <a:solidFill>
                  <a:srgbClr val="0206AD"/>
                </a:solidFill>
                <a:sym typeface="Symbol" pitchFamily="18" charset="2"/>
              </a:rPr>
              <a:t>}</a:t>
            </a:r>
          </a:p>
          <a:p>
            <a:pPr>
              <a:buFont typeface="Wingdings" pitchFamily="2" charset="2"/>
              <a:buNone/>
            </a:pPr>
            <a:endParaRPr lang="de-DE" altLang="zh-CN" sz="1000" dirty="0">
              <a:solidFill>
                <a:srgbClr val="0206AD"/>
              </a:solidFill>
              <a:sym typeface="Symbol" pitchFamily="18" charset="2"/>
            </a:endParaRPr>
          </a:p>
          <a:p>
            <a:pPr>
              <a:buFont typeface="Wingdings" pitchFamily="2" charset="2"/>
              <a:buNone/>
            </a:pPr>
            <a:r>
              <a:rPr lang="de-DE" altLang="zh-CN" sz="2000" i="1" dirty="0">
                <a:solidFill>
                  <a:srgbClr val="0206AD"/>
                </a:solidFill>
                <a:sym typeface="Symbol" pitchFamily="18" charset="2"/>
              </a:rPr>
              <a:t>E </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 </a:t>
            </a:r>
            <a:r>
              <a:rPr lang="de-DE" altLang="zh-CN" sz="2000" i="1" dirty="0">
                <a:solidFill>
                  <a:srgbClr val="0206AD"/>
                </a:solidFill>
                <a:sym typeface="Symbol" pitchFamily="18" charset="2"/>
              </a:rPr>
              <a:t>false        </a:t>
            </a:r>
            <a:r>
              <a:rPr lang="de-DE" altLang="zh-CN" sz="2000" dirty="0">
                <a:solidFill>
                  <a:srgbClr val="0206AD"/>
                </a:solidFill>
                <a:sym typeface="Symbol" pitchFamily="18" charset="2"/>
              </a:rPr>
              <a:t>{</a:t>
            </a:r>
            <a:r>
              <a:rPr lang="de-DE" altLang="zh-CN" sz="2000" i="1" dirty="0">
                <a:solidFill>
                  <a:srgbClr val="0206AD"/>
                </a:solidFill>
                <a:sym typeface="Symbol" pitchFamily="18" charset="2"/>
              </a:rPr>
              <a:t> E.type</a:t>
            </a:r>
            <a:r>
              <a:rPr lang="de-DE" altLang="zh-CN" sz="2000" dirty="0">
                <a:solidFill>
                  <a:srgbClr val="0206AD"/>
                </a:solidFill>
                <a:sym typeface="Symbol" pitchFamily="18" charset="2"/>
              </a:rPr>
              <a:t> := </a:t>
            </a:r>
            <a:r>
              <a:rPr lang="de-DE" altLang="zh-CN" sz="2000" i="1" dirty="0">
                <a:solidFill>
                  <a:srgbClr val="0206AD"/>
                </a:solidFill>
                <a:sym typeface="Symbol" pitchFamily="18" charset="2"/>
              </a:rPr>
              <a:t>bool </a:t>
            </a:r>
            <a:r>
              <a:rPr lang="de-DE" altLang="zh-CN" sz="2000" dirty="0">
                <a:solidFill>
                  <a:srgbClr val="0206AD"/>
                </a:solidFill>
                <a:sym typeface="Symbol" pitchFamily="18" charset="2"/>
              </a:rPr>
              <a:t>}</a:t>
            </a:r>
          </a:p>
          <a:p>
            <a:pPr>
              <a:buFont typeface="Wingdings" pitchFamily="2" charset="2"/>
              <a:buNone/>
            </a:pPr>
            <a:endParaRPr lang="de-DE" altLang="zh-CN" sz="1000" dirty="0">
              <a:solidFill>
                <a:srgbClr val="0206AD"/>
              </a:solidFill>
              <a:sym typeface="Symbol" pitchFamily="18" charset="2"/>
            </a:endParaRPr>
          </a:p>
          <a:p>
            <a:pPr>
              <a:buFont typeface="Wingdings" pitchFamily="2" charset="2"/>
              <a:buNone/>
            </a:pPr>
            <a:r>
              <a:rPr lang="de-DE" altLang="zh-CN" sz="2000" i="1" dirty="0">
                <a:solidFill>
                  <a:srgbClr val="0206AD"/>
                </a:solidFill>
                <a:sym typeface="Symbol" pitchFamily="18" charset="2"/>
              </a:rPr>
              <a:t>E </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 </a:t>
            </a:r>
            <a:r>
              <a:rPr lang="de-DE" altLang="zh-CN" sz="2000" i="1" u="sng" dirty="0">
                <a:solidFill>
                  <a:srgbClr val="0206AD"/>
                </a:solidFill>
                <a:sym typeface="Symbol" pitchFamily="18" charset="2"/>
              </a:rPr>
              <a:t>int</a:t>
            </a:r>
            <a:r>
              <a:rPr lang="de-DE" altLang="zh-CN" sz="2000" i="1" dirty="0">
                <a:solidFill>
                  <a:srgbClr val="0206AD"/>
                </a:solidFill>
                <a:sym typeface="Symbol" pitchFamily="18" charset="2"/>
              </a:rPr>
              <a:t>           </a:t>
            </a:r>
            <a:r>
              <a:rPr lang="de-DE" altLang="zh-CN" sz="2000" dirty="0">
                <a:solidFill>
                  <a:srgbClr val="0206AD"/>
                </a:solidFill>
                <a:sym typeface="Symbol" pitchFamily="18" charset="2"/>
              </a:rPr>
              <a:t> {</a:t>
            </a:r>
            <a:r>
              <a:rPr lang="de-DE" altLang="zh-CN" sz="2000" i="1" dirty="0">
                <a:solidFill>
                  <a:srgbClr val="0206AD"/>
                </a:solidFill>
                <a:sym typeface="Symbol" pitchFamily="18" charset="2"/>
              </a:rPr>
              <a:t> E.type </a:t>
            </a:r>
            <a:r>
              <a:rPr lang="de-DE" altLang="zh-CN" sz="2000" dirty="0">
                <a:solidFill>
                  <a:srgbClr val="0206AD"/>
                </a:solidFill>
                <a:sym typeface="Symbol" pitchFamily="18" charset="2"/>
              </a:rPr>
              <a:t>:=</a:t>
            </a:r>
            <a:r>
              <a:rPr lang="de-DE" altLang="zh-CN" sz="2000" i="1" dirty="0">
                <a:solidFill>
                  <a:srgbClr val="0206AD"/>
                </a:solidFill>
                <a:sym typeface="Symbol" pitchFamily="18" charset="2"/>
              </a:rPr>
              <a:t> int </a:t>
            </a:r>
            <a:r>
              <a:rPr lang="de-DE" altLang="zh-CN" sz="2000" dirty="0">
                <a:solidFill>
                  <a:srgbClr val="0206AD"/>
                </a:solidFill>
                <a:sym typeface="Symbol" pitchFamily="18" charset="2"/>
              </a:rPr>
              <a:t>}</a:t>
            </a:r>
          </a:p>
          <a:p>
            <a:pPr>
              <a:buFont typeface="Wingdings" pitchFamily="2" charset="2"/>
              <a:buNone/>
            </a:pPr>
            <a:endParaRPr lang="pt-BR" altLang="zh-CN" sz="1000" dirty="0">
              <a:solidFill>
                <a:srgbClr val="0206AD"/>
              </a:solidFill>
              <a:sym typeface="Symbol" pitchFamily="18" charset="2"/>
            </a:endParaRPr>
          </a:p>
          <a:p>
            <a:pPr>
              <a:buFont typeface="Wingdings" pitchFamily="2" charset="2"/>
              <a:buNone/>
            </a:pPr>
            <a:r>
              <a:rPr lang="pt-BR" altLang="zh-CN" sz="2000" i="1" dirty="0">
                <a:solidFill>
                  <a:srgbClr val="0206AD"/>
                </a:solidFill>
                <a:sym typeface="Symbol" pitchFamily="18" charset="2"/>
              </a:rPr>
              <a:t>E </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 </a:t>
            </a:r>
            <a:r>
              <a:rPr lang="pt-BR" altLang="zh-CN" sz="2000" i="1" u="sng" dirty="0">
                <a:solidFill>
                  <a:srgbClr val="0206AD"/>
                </a:solidFill>
                <a:sym typeface="Symbol" pitchFamily="18" charset="2"/>
              </a:rPr>
              <a:t>real</a:t>
            </a:r>
            <a:r>
              <a:rPr lang="pt-BR" altLang="zh-CN" sz="2000" i="1" dirty="0">
                <a:solidFill>
                  <a:srgbClr val="0206AD"/>
                </a:solidFill>
                <a:sym typeface="Symbol" pitchFamily="18" charset="2"/>
              </a:rPr>
              <a:t>          </a:t>
            </a:r>
            <a:r>
              <a:rPr lang="pt-BR" altLang="zh-CN" sz="2000" dirty="0">
                <a:solidFill>
                  <a:srgbClr val="0206AD"/>
                </a:solidFill>
                <a:sym typeface="Symbol" pitchFamily="18" charset="2"/>
              </a:rPr>
              <a:t>{</a:t>
            </a:r>
            <a:r>
              <a:rPr lang="pt-BR" altLang="zh-CN" sz="2000" i="1" dirty="0">
                <a:solidFill>
                  <a:srgbClr val="0206AD"/>
                </a:solidFill>
                <a:sym typeface="Symbol" pitchFamily="18" charset="2"/>
              </a:rPr>
              <a:t> E.type </a:t>
            </a:r>
            <a:r>
              <a:rPr lang="pt-BR" altLang="zh-CN" sz="2000" dirty="0">
                <a:solidFill>
                  <a:srgbClr val="0206AD"/>
                </a:solidFill>
                <a:sym typeface="Symbol" pitchFamily="18" charset="2"/>
              </a:rPr>
              <a:t>:=</a:t>
            </a:r>
            <a:r>
              <a:rPr lang="pt-BR" altLang="zh-CN" sz="2000" i="1" dirty="0">
                <a:solidFill>
                  <a:srgbClr val="0206AD"/>
                </a:solidFill>
                <a:sym typeface="Symbol" pitchFamily="18" charset="2"/>
              </a:rPr>
              <a:t> real </a:t>
            </a:r>
            <a:r>
              <a:rPr lang="pt-BR" altLang="zh-CN" sz="2000" dirty="0">
                <a:solidFill>
                  <a:srgbClr val="0206AD"/>
                </a:solidFill>
                <a:sym typeface="Symbol" pitchFamily="18" charset="2"/>
              </a:rPr>
              <a:t>}</a:t>
            </a:r>
          </a:p>
          <a:p>
            <a:pPr>
              <a:buFont typeface="Wingdings" pitchFamily="2" charset="2"/>
              <a:buNone/>
            </a:pPr>
            <a:endParaRPr lang="en-US" altLang="zh-CN" sz="1000" dirty="0">
              <a:solidFill>
                <a:srgbClr val="0206AD"/>
              </a:solidFill>
              <a:sym typeface="Symbol" pitchFamily="18" charset="2"/>
            </a:endParaRPr>
          </a:p>
          <a:p>
            <a:pPr>
              <a:buFont typeface="Wingdings" pitchFamily="2" charset="2"/>
              <a:buNone/>
            </a:pPr>
            <a:r>
              <a:rPr lang="en-US" altLang="zh-CN" sz="2000" i="1" dirty="0">
                <a:solidFill>
                  <a:srgbClr val="0206AD"/>
                </a:solidFill>
                <a:sym typeface="Symbol" pitchFamily="18" charset="2"/>
              </a:rPr>
              <a:t>E </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 </a:t>
            </a:r>
            <a:r>
              <a:rPr lang="en-US" altLang="zh-CN" sz="2000" i="1" u="sng" dirty="0">
                <a:solidFill>
                  <a:srgbClr val="0206AD"/>
                </a:solidFill>
                <a:sym typeface="Symbol" pitchFamily="18" charset="2"/>
              </a:rPr>
              <a:t>id</a:t>
            </a:r>
            <a:r>
              <a:rPr lang="en-US" altLang="zh-CN" sz="2000" i="1" dirty="0">
                <a:solidFill>
                  <a:srgbClr val="0206AD"/>
                </a:solidFill>
                <a:sym typeface="Symbol" pitchFamily="18" charset="2"/>
              </a:rPr>
              <a:t>             </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 </a:t>
            </a:r>
            <a:r>
              <a:rPr lang="en-US" altLang="zh-CN" sz="2000" i="1" dirty="0" err="1">
                <a:solidFill>
                  <a:srgbClr val="0206AD"/>
                </a:solidFill>
                <a:sym typeface="Symbol" pitchFamily="18" charset="2"/>
              </a:rPr>
              <a:t>E.type</a:t>
            </a:r>
            <a:r>
              <a:rPr lang="en-US" altLang="zh-CN" sz="2000" i="1" dirty="0">
                <a:solidFill>
                  <a:srgbClr val="0206AD"/>
                </a:solidFill>
                <a:sym typeface="Symbol" pitchFamily="18" charset="2"/>
              </a:rPr>
              <a:t> := if </a:t>
            </a:r>
            <a:r>
              <a:rPr lang="en-US" altLang="zh-CN" sz="2000" i="1" dirty="0" err="1">
                <a:solidFill>
                  <a:srgbClr val="0206AD"/>
                </a:solidFill>
                <a:sym typeface="Symbol" pitchFamily="18" charset="2"/>
              </a:rPr>
              <a:t>lookup_type</a:t>
            </a:r>
            <a:r>
              <a:rPr lang="en-US" altLang="zh-CN" sz="2000" i="1" dirty="0">
                <a:solidFill>
                  <a:srgbClr val="0206AD"/>
                </a:solidFill>
                <a:sym typeface="Symbol" pitchFamily="18" charset="2"/>
              </a:rPr>
              <a:t>(</a:t>
            </a:r>
            <a:r>
              <a:rPr lang="en-US" altLang="zh-CN" sz="2000" i="1" u="sng" dirty="0">
                <a:solidFill>
                  <a:srgbClr val="0206AD"/>
                </a:solidFill>
                <a:sym typeface="Symbol" pitchFamily="18" charset="2"/>
              </a:rPr>
              <a:t>id</a:t>
            </a:r>
            <a:r>
              <a:rPr lang="en-US" altLang="zh-CN" sz="2000" i="1" dirty="0">
                <a:solidFill>
                  <a:srgbClr val="0206AD"/>
                </a:solidFill>
                <a:sym typeface="Symbol" pitchFamily="18" charset="2"/>
              </a:rPr>
              <a:t>.name) = nil </a:t>
            </a:r>
          </a:p>
          <a:p>
            <a:pPr>
              <a:buFont typeface="Wingdings" pitchFamily="2" charset="2"/>
              <a:buNone/>
            </a:pPr>
            <a:r>
              <a:rPr lang="en-US" altLang="zh-CN" sz="2000" i="1" dirty="0">
                <a:solidFill>
                  <a:srgbClr val="0206AD"/>
                </a:solidFill>
                <a:sym typeface="Symbol" pitchFamily="18" charset="2"/>
              </a:rPr>
              <a:t>                                         then </a:t>
            </a:r>
            <a:r>
              <a:rPr lang="en-US" altLang="zh-CN" sz="2000" i="1" dirty="0" err="1">
                <a:solidFill>
                  <a:srgbClr val="0206AD"/>
                </a:solidFill>
                <a:sym typeface="Symbol" pitchFamily="18" charset="2"/>
              </a:rPr>
              <a:t>type_error</a:t>
            </a:r>
            <a:r>
              <a:rPr lang="en-US" altLang="zh-CN" sz="2000" i="1" dirty="0">
                <a:solidFill>
                  <a:srgbClr val="0206AD"/>
                </a:solidFill>
                <a:sym typeface="Symbol" pitchFamily="18" charset="2"/>
              </a:rPr>
              <a:t> </a:t>
            </a:r>
          </a:p>
          <a:p>
            <a:pPr>
              <a:buFont typeface="Wingdings" pitchFamily="2" charset="2"/>
              <a:buNone/>
            </a:pPr>
            <a:r>
              <a:rPr lang="en-US" altLang="zh-CN" sz="2000" i="1" dirty="0">
                <a:solidFill>
                  <a:srgbClr val="0206AD"/>
                </a:solidFill>
                <a:sym typeface="Symbol" pitchFamily="18" charset="2"/>
              </a:rPr>
              <a:t>                                         else </a:t>
            </a:r>
            <a:r>
              <a:rPr lang="en-US" altLang="zh-CN" sz="2000" i="1" dirty="0" err="1">
                <a:solidFill>
                  <a:srgbClr val="0206AD"/>
                </a:solidFill>
                <a:sym typeface="Symbol" pitchFamily="18" charset="2"/>
              </a:rPr>
              <a:t>lookup_type</a:t>
            </a:r>
            <a:r>
              <a:rPr lang="en-US" altLang="zh-CN" sz="2000" i="1" dirty="0">
                <a:solidFill>
                  <a:srgbClr val="0206AD"/>
                </a:solidFill>
                <a:sym typeface="Symbol" pitchFamily="18" charset="2"/>
              </a:rPr>
              <a:t>(</a:t>
            </a:r>
            <a:r>
              <a:rPr lang="en-US" altLang="zh-CN" sz="2000" i="1" u="sng" dirty="0">
                <a:solidFill>
                  <a:srgbClr val="0206AD"/>
                </a:solidFill>
                <a:sym typeface="Symbol" pitchFamily="18" charset="2"/>
              </a:rPr>
              <a:t>id</a:t>
            </a:r>
            <a:r>
              <a:rPr lang="en-US" altLang="zh-CN" sz="2000" i="1" dirty="0">
                <a:solidFill>
                  <a:srgbClr val="0206AD"/>
                </a:solidFill>
                <a:sym typeface="Symbol" pitchFamily="18" charset="2"/>
              </a:rPr>
              <a:t>.name </a:t>
            </a:r>
            <a:r>
              <a:rPr lang="en-US" altLang="zh-CN" sz="2000" dirty="0">
                <a:solidFill>
                  <a:srgbClr val="0206AD"/>
                </a:solidFill>
                <a:sym typeface="Symbol" pitchFamily="18" charset="2"/>
              </a:rPr>
              <a:t>}</a:t>
            </a:r>
            <a:endParaRPr lang="fr-FR" altLang="zh-CN" sz="2000" dirty="0">
              <a:solidFill>
                <a:srgbClr val="0206AD"/>
              </a:solidFill>
              <a:sym typeface="Symbol" pitchFamily="18" charset="2"/>
            </a:endParaRPr>
          </a:p>
        </p:txBody>
      </p:sp>
      <p:sp>
        <p:nvSpPr>
          <p:cNvPr id="6" name="标题 2"/>
          <p:cNvSpPr>
            <a:spLocks noGrp="1"/>
          </p:cNvSpPr>
          <p:nvPr>
            <p:ph type="title"/>
          </p:nvPr>
        </p:nvSpPr>
        <p:spPr>
          <a:xfrm>
            <a:off x="103955" y="99239"/>
            <a:ext cx="8905609" cy="476885"/>
          </a:xfrm>
        </p:spPr>
        <p:txBody>
          <a:bodyPr/>
          <a:lstStyle/>
          <a:p>
            <a:r>
              <a:rPr lang="zh-CN" altLang="en-US" dirty="0"/>
              <a:t>二、静态语义分析                   </a:t>
            </a:r>
            <a:r>
              <a:rPr lang="zh-CN" altLang="en-US" dirty="0">
                <a:solidFill>
                  <a:srgbClr val="FF0000"/>
                </a:solidFill>
              </a:rPr>
              <a:t>类型检查</a:t>
            </a:r>
            <a:endParaRPr lang="zh-CN" altLang="en-US" dirty="0"/>
          </a:p>
        </p:txBody>
      </p:sp>
      <p:sp>
        <p:nvSpPr>
          <p:cNvPr id="3" name="灯片编号占位符 2">
            <a:extLst>
              <a:ext uri="{FF2B5EF4-FFF2-40B4-BE49-F238E27FC236}">
                <a16:creationId xmlns:a16="http://schemas.microsoft.com/office/drawing/2014/main" id="{A15DAA11-01A4-48B1-B230-F85E404850A5}"/>
              </a:ext>
            </a:extLst>
          </p:cNvPr>
          <p:cNvSpPr>
            <a:spLocks noGrp="1"/>
          </p:cNvSpPr>
          <p:nvPr>
            <p:ph type="sldNum" sz="quarter" idx="4"/>
          </p:nvPr>
        </p:nvSpPr>
        <p:spPr/>
        <p:txBody>
          <a:bodyPr/>
          <a:lstStyle/>
          <a:p>
            <a:fld id="{565CE74E-AB26-4998-AD42-012C4C1AD076}" type="slidenum">
              <a:rPr lang="zh-CN" altLang="en-US" smtClean="0"/>
              <a:pPr/>
              <a:t>16</a:t>
            </a:fld>
            <a:endParaRPr lang="zh-CN" altLang="en-US"/>
          </a:p>
        </p:txBody>
      </p:sp>
    </p:spTree>
    <p:extLst>
      <p:ext uri="{BB962C8B-B14F-4D97-AF65-F5344CB8AC3E}">
        <p14:creationId xmlns:p14="http://schemas.microsoft.com/office/powerpoint/2010/main" val="2415045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语法制导的类型检查程序 （举例）</a:t>
            </a:r>
            <a:endParaRPr lang="en-US" altLang="zh-CN" dirty="0"/>
          </a:p>
          <a:p>
            <a:pPr lvl="1"/>
            <a:r>
              <a:rPr lang="zh-CN" altLang="en-US" dirty="0"/>
              <a:t> 处理</a:t>
            </a:r>
            <a:r>
              <a:rPr lang="zh-CN" altLang="en-US" dirty="0">
                <a:solidFill>
                  <a:srgbClr val="FF0000"/>
                </a:solidFill>
              </a:rPr>
              <a:t>表达式</a:t>
            </a:r>
            <a:r>
              <a:rPr lang="zh-CN" altLang="en-US" dirty="0"/>
              <a:t>的翻译模式（续）</a:t>
            </a:r>
          </a:p>
          <a:p>
            <a:endParaRPr lang="zh-CN" altLang="en-US" dirty="0"/>
          </a:p>
        </p:txBody>
      </p:sp>
      <p:sp>
        <p:nvSpPr>
          <p:cNvPr id="4" name="Text Box 9"/>
          <p:cNvSpPr txBox="1">
            <a:spLocks noChangeArrowheads="1"/>
          </p:cNvSpPr>
          <p:nvPr/>
        </p:nvSpPr>
        <p:spPr bwMode="auto">
          <a:xfrm>
            <a:off x="625268" y="2084318"/>
            <a:ext cx="7991475" cy="3597275"/>
          </a:xfrm>
          <a:prstGeom prst="rect">
            <a:avLst/>
          </a:prstGeom>
          <a:noFill/>
          <a:ln w="9525">
            <a:noFill/>
            <a:miter lim="800000"/>
            <a:headEnd/>
            <a:tailEnd/>
          </a:ln>
        </p:spPr>
        <p:txBody>
          <a:bodyPr>
            <a:spAutoFit/>
          </a:bodyPr>
          <a:lstStyle/>
          <a:p>
            <a:pPr>
              <a:buFont typeface="Wingdings" pitchFamily="2" charset="2"/>
              <a:buNone/>
            </a:pPr>
            <a:r>
              <a:rPr lang="en-US" altLang="zh-CN" sz="2000" i="1" dirty="0">
                <a:solidFill>
                  <a:srgbClr val="0206AD"/>
                </a:solidFill>
                <a:sym typeface="Symbol" pitchFamily="18" charset="2"/>
              </a:rPr>
              <a:t>E </a:t>
            </a:r>
            <a:r>
              <a:rPr lang="en-US" altLang="zh-CN" sz="2000" dirty="0">
                <a:solidFill>
                  <a:srgbClr val="0206AD"/>
                </a:solidFill>
                <a:sym typeface="Symbol" pitchFamily="18" charset="2"/>
              </a:rPr>
              <a:t> </a:t>
            </a:r>
            <a:r>
              <a:rPr lang="en-US" altLang="zh-CN" sz="2000" i="1" dirty="0">
                <a:solidFill>
                  <a:srgbClr val="0206AD"/>
                </a:solidFill>
                <a:sym typeface="Symbol" pitchFamily="18" charset="2"/>
              </a:rPr>
              <a:t>E</a:t>
            </a:r>
            <a:r>
              <a:rPr lang="en-US" altLang="zh-CN" sz="2000" baseline="-25000" dirty="0">
                <a:solidFill>
                  <a:srgbClr val="0206AD"/>
                </a:solidFill>
                <a:sym typeface="Symbol" pitchFamily="18" charset="2"/>
              </a:rPr>
              <a:t>1</a:t>
            </a:r>
            <a:r>
              <a:rPr lang="en-US" altLang="zh-CN" sz="2000" dirty="0">
                <a:solidFill>
                  <a:srgbClr val="0206AD"/>
                </a:solidFill>
                <a:sym typeface="Symbol" pitchFamily="18" charset="2"/>
              </a:rPr>
              <a:t> </a:t>
            </a:r>
            <a:r>
              <a:rPr lang="en-US" altLang="zh-CN" sz="2000" u="sng" dirty="0">
                <a:solidFill>
                  <a:srgbClr val="0206AD"/>
                </a:solidFill>
                <a:sym typeface="Symbol" pitchFamily="18" charset="2"/>
              </a:rPr>
              <a:t>op</a:t>
            </a:r>
            <a:r>
              <a:rPr lang="en-US" altLang="zh-CN" sz="2000" dirty="0">
                <a:solidFill>
                  <a:srgbClr val="0206AD"/>
                </a:solidFill>
                <a:sym typeface="Symbol" pitchFamily="18" charset="2"/>
              </a:rPr>
              <a:t> </a:t>
            </a:r>
            <a:r>
              <a:rPr lang="en-US" altLang="zh-CN" sz="2000" i="1" dirty="0">
                <a:solidFill>
                  <a:srgbClr val="0206AD"/>
                </a:solidFill>
                <a:sym typeface="Symbol" pitchFamily="18" charset="2"/>
              </a:rPr>
              <a:t>E</a:t>
            </a:r>
            <a:r>
              <a:rPr lang="en-US" altLang="zh-CN" sz="2000" baseline="-25000" dirty="0">
                <a:solidFill>
                  <a:srgbClr val="0206AD"/>
                </a:solidFill>
                <a:sym typeface="Symbol" pitchFamily="18" charset="2"/>
              </a:rPr>
              <a:t>2</a:t>
            </a:r>
            <a:r>
              <a:rPr lang="en-US" altLang="zh-CN" sz="2000" dirty="0">
                <a:solidFill>
                  <a:srgbClr val="0206AD"/>
                </a:solidFill>
                <a:sym typeface="Symbol" pitchFamily="18" charset="2"/>
              </a:rPr>
              <a:t>   {</a:t>
            </a:r>
            <a:r>
              <a:rPr lang="en-US" altLang="zh-CN" sz="2000" i="1" dirty="0">
                <a:solidFill>
                  <a:srgbClr val="0206AD"/>
                </a:solidFill>
                <a:sym typeface="Symbol" pitchFamily="18" charset="2"/>
              </a:rPr>
              <a:t> </a:t>
            </a:r>
            <a:r>
              <a:rPr lang="en-US" altLang="zh-CN" sz="2000" i="1" dirty="0" err="1">
                <a:solidFill>
                  <a:srgbClr val="0206AD"/>
                </a:solidFill>
                <a:sym typeface="Symbol" pitchFamily="18" charset="2"/>
              </a:rPr>
              <a:t>E.type</a:t>
            </a:r>
            <a:r>
              <a:rPr lang="en-US" altLang="zh-CN" sz="2000" i="1" dirty="0">
                <a:solidFill>
                  <a:srgbClr val="0206AD"/>
                </a:solidFill>
                <a:sym typeface="Symbol" pitchFamily="18" charset="2"/>
              </a:rPr>
              <a:t> </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 </a:t>
            </a:r>
            <a:r>
              <a:rPr lang="en-US" altLang="zh-CN" sz="2000" dirty="0">
                <a:solidFill>
                  <a:srgbClr val="0206AD"/>
                </a:solidFill>
                <a:sym typeface="Symbol" pitchFamily="18" charset="2"/>
              </a:rPr>
              <a:t>if</a:t>
            </a:r>
            <a:r>
              <a:rPr lang="en-US" altLang="zh-CN" sz="2000" i="1" dirty="0">
                <a:solidFill>
                  <a:srgbClr val="0206AD"/>
                </a:solidFill>
                <a:sym typeface="Symbol" pitchFamily="18" charset="2"/>
              </a:rPr>
              <a:t> E</a:t>
            </a:r>
            <a:r>
              <a:rPr lang="en-US" altLang="zh-CN" sz="2000" baseline="-25000" dirty="0">
                <a:solidFill>
                  <a:srgbClr val="0206AD"/>
                </a:solidFill>
                <a:sym typeface="Symbol" pitchFamily="18" charset="2"/>
              </a:rPr>
              <a:t>1</a:t>
            </a:r>
            <a:r>
              <a:rPr lang="en-US" altLang="zh-CN" sz="2000" i="1" dirty="0">
                <a:solidFill>
                  <a:srgbClr val="0206AD"/>
                </a:solidFill>
                <a:sym typeface="Symbol" pitchFamily="18" charset="2"/>
              </a:rPr>
              <a:t>.type=real </a:t>
            </a:r>
            <a:r>
              <a:rPr lang="en-US" altLang="zh-CN" sz="2000" dirty="0">
                <a:solidFill>
                  <a:srgbClr val="0206AD"/>
                </a:solidFill>
                <a:sym typeface="Symbol" pitchFamily="18" charset="2"/>
              </a:rPr>
              <a:t>and </a:t>
            </a:r>
            <a:r>
              <a:rPr lang="en-US" altLang="zh-CN" sz="2000" i="1" dirty="0">
                <a:solidFill>
                  <a:srgbClr val="0206AD"/>
                </a:solidFill>
                <a:sym typeface="Symbol" pitchFamily="18" charset="2"/>
              </a:rPr>
              <a:t>E</a:t>
            </a:r>
            <a:r>
              <a:rPr lang="en-US" altLang="zh-CN" sz="2000" baseline="-25000" dirty="0">
                <a:solidFill>
                  <a:srgbClr val="0206AD"/>
                </a:solidFill>
                <a:sym typeface="Symbol" pitchFamily="18" charset="2"/>
              </a:rPr>
              <a:t>2</a:t>
            </a:r>
            <a:r>
              <a:rPr lang="en-US" altLang="zh-CN" sz="2000" i="1" dirty="0">
                <a:solidFill>
                  <a:srgbClr val="0206AD"/>
                </a:solidFill>
                <a:sym typeface="Symbol" pitchFamily="18" charset="2"/>
              </a:rPr>
              <a:t>.type=real</a:t>
            </a:r>
            <a:r>
              <a:rPr lang="en-US" altLang="zh-CN" sz="2000" dirty="0">
                <a:solidFill>
                  <a:srgbClr val="0206AD"/>
                </a:solidFill>
                <a:sym typeface="Symbol" pitchFamily="18" charset="2"/>
              </a:rPr>
              <a:t> then</a:t>
            </a:r>
            <a:r>
              <a:rPr lang="en-US" altLang="zh-CN" sz="2000" i="1" dirty="0">
                <a:solidFill>
                  <a:srgbClr val="0206AD"/>
                </a:solidFill>
                <a:sym typeface="Symbol" pitchFamily="18" charset="2"/>
              </a:rPr>
              <a:t> real</a:t>
            </a:r>
            <a:endParaRPr lang="en-US" altLang="zh-CN" sz="2000" dirty="0">
              <a:solidFill>
                <a:srgbClr val="0206AD"/>
              </a:solidFill>
              <a:sym typeface="Symbol" pitchFamily="18" charset="2"/>
            </a:endParaRPr>
          </a:p>
          <a:p>
            <a:pPr>
              <a:buFont typeface="Wingdings" pitchFamily="2" charset="2"/>
              <a:buNone/>
            </a:pPr>
            <a:r>
              <a:rPr lang="en-US" altLang="zh-CN" sz="2000" dirty="0">
                <a:solidFill>
                  <a:srgbClr val="0206AD"/>
                </a:solidFill>
                <a:sym typeface="Symbol" pitchFamily="18" charset="2"/>
              </a:rPr>
              <a:t>                                          else if </a:t>
            </a:r>
            <a:r>
              <a:rPr lang="en-US" altLang="zh-CN" sz="2000" i="1" dirty="0">
                <a:solidFill>
                  <a:srgbClr val="0206AD"/>
                </a:solidFill>
                <a:sym typeface="Symbol" pitchFamily="18" charset="2"/>
              </a:rPr>
              <a:t>E</a:t>
            </a:r>
            <a:r>
              <a:rPr lang="en-US" altLang="zh-CN" sz="2000" baseline="-25000" dirty="0">
                <a:solidFill>
                  <a:srgbClr val="0206AD"/>
                </a:solidFill>
                <a:sym typeface="Symbol" pitchFamily="18" charset="2"/>
              </a:rPr>
              <a:t>1</a:t>
            </a:r>
            <a:r>
              <a:rPr lang="en-US" altLang="zh-CN" sz="2000" i="1" dirty="0">
                <a:solidFill>
                  <a:srgbClr val="0206AD"/>
                </a:solidFill>
                <a:sym typeface="Symbol" pitchFamily="18" charset="2"/>
              </a:rPr>
              <a:t>.type=</a:t>
            </a:r>
            <a:r>
              <a:rPr lang="en-US" altLang="zh-CN" sz="2000" i="1" dirty="0" err="1">
                <a:solidFill>
                  <a:srgbClr val="0206AD"/>
                </a:solidFill>
                <a:sym typeface="Symbol" pitchFamily="18" charset="2"/>
              </a:rPr>
              <a:t>int</a:t>
            </a:r>
            <a:r>
              <a:rPr lang="en-US" altLang="zh-CN" sz="2000" i="1" dirty="0">
                <a:solidFill>
                  <a:srgbClr val="0206AD"/>
                </a:solidFill>
                <a:sym typeface="Symbol" pitchFamily="18" charset="2"/>
              </a:rPr>
              <a:t> </a:t>
            </a:r>
            <a:r>
              <a:rPr lang="en-US" altLang="zh-CN" sz="2000" dirty="0">
                <a:solidFill>
                  <a:srgbClr val="0206AD"/>
                </a:solidFill>
                <a:sym typeface="Symbol" pitchFamily="18" charset="2"/>
              </a:rPr>
              <a:t>and</a:t>
            </a:r>
            <a:r>
              <a:rPr lang="en-US" altLang="zh-CN" sz="2000" i="1" dirty="0">
                <a:solidFill>
                  <a:srgbClr val="0206AD"/>
                </a:solidFill>
                <a:sym typeface="Symbol" pitchFamily="18" charset="2"/>
              </a:rPr>
              <a:t> E</a:t>
            </a:r>
            <a:r>
              <a:rPr lang="en-US" altLang="zh-CN" sz="2000" baseline="-25000" dirty="0">
                <a:solidFill>
                  <a:srgbClr val="0206AD"/>
                </a:solidFill>
                <a:sym typeface="Symbol" pitchFamily="18" charset="2"/>
              </a:rPr>
              <a:t>2</a:t>
            </a:r>
            <a:r>
              <a:rPr lang="en-US" altLang="zh-CN" sz="2000" i="1" dirty="0">
                <a:solidFill>
                  <a:srgbClr val="0206AD"/>
                </a:solidFill>
                <a:sym typeface="Symbol" pitchFamily="18" charset="2"/>
              </a:rPr>
              <a:t>.type=</a:t>
            </a:r>
            <a:r>
              <a:rPr lang="en-US" altLang="zh-CN" sz="2000" i="1" dirty="0" err="1">
                <a:solidFill>
                  <a:srgbClr val="0206AD"/>
                </a:solidFill>
                <a:sym typeface="Symbol" pitchFamily="18" charset="2"/>
              </a:rPr>
              <a:t>int</a:t>
            </a:r>
            <a:r>
              <a:rPr lang="en-US" altLang="zh-CN" sz="2000" i="1" dirty="0">
                <a:solidFill>
                  <a:srgbClr val="0206AD"/>
                </a:solidFill>
                <a:sym typeface="Symbol" pitchFamily="18" charset="2"/>
              </a:rPr>
              <a:t> </a:t>
            </a:r>
            <a:r>
              <a:rPr lang="en-US" altLang="zh-CN" sz="2000" dirty="0">
                <a:solidFill>
                  <a:srgbClr val="0206AD"/>
                </a:solidFill>
                <a:sym typeface="Symbol" pitchFamily="18" charset="2"/>
              </a:rPr>
              <a:t>then</a:t>
            </a:r>
            <a:r>
              <a:rPr lang="en-US" altLang="zh-CN" sz="2000" i="1" dirty="0">
                <a:solidFill>
                  <a:srgbClr val="0206AD"/>
                </a:solidFill>
                <a:sym typeface="Symbol" pitchFamily="18" charset="2"/>
              </a:rPr>
              <a:t> </a:t>
            </a:r>
            <a:r>
              <a:rPr lang="en-US" altLang="zh-CN" sz="2000" i="1" dirty="0" err="1">
                <a:solidFill>
                  <a:srgbClr val="0206AD"/>
                </a:solidFill>
                <a:sym typeface="Symbol" pitchFamily="18" charset="2"/>
              </a:rPr>
              <a:t>int</a:t>
            </a:r>
            <a:endParaRPr lang="en-US" altLang="zh-CN" sz="2000" dirty="0">
              <a:solidFill>
                <a:srgbClr val="0206AD"/>
              </a:solidFill>
              <a:sym typeface="Symbol" pitchFamily="18" charset="2"/>
            </a:endParaRPr>
          </a:p>
          <a:p>
            <a:pPr>
              <a:buFont typeface="Wingdings" pitchFamily="2" charset="2"/>
              <a:buNone/>
            </a:pPr>
            <a:r>
              <a:rPr lang="en-US" altLang="zh-CN" sz="2000" dirty="0">
                <a:solidFill>
                  <a:srgbClr val="0206AD"/>
                </a:solidFill>
                <a:sym typeface="Symbol" pitchFamily="18" charset="2"/>
              </a:rPr>
              <a:t>                                          else</a:t>
            </a:r>
            <a:r>
              <a:rPr lang="en-US" altLang="zh-CN" sz="2000" i="1" dirty="0">
                <a:solidFill>
                  <a:srgbClr val="0206AD"/>
                </a:solidFill>
                <a:sym typeface="Symbol" pitchFamily="18" charset="2"/>
              </a:rPr>
              <a:t> </a:t>
            </a:r>
            <a:r>
              <a:rPr lang="en-US" altLang="zh-CN" sz="2000" i="1" dirty="0" err="1">
                <a:solidFill>
                  <a:srgbClr val="0206AD"/>
                </a:solidFill>
                <a:sym typeface="Symbol" pitchFamily="18" charset="2"/>
              </a:rPr>
              <a:t>type_error</a:t>
            </a:r>
            <a:r>
              <a:rPr lang="en-US" altLang="zh-CN" sz="2000" dirty="0">
                <a:solidFill>
                  <a:srgbClr val="0206AD"/>
                </a:solidFill>
                <a:sym typeface="Symbol" pitchFamily="18" charset="2"/>
              </a:rPr>
              <a:t> }</a:t>
            </a:r>
          </a:p>
          <a:p>
            <a:pPr>
              <a:buFont typeface="Wingdings" pitchFamily="2" charset="2"/>
              <a:buNone/>
            </a:pPr>
            <a:endParaRPr lang="en-US" altLang="zh-CN" sz="1000" i="1" dirty="0">
              <a:solidFill>
                <a:srgbClr val="0206AD"/>
              </a:solidFill>
              <a:sym typeface="Symbol" pitchFamily="18" charset="2"/>
            </a:endParaRPr>
          </a:p>
          <a:p>
            <a:pPr>
              <a:buFont typeface="Wingdings" pitchFamily="2" charset="2"/>
              <a:buNone/>
            </a:pPr>
            <a:r>
              <a:rPr lang="en-US" altLang="zh-CN" sz="2000" i="1" dirty="0">
                <a:solidFill>
                  <a:srgbClr val="0206AD"/>
                </a:solidFill>
                <a:sym typeface="Symbol" pitchFamily="18" charset="2"/>
              </a:rPr>
              <a:t>E </a:t>
            </a:r>
            <a:r>
              <a:rPr lang="en-US" altLang="zh-CN" sz="2000" dirty="0">
                <a:solidFill>
                  <a:srgbClr val="0206AD"/>
                </a:solidFill>
                <a:sym typeface="Symbol" pitchFamily="18" charset="2"/>
              </a:rPr>
              <a:t> </a:t>
            </a:r>
            <a:r>
              <a:rPr lang="en-US" altLang="zh-CN" sz="2000" i="1" dirty="0">
                <a:solidFill>
                  <a:srgbClr val="0206AD"/>
                </a:solidFill>
                <a:sym typeface="Symbol" pitchFamily="18" charset="2"/>
              </a:rPr>
              <a:t>E</a:t>
            </a:r>
            <a:r>
              <a:rPr lang="en-US" altLang="zh-CN" sz="2000" baseline="-25000" dirty="0">
                <a:solidFill>
                  <a:srgbClr val="0206AD"/>
                </a:solidFill>
                <a:sym typeface="Symbol" pitchFamily="18" charset="2"/>
              </a:rPr>
              <a:t>1</a:t>
            </a:r>
            <a:r>
              <a:rPr lang="en-US" altLang="zh-CN" sz="2000" dirty="0">
                <a:solidFill>
                  <a:srgbClr val="0206AD"/>
                </a:solidFill>
                <a:sym typeface="Symbol" pitchFamily="18" charset="2"/>
              </a:rPr>
              <a:t> </a:t>
            </a:r>
            <a:r>
              <a:rPr lang="en-US" altLang="zh-CN" sz="2000" u="sng" dirty="0" err="1">
                <a:solidFill>
                  <a:srgbClr val="0206AD"/>
                </a:solidFill>
                <a:sym typeface="Symbol" pitchFamily="18" charset="2"/>
              </a:rPr>
              <a:t>rop</a:t>
            </a:r>
            <a:r>
              <a:rPr lang="en-US" altLang="zh-CN" sz="2000" dirty="0">
                <a:solidFill>
                  <a:srgbClr val="0206AD"/>
                </a:solidFill>
                <a:sym typeface="Symbol" pitchFamily="18" charset="2"/>
              </a:rPr>
              <a:t> </a:t>
            </a:r>
            <a:r>
              <a:rPr lang="en-US" altLang="zh-CN" sz="2000" i="1" dirty="0">
                <a:solidFill>
                  <a:srgbClr val="0206AD"/>
                </a:solidFill>
                <a:sym typeface="Symbol" pitchFamily="18" charset="2"/>
              </a:rPr>
              <a:t>E</a:t>
            </a:r>
            <a:r>
              <a:rPr lang="en-US" altLang="zh-CN" sz="2000" baseline="-25000" dirty="0">
                <a:solidFill>
                  <a:srgbClr val="0206AD"/>
                </a:solidFill>
                <a:sym typeface="Symbol" pitchFamily="18" charset="2"/>
              </a:rPr>
              <a:t>2</a:t>
            </a:r>
            <a:r>
              <a:rPr lang="en-US" altLang="zh-CN" sz="2000" dirty="0">
                <a:solidFill>
                  <a:srgbClr val="0206AD"/>
                </a:solidFill>
                <a:sym typeface="Symbol" pitchFamily="18" charset="2"/>
              </a:rPr>
              <a:t>  {</a:t>
            </a:r>
            <a:r>
              <a:rPr lang="en-US" altLang="zh-CN" sz="2000" i="1" dirty="0">
                <a:solidFill>
                  <a:srgbClr val="0206AD"/>
                </a:solidFill>
                <a:sym typeface="Symbol" pitchFamily="18" charset="2"/>
              </a:rPr>
              <a:t> </a:t>
            </a:r>
            <a:r>
              <a:rPr lang="en-US" altLang="zh-CN" sz="2000" i="1" dirty="0" err="1">
                <a:solidFill>
                  <a:srgbClr val="0206AD"/>
                </a:solidFill>
                <a:sym typeface="Symbol" pitchFamily="18" charset="2"/>
              </a:rPr>
              <a:t>E.type</a:t>
            </a:r>
            <a:r>
              <a:rPr lang="en-US" altLang="zh-CN" sz="2000" i="1" dirty="0">
                <a:solidFill>
                  <a:srgbClr val="0206AD"/>
                </a:solidFill>
                <a:sym typeface="Symbol" pitchFamily="18" charset="2"/>
              </a:rPr>
              <a:t> </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 </a:t>
            </a:r>
            <a:r>
              <a:rPr lang="en-US" altLang="zh-CN" sz="2000" dirty="0">
                <a:solidFill>
                  <a:srgbClr val="0206AD"/>
                </a:solidFill>
                <a:sym typeface="Symbol" pitchFamily="18" charset="2"/>
              </a:rPr>
              <a:t>if </a:t>
            </a:r>
            <a:r>
              <a:rPr lang="en-US" altLang="zh-CN" sz="2000" i="1" dirty="0">
                <a:solidFill>
                  <a:srgbClr val="0206AD"/>
                </a:solidFill>
                <a:sym typeface="Symbol" pitchFamily="18" charset="2"/>
              </a:rPr>
              <a:t>E</a:t>
            </a:r>
            <a:r>
              <a:rPr lang="en-US" altLang="zh-CN" sz="2000" baseline="-25000" dirty="0">
                <a:solidFill>
                  <a:srgbClr val="0206AD"/>
                </a:solidFill>
                <a:sym typeface="Symbol" pitchFamily="18" charset="2"/>
              </a:rPr>
              <a:t>1</a:t>
            </a:r>
            <a:r>
              <a:rPr lang="en-US" altLang="zh-CN" sz="2000" i="1" dirty="0">
                <a:solidFill>
                  <a:srgbClr val="0206AD"/>
                </a:solidFill>
                <a:sym typeface="Symbol" pitchFamily="18" charset="2"/>
              </a:rPr>
              <a:t>.type=real </a:t>
            </a:r>
            <a:r>
              <a:rPr lang="en-US" altLang="zh-CN" sz="2000" dirty="0">
                <a:solidFill>
                  <a:srgbClr val="0206AD"/>
                </a:solidFill>
                <a:sym typeface="Symbol" pitchFamily="18" charset="2"/>
              </a:rPr>
              <a:t>and </a:t>
            </a:r>
            <a:r>
              <a:rPr lang="en-US" altLang="zh-CN" sz="2000" i="1" dirty="0">
                <a:solidFill>
                  <a:srgbClr val="0206AD"/>
                </a:solidFill>
                <a:sym typeface="Symbol" pitchFamily="18" charset="2"/>
              </a:rPr>
              <a:t>E</a:t>
            </a:r>
            <a:r>
              <a:rPr lang="en-US" altLang="zh-CN" sz="2000" baseline="-25000" dirty="0">
                <a:solidFill>
                  <a:srgbClr val="0206AD"/>
                </a:solidFill>
                <a:sym typeface="Symbol" pitchFamily="18" charset="2"/>
              </a:rPr>
              <a:t>2</a:t>
            </a:r>
            <a:r>
              <a:rPr lang="en-US" altLang="zh-CN" sz="2000" i="1" dirty="0">
                <a:solidFill>
                  <a:srgbClr val="0206AD"/>
                </a:solidFill>
                <a:sym typeface="Symbol" pitchFamily="18" charset="2"/>
              </a:rPr>
              <a:t>.type=real</a:t>
            </a:r>
            <a:r>
              <a:rPr lang="en-US" altLang="zh-CN" sz="2000" dirty="0">
                <a:solidFill>
                  <a:srgbClr val="0206AD"/>
                </a:solidFill>
                <a:sym typeface="Symbol" pitchFamily="18" charset="2"/>
              </a:rPr>
              <a:t> then</a:t>
            </a:r>
            <a:r>
              <a:rPr lang="en-US" altLang="zh-CN" sz="2000" i="1" dirty="0">
                <a:solidFill>
                  <a:srgbClr val="0206AD"/>
                </a:solidFill>
                <a:sym typeface="Symbol" pitchFamily="18" charset="2"/>
              </a:rPr>
              <a:t> bool</a:t>
            </a:r>
            <a:endParaRPr lang="en-US" altLang="zh-CN" sz="2000" dirty="0">
              <a:solidFill>
                <a:srgbClr val="0206AD"/>
              </a:solidFill>
              <a:sym typeface="Symbol" pitchFamily="18" charset="2"/>
            </a:endParaRPr>
          </a:p>
          <a:p>
            <a:pPr>
              <a:buFont typeface="Wingdings" pitchFamily="2" charset="2"/>
              <a:buNone/>
            </a:pPr>
            <a:r>
              <a:rPr lang="en-US" altLang="zh-CN" sz="2000" dirty="0">
                <a:solidFill>
                  <a:srgbClr val="0206AD"/>
                </a:solidFill>
                <a:sym typeface="Symbol" pitchFamily="18" charset="2"/>
              </a:rPr>
              <a:t>                                          else if</a:t>
            </a:r>
            <a:r>
              <a:rPr lang="en-US" altLang="zh-CN" sz="2000" i="1" dirty="0">
                <a:solidFill>
                  <a:srgbClr val="0206AD"/>
                </a:solidFill>
                <a:sym typeface="Symbol" pitchFamily="18" charset="2"/>
              </a:rPr>
              <a:t> E</a:t>
            </a:r>
            <a:r>
              <a:rPr lang="en-US" altLang="zh-CN" sz="2000" baseline="-25000" dirty="0">
                <a:solidFill>
                  <a:srgbClr val="0206AD"/>
                </a:solidFill>
                <a:sym typeface="Symbol" pitchFamily="18" charset="2"/>
              </a:rPr>
              <a:t>1</a:t>
            </a:r>
            <a:r>
              <a:rPr lang="en-US" altLang="zh-CN" sz="2000" i="1" dirty="0">
                <a:solidFill>
                  <a:srgbClr val="0206AD"/>
                </a:solidFill>
                <a:sym typeface="Symbol" pitchFamily="18" charset="2"/>
              </a:rPr>
              <a:t>.type=</a:t>
            </a:r>
            <a:r>
              <a:rPr lang="en-US" altLang="zh-CN" sz="2000" i="1" dirty="0" err="1">
                <a:solidFill>
                  <a:srgbClr val="0206AD"/>
                </a:solidFill>
                <a:sym typeface="Symbol" pitchFamily="18" charset="2"/>
              </a:rPr>
              <a:t>int</a:t>
            </a:r>
            <a:r>
              <a:rPr lang="en-US" altLang="zh-CN" sz="2000" i="1" dirty="0">
                <a:solidFill>
                  <a:srgbClr val="0206AD"/>
                </a:solidFill>
                <a:sym typeface="Symbol" pitchFamily="18" charset="2"/>
              </a:rPr>
              <a:t> </a:t>
            </a:r>
            <a:r>
              <a:rPr lang="en-US" altLang="zh-CN" sz="2000" dirty="0">
                <a:solidFill>
                  <a:srgbClr val="0206AD"/>
                </a:solidFill>
                <a:sym typeface="Symbol" pitchFamily="18" charset="2"/>
              </a:rPr>
              <a:t>and</a:t>
            </a:r>
            <a:r>
              <a:rPr lang="en-US" altLang="zh-CN" sz="2000" i="1" dirty="0">
                <a:solidFill>
                  <a:srgbClr val="0206AD"/>
                </a:solidFill>
                <a:sym typeface="Symbol" pitchFamily="18" charset="2"/>
              </a:rPr>
              <a:t> E</a:t>
            </a:r>
            <a:r>
              <a:rPr lang="en-US" altLang="zh-CN" sz="2000" baseline="-25000" dirty="0">
                <a:solidFill>
                  <a:srgbClr val="0206AD"/>
                </a:solidFill>
                <a:sym typeface="Symbol" pitchFamily="18" charset="2"/>
              </a:rPr>
              <a:t>2</a:t>
            </a:r>
            <a:r>
              <a:rPr lang="en-US" altLang="zh-CN" sz="2000" i="1" dirty="0">
                <a:solidFill>
                  <a:srgbClr val="0206AD"/>
                </a:solidFill>
                <a:sym typeface="Symbol" pitchFamily="18" charset="2"/>
              </a:rPr>
              <a:t>.type=</a:t>
            </a:r>
            <a:r>
              <a:rPr lang="en-US" altLang="zh-CN" sz="2000" i="1" dirty="0" err="1">
                <a:solidFill>
                  <a:srgbClr val="0206AD"/>
                </a:solidFill>
                <a:sym typeface="Symbol" pitchFamily="18" charset="2"/>
              </a:rPr>
              <a:t>int</a:t>
            </a:r>
            <a:r>
              <a:rPr lang="en-US" altLang="zh-CN" sz="2000" i="1" dirty="0">
                <a:solidFill>
                  <a:srgbClr val="0206AD"/>
                </a:solidFill>
                <a:sym typeface="Symbol" pitchFamily="18" charset="2"/>
              </a:rPr>
              <a:t> </a:t>
            </a:r>
            <a:r>
              <a:rPr lang="en-US" altLang="zh-CN" sz="2000" dirty="0">
                <a:solidFill>
                  <a:srgbClr val="0206AD"/>
                </a:solidFill>
                <a:sym typeface="Symbol" pitchFamily="18" charset="2"/>
              </a:rPr>
              <a:t>then</a:t>
            </a:r>
            <a:r>
              <a:rPr lang="en-US" altLang="zh-CN" sz="2000" i="1" dirty="0">
                <a:solidFill>
                  <a:srgbClr val="0206AD"/>
                </a:solidFill>
                <a:sym typeface="Symbol" pitchFamily="18" charset="2"/>
              </a:rPr>
              <a:t> bool</a:t>
            </a:r>
            <a:endParaRPr lang="en-US" altLang="zh-CN" sz="2000" dirty="0">
              <a:solidFill>
                <a:srgbClr val="0206AD"/>
              </a:solidFill>
              <a:sym typeface="Symbol" pitchFamily="18" charset="2"/>
            </a:endParaRPr>
          </a:p>
          <a:p>
            <a:pPr>
              <a:buFont typeface="Wingdings" pitchFamily="2" charset="2"/>
              <a:buNone/>
            </a:pPr>
            <a:r>
              <a:rPr lang="en-US" altLang="zh-CN" sz="2000" dirty="0">
                <a:solidFill>
                  <a:srgbClr val="0206AD"/>
                </a:solidFill>
                <a:sym typeface="Symbol" pitchFamily="18" charset="2"/>
              </a:rPr>
              <a:t>                                          else</a:t>
            </a:r>
            <a:r>
              <a:rPr lang="en-US" altLang="zh-CN" sz="2000" i="1" dirty="0">
                <a:solidFill>
                  <a:srgbClr val="0206AD"/>
                </a:solidFill>
                <a:sym typeface="Symbol" pitchFamily="18" charset="2"/>
              </a:rPr>
              <a:t> </a:t>
            </a:r>
            <a:r>
              <a:rPr lang="en-US" altLang="zh-CN" sz="2000" i="1" dirty="0" err="1">
                <a:solidFill>
                  <a:srgbClr val="0206AD"/>
                </a:solidFill>
                <a:sym typeface="Symbol" pitchFamily="18" charset="2"/>
              </a:rPr>
              <a:t>type_error</a:t>
            </a:r>
            <a:r>
              <a:rPr lang="en-US" altLang="zh-CN" sz="2000" dirty="0">
                <a:solidFill>
                  <a:srgbClr val="0206AD"/>
                </a:solidFill>
                <a:sym typeface="Symbol" pitchFamily="18" charset="2"/>
              </a:rPr>
              <a:t> }</a:t>
            </a:r>
          </a:p>
          <a:p>
            <a:pPr>
              <a:buFont typeface="Wingdings" pitchFamily="2" charset="2"/>
              <a:buNone/>
            </a:pPr>
            <a:endParaRPr lang="en-US" altLang="zh-CN" sz="1000" i="1" dirty="0">
              <a:solidFill>
                <a:srgbClr val="0206AD"/>
              </a:solidFill>
              <a:sym typeface="Symbol" pitchFamily="18" charset="2"/>
            </a:endParaRPr>
          </a:p>
          <a:p>
            <a:pPr>
              <a:buFont typeface="Wingdings" pitchFamily="2" charset="2"/>
              <a:buNone/>
            </a:pPr>
            <a:r>
              <a:rPr lang="en-US" altLang="zh-CN" sz="2000" i="1" dirty="0">
                <a:solidFill>
                  <a:srgbClr val="0206AD"/>
                </a:solidFill>
                <a:sym typeface="Symbol" pitchFamily="18" charset="2"/>
              </a:rPr>
              <a:t>E </a:t>
            </a:r>
            <a:r>
              <a:rPr lang="en-US" altLang="zh-CN" sz="2000" dirty="0">
                <a:solidFill>
                  <a:srgbClr val="0206AD"/>
                </a:solidFill>
                <a:sym typeface="Symbol" pitchFamily="18" charset="2"/>
              </a:rPr>
              <a:t> </a:t>
            </a:r>
            <a:r>
              <a:rPr lang="en-US" altLang="zh-CN" sz="2000" i="1" dirty="0">
                <a:solidFill>
                  <a:srgbClr val="0206AD"/>
                </a:solidFill>
                <a:sym typeface="Symbol" pitchFamily="18" charset="2"/>
              </a:rPr>
              <a:t>E</a:t>
            </a:r>
            <a:r>
              <a:rPr lang="en-US" altLang="zh-CN" sz="2000" baseline="-25000" dirty="0">
                <a:solidFill>
                  <a:srgbClr val="0206AD"/>
                </a:solidFill>
                <a:sym typeface="Symbol" pitchFamily="18" charset="2"/>
              </a:rPr>
              <a:t>1 </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E</a:t>
            </a:r>
            <a:r>
              <a:rPr lang="en-US" altLang="zh-CN" sz="2000" baseline="-25000" dirty="0">
                <a:solidFill>
                  <a:srgbClr val="0206AD"/>
                </a:solidFill>
                <a:sym typeface="Symbol" pitchFamily="18" charset="2"/>
              </a:rPr>
              <a:t>2</a:t>
            </a:r>
            <a:r>
              <a:rPr lang="en-US" altLang="zh-CN" sz="2000" dirty="0">
                <a:solidFill>
                  <a:srgbClr val="0206AD"/>
                </a:solidFill>
                <a:sym typeface="Symbol" pitchFamily="18" charset="2"/>
              </a:rPr>
              <a:t>]       {</a:t>
            </a:r>
            <a:r>
              <a:rPr lang="en-US" altLang="zh-CN" sz="2000" i="1" dirty="0">
                <a:solidFill>
                  <a:srgbClr val="0206AD"/>
                </a:solidFill>
                <a:sym typeface="Symbol" pitchFamily="18" charset="2"/>
              </a:rPr>
              <a:t> </a:t>
            </a:r>
            <a:r>
              <a:rPr lang="en-US" altLang="zh-CN" sz="2000" i="1" dirty="0" err="1">
                <a:solidFill>
                  <a:srgbClr val="0206AD"/>
                </a:solidFill>
                <a:sym typeface="Symbol" pitchFamily="18" charset="2"/>
              </a:rPr>
              <a:t>E.type</a:t>
            </a:r>
            <a:r>
              <a:rPr lang="en-US" altLang="zh-CN" sz="2000" i="1" dirty="0">
                <a:solidFill>
                  <a:srgbClr val="0206AD"/>
                </a:solidFill>
                <a:sym typeface="Symbol" pitchFamily="18" charset="2"/>
              </a:rPr>
              <a:t> </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 </a:t>
            </a:r>
            <a:r>
              <a:rPr lang="en-US" altLang="zh-CN" sz="2000" dirty="0">
                <a:solidFill>
                  <a:srgbClr val="0206AD"/>
                </a:solidFill>
                <a:sym typeface="Symbol" pitchFamily="18" charset="2"/>
              </a:rPr>
              <a:t>if</a:t>
            </a:r>
            <a:r>
              <a:rPr lang="en-US" altLang="zh-CN" sz="2000" i="1" dirty="0">
                <a:solidFill>
                  <a:srgbClr val="0206AD"/>
                </a:solidFill>
                <a:sym typeface="Symbol" pitchFamily="18" charset="2"/>
              </a:rPr>
              <a:t> E</a:t>
            </a:r>
            <a:r>
              <a:rPr lang="en-US" altLang="zh-CN" sz="2000" baseline="-25000" dirty="0">
                <a:solidFill>
                  <a:srgbClr val="0206AD"/>
                </a:solidFill>
                <a:sym typeface="Symbol" pitchFamily="18" charset="2"/>
              </a:rPr>
              <a:t>2</a:t>
            </a:r>
            <a:r>
              <a:rPr lang="en-US" altLang="zh-CN" sz="2000" i="1" dirty="0">
                <a:solidFill>
                  <a:srgbClr val="0206AD"/>
                </a:solidFill>
                <a:sym typeface="Symbol" pitchFamily="18" charset="2"/>
              </a:rPr>
              <a:t>.type= </a:t>
            </a:r>
            <a:r>
              <a:rPr lang="en-US" altLang="zh-CN" sz="2000" i="1" dirty="0" err="1">
                <a:solidFill>
                  <a:srgbClr val="0206AD"/>
                </a:solidFill>
                <a:sym typeface="Symbol" pitchFamily="18" charset="2"/>
              </a:rPr>
              <a:t>int</a:t>
            </a:r>
            <a:r>
              <a:rPr lang="en-US" altLang="zh-CN" sz="2000" i="1" dirty="0">
                <a:solidFill>
                  <a:srgbClr val="0206AD"/>
                </a:solidFill>
                <a:sym typeface="Symbol" pitchFamily="18" charset="2"/>
              </a:rPr>
              <a:t> </a:t>
            </a:r>
            <a:r>
              <a:rPr lang="en-US" altLang="zh-CN" sz="2000" dirty="0">
                <a:solidFill>
                  <a:srgbClr val="0206AD"/>
                </a:solidFill>
                <a:sym typeface="Symbol" pitchFamily="18" charset="2"/>
              </a:rPr>
              <a:t>and</a:t>
            </a:r>
            <a:r>
              <a:rPr lang="en-US" altLang="zh-CN" sz="2000" i="1" dirty="0">
                <a:solidFill>
                  <a:srgbClr val="0206AD"/>
                </a:solidFill>
                <a:sym typeface="Symbol" pitchFamily="18" charset="2"/>
              </a:rPr>
              <a:t> E</a:t>
            </a:r>
            <a:r>
              <a:rPr lang="en-US" altLang="zh-CN" sz="2000" baseline="-25000" dirty="0">
                <a:solidFill>
                  <a:srgbClr val="0206AD"/>
                </a:solidFill>
                <a:sym typeface="Symbol" pitchFamily="18" charset="2"/>
              </a:rPr>
              <a:t>1</a:t>
            </a:r>
            <a:r>
              <a:rPr lang="en-US" altLang="zh-CN" sz="2000" i="1" dirty="0">
                <a:solidFill>
                  <a:srgbClr val="0206AD"/>
                </a:solidFill>
                <a:sym typeface="Symbol" pitchFamily="18" charset="2"/>
              </a:rPr>
              <a:t>.type=array</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s</a:t>
            </a:r>
            <a:r>
              <a:rPr lang="en-US" altLang="zh-CN" sz="2000" dirty="0">
                <a:solidFill>
                  <a:srgbClr val="0206AD"/>
                </a:solidFill>
                <a:sym typeface="Symbol" pitchFamily="18" charset="2"/>
              </a:rPr>
              <a:t>, </a:t>
            </a:r>
            <a:r>
              <a:rPr lang="en-US" altLang="zh-CN" sz="2000" i="1" dirty="0">
                <a:solidFill>
                  <a:srgbClr val="0206AD"/>
                </a:solidFill>
                <a:sym typeface="Symbol" pitchFamily="18" charset="2"/>
              </a:rPr>
              <a:t>t</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 </a:t>
            </a:r>
            <a:r>
              <a:rPr lang="en-US" altLang="zh-CN" sz="2000" dirty="0">
                <a:solidFill>
                  <a:srgbClr val="0206AD"/>
                </a:solidFill>
                <a:sym typeface="Symbol" pitchFamily="18" charset="2"/>
              </a:rPr>
              <a:t>then</a:t>
            </a:r>
            <a:r>
              <a:rPr lang="en-US" altLang="zh-CN" sz="2000" i="1" dirty="0">
                <a:solidFill>
                  <a:srgbClr val="0206AD"/>
                </a:solidFill>
                <a:sym typeface="Symbol" pitchFamily="18" charset="2"/>
              </a:rPr>
              <a:t> t</a:t>
            </a:r>
            <a:endParaRPr lang="en-US" altLang="zh-CN" sz="2000" dirty="0">
              <a:solidFill>
                <a:srgbClr val="0206AD"/>
              </a:solidFill>
              <a:sym typeface="Symbol" pitchFamily="18" charset="2"/>
            </a:endParaRPr>
          </a:p>
          <a:p>
            <a:pPr>
              <a:buFont typeface="Wingdings" pitchFamily="2" charset="2"/>
              <a:buNone/>
            </a:pPr>
            <a:r>
              <a:rPr lang="en-US" altLang="zh-CN" sz="2000" dirty="0">
                <a:solidFill>
                  <a:srgbClr val="0206AD"/>
                </a:solidFill>
                <a:sym typeface="Symbol" pitchFamily="18" charset="2"/>
              </a:rPr>
              <a:t>                                          else</a:t>
            </a:r>
            <a:r>
              <a:rPr lang="en-US" altLang="zh-CN" sz="2000" i="1" dirty="0">
                <a:solidFill>
                  <a:srgbClr val="0206AD"/>
                </a:solidFill>
                <a:sym typeface="Symbol" pitchFamily="18" charset="2"/>
              </a:rPr>
              <a:t> </a:t>
            </a:r>
            <a:r>
              <a:rPr lang="en-US" altLang="zh-CN" sz="2000" i="1" dirty="0" err="1">
                <a:solidFill>
                  <a:srgbClr val="0206AD"/>
                </a:solidFill>
                <a:sym typeface="Symbol" pitchFamily="18" charset="2"/>
              </a:rPr>
              <a:t>type_error</a:t>
            </a:r>
            <a:r>
              <a:rPr lang="en-US" altLang="zh-CN" sz="2000" dirty="0">
                <a:solidFill>
                  <a:srgbClr val="0206AD"/>
                </a:solidFill>
                <a:sym typeface="Symbol" pitchFamily="18" charset="2"/>
              </a:rPr>
              <a:t> }</a:t>
            </a:r>
          </a:p>
          <a:p>
            <a:pPr>
              <a:buFont typeface="Wingdings" pitchFamily="2" charset="2"/>
              <a:buNone/>
            </a:pPr>
            <a:endParaRPr lang="en-US" altLang="zh-CN" sz="1000" i="1" dirty="0">
              <a:solidFill>
                <a:srgbClr val="0206AD"/>
              </a:solidFill>
              <a:sym typeface="Symbol" pitchFamily="18" charset="2"/>
            </a:endParaRPr>
          </a:p>
          <a:p>
            <a:pPr>
              <a:buFont typeface="Wingdings" pitchFamily="2" charset="2"/>
              <a:buNone/>
            </a:pPr>
            <a:r>
              <a:rPr lang="en-US" altLang="zh-CN" sz="2000" i="1" dirty="0">
                <a:solidFill>
                  <a:srgbClr val="0206AD"/>
                </a:solidFill>
                <a:sym typeface="Symbol" pitchFamily="18" charset="2"/>
              </a:rPr>
              <a:t>E </a:t>
            </a:r>
            <a:r>
              <a:rPr lang="en-US" altLang="zh-CN" sz="2000" dirty="0">
                <a:solidFill>
                  <a:srgbClr val="0206AD"/>
                </a:solidFill>
                <a:sym typeface="Symbol" pitchFamily="18" charset="2"/>
              </a:rPr>
              <a:t> </a:t>
            </a:r>
            <a:r>
              <a:rPr lang="en-US" altLang="zh-CN" sz="2000" i="1" dirty="0">
                <a:solidFill>
                  <a:srgbClr val="0206AD"/>
                </a:solidFill>
                <a:sym typeface="Symbol" pitchFamily="18" charset="2"/>
              </a:rPr>
              <a:t>E</a:t>
            </a:r>
            <a:r>
              <a:rPr lang="en-US" altLang="zh-CN" sz="2000" baseline="-25000" dirty="0">
                <a:solidFill>
                  <a:srgbClr val="0206AD"/>
                </a:solidFill>
                <a:sym typeface="Symbol" pitchFamily="18" charset="2"/>
              </a:rPr>
              <a:t>1</a:t>
            </a:r>
            <a:r>
              <a:rPr lang="en-US" altLang="zh-CN" sz="2000" i="1" dirty="0">
                <a:solidFill>
                  <a:srgbClr val="0206AD"/>
                </a:solidFill>
                <a:sym typeface="Symbol" pitchFamily="18" charset="2"/>
              </a:rPr>
              <a:t>^  </a:t>
            </a:r>
            <a:r>
              <a:rPr lang="pt-BR" altLang="zh-CN" sz="2000" dirty="0">
                <a:solidFill>
                  <a:srgbClr val="0206AD"/>
                </a:solidFill>
                <a:sym typeface="Symbol" pitchFamily="18" charset="2"/>
              </a:rPr>
              <a:t>      </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 </a:t>
            </a:r>
            <a:r>
              <a:rPr lang="en-US" altLang="zh-CN" sz="2000" i="1" dirty="0" err="1">
                <a:solidFill>
                  <a:srgbClr val="0206AD"/>
                </a:solidFill>
                <a:sym typeface="Symbol" pitchFamily="18" charset="2"/>
              </a:rPr>
              <a:t>E.type</a:t>
            </a:r>
            <a:r>
              <a:rPr lang="en-US" altLang="zh-CN" sz="2000" i="1" dirty="0">
                <a:solidFill>
                  <a:srgbClr val="0206AD"/>
                </a:solidFill>
                <a:sym typeface="Symbol" pitchFamily="18" charset="2"/>
              </a:rPr>
              <a:t> </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 if E</a:t>
            </a:r>
            <a:r>
              <a:rPr lang="en-US" altLang="zh-CN" sz="2000" baseline="-25000" dirty="0">
                <a:solidFill>
                  <a:srgbClr val="0206AD"/>
                </a:solidFill>
                <a:sym typeface="Symbol" pitchFamily="18" charset="2"/>
              </a:rPr>
              <a:t>1</a:t>
            </a:r>
            <a:r>
              <a:rPr lang="en-US" altLang="zh-CN" sz="2000" i="1" dirty="0">
                <a:solidFill>
                  <a:srgbClr val="0206AD"/>
                </a:solidFill>
                <a:sym typeface="Symbol" pitchFamily="18" charset="2"/>
              </a:rPr>
              <a:t>.type= pointer</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t</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 </a:t>
            </a:r>
            <a:r>
              <a:rPr lang="en-US" altLang="zh-CN" sz="2000" dirty="0">
                <a:solidFill>
                  <a:srgbClr val="0206AD"/>
                </a:solidFill>
                <a:sym typeface="Symbol" pitchFamily="18" charset="2"/>
              </a:rPr>
              <a:t>then</a:t>
            </a:r>
            <a:r>
              <a:rPr lang="en-US" altLang="zh-CN" sz="2000" i="1" dirty="0">
                <a:solidFill>
                  <a:srgbClr val="0206AD"/>
                </a:solidFill>
                <a:sym typeface="Symbol" pitchFamily="18" charset="2"/>
              </a:rPr>
              <a:t> t</a:t>
            </a:r>
            <a:endParaRPr lang="en-US" altLang="zh-CN" sz="2000" dirty="0">
              <a:solidFill>
                <a:srgbClr val="0206AD"/>
              </a:solidFill>
              <a:sym typeface="Symbol" pitchFamily="18" charset="2"/>
            </a:endParaRPr>
          </a:p>
          <a:p>
            <a:pPr>
              <a:buFont typeface="Wingdings" pitchFamily="2" charset="2"/>
              <a:buNone/>
            </a:pPr>
            <a:r>
              <a:rPr lang="en-US" altLang="zh-CN" sz="2000" dirty="0">
                <a:solidFill>
                  <a:srgbClr val="0206AD"/>
                </a:solidFill>
                <a:sym typeface="Symbol" pitchFamily="18" charset="2"/>
              </a:rPr>
              <a:t>                                          else</a:t>
            </a:r>
            <a:r>
              <a:rPr lang="en-US" altLang="zh-CN" sz="2000" i="1" dirty="0">
                <a:solidFill>
                  <a:srgbClr val="0206AD"/>
                </a:solidFill>
                <a:sym typeface="Symbol" pitchFamily="18" charset="2"/>
              </a:rPr>
              <a:t> </a:t>
            </a:r>
            <a:r>
              <a:rPr lang="en-US" altLang="zh-CN" sz="2000" i="1" dirty="0" err="1">
                <a:solidFill>
                  <a:srgbClr val="0206AD"/>
                </a:solidFill>
                <a:sym typeface="Symbol" pitchFamily="18" charset="2"/>
              </a:rPr>
              <a:t>type_error</a:t>
            </a:r>
            <a:r>
              <a:rPr lang="en-US" altLang="zh-CN" sz="2000" dirty="0">
                <a:solidFill>
                  <a:srgbClr val="0206AD"/>
                </a:solidFill>
                <a:sym typeface="Symbol" pitchFamily="18" charset="2"/>
              </a:rPr>
              <a:t> }</a:t>
            </a:r>
          </a:p>
        </p:txBody>
      </p:sp>
      <p:sp>
        <p:nvSpPr>
          <p:cNvPr id="6" name="TextBox 5"/>
          <p:cNvSpPr txBox="1"/>
          <p:nvPr/>
        </p:nvSpPr>
        <p:spPr>
          <a:xfrm>
            <a:off x="3336679" y="5882380"/>
            <a:ext cx="1896673" cy="523220"/>
          </a:xfrm>
          <a:prstGeom prst="rect">
            <a:avLst/>
          </a:prstGeom>
          <a:noFill/>
        </p:spPr>
        <p:txBody>
          <a:bodyPr wrap="none" rtlCol="0">
            <a:spAutoFit/>
          </a:bodyPr>
          <a:lstStyle/>
          <a:p>
            <a:r>
              <a:rPr lang="en-US" altLang="zh-CN" sz="2800" b="1" dirty="0">
                <a:solidFill>
                  <a:srgbClr val="FF0000"/>
                </a:solidFill>
              </a:rPr>
              <a:t>S-</a:t>
            </a:r>
            <a:r>
              <a:rPr lang="zh-CN" altLang="en-US" sz="2800" b="1" dirty="0">
                <a:solidFill>
                  <a:srgbClr val="FF0000"/>
                </a:solidFill>
              </a:rPr>
              <a:t>翻译模式</a:t>
            </a:r>
          </a:p>
        </p:txBody>
      </p:sp>
      <p:sp>
        <p:nvSpPr>
          <p:cNvPr id="3" name="灯片编号占位符 2">
            <a:extLst>
              <a:ext uri="{FF2B5EF4-FFF2-40B4-BE49-F238E27FC236}">
                <a16:creationId xmlns:a16="http://schemas.microsoft.com/office/drawing/2014/main" id="{934665C3-EC06-4F10-B710-E150FB48F51A}"/>
              </a:ext>
            </a:extLst>
          </p:cNvPr>
          <p:cNvSpPr>
            <a:spLocks noGrp="1"/>
          </p:cNvSpPr>
          <p:nvPr>
            <p:ph type="sldNum" sz="quarter" idx="4"/>
          </p:nvPr>
        </p:nvSpPr>
        <p:spPr/>
        <p:txBody>
          <a:bodyPr/>
          <a:lstStyle/>
          <a:p>
            <a:fld id="{565CE74E-AB26-4998-AD42-012C4C1AD076}" type="slidenum">
              <a:rPr lang="zh-CN" altLang="en-US" smtClean="0"/>
              <a:pPr/>
              <a:t>17</a:t>
            </a:fld>
            <a:endParaRPr lang="zh-CN" altLang="en-US"/>
          </a:p>
        </p:txBody>
      </p:sp>
    </p:spTree>
    <p:extLst>
      <p:ext uri="{BB962C8B-B14F-4D97-AF65-F5344CB8AC3E}">
        <p14:creationId xmlns:p14="http://schemas.microsoft.com/office/powerpoint/2010/main" val="3601364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语法制导的类型检查程序 （举例）</a:t>
            </a:r>
            <a:endParaRPr lang="en-US" altLang="zh-CN" dirty="0"/>
          </a:p>
          <a:p>
            <a:pPr lvl="1"/>
            <a:r>
              <a:rPr lang="zh-CN" altLang="en-US" dirty="0"/>
              <a:t>处理</a:t>
            </a:r>
            <a:r>
              <a:rPr lang="zh-CN" altLang="en-US" dirty="0">
                <a:solidFill>
                  <a:srgbClr val="FF0000"/>
                </a:solidFill>
              </a:rPr>
              <a:t>声明</a:t>
            </a:r>
            <a:r>
              <a:rPr lang="zh-CN" altLang="en-US" dirty="0"/>
              <a:t>的翻译模式</a:t>
            </a:r>
          </a:p>
          <a:p>
            <a:pPr lvl="1"/>
            <a:endParaRPr lang="en-US" altLang="zh-CN" dirty="0"/>
          </a:p>
          <a:p>
            <a:pPr lvl="1"/>
            <a:endParaRPr lang="zh-CN" altLang="en-US" dirty="0"/>
          </a:p>
        </p:txBody>
      </p:sp>
      <p:sp>
        <p:nvSpPr>
          <p:cNvPr id="4" name="Text Box 33"/>
          <p:cNvSpPr txBox="1">
            <a:spLocks noChangeArrowheads="1"/>
          </p:cNvSpPr>
          <p:nvPr/>
        </p:nvSpPr>
        <p:spPr bwMode="auto">
          <a:xfrm>
            <a:off x="800722" y="1927087"/>
            <a:ext cx="8135937" cy="3272691"/>
          </a:xfrm>
          <a:prstGeom prst="rect">
            <a:avLst/>
          </a:prstGeom>
          <a:noFill/>
          <a:ln w="9525">
            <a:noFill/>
            <a:miter lim="800000"/>
            <a:headEnd/>
            <a:tailEnd/>
          </a:ln>
        </p:spPr>
        <p:txBody>
          <a:bodyPr>
            <a:spAutoFit/>
          </a:bodyPr>
          <a:lstStyle/>
          <a:p>
            <a:pPr>
              <a:buClrTx/>
              <a:buFont typeface="Wingdings" pitchFamily="2" charset="2"/>
              <a:buNone/>
            </a:pPr>
            <a:endParaRPr lang="de-DE" altLang="zh-CN" sz="1000" dirty="0">
              <a:solidFill>
                <a:srgbClr val="0206AD"/>
              </a:solidFill>
              <a:sym typeface="Symbol" pitchFamily="18" charset="2"/>
            </a:endParaRPr>
          </a:p>
          <a:p>
            <a:pPr>
              <a:buClrTx/>
              <a:buFont typeface="Wingdings" pitchFamily="2" charset="2"/>
              <a:buNone/>
            </a:pPr>
            <a:r>
              <a:rPr lang="de-DE" altLang="zh-CN" sz="2000" i="1" dirty="0">
                <a:solidFill>
                  <a:srgbClr val="0206AD"/>
                </a:solidFill>
                <a:sym typeface="Symbol" pitchFamily="18" charset="2"/>
              </a:rPr>
              <a:t>V </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 </a:t>
            </a:r>
            <a:r>
              <a:rPr lang="en-US" altLang="zh-CN" sz="2000" dirty="0">
                <a:solidFill>
                  <a:srgbClr val="0206AD"/>
                </a:solidFill>
                <a:sym typeface="Symbol" pitchFamily="18" charset="2"/>
              </a:rPr>
              <a:t></a:t>
            </a:r>
            <a:r>
              <a:rPr lang="en-US" altLang="zh-CN" sz="2000" i="1" dirty="0">
                <a:solidFill>
                  <a:srgbClr val="0206AD"/>
                </a:solidFill>
                <a:sym typeface="Symbol" pitchFamily="18" charset="2"/>
              </a:rPr>
              <a:t>   </a:t>
            </a:r>
            <a:r>
              <a:rPr lang="de-DE" altLang="zh-CN" sz="2000" dirty="0">
                <a:solidFill>
                  <a:srgbClr val="0206AD"/>
                </a:solidFill>
                <a:sym typeface="Symbol" pitchFamily="18" charset="2"/>
              </a:rPr>
              <a:t>{</a:t>
            </a:r>
            <a:r>
              <a:rPr lang="de-DE" altLang="zh-CN" sz="2000" i="1" dirty="0">
                <a:solidFill>
                  <a:srgbClr val="0206AD"/>
                </a:solidFill>
                <a:sym typeface="Symbol" pitchFamily="18" charset="2"/>
              </a:rPr>
              <a:t> V.type := &lt;&gt; </a:t>
            </a:r>
            <a:r>
              <a:rPr lang="de-DE" altLang="zh-CN" sz="2000" dirty="0">
                <a:solidFill>
                  <a:srgbClr val="0206AD"/>
                </a:solidFill>
                <a:sym typeface="Symbol" pitchFamily="18" charset="2"/>
              </a:rPr>
              <a:t>} </a:t>
            </a:r>
            <a:endParaRPr lang="en-US" altLang="zh-CN" sz="2000" dirty="0">
              <a:solidFill>
                <a:srgbClr val="0206AD"/>
              </a:solidFill>
              <a:cs typeface="Times New Roman" pitchFamily="18" charset="0"/>
              <a:sym typeface="Symbol" pitchFamily="18" charset="2"/>
            </a:endParaRPr>
          </a:p>
          <a:p>
            <a:pPr>
              <a:buClrTx/>
              <a:buFont typeface="Wingdings" pitchFamily="2" charset="2"/>
              <a:buNone/>
            </a:pPr>
            <a:r>
              <a:rPr lang="en-US" altLang="zh-CN" sz="1000" i="1" dirty="0">
                <a:solidFill>
                  <a:srgbClr val="0206AD"/>
                </a:solidFill>
                <a:cs typeface="Times New Roman" pitchFamily="18" charset="0"/>
                <a:sym typeface="Symbol" pitchFamily="18" charset="2"/>
              </a:rPr>
              <a:t> </a:t>
            </a:r>
          </a:p>
          <a:p>
            <a:pPr>
              <a:buClrTx/>
              <a:buFont typeface="Wingdings" pitchFamily="2" charset="2"/>
              <a:buNone/>
            </a:pPr>
            <a:r>
              <a:rPr lang="en-US" altLang="zh-CN" sz="2000" i="1" dirty="0">
                <a:solidFill>
                  <a:srgbClr val="0206AD"/>
                </a:solidFill>
                <a:cs typeface="Times New Roman" pitchFamily="18" charset="0"/>
                <a:sym typeface="Symbol" pitchFamily="18" charset="2"/>
              </a:rPr>
              <a:t>T </a:t>
            </a:r>
            <a:r>
              <a:rPr lang="en-US" altLang="zh-CN" sz="2000" dirty="0">
                <a:solidFill>
                  <a:srgbClr val="0206AD"/>
                </a:solidFill>
                <a:ea typeface="华文行楷" pitchFamily="2" charset="-122"/>
                <a:cs typeface="Times New Roman" pitchFamily="18" charset="0"/>
                <a:sym typeface="Symbol" pitchFamily="18" charset="2"/>
              </a:rPr>
              <a:t></a:t>
            </a:r>
            <a:r>
              <a:rPr lang="en-US" altLang="zh-CN" sz="2000" i="1" dirty="0">
                <a:solidFill>
                  <a:srgbClr val="0206AD"/>
                </a:solidFill>
                <a:ea typeface="华文行楷" pitchFamily="2" charset="-122"/>
                <a:cs typeface="Times New Roman" pitchFamily="18" charset="0"/>
                <a:sym typeface="Symbol" pitchFamily="18" charset="2"/>
              </a:rPr>
              <a:t> </a:t>
            </a:r>
            <a:r>
              <a:rPr lang="en-US" altLang="zh-CN" sz="2000" dirty="0" err="1">
                <a:solidFill>
                  <a:srgbClr val="0206AD"/>
                </a:solidFill>
                <a:ea typeface="华文行楷" pitchFamily="2" charset="-122"/>
                <a:cs typeface="Times New Roman" pitchFamily="18" charset="0"/>
                <a:sym typeface="Symbol" pitchFamily="18" charset="2"/>
              </a:rPr>
              <a:t>boolean</a:t>
            </a:r>
            <a:r>
              <a:rPr lang="en-US" altLang="zh-CN" sz="2000" dirty="0">
                <a:solidFill>
                  <a:srgbClr val="0206AD"/>
                </a:solidFill>
                <a:ea typeface="华文行楷" pitchFamily="2" charset="-122"/>
                <a:cs typeface="Times New Roman" pitchFamily="18" charset="0"/>
                <a:sym typeface="Symbol" pitchFamily="18" charset="2"/>
              </a:rPr>
              <a:t>   </a:t>
            </a:r>
            <a:r>
              <a:rPr lang="de-DE" altLang="zh-CN" sz="2000" dirty="0">
                <a:solidFill>
                  <a:srgbClr val="0206AD"/>
                </a:solidFill>
                <a:sym typeface="Symbol" pitchFamily="18" charset="2"/>
              </a:rPr>
              <a:t>{</a:t>
            </a:r>
            <a:r>
              <a:rPr lang="de-DE" altLang="zh-CN" sz="2000" i="1" dirty="0">
                <a:solidFill>
                  <a:srgbClr val="0206AD"/>
                </a:solidFill>
                <a:sym typeface="Symbol" pitchFamily="18" charset="2"/>
              </a:rPr>
              <a:t> T.type </a:t>
            </a:r>
            <a:r>
              <a:rPr lang="de-DE" altLang="zh-CN" sz="2000" dirty="0">
                <a:solidFill>
                  <a:srgbClr val="0206AD"/>
                </a:solidFill>
                <a:sym typeface="Symbol" pitchFamily="18" charset="2"/>
              </a:rPr>
              <a:t>:=</a:t>
            </a:r>
            <a:r>
              <a:rPr lang="de-DE" altLang="zh-CN" sz="2000" i="1" dirty="0">
                <a:solidFill>
                  <a:srgbClr val="0206AD"/>
                </a:solidFill>
                <a:sym typeface="Symbol" pitchFamily="18" charset="2"/>
              </a:rPr>
              <a:t> bool </a:t>
            </a:r>
            <a:r>
              <a:rPr lang="de-DE" altLang="zh-CN" sz="2000" dirty="0">
                <a:solidFill>
                  <a:srgbClr val="0206AD"/>
                </a:solidFill>
                <a:sym typeface="Symbol" pitchFamily="18" charset="2"/>
              </a:rPr>
              <a:t>} </a:t>
            </a:r>
          </a:p>
          <a:p>
            <a:pPr>
              <a:buClrTx/>
              <a:buFont typeface="Wingdings" pitchFamily="2" charset="2"/>
              <a:buNone/>
            </a:pPr>
            <a:endParaRPr lang="en-US" altLang="zh-CN" sz="1000" dirty="0">
              <a:solidFill>
                <a:srgbClr val="0206AD"/>
              </a:solidFill>
              <a:ea typeface="华文行楷" pitchFamily="2" charset="-122"/>
              <a:sym typeface="Symbol" pitchFamily="18" charset="2"/>
            </a:endParaRPr>
          </a:p>
          <a:p>
            <a:pPr>
              <a:buClrTx/>
              <a:buFont typeface="Wingdings" pitchFamily="2" charset="2"/>
              <a:buNone/>
            </a:pPr>
            <a:r>
              <a:rPr lang="en-US" altLang="zh-CN" sz="2000" i="1" dirty="0">
                <a:solidFill>
                  <a:srgbClr val="0206AD"/>
                </a:solidFill>
                <a:sym typeface="Symbol" pitchFamily="18" charset="2"/>
              </a:rPr>
              <a:t>T </a:t>
            </a:r>
            <a:r>
              <a:rPr lang="en-US" altLang="zh-CN" sz="2000" dirty="0">
                <a:solidFill>
                  <a:srgbClr val="0206AD"/>
                </a:solidFill>
                <a:ea typeface="华文行楷" pitchFamily="2" charset="-122"/>
                <a:sym typeface="Symbol" pitchFamily="18" charset="2"/>
              </a:rPr>
              <a:t></a:t>
            </a:r>
            <a:r>
              <a:rPr lang="en-US" altLang="zh-CN" sz="2000" i="1" dirty="0">
                <a:solidFill>
                  <a:srgbClr val="0206AD"/>
                </a:solidFill>
                <a:ea typeface="华文行楷" pitchFamily="2" charset="-122"/>
                <a:sym typeface="Symbol" pitchFamily="18" charset="2"/>
              </a:rPr>
              <a:t> </a:t>
            </a:r>
            <a:r>
              <a:rPr lang="en-US" altLang="zh-CN" sz="2000" dirty="0">
                <a:solidFill>
                  <a:srgbClr val="0206AD"/>
                </a:solidFill>
                <a:ea typeface="华文行楷" pitchFamily="2" charset="-122"/>
                <a:sym typeface="Symbol" pitchFamily="18" charset="2"/>
              </a:rPr>
              <a:t>integer     </a:t>
            </a:r>
            <a:r>
              <a:rPr lang="de-DE" altLang="zh-CN" sz="2000" dirty="0">
                <a:solidFill>
                  <a:srgbClr val="0206AD"/>
                </a:solidFill>
                <a:sym typeface="Symbol" pitchFamily="18" charset="2"/>
              </a:rPr>
              <a:t>{</a:t>
            </a:r>
            <a:r>
              <a:rPr lang="de-DE" altLang="zh-CN" sz="2000" i="1" dirty="0">
                <a:solidFill>
                  <a:srgbClr val="0206AD"/>
                </a:solidFill>
                <a:sym typeface="Symbol" pitchFamily="18" charset="2"/>
              </a:rPr>
              <a:t> T.type </a:t>
            </a:r>
            <a:r>
              <a:rPr lang="de-DE" altLang="zh-CN" sz="2000" dirty="0">
                <a:solidFill>
                  <a:srgbClr val="0206AD"/>
                </a:solidFill>
                <a:sym typeface="Symbol" pitchFamily="18" charset="2"/>
              </a:rPr>
              <a:t>:=</a:t>
            </a:r>
            <a:r>
              <a:rPr lang="de-DE" altLang="zh-CN" sz="2000" i="1" dirty="0">
                <a:solidFill>
                  <a:srgbClr val="0206AD"/>
                </a:solidFill>
                <a:sym typeface="Symbol" pitchFamily="18" charset="2"/>
              </a:rPr>
              <a:t> int </a:t>
            </a:r>
            <a:r>
              <a:rPr lang="de-DE" altLang="zh-CN" sz="2000" dirty="0">
                <a:solidFill>
                  <a:srgbClr val="0206AD"/>
                </a:solidFill>
                <a:sym typeface="Symbol" pitchFamily="18" charset="2"/>
              </a:rPr>
              <a:t>} </a:t>
            </a:r>
          </a:p>
          <a:p>
            <a:pPr>
              <a:buClrTx/>
              <a:buFont typeface="Wingdings" pitchFamily="2" charset="2"/>
              <a:buNone/>
            </a:pPr>
            <a:endParaRPr lang="en-US" altLang="zh-CN" sz="1000" dirty="0">
              <a:solidFill>
                <a:srgbClr val="0206AD"/>
              </a:solidFill>
              <a:ea typeface="华文行楷" pitchFamily="2" charset="-122"/>
              <a:sym typeface="Symbol" pitchFamily="18" charset="2"/>
            </a:endParaRPr>
          </a:p>
          <a:p>
            <a:pPr>
              <a:buClrTx/>
              <a:buFont typeface="Wingdings" pitchFamily="2" charset="2"/>
              <a:buNone/>
            </a:pPr>
            <a:r>
              <a:rPr lang="en-US" altLang="zh-CN" sz="2000" i="1" dirty="0">
                <a:solidFill>
                  <a:srgbClr val="0206AD"/>
                </a:solidFill>
                <a:sym typeface="Symbol" pitchFamily="18" charset="2"/>
              </a:rPr>
              <a:t>T </a:t>
            </a:r>
            <a:r>
              <a:rPr lang="en-US" altLang="zh-CN" sz="2000" dirty="0">
                <a:solidFill>
                  <a:srgbClr val="0206AD"/>
                </a:solidFill>
                <a:ea typeface="华文行楷" pitchFamily="2" charset="-122"/>
                <a:sym typeface="Symbol" pitchFamily="18" charset="2"/>
              </a:rPr>
              <a:t></a:t>
            </a:r>
            <a:r>
              <a:rPr lang="en-US" altLang="zh-CN" sz="2000" i="1" dirty="0">
                <a:solidFill>
                  <a:srgbClr val="0206AD"/>
                </a:solidFill>
                <a:ea typeface="华文行楷" pitchFamily="2" charset="-122"/>
                <a:sym typeface="Symbol" pitchFamily="18" charset="2"/>
              </a:rPr>
              <a:t> </a:t>
            </a:r>
            <a:r>
              <a:rPr lang="en-US" altLang="zh-CN" sz="2000" dirty="0">
                <a:solidFill>
                  <a:srgbClr val="0206AD"/>
                </a:solidFill>
                <a:ea typeface="华文行楷" pitchFamily="2" charset="-122"/>
                <a:sym typeface="Symbol" pitchFamily="18" charset="2"/>
              </a:rPr>
              <a:t>real</a:t>
            </a:r>
            <a:r>
              <a:rPr lang="en-US" altLang="zh-CN" sz="2000" i="1" dirty="0">
                <a:solidFill>
                  <a:srgbClr val="0206AD"/>
                </a:solidFill>
                <a:ea typeface="华文行楷" pitchFamily="2" charset="-122"/>
                <a:sym typeface="Symbol" pitchFamily="18" charset="2"/>
              </a:rPr>
              <a:t>          </a:t>
            </a:r>
            <a:r>
              <a:rPr lang="en-US" altLang="zh-CN" sz="2000" i="1" dirty="0">
                <a:solidFill>
                  <a:srgbClr val="0206AD"/>
                </a:solidFill>
                <a:sym typeface="Symbol" pitchFamily="18" charset="2"/>
              </a:rPr>
              <a:t>{ </a:t>
            </a:r>
            <a:r>
              <a:rPr lang="en-US" altLang="zh-CN" sz="2000" i="1" dirty="0" err="1">
                <a:solidFill>
                  <a:srgbClr val="0206AD"/>
                </a:solidFill>
                <a:sym typeface="Symbol" pitchFamily="18" charset="2"/>
              </a:rPr>
              <a:t>T.type</a:t>
            </a:r>
            <a:r>
              <a:rPr lang="en-US" altLang="zh-CN" sz="2000" i="1" dirty="0">
                <a:solidFill>
                  <a:srgbClr val="0206AD"/>
                </a:solidFill>
                <a:sym typeface="Symbol" pitchFamily="18" charset="2"/>
              </a:rPr>
              <a:t> := real}</a:t>
            </a:r>
            <a:r>
              <a:rPr lang="en-US" altLang="zh-CN" sz="2000" dirty="0">
                <a:solidFill>
                  <a:srgbClr val="0206AD"/>
                </a:solidFill>
                <a:sym typeface="Symbol" pitchFamily="18" charset="2"/>
              </a:rPr>
              <a:t> </a:t>
            </a:r>
          </a:p>
          <a:p>
            <a:pPr>
              <a:buClrTx/>
              <a:buFont typeface="Wingdings" pitchFamily="2" charset="2"/>
              <a:buNone/>
            </a:pPr>
            <a:endParaRPr lang="en-US" altLang="zh-CN" sz="1000" i="1" dirty="0">
              <a:solidFill>
                <a:srgbClr val="0206AD"/>
              </a:solidFill>
              <a:sym typeface="Symbol" pitchFamily="18" charset="2"/>
            </a:endParaRPr>
          </a:p>
          <a:p>
            <a:pPr>
              <a:buClrTx/>
              <a:buFont typeface="Wingdings" pitchFamily="2" charset="2"/>
              <a:buNone/>
            </a:pPr>
            <a:r>
              <a:rPr lang="en-US" altLang="zh-CN" sz="2000" i="1" dirty="0">
                <a:solidFill>
                  <a:srgbClr val="0206AD"/>
                </a:solidFill>
                <a:sym typeface="Symbol" pitchFamily="18" charset="2"/>
              </a:rPr>
              <a:t>T </a:t>
            </a:r>
            <a:r>
              <a:rPr lang="en-US" altLang="zh-CN" sz="2000" dirty="0">
                <a:solidFill>
                  <a:srgbClr val="0206AD"/>
                </a:solidFill>
                <a:ea typeface="华文行楷" pitchFamily="2" charset="-122"/>
                <a:sym typeface="Symbol" pitchFamily="18" charset="2"/>
              </a:rPr>
              <a:t></a:t>
            </a:r>
            <a:r>
              <a:rPr lang="en-US" altLang="zh-CN" sz="2000" i="1" dirty="0">
                <a:solidFill>
                  <a:srgbClr val="0206AD"/>
                </a:solidFill>
                <a:sym typeface="Symbol" pitchFamily="18" charset="2"/>
              </a:rPr>
              <a:t> </a:t>
            </a:r>
            <a:r>
              <a:rPr lang="en-US" altLang="zh-CN" sz="2000" dirty="0">
                <a:solidFill>
                  <a:srgbClr val="0206AD"/>
                </a:solidFill>
                <a:sym typeface="Symbol" pitchFamily="18" charset="2"/>
              </a:rPr>
              <a:t> </a:t>
            </a:r>
            <a:r>
              <a:rPr lang="en-US" altLang="zh-CN" sz="2000" i="1" dirty="0">
                <a:solidFill>
                  <a:srgbClr val="0206AD"/>
                </a:solidFill>
                <a:sym typeface="Symbol" pitchFamily="18" charset="2"/>
              </a:rPr>
              <a:t>T</a:t>
            </a:r>
            <a:r>
              <a:rPr lang="en-US" altLang="zh-CN" sz="2000" baseline="-25000" dirty="0">
                <a:solidFill>
                  <a:srgbClr val="0206AD"/>
                </a:solidFill>
                <a:sym typeface="Symbol" pitchFamily="18" charset="2"/>
              </a:rPr>
              <a:t>1    </a:t>
            </a:r>
            <a:r>
              <a:rPr lang="fr-FR" altLang="zh-CN" sz="2000" dirty="0">
                <a:solidFill>
                  <a:srgbClr val="0206AD"/>
                </a:solidFill>
                <a:sym typeface="Symbol" pitchFamily="18" charset="2"/>
              </a:rPr>
              <a:t>  {</a:t>
            </a:r>
            <a:r>
              <a:rPr lang="fr-FR" altLang="zh-CN" sz="2000" i="1" dirty="0">
                <a:solidFill>
                  <a:srgbClr val="0206AD"/>
                </a:solidFill>
                <a:sym typeface="Symbol" pitchFamily="18" charset="2"/>
              </a:rPr>
              <a:t> T.type </a:t>
            </a:r>
            <a:r>
              <a:rPr lang="fr-FR" altLang="zh-CN" sz="2000" dirty="0">
                <a:solidFill>
                  <a:srgbClr val="0206AD"/>
                </a:solidFill>
                <a:sym typeface="Symbol" pitchFamily="18" charset="2"/>
              </a:rPr>
              <a:t>:=</a:t>
            </a:r>
            <a:r>
              <a:rPr lang="fr-FR" altLang="zh-CN" sz="2000" i="1" dirty="0">
                <a:solidFill>
                  <a:srgbClr val="0206AD"/>
                </a:solidFill>
                <a:sym typeface="Symbol" pitchFamily="18" charset="2"/>
              </a:rPr>
              <a:t> pointer</a:t>
            </a:r>
            <a:r>
              <a:rPr lang="fr-FR" altLang="zh-CN" sz="2000" dirty="0">
                <a:solidFill>
                  <a:srgbClr val="0206AD"/>
                </a:solidFill>
                <a:sym typeface="Symbol" pitchFamily="18" charset="2"/>
              </a:rPr>
              <a:t>(</a:t>
            </a:r>
            <a:r>
              <a:rPr lang="fr-FR" altLang="zh-CN" sz="2000" i="1" dirty="0">
                <a:solidFill>
                  <a:srgbClr val="0206AD"/>
                </a:solidFill>
                <a:sym typeface="Symbol" pitchFamily="18" charset="2"/>
              </a:rPr>
              <a:t>T</a:t>
            </a:r>
            <a:r>
              <a:rPr lang="fr-FR" altLang="zh-CN" sz="2000" dirty="0">
                <a:solidFill>
                  <a:srgbClr val="0206AD"/>
                </a:solidFill>
                <a:sym typeface="Symbol" pitchFamily="18" charset="2"/>
              </a:rPr>
              <a:t>1</a:t>
            </a:r>
            <a:r>
              <a:rPr lang="fr-FR" altLang="zh-CN" sz="2000" i="1" dirty="0">
                <a:solidFill>
                  <a:srgbClr val="0206AD"/>
                </a:solidFill>
                <a:sym typeface="Symbol" pitchFamily="18" charset="2"/>
              </a:rPr>
              <a:t>.type</a:t>
            </a:r>
            <a:r>
              <a:rPr lang="fr-FR" altLang="zh-CN" sz="2000" dirty="0">
                <a:solidFill>
                  <a:srgbClr val="0206AD"/>
                </a:solidFill>
                <a:sym typeface="Symbol" pitchFamily="18" charset="2"/>
              </a:rPr>
              <a:t>) } </a:t>
            </a:r>
          </a:p>
          <a:p>
            <a:pPr>
              <a:buClrTx/>
              <a:buFont typeface="Wingdings" pitchFamily="2" charset="2"/>
              <a:buNone/>
            </a:pPr>
            <a:endParaRPr lang="en-US" altLang="zh-CN" sz="1000" baseline="-25000" dirty="0">
              <a:solidFill>
                <a:srgbClr val="0206AD"/>
              </a:solidFill>
              <a:sym typeface="Symbol" pitchFamily="18" charset="2"/>
            </a:endParaRPr>
          </a:p>
          <a:p>
            <a:pPr>
              <a:buFont typeface="Wingdings" pitchFamily="2" charset="2"/>
              <a:buNone/>
            </a:pPr>
            <a:r>
              <a:rPr lang="fr-FR" altLang="zh-CN" sz="2000" i="1" dirty="0">
                <a:solidFill>
                  <a:srgbClr val="0206AD"/>
                </a:solidFill>
                <a:sym typeface="Symbol" pitchFamily="18" charset="2"/>
              </a:rPr>
              <a:t>L </a:t>
            </a:r>
            <a:r>
              <a:rPr lang="en-US" altLang="zh-CN" sz="2000" dirty="0">
                <a:solidFill>
                  <a:srgbClr val="0206AD"/>
                </a:solidFill>
                <a:sym typeface="Symbol" pitchFamily="18" charset="2"/>
              </a:rPr>
              <a:t> </a:t>
            </a:r>
            <a:r>
              <a:rPr lang="fr-FR" altLang="zh-CN" sz="2000" dirty="0">
                <a:solidFill>
                  <a:srgbClr val="0206AD"/>
                </a:solidFill>
                <a:sym typeface="Symbol" pitchFamily="18" charset="2"/>
              </a:rPr>
              <a:t>{</a:t>
            </a:r>
            <a:r>
              <a:rPr lang="fr-FR" altLang="zh-CN" sz="2000" i="1" dirty="0">
                <a:solidFill>
                  <a:srgbClr val="0206AD"/>
                </a:solidFill>
                <a:sym typeface="Symbol" pitchFamily="18" charset="2"/>
              </a:rPr>
              <a:t> L</a:t>
            </a:r>
            <a:r>
              <a:rPr lang="fr-FR" altLang="zh-CN" sz="2000" baseline="-25000" dirty="0">
                <a:solidFill>
                  <a:srgbClr val="0206AD"/>
                </a:solidFill>
                <a:sym typeface="Symbol" pitchFamily="18" charset="2"/>
              </a:rPr>
              <a:t>1</a:t>
            </a:r>
            <a:r>
              <a:rPr lang="fr-FR" altLang="zh-CN" sz="2000" b="1" i="1" dirty="0">
                <a:solidFill>
                  <a:srgbClr val="0206AD"/>
                </a:solidFill>
                <a:sym typeface="Symbol" pitchFamily="18" charset="2"/>
              </a:rPr>
              <a:t>.</a:t>
            </a:r>
            <a:r>
              <a:rPr lang="fr-FR" altLang="zh-CN" sz="2000" i="1" dirty="0">
                <a:solidFill>
                  <a:srgbClr val="0206AD"/>
                </a:solidFill>
                <a:sym typeface="Symbol" pitchFamily="18" charset="2"/>
              </a:rPr>
              <a:t>in</a:t>
            </a:r>
            <a:r>
              <a:rPr lang="fr-FR" altLang="zh-CN" sz="2000" dirty="0">
                <a:solidFill>
                  <a:srgbClr val="0206AD"/>
                </a:solidFill>
                <a:sym typeface="Symbol" pitchFamily="18" charset="2"/>
              </a:rPr>
              <a:t> := </a:t>
            </a:r>
            <a:r>
              <a:rPr lang="fr-FR" altLang="zh-CN" sz="2000" i="1" dirty="0">
                <a:solidFill>
                  <a:srgbClr val="0206AD"/>
                </a:solidFill>
                <a:sym typeface="Symbol" pitchFamily="18" charset="2"/>
              </a:rPr>
              <a:t>L</a:t>
            </a:r>
            <a:r>
              <a:rPr lang="fr-FR" altLang="zh-CN" sz="2000" b="1" i="1" dirty="0">
                <a:solidFill>
                  <a:srgbClr val="0206AD"/>
                </a:solidFill>
                <a:sym typeface="Symbol" pitchFamily="18" charset="2"/>
              </a:rPr>
              <a:t>.</a:t>
            </a:r>
            <a:r>
              <a:rPr lang="fr-FR" altLang="zh-CN" sz="2000" i="1" dirty="0">
                <a:solidFill>
                  <a:srgbClr val="0206AD"/>
                </a:solidFill>
                <a:sym typeface="Symbol" pitchFamily="18" charset="2"/>
              </a:rPr>
              <a:t>in</a:t>
            </a:r>
            <a:r>
              <a:rPr lang="fr-FR" altLang="zh-CN" sz="2000" dirty="0">
                <a:solidFill>
                  <a:srgbClr val="0206AD"/>
                </a:solidFill>
                <a:sym typeface="Symbol" pitchFamily="18" charset="2"/>
              </a:rPr>
              <a:t> } </a:t>
            </a:r>
            <a:r>
              <a:rPr lang="fr-FR" altLang="zh-CN" sz="2000" i="1" dirty="0">
                <a:solidFill>
                  <a:srgbClr val="0206AD"/>
                </a:solidFill>
                <a:sym typeface="Symbol" pitchFamily="18" charset="2"/>
              </a:rPr>
              <a:t>L</a:t>
            </a:r>
            <a:r>
              <a:rPr lang="fr-FR" altLang="zh-CN" sz="2000" baseline="-25000" dirty="0">
                <a:solidFill>
                  <a:srgbClr val="0206AD"/>
                </a:solidFill>
                <a:sym typeface="Symbol" pitchFamily="18" charset="2"/>
              </a:rPr>
              <a:t>1</a:t>
            </a:r>
            <a:r>
              <a:rPr lang="fr-FR" altLang="zh-CN" sz="2000" dirty="0">
                <a:solidFill>
                  <a:srgbClr val="0206AD"/>
                </a:solidFill>
                <a:sym typeface="Symbol" pitchFamily="18" charset="2"/>
              </a:rPr>
              <a:t>, </a:t>
            </a:r>
            <a:r>
              <a:rPr lang="fr-FR" altLang="zh-CN" sz="2000" u="sng" dirty="0">
                <a:solidFill>
                  <a:srgbClr val="0206AD"/>
                </a:solidFill>
                <a:sym typeface="Symbol" pitchFamily="18" charset="2"/>
              </a:rPr>
              <a:t>id</a:t>
            </a:r>
            <a:r>
              <a:rPr lang="fr-FR" altLang="zh-CN" sz="2000" i="1" dirty="0">
                <a:solidFill>
                  <a:srgbClr val="0206AD"/>
                </a:solidFill>
                <a:sym typeface="Symbol" pitchFamily="18" charset="2"/>
              </a:rPr>
              <a:t> </a:t>
            </a:r>
            <a:r>
              <a:rPr lang="fr-FR" altLang="zh-CN" sz="2000" dirty="0">
                <a:solidFill>
                  <a:srgbClr val="0206AD"/>
                </a:solidFill>
                <a:sym typeface="Symbol" pitchFamily="18" charset="2"/>
              </a:rPr>
              <a:t>{</a:t>
            </a:r>
            <a:r>
              <a:rPr lang="fr-FR" altLang="zh-CN" sz="2000" i="1" dirty="0">
                <a:solidFill>
                  <a:srgbClr val="0206AD"/>
                </a:solidFill>
                <a:sym typeface="Symbol" pitchFamily="18" charset="2"/>
              </a:rPr>
              <a:t>addtype</a:t>
            </a:r>
            <a:r>
              <a:rPr lang="fr-FR" altLang="zh-CN" sz="2000" dirty="0">
                <a:solidFill>
                  <a:srgbClr val="0206AD"/>
                </a:solidFill>
                <a:sym typeface="Symbol" pitchFamily="18" charset="2"/>
              </a:rPr>
              <a:t>(</a:t>
            </a:r>
            <a:r>
              <a:rPr lang="fr-FR" altLang="zh-CN" sz="2000" u="sng" dirty="0">
                <a:solidFill>
                  <a:srgbClr val="0206AD"/>
                </a:solidFill>
                <a:sym typeface="Symbol" pitchFamily="18" charset="2"/>
              </a:rPr>
              <a:t>id</a:t>
            </a:r>
            <a:r>
              <a:rPr lang="fr-FR" altLang="zh-CN" sz="2000" i="1" dirty="0">
                <a:solidFill>
                  <a:srgbClr val="0206AD"/>
                </a:solidFill>
                <a:sym typeface="Symbol" pitchFamily="18" charset="2"/>
              </a:rPr>
              <a:t>.entry</a:t>
            </a:r>
            <a:r>
              <a:rPr lang="fr-FR" altLang="zh-CN" sz="2000" dirty="0">
                <a:solidFill>
                  <a:srgbClr val="0206AD"/>
                </a:solidFill>
                <a:sym typeface="Symbol" pitchFamily="18" charset="2"/>
              </a:rPr>
              <a:t>, </a:t>
            </a:r>
            <a:r>
              <a:rPr lang="fr-FR" altLang="zh-CN" sz="2000" i="1" dirty="0">
                <a:solidFill>
                  <a:srgbClr val="0206AD"/>
                </a:solidFill>
                <a:sym typeface="Symbol" pitchFamily="18" charset="2"/>
              </a:rPr>
              <a:t>L.in</a:t>
            </a:r>
            <a:r>
              <a:rPr lang="fr-FR" altLang="zh-CN" sz="2000" dirty="0">
                <a:solidFill>
                  <a:srgbClr val="0206AD"/>
                </a:solidFill>
                <a:sym typeface="Symbol" pitchFamily="18" charset="2"/>
              </a:rPr>
              <a:t>) ; </a:t>
            </a:r>
            <a:r>
              <a:rPr lang="fr-FR" altLang="zh-CN" sz="2000" i="1" dirty="0">
                <a:solidFill>
                  <a:srgbClr val="0206AD"/>
                </a:solidFill>
                <a:sym typeface="Symbol" pitchFamily="18" charset="2"/>
              </a:rPr>
              <a:t>L.num </a:t>
            </a:r>
            <a:r>
              <a:rPr lang="fr-FR" altLang="zh-CN" sz="2000" dirty="0">
                <a:solidFill>
                  <a:srgbClr val="0206AD"/>
                </a:solidFill>
                <a:sym typeface="Symbol" pitchFamily="18" charset="2"/>
              </a:rPr>
              <a:t>:=</a:t>
            </a:r>
            <a:r>
              <a:rPr lang="fr-FR" altLang="zh-CN" sz="2000" i="1" dirty="0">
                <a:solidFill>
                  <a:srgbClr val="0206AD"/>
                </a:solidFill>
                <a:sym typeface="Symbol" pitchFamily="18" charset="2"/>
              </a:rPr>
              <a:t> L</a:t>
            </a:r>
            <a:r>
              <a:rPr lang="fr-FR" altLang="zh-CN" sz="2000" baseline="-25000" dirty="0">
                <a:solidFill>
                  <a:srgbClr val="0206AD"/>
                </a:solidFill>
                <a:sym typeface="Symbol" pitchFamily="18" charset="2"/>
              </a:rPr>
              <a:t>1</a:t>
            </a:r>
            <a:r>
              <a:rPr lang="fr-FR" altLang="zh-CN" sz="2000" i="1" dirty="0">
                <a:solidFill>
                  <a:srgbClr val="0206AD"/>
                </a:solidFill>
                <a:sym typeface="Symbol" pitchFamily="18" charset="2"/>
              </a:rPr>
              <a:t>.num</a:t>
            </a:r>
            <a:r>
              <a:rPr lang="fr-FR" altLang="zh-CN" sz="2000" dirty="0">
                <a:solidFill>
                  <a:srgbClr val="0206AD"/>
                </a:solidFill>
                <a:sym typeface="Symbol" pitchFamily="18" charset="2"/>
              </a:rPr>
              <a:t> +1 }</a:t>
            </a:r>
          </a:p>
          <a:p>
            <a:pPr>
              <a:buFont typeface="Wingdings" pitchFamily="2" charset="2"/>
              <a:buNone/>
            </a:pPr>
            <a:endParaRPr lang="fr-FR" altLang="zh-CN" sz="1000" i="1" dirty="0">
              <a:solidFill>
                <a:srgbClr val="0206AD"/>
              </a:solidFill>
              <a:sym typeface="Symbol" pitchFamily="18" charset="2"/>
            </a:endParaRPr>
          </a:p>
          <a:p>
            <a:pPr>
              <a:buFont typeface="Wingdings" pitchFamily="2" charset="2"/>
              <a:buNone/>
            </a:pPr>
            <a:r>
              <a:rPr lang="fr-FR" altLang="zh-CN" sz="2000" i="1" dirty="0">
                <a:solidFill>
                  <a:srgbClr val="0206AD"/>
                </a:solidFill>
                <a:sym typeface="Symbol" pitchFamily="18" charset="2"/>
              </a:rPr>
              <a:t>L </a:t>
            </a:r>
            <a:r>
              <a:rPr lang="en-US" altLang="zh-CN" sz="2000" dirty="0">
                <a:solidFill>
                  <a:srgbClr val="0206AD"/>
                </a:solidFill>
                <a:sym typeface="Symbol" pitchFamily="18" charset="2"/>
              </a:rPr>
              <a:t> </a:t>
            </a:r>
            <a:r>
              <a:rPr lang="fr-FR" altLang="zh-CN" sz="2000" u="sng" dirty="0">
                <a:solidFill>
                  <a:srgbClr val="0206AD"/>
                </a:solidFill>
                <a:sym typeface="Symbol" pitchFamily="18" charset="2"/>
              </a:rPr>
              <a:t>id</a:t>
            </a:r>
            <a:r>
              <a:rPr lang="fr-FR" altLang="zh-CN" sz="2000" i="1" dirty="0">
                <a:solidFill>
                  <a:srgbClr val="0206AD"/>
                </a:solidFill>
                <a:sym typeface="Symbol" pitchFamily="18" charset="2"/>
              </a:rPr>
              <a:t> </a:t>
            </a:r>
            <a:r>
              <a:rPr lang="fr-FR" altLang="zh-CN" sz="2000" b="1" dirty="0">
                <a:solidFill>
                  <a:srgbClr val="0206AD"/>
                </a:solidFill>
                <a:sym typeface="Symbol" pitchFamily="18" charset="2"/>
              </a:rPr>
              <a:t>                    </a:t>
            </a:r>
            <a:r>
              <a:rPr lang="fr-FR" altLang="zh-CN" sz="2000" dirty="0">
                <a:solidFill>
                  <a:srgbClr val="0206AD"/>
                </a:solidFill>
                <a:sym typeface="Symbol" pitchFamily="18" charset="2"/>
              </a:rPr>
              <a:t>{</a:t>
            </a:r>
            <a:r>
              <a:rPr lang="fr-FR" altLang="zh-CN" sz="2000" i="1" dirty="0">
                <a:solidFill>
                  <a:srgbClr val="0206AD"/>
                </a:solidFill>
                <a:sym typeface="Symbol" pitchFamily="18" charset="2"/>
              </a:rPr>
              <a:t> addtype</a:t>
            </a:r>
            <a:r>
              <a:rPr lang="fr-FR" altLang="zh-CN" sz="2000" dirty="0">
                <a:solidFill>
                  <a:srgbClr val="0206AD"/>
                </a:solidFill>
                <a:sym typeface="Symbol" pitchFamily="18" charset="2"/>
              </a:rPr>
              <a:t>(</a:t>
            </a:r>
            <a:r>
              <a:rPr lang="fr-FR" altLang="zh-CN" sz="2000" u="sng" dirty="0">
                <a:solidFill>
                  <a:srgbClr val="0206AD"/>
                </a:solidFill>
                <a:sym typeface="Symbol" pitchFamily="18" charset="2"/>
              </a:rPr>
              <a:t>id</a:t>
            </a:r>
            <a:r>
              <a:rPr lang="fr-FR" altLang="zh-CN" sz="2000" i="1" dirty="0">
                <a:solidFill>
                  <a:srgbClr val="0206AD"/>
                </a:solidFill>
                <a:sym typeface="Symbol" pitchFamily="18" charset="2"/>
              </a:rPr>
              <a:t>.entry</a:t>
            </a:r>
            <a:r>
              <a:rPr lang="fr-FR" altLang="zh-CN" sz="2000" dirty="0">
                <a:solidFill>
                  <a:srgbClr val="0206AD"/>
                </a:solidFill>
                <a:sym typeface="Symbol" pitchFamily="18" charset="2"/>
              </a:rPr>
              <a:t>, </a:t>
            </a:r>
            <a:r>
              <a:rPr lang="fr-FR" altLang="zh-CN" sz="2000" i="1" dirty="0">
                <a:solidFill>
                  <a:srgbClr val="0206AD"/>
                </a:solidFill>
                <a:sym typeface="Symbol" pitchFamily="18" charset="2"/>
              </a:rPr>
              <a:t>L.in</a:t>
            </a:r>
            <a:r>
              <a:rPr lang="fr-FR" altLang="zh-CN" sz="2000" dirty="0">
                <a:solidFill>
                  <a:srgbClr val="0206AD"/>
                </a:solidFill>
                <a:sym typeface="Symbol" pitchFamily="18" charset="2"/>
              </a:rPr>
              <a:t>); </a:t>
            </a:r>
            <a:r>
              <a:rPr lang="fr-FR" altLang="zh-CN" sz="2000" i="1" dirty="0">
                <a:solidFill>
                  <a:srgbClr val="0206AD"/>
                </a:solidFill>
                <a:sym typeface="Symbol" pitchFamily="18" charset="2"/>
              </a:rPr>
              <a:t>L.num </a:t>
            </a:r>
            <a:r>
              <a:rPr lang="fr-FR" altLang="zh-CN" sz="2000" dirty="0">
                <a:solidFill>
                  <a:srgbClr val="0206AD"/>
                </a:solidFill>
                <a:sym typeface="Symbol" pitchFamily="18" charset="2"/>
              </a:rPr>
              <a:t>:=</a:t>
            </a:r>
            <a:r>
              <a:rPr lang="fr-FR" altLang="zh-CN" sz="2000" i="1" dirty="0">
                <a:solidFill>
                  <a:srgbClr val="0206AD"/>
                </a:solidFill>
                <a:sym typeface="Symbol" pitchFamily="18" charset="2"/>
              </a:rPr>
              <a:t> </a:t>
            </a:r>
            <a:r>
              <a:rPr lang="fr-FR" altLang="zh-CN" sz="2000" dirty="0">
                <a:solidFill>
                  <a:srgbClr val="0206AD"/>
                </a:solidFill>
                <a:sym typeface="Symbol" pitchFamily="18" charset="2"/>
              </a:rPr>
              <a:t>1</a:t>
            </a:r>
            <a:r>
              <a:rPr lang="fr-FR" altLang="zh-CN" i="1" dirty="0">
                <a:solidFill>
                  <a:srgbClr val="0206AD"/>
                </a:solidFill>
                <a:sym typeface="Symbol" pitchFamily="18" charset="2"/>
              </a:rPr>
              <a:t> </a:t>
            </a:r>
            <a:r>
              <a:rPr lang="fr-FR" altLang="zh-CN" dirty="0">
                <a:solidFill>
                  <a:srgbClr val="0206AD"/>
                </a:solidFill>
                <a:sym typeface="Symbol" pitchFamily="18" charset="2"/>
              </a:rPr>
              <a:t>}</a:t>
            </a:r>
            <a:endParaRPr lang="en-US" altLang="zh-CN" dirty="0">
              <a:solidFill>
                <a:srgbClr val="0206AD"/>
              </a:solidFill>
              <a:sym typeface="Symbol" pitchFamily="18" charset="2"/>
            </a:endParaRPr>
          </a:p>
        </p:txBody>
      </p:sp>
      <p:sp>
        <p:nvSpPr>
          <p:cNvPr id="5" name="TextBox 4"/>
          <p:cNvSpPr txBox="1"/>
          <p:nvPr/>
        </p:nvSpPr>
        <p:spPr>
          <a:xfrm>
            <a:off x="3336678" y="6334780"/>
            <a:ext cx="1890261" cy="523220"/>
          </a:xfrm>
          <a:prstGeom prst="rect">
            <a:avLst/>
          </a:prstGeom>
          <a:noFill/>
        </p:spPr>
        <p:txBody>
          <a:bodyPr wrap="none" rtlCol="0">
            <a:spAutoFit/>
          </a:bodyPr>
          <a:lstStyle/>
          <a:p>
            <a:r>
              <a:rPr lang="en-US" altLang="zh-CN" sz="2800" b="1" dirty="0">
                <a:solidFill>
                  <a:srgbClr val="FF0000"/>
                </a:solidFill>
              </a:rPr>
              <a:t>L-</a:t>
            </a:r>
            <a:r>
              <a:rPr lang="zh-CN" altLang="en-US" sz="2800" b="1" dirty="0">
                <a:solidFill>
                  <a:srgbClr val="FF0000"/>
                </a:solidFill>
              </a:rPr>
              <a:t>翻译模式</a:t>
            </a:r>
          </a:p>
        </p:txBody>
      </p:sp>
      <p:sp>
        <p:nvSpPr>
          <p:cNvPr id="7" name="标题 2"/>
          <p:cNvSpPr>
            <a:spLocks noGrp="1"/>
          </p:cNvSpPr>
          <p:nvPr>
            <p:ph type="title"/>
          </p:nvPr>
        </p:nvSpPr>
        <p:spPr>
          <a:xfrm>
            <a:off x="103955" y="99239"/>
            <a:ext cx="8905609" cy="476885"/>
          </a:xfrm>
        </p:spPr>
        <p:txBody>
          <a:bodyPr/>
          <a:lstStyle/>
          <a:p>
            <a:r>
              <a:rPr lang="zh-CN" altLang="en-US" dirty="0"/>
              <a:t>二、静态语义分析</a:t>
            </a:r>
          </a:p>
        </p:txBody>
      </p:sp>
      <p:sp>
        <p:nvSpPr>
          <p:cNvPr id="3" name="灯片编号占位符 2">
            <a:extLst>
              <a:ext uri="{FF2B5EF4-FFF2-40B4-BE49-F238E27FC236}">
                <a16:creationId xmlns:a16="http://schemas.microsoft.com/office/drawing/2014/main" id="{1F74F6C5-49D7-4E4C-B880-0C30EFC9D046}"/>
              </a:ext>
            </a:extLst>
          </p:cNvPr>
          <p:cNvSpPr>
            <a:spLocks noGrp="1"/>
          </p:cNvSpPr>
          <p:nvPr>
            <p:ph type="sldNum" sz="quarter" idx="4"/>
          </p:nvPr>
        </p:nvSpPr>
        <p:spPr/>
        <p:txBody>
          <a:bodyPr/>
          <a:lstStyle/>
          <a:p>
            <a:fld id="{565CE74E-AB26-4998-AD42-012C4C1AD076}" type="slidenum">
              <a:rPr lang="zh-CN" altLang="en-US" smtClean="0"/>
              <a:pPr/>
              <a:t>18</a:t>
            </a:fld>
            <a:endParaRPr lang="zh-CN" altLang="en-US"/>
          </a:p>
        </p:txBody>
      </p:sp>
    </p:spTree>
    <p:extLst>
      <p:ext uri="{BB962C8B-B14F-4D97-AF65-F5344CB8AC3E}">
        <p14:creationId xmlns:p14="http://schemas.microsoft.com/office/powerpoint/2010/main" val="3450552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solidFill>
                  <a:srgbClr val="0000FF"/>
                </a:solidFill>
              </a:rPr>
              <a:t>描述方法</a:t>
            </a:r>
            <a:r>
              <a:rPr lang="en-US" altLang="zh-CN" dirty="0">
                <a:solidFill>
                  <a:srgbClr val="0000FF"/>
                </a:solidFill>
              </a:rPr>
              <a:t>——</a:t>
            </a:r>
            <a:r>
              <a:rPr lang="zh-CN" altLang="en-US" dirty="0">
                <a:solidFill>
                  <a:srgbClr val="0000FF"/>
                </a:solidFill>
              </a:rPr>
              <a:t>属性文法（翻译模式）</a:t>
            </a:r>
          </a:p>
          <a:p>
            <a:pPr lvl="1"/>
            <a:r>
              <a:rPr lang="zh-CN" altLang="en-US" dirty="0"/>
              <a:t>利用</a:t>
            </a:r>
            <a:r>
              <a:rPr lang="zh-CN" altLang="en-US" dirty="0">
                <a:solidFill>
                  <a:srgbClr val="0000FF"/>
                </a:solidFill>
              </a:rPr>
              <a:t>属性文法（翻译模式）</a:t>
            </a:r>
            <a:r>
              <a:rPr lang="zh-CN" altLang="en-US" dirty="0"/>
              <a:t>描述如何将各种语句和表达式</a:t>
            </a:r>
            <a:endParaRPr lang="zh-CN" altLang="en-US" dirty="0">
              <a:solidFill>
                <a:srgbClr val="FF0000"/>
              </a:solidFill>
            </a:endParaRPr>
          </a:p>
          <a:p>
            <a:pPr lvl="1"/>
            <a:r>
              <a:rPr lang="zh-CN" altLang="en-US" dirty="0"/>
              <a:t>为每个文法符号赋予相应属性，对应每一个   产生式编制一个语义子程序</a:t>
            </a:r>
          </a:p>
          <a:p>
            <a:r>
              <a:rPr lang="zh-CN" altLang="en-US" dirty="0">
                <a:solidFill>
                  <a:srgbClr val="009900"/>
                </a:solidFill>
              </a:rPr>
              <a:t>工作方式</a:t>
            </a:r>
            <a:r>
              <a:rPr lang="en-US" altLang="zh-CN" dirty="0"/>
              <a:t>——</a:t>
            </a:r>
            <a:r>
              <a:rPr lang="zh-CN" altLang="en-US" dirty="0">
                <a:solidFill>
                  <a:srgbClr val="009900"/>
                </a:solidFill>
              </a:rPr>
              <a:t>语法制导翻译</a:t>
            </a:r>
          </a:p>
          <a:p>
            <a:pPr lvl="1"/>
            <a:r>
              <a:rPr lang="zh-CN" altLang="en-US" dirty="0"/>
              <a:t>当一个产生式获得匹配时，调用相应的语义   子程序实现语义检查与翻译</a:t>
            </a:r>
          </a:p>
          <a:p>
            <a:pPr lvl="1"/>
            <a:r>
              <a:rPr lang="zh-CN" altLang="en-US" dirty="0"/>
              <a:t>每识别出一个语法结构时，</a:t>
            </a:r>
            <a:r>
              <a:rPr lang="zh-CN" altLang="en-US" dirty="0">
                <a:solidFill>
                  <a:srgbClr val="FF0000"/>
                </a:solidFill>
              </a:rPr>
              <a:t>完成相应的语义检查与中间代码生成</a:t>
            </a:r>
          </a:p>
          <a:p>
            <a:endParaRPr lang="zh-CN" altLang="en-US" dirty="0"/>
          </a:p>
        </p:txBody>
      </p:sp>
      <p:sp>
        <p:nvSpPr>
          <p:cNvPr id="3" name="标题 2"/>
          <p:cNvSpPr>
            <a:spLocks noGrp="1"/>
          </p:cNvSpPr>
          <p:nvPr>
            <p:ph type="title"/>
          </p:nvPr>
        </p:nvSpPr>
        <p:spPr/>
        <p:txBody>
          <a:bodyPr/>
          <a:lstStyle/>
          <a:p>
            <a:r>
              <a:rPr lang="zh-CN" altLang="en-US" dirty="0"/>
              <a:t>二、静态语义分析                       </a:t>
            </a:r>
            <a:r>
              <a:rPr lang="zh-CN" altLang="en-US" dirty="0">
                <a:solidFill>
                  <a:srgbClr val="FF0000"/>
                </a:solidFill>
              </a:rPr>
              <a:t>    小结</a:t>
            </a:r>
          </a:p>
        </p:txBody>
      </p:sp>
      <p:sp>
        <p:nvSpPr>
          <p:cNvPr id="4" name="灯片编号占位符 3">
            <a:extLst>
              <a:ext uri="{FF2B5EF4-FFF2-40B4-BE49-F238E27FC236}">
                <a16:creationId xmlns:a16="http://schemas.microsoft.com/office/drawing/2014/main" id="{E71BBD5E-F744-4491-ADF7-D03934901E5D}"/>
              </a:ext>
            </a:extLst>
          </p:cNvPr>
          <p:cNvSpPr>
            <a:spLocks noGrp="1"/>
          </p:cNvSpPr>
          <p:nvPr>
            <p:ph type="sldNum" sz="quarter" idx="4"/>
          </p:nvPr>
        </p:nvSpPr>
        <p:spPr/>
        <p:txBody>
          <a:bodyPr/>
          <a:lstStyle/>
          <a:p>
            <a:fld id="{565CE74E-AB26-4998-AD42-012C4C1AD076}" type="slidenum">
              <a:rPr lang="zh-CN" altLang="en-US" smtClean="0"/>
              <a:pPr/>
              <a:t>19</a:t>
            </a:fld>
            <a:endParaRPr lang="zh-CN" altLang="en-US"/>
          </a:p>
        </p:txBody>
      </p:sp>
    </p:spTree>
    <p:extLst>
      <p:ext uri="{BB962C8B-B14F-4D97-AF65-F5344CB8AC3E}">
        <p14:creationId xmlns:p14="http://schemas.microsoft.com/office/powerpoint/2010/main" val="2618101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sym typeface="+mn-ea"/>
              </a:rPr>
              <a:t>一、符号表</a:t>
            </a:r>
            <a:endParaRPr lang="en-US" altLang="zh-CN" dirty="0">
              <a:sym typeface="+mn-ea"/>
            </a:endParaRPr>
          </a:p>
          <a:p>
            <a:r>
              <a:rPr lang="zh-CN" altLang="en-US" dirty="0">
                <a:sym typeface="+mn-ea"/>
              </a:rPr>
              <a:t>二、静态语义分析</a:t>
            </a:r>
            <a:endParaRPr lang="zh-CN" altLang="en-US" dirty="0"/>
          </a:p>
          <a:p>
            <a:r>
              <a:rPr lang="zh-CN" altLang="en-US" dirty="0">
                <a:sym typeface="+mn-ea"/>
              </a:rPr>
              <a:t>三、中间代码表示</a:t>
            </a:r>
            <a:endParaRPr lang="en-US" altLang="zh-CN" dirty="0">
              <a:sym typeface="+mn-ea"/>
            </a:endParaRPr>
          </a:p>
          <a:p>
            <a:r>
              <a:rPr lang="zh-CN" altLang="en-US" dirty="0">
                <a:sym typeface="+mn-ea"/>
              </a:rPr>
              <a:t>四、中间代码生成</a:t>
            </a:r>
            <a:endParaRPr lang="zh-CN" altLang="en-US" dirty="0"/>
          </a:p>
          <a:p>
            <a:r>
              <a:rPr lang="zh-CN" altLang="en-US" dirty="0"/>
              <a:t>五、代码优化</a:t>
            </a:r>
            <a:endParaRPr lang="en-US" altLang="zh-CN" dirty="0"/>
          </a:p>
          <a:p>
            <a:r>
              <a:rPr lang="zh-CN" altLang="en-US" dirty="0"/>
              <a:t>六、目标代码生成</a:t>
            </a:r>
          </a:p>
        </p:txBody>
      </p:sp>
      <p:sp>
        <p:nvSpPr>
          <p:cNvPr id="3" name="标题 2"/>
          <p:cNvSpPr>
            <a:spLocks noGrp="1"/>
          </p:cNvSpPr>
          <p:nvPr>
            <p:ph type="title"/>
          </p:nvPr>
        </p:nvSpPr>
        <p:spPr/>
        <p:txBody>
          <a:bodyPr/>
          <a:lstStyle/>
          <a:p>
            <a:r>
              <a:rPr lang="zh-CN" altLang="en-US" dirty="0"/>
              <a:t>教学内容</a:t>
            </a:r>
          </a:p>
        </p:txBody>
      </p:sp>
      <p:sp>
        <p:nvSpPr>
          <p:cNvPr id="4" name="灯片编号占位符 3">
            <a:extLst>
              <a:ext uri="{FF2B5EF4-FFF2-40B4-BE49-F238E27FC236}">
                <a16:creationId xmlns:a16="http://schemas.microsoft.com/office/drawing/2014/main" id="{69CBE542-5150-4393-9E48-83DB6FB1D166}"/>
              </a:ext>
            </a:extLst>
          </p:cNvPr>
          <p:cNvSpPr>
            <a:spLocks noGrp="1"/>
          </p:cNvSpPr>
          <p:nvPr>
            <p:ph type="sldNum" sz="quarter" idx="4"/>
          </p:nvPr>
        </p:nvSpPr>
        <p:spPr/>
        <p:txBody>
          <a:bodyPr/>
          <a:lstStyle/>
          <a:p>
            <a:fld id="{565CE74E-AB26-4998-AD42-012C4C1AD076}" type="slidenum">
              <a:rPr lang="zh-CN" altLang="en-US" smtClean="0"/>
              <a:pPr/>
              <a:t>20</a:t>
            </a:fld>
            <a:endParaRPr lang="zh-CN" altLang="en-US"/>
          </a:p>
        </p:txBody>
      </p:sp>
    </p:spTree>
    <p:extLst>
      <p:ext uri="{BB962C8B-B14F-4D97-AF65-F5344CB8AC3E}">
        <p14:creationId xmlns:p14="http://schemas.microsoft.com/office/powerpoint/2010/main" val="10106698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许多编译程序采用的</a:t>
            </a:r>
            <a:r>
              <a:rPr lang="zh-CN" altLang="en-US" dirty="0">
                <a:solidFill>
                  <a:srgbClr val="009900"/>
                </a:solidFill>
              </a:rPr>
              <a:t>独立于机器的、复杂性  界于源语言和机器语言之间</a:t>
            </a:r>
            <a:r>
              <a:rPr lang="zh-CN" altLang="en-US" dirty="0"/>
              <a:t>语言</a:t>
            </a:r>
          </a:p>
          <a:p>
            <a:r>
              <a:rPr lang="zh-CN" altLang="en-US" dirty="0"/>
              <a:t>源程序的一种内部表示</a:t>
            </a:r>
            <a:r>
              <a:rPr lang="en-US" altLang="zh-CN" dirty="0"/>
              <a:t>——</a:t>
            </a:r>
            <a:r>
              <a:rPr lang="zh-CN" altLang="en-US" dirty="0">
                <a:solidFill>
                  <a:srgbClr val="009900"/>
                </a:solidFill>
              </a:rPr>
              <a:t>中间代码序列</a:t>
            </a:r>
          </a:p>
          <a:p>
            <a:pPr lvl="1">
              <a:buFontTx/>
              <a:buNone/>
            </a:pPr>
            <a:r>
              <a:rPr lang="zh-CN" altLang="en-US" dirty="0"/>
              <a:t>                                        （中间语言的语句）</a:t>
            </a:r>
          </a:p>
          <a:p>
            <a:r>
              <a:rPr lang="zh-CN" altLang="en-US" dirty="0"/>
              <a:t>用中间语言过渡的</a:t>
            </a:r>
            <a:r>
              <a:rPr lang="zh-CN" altLang="en-US" dirty="0">
                <a:solidFill>
                  <a:srgbClr val="009900"/>
                </a:solidFill>
              </a:rPr>
              <a:t>好处</a:t>
            </a:r>
          </a:p>
          <a:p>
            <a:pPr lvl="1"/>
            <a:r>
              <a:rPr lang="zh-CN" altLang="en-US" dirty="0">
                <a:solidFill>
                  <a:srgbClr val="009900"/>
                </a:solidFill>
              </a:rPr>
              <a:t>便于</a:t>
            </a:r>
            <a:r>
              <a:rPr lang="zh-CN" altLang="en-US" dirty="0"/>
              <a:t>进行与机器无关的</a:t>
            </a:r>
            <a:r>
              <a:rPr lang="zh-CN" altLang="en-US" dirty="0">
                <a:solidFill>
                  <a:srgbClr val="009900"/>
                </a:solidFill>
              </a:rPr>
              <a:t>优化</a:t>
            </a:r>
            <a:r>
              <a:rPr lang="zh-CN" altLang="en-US" dirty="0"/>
              <a:t>工作</a:t>
            </a:r>
          </a:p>
          <a:p>
            <a:pPr lvl="1"/>
            <a:r>
              <a:rPr lang="zh-CN" altLang="en-US" dirty="0"/>
              <a:t>使编译程序改变目标机容易，</a:t>
            </a:r>
            <a:r>
              <a:rPr lang="zh-CN" altLang="en-US" dirty="0">
                <a:solidFill>
                  <a:srgbClr val="009900"/>
                </a:solidFill>
              </a:rPr>
              <a:t>便于移植</a:t>
            </a:r>
          </a:p>
          <a:p>
            <a:pPr lvl="1"/>
            <a:r>
              <a:rPr lang="zh-CN" altLang="en-US" dirty="0"/>
              <a:t>使编译程序的</a:t>
            </a:r>
            <a:r>
              <a:rPr lang="zh-CN" altLang="en-US" dirty="0">
                <a:solidFill>
                  <a:srgbClr val="009900"/>
                </a:solidFill>
              </a:rPr>
              <a:t>结构</a:t>
            </a:r>
            <a:r>
              <a:rPr lang="zh-CN" altLang="en-US" dirty="0"/>
              <a:t>在逻辑上更为</a:t>
            </a:r>
            <a:r>
              <a:rPr lang="zh-CN" altLang="en-US" dirty="0">
                <a:solidFill>
                  <a:srgbClr val="009900"/>
                </a:solidFill>
              </a:rPr>
              <a:t>简单明确</a:t>
            </a:r>
          </a:p>
          <a:p>
            <a:endParaRPr lang="zh-CN" altLang="en-US" dirty="0"/>
          </a:p>
        </p:txBody>
      </p:sp>
      <p:sp>
        <p:nvSpPr>
          <p:cNvPr id="3" name="标题 2"/>
          <p:cNvSpPr>
            <a:spLocks noGrp="1"/>
          </p:cNvSpPr>
          <p:nvPr>
            <p:ph type="title"/>
          </p:nvPr>
        </p:nvSpPr>
        <p:spPr/>
        <p:txBody>
          <a:bodyPr/>
          <a:lstStyle/>
          <a:p>
            <a:r>
              <a:rPr lang="zh-CN" altLang="en-US" dirty="0"/>
              <a:t>三、中间代码 表示                 </a:t>
            </a:r>
            <a:r>
              <a:rPr lang="zh-CN" altLang="en-US" dirty="0">
                <a:solidFill>
                  <a:srgbClr val="FF0000"/>
                </a:solidFill>
              </a:rPr>
              <a:t>中间语言</a:t>
            </a:r>
          </a:p>
        </p:txBody>
      </p:sp>
      <p:sp>
        <p:nvSpPr>
          <p:cNvPr id="4" name="灯片编号占位符 3">
            <a:extLst>
              <a:ext uri="{FF2B5EF4-FFF2-40B4-BE49-F238E27FC236}">
                <a16:creationId xmlns:a16="http://schemas.microsoft.com/office/drawing/2014/main" id="{6E12AC17-858C-43E7-AD1A-3E78C3189416}"/>
              </a:ext>
            </a:extLst>
          </p:cNvPr>
          <p:cNvSpPr>
            <a:spLocks noGrp="1"/>
          </p:cNvSpPr>
          <p:nvPr>
            <p:ph type="sldNum" sz="quarter" idx="4"/>
          </p:nvPr>
        </p:nvSpPr>
        <p:spPr/>
        <p:txBody>
          <a:bodyPr/>
          <a:lstStyle/>
          <a:p>
            <a:fld id="{565CE74E-AB26-4998-AD42-012C4C1AD076}" type="slidenum">
              <a:rPr lang="zh-CN" altLang="en-US" smtClean="0"/>
              <a:pPr/>
              <a:t>21</a:t>
            </a:fld>
            <a:endParaRPr lang="zh-CN" altLang="en-US"/>
          </a:p>
        </p:txBody>
      </p:sp>
    </p:spTree>
    <p:extLst>
      <p:ext uri="{BB962C8B-B14F-4D97-AF65-F5344CB8AC3E}">
        <p14:creationId xmlns:p14="http://schemas.microsoft.com/office/powerpoint/2010/main" val="32237070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latin typeface="宋体" charset="-122"/>
              </a:rPr>
              <a:t>常见形式</a:t>
            </a:r>
            <a:endParaRPr lang="en-US" altLang="zh-CN" dirty="0">
              <a:latin typeface="宋体" charset="-122"/>
            </a:endParaRPr>
          </a:p>
          <a:p>
            <a:pPr lvl="1"/>
            <a:r>
              <a:rPr lang="zh-CN" altLang="en-US" dirty="0">
                <a:latin typeface="宋体" charset="-122"/>
              </a:rPr>
              <a:t>后缀式（逆波兰式）</a:t>
            </a:r>
          </a:p>
          <a:p>
            <a:pPr lvl="1"/>
            <a:r>
              <a:rPr lang="zh-CN" altLang="en-US" dirty="0">
                <a:latin typeface="宋体" charset="-122"/>
              </a:rPr>
              <a:t>图表示法</a:t>
            </a:r>
            <a:r>
              <a:rPr lang="en-US" altLang="zh-CN" dirty="0">
                <a:latin typeface="宋体" charset="-122"/>
              </a:rPr>
              <a:t>(</a:t>
            </a:r>
            <a:r>
              <a:rPr lang="zh-CN" altLang="en-US" dirty="0">
                <a:latin typeface="宋体" charset="-122"/>
              </a:rPr>
              <a:t>抽象语法树、</a:t>
            </a:r>
            <a:r>
              <a:rPr lang="en-US" altLang="zh-CN" dirty="0">
                <a:latin typeface="宋体" charset="-122"/>
              </a:rPr>
              <a:t>DAG</a:t>
            </a:r>
            <a:r>
              <a:rPr lang="zh-CN" altLang="en-US" dirty="0">
                <a:latin typeface="宋体" charset="-122"/>
              </a:rPr>
              <a:t>图</a:t>
            </a:r>
            <a:r>
              <a:rPr lang="en-US" altLang="zh-CN" dirty="0">
                <a:latin typeface="宋体" charset="-122"/>
              </a:rPr>
              <a:t>)</a:t>
            </a:r>
            <a:endParaRPr lang="zh-CN" altLang="en-US" dirty="0">
              <a:latin typeface="宋体" charset="-122"/>
            </a:endParaRPr>
          </a:p>
          <a:p>
            <a:pPr lvl="1"/>
            <a:r>
              <a:rPr lang="zh-CN" altLang="en-US" dirty="0">
                <a:solidFill>
                  <a:srgbClr val="FF0000"/>
                </a:solidFill>
                <a:latin typeface="宋体" charset="-122"/>
              </a:rPr>
              <a:t>三地址代码</a:t>
            </a:r>
            <a:r>
              <a:rPr lang="zh-CN" altLang="en-US" dirty="0">
                <a:latin typeface="宋体" charset="-122"/>
              </a:rPr>
              <a:t>（抽象形式）：三元式、四元式</a:t>
            </a:r>
            <a:endParaRPr lang="en-US" altLang="zh-CN" dirty="0">
              <a:latin typeface="宋体" charset="-122"/>
            </a:endParaRPr>
          </a:p>
          <a:p>
            <a:r>
              <a:rPr lang="zh-CN" altLang="en-US" dirty="0">
                <a:latin typeface="宋体" charset="-122"/>
              </a:rPr>
              <a:t>特点</a:t>
            </a:r>
          </a:p>
          <a:p>
            <a:pPr lvl="1"/>
            <a:r>
              <a:rPr lang="zh-CN" altLang="en-US" dirty="0">
                <a:latin typeface="宋体" charset="-122"/>
              </a:rPr>
              <a:t>形式简单、语义明确、便于翻译</a:t>
            </a:r>
          </a:p>
          <a:p>
            <a:pPr lvl="1"/>
            <a:r>
              <a:rPr lang="zh-CN" altLang="en-US" dirty="0">
                <a:latin typeface="宋体" charset="-122"/>
              </a:rPr>
              <a:t>独立于目标语言</a:t>
            </a:r>
          </a:p>
        </p:txBody>
      </p:sp>
      <p:sp>
        <p:nvSpPr>
          <p:cNvPr id="3" name="标题 2"/>
          <p:cNvSpPr>
            <a:spLocks noGrp="1"/>
          </p:cNvSpPr>
          <p:nvPr>
            <p:ph type="title"/>
          </p:nvPr>
        </p:nvSpPr>
        <p:spPr/>
        <p:txBody>
          <a:bodyPr/>
          <a:lstStyle/>
          <a:p>
            <a:r>
              <a:rPr lang="zh-CN" altLang="en-US" dirty="0"/>
              <a:t>三、中间代码表示</a:t>
            </a:r>
          </a:p>
        </p:txBody>
      </p:sp>
      <p:sp>
        <p:nvSpPr>
          <p:cNvPr id="4" name="灯片编号占位符 3">
            <a:extLst>
              <a:ext uri="{FF2B5EF4-FFF2-40B4-BE49-F238E27FC236}">
                <a16:creationId xmlns:a16="http://schemas.microsoft.com/office/drawing/2014/main" id="{DA8F9E13-1523-4BAF-84A3-7E7E5BA8CA4E}"/>
              </a:ext>
            </a:extLst>
          </p:cNvPr>
          <p:cNvSpPr>
            <a:spLocks noGrp="1"/>
          </p:cNvSpPr>
          <p:nvPr>
            <p:ph type="sldNum" sz="quarter" idx="4"/>
          </p:nvPr>
        </p:nvSpPr>
        <p:spPr/>
        <p:txBody>
          <a:bodyPr/>
          <a:lstStyle/>
          <a:p>
            <a:fld id="{565CE74E-AB26-4998-AD42-012C4C1AD076}" type="slidenum">
              <a:rPr lang="zh-CN" altLang="en-US" smtClean="0"/>
              <a:pPr/>
              <a:t>22</a:t>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a:bodyPr>
          <a:lstStyle/>
          <a:p>
            <a:r>
              <a:rPr lang="zh-CN" altLang="en-US" dirty="0"/>
              <a:t>后缀式又称逆波兰式。波兰后缀表示（逆波兰式）多应用于表达式类的语言结构，也能够通过操作符的扩充来表示其他的语言结构。</a:t>
            </a:r>
          </a:p>
          <a:p>
            <a:pPr lvl="1"/>
            <a:r>
              <a:rPr lang="zh-CN" altLang="en-US" dirty="0"/>
              <a:t>是表达式的一种表示形式</a:t>
            </a:r>
          </a:p>
          <a:p>
            <a:pPr lvl="1"/>
            <a:r>
              <a:rPr lang="zh-CN" altLang="en-US" dirty="0"/>
              <a:t>把</a:t>
            </a:r>
            <a:r>
              <a:rPr lang="zh-CN" altLang="en-US" dirty="0">
                <a:solidFill>
                  <a:srgbClr val="FF0000"/>
                </a:solidFill>
              </a:rPr>
              <a:t>运算符</a:t>
            </a:r>
            <a:r>
              <a:rPr lang="zh-CN" altLang="en-US" dirty="0"/>
              <a:t>写在</a:t>
            </a:r>
            <a:r>
              <a:rPr lang="zh-CN" altLang="en-US" dirty="0">
                <a:solidFill>
                  <a:srgbClr val="FF0000"/>
                </a:solidFill>
              </a:rPr>
              <a:t>运算量</a:t>
            </a:r>
            <a:r>
              <a:rPr lang="en-US" altLang="zh-CN" dirty="0"/>
              <a:t>(</a:t>
            </a:r>
            <a:r>
              <a:rPr lang="zh-CN" altLang="en-US" dirty="0"/>
              <a:t>操作数</a:t>
            </a:r>
            <a:r>
              <a:rPr lang="en-US" altLang="zh-CN" dirty="0"/>
              <a:t>)</a:t>
            </a:r>
            <a:r>
              <a:rPr lang="zh-CN" altLang="en-US" dirty="0">
                <a:solidFill>
                  <a:srgbClr val="FF0000"/>
                </a:solidFill>
              </a:rPr>
              <a:t>后</a:t>
            </a:r>
            <a:r>
              <a:rPr lang="zh-CN" altLang="en-US" dirty="0"/>
              <a:t>面</a:t>
            </a:r>
          </a:p>
        </p:txBody>
      </p:sp>
      <p:sp>
        <p:nvSpPr>
          <p:cNvPr id="3" name="标题 2"/>
          <p:cNvSpPr>
            <a:spLocks noGrp="1"/>
          </p:cNvSpPr>
          <p:nvPr>
            <p:ph type="title"/>
          </p:nvPr>
        </p:nvSpPr>
        <p:spPr/>
        <p:txBody>
          <a:bodyPr/>
          <a:lstStyle/>
          <a:p>
            <a:r>
              <a:rPr lang="zh-CN" altLang="en-US" dirty="0"/>
              <a:t>三、中间代码表示</a:t>
            </a:r>
            <a:r>
              <a:rPr lang="en-US" altLang="zh-CN" dirty="0"/>
              <a:t>                      </a:t>
            </a:r>
            <a:r>
              <a:rPr lang="zh-CN" altLang="en-US" dirty="0">
                <a:solidFill>
                  <a:srgbClr val="FF0000"/>
                </a:solidFill>
              </a:rPr>
              <a:t>后缀式</a:t>
            </a:r>
          </a:p>
        </p:txBody>
      </p:sp>
      <p:graphicFrame>
        <p:nvGraphicFramePr>
          <p:cNvPr id="12" name="表格 11"/>
          <p:cNvGraphicFramePr/>
          <p:nvPr>
            <p:extLst>
              <p:ext uri="{D42A27DB-BD31-4B8C-83A1-F6EECF244321}">
                <p14:modId xmlns:p14="http://schemas.microsoft.com/office/powerpoint/2010/main" val="3683729741"/>
              </p:ext>
            </p:extLst>
          </p:nvPr>
        </p:nvGraphicFramePr>
        <p:xfrm>
          <a:off x="866746" y="3336290"/>
          <a:ext cx="7645400" cy="2764155"/>
        </p:xfrm>
        <a:graphic>
          <a:graphicData uri="http://schemas.openxmlformats.org/drawingml/2006/table">
            <a:tbl>
              <a:tblPr firstRow="1" bandRow="1">
                <a:tableStyleId>{5C22544A-7EE6-4342-B048-85BDC9FD1C3A}</a:tableStyleId>
              </a:tblPr>
              <a:tblGrid>
                <a:gridCol w="3822700">
                  <a:extLst>
                    <a:ext uri="{9D8B030D-6E8A-4147-A177-3AD203B41FA5}">
                      <a16:colId xmlns:a16="http://schemas.microsoft.com/office/drawing/2014/main" val="20000"/>
                    </a:ext>
                  </a:extLst>
                </a:gridCol>
                <a:gridCol w="3822700">
                  <a:extLst>
                    <a:ext uri="{9D8B030D-6E8A-4147-A177-3AD203B41FA5}">
                      <a16:colId xmlns:a16="http://schemas.microsoft.com/office/drawing/2014/main" val="20001"/>
                    </a:ext>
                  </a:extLst>
                </a:gridCol>
              </a:tblGrid>
              <a:tr h="365760">
                <a:tc>
                  <a:txBody>
                    <a:bodyPr/>
                    <a:lstStyle/>
                    <a:p>
                      <a:pPr>
                        <a:buNone/>
                      </a:pPr>
                      <a:r>
                        <a:rPr lang="zh-CN" altLang="en-US" sz="2400" baseline="0" dirty="0">
                          <a:latin typeface="Times New Roman" panose="02020603050405020304" pitchFamily="18" charset="0"/>
                        </a:rPr>
                        <a:t>中缀式</a:t>
                      </a:r>
                    </a:p>
                  </a:txBody>
                  <a:tcPr/>
                </a:tc>
                <a:tc>
                  <a:txBody>
                    <a:bodyPr/>
                    <a:lstStyle/>
                    <a:p>
                      <a:pPr>
                        <a:buNone/>
                      </a:pPr>
                      <a:r>
                        <a:rPr lang="zh-CN" altLang="en-US" sz="2400" baseline="0" dirty="0">
                          <a:latin typeface="Times New Roman" panose="02020603050405020304" pitchFamily="18" charset="0"/>
                        </a:rPr>
                        <a:t>后缀式</a:t>
                      </a:r>
                    </a:p>
                  </a:txBody>
                  <a:tcPr/>
                </a:tc>
                <a:extLst>
                  <a:ext uri="{0D108BD9-81ED-4DB2-BD59-A6C34878D82A}">
                    <a16:rowId xmlns:a16="http://schemas.microsoft.com/office/drawing/2014/main" val="10000"/>
                  </a:ext>
                </a:extLst>
              </a:tr>
              <a:tr h="365760">
                <a:tc>
                  <a:txBody>
                    <a:bodyPr/>
                    <a:lstStyle/>
                    <a:p>
                      <a:pPr>
                        <a:buNone/>
                      </a:pPr>
                      <a:r>
                        <a:rPr lang="en-US" altLang="zh-CN" sz="2400" baseline="0" dirty="0" err="1">
                          <a:latin typeface="Times New Roman" panose="02020603050405020304" pitchFamily="18" charset="0"/>
                        </a:rPr>
                        <a:t>a+b</a:t>
                      </a:r>
                      <a:endParaRPr lang="en-US" altLang="zh-CN" sz="2400" baseline="0" dirty="0">
                        <a:latin typeface="Times New Roman" panose="02020603050405020304" pitchFamily="18" charset="0"/>
                      </a:endParaRPr>
                    </a:p>
                  </a:txBody>
                  <a:tcPr/>
                </a:tc>
                <a:tc>
                  <a:txBody>
                    <a:bodyPr/>
                    <a:lstStyle/>
                    <a:p>
                      <a:pPr>
                        <a:buNone/>
                      </a:pPr>
                      <a:r>
                        <a:rPr lang="en-US" altLang="zh-CN" sz="2400" baseline="0" dirty="0">
                          <a:latin typeface="Times New Roman" panose="02020603050405020304" pitchFamily="18" charset="0"/>
                        </a:rPr>
                        <a:t>ab+</a:t>
                      </a:r>
                    </a:p>
                  </a:txBody>
                  <a:tcPr/>
                </a:tc>
                <a:extLst>
                  <a:ext uri="{0D108BD9-81ED-4DB2-BD59-A6C34878D82A}">
                    <a16:rowId xmlns:a16="http://schemas.microsoft.com/office/drawing/2014/main" val="10001"/>
                  </a:ext>
                </a:extLst>
              </a:tr>
              <a:tr h="365760">
                <a:tc>
                  <a:txBody>
                    <a:bodyPr/>
                    <a:lstStyle/>
                    <a:p>
                      <a:pPr>
                        <a:buNone/>
                      </a:pPr>
                      <a:r>
                        <a:rPr lang="en-US" altLang="zh-CN" sz="2400" baseline="0" dirty="0" err="1">
                          <a:latin typeface="Times New Roman" panose="02020603050405020304" pitchFamily="18" charset="0"/>
                        </a:rPr>
                        <a:t>a+b</a:t>
                      </a:r>
                      <a:r>
                        <a:rPr lang="en-US" altLang="zh-CN" sz="2400" baseline="0" dirty="0">
                          <a:latin typeface="Times New Roman" panose="02020603050405020304" pitchFamily="18" charset="0"/>
                        </a:rPr>
                        <a:t>*c</a:t>
                      </a:r>
                    </a:p>
                  </a:txBody>
                  <a:tcPr/>
                </a:tc>
                <a:tc>
                  <a:txBody>
                    <a:bodyPr/>
                    <a:lstStyle/>
                    <a:p>
                      <a:pPr>
                        <a:buNone/>
                      </a:pPr>
                      <a:r>
                        <a:rPr lang="en-US" altLang="zh-CN" sz="2400" baseline="0" dirty="0" err="1">
                          <a:latin typeface="Times New Roman" panose="02020603050405020304" pitchFamily="18" charset="0"/>
                        </a:rPr>
                        <a:t>abc</a:t>
                      </a:r>
                      <a:r>
                        <a:rPr lang="en-US" altLang="zh-CN" sz="2400" baseline="0" dirty="0">
                          <a:latin typeface="Times New Roman" panose="02020603050405020304" pitchFamily="18" charset="0"/>
                        </a:rPr>
                        <a:t>*+</a:t>
                      </a:r>
                    </a:p>
                  </a:txBody>
                  <a:tcPr/>
                </a:tc>
                <a:extLst>
                  <a:ext uri="{0D108BD9-81ED-4DB2-BD59-A6C34878D82A}">
                    <a16:rowId xmlns:a16="http://schemas.microsoft.com/office/drawing/2014/main" val="10002"/>
                  </a:ext>
                </a:extLst>
              </a:tr>
              <a:tr h="365760">
                <a:tc>
                  <a:txBody>
                    <a:bodyPr/>
                    <a:lstStyle/>
                    <a:p>
                      <a:pPr>
                        <a:buNone/>
                      </a:pPr>
                      <a:r>
                        <a:rPr lang="en-US" altLang="zh-CN" sz="2400" baseline="0" dirty="0">
                          <a:latin typeface="Times New Roman" panose="02020603050405020304" pitchFamily="18" charset="0"/>
                        </a:rPr>
                        <a:t>(</a:t>
                      </a:r>
                      <a:r>
                        <a:rPr lang="en-US" altLang="zh-CN" sz="2400" baseline="0" dirty="0" err="1">
                          <a:latin typeface="Times New Roman" panose="02020603050405020304" pitchFamily="18" charset="0"/>
                        </a:rPr>
                        <a:t>a+b</a:t>
                      </a:r>
                      <a:r>
                        <a:rPr lang="en-US" altLang="zh-CN" sz="2400" baseline="0" dirty="0">
                          <a:latin typeface="Times New Roman" panose="02020603050405020304" pitchFamily="18" charset="0"/>
                        </a:rPr>
                        <a:t>)*c</a:t>
                      </a:r>
                    </a:p>
                  </a:txBody>
                  <a:tcPr/>
                </a:tc>
                <a:tc>
                  <a:txBody>
                    <a:bodyPr/>
                    <a:lstStyle/>
                    <a:p>
                      <a:pPr>
                        <a:buNone/>
                      </a:pPr>
                      <a:r>
                        <a:rPr lang="en-US" altLang="zh-CN" sz="2400" baseline="0">
                          <a:latin typeface="Times New Roman" panose="02020603050405020304" pitchFamily="18" charset="0"/>
                        </a:rPr>
                        <a:t>ab+c*</a:t>
                      </a:r>
                    </a:p>
                  </a:txBody>
                  <a:tcPr/>
                </a:tc>
                <a:extLst>
                  <a:ext uri="{0D108BD9-81ED-4DB2-BD59-A6C34878D82A}">
                    <a16:rowId xmlns:a16="http://schemas.microsoft.com/office/drawing/2014/main" val="10003"/>
                  </a:ext>
                </a:extLst>
              </a:tr>
              <a:tr h="365760">
                <a:tc>
                  <a:txBody>
                    <a:bodyPr/>
                    <a:lstStyle/>
                    <a:p>
                      <a:pPr>
                        <a:buNone/>
                      </a:pPr>
                      <a:r>
                        <a:rPr lang="en-US" altLang="zh-CN" sz="2400" baseline="0" dirty="0">
                          <a:latin typeface="Times New Roman" panose="02020603050405020304" pitchFamily="18" charset="0"/>
                        </a:rPr>
                        <a:t>a:=b*c+b*d</a:t>
                      </a:r>
                    </a:p>
                  </a:txBody>
                  <a:tcPr/>
                </a:tc>
                <a:tc>
                  <a:txBody>
                    <a:bodyPr/>
                    <a:lstStyle/>
                    <a:p>
                      <a:pPr>
                        <a:buNone/>
                      </a:pPr>
                      <a:r>
                        <a:rPr lang="en-US" altLang="zh-CN" sz="2400" baseline="0" dirty="0" err="1">
                          <a:latin typeface="Times New Roman" panose="02020603050405020304" pitchFamily="18" charset="0"/>
                        </a:rPr>
                        <a:t>abc</a:t>
                      </a:r>
                      <a:r>
                        <a:rPr lang="en-US" altLang="zh-CN" sz="2400" baseline="0" dirty="0">
                          <a:latin typeface="Times New Roman" panose="02020603050405020304" pitchFamily="18" charset="0"/>
                        </a:rPr>
                        <a:t>*</a:t>
                      </a:r>
                      <a:r>
                        <a:rPr lang="en-US" altLang="zh-CN" sz="2400" baseline="0" dirty="0" err="1">
                          <a:latin typeface="Times New Roman" panose="02020603050405020304" pitchFamily="18" charset="0"/>
                        </a:rPr>
                        <a:t>bd</a:t>
                      </a:r>
                      <a:r>
                        <a:rPr lang="en-US" altLang="zh-CN" sz="2400" baseline="0" dirty="0">
                          <a:latin typeface="Times New Roman" panose="02020603050405020304" pitchFamily="18" charset="0"/>
                        </a:rPr>
                        <a:t>*+:=</a:t>
                      </a:r>
                    </a:p>
                  </a:txBody>
                  <a:tcPr/>
                </a:tc>
                <a:extLst>
                  <a:ext uri="{0D108BD9-81ED-4DB2-BD59-A6C34878D82A}">
                    <a16:rowId xmlns:a16="http://schemas.microsoft.com/office/drawing/2014/main" val="10004"/>
                  </a:ext>
                </a:extLst>
              </a:tr>
              <a:tr h="478155">
                <a:tc>
                  <a:txBody>
                    <a:bodyPr/>
                    <a:lstStyle/>
                    <a:p>
                      <a:pPr>
                        <a:buNone/>
                      </a:pPr>
                      <a:r>
                        <a:rPr lang="en-US" altLang="zh-CN" sz="2400" baseline="0" dirty="0">
                          <a:latin typeface="Times New Roman" panose="02020603050405020304" pitchFamily="18" charset="0"/>
                        </a:rPr>
                        <a:t>F*3.1416*R*(H+R)</a:t>
                      </a:r>
                    </a:p>
                  </a:txBody>
                  <a:tcPr/>
                </a:tc>
                <a:tc>
                  <a:txBody>
                    <a:bodyPr/>
                    <a:lstStyle/>
                    <a:p>
                      <a:pPr>
                        <a:buNone/>
                      </a:pPr>
                      <a:r>
                        <a:rPr lang="en-US" altLang="zh-CN" sz="2400" baseline="0" dirty="0">
                          <a:latin typeface="Times New Roman" panose="02020603050405020304" pitchFamily="18" charset="0"/>
                        </a:rPr>
                        <a:t>F3.1416*R*HR+*</a:t>
                      </a:r>
                    </a:p>
                  </a:txBody>
                  <a:tcPr/>
                </a:tc>
                <a:extLst>
                  <a:ext uri="{0D108BD9-81ED-4DB2-BD59-A6C34878D82A}">
                    <a16:rowId xmlns:a16="http://schemas.microsoft.com/office/drawing/2014/main" val="10005"/>
                  </a:ext>
                </a:extLst>
              </a:tr>
            </a:tbl>
          </a:graphicData>
        </a:graphic>
      </p:graphicFrame>
      <p:sp>
        <p:nvSpPr>
          <p:cNvPr id="4" name="灯片编号占位符 3">
            <a:extLst>
              <a:ext uri="{FF2B5EF4-FFF2-40B4-BE49-F238E27FC236}">
                <a16:creationId xmlns:a16="http://schemas.microsoft.com/office/drawing/2014/main" id="{D699C723-638E-4C96-B8EA-F472FA11B167}"/>
              </a:ext>
            </a:extLst>
          </p:cNvPr>
          <p:cNvSpPr>
            <a:spLocks noGrp="1"/>
          </p:cNvSpPr>
          <p:nvPr>
            <p:ph type="sldNum" sz="quarter" idx="4"/>
          </p:nvPr>
        </p:nvSpPr>
        <p:spPr/>
        <p:txBody>
          <a:bodyPr/>
          <a:lstStyle/>
          <a:p>
            <a:fld id="{565CE74E-AB26-4998-AD42-012C4C1AD076}" type="slidenum">
              <a:rPr lang="zh-CN" altLang="en-US" smtClean="0"/>
              <a:pPr/>
              <a:t>23</a:t>
            </a:fld>
            <a:endParaRPr lang="zh-CN" altLang="en-US"/>
          </a:p>
        </p:txBody>
      </p:sp>
    </p:spTree>
    <p:extLst>
      <p:ext uri="{BB962C8B-B14F-4D97-AF65-F5344CB8AC3E}">
        <p14:creationId xmlns:p14="http://schemas.microsoft.com/office/powerpoint/2010/main" val="24294467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pPr eaLnBrk="0" hangingPunct="0">
              <a:spcBef>
                <a:spcPct val="5000"/>
              </a:spcBef>
              <a:buClr>
                <a:schemeClr val="tx2"/>
              </a:buClr>
              <a:buBlip>
                <a:blip r:embed="rId2"/>
              </a:buBlip>
            </a:pPr>
            <a:r>
              <a:rPr kumimoji="1" lang="zh-CN" altLang="en-US" dirty="0">
                <a:latin typeface="宋体" charset="-122"/>
              </a:rPr>
              <a:t>后缀式特点</a:t>
            </a:r>
            <a:endParaRPr kumimoji="1" lang="en-US" altLang="zh-CN" dirty="0">
              <a:latin typeface="宋体" charset="-122"/>
            </a:endParaRPr>
          </a:p>
          <a:p>
            <a:pPr lvl="1" eaLnBrk="0" hangingPunct="0">
              <a:spcBef>
                <a:spcPct val="5000"/>
              </a:spcBef>
              <a:buClr>
                <a:schemeClr val="tx2"/>
              </a:buClr>
              <a:buBlip>
                <a:blip r:embed="rId2"/>
              </a:buBlip>
            </a:pPr>
            <a:r>
              <a:rPr kumimoji="1" lang="en-US" altLang="zh-CN" dirty="0">
                <a:latin typeface="宋体" charset="-122"/>
              </a:rPr>
              <a:t>1.</a:t>
            </a:r>
            <a:r>
              <a:rPr kumimoji="1" lang="zh-CN" altLang="en-US" dirty="0">
                <a:latin typeface="宋体" charset="-122"/>
              </a:rPr>
              <a:t>运算量的顺序与中缀式相同</a:t>
            </a:r>
            <a:endParaRPr kumimoji="1" lang="en-US" altLang="zh-CN" dirty="0">
              <a:latin typeface="宋体" charset="-122"/>
            </a:endParaRPr>
          </a:p>
          <a:p>
            <a:pPr lvl="1" eaLnBrk="0" hangingPunct="0">
              <a:spcBef>
                <a:spcPct val="5000"/>
              </a:spcBef>
              <a:buClr>
                <a:schemeClr val="tx2"/>
              </a:buClr>
              <a:buBlip>
                <a:blip r:embed="rId2"/>
              </a:buBlip>
            </a:pPr>
            <a:r>
              <a:rPr kumimoji="1" lang="en-US" altLang="zh-CN" dirty="0">
                <a:latin typeface="宋体" charset="-122"/>
              </a:rPr>
              <a:t>2.</a:t>
            </a:r>
            <a:r>
              <a:rPr kumimoji="1" lang="zh-CN" altLang="en-US" dirty="0">
                <a:latin typeface="宋体" charset="-122"/>
              </a:rPr>
              <a:t>运算符的先后顺序即为运算的先后顺序</a:t>
            </a:r>
            <a:endParaRPr kumimoji="1" lang="en-US" altLang="zh-CN" dirty="0">
              <a:latin typeface="宋体" charset="-122"/>
            </a:endParaRPr>
          </a:p>
          <a:p>
            <a:pPr lvl="1" eaLnBrk="0" hangingPunct="0">
              <a:spcBef>
                <a:spcPct val="5000"/>
              </a:spcBef>
              <a:buClr>
                <a:schemeClr val="tx2"/>
              </a:buClr>
              <a:buBlip>
                <a:blip r:embed="rId2"/>
              </a:buBlip>
            </a:pPr>
            <a:r>
              <a:rPr kumimoji="1" lang="en-US" altLang="zh-CN" dirty="0">
                <a:latin typeface="宋体" charset="-122"/>
              </a:rPr>
              <a:t>3.</a:t>
            </a:r>
            <a:r>
              <a:rPr kumimoji="1" lang="zh-CN" altLang="en-US" dirty="0">
                <a:latin typeface="宋体" charset="-122"/>
              </a:rPr>
              <a:t>有利于表达式运算的实现            </a:t>
            </a:r>
          </a:p>
          <a:p>
            <a:endParaRPr lang="zh-CN" altLang="en-US" dirty="0"/>
          </a:p>
        </p:txBody>
      </p:sp>
      <p:sp>
        <p:nvSpPr>
          <p:cNvPr id="3" name="标题 2"/>
          <p:cNvSpPr>
            <a:spLocks noGrp="1"/>
          </p:cNvSpPr>
          <p:nvPr>
            <p:ph type="title"/>
          </p:nvPr>
        </p:nvSpPr>
        <p:spPr/>
        <p:txBody>
          <a:bodyPr/>
          <a:lstStyle/>
          <a:p>
            <a:r>
              <a:rPr lang="zh-CN" altLang="en-US" dirty="0"/>
              <a:t>三、中间代码</a:t>
            </a:r>
            <a:r>
              <a:rPr lang="en-US" altLang="zh-CN" dirty="0"/>
              <a:t> </a:t>
            </a:r>
            <a:r>
              <a:rPr lang="zh-CN" altLang="en-US" dirty="0"/>
              <a:t>表示</a:t>
            </a:r>
            <a:r>
              <a:rPr lang="en-US" altLang="zh-CN" dirty="0"/>
              <a:t>                     </a:t>
            </a:r>
            <a:r>
              <a:rPr lang="zh-CN" altLang="en-US" dirty="0">
                <a:solidFill>
                  <a:srgbClr val="FF0000"/>
                </a:solidFill>
              </a:rPr>
              <a:t>后缀式</a:t>
            </a:r>
            <a:endParaRPr lang="zh-CN" altLang="en-US" dirty="0"/>
          </a:p>
        </p:txBody>
      </p:sp>
      <p:sp>
        <p:nvSpPr>
          <p:cNvPr id="4" name="灯片编号占位符 3">
            <a:extLst>
              <a:ext uri="{FF2B5EF4-FFF2-40B4-BE49-F238E27FC236}">
                <a16:creationId xmlns:a16="http://schemas.microsoft.com/office/drawing/2014/main" id="{E76159D4-8371-4374-8B14-27C62349628C}"/>
              </a:ext>
            </a:extLst>
          </p:cNvPr>
          <p:cNvSpPr>
            <a:spLocks noGrp="1"/>
          </p:cNvSpPr>
          <p:nvPr>
            <p:ph type="sldNum" sz="quarter" idx="4"/>
          </p:nvPr>
        </p:nvSpPr>
        <p:spPr/>
        <p:txBody>
          <a:bodyPr/>
          <a:lstStyle/>
          <a:p>
            <a:fld id="{565CE74E-AB26-4998-AD42-012C4C1AD076}" type="slidenum">
              <a:rPr lang="zh-CN" altLang="en-US" smtClean="0"/>
              <a:pPr/>
              <a:t>24</a:t>
            </a:fld>
            <a:endParaRPr lang="zh-CN" altLang="en-US"/>
          </a:p>
        </p:txBody>
      </p:sp>
    </p:spTree>
    <p:extLst>
      <p:ext uri="{BB962C8B-B14F-4D97-AF65-F5344CB8AC3E}">
        <p14:creationId xmlns:p14="http://schemas.microsoft.com/office/powerpoint/2010/main" val="18489253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抽象语法树（</a:t>
            </a:r>
            <a:r>
              <a:rPr lang="en-US" altLang="zh-CN" dirty="0"/>
              <a:t>Abstract Syntax Tree</a:t>
            </a:r>
            <a:r>
              <a:rPr lang="zh-CN" altLang="en-US" dirty="0"/>
              <a:t>）</a:t>
            </a:r>
            <a:endParaRPr lang="en-US" altLang="zh-CN" dirty="0"/>
          </a:p>
          <a:p>
            <a:pPr lvl="1"/>
            <a:r>
              <a:rPr lang="zh-CN" altLang="en-US" dirty="0"/>
              <a:t>每一个子树的</a:t>
            </a:r>
            <a:r>
              <a:rPr lang="zh-CN" altLang="en-US" dirty="0">
                <a:solidFill>
                  <a:srgbClr val="FF0000"/>
                </a:solidFill>
              </a:rPr>
              <a:t>根结点</a:t>
            </a:r>
            <a:r>
              <a:rPr lang="zh-CN" altLang="en-US" dirty="0"/>
              <a:t>都对应一种</a:t>
            </a:r>
            <a:r>
              <a:rPr lang="zh-CN" altLang="en-US" dirty="0">
                <a:solidFill>
                  <a:srgbClr val="FF0000"/>
                </a:solidFill>
              </a:rPr>
              <a:t>动作或运算</a:t>
            </a:r>
            <a:r>
              <a:rPr lang="zh-CN" altLang="en-US" dirty="0"/>
              <a:t>，它的所有</a:t>
            </a:r>
            <a:r>
              <a:rPr lang="zh-CN" altLang="en-US" dirty="0">
                <a:solidFill>
                  <a:srgbClr val="FF0000"/>
                </a:solidFill>
              </a:rPr>
              <a:t>子结点</a:t>
            </a:r>
            <a:r>
              <a:rPr lang="zh-CN" altLang="en-US" dirty="0"/>
              <a:t>对应该动作或运算的</a:t>
            </a:r>
            <a:r>
              <a:rPr lang="zh-CN" altLang="en-US" dirty="0">
                <a:solidFill>
                  <a:srgbClr val="FF0000"/>
                </a:solidFill>
              </a:rPr>
              <a:t>参数或运算数</a:t>
            </a:r>
            <a:r>
              <a:rPr lang="zh-CN" altLang="en-US" dirty="0"/>
              <a:t>。</a:t>
            </a:r>
            <a:r>
              <a:rPr lang="zh-CN" altLang="en-US" dirty="0">
                <a:solidFill>
                  <a:srgbClr val="FF0000"/>
                </a:solidFill>
              </a:rPr>
              <a:t>参数或运算数也可以是另一个子树，代表另一个动作或运算</a:t>
            </a:r>
            <a:r>
              <a:rPr lang="zh-CN" altLang="en-US" dirty="0"/>
              <a:t>。</a:t>
            </a:r>
            <a:endParaRPr lang="en-US" altLang="zh-CN" dirty="0"/>
          </a:p>
          <a:p>
            <a:pPr lvl="1"/>
            <a:r>
              <a:rPr lang="zh-CN" altLang="en-US" dirty="0"/>
              <a:t>算术表达式 </a:t>
            </a:r>
            <a:r>
              <a:rPr lang="en-US" altLang="zh-CN" dirty="0">
                <a:solidFill>
                  <a:srgbClr val="800080"/>
                </a:solidFill>
              </a:rPr>
              <a:t>A + B * ( C - D ) + E / ( C - D ) ^N</a:t>
            </a:r>
          </a:p>
          <a:p>
            <a:pPr lvl="1"/>
            <a:endParaRPr lang="zh-CN" altLang="en-US" dirty="0"/>
          </a:p>
        </p:txBody>
      </p:sp>
      <p:sp>
        <p:nvSpPr>
          <p:cNvPr id="3" name="标题 2"/>
          <p:cNvSpPr>
            <a:spLocks noGrp="1"/>
          </p:cNvSpPr>
          <p:nvPr>
            <p:ph type="title"/>
          </p:nvPr>
        </p:nvSpPr>
        <p:spPr/>
        <p:txBody>
          <a:bodyPr/>
          <a:lstStyle/>
          <a:p>
            <a:r>
              <a:rPr lang="zh-CN" altLang="en-US" dirty="0"/>
              <a:t>三、中间代码表示</a:t>
            </a:r>
            <a:r>
              <a:rPr lang="en-US" altLang="zh-CN" dirty="0"/>
              <a:t>               </a:t>
            </a:r>
            <a:r>
              <a:rPr lang="zh-CN" altLang="en-US" dirty="0">
                <a:solidFill>
                  <a:srgbClr val="FF0000"/>
                </a:solidFill>
              </a:rPr>
              <a:t>抽象语法树</a:t>
            </a:r>
            <a:endParaRPr lang="zh-CN" altLang="en-US" dirty="0"/>
          </a:p>
        </p:txBody>
      </p:sp>
      <p:sp>
        <p:nvSpPr>
          <p:cNvPr id="38" name="Text Box 29"/>
          <p:cNvSpPr txBox="1">
            <a:spLocks noChangeArrowheads="1"/>
          </p:cNvSpPr>
          <p:nvPr/>
        </p:nvSpPr>
        <p:spPr bwMode="auto">
          <a:xfrm>
            <a:off x="5921375" y="5029200"/>
            <a:ext cx="479425" cy="396875"/>
          </a:xfrm>
          <a:prstGeom prst="rect">
            <a:avLst/>
          </a:prstGeom>
          <a:noFill/>
          <a:ln w="28575">
            <a:noFill/>
            <a:miter lim="800000"/>
            <a:headEnd/>
            <a:tailEnd/>
          </a:ln>
        </p:spPr>
        <p:txBody>
          <a:bodyPr>
            <a:spAutoFit/>
          </a:bodyPr>
          <a:lstStyle/>
          <a:p>
            <a:pPr>
              <a:spcBef>
                <a:spcPct val="50000"/>
              </a:spcBef>
              <a:buClrTx/>
              <a:buFontTx/>
              <a:buNone/>
            </a:pPr>
            <a:r>
              <a:rPr lang="en-US" altLang="en-US" sz="2000">
                <a:solidFill>
                  <a:srgbClr val="800080"/>
                </a:solidFill>
                <a:ea typeface="宋体" pitchFamily="2" charset="-122"/>
              </a:rPr>
              <a:t>^</a:t>
            </a:r>
            <a:endParaRPr lang="en-US" altLang="zh-CN" sz="2000">
              <a:solidFill>
                <a:srgbClr val="800080"/>
              </a:solidFill>
              <a:ea typeface="宋体" pitchFamily="2" charset="-122"/>
            </a:endParaRPr>
          </a:p>
        </p:txBody>
      </p:sp>
      <p:sp>
        <p:nvSpPr>
          <p:cNvPr id="39" name="Text Box 31"/>
          <p:cNvSpPr txBox="1">
            <a:spLocks noChangeArrowheads="1"/>
          </p:cNvSpPr>
          <p:nvPr/>
        </p:nvSpPr>
        <p:spPr bwMode="auto">
          <a:xfrm>
            <a:off x="3787775" y="3276600"/>
            <a:ext cx="403225"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a:t>
            </a:r>
          </a:p>
        </p:txBody>
      </p:sp>
      <p:sp>
        <p:nvSpPr>
          <p:cNvPr id="40" name="Text Box 32"/>
          <p:cNvSpPr txBox="1">
            <a:spLocks noChangeArrowheads="1"/>
          </p:cNvSpPr>
          <p:nvPr/>
        </p:nvSpPr>
        <p:spPr bwMode="auto">
          <a:xfrm>
            <a:off x="4495800" y="3810000"/>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a:t>
            </a:r>
          </a:p>
        </p:txBody>
      </p:sp>
      <p:sp>
        <p:nvSpPr>
          <p:cNvPr id="41" name="Text Box 33"/>
          <p:cNvSpPr txBox="1">
            <a:spLocks noChangeArrowheads="1"/>
          </p:cNvSpPr>
          <p:nvPr/>
        </p:nvSpPr>
        <p:spPr bwMode="auto">
          <a:xfrm>
            <a:off x="5226050" y="4343400"/>
            <a:ext cx="33655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a:t>
            </a:r>
          </a:p>
        </p:txBody>
      </p:sp>
      <p:sp>
        <p:nvSpPr>
          <p:cNvPr id="42" name="Text Box 34"/>
          <p:cNvSpPr txBox="1">
            <a:spLocks noChangeArrowheads="1"/>
          </p:cNvSpPr>
          <p:nvPr/>
        </p:nvSpPr>
        <p:spPr bwMode="auto">
          <a:xfrm>
            <a:off x="3048000" y="3794125"/>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A</a:t>
            </a:r>
          </a:p>
        </p:txBody>
      </p:sp>
      <p:sp>
        <p:nvSpPr>
          <p:cNvPr id="43" name="Text Box 35"/>
          <p:cNvSpPr txBox="1">
            <a:spLocks noChangeArrowheads="1"/>
          </p:cNvSpPr>
          <p:nvPr/>
        </p:nvSpPr>
        <p:spPr bwMode="auto">
          <a:xfrm>
            <a:off x="3856038" y="4403725"/>
            <a:ext cx="334962" cy="457200"/>
          </a:xfrm>
          <a:prstGeom prst="rect">
            <a:avLst/>
          </a:prstGeom>
          <a:noFill/>
          <a:ln w="28575">
            <a:noFill/>
            <a:miter lim="800000"/>
            <a:headEnd/>
            <a:tailEnd/>
          </a:ln>
        </p:spPr>
        <p:txBody>
          <a:bodyPr>
            <a:spAutoFit/>
          </a:bodyPr>
          <a:lstStyle/>
          <a:p>
            <a:pPr>
              <a:spcBef>
                <a:spcPct val="50000"/>
              </a:spcBef>
              <a:buClrTx/>
              <a:buFontTx/>
              <a:buNone/>
            </a:pPr>
            <a:r>
              <a:rPr lang="en-US" altLang="zh-CN">
                <a:solidFill>
                  <a:srgbClr val="800080"/>
                </a:solidFill>
                <a:ea typeface="宋体" pitchFamily="2" charset="-122"/>
              </a:rPr>
              <a:t>*</a:t>
            </a:r>
          </a:p>
        </p:txBody>
      </p:sp>
      <p:sp>
        <p:nvSpPr>
          <p:cNvPr id="44" name="Text Box 36"/>
          <p:cNvSpPr txBox="1">
            <a:spLocks noChangeArrowheads="1"/>
          </p:cNvSpPr>
          <p:nvPr/>
        </p:nvSpPr>
        <p:spPr bwMode="auto">
          <a:xfrm>
            <a:off x="4876800" y="5013325"/>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E</a:t>
            </a:r>
          </a:p>
        </p:txBody>
      </p:sp>
      <p:sp>
        <p:nvSpPr>
          <p:cNvPr id="45" name="Line 37"/>
          <p:cNvSpPr>
            <a:spLocks noChangeShapeType="1"/>
          </p:cNvSpPr>
          <p:nvPr/>
        </p:nvSpPr>
        <p:spPr bwMode="auto">
          <a:xfrm flipV="1">
            <a:off x="3352800" y="3581400"/>
            <a:ext cx="533400" cy="304800"/>
          </a:xfrm>
          <a:prstGeom prst="line">
            <a:avLst/>
          </a:prstGeom>
          <a:noFill/>
          <a:ln w="9525">
            <a:solidFill>
              <a:srgbClr val="800080"/>
            </a:solidFill>
            <a:round/>
            <a:headEnd/>
            <a:tailEnd/>
          </a:ln>
        </p:spPr>
        <p:txBody>
          <a:bodyPr wrap="none" anchor="ctr"/>
          <a:lstStyle/>
          <a:p>
            <a:endParaRPr lang="zh-CN" altLang="en-US"/>
          </a:p>
        </p:txBody>
      </p:sp>
      <p:sp>
        <p:nvSpPr>
          <p:cNvPr id="46" name="Line 38"/>
          <p:cNvSpPr>
            <a:spLocks noChangeShapeType="1"/>
          </p:cNvSpPr>
          <p:nvPr/>
        </p:nvSpPr>
        <p:spPr bwMode="auto">
          <a:xfrm>
            <a:off x="4038600" y="3581400"/>
            <a:ext cx="533400" cy="381000"/>
          </a:xfrm>
          <a:prstGeom prst="line">
            <a:avLst/>
          </a:prstGeom>
          <a:noFill/>
          <a:ln w="9525">
            <a:solidFill>
              <a:srgbClr val="800080"/>
            </a:solidFill>
            <a:round/>
            <a:headEnd/>
            <a:tailEnd/>
          </a:ln>
        </p:spPr>
        <p:txBody>
          <a:bodyPr wrap="none" anchor="ctr"/>
          <a:lstStyle/>
          <a:p>
            <a:endParaRPr lang="zh-CN" altLang="en-US"/>
          </a:p>
        </p:txBody>
      </p:sp>
      <p:sp>
        <p:nvSpPr>
          <p:cNvPr id="47" name="Line 39"/>
          <p:cNvSpPr>
            <a:spLocks noChangeShapeType="1"/>
          </p:cNvSpPr>
          <p:nvPr/>
        </p:nvSpPr>
        <p:spPr bwMode="auto">
          <a:xfrm flipH="1">
            <a:off x="4114800" y="4114800"/>
            <a:ext cx="457200" cy="304800"/>
          </a:xfrm>
          <a:prstGeom prst="line">
            <a:avLst/>
          </a:prstGeom>
          <a:noFill/>
          <a:ln w="9525">
            <a:solidFill>
              <a:srgbClr val="800080"/>
            </a:solidFill>
            <a:round/>
            <a:headEnd/>
            <a:tailEnd/>
          </a:ln>
        </p:spPr>
        <p:txBody>
          <a:bodyPr wrap="none" anchor="ctr"/>
          <a:lstStyle/>
          <a:p>
            <a:endParaRPr lang="zh-CN" altLang="en-US"/>
          </a:p>
        </p:txBody>
      </p:sp>
      <p:sp>
        <p:nvSpPr>
          <p:cNvPr id="48" name="Line 40"/>
          <p:cNvSpPr>
            <a:spLocks noChangeShapeType="1"/>
          </p:cNvSpPr>
          <p:nvPr/>
        </p:nvSpPr>
        <p:spPr bwMode="auto">
          <a:xfrm>
            <a:off x="4800600" y="4114800"/>
            <a:ext cx="406400" cy="304800"/>
          </a:xfrm>
          <a:prstGeom prst="line">
            <a:avLst/>
          </a:prstGeom>
          <a:noFill/>
          <a:ln w="9525">
            <a:solidFill>
              <a:srgbClr val="800080"/>
            </a:solidFill>
            <a:round/>
            <a:headEnd/>
            <a:tailEnd/>
          </a:ln>
        </p:spPr>
        <p:txBody>
          <a:bodyPr wrap="none" anchor="ctr"/>
          <a:lstStyle/>
          <a:p>
            <a:endParaRPr lang="zh-CN" altLang="en-US"/>
          </a:p>
        </p:txBody>
      </p:sp>
      <p:sp>
        <p:nvSpPr>
          <p:cNvPr id="49" name="Line 41"/>
          <p:cNvSpPr>
            <a:spLocks noChangeShapeType="1"/>
          </p:cNvSpPr>
          <p:nvPr/>
        </p:nvSpPr>
        <p:spPr bwMode="auto">
          <a:xfrm>
            <a:off x="5486400" y="4648200"/>
            <a:ext cx="457200" cy="381000"/>
          </a:xfrm>
          <a:prstGeom prst="line">
            <a:avLst/>
          </a:prstGeom>
          <a:noFill/>
          <a:ln w="9525">
            <a:solidFill>
              <a:srgbClr val="800080"/>
            </a:solidFill>
            <a:round/>
            <a:headEnd/>
            <a:tailEnd/>
          </a:ln>
        </p:spPr>
        <p:txBody>
          <a:bodyPr wrap="none" anchor="ctr"/>
          <a:lstStyle/>
          <a:p>
            <a:endParaRPr lang="zh-CN" altLang="en-US"/>
          </a:p>
        </p:txBody>
      </p:sp>
      <p:sp>
        <p:nvSpPr>
          <p:cNvPr id="50" name="Line 42"/>
          <p:cNvSpPr>
            <a:spLocks noChangeShapeType="1"/>
          </p:cNvSpPr>
          <p:nvPr/>
        </p:nvSpPr>
        <p:spPr bwMode="auto">
          <a:xfrm flipH="1">
            <a:off x="5105400" y="4681538"/>
            <a:ext cx="152400" cy="347662"/>
          </a:xfrm>
          <a:prstGeom prst="line">
            <a:avLst/>
          </a:prstGeom>
          <a:noFill/>
          <a:ln w="9525">
            <a:solidFill>
              <a:srgbClr val="800080"/>
            </a:solidFill>
            <a:round/>
            <a:headEnd/>
            <a:tailEnd/>
          </a:ln>
        </p:spPr>
        <p:txBody>
          <a:bodyPr wrap="none" anchor="ctr"/>
          <a:lstStyle/>
          <a:p>
            <a:endParaRPr lang="zh-CN" altLang="en-US"/>
          </a:p>
        </p:txBody>
      </p:sp>
      <p:sp>
        <p:nvSpPr>
          <p:cNvPr id="51" name="Line 44"/>
          <p:cNvSpPr>
            <a:spLocks noChangeShapeType="1"/>
          </p:cNvSpPr>
          <p:nvPr/>
        </p:nvSpPr>
        <p:spPr bwMode="auto">
          <a:xfrm>
            <a:off x="4114800" y="4648200"/>
            <a:ext cx="457200" cy="457200"/>
          </a:xfrm>
          <a:prstGeom prst="line">
            <a:avLst/>
          </a:prstGeom>
          <a:noFill/>
          <a:ln w="9525">
            <a:solidFill>
              <a:srgbClr val="800080"/>
            </a:solidFill>
            <a:round/>
            <a:headEnd/>
            <a:tailEnd/>
          </a:ln>
        </p:spPr>
        <p:txBody>
          <a:bodyPr wrap="none" anchor="ctr"/>
          <a:lstStyle/>
          <a:p>
            <a:endParaRPr lang="zh-CN" altLang="en-US"/>
          </a:p>
        </p:txBody>
      </p:sp>
      <p:sp>
        <p:nvSpPr>
          <p:cNvPr id="52" name="Text Box 45"/>
          <p:cNvSpPr txBox="1">
            <a:spLocks noChangeArrowheads="1"/>
          </p:cNvSpPr>
          <p:nvPr/>
        </p:nvSpPr>
        <p:spPr bwMode="auto">
          <a:xfrm>
            <a:off x="4495800" y="4953000"/>
            <a:ext cx="381000" cy="457200"/>
          </a:xfrm>
          <a:prstGeom prst="rect">
            <a:avLst/>
          </a:prstGeom>
          <a:noFill/>
          <a:ln w="28575">
            <a:noFill/>
            <a:miter lim="800000"/>
            <a:headEnd/>
            <a:tailEnd/>
          </a:ln>
        </p:spPr>
        <p:txBody>
          <a:bodyPr>
            <a:spAutoFit/>
          </a:bodyPr>
          <a:lstStyle/>
          <a:p>
            <a:pPr>
              <a:spcBef>
                <a:spcPct val="50000"/>
              </a:spcBef>
              <a:buClrTx/>
              <a:buFontTx/>
              <a:buNone/>
            </a:pPr>
            <a:r>
              <a:rPr lang="en-US" altLang="zh-CN">
                <a:solidFill>
                  <a:srgbClr val="800080"/>
                </a:solidFill>
                <a:ea typeface="宋体" pitchFamily="2" charset="-122"/>
              </a:rPr>
              <a:t>-</a:t>
            </a:r>
          </a:p>
        </p:txBody>
      </p:sp>
      <p:sp>
        <p:nvSpPr>
          <p:cNvPr id="53" name="Text Box 46"/>
          <p:cNvSpPr txBox="1">
            <a:spLocks noChangeArrowheads="1"/>
          </p:cNvSpPr>
          <p:nvPr/>
        </p:nvSpPr>
        <p:spPr bwMode="auto">
          <a:xfrm>
            <a:off x="3276600" y="4979988"/>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B</a:t>
            </a:r>
          </a:p>
        </p:txBody>
      </p:sp>
      <p:sp>
        <p:nvSpPr>
          <p:cNvPr id="54" name="Line 47"/>
          <p:cNvSpPr>
            <a:spLocks noChangeShapeType="1"/>
          </p:cNvSpPr>
          <p:nvPr/>
        </p:nvSpPr>
        <p:spPr bwMode="auto">
          <a:xfrm flipH="1">
            <a:off x="3581400" y="4648200"/>
            <a:ext cx="304800" cy="381000"/>
          </a:xfrm>
          <a:prstGeom prst="line">
            <a:avLst/>
          </a:prstGeom>
          <a:noFill/>
          <a:ln w="9525">
            <a:solidFill>
              <a:srgbClr val="800080"/>
            </a:solidFill>
            <a:round/>
            <a:headEnd/>
            <a:tailEnd/>
          </a:ln>
        </p:spPr>
        <p:txBody>
          <a:bodyPr wrap="none" anchor="ctr"/>
          <a:lstStyle/>
          <a:p>
            <a:endParaRPr lang="zh-CN" altLang="en-US"/>
          </a:p>
        </p:txBody>
      </p:sp>
      <p:sp>
        <p:nvSpPr>
          <p:cNvPr id="55" name="Text Box 48"/>
          <p:cNvSpPr txBox="1">
            <a:spLocks noChangeArrowheads="1"/>
          </p:cNvSpPr>
          <p:nvPr/>
        </p:nvSpPr>
        <p:spPr bwMode="auto">
          <a:xfrm>
            <a:off x="4800600" y="5699125"/>
            <a:ext cx="479425"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D</a:t>
            </a:r>
          </a:p>
        </p:txBody>
      </p:sp>
      <p:sp>
        <p:nvSpPr>
          <p:cNvPr id="56" name="Text Box 49"/>
          <p:cNvSpPr txBox="1">
            <a:spLocks noChangeArrowheads="1"/>
          </p:cNvSpPr>
          <p:nvPr/>
        </p:nvSpPr>
        <p:spPr bwMode="auto">
          <a:xfrm>
            <a:off x="4114800" y="5683250"/>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C</a:t>
            </a:r>
          </a:p>
        </p:txBody>
      </p:sp>
      <p:sp>
        <p:nvSpPr>
          <p:cNvPr id="57" name="Line 50"/>
          <p:cNvSpPr>
            <a:spLocks noChangeShapeType="1"/>
          </p:cNvSpPr>
          <p:nvPr/>
        </p:nvSpPr>
        <p:spPr bwMode="auto">
          <a:xfrm>
            <a:off x="4724400" y="5318125"/>
            <a:ext cx="228600" cy="396875"/>
          </a:xfrm>
          <a:prstGeom prst="line">
            <a:avLst/>
          </a:prstGeom>
          <a:noFill/>
          <a:ln w="9525">
            <a:solidFill>
              <a:srgbClr val="800080"/>
            </a:solidFill>
            <a:round/>
            <a:headEnd/>
            <a:tailEnd/>
          </a:ln>
        </p:spPr>
        <p:txBody>
          <a:bodyPr wrap="none" anchor="ctr"/>
          <a:lstStyle/>
          <a:p>
            <a:endParaRPr lang="zh-CN" altLang="en-US"/>
          </a:p>
        </p:txBody>
      </p:sp>
      <p:sp>
        <p:nvSpPr>
          <p:cNvPr id="58" name="Line 51"/>
          <p:cNvSpPr>
            <a:spLocks noChangeShapeType="1"/>
          </p:cNvSpPr>
          <p:nvPr/>
        </p:nvSpPr>
        <p:spPr bwMode="auto">
          <a:xfrm flipH="1">
            <a:off x="4343400" y="5351463"/>
            <a:ext cx="152400" cy="347662"/>
          </a:xfrm>
          <a:prstGeom prst="line">
            <a:avLst/>
          </a:prstGeom>
          <a:noFill/>
          <a:ln w="9525">
            <a:solidFill>
              <a:srgbClr val="800080"/>
            </a:solidFill>
            <a:round/>
            <a:headEnd/>
            <a:tailEnd/>
          </a:ln>
        </p:spPr>
        <p:txBody>
          <a:bodyPr wrap="none" anchor="ctr"/>
          <a:lstStyle/>
          <a:p>
            <a:endParaRPr lang="zh-CN" altLang="en-US"/>
          </a:p>
        </p:txBody>
      </p:sp>
      <p:sp>
        <p:nvSpPr>
          <p:cNvPr id="59" name="Line 53"/>
          <p:cNvSpPr>
            <a:spLocks noChangeShapeType="1"/>
          </p:cNvSpPr>
          <p:nvPr/>
        </p:nvSpPr>
        <p:spPr bwMode="auto">
          <a:xfrm flipH="1">
            <a:off x="5791200" y="5334000"/>
            <a:ext cx="152400" cy="347663"/>
          </a:xfrm>
          <a:prstGeom prst="line">
            <a:avLst/>
          </a:prstGeom>
          <a:noFill/>
          <a:ln w="9525">
            <a:solidFill>
              <a:srgbClr val="800080"/>
            </a:solidFill>
            <a:round/>
            <a:headEnd/>
            <a:tailEnd/>
          </a:ln>
        </p:spPr>
        <p:txBody>
          <a:bodyPr wrap="none" anchor="ctr"/>
          <a:lstStyle/>
          <a:p>
            <a:endParaRPr lang="zh-CN" altLang="en-US"/>
          </a:p>
        </p:txBody>
      </p:sp>
      <p:sp>
        <p:nvSpPr>
          <p:cNvPr id="60" name="Text Box 54"/>
          <p:cNvSpPr txBox="1">
            <a:spLocks noChangeArrowheads="1"/>
          </p:cNvSpPr>
          <p:nvPr/>
        </p:nvSpPr>
        <p:spPr bwMode="auto">
          <a:xfrm>
            <a:off x="5616575" y="5562600"/>
            <a:ext cx="381000" cy="457200"/>
          </a:xfrm>
          <a:prstGeom prst="rect">
            <a:avLst/>
          </a:prstGeom>
          <a:noFill/>
          <a:ln w="28575">
            <a:noFill/>
            <a:miter lim="800000"/>
            <a:headEnd/>
            <a:tailEnd/>
          </a:ln>
        </p:spPr>
        <p:txBody>
          <a:bodyPr>
            <a:spAutoFit/>
          </a:bodyPr>
          <a:lstStyle/>
          <a:p>
            <a:pPr>
              <a:spcBef>
                <a:spcPct val="50000"/>
              </a:spcBef>
              <a:buClrTx/>
              <a:buFontTx/>
              <a:buNone/>
            </a:pPr>
            <a:r>
              <a:rPr lang="en-US" altLang="zh-CN">
                <a:solidFill>
                  <a:srgbClr val="800080"/>
                </a:solidFill>
                <a:ea typeface="宋体" pitchFamily="2" charset="-122"/>
              </a:rPr>
              <a:t>-</a:t>
            </a:r>
          </a:p>
        </p:txBody>
      </p:sp>
      <p:sp>
        <p:nvSpPr>
          <p:cNvPr id="61" name="Text Box 55"/>
          <p:cNvSpPr txBox="1">
            <a:spLocks noChangeArrowheads="1"/>
          </p:cNvSpPr>
          <p:nvPr/>
        </p:nvSpPr>
        <p:spPr bwMode="auto">
          <a:xfrm>
            <a:off x="5921375" y="6308725"/>
            <a:ext cx="479425"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D</a:t>
            </a:r>
          </a:p>
        </p:txBody>
      </p:sp>
      <p:sp>
        <p:nvSpPr>
          <p:cNvPr id="62" name="Text Box 56"/>
          <p:cNvSpPr txBox="1">
            <a:spLocks noChangeArrowheads="1"/>
          </p:cNvSpPr>
          <p:nvPr/>
        </p:nvSpPr>
        <p:spPr bwMode="auto">
          <a:xfrm>
            <a:off x="5235575" y="6292850"/>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C</a:t>
            </a:r>
          </a:p>
        </p:txBody>
      </p:sp>
      <p:sp>
        <p:nvSpPr>
          <p:cNvPr id="63" name="Line 57"/>
          <p:cNvSpPr>
            <a:spLocks noChangeShapeType="1"/>
          </p:cNvSpPr>
          <p:nvPr/>
        </p:nvSpPr>
        <p:spPr bwMode="auto">
          <a:xfrm>
            <a:off x="5845175" y="5927725"/>
            <a:ext cx="228600" cy="396875"/>
          </a:xfrm>
          <a:prstGeom prst="line">
            <a:avLst/>
          </a:prstGeom>
          <a:noFill/>
          <a:ln w="9525">
            <a:solidFill>
              <a:srgbClr val="800080"/>
            </a:solidFill>
            <a:round/>
            <a:headEnd/>
            <a:tailEnd/>
          </a:ln>
        </p:spPr>
        <p:txBody>
          <a:bodyPr wrap="none" anchor="ctr"/>
          <a:lstStyle/>
          <a:p>
            <a:endParaRPr lang="zh-CN" altLang="en-US"/>
          </a:p>
        </p:txBody>
      </p:sp>
      <p:sp>
        <p:nvSpPr>
          <p:cNvPr id="64" name="Line 58"/>
          <p:cNvSpPr>
            <a:spLocks noChangeShapeType="1"/>
          </p:cNvSpPr>
          <p:nvPr/>
        </p:nvSpPr>
        <p:spPr bwMode="auto">
          <a:xfrm flipH="1">
            <a:off x="5464175" y="5961063"/>
            <a:ext cx="152400" cy="347662"/>
          </a:xfrm>
          <a:prstGeom prst="line">
            <a:avLst/>
          </a:prstGeom>
          <a:noFill/>
          <a:ln w="9525">
            <a:solidFill>
              <a:srgbClr val="800080"/>
            </a:solidFill>
            <a:round/>
            <a:headEnd/>
            <a:tailEnd/>
          </a:ln>
        </p:spPr>
        <p:txBody>
          <a:bodyPr wrap="none" anchor="ctr"/>
          <a:lstStyle/>
          <a:p>
            <a:endParaRPr lang="zh-CN" altLang="en-US"/>
          </a:p>
        </p:txBody>
      </p:sp>
      <p:sp>
        <p:nvSpPr>
          <p:cNvPr id="65" name="Line 59"/>
          <p:cNvSpPr>
            <a:spLocks noChangeShapeType="1"/>
          </p:cNvSpPr>
          <p:nvPr/>
        </p:nvSpPr>
        <p:spPr bwMode="auto">
          <a:xfrm>
            <a:off x="6172200" y="5257800"/>
            <a:ext cx="457200" cy="381000"/>
          </a:xfrm>
          <a:prstGeom prst="line">
            <a:avLst/>
          </a:prstGeom>
          <a:noFill/>
          <a:ln w="9525">
            <a:solidFill>
              <a:srgbClr val="800080"/>
            </a:solidFill>
            <a:round/>
            <a:headEnd/>
            <a:tailEnd/>
          </a:ln>
        </p:spPr>
        <p:txBody>
          <a:bodyPr wrap="none" anchor="ctr"/>
          <a:lstStyle/>
          <a:p>
            <a:endParaRPr lang="zh-CN" altLang="en-US"/>
          </a:p>
        </p:txBody>
      </p:sp>
      <p:sp>
        <p:nvSpPr>
          <p:cNvPr id="66" name="Text Box 60"/>
          <p:cNvSpPr txBox="1">
            <a:spLocks noChangeArrowheads="1"/>
          </p:cNvSpPr>
          <p:nvPr/>
        </p:nvSpPr>
        <p:spPr bwMode="auto">
          <a:xfrm>
            <a:off x="6629400" y="5622925"/>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N</a:t>
            </a:r>
          </a:p>
        </p:txBody>
      </p:sp>
      <p:sp>
        <p:nvSpPr>
          <p:cNvPr id="4" name="灯片编号占位符 3">
            <a:extLst>
              <a:ext uri="{FF2B5EF4-FFF2-40B4-BE49-F238E27FC236}">
                <a16:creationId xmlns:a16="http://schemas.microsoft.com/office/drawing/2014/main" id="{94440F77-371E-4C9D-8104-3C089BCD9082}"/>
              </a:ext>
            </a:extLst>
          </p:cNvPr>
          <p:cNvSpPr>
            <a:spLocks noGrp="1"/>
          </p:cNvSpPr>
          <p:nvPr>
            <p:ph type="sldNum" sz="quarter" idx="4"/>
          </p:nvPr>
        </p:nvSpPr>
        <p:spPr/>
        <p:txBody>
          <a:bodyPr/>
          <a:lstStyle/>
          <a:p>
            <a:fld id="{565CE74E-AB26-4998-AD42-012C4C1AD076}" type="slidenum">
              <a:rPr lang="zh-CN" altLang="en-US" smtClean="0"/>
              <a:pPr/>
              <a:t>25</a:t>
            </a:fld>
            <a:endParaRPr lang="zh-CN" altLang="en-US"/>
          </a:p>
        </p:txBody>
      </p:sp>
    </p:spTree>
    <p:extLst>
      <p:ext uri="{BB962C8B-B14F-4D97-AF65-F5344CB8AC3E}">
        <p14:creationId xmlns:p14="http://schemas.microsoft.com/office/powerpoint/2010/main" val="18509230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有向无圈图（</a:t>
            </a:r>
            <a:r>
              <a:rPr lang="en-US" altLang="zh-CN" dirty="0"/>
              <a:t>Directed Acyclic Graph</a:t>
            </a:r>
            <a:r>
              <a:rPr lang="zh-CN" altLang="en-US" dirty="0"/>
              <a:t>）</a:t>
            </a:r>
            <a:endParaRPr lang="en-US" altLang="zh-CN" dirty="0"/>
          </a:p>
          <a:p>
            <a:pPr lvl="1"/>
            <a:r>
              <a:rPr lang="zh-CN" altLang="en-US" dirty="0"/>
              <a:t>改进型的</a:t>
            </a:r>
            <a:r>
              <a:rPr lang="en-US" altLang="zh-CN" dirty="0"/>
              <a:t>AST</a:t>
            </a:r>
            <a:r>
              <a:rPr lang="zh-CN" altLang="en-US" dirty="0"/>
              <a:t>。</a:t>
            </a:r>
            <a:endParaRPr lang="en-US" altLang="zh-CN" dirty="0"/>
          </a:p>
          <a:p>
            <a:pPr lvl="1"/>
            <a:r>
              <a:rPr lang="zh-CN" altLang="en-US" dirty="0"/>
              <a:t>在</a:t>
            </a:r>
            <a:r>
              <a:rPr lang="en-US" altLang="zh-CN" dirty="0"/>
              <a:t>AST</a:t>
            </a:r>
            <a:r>
              <a:rPr lang="zh-CN" altLang="en-US" dirty="0"/>
              <a:t>基础上对某些执行同样动作或运算的子树进行合并</a:t>
            </a:r>
          </a:p>
          <a:p>
            <a:pPr lvl="1"/>
            <a:r>
              <a:rPr lang="zh-CN" altLang="en-US" dirty="0"/>
              <a:t>算术表达式 </a:t>
            </a:r>
            <a:r>
              <a:rPr lang="en-US" altLang="zh-CN" dirty="0">
                <a:solidFill>
                  <a:srgbClr val="800080"/>
                </a:solidFill>
              </a:rPr>
              <a:t>A + B * ( C - D ) + E / ( C - D ) ^N</a:t>
            </a:r>
          </a:p>
          <a:p>
            <a:pPr lvl="1"/>
            <a:endParaRPr lang="zh-CN" altLang="en-US" dirty="0"/>
          </a:p>
        </p:txBody>
      </p:sp>
      <p:sp>
        <p:nvSpPr>
          <p:cNvPr id="3" name="标题 2"/>
          <p:cNvSpPr>
            <a:spLocks noGrp="1"/>
          </p:cNvSpPr>
          <p:nvPr>
            <p:ph type="title"/>
          </p:nvPr>
        </p:nvSpPr>
        <p:spPr/>
        <p:txBody>
          <a:bodyPr/>
          <a:lstStyle/>
          <a:p>
            <a:r>
              <a:rPr lang="zh-CN" altLang="en-US" dirty="0"/>
              <a:t>三、中间代码表示</a:t>
            </a:r>
            <a:r>
              <a:rPr lang="en-US" altLang="zh-CN" dirty="0"/>
              <a:t>              </a:t>
            </a:r>
            <a:r>
              <a:rPr lang="zh-CN" altLang="en-US" dirty="0">
                <a:solidFill>
                  <a:srgbClr val="FF0000"/>
                </a:solidFill>
              </a:rPr>
              <a:t>有向无圈图</a:t>
            </a:r>
            <a:endParaRPr lang="zh-CN" altLang="en-US" dirty="0"/>
          </a:p>
        </p:txBody>
      </p:sp>
      <p:sp>
        <p:nvSpPr>
          <p:cNvPr id="4" name="Text Box 9"/>
          <p:cNvSpPr txBox="1">
            <a:spLocks noChangeArrowheads="1"/>
          </p:cNvSpPr>
          <p:nvPr/>
        </p:nvSpPr>
        <p:spPr bwMode="auto">
          <a:xfrm>
            <a:off x="7995553" y="4678362"/>
            <a:ext cx="479425" cy="396875"/>
          </a:xfrm>
          <a:prstGeom prst="rect">
            <a:avLst/>
          </a:prstGeom>
          <a:noFill/>
          <a:ln w="28575">
            <a:noFill/>
            <a:miter lim="800000"/>
            <a:headEnd/>
            <a:tailEnd/>
          </a:ln>
        </p:spPr>
        <p:txBody>
          <a:bodyPr>
            <a:spAutoFit/>
          </a:bodyPr>
          <a:lstStyle/>
          <a:p>
            <a:pPr>
              <a:spcBef>
                <a:spcPct val="50000"/>
              </a:spcBef>
              <a:buClrTx/>
              <a:buFontTx/>
              <a:buNone/>
            </a:pPr>
            <a:r>
              <a:rPr lang="en-US" altLang="en-US" sz="2000">
                <a:solidFill>
                  <a:srgbClr val="800080"/>
                </a:solidFill>
                <a:ea typeface="宋体" pitchFamily="2" charset="-122"/>
              </a:rPr>
              <a:t>^</a:t>
            </a:r>
            <a:endParaRPr lang="en-US" altLang="zh-CN" sz="2000">
              <a:solidFill>
                <a:srgbClr val="800080"/>
              </a:solidFill>
              <a:ea typeface="宋体" pitchFamily="2" charset="-122"/>
            </a:endParaRPr>
          </a:p>
        </p:txBody>
      </p:sp>
      <p:sp>
        <p:nvSpPr>
          <p:cNvPr id="5" name="Text Box 10"/>
          <p:cNvSpPr txBox="1">
            <a:spLocks noChangeArrowheads="1"/>
          </p:cNvSpPr>
          <p:nvPr/>
        </p:nvSpPr>
        <p:spPr bwMode="auto">
          <a:xfrm>
            <a:off x="5861953" y="2925762"/>
            <a:ext cx="403225"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a:t>
            </a:r>
          </a:p>
        </p:txBody>
      </p:sp>
      <p:sp>
        <p:nvSpPr>
          <p:cNvPr id="6" name="Text Box 11"/>
          <p:cNvSpPr txBox="1">
            <a:spLocks noChangeArrowheads="1"/>
          </p:cNvSpPr>
          <p:nvPr/>
        </p:nvSpPr>
        <p:spPr bwMode="auto">
          <a:xfrm>
            <a:off x="6569978" y="3459162"/>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a:t>
            </a:r>
          </a:p>
        </p:txBody>
      </p:sp>
      <p:sp>
        <p:nvSpPr>
          <p:cNvPr id="7" name="Text Box 12"/>
          <p:cNvSpPr txBox="1">
            <a:spLocks noChangeArrowheads="1"/>
          </p:cNvSpPr>
          <p:nvPr/>
        </p:nvSpPr>
        <p:spPr bwMode="auto">
          <a:xfrm>
            <a:off x="7300228" y="3992562"/>
            <a:ext cx="33655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a:t>
            </a:r>
          </a:p>
        </p:txBody>
      </p:sp>
      <p:sp>
        <p:nvSpPr>
          <p:cNvPr id="8" name="Text Box 13"/>
          <p:cNvSpPr txBox="1">
            <a:spLocks noChangeArrowheads="1"/>
          </p:cNvSpPr>
          <p:nvPr/>
        </p:nvSpPr>
        <p:spPr bwMode="auto">
          <a:xfrm>
            <a:off x="5122178" y="3443287"/>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A</a:t>
            </a:r>
          </a:p>
        </p:txBody>
      </p:sp>
      <p:sp>
        <p:nvSpPr>
          <p:cNvPr id="9" name="Text Box 14"/>
          <p:cNvSpPr txBox="1">
            <a:spLocks noChangeArrowheads="1"/>
          </p:cNvSpPr>
          <p:nvPr/>
        </p:nvSpPr>
        <p:spPr bwMode="auto">
          <a:xfrm>
            <a:off x="5930216" y="4052887"/>
            <a:ext cx="334962" cy="457200"/>
          </a:xfrm>
          <a:prstGeom prst="rect">
            <a:avLst/>
          </a:prstGeom>
          <a:noFill/>
          <a:ln w="28575">
            <a:noFill/>
            <a:miter lim="800000"/>
            <a:headEnd/>
            <a:tailEnd/>
          </a:ln>
        </p:spPr>
        <p:txBody>
          <a:bodyPr>
            <a:spAutoFit/>
          </a:bodyPr>
          <a:lstStyle/>
          <a:p>
            <a:pPr>
              <a:spcBef>
                <a:spcPct val="50000"/>
              </a:spcBef>
              <a:buClrTx/>
              <a:buFontTx/>
              <a:buNone/>
            </a:pPr>
            <a:r>
              <a:rPr lang="en-US" altLang="zh-CN">
                <a:solidFill>
                  <a:srgbClr val="800080"/>
                </a:solidFill>
                <a:ea typeface="宋体" pitchFamily="2" charset="-122"/>
              </a:rPr>
              <a:t>*</a:t>
            </a:r>
          </a:p>
        </p:txBody>
      </p:sp>
      <p:sp>
        <p:nvSpPr>
          <p:cNvPr id="10" name="Text Box 15"/>
          <p:cNvSpPr txBox="1">
            <a:spLocks noChangeArrowheads="1"/>
          </p:cNvSpPr>
          <p:nvPr/>
        </p:nvSpPr>
        <p:spPr bwMode="auto">
          <a:xfrm>
            <a:off x="6950978" y="4662487"/>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E</a:t>
            </a:r>
          </a:p>
        </p:txBody>
      </p:sp>
      <p:sp>
        <p:nvSpPr>
          <p:cNvPr id="11" name="Line 16"/>
          <p:cNvSpPr>
            <a:spLocks noChangeShapeType="1"/>
          </p:cNvSpPr>
          <p:nvPr/>
        </p:nvSpPr>
        <p:spPr bwMode="auto">
          <a:xfrm flipV="1">
            <a:off x="5426978" y="3230562"/>
            <a:ext cx="533400" cy="304800"/>
          </a:xfrm>
          <a:prstGeom prst="line">
            <a:avLst/>
          </a:prstGeom>
          <a:noFill/>
          <a:ln w="9525">
            <a:solidFill>
              <a:srgbClr val="800080"/>
            </a:solidFill>
            <a:round/>
            <a:headEnd/>
            <a:tailEnd/>
          </a:ln>
        </p:spPr>
        <p:txBody>
          <a:bodyPr wrap="none" anchor="ctr"/>
          <a:lstStyle/>
          <a:p>
            <a:endParaRPr lang="zh-CN" altLang="en-US"/>
          </a:p>
        </p:txBody>
      </p:sp>
      <p:sp>
        <p:nvSpPr>
          <p:cNvPr id="12" name="Line 17"/>
          <p:cNvSpPr>
            <a:spLocks noChangeShapeType="1"/>
          </p:cNvSpPr>
          <p:nvPr/>
        </p:nvSpPr>
        <p:spPr bwMode="auto">
          <a:xfrm>
            <a:off x="6112778" y="3230562"/>
            <a:ext cx="533400" cy="381000"/>
          </a:xfrm>
          <a:prstGeom prst="line">
            <a:avLst/>
          </a:prstGeom>
          <a:noFill/>
          <a:ln w="9525">
            <a:solidFill>
              <a:srgbClr val="800080"/>
            </a:solidFill>
            <a:round/>
            <a:headEnd/>
            <a:tailEnd/>
          </a:ln>
        </p:spPr>
        <p:txBody>
          <a:bodyPr wrap="none" anchor="ctr"/>
          <a:lstStyle/>
          <a:p>
            <a:endParaRPr lang="zh-CN" altLang="en-US"/>
          </a:p>
        </p:txBody>
      </p:sp>
      <p:sp>
        <p:nvSpPr>
          <p:cNvPr id="13" name="Line 18"/>
          <p:cNvSpPr>
            <a:spLocks noChangeShapeType="1"/>
          </p:cNvSpPr>
          <p:nvPr/>
        </p:nvSpPr>
        <p:spPr bwMode="auto">
          <a:xfrm flipH="1">
            <a:off x="6188978" y="3763962"/>
            <a:ext cx="457200" cy="304800"/>
          </a:xfrm>
          <a:prstGeom prst="line">
            <a:avLst/>
          </a:prstGeom>
          <a:noFill/>
          <a:ln w="9525">
            <a:solidFill>
              <a:srgbClr val="800080"/>
            </a:solidFill>
            <a:round/>
            <a:headEnd/>
            <a:tailEnd/>
          </a:ln>
        </p:spPr>
        <p:txBody>
          <a:bodyPr wrap="none" anchor="ctr"/>
          <a:lstStyle/>
          <a:p>
            <a:endParaRPr lang="zh-CN" altLang="en-US"/>
          </a:p>
        </p:txBody>
      </p:sp>
      <p:sp>
        <p:nvSpPr>
          <p:cNvPr id="14" name="Line 19"/>
          <p:cNvSpPr>
            <a:spLocks noChangeShapeType="1"/>
          </p:cNvSpPr>
          <p:nvPr/>
        </p:nvSpPr>
        <p:spPr bwMode="auto">
          <a:xfrm>
            <a:off x="6874778" y="3763962"/>
            <a:ext cx="406400" cy="304800"/>
          </a:xfrm>
          <a:prstGeom prst="line">
            <a:avLst/>
          </a:prstGeom>
          <a:noFill/>
          <a:ln w="9525">
            <a:solidFill>
              <a:srgbClr val="800080"/>
            </a:solidFill>
            <a:round/>
            <a:headEnd/>
            <a:tailEnd/>
          </a:ln>
        </p:spPr>
        <p:txBody>
          <a:bodyPr wrap="none" anchor="ctr"/>
          <a:lstStyle/>
          <a:p>
            <a:endParaRPr lang="zh-CN" altLang="en-US"/>
          </a:p>
        </p:txBody>
      </p:sp>
      <p:sp>
        <p:nvSpPr>
          <p:cNvPr id="15" name="Line 20"/>
          <p:cNvSpPr>
            <a:spLocks noChangeShapeType="1"/>
          </p:cNvSpPr>
          <p:nvPr/>
        </p:nvSpPr>
        <p:spPr bwMode="auto">
          <a:xfrm>
            <a:off x="7560578" y="4297362"/>
            <a:ext cx="457200" cy="381000"/>
          </a:xfrm>
          <a:prstGeom prst="line">
            <a:avLst/>
          </a:prstGeom>
          <a:noFill/>
          <a:ln w="9525">
            <a:solidFill>
              <a:srgbClr val="800080"/>
            </a:solidFill>
            <a:round/>
            <a:headEnd/>
            <a:tailEnd/>
          </a:ln>
        </p:spPr>
        <p:txBody>
          <a:bodyPr wrap="none" anchor="ctr"/>
          <a:lstStyle/>
          <a:p>
            <a:endParaRPr lang="zh-CN" altLang="en-US"/>
          </a:p>
        </p:txBody>
      </p:sp>
      <p:sp>
        <p:nvSpPr>
          <p:cNvPr id="16" name="Line 21"/>
          <p:cNvSpPr>
            <a:spLocks noChangeShapeType="1"/>
          </p:cNvSpPr>
          <p:nvPr/>
        </p:nvSpPr>
        <p:spPr bwMode="auto">
          <a:xfrm flipH="1">
            <a:off x="7179578" y="4330700"/>
            <a:ext cx="152400" cy="347662"/>
          </a:xfrm>
          <a:prstGeom prst="line">
            <a:avLst/>
          </a:prstGeom>
          <a:noFill/>
          <a:ln w="9525">
            <a:solidFill>
              <a:srgbClr val="800080"/>
            </a:solidFill>
            <a:round/>
            <a:headEnd/>
            <a:tailEnd/>
          </a:ln>
        </p:spPr>
        <p:txBody>
          <a:bodyPr wrap="none" anchor="ctr"/>
          <a:lstStyle/>
          <a:p>
            <a:endParaRPr lang="zh-CN" altLang="en-US"/>
          </a:p>
        </p:txBody>
      </p:sp>
      <p:sp>
        <p:nvSpPr>
          <p:cNvPr id="17" name="Line 22"/>
          <p:cNvSpPr>
            <a:spLocks noChangeShapeType="1"/>
          </p:cNvSpPr>
          <p:nvPr/>
        </p:nvSpPr>
        <p:spPr bwMode="auto">
          <a:xfrm>
            <a:off x="6188978" y="4297362"/>
            <a:ext cx="762000" cy="1066800"/>
          </a:xfrm>
          <a:prstGeom prst="line">
            <a:avLst/>
          </a:prstGeom>
          <a:noFill/>
          <a:ln w="9525">
            <a:solidFill>
              <a:srgbClr val="800080"/>
            </a:solidFill>
            <a:round/>
            <a:headEnd/>
            <a:tailEnd/>
          </a:ln>
        </p:spPr>
        <p:txBody>
          <a:bodyPr wrap="none" anchor="ctr"/>
          <a:lstStyle/>
          <a:p>
            <a:endParaRPr lang="zh-CN" altLang="en-US"/>
          </a:p>
        </p:txBody>
      </p:sp>
      <p:sp>
        <p:nvSpPr>
          <p:cNvPr id="18" name="Text Box 23"/>
          <p:cNvSpPr txBox="1">
            <a:spLocks noChangeArrowheads="1"/>
          </p:cNvSpPr>
          <p:nvPr/>
        </p:nvSpPr>
        <p:spPr bwMode="auto">
          <a:xfrm>
            <a:off x="5350778" y="4629150"/>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B</a:t>
            </a:r>
          </a:p>
        </p:txBody>
      </p:sp>
      <p:sp>
        <p:nvSpPr>
          <p:cNvPr id="19" name="Line 24"/>
          <p:cNvSpPr>
            <a:spLocks noChangeShapeType="1"/>
          </p:cNvSpPr>
          <p:nvPr/>
        </p:nvSpPr>
        <p:spPr bwMode="auto">
          <a:xfrm flipH="1">
            <a:off x="5655578" y="4297362"/>
            <a:ext cx="304800" cy="381000"/>
          </a:xfrm>
          <a:prstGeom prst="line">
            <a:avLst/>
          </a:prstGeom>
          <a:noFill/>
          <a:ln w="9525">
            <a:solidFill>
              <a:srgbClr val="800080"/>
            </a:solidFill>
            <a:round/>
            <a:headEnd/>
            <a:tailEnd/>
          </a:ln>
        </p:spPr>
        <p:txBody>
          <a:bodyPr wrap="none" anchor="ctr"/>
          <a:lstStyle/>
          <a:p>
            <a:endParaRPr lang="zh-CN" altLang="en-US"/>
          </a:p>
        </p:txBody>
      </p:sp>
      <p:sp>
        <p:nvSpPr>
          <p:cNvPr id="20" name="Line 25"/>
          <p:cNvSpPr>
            <a:spLocks noChangeShapeType="1"/>
          </p:cNvSpPr>
          <p:nvPr/>
        </p:nvSpPr>
        <p:spPr bwMode="auto">
          <a:xfrm flipH="1">
            <a:off x="7331978" y="4983162"/>
            <a:ext cx="685800" cy="381000"/>
          </a:xfrm>
          <a:prstGeom prst="line">
            <a:avLst/>
          </a:prstGeom>
          <a:noFill/>
          <a:ln w="9525">
            <a:solidFill>
              <a:srgbClr val="800080"/>
            </a:solidFill>
            <a:round/>
            <a:headEnd/>
            <a:tailEnd/>
          </a:ln>
        </p:spPr>
        <p:txBody>
          <a:bodyPr wrap="none" anchor="ctr"/>
          <a:lstStyle/>
          <a:p>
            <a:endParaRPr lang="zh-CN" altLang="en-US"/>
          </a:p>
        </p:txBody>
      </p:sp>
      <p:sp>
        <p:nvSpPr>
          <p:cNvPr id="21" name="Text Box 26"/>
          <p:cNvSpPr txBox="1">
            <a:spLocks noChangeArrowheads="1"/>
          </p:cNvSpPr>
          <p:nvPr/>
        </p:nvSpPr>
        <p:spPr bwMode="auto">
          <a:xfrm>
            <a:off x="7027178" y="5211762"/>
            <a:ext cx="381000" cy="457200"/>
          </a:xfrm>
          <a:prstGeom prst="rect">
            <a:avLst/>
          </a:prstGeom>
          <a:noFill/>
          <a:ln w="28575">
            <a:noFill/>
            <a:miter lim="800000"/>
            <a:headEnd/>
            <a:tailEnd/>
          </a:ln>
        </p:spPr>
        <p:txBody>
          <a:bodyPr>
            <a:spAutoFit/>
          </a:bodyPr>
          <a:lstStyle/>
          <a:p>
            <a:pPr>
              <a:spcBef>
                <a:spcPct val="50000"/>
              </a:spcBef>
              <a:buClrTx/>
              <a:buFontTx/>
              <a:buNone/>
            </a:pPr>
            <a:r>
              <a:rPr lang="en-US" altLang="zh-CN">
                <a:solidFill>
                  <a:srgbClr val="800080"/>
                </a:solidFill>
                <a:ea typeface="宋体" pitchFamily="2" charset="-122"/>
              </a:rPr>
              <a:t>-</a:t>
            </a:r>
          </a:p>
        </p:txBody>
      </p:sp>
      <p:sp>
        <p:nvSpPr>
          <p:cNvPr id="22" name="Text Box 27"/>
          <p:cNvSpPr txBox="1">
            <a:spLocks noChangeArrowheads="1"/>
          </p:cNvSpPr>
          <p:nvPr/>
        </p:nvSpPr>
        <p:spPr bwMode="auto">
          <a:xfrm>
            <a:off x="7331978" y="5957887"/>
            <a:ext cx="479425"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D</a:t>
            </a:r>
          </a:p>
        </p:txBody>
      </p:sp>
      <p:sp>
        <p:nvSpPr>
          <p:cNvPr id="23" name="Text Box 28"/>
          <p:cNvSpPr txBox="1">
            <a:spLocks noChangeArrowheads="1"/>
          </p:cNvSpPr>
          <p:nvPr/>
        </p:nvSpPr>
        <p:spPr bwMode="auto">
          <a:xfrm>
            <a:off x="6646178" y="5942012"/>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C</a:t>
            </a:r>
          </a:p>
        </p:txBody>
      </p:sp>
      <p:sp>
        <p:nvSpPr>
          <p:cNvPr id="24" name="Line 29"/>
          <p:cNvSpPr>
            <a:spLocks noChangeShapeType="1"/>
          </p:cNvSpPr>
          <p:nvPr/>
        </p:nvSpPr>
        <p:spPr bwMode="auto">
          <a:xfrm>
            <a:off x="7255778" y="5576887"/>
            <a:ext cx="228600" cy="396875"/>
          </a:xfrm>
          <a:prstGeom prst="line">
            <a:avLst/>
          </a:prstGeom>
          <a:noFill/>
          <a:ln w="9525">
            <a:solidFill>
              <a:srgbClr val="800080"/>
            </a:solidFill>
            <a:round/>
            <a:headEnd/>
            <a:tailEnd/>
          </a:ln>
        </p:spPr>
        <p:txBody>
          <a:bodyPr wrap="none" anchor="ctr"/>
          <a:lstStyle/>
          <a:p>
            <a:endParaRPr lang="zh-CN" altLang="en-US"/>
          </a:p>
        </p:txBody>
      </p:sp>
      <p:sp>
        <p:nvSpPr>
          <p:cNvPr id="25" name="Line 30"/>
          <p:cNvSpPr>
            <a:spLocks noChangeShapeType="1"/>
          </p:cNvSpPr>
          <p:nvPr/>
        </p:nvSpPr>
        <p:spPr bwMode="auto">
          <a:xfrm flipH="1">
            <a:off x="6874778" y="5610225"/>
            <a:ext cx="152400" cy="347662"/>
          </a:xfrm>
          <a:prstGeom prst="line">
            <a:avLst/>
          </a:prstGeom>
          <a:noFill/>
          <a:ln w="9525">
            <a:solidFill>
              <a:srgbClr val="800080"/>
            </a:solidFill>
            <a:round/>
            <a:headEnd/>
            <a:tailEnd/>
          </a:ln>
        </p:spPr>
        <p:txBody>
          <a:bodyPr wrap="none" anchor="ctr"/>
          <a:lstStyle/>
          <a:p>
            <a:endParaRPr lang="zh-CN" altLang="en-US"/>
          </a:p>
        </p:txBody>
      </p:sp>
      <p:sp>
        <p:nvSpPr>
          <p:cNvPr id="26" name="Line 31"/>
          <p:cNvSpPr>
            <a:spLocks noChangeShapeType="1"/>
          </p:cNvSpPr>
          <p:nvPr/>
        </p:nvSpPr>
        <p:spPr bwMode="auto">
          <a:xfrm>
            <a:off x="8246378" y="4906962"/>
            <a:ext cx="457200" cy="381000"/>
          </a:xfrm>
          <a:prstGeom prst="line">
            <a:avLst/>
          </a:prstGeom>
          <a:noFill/>
          <a:ln w="9525">
            <a:solidFill>
              <a:srgbClr val="800080"/>
            </a:solidFill>
            <a:round/>
            <a:headEnd/>
            <a:tailEnd/>
          </a:ln>
        </p:spPr>
        <p:txBody>
          <a:bodyPr wrap="none" anchor="ctr"/>
          <a:lstStyle/>
          <a:p>
            <a:endParaRPr lang="zh-CN" altLang="en-US"/>
          </a:p>
        </p:txBody>
      </p:sp>
      <p:sp>
        <p:nvSpPr>
          <p:cNvPr id="27" name="Text Box 32"/>
          <p:cNvSpPr txBox="1">
            <a:spLocks noChangeArrowheads="1"/>
          </p:cNvSpPr>
          <p:nvPr/>
        </p:nvSpPr>
        <p:spPr bwMode="auto">
          <a:xfrm>
            <a:off x="8703578" y="5272087"/>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N</a:t>
            </a:r>
          </a:p>
        </p:txBody>
      </p:sp>
      <p:sp>
        <p:nvSpPr>
          <p:cNvPr id="28" name="Text Box 29"/>
          <p:cNvSpPr txBox="1">
            <a:spLocks noChangeArrowheads="1"/>
          </p:cNvSpPr>
          <p:nvPr/>
        </p:nvSpPr>
        <p:spPr bwMode="auto">
          <a:xfrm>
            <a:off x="3333022" y="4708525"/>
            <a:ext cx="479425" cy="396875"/>
          </a:xfrm>
          <a:prstGeom prst="rect">
            <a:avLst/>
          </a:prstGeom>
          <a:noFill/>
          <a:ln w="28575">
            <a:noFill/>
            <a:miter lim="800000"/>
            <a:headEnd/>
            <a:tailEnd/>
          </a:ln>
        </p:spPr>
        <p:txBody>
          <a:bodyPr>
            <a:spAutoFit/>
          </a:bodyPr>
          <a:lstStyle/>
          <a:p>
            <a:pPr>
              <a:spcBef>
                <a:spcPct val="50000"/>
              </a:spcBef>
              <a:buClrTx/>
              <a:buFontTx/>
              <a:buNone/>
            </a:pPr>
            <a:r>
              <a:rPr lang="en-US" altLang="en-US" sz="2000">
                <a:solidFill>
                  <a:srgbClr val="800080"/>
                </a:solidFill>
                <a:ea typeface="宋体" pitchFamily="2" charset="-122"/>
              </a:rPr>
              <a:t>^</a:t>
            </a:r>
            <a:endParaRPr lang="en-US" altLang="zh-CN" sz="2000">
              <a:solidFill>
                <a:srgbClr val="800080"/>
              </a:solidFill>
              <a:ea typeface="宋体" pitchFamily="2" charset="-122"/>
            </a:endParaRPr>
          </a:p>
        </p:txBody>
      </p:sp>
      <p:sp>
        <p:nvSpPr>
          <p:cNvPr id="29" name="Text Box 31"/>
          <p:cNvSpPr txBox="1">
            <a:spLocks noChangeArrowheads="1"/>
          </p:cNvSpPr>
          <p:nvPr/>
        </p:nvSpPr>
        <p:spPr bwMode="auto">
          <a:xfrm>
            <a:off x="1199422" y="2955925"/>
            <a:ext cx="403225"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a:t>
            </a:r>
          </a:p>
        </p:txBody>
      </p:sp>
      <p:sp>
        <p:nvSpPr>
          <p:cNvPr id="30" name="Text Box 32"/>
          <p:cNvSpPr txBox="1">
            <a:spLocks noChangeArrowheads="1"/>
          </p:cNvSpPr>
          <p:nvPr/>
        </p:nvSpPr>
        <p:spPr bwMode="auto">
          <a:xfrm>
            <a:off x="1907447" y="3489325"/>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a:t>
            </a:r>
          </a:p>
        </p:txBody>
      </p:sp>
      <p:sp>
        <p:nvSpPr>
          <p:cNvPr id="31" name="Text Box 33"/>
          <p:cNvSpPr txBox="1">
            <a:spLocks noChangeArrowheads="1"/>
          </p:cNvSpPr>
          <p:nvPr/>
        </p:nvSpPr>
        <p:spPr bwMode="auto">
          <a:xfrm>
            <a:off x="2637697" y="4022725"/>
            <a:ext cx="33655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a:t>
            </a:r>
          </a:p>
        </p:txBody>
      </p:sp>
      <p:sp>
        <p:nvSpPr>
          <p:cNvPr id="32" name="Text Box 34"/>
          <p:cNvSpPr txBox="1">
            <a:spLocks noChangeArrowheads="1"/>
          </p:cNvSpPr>
          <p:nvPr/>
        </p:nvSpPr>
        <p:spPr bwMode="auto">
          <a:xfrm>
            <a:off x="459647" y="3473450"/>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A</a:t>
            </a:r>
          </a:p>
        </p:txBody>
      </p:sp>
      <p:sp>
        <p:nvSpPr>
          <p:cNvPr id="33" name="Text Box 35"/>
          <p:cNvSpPr txBox="1">
            <a:spLocks noChangeArrowheads="1"/>
          </p:cNvSpPr>
          <p:nvPr/>
        </p:nvSpPr>
        <p:spPr bwMode="auto">
          <a:xfrm>
            <a:off x="1267685" y="4083050"/>
            <a:ext cx="334962" cy="457200"/>
          </a:xfrm>
          <a:prstGeom prst="rect">
            <a:avLst/>
          </a:prstGeom>
          <a:noFill/>
          <a:ln w="28575">
            <a:noFill/>
            <a:miter lim="800000"/>
            <a:headEnd/>
            <a:tailEnd/>
          </a:ln>
        </p:spPr>
        <p:txBody>
          <a:bodyPr>
            <a:spAutoFit/>
          </a:bodyPr>
          <a:lstStyle/>
          <a:p>
            <a:pPr>
              <a:spcBef>
                <a:spcPct val="50000"/>
              </a:spcBef>
              <a:buClrTx/>
              <a:buFontTx/>
              <a:buNone/>
            </a:pPr>
            <a:r>
              <a:rPr lang="en-US" altLang="zh-CN">
                <a:solidFill>
                  <a:srgbClr val="800080"/>
                </a:solidFill>
                <a:ea typeface="宋体" pitchFamily="2" charset="-122"/>
              </a:rPr>
              <a:t>*</a:t>
            </a:r>
          </a:p>
        </p:txBody>
      </p:sp>
      <p:sp>
        <p:nvSpPr>
          <p:cNvPr id="34" name="Text Box 36"/>
          <p:cNvSpPr txBox="1">
            <a:spLocks noChangeArrowheads="1"/>
          </p:cNvSpPr>
          <p:nvPr/>
        </p:nvSpPr>
        <p:spPr bwMode="auto">
          <a:xfrm>
            <a:off x="2288447" y="4692650"/>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E</a:t>
            </a:r>
          </a:p>
        </p:txBody>
      </p:sp>
      <p:sp>
        <p:nvSpPr>
          <p:cNvPr id="35" name="Line 37"/>
          <p:cNvSpPr>
            <a:spLocks noChangeShapeType="1"/>
          </p:cNvSpPr>
          <p:nvPr/>
        </p:nvSpPr>
        <p:spPr bwMode="auto">
          <a:xfrm flipV="1">
            <a:off x="764447" y="3260725"/>
            <a:ext cx="533400" cy="304800"/>
          </a:xfrm>
          <a:prstGeom prst="line">
            <a:avLst/>
          </a:prstGeom>
          <a:noFill/>
          <a:ln w="9525">
            <a:solidFill>
              <a:srgbClr val="800080"/>
            </a:solidFill>
            <a:round/>
            <a:headEnd/>
            <a:tailEnd/>
          </a:ln>
        </p:spPr>
        <p:txBody>
          <a:bodyPr wrap="none" anchor="ctr"/>
          <a:lstStyle/>
          <a:p>
            <a:endParaRPr lang="zh-CN" altLang="en-US"/>
          </a:p>
        </p:txBody>
      </p:sp>
      <p:sp>
        <p:nvSpPr>
          <p:cNvPr id="36" name="Line 38"/>
          <p:cNvSpPr>
            <a:spLocks noChangeShapeType="1"/>
          </p:cNvSpPr>
          <p:nvPr/>
        </p:nvSpPr>
        <p:spPr bwMode="auto">
          <a:xfrm>
            <a:off x="1450247" y="3260725"/>
            <a:ext cx="533400" cy="381000"/>
          </a:xfrm>
          <a:prstGeom prst="line">
            <a:avLst/>
          </a:prstGeom>
          <a:noFill/>
          <a:ln w="9525">
            <a:solidFill>
              <a:srgbClr val="800080"/>
            </a:solidFill>
            <a:round/>
            <a:headEnd/>
            <a:tailEnd/>
          </a:ln>
        </p:spPr>
        <p:txBody>
          <a:bodyPr wrap="none" anchor="ctr"/>
          <a:lstStyle/>
          <a:p>
            <a:endParaRPr lang="zh-CN" altLang="en-US"/>
          </a:p>
        </p:txBody>
      </p:sp>
      <p:sp>
        <p:nvSpPr>
          <p:cNvPr id="37" name="Line 39"/>
          <p:cNvSpPr>
            <a:spLocks noChangeShapeType="1"/>
          </p:cNvSpPr>
          <p:nvPr/>
        </p:nvSpPr>
        <p:spPr bwMode="auto">
          <a:xfrm flipH="1">
            <a:off x="1526447" y="3794125"/>
            <a:ext cx="457200" cy="304800"/>
          </a:xfrm>
          <a:prstGeom prst="line">
            <a:avLst/>
          </a:prstGeom>
          <a:noFill/>
          <a:ln w="9525">
            <a:solidFill>
              <a:srgbClr val="800080"/>
            </a:solidFill>
            <a:round/>
            <a:headEnd/>
            <a:tailEnd/>
          </a:ln>
        </p:spPr>
        <p:txBody>
          <a:bodyPr wrap="none" anchor="ctr"/>
          <a:lstStyle/>
          <a:p>
            <a:endParaRPr lang="zh-CN" altLang="en-US"/>
          </a:p>
        </p:txBody>
      </p:sp>
      <p:sp>
        <p:nvSpPr>
          <p:cNvPr id="38" name="Line 40"/>
          <p:cNvSpPr>
            <a:spLocks noChangeShapeType="1"/>
          </p:cNvSpPr>
          <p:nvPr/>
        </p:nvSpPr>
        <p:spPr bwMode="auto">
          <a:xfrm>
            <a:off x="2212247" y="3794125"/>
            <a:ext cx="406400" cy="304800"/>
          </a:xfrm>
          <a:prstGeom prst="line">
            <a:avLst/>
          </a:prstGeom>
          <a:noFill/>
          <a:ln w="9525">
            <a:solidFill>
              <a:srgbClr val="800080"/>
            </a:solidFill>
            <a:round/>
            <a:headEnd/>
            <a:tailEnd/>
          </a:ln>
        </p:spPr>
        <p:txBody>
          <a:bodyPr wrap="none" anchor="ctr"/>
          <a:lstStyle/>
          <a:p>
            <a:endParaRPr lang="zh-CN" altLang="en-US"/>
          </a:p>
        </p:txBody>
      </p:sp>
      <p:sp>
        <p:nvSpPr>
          <p:cNvPr id="39" name="Line 41"/>
          <p:cNvSpPr>
            <a:spLocks noChangeShapeType="1"/>
          </p:cNvSpPr>
          <p:nvPr/>
        </p:nvSpPr>
        <p:spPr bwMode="auto">
          <a:xfrm>
            <a:off x="2898047" y="4327525"/>
            <a:ext cx="457200" cy="381000"/>
          </a:xfrm>
          <a:prstGeom prst="line">
            <a:avLst/>
          </a:prstGeom>
          <a:noFill/>
          <a:ln w="9525">
            <a:solidFill>
              <a:srgbClr val="800080"/>
            </a:solidFill>
            <a:round/>
            <a:headEnd/>
            <a:tailEnd/>
          </a:ln>
        </p:spPr>
        <p:txBody>
          <a:bodyPr wrap="none" anchor="ctr"/>
          <a:lstStyle/>
          <a:p>
            <a:endParaRPr lang="zh-CN" altLang="en-US"/>
          </a:p>
        </p:txBody>
      </p:sp>
      <p:sp>
        <p:nvSpPr>
          <p:cNvPr id="40" name="Line 42"/>
          <p:cNvSpPr>
            <a:spLocks noChangeShapeType="1"/>
          </p:cNvSpPr>
          <p:nvPr/>
        </p:nvSpPr>
        <p:spPr bwMode="auto">
          <a:xfrm flipH="1">
            <a:off x="2517047" y="4360863"/>
            <a:ext cx="152400" cy="347662"/>
          </a:xfrm>
          <a:prstGeom prst="line">
            <a:avLst/>
          </a:prstGeom>
          <a:noFill/>
          <a:ln w="9525">
            <a:solidFill>
              <a:srgbClr val="800080"/>
            </a:solidFill>
            <a:round/>
            <a:headEnd/>
            <a:tailEnd/>
          </a:ln>
        </p:spPr>
        <p:txBody>
          <a:bodyPr wrap="none" anchor="ctr"/>
          <a:lstStyle/>
          <a:p>
            <a:endParaRPr lang="zh-CN" altLang="en-US"/>
          </a:p>
        </p:txBody>
      </p:sp>
      <p:sp>
        <p:nvSpPr>
          <p:cNvPr id="41" name="Line 44"/>
          <p:cNvSpPr>
            <a:spLocks noChangeShapeType="1"/>
          </p:cNvSpPr>
          <p:nvPr/>
        </p:nvSpPr>
        <p:spPr bwMode="auto">
          <a:xfrm>
            <a:off x="1526447" y="4327525"/>
            <a:ext cx="457200" cy="457200"/>
          </a:xfrm>
          <a:prstGeom prst="line">
            <a:avLst/>
          </a:prstGeom>
          <a:noFill/>
          <a:ln w="9525">
            <a:solidFill>
              <a:srgbClr val="800080"/>
            </a:solidFill>
            <a:round/>
            <a:headEnd/>
            <a:tailEnd/>
          </a:ln>
        </p:spPr>
        <p:txBody>
          <a:bodyPr wrap="none" anchor="ctr"/>
          <a:lstStyle/>
          <a:p>
            <a:endParaRPr lang="zh-CN" altLang="en-US"/>
          </a:p>
        </p:txBody>
      </p:sp>
      <p:sp>
        <p:nvSpPr>
          <p:cNvPr id="42" name="Text Box 45"/>
          <p:cNvSpPr txBox="1">
            <a:spLocks noChangeArrowheads="1"/>
          </p:cNvSpPr>
          <p:nvPr/>
        </p:nvSpPr>
        <p:spPr bwMode="auto">
          <a:xfrm>
            <a:off x="1907447" y="4632325"/>
            <a:ext cx="381000" cy="457200"/>
          </a:xfrm>
          <a:prstGeom prst="rect">
            <a:avLst/>
          </a:prstGeom>
          <a:noFill/>
          <a:ln w="28575">
            <a:noFill/>
            <a:miter lim="800000"/>
            <a:headEnd/>
            <a:tailEnd/>
          </a:ln>
        </p:spPr>
        <p:txBody>
          <a:bodyPr>
            <a:spAutoFit/>
          </a:bodyPr>
          <a:lstStyle/>
          <a:p>
            <a:pPr>
              <a:spcBef>
                <a:spcPct val="50000"/>
              </a:spcBef>
              <a:buClrTx/>
              <a:buFontTx/>
              <a:buNone/>
            </a:pPr>
            <a:r>
              <a:rPr lang="en-US" altLang="zh-CN">
                <a:solidFill>
                  <a:srgbClr val="800080"/>
                </a:solidFill>
                <a:ea typeface="宋体" pitchFamily="2" charset="-122"/>
              </a:rPr>
              <a:t>-</a:t>
            </a:r>
          </a:p>
        </p:txBody>
      </p:sp>
      <p:sp>
        <p:nvSpPr>
          <p:cNvPr id="43" name="Text Box 46"/>
          <p:cNvSpPr txBox="1">
            <a:spLocks noChangeArrowheads="1"/>
          </p:cNvSpPr>
          <p:nvPr/>
        </p:nvSpPr>
        <p:spPr bwMode="auto">
          <a:xfrm>
            <a:off x="688247" y="4659313"/>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B</a:t>
            </a:r>
          </a:p>
        </p:txBody>
      </p:sp>
      <p:sp>
        <p:nvSpPr>
          <p:cNvPr id="44" name="Line 47"/>
          <p:cNvSpPr>
            <a:spLocks noChangeShapeType="1"/>
          </p:cNvSpPr>
          <p:nvPr/>
        </p:nvSpPr>
        <p:spPr bwMode="auto">
          <a:xfrm flipH="1">
            <a:off x="993047" y="4327525"/>
            <a:ext cx="304800" cy="381000"/>
          </a:xfrm>
          <a:prstGeom prst="line">
            <a:avLst/>
          </a:prstGeom>
          <a:noFill/>
          <a:ln w="9525">
            <a:solidFill>
              <a:srgbClr val="800080"/>
            </a:solidFill>
            <a:round/>
            <a:headEnd/>
            <a:tailEnd/>
          </a:ln>
        </p:spPr>
        <p:txBody>
          <a:bodyPr wrap="none" anchor="ctr"/>
          <a:lstStyle/>
          <a:p>
            <a:endParaRPr lang="zh-CN" altLang="en-US"/>
          </a:p>
        </p:txBody>
      </p:sp>
      <p:sp>
        <p:nvSpPr>
          <p:cNvPr id="45" name="Text Box 48"/>
          <p:cNvSpPr txBox="1">
            <a:spLocks noChangeArrowheads="1"/>
          </p:cNvSpPr>
          <p:nvPr/>
        </p:nvSpPr>
        <p:spPr bwMode="auto">
          <a:xfrm>
            <a:off x="2212247" y="5378450"/>
            <a:ext cx="479425" cy="396875"/>
          </a:xfrm>
          <a:prstGeom prst="rect">
            <a:avLst/>
          </a:prstGeom>
          <a:noFill/>
          <a:ln w="28575">
            <a:noFill/>
            <a:miter lim="800000"/>
            <a:headEnd/>
            <a:tailEnd/>
          </a:ln>
        </p:spPr>
        <p:txBody>
          <a:bodyPr>
            <a:spAutoFit/>
          </a:bodyPr>
          <a:lstStyle/>
          <a:p>
            <a:pPr>
              <a:spcBef>
                <a:spcPct val="50000"/>
              </a:spcBef>
              <a:buClrTx/>
              <a:buFontTx/>
              <a:buNone/>
            </a:pPr>
            <a:r>
              <a:rPr lang="en-US" altLang="zh-CN" sz="2000" dirty="0">
                <a:solidFill>
                  <a:srgbClr val="800080"/>
                </a:solidFill>
                <a:ea typeface="宋体" pitchFamily="2" charset="-122"/>
              </a:rPr>
              <a:t>D</a:t>
            </a:r>
          </a:p>
        </p:txBody>
      </p:sp>
      <p:sp>
        <p:nvSpPr>
          <p:cNvPr id="46" name="Text Box 49"/>
          <p:cNvSpPr txBox="1">
            <a:spLocks noChangeArrowheads="1"/>
          </p:cNvSpPr>
          <p:nvPr/>
        </p:nvSpPr>
        <p:spPr bwMode="auto">
          <a:xfrm>
            <a:off x="1526447" y="5362575"/>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C</a:t>
            </a:r>
          </a:p>
        </p:txBody>
      </p:sp>
      <p:sp>
        <p:nvSpPr>
          <p:cNvPr id="47" name="Line 50"/>
          <p:cNvSpPr>
            <a:spLocks noChangeShapeType="1"/>
          </p:cNvSpPr>
          <p:nvPr/>
        </p:nvSpPr>
        <p:spPr bwMode="auto">
          <a:xfrm>
            <a:off x="2136047" y="4997450"/>
            <a:ext cx="228600" cy="396875"/>
          </a:xfrm>
          <a:prstGeom prst="line">
            <a:avLst/>
          </a:prstGeom>
          <a:noFill/>
          <a:ln w="9525">
            <a:solidFill>
              <a:srgbClr val="800080"/>
            </a:solidFill>
            <a:round/>
            <a:headEnd/>
            <a:tailEnd/>
          </a:ln>
        </p:spPr>
        <p:txBody>
          <a:bodyPr wrap="none" anchor="ctr"/>
          <a:lstStyle/>
          <a:p>
            <a:endParaRPr lang="zh-CN" altLang="en-US"/>
          </a:p>
        </p:txBody>
      </p:sp>
      <p:sp>
        <p:nvSpPr>
          <p:cNvPr id="48" name="Line 51"/>
          <p:cNvSpPr>
            <a:spLocks noChangeShapeType="1"/>
          </p:cNvSpPr>
          <p:nvPr/>
        </p:nvSpPr>
        <p:spPr bwMode="auto">
          <a:xfrm flipH="1">
            <a:off x="1755047" y="5030788"/>
            <a:ext cx="152400" cy="347662"/>
          </a:xfrm>
          <a:prstGeom prst="line">
            <a:avLst/>
          </a:prstGeom>
          <a:noFill/>
          <a:ln w="9525">
            <a:solidFill>
              <a:srgbClr val="800080"/>
            </a:solidFill>
            <a:round/>
            <a:headEnd/>
            <a:tailEnd/>
          </a:ln>
        </p:spPr>
        <p:txBody>
          <a:bodyPr wrap="none" anchor="ctr"/>
          <a:lstStyle/>
          <a:p>
            <a:endParaRPr lang="zh-CN" altLang="en-US"/>
          </a:p>
        </p:txBody>
      </p:sp>
      <p:sp>
        <p:nvSpPr>
          <p:cNvPr id="49" name="Line 53"/>
          <p:cNvSpPr>
            <a:spLocks noChangeShapeType="1"/>
          </p:cNvSpPr>
          <p:nvPr/>
        </p:nvSpPr>
        <p:spPr bwMode="auto">
          <a:xfrm flipH="1">
            <a:off x="3202847" y="5013325"/>
            <a:ext cx="152400" cy="347663"/>
          </a:xfrm>
          <a:prstGeom prst="line">
            <a:avLst/>
          </a:prstGeom>
          <a:noFill/>
          <a:ln w="9525">
            <a:solidFill>
              <a:srgbClr val="800080"/>
            </a:solidFill>
            <a:round/>
            <a:headEnd/>
            <a:tailEnd/>
          </a:ln>
        </p:spPr>
        <p:txBody>
          <a:bodyPr wrap="none" anchor="ctr"/>
          <a:lstStyle/>
          <a:p>
            <a:endParaRPr lang="zh-CN" altLang="en-US"/>
          </a:p>
        </p:txBody>
      </p:sp>
      <p:sp>
        <p:nvSpPr>
          <p:cNvPr id="50" name="Text Box 54"/>
          <p:cNvSpPr txBox="1">
            <a:spLocks noChangeArrowheads="1"/>
          </p:cNvSpPr>
          <p:nvPr/>
        </p:nvSpPr>
        <p:spPr bwMode="auto">
          <a:xfrm>
            <a:off x="3028222" y="5241925"/>
            <a:ext cx="381000" cy="457200"/>
          </a:xfrm>
          <a:prstGeom prst="rect">
            <a:avLst/>
          </a:prstGeom>
          <a:noFill/>
          <a:ln w="28575">
            <a:noFill/>
            <a:miter lim="800000"/>
            <a:headEnd/>
            <a:tailEnd/>
          </a:ln>
        </p:spPr>
        <p:txBody>
          <a:bodyPr>
            <a:spAutoFit/>
          </a:bodyPr>
          <a:lstStyle/>
          <a:p>
            <a:pPr>
              <a:spcBef>
                <a:spcPct val="50000"/>
              </a:spcBef>
              <a:buClrTx/>
              <a:buFontTx/>
              <a:buNone/>
            </a:pPr>
            <a:r>
              <a:rPr lang="en-US" altLang="zh-CN">
                <a:solidFill>
                  <a:srgbClr val="800080"/>
                </a:solidFill>
                <a:ea typeface="宋体" pitchFamily="2" charset="-122"/>
              </a:rPr>
              <a:t>-</a:t>
            </a:r>
          </a:p>
        </p:txBody>
      </p:sp>
      <p:sp>
        <p:nvSpPr>
          <p:cNvPr id="51" name="Text Box 56"/>
          <p:cNvSpPr txBox="1">
            <a:spLocks noChangeArrowheads="1"/>
          </p:cNvSpPr>
          <p:nvPr/>
        </p:nvSpPr>
        <p:spPr bwMode="auto">
          <a:xfrm>
            <a:off x="2647222" y="5972175"/>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C</a:t>
            </a:r>
          </a:p>
        </p:txBody>
      </p:sp>
      <p:sp>
        <p:nvSpPr>
          <p:cNvPr id="52" name="Line 57"/>
          <p:cNvSpPr>
            <a:spLocks noChangeShapeType="1"/>
          </p:cNvSpPr>
          <p:nvPr/>
        </p:nvSpPr>
        <p:spPr bwMode="auto">
          <a:xfrm>
            <a:off x="3256822" y="5607050"/>
            <a:ext cx="228600" cy="396875"/>
          </a:xfrm>
          <a:prstGeom prst="line">
            <a:avLst/>
          </a:prstGeom>
          <a:noFill/>
          <a:ln w="9525">
            <a:solidFill>
              <a:srgbClr val="800080"/>
            </a:solidFill>
            <a:round/>
            <a:headEnd/>
            <a:tailEnd/>
          </a:ln>
        </p:spPr>
        <p:txBody>
          <a:bodyPr wrap="none" anchor="ctr"/>
          <a:lstStyle/>
          <a:p>
            <a:endParaRPr lang="zh-CN" altLang="en-US"/>
          </a:p>
        </p:txBody>
      </p:sp>
      <p:sp>
        <p:nvSpPr>
          <p:cNvPr id="53" name="Line 58"/>
          <p:cNvSpPr>
            <a:spLocks noChangeShapeType="1"/>
          </p:cNvSpPr>
          <p:nvPr/>
        </p:nvSpPr>
        <p:spPr bwMode="auto">
          <a:xfrm flipH="1">
            <a:off x="2875822" y="5640388"/>
            <a:ext cx="152400" cy="347662"/>
          </a:xfrm>
          <a:prstGeom prst="line">
            <a:avLst/>
          </a:prstGeom>
          <a:noFill/>
          <a:ln w="9525">
            <a:solidFill>
              <a:srgbClr val="800080"/>
            </a:solidFill>
            <a:round/>
            <a:headEnd/>
            <a:tailEnd/>
          </a:ln>
        </p:spPr>
        <p:txBody>
          <a:bodyPr wrap="none" anchor="ctr"/>
          <a:lstStyle/>
          <a:p>
            <a:endParaRPr lang="zh-CN" altLang="en-US"/>
          </a:p>
        </p:txBody>
      </p:sp>
      <p:sp>
        <p:nvSpPr>
          <p:cNvPr id="54" name="Line 59"/>
          <p:cNvSpPr>
            <a:spLocks noChangeShapeType="1"/>
          </p:cNvSpPr>
          <p:nvPr/>
        </p:nvSpPr>
        <p:spPr bwMode="auto">
          <a:xfrm>
            <a:off x="3583847" y="4937125"/>
            <a:ext cx="457200" cy="381000"/>
          </a:xfrm>
          <a:prstGeom prst="line">
            <a:avLst/>
          </a:prstGeom>
          <a:noFill/>
          <a:ln w="9525">
            <a:solidFill>
              <a:srgbClr val="800080"/>
            </a:solidFill>
            <a:round/>
            <a:headEnd/>
            <a:tailEnd/>
          </a:ln>
        </p:spPr>
        <p:txBody>
          <a:bodyPr wrap="none" anchor="ctr"/>
          <a:lstStyle/>
          <a:p>
            <a:endParaRPr lang="zh-CN" altLang="en-US"/>
          </a:p>
        </p:txBody>
      </p:sp>
      <p:sp>
        <p:nvSpPr>
          <p:cNvPr id="55" name="Text Box 60"/>
          <p:cNvSpPr txBox="1">
            <a:spLocks noChangeArrowheads="1"/>
          </p:cNvSpPr>
          <p:nvPr/>
        </p:nvSpPr>
        <p:spPr bwMode="auto">
          <a:xfrm>
            <a:off x="4041047" y="5302250"/>
            <a:ext cx="381000" cy="396875"/>
          </a:xfrm>
          <a:prstGeom prst="rect">
            <a:avLst/>
          </a:prstGeom>
          <a:noFill/>
          <a:ln w="28575">
            <a:noFill/>
            <a:miter lim="800000"/>
            <a:headEnd/>
            <a:tailEnd/>
          </a:ln>
        </p:spPr>
        <p:txBody>
          <a:bodyPr>
            <a:spAutoFit/>
          </a:bodyPr>
          <a:lstStyle/>
          <a:p>
            <a:pPr>
              <a:spcBef>
                <a:spcPct val="50000"/>
              </a:spcBef>
              <a:buClrTx/>
              <a:buFontTx/>
              <a:buNone/>
            </a:pPr>
            <a:r>
              <a:rPr lang="en-US" altLang="zh-CN" sz="2000">
                <a:solidFill>
                  <a:srgbClr val="800080"/>
                </a:solidFill>
                <a:ea typeface="宋体" pitchFamily="2" charset="-122"/>
              </a:rPr>
              <a:t>N</a:t>
            </a:r>
          </a:p>
        </p:txBody>
      </p:sp>
      <p:sp>
        <p:nvSpPr>
          <p:cNvPr id="56" name="TextBox 55"/>
          <p:cNvSpPr txBox="1"/>
          <p:nvPr/>
        </p:nvSpPr>
        <p:spPr>
          <a:xfrm>
            <a:off x="1526447" y="6369050"/>
            <a:ext cx="534121" cy="369332"/>
          </a:xfrm>
          <a:prstGeom prst="rect">
            <a:avLst/>
          </a:prstGeom>
          <a:noFill/>
        </p:spPr>
        <p:txBody>
          <a:bodyPr wrap="none" rtlCol="0">
            <a:spAutoFit/>
          </a:bodyPr>
          <a:lstStyle/>
          <a:p>
            <a:r>
              <a:rPr lang="en-US" altLang="zh-CN" dirty="0"/>
              <a:t>AST</a:t>
            </a:r>
            <a:endParaRPr lang="zh-CN" altLang="en-US" dirty="0"/>
          </a:p>
        </p:txBody>
      </p:sp>
      <p:sp>
        <p:nvSpPr>
          <p:cNvPr id="57" name="TextBox 56"/>
          <p:cNvSpPr txBox="1"/>
          <p:nvPr/>
        </p:nvSpPr>
        <p:spPr>
          <a:xfrm>
            <a:off x="6912517" y="6341188"/>
            <a:ext cx="601190" cy="369332"/>
          </a:xfrm>
          <a:prstGeom prst="rect">
            <a:avLst/>
          </a:prstGeom>
          <a:noFill/>
        </p:spPr>
        <p:txBody>
          <a:bodyPr wrap="none" rtlCol="0">
            <a:spAutoFit/>
          </a:bodyPr>
          <a:lstStyle/>
          <a:p>
            <a:r>
              <a:rPr lang="en-US" altLang="zh-CN" dirty="0"/>
              <a:t>DAG</a:t>
            </a:r>
            <a:endParaRPr lang="zh-CN" altLang="en-US" dirty="0"/>
          </a:p>
        </p:txBody>
      </p:sp>
      <p:sp>
        <p:nvSpPr>
          <p:cNvPr id="58" name="Text Box 48"/>
          <p:cNvSpPr txBox="1">
            <a:spLocks noChangeArrowheads="1"/>
          </p:cNvSpPr>
          <p:nvPr/>
        </p:nvSpPr>
        <p:spPr bwMode="auto">
          <a:xfrm>
            <a:off x="3344134" y="6004960"/>
            <a:ext cx="479425" cy="396875"/>
          </a:xfrm>
          <a:prstGeom prst="rect">
            <a:avLst/>
          </a:prstGeom>
          <a:noFill/>
          <a:ln w="28575">
            <a:noFill/>
            <a:miter lim="800000"/>
            <a:headEnd/>
            <a:tailEnd/>
          </a:ln>
        </p:spPr>
        <p:txBody>
          <a:bodyPr>
            <a:spAutoFit/>
          </a:bodyPr>
          <a:lstStyle/>
          <a:p>
            <a:pPr>
              <a:spcBef>
                <a:spcPct val="50000"/>
              </a:spcBef>
              <a:buClrTx/>
              <a:buFontTx/>
              <a:buNone/>
            </a:pPr>
            <a:r>
              <a:rPr lang="en-US" altLang="zh-CN" sz="2000" dirty="0">
                <a:solidFill>
                  <a:srgbClr val="800080"/>
                </a:solidFill>
                <a:ea typeface="宋体" pitchFamily="2" charset="-122"/>
              </a:rPr>
              <a:t>D</a:t>
            </a:r>
          </a:p>
        </p:txBody>
      </p:sp>
      <p:sp>
        <p:nvSpPr>
          <p:cNvPr id="59" name="灯片编号占位符 58">
            <a:extLst>
              <a:ext uri="{FF2B5EF4-FFF2-40B4-BE49-F238E27FC236}">
                <a16:creationId xmlns:a16="http://schemas.microsoft.com/office/drawing/2014/main" id="{ADD1AB9F-E21F-451E-83CE-C6D6FD172AD1}"/>
              </a:ext>
            </a:extLst>
          </p:cNvPr>
          <p:cNvSpPr>
            <a:spLocks noGrp="1"/>
          </p:cNvSpPr>
          <p:nvPr>
            <p:ph type="sldNum" sz="quarter" idx="4"/>
          </p:nvPr>
        </p:nvSpPr>
        <p:spPr/>
        <p:txBody>
          <a:bodyPr/>
          <a:lstStyle/>
          <a:p>
            <a:fld id="{565CE74E-AB26-4998-AD42-012C4C1AD076}" type="slidenum">
              <a:rPr lang="zh-CN" altLang="en-US" smtClean="0"/>
              <a:pPr/>
              <a:t>26</a:t>
            </a:fld>
            <a:endParaRPr lang="zh-CN" altLang="en-US"/>
          </a:p>
        </p:txBody>
      </p:sp>
    </p:spTree>
    <p:extLst>
      <p:ext uri="{BB962C8B-B14F-4D97-AF65-F5344CB8AC3E}">
        <p14:creationId xmlns:p14="http://schemas.microsoft.com/office/powerpoint/2010/main" val="40096675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三地址码</a:t>
            </a:r>
            <a:endParaRPr lang="en-US" altLang="zh-CN" dirty="0"/>
          </a:p>
          <a:p>
            <a:endParaRPr lang="en-US" altLang="zh-CN" dirty="0"/>
          </a:p>
          <a:p>
            <a:endParaRPr lang="en-US" altLang="zh-CN" dirty="0"/>
          </a:p>
          <a:p>
            <a:endParaRPr lang="en-US" altLang="zh-CN" dirty="0"/>
          </a:p>
          <a:p>
            <a:endParaRPr lang="en-US" altLang="zh-CN" dirty="0"/>
          </a:p>
          <a:p>
            <a:pPr lvl="1"/>
            <a:r>
              <a:rPr lang="en-US" altLang="zh-CN" dirty="0"/>
              <a:t>(1)</a:t>
            </a:r>
            <a:r>
              <a:rPr lang="zh-CN" altLang="en-US" dirty="0"/>
              <a:t>三个地址</a:t>
            </a:r>
            <a:r>
              <a:rPr lang="en-US" altLang="zh-CN" dirty="0"/>
              <a:t>x y z</a:t>
            </a:r>
            <a:r>
              <a:rPr lang="zh-CN" altLang="en-US" dirty="0"/>
              <a:t>为变量、常数或编译产生的临时变量</a:t>
            </a:r>
          </a:p>
          <a:p>
            <a:pPr lvl="1"/>
            <a:r>
              <a:rPr lang="en-US" altLang="zh-CN" dirty="0"/>
              <a:t>(2)</a:t>
            </a:r>
            <a:r>
              <a:rPr lang="zh-CN" altLang="en-US" dirty="0"/>
              <a:t>每条语句的右边只能有一个运算符</a:t>
            </a:r>
            <a:r>
              <a:rPr lang="en-US" altLang="zh-CN" dirty="0"/>
              <a:t>op </a:t>
            </a:r>
          </a:p>
          <a:p>
            <a:endParaRPr lang="zh-CN" altLang="en-US" dirty="0"/>
          </a:p>
        </p:txBody>
      </p:sp>
      <p:sp>
        <p:nvSpPr>
          <p:cNvPr id="3" name="标题 2"/>
          <p:cNvSpPr>
            <a:spLocks noGrp="1"/>
          </p:cNvSpPr>
          <p:nvPr>
            <p:ph type="title"/>
          </p:nvPr>
        </p:nvSpPr>
        <p:spPr/>
        <p:txBody>
          <a:bodyPr/>
          <a:lstStyle/>
          <a:p>
            <a:r>
              <a:rPr lang="zh-CN" altLang="en-US" dirty="0"/>
              <a:t>三、中间代码表示</a:t>
            </a:r>
            <a:r>
              <a:rPr lang="en-US" altLang="zh-CN" dirty="0"/>
              <a:t>                  </a:t>
            </a:r>
            <a:r>
              <a:rPr lang="zh-CN" altLang="en-US" dirty="0">
                <a:solidFill>
                  <a:srgbClr val="FF0000"/>
                </a:solidFill>
              </a:rPr>
              <a:t>三地址码</a:t>
            </a:r>
          </a:p>
        </p:txBody>
      </p:sp>
      <p:sp>
        <p:nvSpPr>
          <p:cNvPr id="4" name="Rectangle 8"/>
          <p:cNvSpPr txBox="1">
            <a:spLocks noChangeArrowheads="1"/>
          </p:cNvSpPr>
          <p:nvPr/>
        </p:nvSpPr>
        <p:spPr>
          <a:xfrm>
            <a:off x="1124824" y="2550253"/>
            <a:ext cx="4876800" cy="685800"/>
          </a:xfrm>
          <a:prstGeom prst="rect">
            <a:avLst/>
          </a:prstGeom>
          <a:noFill/>
          <a:ln/>
        </p:spPr>
        <p:txBody>
          <a:bodyPr vert="horz" lIns="92075" tIns="46038" rIns="92075" bIns="46038" rtlCol="0">
            <a:normAutofit/>
          </a:bodyPr>
          <a:lst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a:solidFill>
                  <a:srgbClr val="0206AD"/>
                </a:solidFill>
                <a:uFillTx/>
                <a:latin typeface="Times New Roman" panose="02020603050405020304" charset="0"/>
                <a:ea typeface="黑体" panose="02010609060101010101" charset="-122"/>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a:solidFill>
                  <a:srgbClr val="0066FF"/>
                </a:solidFill>
                <a:uFillTx/>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a:solidFill>
                  <a:srgbClr val="0206AD"/>
                </a:solidFill>
                <a:uFillTx/>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00FF"/>
              </a:buClr>
              <a:buFont typeface="Wingdings" pitchFamily="2" charset="2"/>
              <a:buBlip>
                <a:blip r:embed="rId2"/>
              </a:buBlip>
            </a:pPr>
            <a:r>
              <a:rPr lang="zh-CN" altLang="en-US" dirty="0">
                <a:solidFill>
                  <a:srgbClr val="0000FF"/>
                </a:solidFill>
                <a:latin typeface="宋体" charset="-122"/>
              </a:rPr>
              <a:t>一般形式  </a:t>
            </a:r>
            <a:r>
              <a:rPr lang="en-US" altLang="zh-CN" dirty="0">
                <a:solidFill>
                  <a:srgbClr val="0000FF"/>
                </a:solidFill>
                <a:latin typeface="宋体" charset="-122"/>
              </a:rPr>
              <a:t>x := y op z</a:t>
            </a:r>
          </a:p>
        </p:txBody>
      </p:sp>
      <p:sp>
        <p:nvSpPr>
          <p:cNvPr id="5" name="AutoShape 21"/>
          <p:cNvSpPr>
            <a:spLocks noChangeArrowheads="1"/>
          </p:cNvSpPr>
          <p:nvPr/>
        </p:nvSpPr>
        <p:spPr bwMode="auto">
          <a:xfrm>
            <a:off x="2572624" y="1712053"/>
            <a:ext cx="1219200" cy="762000"/>
          </a:xfrm>
          <a:prstGeom prst="cloudCallout">
            <a:avLst>
              <a:gd name="adj1" fmla="val 41407"/>
              <a:gd name="adj2" fmla="val 83750"/>
            </a:avLst>
          </a:prstGeom>
          <a:noFill/>
          <a:ln w="28575">
            <a:solidFill>
              <a:srgbClr val="D60093"/>
            </a:solidFill>
            <a:round/>
            <a:headEnd/>
            <a:tailEnd/>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a:solidFill>
                  <a:srgbClr val="FF0066"/>
                </a:solidFill>
              </a:rPr>
              <a:t>结果</a:t>
            </a:r>
          </a:p>
        </p:txBody>
      </p:sp>
      <p:sp>
        <p:nvSpPr>
          <p:cNvPr id="6" name="AutoShape 22"/>
          <p:cNvSpPr>
            <a:spLocks noChangeArrowheads="1"/>
          </p:cNvSpPr>
          <p:nvPr/>
        </p:nvSpPr>
        <p:spPr bwMode="auto">
          <a:xfrm>
            <a:off x="3791824" y="1331053"/>
            <a:ext cx="1752600" cy="762000"/>
          </a:xfrm>
          <a:prstGeom prst="cloudCallout">
            <a:avLst>
              <a:gd name="adj1" fmla="val 93"/>
              <a:gd name="adj2" fmla="val 128958"/>
            </a:avLst>
          </a:prstGeom>
          <a:noFill/>
          <a:ln w="28575">
            <a:solidFill>
              <a:srgbClr val="D60093"/>
            </a:solidFill>
            <a:round/>
            <a:headEnd/>
            <a:tailEnd/>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dirty="0">
                <a:solidFill>
                  <a:srgbClr val="FF0066"/>
                </a:solidFill>
              </a:rPr>
              <a:t>操作数</a:t>
            </a:r>
          </a:p>
        </p:txBody>
      </p:sp>
      <p:sp>
        <p:nvSpPr>
          <p:cNvPr id="7" name="AutoShape 23"/>
          <p:cNvSpPr>
            <a:spLocks noChangeArrowheads="1"/>
          </p:cNvSpPr>
          <p:nvPr/>
        </p:nvSpPr>
        <p:spPr bwMode="auto">
          <a:xfrm>
            <a:off x="6306424" y="2169253"/>
            <a:ext cx="1752600" cy="762000"/>
          </a:xfrm>
          <a:prstGeom prst="cloudCallout">
            <a:avLst>
              <a:gd name="adj1" fmla="val -73551"/>
              <a:gd name="adj2" fmla="val 45208"/>
            </a:avLst>
          </a:prstGeom>
          <a:noFill/>
          <a:ln w="28575">
            <a:solidFill>
              <a:srgbClr val="D60093"/>
            </a:solidFill>
            <a:round/>
            <a:headEnd/>
            <a:tailEnd/>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dirty="0">
                <a:solidFill>
                  <a:srgbClr val="FF0066"/>
                </a:solidFill>
              </a:rPr>
              <a:t>操作数</a:t>
            </a:r>
          </a:p>
        </p:txBody>
      </p:sp>
      <p:sp>
        <p:nvSpPr>
          <p:cNvPr id="8" name="AutoShape 24"/>
          <p:cNvSpPr>
            <a:spLocks noChangeArrowheads="1"/>
          </p:cNvSpPr>
          <p:nvPr/>
        </p:nvSpPr>
        <p:spPr bwMode="auto">
          <a:xfrm>
            <a:off x="5773024" y="1178653"/>
            <a:ext cx="1752600" cy="762000"/>
          </a:xfrm>
          <a:prstGeom prst="cloudCallout">
            <a:avLst>
              <a:gd name="adj1" fmla="val -76903"/>
              <a:gd name="adj2" fmla="val 159792"/>
            </a:avLst>
          </a:prstGeom>
          <a:noFill/>
          <a:ln w="28575">
            <a:solidFill>
              <a:srgbClr val="D60093"/>
            </a:solidFill>
            <a:round/>
            <a:headEnd/>
            <a:tailEnd/>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a:solidFill>
                  <a:srgbClr val="FF0066"/>
                </a:solidFill>
              </a:rPr>
              <a:t>运算符</a:t>
            </a:r>
          </a:p>
        </p:txBody>
      </p:sp>
      <p:sp>
        <p:nvSpPr>
          <p:cNvPr id="11" name="Rectangle 18"/>
          <p:cNvSpPr>
            <a:spLocks noChangeArrowheads="1"/>
          </p:cNvSpPr>
          <p:nvPr/>
        </p:nvSpPr>
        <p:spPr bwMode="auto">
          <a:xfrm>
            <a:off x="1696324" y="5074641"/>
            <a:ext cx="54864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spcBef>
                <a:spcPct val="10000"/>
              </a:spcBef>
              <a:buClr>
                <a:srgbClr val="0000FF"/>
              </a:buClr>
              <a:buFont typeface="Monotype Sorts" pitchFamily="2" charset="2"/>
              <a:buBlip>
                <a:blip r:embed="rId2"/>
              </a:buBlip>
            </a:pPr>
            <a:r>
              <a:rPr kumimoji="1" lang="zh-CN" altLang="en-US" sz="3200" dirty="0">
                <a:latin typeface="宋体" charset="-122"/>
              </a:rPr>
              <a:t>表达式</a:t>
            </a:r>
            <a:r>
              <a:rPr kumimoji="1" lang="en-US" altLang="zh-CN" sz="3200" dirty="0" err="1">
                <a:latin typeface="宋体" charset="-122"/>
              </a:rPr>
              <a:t>x+y</a:t>
            </a:r>
            <a:r>
              <a:rPr kumimoji="1" lang="en-US" altLang="zh-CN" sz="3200" dirty="0">
                <a:latin typeface="宋体" charset="-122"/>
              </a:rPr>
              <a:t>*z</a:t>
            </a:r>
            <a:r>
              <a:rPr kumimoji="1" lang="zh-CN" altLang="en-US" sz="3200" dirty="0">
                <a:latin typeface="宋体" charset="-122"/>
              </a:rPr>
              <a:t>的三地址代码</a:t>
            </a:r>
          </a:p>
          <a:p>
            <a:pPr eaLnBrk="0" hangingPunct="0">
              <a:spcBef>
                <a:spcPct val="10000"/>
              </a:spcBef>
              <a:buClr>
                <a:schemeClr val="tx2"/>
              </a:buClr>
              <a:buSzPct val="75000"/>
              <a:buFont typeface="Monotype Sorts" pitchFamily="2" charset="2"/>
              <a:buNone/>
            </a:pPr>
            <a:r>
              <a:rPr kumimoji="1" lang="zh-CN" altLang="en-US" sz="3200" dirty="0">
                <a:latin typeface="宋体" charset="-122"/>
              </a:rPr>
              <a:t>  </a:t>
            </a:r>
            <a:r>
              <a:rPr kumimoji="1" lang="en-US" altLang="zh-CN" sz="3200" dirty="0">
                <a:latin typeface="宋体" charset="-122"/>
              </a:rPr>
              <a:t>(1)T</a:t>
            </a:r>
            <a:r>
              <a:rPr kumimoji="1" lang="en-US" altLang="zh-CN" sz="3200" baseline="-10000" dirty="0">
                <a:latin typeface="宋体" charset="-122"/>
              </a:rPr>
              <a:t>1</a:t>
            </a:r>
            <a:r>
              <a:rPr kumimoji="1" lang="en-US" altLang="zh-CN" sz="3200" dirty="0">
                <a:latin typeface="宋体" charset="-122"/>
              </a:rPr>
              <a:t>:=y*z</a:t>
            </a:r>
          </a:p>
          <a:p>
            <a:pPr eaLnBrk="0" hangingPunct="0">
              <a:spcBef>
                <a:spcPct val="10000"/>
              </a:spcBef>
              <a:buClr>
                <a:schemeClr val="tx2"/>
              </a:buClr>
              <a:buSzPct val="75000"/>
              <a:buFont typeface="Monotype Sorts" pitchFamily="2" charset="2"/>
              <a:buNone/>
            </a:pPr>
            <a:r>
              <a:rPr kumimoji="1" lang="en-US" altLang="zh-CN" sz="3200" dirty="0">
                <a:latin typeface="宋体" charset="-122"/>
              </a:rPr>
              <a:t>  (2)T</a:t>
            </a:r>
            <a:r>
              <a:rPr kumimoji="1" lang="en-US" altLang="zh-CN" dirty="0">
                <a:latin typeface="宋体" charset="-122"/>
              </a:rPr>
              <a:t>2</a:t>
            </a:r>
            <a:r>
              <a:rPr kumimoji="1" lang="en-US" altLang="zh-CN" sz="3200" dirty="0">
                <a:latin typeface="宋体" charset="-122"/>
              </a:rPr>
              <a:t>:=x+T</a:t>
            </a:r>
            <a:r>
              <a:rPr kumimoji="1" lang="en-US" altLang="zh-CN" dirty="0">
                <a:latin typeface="宋体" charset="-122"/>
              </a:rPr>
              <a:t>1</a:t>
            </a:r>
          </a:p>
        </p:txBody>
      </p:sp>
      <p:sp>
        <p:nvSpPr>
          <p:cNvPr id="9" name="灯片编号占位符 8">
            <a:extLst>
              <a:ext uri="{FF2B5EF4-FFF2-40B4-BE49-F238E27FC236}">
                <a16:creationId xmlns:a16="http://schemas.microsoft.com/office/drawing/2014/main" id="{6867C624-08FF-44EF-AF58-2FE532833ECA}"/>
              </a:ext>
            </a:extLst>
          </p:cNvPr>
          <p:cNvSpPr>
            <a:spLocks noGrp="1"/>
          </p:cNvSpPr>
          <p:nvPr>
            <p:ph type="sldNum" sz="quarter" idx="4"/>
          </p:nvPr>
        </p:nvSpPr>
        <p:spPr/>
        <p:txBody>
          <a:bodyPr/>
          <a:lstStyle/>
          <a:p>
            <a:fld id="{565CE74E-AB26-4998-AD42-012C4C1AD076}" type="slidenum">
              <a:rPr lang="zh-CN" altLang="en-US" smtClean="0"/>
              <a:pPr/>
              <a:t>27</a:t>
            </a:fld>
            <a:endParaRPr lang="zh-CN" altLang="en-US"/>
          </a:p>
        </p:txBody>
      </p:sp>
    </p:spTree>
    <p:extLst>
      <p:ext uri="{BB962C8B-B14F-4D97-AF65-F5344CB8AC3E}">
        <p14:creationId xmlns:p14="http://schemas.microsoft.com/office/powerpoint/2010/main" val="3376062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Bottom)">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9"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up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9"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trips(up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strips(upRigh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strips(upRigh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 calcmode="lin" valueType="num">
                                      <p:cBhvr additive="base">
                                        <p:cTn id="32"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
                                            <p:txEl>
                                              <p:pRg st="5" end="5"/>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2">
                                            <p:txEl>
                                              <p:pRg st="6" end="6"/>
                                            </p:txEl>
                                          </p:spTgt>
                                        </p:tgtEl>
                                        <p:attrNameLst>
                                          <p:attrName>style.visibility</p:attrName>
                                        </p:attrNameLst>
                                      </p:cBhvr>
                                      <p:to>
                                        <p:strVal val="visible"/>
                                      </p:to>
                                    </p:set>
                                    <p:anim calcmode="lin" valueType="num">
                                      <p:cBhvr additive="base">
                                        <p:cTn id="36"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11">
                                            <p:txEl>
                                              <p:pRg st="0" end="0"/>
                                            </p:txEl>
                                          </p:spTgt>
                                        </p:tgtEl>
                                        <p:attrNameLst>
                                          <p:attrName>style.visibility</p:attrName>
                                        </p:attrNameLst>
                                      </p:cBhvr>
                                      <p:to>
                                        <p:strVal val="visible"/>
                                      </p:to>
                                    </p:set>
                                    <p:animEffect transition="in" filter="slide(fromBottom)">
                                      <p:cBhvr>
                                        <p:cTn id="42" dur="500"/>
                                        <p:tgtEl>
                                          <p:spTgt spid="11">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11">
                                            <p:txEl>
                                              <p:pRg st="1" end="1"/>
                                            </p:txEl>
                                          </p:spTgt>
                                        </p:tgtEl>
                                        <p:attrNameLst>
                                          <p:attrName>style.visibility</p:attrName>
                                        </p:attrNameLst>
                                      </p:cBhvr>
                                      <p:to>
                                        <p:strVal val="visible"/>
                                      </p:to>
                                    </p:set>
                                    <p:animEffect transition="in" filter="slide(fromBottom)">
                                      <p:cBhvr>
                                        <p:cTn id="47" dur="500"/>
                                        <p:tgtEl>
                                          <p:spTgt spid="11">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11">
                                            <p:txEl>
                                              <p:pRg st="2" end="2"/>
                                            </p:txEl>
                                          </p:spTgt>
                                        </p:tgtEl>
                                        <p:attrNameLst>
                                          <p:attrName>style.visibility</p:attrName>
                                        </p:attrNameLst>
                                      </p:cBhvr>
                                      <p:to>
                                        <p:strVal val="visible"/>
                                      </p:to>
                                    </p:set>
                                    <p:animEffect transition="in" filter="slide(fromBottom)">
                                      <p:cBhvr>
                                        <p:cTn id="52"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5" grpId="0" animBg="1"/>
      <p:bldP spid="6" grpId="0" animBg="1"/>
      <p:bldP spid="7" grpId="0" animBg="1"/>
      <p:bldP spid="8" grpId="0" animBg="1"/>
      <p:bldP spid="11" grpId="0" uiExpand="1"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三地址码举例：</a:t>
            </a:r>
          </a:p>
        </p:txBody>
      </p:sp>
      <p:sp>
        <p:nvSpPr>
          <p:cNvPr id="3" name="标题 2"/>
          <p:cNvSpPr>
            <a:spLocks noGrp="1"/>
          </p:cNvSpPr>
          <p:nvPr>
            <p:ph type="title"/>
          </p:nvPr>
        </p:nvSpPr>
        <p:spPr/>
        <p:txBody>
          <a:bodyPr/>
          <a:lstStyle/>
          <a:p>
            <a:r>
              <a:rPr lang="zh-CN" altLang="en-US" dirty="0"/>
              <a:t>三、中间代码表示</a:t>
            </a:r>
            <a:r>
              <a:rPr lang="en-US" altLang="zh-CN" dirty="0"/>
              <a:t>                  </a:t>
            </a:r>
            <a:r>
              <a:rPr lang="zh-CN" altLang="en-US" dirty="0">
                <a:solidFill>
                  <a:srgbClr val="FF0000"/>
                </a:solidFill>
              </a:rPr>
              <a:t>三地址码</a:t>
            </a:r>
            <a:endParaRPr lang="zh-CN" altLang="en-US" dirty="0"/>
          </a:p>
        </p:txBody>
      </p:sp>
      <p:sp>
        <p:nvSpPr>
          <p:cNvPr id="5" name="Rectangle 19"/>
          <p:cNvSpPr>
            <a:spLocks noChangeArrowheads="1"/>
          </p:cNvSpPr>
          <p:nvPr/>
        </p:nvSpPr>
        <p:spPr bwMode="auto">
          <a:xfrm>
            <a:off x="1254853" y="1374397"/>
            <a:ext cx="64008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20000"/>
              </a:spcBef>
              <a:buClr>
                <a:srgbClr val="0000FF"/>
              </a:buClr>
              <a:buFont typeface="Wingdings" pitchFamily="2" charset="2"/>
              <a:buBlip>
                <a:blip r:embed="rId2"/>
              </a:buBlip>
            </a:pPr>
            <a:r>
              <a:rPr kumimoji="1" lang="zh-CN" altLang="en-US" sz="2800" dirty="0">
                <a:latin typeface="宋体" charset="-122"/>
              </a:rPr>
              <a:t>赋值语句</a:t>
            </a:r>
            <a:r>
              <a:rPr kumimoji="1" lang="en-US" altLang="zh-CN" sz="2800" dirty="0">
                <a:latin typeface="宋体" charset="-122"/>
              </a:rPr>
              <a:t>a:=b*c+b*c</a:t>
            </a:r>
            <a:r>
              <a:rPr kumimoji="1" lang="zh-CN" altLang="en-US" sz="2800" dirty="0">
                <a:latin typeface="宋体" charset="-122"/>
              </a:rPr>
              <a:t>的三地址代码</a:t>
            </a:r>
          </a:p>
          <a:p>
            <a:pPr eaLnBrk="0" hangingPunct="0">
              <a:lnSpc>
                <a:spcPct val="90000"/>
              </a:lnSpc>
              <a:spcBef>
                <a:spcPct val="20000"/>
              </a:spcBef>
              <a:buClr>
                <a:schemeClr val="tx2"/>
              </a:buClr>
              <a:buSzPct val="75000"/>
              <a:buFont typeface="Monotype Sorts" pitchFamily="2" charset="2"/>
              <a:buNone/>
            </a:pPr>
            <a:r>
              <a:rPr kumimoji="1" lang="zh-CN" altLang="en-US" sz="2800" dirty="0">
                <a:latin typeface="宋体" charset="-122"/>
              </a:rPr>
              <a:t>  </a:t>
            </a:r>
            <a:r>
              <a:rPr kumimoji="1" lang="en-US" altLang="zh-CN" sz="2800" dirty="0">
                <a:latin typeface="宋体" charset="-122"/>
              </a:rPr>
              <a:t>(1)T</a:t>
            </a:r>
            <a:r>
              <a:rPr kumimoji="1" lang="en-US" altLang="zh-CN" dirty="0">
                <a:latin typeface="宋体" charset="-122"/>
              </a:rPr>
              <a:t>1</a:t>
            </a:r>
            <a:r>
              <a:rPr kumimoji="1" lang="en-US" altLang="zh-CN" sz="2800" dirty="0">
                <a:latin typeface="宋体" charset="-122"/>
              </a:rPr>
              <a:t>:=c</a:t>
            </a:r>
          </a:p>
          <a:p>
            <a:pPr eaLnBrk="0" hangingPunct="0">
              <a:lnSpc>
                <a:spcPct val="90000"/>
              </a:lnSpc>
              <a:spcBef>
                <a:spcPct val="20000"/>
              </a:spcBef>
              <a:buClr>
                <a:schemeClr val="tx2"/>
              </a:buClr>
              <a:buSzPct val="75000"/>
              <a:buFont typeface="Monotype Sorts" pitchFamily="2" charset="2"/>
              <a:buNone/>
            </a:pPr>
            <a:r>
              <a:rPr kumimoji="1" lang="en-US" altLang="zh-CN" sz="2800" dirty="0">
                <a:latin typeface="宋体" charset="-122"/>
              </a:rPr>
              <a:t>  (2)T</a:t>
            </a:r>
            <a:r>
              <a:rPr kumimoji="1" lang="en-US" altLang="zh-CN" dirty="0">
                <a:latin typeface="宋体" charset="-122"/>
              </a:rPr>
              <a:t>2</a:t>
            </a:r>
            <a:r>
              <a:rPr kumimoji="1" lang="en-US" altLang="zh-CN" sz="2800" dirty="0">
                <a:latin typeface="宋体" charset="-122"/>
              </a:rPr>
              <a:t>:=b*T</a:t>
            </a:r>
            <a:r>
              <a:rPr kumimoji="1" lang="en-US" altLang="zh-CN" dirty="0">
                <a:latin typeface="宋体" charset="-122"/>
              </a:rPr>
              <a:t>1</a:t>
            </a:r>
            <a:endParaRPr kumimoji="1" lang="en-US" altLang="zh-CN" sz="2800" dirty="0">
              <a:latin typeface="宋体" charset="-122"/>
            </a:endParaRPr>
          </a:p>
          <a:p>
            <a:pPr eaLnBrk="0" hangingPunct="0">
              <a:lnSpc>
                <a:spcPct val="90000"/>
              </a:lnSpc>
              <a:spcBef>
                <a:spcPct val="20000"/>
              </a:spcBef>
              <a:buClr>
                <a:schemeClr val="tx2"/>
              </a:buClr>
              <a:buSzPct val="75000"/>
              <a:buFont typeface="Monotype Sorts" pitchFamily="2" charset="2"/>
              <a:buNone/>
            </a:pPr>
            <a:r>
              <a:rPr kumimoji="1" lang="en-US" altLang="zh-CN" sz="2800" dirty="0">
                <a:latin typeface="宋体" charset="-122"/>
              </a:rPr>
              <a:t>  (3)T</a:t>
            </a:r>
            <a:r>
              <a:rPr kumimoji="1" lang="en-US" altLang="zh-CN" dirty="0">
                <a:latin typeface="宋体" charset="-122"/>
              </a:rPr>
              <a:t>3</a:t>
            </a:r>
            <a:r>
              <a:rPr kumimoji="1" lang="en-US" altLang="zh-CN" sz="2800" dirty="0">
                <a:latin typeface="宋体" charset="-122"/>
              </a:rPr>
              <a:t>:=c</a:t>
            </a:r>
          </a:p>
        </p:txBody>
      </p:sp>
      <p:sp>
        <p:nvSpPr>
          <p:cNvPr id="6" name="Rectangle 20"/>
          <p:cNvSpPr>
            <a:spLocks noChangeArrowheads="1"/>
          </p:cNvSpPr>
          <p:nvPr/>
        </p:nvSpPr>
        <p:spPr bwMode="auto">
          <a:xfrm>
            <a:off x="3617053" y="1869697"/>
            <a:ext cx="2971800" cy="148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20000"/>
              </a:spcBef>
              <a:buClr>
                <a:schemeClr val="tx2"/>
              </a:buClr>
              <a:buSzPct val="75000"/>
              <a:buFont typeface="Monotype Sorts" pitchFamily="2" charset="2"/>
              <a:buNone/>
            </a:pPr>
            <a:r>
              <a:rPr kumimoji="1" lang="en-US" altLang="zh-CN" sz="2800" dirty="0">
                <a:latin typeface="宋体" charset="-122"/>
              </a:rPr>
              <a:t>  (4)T</a:t>
            </a:r>
            <a:r>
              <a:rPr kumimoji="1" lang="en-US" altLang="zh-CN" dirty="0">
                <a:latin typeface="宋体" charset="-122"/>
              </a:rPr>
              <a:t>4</a:t>
            </a:r>
            <a:r>
              <a:rPr kumimoji="1" lang="en-US" altLang="zh-CN" sz="2800" dirty="0">
                <a:latin typeface="宋体" charset="-122"/>
              </a:rPr>
              <a:t>:=b*T</a:t>
            </a:r>
            <a:r>
              <a:rPr kumimoji="1" lang="en-US" altLang="zh-CN" dirty="0">
                <a:latin typeface="宋体" charset="-122"/>
              </a:rPr>
              <a:t>3</a:t>
            </a:r>
            <a:endParaRPr kumimoji="1" lang="en-US" altLang="zh-CN" sz="2800" dirty="0">
              <a:latin typeface="宋体" charset="-122"/>
            </a:endParaRPr>
          </a:p>
          <a:p>
            <a:pPr eaLnBrk="0" hangingPunct="0">
              <a:lnSpc>
                <a:spcPct val="90000"/>
              </a:lnSpc>
              <a:spcBef>
                <a:spcPct val="20000"/>
              </a:spcBef>
              <a:buClr>
                <a:schemeClr val="tx2"/>
              </a:buClr>
              <a:buSzPct val="75000"/>
              <a:buFont typeface="Monotype Sorts" pitchFamily="2" charset="2"/>
              <a:buNone/>
            </a:pPr>
            <a:r>
              <a:rPr kumimoji="1" lang="en-US" altLang="zh-CN" sz="2800" dirty="0">
                <a:latin typeface="宋体" charset="-122"/>
              </a:rPr>
              <a:t>  (5)T</a:t>
            </a:r>
            <a:r>
              <a:rPr kumimoji="1" lang="en-US" altLang="zh-CN" dirty="0">
                <a:latin typeface="宋体" charset="-122"/>
              </a:rPr>
              <a:t>5</a:t>
            </a:r>
            <a:r>
              <a:rPr kumimoji="1" lang="en-US" altLang="zh-CN" sz="2800" dirty="0">
                <a:latin typeface="宋体" charset="-122"/>
              </a:rPr>
              <a:t>:=T</a:t>
            </a:r>
            <a:r>
              <a:rPr kumimoji="1" lang="en-US" altLang="zh-CN" dirty="0">
                <a:latin typeface="宋体" charset="-122"/>
              </a:rPr>
              <a:t>2</a:t>
            </a:r>
            <a:r>
              <a:rPr kumimoji="1" lang="en-US" altLang="zh-CN" sz="2800" dirty="0">
                <a:latin typeface="宋体" charset="-122"/>
              </a:rPr>
              <a:t>+T</a:t>
            </a:r>
            <a:r>
              <a:rPr kumimoji="1" lang="en-US" altLang="zh-CN" dirty="0">
                <a:latin typeface="宋体" charset="-122"/>
              </a:rPr>
              <a:t>4</a:t>
            </a:r>
            <a:endParaRPr kumimoji="1" lang="en-US" altLang="zh-CN" sz="2800" dirty="0">
              <a:latin typeface="宋体" charset="-122"/>
            </a:endParaRPr>
          </a:p>
          <a:p>
            <a:pPr eaLnBrk="0" hangingPunct="0">
              <a:lnSpc>
                <a:spcPct val="90000"/>
              </a:lnSpc>
              <a:spcBef>
                <a:spcPct val="20000"/>
              </a:spcBef>
              <a:buClr>
                <a:schemeClr val="tx2"/>
              </a:buClr>
              <a:buSzPct val="75000"/>
              <a:buFont typeface="Monotype Sorts" pitchFamily="2" charset="2"/>
              <a:buNone/>
            </a:pPr>
            <a:r>
              <a:rPr kumimoji="1" lang="en-US" altLang="zh-CN" sz="2800" dirty="0">
                <a:latin typeface="宋体" charset="-122"/>
              </a:rPr>
              <a:t>  (6)a:=T</a:t>
            </a:r>
            <a:r>
              <a:rPr kumimoji="1" lang="en-US" altLang="zh-CN" dirty="0">
                <a:latin typeface="宋体" charset="-122"/>
              </a:rPr>
              <a:t>5</a:t>
            </a:r>
          </a:p>
        </p:txBody>
      </p:sp>
      <p:sp>
        <p:nvSpPr>
          <p:cNvPr id="4" name="灯片编号占位符 3">
            <a:extLst>
              <a:ext uri="{FF2B5EF4-FFF2-40B4-BE49-F238E27FC236}">
                <a16:creationId xmlns:a16="http://schemas.microsoft.com/office/drawing/2014/main" id="{08C7A4EE-5C27-4F19-AA9D-9C25C1E5B9F0}"/>
              </a:ext>
            </a:extLst>
          </p:cNvPr>
          <p:cNvSpPr>
            <a:spLocks noGrp="1"/>
          </p:cNvSpPr>
          <p:nvPr>
            <p:ph type="sldNum" sz="quarter" idx="4"/>
          </p:nvPr>
        </p:nvSpPr>
        <p:spPr/>
        <p:txBody>
          <a:bodyPr/>
          <a:lstStyle/>
          <a:p>
            <a:fld id="{565CE74E-AB26-4998-AD42-012C4C1AD076}" type="slidenum">
              <a:rPr lang="zh-CN" altLang="en-US" smtClean="0"/>
              <a:pPr/>
              <a:t>28</a:t>
            </a:fld>
            <a:endParaRPr lang="zh-CN" altLang="en-US"/>
          </a:p>
        </p:txBody>
      </p:sp>
    </p:spTree>
    <p:extLst>
      <p:ext uri="{BB962C8B-B14F-4D97-AF65-F5344CB8AC3E}">
        <p14:creationId xmlns:p14="http://schemas.microsoft.com/office/powerpoint/2010/main" val="1237576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slide(fromBottom)">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slide(fromBottom)">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slide(fromBottom)">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slide(fromBottom)">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slide(fromBottom)">
                                      <p:cBhvr>
                                        <p:cTn id="27" dur="5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slide(fromBottom)">
                                      <p:cBhvr>
                                        <p:cTn id="32" dur="500"/>
                                        <p:tgtEl>
                                          <p:spTgt spid="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animEffect transition="in" filter="slide(fromBottom)">
                                      <p:cBhvr>
                                        <p:cTn id="3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6"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fontScale="92500"/>
          </a:bodyPr>
          <a:lstStyle/>
          <a:p>
            <a:pPr>
              <a:buClrTx/>
            </a:pPr>
            <a:r>
              <a:rPr lang="zh-CN" altLang="en-US" dirty="0">
                <a:solidFill>
                  <a:srgbClr val="800080"/>
                </a:solidFill>
              </a:rPr>
              <a:t>课程后续部分用到的 </a:t>
            </a:r>
            <a:r>
              <a:rPr lang="en-US" altLang="zh-CN" sz="2800" i="1" dirty="0">
                <a:solidFill>
                  <a:srgbClr val="800080"/>
                </a:solidFill>
              </a:rPr>
              <a:t>TAC </a:t>
            </a:r>
            <a:r>
              <a:rPr lang="zh-CN" altLang="en-US" dirty="0">
                <a:solidFill>
                  <a:srgbClr val="800080"/>
                </a:solidFill>
              </a:rPr>
              <a:t>语句类型</a:t>
            </a:r>
            <a:endParaRPr lang="zh-CN" altLang="en-US" sz="2800" dirty="0">
              <a:solidFill>
                <a:srgbClr val="800080"/>
              </a:solidFill>
            </a:endParaRPr>
          </a:p>
          <a:p>
            <a:pPr>
              <a:buClrTx/>
              <a:buFont typeface="Symbol" pitchFamily="18" charset="2"/>
              <a:buNone/>
            </a:pPr>
            <a:endParaRPr lang="zh-CN" altLang="en-US" sz="1000" dirty="0"/>
          </a:p>
          <a:p>
            <a:pPr lvl="1">
              <a:buFontTx/>
              <a:buChar char="•"/>
            </a:pPr>
            <a:r>
              <a:rPr lang="zh-CN" altLang="en-US" dirty="0"/>
              <a:t>赋值语句</a:t>
            </a:r>
            <a:r>
              <a:rPr lang="zh-CN" altLang="en-US" i="1" dirty="0">
                <a:solidFill>
                  <a:srgbClr val="800080"/>
                </a:solidFill>
              </a:rPr>
              <a:t> </a:t>
            </a:r>
            <a:r>
              <a:rPr lang="en-US" altLang="zh-CN" i="1" dirty="0">
                <a:solidFill>
                  <a:srgbClr val="800080"/>
                </a:solidFill>
              </a:rPr>
              <a:t>x := y op z</a:t>
            </a:r>
            <a:r>
              <a:rPr lang="en-US" altLang="zh-CN" dirty="0"/>
              <a:t>   </a:t>
            </a:r>
            <a:r>
              <a:rPr lang="zh-CN" altLang="en-US" dirty="0"/>
              <a:t>（</a:t>
            </a:r>
            <a:r>
              <a:rPr lang="en-US" altLang="zh-CN" i="1" dirty="0"/>
              <a:t>op </a:t>
            </a:r>
            <a:r>
              <a:rPr lang="zh-CN" altLang="en-US" dirty="0"/>
              <a:t>代表二元算术</a:t>
            </a:r>
            <a:r>
              <a:rPr lang="en-US" altLang="zh-CN" dirty="0"/>
              <a:t>/</a:t>
            </a:r>
            <a:r>
              <a:rPr lang="zh-CN" altLang="en-US" dirty="0"/>
              <a:t>逻辑运算）</a:t>
            </a:r>
          </a:p>
          <a:p>
            <a:pPr lvl="1">
              <a:buFontTx/>
              <a:buChar char="•"/>
            </a:pPr>
            <a:r>
              <a:rPr lang="zh-CN" altLang="en-US" dirty="0"/>
              <a:t>赋值语句</a:t>
            </a:r>
            <a:r>
              <a:rPr lang="zh-CN" altLang="en-US" i="1" dirty="0">
                <a:solidFill>
                  <a:srgbClr val="800080"/>
                </a:solidFill>
              </a:rPr>
              <a:t> </a:t>
            </a:r>
            <a:r>
              <a:rPr lang="en-US" altLang="zh-CN" i="1" dirty="0">
                <a:solidFill>
                  <a:srgbClr val="800080"/>
                </a:solidFill>
              </a:rPr>
              <a:t>x := op y</a:t>
            </a:r>
            <a:r>
              <a:rPr lang="en-US" altLang="zh-CN" dirty="0"/>
              <a:t>   </a:t>
            </a:r>
            <a:r>
              <a:rPr lang="zh-CN" altLang="en-US" dirty="0"/>
              <a:t>（</a:t>
            </a:r>
            <a:r>
              <a:rPr lang="en-US" altLang="zh-CN" i="1" dirty="0"/>
              <a:t>op </a:t>
            </a:r>
            <a:r>
              <a:rPr lang="zh-CN" altLang="en-US" dirty="0"/>
              <a:t>代表一元运算）</a:t>
            </a:r>
          </a:p>
          <a:p>
            <a:pPr lvl="1">
              <a:buFontTx/>
              <a:buChar char="•"/>
            </a:pPr>
            <a:r>
              <a:rPr lang="zh-CN" altLang="en-US" dirty="0"/>
              <a:t>复写语句</a:t>
            </a:r>
            <a:r>
              <a:rPr lang="zh-CN" altLang="en-US" i="1" dirty="0">
                <a:solidFill>
                  <a:srgbClr val="800080"/>
                </a:solidFill>
              </a:rPr>
              <a:t> </a:t>
            </a:r>
            <a:r>
              <a:rPr lang="en-US" altLang="zh-CN" i="1" dirty="0">
                <a:solidFill>
                  <a:srgbClr val="800080"/>
                </a:solidFill>
              </a:rPr>
              <a:t>x := y   </a:t>
            </a:r>
            <a:r>
              <a:rPr lang="zh-CN" altLang="en-US" dirty="0"/>
              <a:t>（</a:t>
            </a:r>
            <a:r>
              <a:rPr lang="en-US" altLang="zh-CN" i="1" dirty="0"/>
              <a:t>y </a:t>
            </a:r>
            <a:r>
              <a:rPr lang="zh-CN" altLang="en-US" dirty="0"/>
              <a:t>的值赋值给 </a:t>
            </a:r>
            <a:r>
              <a:rPr lang="en-US" altLang="zh-CN" i="1" dirty="0"/>
              <a:t>x</a:t>
            </a:r>
            <a:r>
              <a:rPr lang="zh-CN" altLang="en-US" dirty="0"/>
              <a:t>）</a:t>
            </a:r>
          </a:p>
          <a:p>
            <a:pPr lvl="1">
              <a:buFontTx/>
              <a:buChar char="•"/>
            </a:pPr>
            <a:r>
              <a:rPr lang="zh-CN" altLang="en-US" dirty="0"/>
              <a:t>无条件跳转语句</a:t>
            </a:r>
            <a:r>
              <a:rPr lang="zh-CN" altLang="en-US" i="1" dirty="0">
                <a:solidFill>
                  <a:srgbClr val="800080"/>
                </a:solidFill>
              </a:rPr>
              <a:t> </a:t>
            </a:r>
            <a:r>
              <a:rPr lang="en-US" altLang="zh-CN" i="1" dirty="0" err="1">
                <a:solidFill>
                  <a:srgbClr val="800080"/>
                </a:solidFill>
              </a:rPr>
              <a:t>goto</a:t>
            </a:r>
            <a:r>
              <a:rPr lang="en-US" altLang="zh-CN" i="1" dirty="0">
                <a:solidFill>
                  <a:srgbClr val="800080"/>
                </a:solidFill>
              </a:rPr>
              <a:t> L</a:t>
            </a:r>
            <a:r>
              <a:rPr lang="en-US" altLang="zh-CN" dirty="0"/>
              <a:t>  </a:t>
            </a:r>
            <a:r>
              <a:rPr lang="zh-CN" altLang="en-US" dirty="0"/>
              <a:t>（无条件跳转至标号 </a:t>
            </a:r>
            <a:r>
              <a:rPr lang="en-US" altLang="zh-CN" i="1" dirty="0"/>
              <a:t>L</a:t>
            </a:r>
            <a:r>
              <a:rPr lang="zh-CN" altLang="en-US" dirty="0"/>
              <a:t>）</a:t>
            </a:r>
          </a:p>
          <a:p>
            <a:pPr lvl="1">
              <a:buFontTx/>
              <a:buChar char="•"/>
            </a:pPr>
            <a:r>
              <a:rPr lang="zh-CN" altLang="en-US" dirty="0"/>
              <a:t>条件跳转语句</a:t>
            </a:r>
            <a:r>
              <a:rPr lang="en-US" altLang="zh-CN" i="1" dirty="0">
                <a:solidFill>
                  <a:srgbClr val="800080"/>
                </a:solidFill>
              </a:rPr>
              <a:t>if x </a:t>
            </a:r>
            <a:r>
              <a:rPr lang="en-US" altLang="zh-CN" i="1" dirty="0" err="1">
                <a:solidFill>
                  <a:srgbClr val="800080"/>
                </a:solidFill>
              </a:rPr>
              <a:t>rop</a:t>
            </a:r>
            <a:r>
              <a:rPr lang="en-US" altLang="zh-CN" i="1" dirty="0">
                <a:solidFill>
                  <a:srgbClr val="800080"/>
                </a:solidFill>
              </a:rPr>
              <a:t> y </a:t>
            </a:r>
            <a:r>
              <a:rPr lang="en-US" altLang="zh-CN" i="1" dirty="0" err="1">
                <a:solidFill>
                  <a:srgbClr val="800080"/>
                </a:solidFill>
              </a:rPr>
              <a:t>goto</a:t>
            </a:r>
            <a:r>
              <a:rPr lang="en-US" altLang="zh-CN" i="1" dirty="0">
                <a:solidFill>
                  <a:srgbClr val="800080"/>
                </a:solidFill>
              </a:rPr>
              <a:t> L</a:t>
            </a:r>
            <a:r>
              <a:rPr lang="en-US" altLang="zh-CN" dirty="0"/>
              <a:t> </a:t>
            </a:r>
            <a:r>
              <a:rPr lang="zh-CN" altLang="en-US" dirty="0"/>
              <a:t>（</a:t>
            </a:r>
            <a:r>
              <a:rPr lang="en-US" altLang="zh-CN" i="1" dirty="0" err="1"/>
              <a:t>rop</a:t>
            </a:r>
            <a:r>
              <a:rPr lang="en-US" altLang="zh-CN" i="1" dirty="0"/>
              <a:t> </a:t>
            </a:r>
            <a:r>
              <a:rPr lang="zh-CN" altLang="en-US" dirty="0"/>
              <a:t>代表关系运算）</a:t>
            </a:r>
          </a:p>
          <a:p>
            <a:pPr lvl="1">
              <a:buFontTx/>
              <a:buChar char="•"/>
            </a:pPr>
            <a:r>
              <a:rPr lang="zh-CN" altLang="en-US" dirty="0"/>
              <a:t>标号语句 </a:t>
            </a:r>
            <a:r>
              <a:rPr lang="en-US" altLang="zh-CN" i="1" dirty="0"/>
              <a:t>L</a:t>
            </a:r>
            <a:r>
              <a:rPr lang="en-US" altLang="zh-CN" dirty="0"/>
              <a:t> : </a:t>
            </a:r>
            <a:r>
              <a:rPr lang="zh-CN" altLang="en-US" dirty="0"/>
              <a:t>（定义标号 </a:t>
            </a:r>
            <a:r>
              <a:rPr lang="en-US" altLang="zh-CN" i="1" dirty="0"/>
              <a:t>L</a:t>
            </a:r>
            <a:r>
              <a:rPr lang="zh-CN" altLang="en-US" dirty="0"/>
              <a:t>） </a:t>
            </a:r>
          </a:p>
          <a:p>
            <a:pPr lvl="1">
              <a:buFontTx/>
              <a:buChar char="•"/>
            </a:pPr>
            <a:r>
              <a:rPr lang="zh-CN" altLang="en-US" dirty="0"/>
              <a:t>过程调用语句序列 </a:t>
            </a:r>
            <a:r>
              <a:rPr lang="en-US" altLang="zh-CN" i="1" dirty="0" err="1">
                <a:solidFill>
                  <a:srgbClr val="800080"/>
                </a:solidFill>
              </a:rPr>
              <a:t>param</a:t>
            </a:r>
            <a:r>
              <a:rPr lang="en-US" altLang="zh-CN" i="1" dirty="0">
                <a:solidFill>
                  <a:srgbClr val="800080"/>
                </a:solidFill>
              </a:rPr>
              <a:t> x</a:t>
            </a:r>
            <a:r>
              <a:rPr lang="en-US" altLang="zh-CN" i="1" baseline="-25000" dirty="0">
                <a:solidFill>
                  <a:srgbClr val="800080"/>
                </a:solidFill>
              </a:rPr>
              <a:t>1</a:t>
            </a:r>
            <a:r>
              <a:rPr lang="en-US" altLang="zh-CN" i="1" dirty="0">
                <a:solidFill>
                  <a:srgbClr val="800080"/>
                </a:solidFill>
              </a:rPr>
              <a:t> … </a:t>
            </a:r>
            <a:r>
              <a:rPr lang="en-US" altLang="zh-CN" i="1" dirty="0" err="1">
                <a:solidFill>
                  <a:srgbClr val="800080"/>
                </a:solidFill>
              </a:rPr>
              <a:t>param</a:t>
            </a:r>
            <a:r>
              <a:rPr lang="en-US" altLang="zh-CN" i="1" dirty="0">
                <a:solidFill>
                  <a:srgbClr val="800080"/>
                </a:solidFill>
              </a:rPr>
              <a:t> </a:t>
            </a:r>
            <a:r>
              <a:rPr lang="en-US" altLang="zh-CN" i="1" dirty="0" err="1">
                <a:solidFill>
                  <a:srgbClr val="800080"/>
                </a:solidFill>
              </a:rPr>
              <a:t>x</a:t>
            </a:r>
            <a:r>
              <a:rPr lang="en-US" altLang="zh-CN" i="1" baseline="-25000" dirty="0" err="1">
                <a:solidFill>
                  <a:srgbClr val="800080"/>
                </a:solidFill>
              </a:rPr>
              <a:t>n</a:t>
            </a:r>
            <a:r>
              <a:rPr lang="en-US" altLang="zh-CN" i="1" dirty="0">
                <a:solidFill>
                  <a:srgbClr val="800080"/>
                </a:solidFill>
              </a:rPr>
              <a:t> call </a:t>
            </a:r>
            <a:r>
              <a:rPr lang="en-US" altLang="zh-CN" i="1" dirty="0" err="1">
                <a:solidFill>
                  <a:srgbClr val="800080"/>
                </a:solidFill>
              </a:rPr>
              <a:t>p,n</a:t>
            </a:r>
            <a:endParaRPr lang="en-US" altLang="zh-CN" dirty="0"/>
          </a:p>
          <a:p>
            <a:pPr lvl="1">
              <a:buFontTx/>
              <a:buChar char="•"/>
            </a:pPr>
            <a:r>
              <a:rPr lang="zh-CN" altLang="en-US" dirty="0"/>
              <a:t>过程返回语句 </a:t>
            </a:r>
            <a:r>
              <a:rPr lang="en-US" altLang="zh-CN" i="1" dirty="0">
                <a:solidFill>
                  <a:srgbClr val="800080"/>
                </a:solidFill>
              </a:rPr>
              <a:t>return y </a:t>
            </a:r>
            <a:r>
              <a:rPr lang="zh-CN" altLang="en-US" dirty="0"/>
              <a:t>（</a:t>
            </a:r>
            <a:r>
              <a:rPr lang="en-US" altLang="zh-CN" i="1" dirty="0"/>
              <a:t>y</a:t>
            </a:r>
            <a:r>
              <a:rPr lang="en-US" altLang="zh-CN" dirty="0"/>
              <a:t> </a:t>
            </a:r>
            <a:r>
              <a:rPr lang="zh-CN" altLang="en-US" dirty="0"/>
              <a:t>可选，存放返回值）</a:t>
            </a:r>
          </a:p>
          <a:p>
            <a:pPr lvl="1">
              <a:buFontTx/>
              <a:buChar char="•"/>
            </a:pPr>
            <a:r>
              <a:rPr lang="zh-CN" altLang="en-US" dirty="0"/>
              <a:t>下标赋值语句</a:t>
            </a:r>
            <a:r>
              <a:rPr lang="zh-CN" altLang="en-US" i="1" dirty="0">
                <a:solidFill>
                  <a:srgbClr val="800080"/>
                </a:solidFill>
              </a:rPr>
              <a:t> </a:t>
            </a:r>
            <a:r>
              <a:rPr lang="en-US" altLang="zh-CN" i="1" dirty="0">
                <a:solidFill>
                  <a:srgbClr val="800080"/>
                </a:solidFill>
              </a:rPr>
              <a:t>x := y</a:t>
            </a:r>
            <a:r>
              <a:rPr lang="en-US" altLang="zh-CN" dirty="0">
                <a:solidFill>
                  <a:srgbClr val="800080"/>
                </a:solidFill>
              </a:rPr>
              <a:t>[</a:t>
            </a:r>
            <a:r>
              <a:rPr lang="en-US" altLang="zh-CN" i="1" dirty="0" err="1">
                <a:solidFill>
                  <a:srgbClr val="800080"/>
                </a:solidFill>
              </a:rPr>
              <a:t>i</a:t>
            </a:r>
            <a:r>
              <a:rPr lang="en-US" altLang="zh-CN" dirty="0">
                <a:solidFill>
                  <a:srgbClr val="800080"/>
                </a:solidFill>
              </a:rPr>
              <a:t>]</a:t>
            </a:r>
            <a:r>
              <a:rPr lang="en-US" altLang="zh-CN" dirty="0"/>
              <a:t> </a:t>
            </a:r>
            <a:r>
              <a:rPr lang="zh-CN" altLang="en-US" dirty="0"/>
              <a:t>和 </a:t>
            </a:r>
            <a:r>
              <a:rPr lang="en-US" altLang="zh-CN" i="1" dirty="0">
                <a:solidFill>
                  <a:srgbClr val="800080"/>
                </a:solidFill>
              </a:rPr>
              <a:t>x</a:t>
            </a:r>
            <a:r>
              <a:rPr lang="en-US" altLang="zh-CN" dirty="0">
                <a:solidFill>
                  <a:srgbClr val="800080"/>
                </a:solidFill>
              </a:rPr>
              <a:t>[</a:t>
            </a:r>
            <a:r>
              <a:rPr lang="en-US" altLang="zh-CN" i="1" dirty="0" err="1">
                <a:solidFill>
                  <a:srgbClr val="800080"/>
                </a:solidFill>
              </a:rPr>
              <a:t>i</a:t>
            </a:r>
            <a:r>
              <a:rPr lang="en-US" altLang="zh-CN" dirty="0">
                <a:solidFill>
                  <a:srgbClr val="800080"/>
                </a:solidFill>
              </a:rPr>
              <a:t>]</a:t>
            </a:r>
            <a:r>
              <a:rPr lang="en-US" altLang="zh-CN" i="1" dirty="0">
                <a:solidFill>
                  <a:srgbClr val="800080"/>
                </a:solidFill>
              </a:rPr>
              <a:t> := y </a:t>
            </a:r>
            <a:r>
              <a:rPr lang="zh-CN" altLang="en-US" dirty="0"/>
              <a:t>（前者表示将地</a:t>
            </a:r>
          </a:p>
          <a:p>
            <a:pPr lvl="1">
              <a:buFontTx/>
              <a:buNone/>
            </a:pPr>
            <a:r>
              <a:rPr lang="zh-CN" altLang="en-US" dirty="0"/>
              <a:t>   址 </a:t>
            </a:r>
            <a:r>
              <a:rPr lang="en-US" altLang="zh-CN" i="1" dirty="0"/>
              <a:t>y</a:t>
            </a:r>
            <a:r>
              <a:rPr lang="en-US" altLang="zh-CN" dirty="0"/>
              <a:t> </a:t>
            </a:r>
            <a:r>
              <a:rPr lang="zh-CN" altLang="en-US" dirty="0"/>
              <a:t>起第</a:t>
            </a:r>
            <a:r>
              <a:rPr lang="en-US" altLang="zh-CN" i="1" dirty="0" err="1"/>
              <a:t>i</a:t>
            </a:r>
            <a:r>
              <a:rPr lang="zh-CN" altLang="en-US" dirty="0"/>
              <a:t>个存储单元的值赋给 </a:t>
            </a:r>
            <a:r>
              <a:rPr lang="en-US" altLang="zh-CN" i="1" dirty="0"/>
              <a:t>x</a:t>
            </a:r>
            <a:r>
              <a:rPr lang="zh-CN" altLang="en-US" i="1" dirty="0"/>
              <a:t>，</a:t>
            </a:r>
            <a:r>
              <a:rPr lang="zh-CN" altLang="en-US" dirty="0"/>
              <a:t>后者类似）</a:t>
            </a:r>
          </a:p>
          <a:p>
            <a:pPr lvl="1">
              <a:buFontTx/>
              <a:buChar char="•"/>
            </a:pPr>
            <a:r>
              <a:rPr lang="zh-CN" altLang="en-US" dirty="0"/>
              <a:t>指针赋值语句</a:t>
            </a:r>
            <a:r>
              <a:rPr lang="zh-CN" altLang="en-US" dirty="0">
                <a:solidFill>
                  <a:srgbClr val="800080"/>
                </a:solidFill>
              </a:rPr>
              <a:t> </a:t>
            </a:r>
            <a:r>
              <a:rPr lang="en-US" altLang="zh-CN" i="1" dirty="0">
                <a:solidFill>
                  <a:srgbClr val="800080"/>
                </a:solidFill>
              </a:rPr>
              <a:t>x := </a:t>
            </a:r>
            <a:r>
              <a:rPr lang="en-US" altLang="zh-CN" i="1" dirty="0">
                <a:solidFill>
                  <a:srgbClr val="800080"/>
                </a:solidFill>
                <a:sym typeface="Symbol" pitchFamily="18" charset="2"/>
              </a:rPr>
              <a:t>*</a:t>
            </a:r>
            <a:r>
              <a:rPr lang="en-US" altLang="zh-CN" i="1" dirty="0">
                <a:solidFill>
                  <a:srgbClr val="800080"/>
                </a:solidFill>
              </a:rPr>
              <a:t>y</a:t>
            </a:r>
            <a:r>
              <a:rPr lang="en-US" altLang="zh-CN" dirty="0"/>
              <a:t> </a:t>
            </a:r>
            <a:r>
              <a:rPr lang="zh-CN" altLang="en-US" dirty="0"/>
              <a:t>和 </a:t>
            </a:r>
            <a:r>
              <a:rPr lang="zh-CN" altLang="en-US" i="1" dirty="0">
                <a:solidFill>
                  <a:srgbClr val="800080"/>
                </a:solidFill>
                <a:sym typeface="Symbol" pitchFamily="18" charset="2"/>
              </a:rPr>
              <a:t>*</a:t>
            </a:r>
            <a:r>
              <a:rPr lang="en-US" altLang="zh-CN" i="1" dirty="0">
                <a:solidFill>
                  <a:srgbClr val="800080"/>
                </a:solidFill>
              </a:rPr>
              <a:t>x := y</a:t>
            </a:r>
          </a:p>
          <a:p>
            <a:endParaRPr lang="zh-CN" altLang="en-US" dirty="0"/>
          </a:p>
        </p:txBody>
      </p:sp>
      <p:sp>
        <p:nvSpPr>
          <p:cNvPr id="3" name="标题 2"/>
          <p:cNvSpPr>
            <a:spLocks noGrp="1"/>
          </p:cNvSpPr>
          <p:nvPr>
            <p:ph type="title"/>
          </p:nvPr>
        </p:nvSpPr>
        <p:spPr/>
        <p:txBody>
          <a:bodyPr/>
          <a:lstStyle/>
          <a:p>
            <a:r>
              <a:rPr lang="zh-CN" altLang="en-US" dirty="0"/>
              <a:t>三、中间代码表示</a:t>
            </a:r>
            <a:r>
              <a:rPr lang="en-US" altLang="zh-CN" dirty="0"/>
              <a:t>                  </a:t>
            </a:r>
            <a:r>
              <a:rPr lang="zh-CN" altLang="en-US" dirty="0">
                <a:solidFill>
                  <a:srgbClr val="FF0000"/>
                </a:solidFill>
              </a:rPr>
              <a:t>三地址码</a:t>
            </a:r>
            <a:endParaRPr lang="zh-CN" altLang="en-US" dirty="0"/>
          </a:p>
        </p:txBody>
      </p:sp>
      <p:sp>
        <p:nvSpPr>
          <p:cNvPr id="4" name="灯片编号占位符 3">
            <a:extLst>
              <a:ext uri="{FF2B5EF4-FFF2-40B4-BE49-F238E27FC236}">
                <a16:creationId xmlns:a16="http://schemas.microsoft.com/office/drawing/2014/main" id="{FCF686A8-0C25-4BF7-8563-C269AACE7477}"/>
              </a:ext>
            </a:extLst>
          </p:cNvPr>
          <p:cNvSpPr>
            <a:spLocks noGrp="1"/>
          </p:cNvSpPr>
          <p:nvPr>
            <p:ph type="sldNum" sz="quarter" idx="4"/>
          </p:nvPr>
        </p:nvSpPr>
        <p:spPr/>
        <p:txBody>
          <a:bodyPr/>
          <a:lstStyle/>
          <a:p>
            <a:fld id="{565CE74E-AB26-4998-AD42-012C4C1AD076}" type="slidenum">
              <a:rPr lang="zh-CN" altLang="en-US" smtClean="0"/>
              <a:pPr/>
              <a:t>29</a:t>
            </a:fld>
            <a:endParaRPr lang="zh-CN" altLang="en-US"/>
          </a:p>
        </p:txBody>
      </p:sp>
    </p:spTree>
    <p:extLst>
      <p:ext uri="{BB962C8B-B14F-4D97-AF65-F5344CB8AC3E}">
        <p14:creationId xmlns:p14="http://schemas.microsoft.com/office/powerpoint/2010/main" val="1445988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fontScale="92500" lnSpcReduction="10000"/>
          </a:bodyPr>
          <a:lstStyle/>
          <a:p>
            <a:r>
              <a:rPr lang="zh-CN" altLang="en-US" dirty="0"/>
              <a:t>三元式</a:t>
            </a:r>
            <a:endParaRPr lang="en-US" altLang="zh-CN" dirty="0"/>
          </a:p>
          <a:p>
            <a:r>
              <a:rPr lang="zh-CN" altLang="en-US" dirty="0">
                <a:solidFill>
                  <a:srgbClr val="FF0000"/>
                </a:solidFill>
              </a:rPr>
              <a:t>例1：表达式W＊X+（Y+Z）</a:t>
            </a:r>
          </a:p>
          <a:p>
            <a:pPr lvl="1"/>
            <a:r>
              <a:rPr lang="zh-CN" altLang="en-US" dirty="0"/>
              <a:t>三元式序列表示</a:t>
            </a:r>
            <a:endParaRPr lang="zh-CN" altLang="en-US" dirty="0">
              <a:latin typeface="宋体" panose="02010600030101010101" pitchFamily="2" charset="-122"/>
              <a:ea typeface="宋体" panose="02010600030101010101" pitchFamily="2" charset="-122"/>
            </a:endParaRPr>
          </a:p>
          <a:p>
            <a:pPr lvl="2"/>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W</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X</a:t>
            </a:r>
          </a:p>
          <a:p>
            <a:pPr lvl="2"/>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Y</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Z</a:t>
            </a:r>
          </a:p>
          <a:p>
            <a:pPr lvl="2"/>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p>
          <a:p>
            <a:r>
              <a:rPr lang="zh-CN" altLang="en-US" dirty="0">
                <a:solidFill>
                  <a:srgbClr val="FF0000"/>
                </a:solidFill>
              </a:rPr>
              <a:t>例2：条件语句</a:t>
            </a:r>
            <a:r>
              <a:rPr lang="en-US" altLang="zh-CN" dirty="0">
                <a:solidFill>
                  <a:srgbClr val="FF0000"/>
                </a:solidFill>
              </a:rPr>
              <a:t>if(X&gt;Y) Z=X; else Z=Y+1;</a:t>
            </a:r>
          </a:p>
          <a:p>
            <a:pPr lvl="1"/>
            <a:r>
              <a:rPr lang="zh-CN" altLang="en-US" dirty="0"/>
              <a:t>三元式序列表示</a:t>
            </a:r>
          </a:p>
          <a:p>
            <a:pPr lvl="2"/>
            <a:r>
              <a:rPr lang="zh-CN" altLang="en-US" dirty="0"/>
              <a:t>（</a:t>
            </a:r>
            <a:r>
              <a:rPr lang="en-US" altLang="zh-CN" dirty="0"/>
              <a:t>1</a:t>
            </a:r>
            <a:r>
              <a:rPr lang="zh-CN" altLang="en-US" dirty="0"/>
              <a:t>）</a:t>
            </a:r>
            <a:r>
              <a:rPr lang="en-US" altLang="zh-CN" dirty="0"/>
              <a:t>-X</a:t>
            </a:r>
            <a:r>
              <a:rPr lang="zh-CN" altLang="en-US" dirty="0"/>
              <a:t>，</a:t>
            </a:r>
            <a:r>
              <a:rPr lang="en-US" altLang="zh-CN" dirty="0"/>
              <a:t>Y</a:t>
            </a:r>
          </a:p>
          <a:p>
            <a:pPr lvl="2"/>
            <a:r>
              <a:rPr lang="zh-CN" altLang="en-US" dirty="0"/>
              <a:t>（</a:t>
            </a:r>
            <a:r>
              <a:rPr lang="en-US" altLang="zh-CN" dirty="0"/>
              <a:t>2</a:t>
            </a:r>
            <a:r>
              <a:rPr lang="zh-CN" altLang="en-US" dirty="0"/>
              <a:t>）</a:t>
            </a:r>
            <a:r>
              <a:rPr lang="en-US" altLang="zh-CN" dirty="0"/>
              <a:t>BMZ</a:t>
            </a:r>
            <a:r>
              <a:rPr lang="zh-CN" altLang="en-US" dirty="0"/>
              <a:t>，（</a:t>
            </a:r>
            <a:r>
              <a:rPr lang="en-US" altLang="zh-CN" dirty="0"/>
              <a:t>1</a:t>
            </a:r>
            <a:r>
              <a:rPr lang="zh-CN" altLang="en-US" dirty="0"/>
              <a:t>），（</a:t>
            </a:r>
            <a:r>
              <a:rPr lang="en-US" altLang="zh-CN" dirty="0"/>
              <a:t>5</a:t>
            </a:r>
            <a:r>
              <a:rPr lang="zh-CN" altLang="en-US" dirty="0"/>
              <a:t>） </a:t>
            </a:r>
            <a:r>
              <a:rPr lang="en-US" altLang="zh-CN" dirty="0">
                <a:solidFill>
                  <a:srgbClr val="FF0000"/>
                </a:solidFill>
              </a:rPr>
              <a:t>BMZ</a:t>
            </a:r>
            <a:r>
              <a:rPr lang="zh-CN" altLang="en-US" dirty="0">
                <a:solidFill>
                  <a:srgbClr val="FF0000"/>
                </a:solidFill>
              </a:rPr>
              <a:t>表示零转移</a:t>
            </a:r>
          </a:p>
          <a:p>
            <a:pPr lvl="2"/>
            <a:r>
              <a:rPr lang="zh-CN" altLang="en-US" dirty="0"/>
              <a:t>（</a:t>
            </a:r>
            <a:r>
              <a:rPr lang="en-US" altLang="zh-CN" dirty="0"/>
              <a:t>3</a:t>
            </a:r>
            <a:r>
              <a:rPr lang="zh-CN" altLang="en-US" dirty="0"/>
              <a:t>）=</a:t>
            </a:r>
            <a:r>
              <a:rPr lang="en-US" altLang="zh-CN" dirty="0"/>
              <a:t>,Z=X</a:t>
            </a:r>
          </a:p>
          <a:p>
            <a:pPr lvl="2"/>
            <a:r>
              <a:rPr lang="zh-CN" altLang="en-US" dirty="0"/>
              <a:t>（</a:t>
            </a:r>
            <a:r>
              <a:rPr lang="en-US" altLang="zh-CN" dirty="0"/>
              <a:t>4</a:t>
            </a:r>
            <a:r>
              <a:rPr lang="zh-CN" altLang="en-US" dirty="0"/>
              <a:t>）</a:t>
            </a:r>
            <a:r>
              <a:rPr lang="en-US" altLang="zh-CN" dirty="0"/>
              <a:t>BR, ,(7)                         </a:t>
            </a:r>
            <a:r>
              <a:rPr lang="en-US" altLang="zh-CN" dirty="0">
                <a:solidFill>
                  <a:srgbClr val="FF0000"/>
                </a:solidFill>
              </a:rPr>
              <a:t>BR</a:t>
            </a:r>
            <a:r>
              <a:rPr lang="zh-CN" altLang="en-US" dirty="0">
                <a:solidFill>
                  <a:srgbClr val="FF0000"/>
                </a:solidFill>
              </a:rPr>
              <a:t>表示无条件转移</a:t>
            </a:r>
          </a:p>
          <a:p>
            <a:pPr lvl="2"/>
            <a:r>
              <a:rPr lang="zh-CN" altLang="en-US" dirty="0"/>
              <a:t>（</a:t>
            </a:r>
            <a:r>
              <a:rPr lang="en-US" altLang="zh-CN" dirty="0"/>
              <a:t>5</a:t>
            </a:r>
            <a:r>
              <a:rPr lang="zh-CN" altLang="en-US" dirty="0"/>
              <a:t>）+,Y</a:t>
            </a:r>
            <a:r>
              <a:rPr lang="en-US" altLang="zh-CN" dirty="0"/>
              <a:t>,1</a:t>
            </a:r>
          </a:p>
          <a:p>
            <a:pPr lvl="2"/>
            <a:r>
              <a:rPr lang="zh-CN" altLang="en-US" dirty="0"/>
              <a:t>（</a:t>
            </a:r>
            <a:r>
              <a:rPr lang="en-US" altLang="zh-CN" dirty="0"/>
              <a:t>6</a:t>
            </a:r>
            <a:r>
              <a:rPr lang="zh-CN" altLang="en-US" dirty="0"/>
              <a:t>）</a:t>
            </a:r>
            <a:r>
              <a:rPr lang="en-US" altLang="zh-CN" dirty="0"/>
              <a:t>=</a:t>
            </a:r>
            <a:r>
              <a:rPr lang="zh-CN" altLang="en-US" dirty="0"/>
              <a:t>，</a:t>
            </a:r>
            <a:r>
              <a:rPr lang="en-US" altLang="zh-CN" dirty="0"/>
              <a:t>Z</a:t>
            </a:r>
            <a:r>
              <a:rPr lang="zh-CN" altLang="en-US" dirty="0"/>
              <a:t>，（</a:t>
            </a:r>
            <a:r>
              <a:rPr lang="en-US" altLang="zh-CN" dirty="0"/>
              <a:t>5</a:t>
            </a:r>
            <a:r>
              <a:rPr lang="zh-CN" altLang="en-US" dirty="0"/>
              <a:t>）</a:t>
            </a:r>
          </a:p>
          <a:p>
            <a:pPr lvl="2"/>
            <a:r>
              <a:rPr lang="zh-CN" altLang="en-US" dirty="0"/>
              <a:t>（</a:t>
            </a:r>
            <a:r>
              <a:rPr lang="en-US" altLang="zh-CN" dirty="0"/>
              <a:t>7</a:t>
            </a:r>
            <a:r>
              <a:rPr lang="zh-CN" altLang="en-US" dirty="0"/>
              <a:t>）</a:t>
            </a:r>
            <a:r>
              <a:rPr lang="en-US" altLang="zh-CN" dirty="0"/>
              <a:t>...</a:t>
            </a:r>
          </a:p>
        </p:txBody>
      </p:sp>
      <p:sp>
        <p:nvSpPr>
          <p:cNvPr id="3" name="标题 2"/>
          <p:cNvSpPr>
            <a:spLocks noGrp="1"/>
          </p:cNvSpPr>
          <p:nvPr>
            <p:ph type="title"/>
          </p:nvPr>
        </p:nvSpPr>
        <p:spPr/>
        <p:txBody>
          <a:bodyPr/>
          <a:lstStyle/>
          <a:p>
            <a:r>
              <a:rPr lang="zh-CN" altLang="en-US" dirty="0"/>
              <a:t>三、中间代码表示                  </a:t>
            </a:r>
            <a:r>
              <a:rPr lang="zh-CN" altLang="en-US" dirty="0">
                <a:solidFill>
                  <a:srgbClr val="FF0000"/>
                </a:solidFill>
              </a:rPr>
              <a:t>其他表示</a:t>
            </a:r>
          </a:p>
        </p:txBody>
      </p:sp>
      <p:sp>
        <p:nvSpPr>
          <p:cNvPr id="4" name="灯片编号占位符 3">
            <a:extLst>
              <a:ext uri="{FF2B5EF4-FFF2-40B4-BE49-F238E27FC236}">
                <a16:creationId xmlns:a16="http://schemas.microsoft.com/office/drawing/2014/main" id="{3FB68A58-0153-47E1-81D0-D45190B6FE10}"/>
              </a:ext>
            </a:extLst>
          </p:cNvPr>
          <p:cNvSpPr>
            <a:spLocks noGrp="1"/>
          </p:cNvSpPr>
          <p:nvPr>
            <p:ph type="sldNum" sz="quarter" idx="4"/>
          </p:nvPr>
        </p:nvSpPr>
        <p:spPr/>
        <p:txBody>
          <a:bodyPr/>
          <a:lstStyle/>
          <a:p>
            <a:fld id="{565CE74E-AB26-4998-AD42-012C4C1AD076}" type="slidenum">
              <a:rPr lang="zh-CN" altLang="en-US" smtClean="0"/>
              <a:pPr/>
              <a:t>30</a:t>
            </a:fld>
            <a:endParaRPr lang="zh-CN" altLang="en-US"/>
          </a:p>
        </p:txBody>
      </p:sp>
    </p:spTree>
    <p:extLst>
      <p:ext uri="{BB962C8B-B14F-4D97-AF65-F5344CB8AC3E}">
        <p14:creationId xmlns:p14="http://schemas.microsoft.com/office/powerpoint/2010/main" val="9198872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lnSpcReduction="10000"/>
          </a:bodyPr>
          <a:lstStyle/>
          <a:p>
            <a:r>
              <a:rPr lang="zh-CN" altLang="en-US" dirty="0"/>
              <a:t>四元表达式</a:t>
            </a:r>
          </a:p>
          <a:p>
            <a:pPr lvl="1"/>
            <a:r>
              <a:rPr lang="zh-CN" altLang="en-US" dirty="0"/>
              <a:t>表示形式</a:t>
            </a:r>
          </a:p>
          <a:p>
            <a:pPr marL="457200" lvl="1" indent="0">
              <a:buNone/>
            </a:pPr>
            <a:r>
              <a:rPr lang="en-US" altLang="zh-CN" dirty="0">
                <a:solidFill>
                  <a:srgbClr val="FF0000"/>
                </a:solidFill>
              </a:rPr>
              <a:t>&lt;</a:t>
            </a:r>
            <a:r>
              <a:rPr lang="zh-CN" altLang="en-US" dirty="0">
                <a:solidFill>
                  <a:srgbClr val="FF0000"/>
                </a:solidFill>
              </a:rPr>
              <a:t>操作符</a:t>
            </a:r>
            <a:r>
              <a:rPr lang="en-US" altLang="zh-CN" dirty="0">
                <a:solidFill>
                  <a:srgbClr val="FF0000"/>
                </a:solidFill>
              </a:rPr>
              <a:t>&gt;</a:t>
            </a:r>
            <a:r>
              <a:rPr lang="zh-CN" altLang="en-US" dirty="0">
                <a:solidFill>
                  <a:srgbClr val="FF0000"/>
                </a:solidFill>
              </a:rPr>
              <a:t>，</a:t>
            </a:r>
            <a:r>
              <a:rPr lang="en-US" altLang="zh-CN" dirty="0">
                <a:solidFill>
                  <a:srgbClr val="FF0000"/>
                </a:solidFill>
                <a:sym typeface="+mn-ea"/>
              </a:rPr>
              <a:t>&lt;</a:t>
            </a:r>
            <a:r>
              <a:rPr lang="zh-CN" altLang="en-US" dirty="0">
                <a:solidFill>
                  <a:srgbClr val="FF0000"/>
                </a:solidFill>
                <a:sym typeface="+mn-ea"/>
              </a:rPr>
              <a:t>操作数</a:t>
            </a:r>
            <a:r>
              <a:rPr lang="en-US" altLang="zh-CN" dirty="0">
                <a:solidFill>
                  <a:srgbClr val="FF0000"/>
                </a:solidFill>
                <a:sym typeface="+mn-ea"/>
              </a:rPr>
              <a:t>1&gt;,&lt;</a:t>
            </a:r>
            <a:r>
              <a:rPr lang="zh-CN" altLang="en-US" dirty="0">
                <a:solidFill>
                  <a:srgbClr val="FF0000"/>
                </a:solidFill>
                <a:sym typeface="+mn-ea"/>
              </a:rPr>
              <a:t>操作数</a:t>
            </a:r>
            <a:r>
              <a:rPr lang="en-US" altLang="zh-CN" dirty="0">
                <a:solidFill>
                  <a:srgbClr val="FF0000"/>
                </a:solidFill>
                <a:sym typeface="+mn-ea"/>
              </a:rPr>
              <a:t>2&gt;,&lt;</a:t>
            </a:r>
            <a:r>
              <a:rPr lang="zh-CN" altLang="en-US" dirty="0">
                <a:solidFill>
                  <a:srgbClr val="FF0000"/>
                </a:solidFill>
                <a:sym typeface="+mn-ea"/>
              </a:rPr>
              <a:t>结果</a:t>
            </a:r>
            <a:r>
              <a:rPr lang="en-US" altLang="zh-CN" dirty="0">
                <a:solidFill>
                  <a:srgbClr val="FF0000"/>
                </a:solidFill>
                <a:sym typeface="+mn-ea"/>
              </a:rPr>
              <a:t>&gt;</a:t>
            </a:r>
          </a:p>
          <a:p>
            <a:pPr lvl="1"/>
            <a:r>
              <a:rPr lang="zh-CN" altLang="en-US" dirty="0"/>
              <a:t>操作数表示是运算数</a:t>
            </a:r>
          </a:p>
          <a:p>
            <a:pPr lvl="1"/>
            <a:r>
              <a:rPr lang="zh-CN" altLang="en-US" dirty="0"/>
              <a:t>结果表示操作符操作的结果，通常是一个临时变量，在以后可以由编译程序分配给一个寄存器或者一个主存地址。</a:t>
            </a:r>
          </a:p>
          <a:p>
            <a:pPr lvl="1"/>
            <a:r>
              <a:rPr lang="zh-CN" altLang="en-US" dirty="0">
                <a:solidFill>
                  <a:srgbClr val="FF0000"/>
                </a:solidFill>
              </a:rPr>
              <a:t>例：表达式（</a:t>
            </a:r>
            <a:r>
              <a:rPr lang="en-US" altLang="zh-CN" dirty="0">
                <a:solidFill>
                  <a:srgbClr val="FF0000"/>
                </a:solidFill>
              </a:rPr>
              <a:t>A+B</a:t>
            </a:r>
            <a:r>
              <a:rPr lang="zh-CN" altLang="en-US" dirty="0">
                <a:solidFill>
                  <a:srgbClr val="FF0000"/>
                </a:solidFill>
              </a:rPr>
              <a:t>）</a:t>
            </a:r>
            <a:r>
              <a:rPr lang="en-US" altLang="zh-CN" dirty="0">
                <a:solidFill>
                  <a:srgbClr val="FF0000"/>
                </a:solidFill>
              </a:rPr>
              <a:t>*</a:t>
            </a:r>
            <a:r>
              <a:rPr lang="zh-CN" altLang="en-US" dirty="0">
                <a:solidFill>
                  <a:srgbClr val="FF0000"/>
                </a:solidFill>
              </a:rPr>
              <a:t>（</a:t>
            </a:r>
            <a:r>
              <a:rPr lang="en-US" altLang="zh-CN" dirty="0">
                <a:solidFill>
                  <a:srgbClr val="FF0000"/>
                </a:solidFill>
              </a:rPr>
              <a:t>C+D</a:t>
            </a:r>
            <a:r>
              <a:rPr lang="zh-CN" altLang="en-US" dirty="0">
                <a:solidFill>
                  <a:srgbClr val="FF0000"/>
                </a:solidFill>
              </a:rPr>
              <a:t>）</a:t>
            </a:r>
            <a:r>
              <a:rPr lang="en-US" altLang="zh-CN" dirty="0">
                <a:solidFill>
                  <a:srgbClr val="FF0000"/>
                </a:solidFill>
              </a:rPr>
              <a:t>-E</a:t>
            </a:r>
          </a:p>
          <a:p>
            <a:pPr lvl="2"/>
            <a:r>
              <a:rPr lang="zh-CN" altLang="en-US" dirty="0"/>
              <a:t>四元式</a:t>
            </a:r>
          </a:p>
          <a:p>
            <a:pPr lvl="3"/>
            <a:r>
              <a:rPr lang="en-US" altLang="zh-CN" dirty="0"/>
              <a:t>+,A,B,T1</a:t>
            </a:r>
          </a:p>
          <a:p>
            <a:pPr lvl="3"/>
            <a:r>
              <a:rPr lang="en-US" altLang="zh-CN" dirty="0"/>
              <a:t>+C,D,T2</a:t>
            </a:r>
          </a:p>
          <a:p>
            <a:pPr lvl="3"/>
            <a:r>
              <a:rPr lang="en-US" altLang="zh-CN" dirty="0"/>
              <a:t>*,T1,T2,T3</a:t>
            </a:r>
          </a:p>
          <a:p>
            <a:pPr lvl="3"/>
            <a:r>
              <a:rPr lang="en-US" altLang="zh-CN" dirty="0"/>
              <a:t>-,T3,E,T4</a:t>
            </a:r>
          </a:p>
          <a:p>
            <a:r>
              <a:rPr lang="zh-CN" altLang="en-US" dirty="0"/>
              <a:t>其他等等表达式</a:t>
            </a:r>
          </a:p>
        </p:txBody>
      </p:sp>
      <p:sp>
        <p:nvSpPr>
          <p:cNvPr id="3" name="标题 2"/>
          <p:cNvSpPr>
            <a:spLocks noGrp="1"/>
          </p:cNvSpPr>
          <p:nvPr>
            <p:ph type="title"/>
          </p:nvPr>
        </p:nvSpPr>
        <p:spPr/>
        <p:txBody>
          <a:bodyPr/>
          <a:lstStyle/>
          <a:p>
            <a:r>
              <a:rPr lang="zh-CN" altLang="en-US" dirty="0"/>
              <a:t>三、中间代码 表示                 </a:t>
            </a:r>
            <a:r>
              <a:rPr lang="zh-CN" altLang="en-US" dirty="0">
                <a:solidFill>
                  <a:srgbClr val="FF0000"/>
                </a:solidFill>
              </a:rPr>
              <a:t>其他表示</a:t>
            </a:r>
            <a:endParaRPr lang="zh-CN" altLang="en-US" dirty="0"/>
          </a:p>
        </p:txBody>
      </p:sp>
      <p:sp>
        <p:nvSpPr>
          <p:cNvPr id="4" name="灯片编号占位符 3">
            <a:extLst>
              <a:ext uri="{FF2B5EF4-FFF2-40B4-BE49-F238E27FC236}">
                <a16:creationId xmlns:a16="http://schemas.microsoft.com/office/drawing/2014/main" id="{62B3C160-D081-4B53-A84F-43409B8A7A4C}"/>
              </a:ext>
            </a:extLst>
          </p:cNvPr>
          <p:cNvSpPr>
            <a:spLocks noGrp="1"/>
          </p:cNvSpPr>
          <p:nvPr>
            <p:ph type="sldNum" sz="quarter" idx="4"/>
          </p:nvPr>
        </p:nvSpPr>
        <p:spPr/>
        <p:txBody>
          <a:bodyPr/>
          <a:lstStyle/>
          <a:p>
            <a:fld id="{565CE74E-AB26-4998-AD42-012C4C1AD076}" type="slidenum">
              <a:rPr lang="zh-CN" altLang="en-US" smtClean="0"/>
              <a:pPr/>
              <a:t>31</a:t>
            </a:fld>
            <a:endParaRPr lang="zh-CN" altLang="en-US"/>
          </a:p>
        </p:txBody>
      </p:sp>
    </p:spTree>
    <p:extLst>
      <p:ext uri="{BB962C8B-B14F-4D97-AF65-F5344CB8AC3E}">
        <p14:creationId xmlns:p14="http://schemas.microsoft.com/office/powerpoint/2010/main" val="32108155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sym typeface="+mn-ea"/>
              </a:rPr>
              <a:t>一、符号表</a:t>
            </a:r>
            <a:endParaRPr lang="en-US" altLang="zh-CN" dirty="0">
              <a:sym typeface="+mn-ea"/>
            </a:endParaRPr>
          </a:p>
          <a:p>
            <a:r>
              <a:rPr lang="zh-CN" altLang="en-US" dirty="0">
                <a:sym typeface="+mn-ea"/>
              </a:rPr>
              <a:t>二、静态语义分析</a:t>
            </a:r>
            <a:endParaRPr lang="zh-CN" altLang="en-US" dirty="0"/>
          </a:p>
          <a:p>
            <a:r>
              <a:rPr lang="zh-CN" altLang="en-US" dirty="0">
                <a:sym typeface="+mn-ea"/>
              </a:rPr>
              <a:t>三、中间代码表示</a:t>
            </a:r>
            <a:endParaRPr lang="en-US" altLang="zh-CN" dirty="0">
              <a:sym typeface="+mn-ea"/>
            </a:endParaRPr>
          </a:p>
          <a:p>
            <a:r>
              <a:rPr lang="zh-CN" altLang="en-US" dirty="0">
                <a:sym typeface="+mn-ea"/>
              </a:rPr>
              <a:t>四、中间代码生成</a:t>
            </a:r>
            <a:endParaRPr lang="zh-CN" altLang="en-US" dirty="0"/>
          </a:p>
          <a:p>
            <a:r>
              <a:rPr lang="zh-CN" altLang="en-US" dirty="0"/>
              <a:t>五、代码优化</a:t>
            </a:r>
            <a:endParaRPr lang="en-US" altLang="zh-CN" dirty="0"/>
          </a:p>
          <a:p>
            <a:r>
              <a:rPr lang="zh-CN" altLang="en-US" dirty="0"/>
              <a:t>六、代码生成</a:t>
            </a:r>
          </a:p>
        </p:txBody>
      </p:sp>
      <p:sp>
        <p:nvSpPr>
          <p:cNvPr id="3" name="标题 2"/>
          <p:cNvSpPr>
            <a:spLocks noGrp="1"/>
          </p:cNvSpPr>
          <p:nvPr>
            <p:ph type="title"/>
          </p:nvPr>
        </p:nvSpPr>
        <p:spPr/>
        <p:txBody>
          <a:bodyPr/>
          <a:lstStyle/>
          <a:p>
            <a:r>
              <a:rPr lang="zh-CN" altLang="en-US" dirty="0"/>
              <a:t>教学内容</a:t>
            </a:r>
          </a:p>
        </p:txBody>
      </p:sp>
      <p:sp>
        <p:nvSpPr>
          <p:cNvPr id="4" name="灯片编号占位符 3">
            <a:extLst>
              <a:ext uri="{FF2B5EF4-FFF2-40B4-BE49-F238E27FC236}">
                <a16:creationId xmlns:a16="http://schemas.microsoft.com/office/drawing/2014/main" id="{BEFEC1CD-D95B-469B-9DCD-EC375238279B}"/>
              </a:ext>
            </a:extLst>
          </p:cNvPr>
          <p:cNvSpPr>
            <a:spLocks noGrp="1"/>
          </p:cNvSpPr>
          <p:nvPr>
            <p:ph type="sldNum" sz="quarter" idx="4"/>
          </p:nvPr>
        </p:nvSpPr>
        <p:spPr/>
        <p:txBody>
          <a:bodyPr/>
          <a:lstStyle/>
          <a:p>
            <a:fld id="{565CE74E-AB26-4998-AD42-012C4C1AD076}" type="slidenum">
              <a:rPr lang="zh-CN" altLang="en-US" smtClean="0"/>
              <a:pPr/>
              <a:t>32</a:t>
            </a:fld>
            <a:endParaRPr lang="zh-CN" altLang="en-US"/>
          </a:p>
        </p:txBody>
      </p:sp>
    </p:spTree>
    <p:extLst>
      <p:ext uri="{BB962C8B-B14F-4D97-AF65-F5344CB8AC3E}">
        <p14:creationId xmlns:p14="http://schemas.microsoft.com/office/powerpoint/2010/main" val="33789772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solidFill>
                  <a:srgbClr val="FF0000"/>
                </a:solidFill>
              </a:rPr>
              <a:t>假设均生成三地址码：</a:t>
            </a:r>
            <a:endParaRPr lang="en-US" altLang="zh-CN" dirty="0">
              <a:solidFill>
                <a:srgbClr val="FF0000"/>
              </a:solidFill>
            </a:endParaRPr>
          </a:p>
          <a:p>
            <a:r>
              <a:rPr lang="zh-CN" altLang="en-US" dirty="0"/>
              <a:t>赋值语句（</a:t>
            </a:r>
            <a:r>
              <a:rPr lang="en-US" altLang="zh-CN" dirty="0"/>
              <a:t>12</a:t>
            </a:r>
            <a:r>
              <a:rPr lang="zh-CN" altLang="en-US" dirty="0"/>
              <a:t>讲，</a:t>
            </a:r>
            <a:r>
              <a:rPr lang="en-US" altLang="zh-CN" dirty="0"/>
              <a:t>6-3</a:t>
            </a:r>
            <a:r>
              <a:rPr lang="zh-CN" altLang="en-US" dirty="0"/>
              <a:t>简单赋值语句翻译）</a:t>
            </a:r>
            <a:endParaRPr lang="en-US" altLang="zh-CN" dirty="0"/>
          </a:p>
          <a:p>
            <a:r>
              <a:rPr lang="zh-CN" altLang="en-US" dirty="0"/>
              <a:t>声明语句（</a:t>
            </a:r>
            <a:r>
              <a:rPr lang="en-US" altLang="zh-CN" dirty="0"/>
              <a:t>11</a:t>
            </a:r>
            <a:r>
              <a:rPr lang="zh-CN" altLang="en-US" dirty="0"/>
              <a:t>讲，</a:t>
            </a:r>
            <a:r>
              <a:rPr lang="en-US" altLang="zh-CN" dirty="0"/>
              <a:t>6-2</a:t>
            </a:r>
            <a:r>
              <a:rPr lang="zh-CN" altLang="en-US" dirty="0"/>
              <a:t>声明语句翻译）</a:t>
            </a:r>
            <a:endParaRPr lang="en-US" altLang="zh-CN" dirty="0"/>
          </a:p>
          <a:p>
            <a:r>
              <a:rPr lang="zh-CN" altLang="en-US" dirty="0"/>
              <a:t>数组说明和数组元素引用（</a:t>
            </a:r>
            <a:r>
              <a:rPr lang="en-US" altLang="zh-CN" dirty="0"/>
              <a:t>12</a:t>
            </a:r>
            <a:r>
              <a:rPr lang="zh-CN" altLang="en-US" dirty="0"/>
              <a:t>讲，</a:t>
            </a:r>
            <a:r>
              <a:rPr lang="en-US" altLang="zh-CN" dirty="0"/>
              <a:t>6-4</a:t>
            </a:r>
            <a:r>
              <a:rPr lang="zh-CN" altLang="en-US" dirty="0"/>
              <a:t>数据引用的翻译）</a:t>
            </a:r>
            <a:endParaRPr lang="en-US" altLang="zh-CN" dirty="0"/>
          </a:p>
          <a:p>
            <a:r>
              <a:rPr lang="zh-CN" altLang="en-US" dirty="0"/>
              <a:t>布尔表达式翻译（</a:t>
            </a:r>
            <a:r>
              <a:rPr lang="en-US" altLang="zh-CN" dirty="0"/>
              <a:t>13</a:t>
            </a:r>
            <a:r>
              <a:rPr lang="zh-CN" altLang="en-US" dirty="0"/>
              <a:t>讲，</a:t>
            </a:r>
            <a:r>
              <a:rPr lang="en-US" altLang="zh-CN" dirty="0"/>
              <a:t>6-6</a:t>
            </a:r>
            <a:r>
              <a:rPr lang="zh-CN" altLang="en-US" dirty="0"/>
              <a:t>布尔表达式及其</a:t>
            </a:r>
            <a:r>
              <a:rPr lang="en-US" altLang="zh-CN" dirty="0"/>
              <a:t>SDT</a:t>
            </a:r>
            <a:r>
              <a:rPr lang="zh-CN" altLang="en-US" dirty="0"/>
              <a:t>）</a:t>
            </a:r>
            <a:endParaRPr lang="en-US" altLang="zh-CN" dirty="0"/>
          </a:p>
          <a:p>
            <a:r>
              <a:rPr lang="zh-CN" altLang="en-US" dirty="0"/>
              <a:t>控制语句（</a:t>
            </a:r>
            <a:r>
              <a:rPr lang="en-US" altLang="zh-CN" dirty="0"/>
              <a:t>13</a:t>
            </a:r>
            <a:r>
              <a:rPr lang="zh-CN" altLang="en-US" dirty="0"/>
              <a:t>讲，</a:t>
            </a:r>
            <a:r>
              <a:rPr lang="en-US" altLang="zh-CN" dirty="0"/>
              <a:t>6-5</a:t>
            </a:r>
            <a:r>
              <a:rPr lang="zh-CN" altLang="en-US" dirty="0"/>
              <a:t>控制流语句及其</a:t>
            </a:r>
            <a:r>
              <a:rPr lang="en-US" altLang="zh-CN" dirty="0"/>
              <a:t>SDT</a:t>
            </a:r>
            <a:r>
              <a:rPr lang="zh-CN" altLang="en-US" dirty="0"/>
              <a:t>）</a:t>
            </a:r>
            <a:endParaRPr lang="en-US" altLang="zh-CN" dirty="0"/>
          </a:p>
          <a:p>
            <a:endParaRPr lang="en-US" altLang="zh-CN" dirty="0"/>
          </a:p>
          <a:p>
            <a:endParaRPr lang="zh-CN" altLang="en-US" dirty="0"/>
          </a:p>
        </p:txBody>
      </p:sp>
      <p:sp>
        <p:nvSpPr>
          <p:cNvPr id="3" name="标题 2"/>
          <p:cNvSpPr>
            <a:spLocks noGrp="1"/>
          </p:cNvSpPr>
          <p:nvPr>
            <p:ph type="title"/>
          </p:nvPr>
        </p:nvSpPr>
        <p:spPr/>
        <p:txBody>
          <a:bodyPr/>
          <a:lstStyle/>
          <a:p>
            <a:r>
              <a:rPr lang="zh-CN" altLang="en-US" dirty="0"/>
              <a:t>四、中间代码生成</a:t>
            </a:r>
          </a:p>
        </p:txBody>
      </p:sp>
      <p:sp>
        <p:nvSpPr>
          <p:cNvPr id="4" name="灯片编号占位符 3">
            <a:extLst>
              <a:ext uri="{FF2B5EF4-FFF2-40B4-BE49-F238E27FC236}">
                <a16:creationId xmlns:a16="http://schemas.microsoft.com/office/drawing/2014/main" id="{0C3F6524-0292-477C-9DA0-2E029B6AA1E1}"/>
              </a:ext>
            </a:extLst>
          </p:cNvPr>
          <p:cNvSpPr>
            <a:spLocks noGrp="1"/>
          </p:cNvSpPr>
          <p:nvPr>
            <p:ph type="sldNum" sz="quarter" idx="4"/>
          </p:nvPr>
        </p:nvSpPr>
        <p:spPr/>
        <p:txBody>
          <a:bodyPr/>
          <a:lstStyle/>
          <a:p>
            <a:fld id="{565CE74E-AB26-4998-AD42-012C4C1AD076}" type="slidenum">
              <a:rPr lang="zh-CN" altLang="en-US" smtClean="0"/>
              <a:pPr/>
              <a:t>33</a:t>
            </a:fld>
            <a:endParaRPr lang="zh-CN" altLang="en-US"/>
          </a:p>
        </p:txBody>
      </p:sp>
    </p:spTree>
    <p:extLst>
      <p:ext uri="{BB962C8B-B14F-4D97-AF65-F5344CB8AC3E}">
        <p14:creationId xmlns:p14="http://schemas.microsoft.com/office/powerpoint/2010/main" val="1798741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pPr>
              <a:spcBef>
                <a:spcPct val="10000"/>
              </a:spcBef>
            </a:pPr>
            <a:r>
              <a:rPr lang="zh-CN" altLang="en-US" dirty="0">
                <a:latin typeface="宋体" charset="-122"/>
              </a:rPr>
              <a:t>翻译工作</a:t>
            </a:r>
            <a:endParaRPr lang="en-US" altLang="zh-CN" dirty="0">
              <a:latin typeface="宋体" charset="-122"/>
            </a:endParaRPr>
          </a:p>
          <a:p>
            <a:pPr lvl="1">
              <a:spcBef>
                <a:spcPct val="10000"/>
              </a:spcBef>
            </a:pPr>
            <a:r>
              <a:rPr lang="zh-CN" altLang="en-US" dirty="0">
                <a:latin typeface="宋体" charset="-122"/>
              </a:rPr>
              <a:t>确定变量类型</a:t>
            </a:r>
          </a:p>
          <a:p>
            <a:pPr lvl="1">
              <a:spcBef>
                <a:spcPct val="10000"/>
              </a:spcBef>
            </a:pPr>
            <a:r>
              <a:rPr lang="zh-CN" altLang="en-US" dirty="0">
                <a:latin typeface="宋体" charset="-122"/>
              </a:rPr>
              <a:t>分配存储空间</a:t>
            </a:r>
            <a:r>
              <a:rPr lang="en-US" altLang="zh-CN" dirty="0">
                <a:latin typeface="宋体" charset="-122"/>
              </a:rPr>
              <a:t>——</a:t>
            </a:r>
            <a:r>
              <a:rPr lang="zh-CN" altLang="en-US" dirty="0">
                <a:latin typeface="宋体" charset="-122"/>
              </a:rPr>
              <a:t>相对地址</a:t>
            </a:r>
          </a:p>
          <a:p>
            <a:pPr lvl="2">
              <a:spcBef>
                <a:spcPct val="10000"/>
              </a:spcBef>
            </a:pPr>
            <a:r>
              <a:rPr lang="zh-CN" altLang="en-US" dirty="0">
                <a:latin typeface="宋体" charset="-122"/>
              </a:rPr>
              <a:t>全局数据表示为静态数据区的偏移值</a:t>
            </a:r>
          </a:p>
          <a:p>
            <a:pPr lvl="2">
              <a:spcBef>
                <a:spcPct val="10000"/>
              </a:spcBef>
            </a:pPr>
            <a:r>
              <a:rPr lang="zh-CN" altLang="en-US" dirty="0">
                <a:latin typeface="宋体" charset="-122"/>
              </a:rPr>
              <a:t>局部数据表示为局部数据域</a:t>
            </a:r>
            <a:r>
              <a:rPr lang="en-US" altLang="zh-CN" dirty="0">
                <a:latin typeface="宋体" charset="-122"/>
              </a:rPr>
              <a:t>(</a:t>
            </a:r>
            <a:r>
              <a:rPr lang="zh-CN" altLang="en-US" dirty="0">
                <a:latin typeface="宋体" charset="-122"/>
              </a:rPr>
              <a:t>活动记录的部分</a:t>
            </a:r>
            <a:r>
              <a:rPr lang="en-US" altLang="zh-CN" dirty="0">
                <a:latin typeface="宋体" charset="-122"/>
              </a:rPr>
              <a:t>)</a:t>
            </a:r>
            <a:r>
              <a:rPr lang="zh-CN" altLang="en-US" dirty="0">
                <a:latin typeface="宋体" charset="-122"/>
              </a:rPr>
              <a:t>的偏移值</a:t>
            </a:r>
          </a:p>
          <a:p>
            <a:pPr lvl="1">
              <a:spcBef>
                <a:spcPct val="10000"/>
              </a:spcBef>
            </a:pPr>
            <a:r>
              <a:rPr lang="zh-CN" altLang="en-US" dirty="0">
                <a:latin typeface="宋体" charset="-122"/>
              </a:rPr>
              <a:t>作用域</a:t>
            </a:r>
          </a:p>
          <a:p>
            <a:pPr>
              <a:spcBef>
                <a:spcPct val="10000"/>
              </a:spcBef>
            </a:pPr>
            <a:r>
              <a:rPr lang="zh-CN" altLang="en-US" dirty="0">
                <a:latin typeface="宋体" charset="-122"/>
              </a:rPr>
              <a:t>地址空间的分配方式</a:t>
            </a:r>
          </a:p>
          <a:p>
            <a:pPr lvl="1">
              <a:spcBef>
                <a:spcPct val="10000"/>
              </a:spcBef>
            </a:pPr>
            <a:r>
              <a:rPr lang="zh-CN" altLang="en-US" dirty="0">
                <a:latin typeface="宋体" charset="-122"/>
              </a:rPr>
              <a:t>设置一个</a:t>
            </a:r>
            <a:r>
              <a:rPr lang="zh-CN" altLang="en-US" dirty="0">
                <a:solidFill>
                  <a:srgbClr val="FF0000"/>
                </a:solidFill>
                <a:latin typeface="宋体" charset="-122"/>
              </a:rPr>
              <a:t>全局量</a:t>
            </a:r>
            <a:r>
              <a:rPr lang="en-US" altLang="zh-CN" dirty="0">
                <a:solidFill>
                  <a:srgbClr val="FF0000"/>
                </a:solidFill>
                <a:latin typeface="宋体" charset="-122"/>
              </a:rPr>
              <a:t>offset</a:t>
            </a:r>
            <a:r>
              <a:rPr lang="zh-CN" altLang="en-US" dirty="0">
                <a:latin typeface="宋体" charset="-122"/>
              </a:rPr>
              <a:t>，记录当前可用存储空间的开始地址，初值为</a:t>
            </a:r>
            <a:r>
              <a:rPr lang="en-US" altLang="zh-CN" dirty="0">
                <a:latin typeface="宋体" charset="-122"/>
              </a:rPr>
              <a:t>0</a:t>
            </a:r>
          </a:p>
          <a:p>
            <a:pPr lvl="1">
              <a:spcBef>
                <a:spcPct val="10000"/>
              </a:spcBef>
            </a:pPr>
            <a:r>
              <a:rPr lang="zh-CN" altLang="en-US" dirty="0">
                <a:latin typeface="宋体" charset="-122"/>
              </a:rPr>
              <a:t>每次分配一个变量的空间，将</a:t>
            </a:r>
            <a:r>
              <a:rPr lang="en-US" altLang="zh-CN" dirty="0">
                <a:latin typeface="宋体" charset="-122"/>
              </a:rPr>
              <a:t>offset</a:t>
            </a:r>
            <a:r>
              <a:rPr lang="zh-CN" altLang="en-US" dirty="0">
                <a:latin typeface="宋体" charset="-122"/>
              </a:rPr>
              <a:t>增加相应的值。</a:t>
            </a:r>
          </a:p>
          <a:p>
            <a:endParaRPr lang="zh-CN" altLang="en-US" dirty="0"/>
          </a:p>
        </p:txBody>
      </p:sp>
      <p:sp>
        <p:nvSpPr>
          <p:cNvPr id="3" name="标题 2"/>
          <p:cNvSpPr>
            <a:spLocks noGrp="1"/>
          </p:cNvSpPr>
          <p:nvPr>
            <p:ph type="title"/>
          </p:nvPr>
        </p:nvSpPr>
        <p:spPr/>
        <p:txBody>
          <a:bodyPr/>
          <a:lstStyle/>
          <a:p>
            <a:r>
              <a:rPr lang="zh-CN" altLang="en-US" dirty="0"/>
              <a:t>五、中间代码生成           </a:t>
            </a:r>
            <a:r>
              <a:rPr lang="zh-CN" altLang="en-US" dirty="0">
                <a:solidFill>
                  <a:srgbClr val="FF0000"/>
                </a:solidFill>
              </a:rPr>
              <a:t>变量声明语句</a:t>
            </a:r>
            <a:endParaRPr lang="zh-CN" altLang="en-US" dirty="0"/>
          </a:p>
        </p:txBody>
      </p:sp>
      <p:sp>
        <p:nvSpPr>
          <p:cNvPr id="4" name="灯片编号占位符 3">
            <a:extLst>
              <a:ext uri="{FF2B5EF4-FFF2-40B4-BE49-F238E27FC236}">
                <a16:creationId xmlns:a16="http://schemas.microsoft.com/office/drawing/2014/main" id="{39BA3C92-29E3-48EE-9E16-ECE2397F75AF}"/>
              </a:ext>
            </a:extLst>
          </p:cNvPr>
          <p:cNvSpPr>
            <a:spLocks noGrp="1"/>
          </p:cNvSpPr>
          <p:nvPr>
            <p:ph type="sldNum" sz="quarter" idx="4"/>
          </p:nvPr>
        </p:nvSpPr>
        <p:spPr/>
        <p:txBody>
          <a:bodyPr/>
          <a:lstStyle/>
          <a:p>
            <a:fld id="{565CE74E-AB26-4998-AD42-012C4C1AD076}" type="slidenum">
              <a:rPr lang="zh-CN" altLang="en-US" smtClean="0"/>
              <a:pPr/>
              <a:t>34</a:t>
            </a:fld>
            <a:endParaRPr lang="zh-CN" altLang="en-US"/>
          </a:p>
        </p:txBody>
      </p:sp>
    </p:spTree>
    <p:extLst>
      <p:ext uri="{BB962C8B-B14F-4D97-AF65-F5344CB8AC3E}">
        <p14:creationId xmlns:p14="http://schemas.microsoft.com/office/powerpoint/2010/main" val="20453883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pPr>
              <a:spcBef>
                <a:spcPct val="10000"/>
              </a:spcBef>
            </a:pPr>
            <a:r>
              <a:rPr lang="zh-CN" altLang="en-US" dirty="0">
                <a:latin typeface="宋体" charset="-122"/>
              </a:rPr>
              <a:t>类型描述符</a:t>
            </a:r>
            <a:r>
              <a:rPr lang="en-US" altLang="zh-CN" dirty="0">
                <a:latin typeface="宋体" charset="-122"/>
              </a:rPr>
              <a:t>T</a:t>
            </a:r>
            <a:r>
              <a:rPr lang="zh-CN" altLang="en-US" dirty="0">
                <a:latin typeface="宋体" charset="-122"/>
              </a:rPr>
              <a:t>的属性</a:t>
            </a:r>
          </a:p>
          <a:p>
            <a:pPr lvl="1">
              <a:spcBef>
                <a:spcPct val="10000"/>
              </a:spcBef>
            </a:pPr>
            <a:r>
              <a:rPr lang="en-US" altLang="zh-CN" dirty="0">
                <a:latin typeface="宋体" charset="-122"/>
              </a:rPr>
              <a:t>type  </a:t>
            </a:r>
            <a:r>
              <a:rPr lang="zh-CN" altLang="en-US" dirty="0">
                <a:latin typeface="宋体" charset="-122"/>
              </a:rPr>
              <a:t>类型</a:t>
            </a:r>
          </a:p>
          <a:p>
            <a:pPr lvl="1">
              <a:spcBef>
                <a:spcPct val="10000"/>
              </a:spcBef>
            </a:pPr>
            <a:r>
              <a:rPr lang="en-US" altLang="zh-CN" dirty="0">
                <a:latin typeface="宋体" charset="-122"/>
              </a:rPr>
              <a:t>width </a:t>
            </a:r>
            <a:r>
              <a:rPr lang="zh-CN" altLang="en-US" dirty="0">
                <a:latin typeface="宋体" charset="-122"/>
              </a:rPr>
              <a:t>占用的字节数</a:t>
            </a:r>
          </a:p>
          <a:p>
            <a:pPr>
              <a:spcBef>
                <a:spcPct val="10000"/>
              </a:spcBef>
            </a:pPr>
            <a:r>
              <a:rPr lang="zh-CN" altLang="en-US" dirty="0">
                <a:latin typeface="宋体" charset="-122"/>
              </a:rPr>
              <a:t>语义函数</a:t>
            </a:r>
          </a:p>
          <a:p>
            <a:pPr lvl="1">
              <a:spcBef>
                <a:spcPct val="10000"/>
              </a:spcBef>
            </a:pPr>
            <a:r>
              <a:rPr lang="en-US" altLang="zh-CN" dirty="0">
                <a:latin typeface="宋体" charset="-122"/>
              </a:rPr>
              <a:t>enter(</a:t>
            </a:r>
            <a:r>
              <a:rPr lang="en-US" altLang="zh-CN" dirty="0" err="1">
                <a:latin typeface="宋体" charset="-122"/>
              </a:rPr>
              <a:t>name,type,offset</a:t>
            </a:r>
            <a:r>
              <a:rPr lang="en-US" altLang="zh-CN" dirty="0">
                <a:latin typeface="宋体" charset="-122"/>
              </a:rPr>
              <a:t>)</a:t>
            </a:r>
          </a:p>
          <a:p>
            <a:pPr lvl="1">
              <a:spcBef>
                <a:spcPct val="10000"/>
              </a:spcBef>
              <a:buNone/>
            </a:pPr>
            <a:r>
              <a:rPr lang="zh-CN" altLang="en-US" dirty="0">
                <a:latin typeface="宋体" charset="-122"/>
              </a:rPr>
              <a:t>在符号表中设置变量</a:t>
            </a:r>
            <a:r>
              <a:rPr lang="en-US" altLang="zh-CN" dirty="0">
                <a:latin typeface="宋体" charset="-122"/>
              </a:rPr>
              <a:t>name</a:t>
            </a:r>
            <a:r>
              <a:rPr lang="zh-CN" altLang="en-US" dirty="0">
                <a:latin typeface="宋体" charset="-122"/>
              </a:rPr>
              <a:t>的类型</a:t>
            </a:r>
            <a:r>
              <a:rPr lang="en-US" altLang="zh-CN" dirty="0">
                <a:latin typeface="宋体" charset="-122"/>
              </a:rPr>
              <a:t>type</a:t>
            </a:r>
            <a:r>
              <a:rPr lang="zh-CN" altLang="en-US" dirty="0">
                <a:latin typeface="宋体" charset="-122"/>
              </a:rPr>
              <a:t>和地址</a:t>
            </a:r>
            <a:r>
              <a:rPr lang="en-US" altLang="zh-CN" dirty="0">
                <a:latin typeface="宋体" charset="-122"/>
              </a:rPr>
              <a:t>offset</a:t>
            </a:r>
          </a:p>
          <a:p>
            <a:pPr lvl="1">
              <a:spcBef>
                <a:spcPct val="10000"/>
              </a:spcBef>
            </a:pPr>
            <a:r>
              <a:rPr lang="en-US" altLang="zh-CN" dirty="0">
                <a:latin typeface="宋体" charset="-122"/>
              </a:rPr>
              <a:t>array(</a:t>
            </a:r>
            <a:r>
              <a:rPr lang="en-US" altLang="zh-CN" dirty="0" err="1">
                <a:latin typeface="宋体" charset="-122"/>
              </a:rPr>
              <a:t>num,type</a:t>
            </a:r>
            <a:r>
              <a:rPr lang="en-US" altLang="zh-CN" dirty="0">
                <a:latin typeface="宋体" charset="-122"/>
              </a:rPr>
              <a:t>) </a:t>
            </a:r>
            <a:r>
              <a:rPr lang="zh-CN" altLang="en-US" dirty="0">
                <a:latin typeface="宋体" charset="-122"/>
              </a:rPr>
              <a:t>描述数组类型</a:t>
            </a:r>
          </a:p>
          <a:p>
            <a:pPr lvl="1">
              <a:spcBef>
                <a:spcPct val="10000"/>
              </a:spcBef>
            </a:pPr>
            <a:r>
              <a:rPr lang="en-US" altLang="zh-CN" dirty="0">
                <a:latin typeface="宋体" charset="-122"/>
              </a:rPr>
              <a:t>pointer(type) </a:t>
            </a:r>
            <a:r>
              <a:rPr lang="zh-CN" altLang="en-US" dirty="0">
                <a:latin typeface="宋体" charset="-122"/>
              </a:rPr>
              <a:t>描述指针类型</a:t>
            </a:r>
          </a:p>
          <a:p>
            <a:pPr>
              <a:spcBef>
                <a:spcPct val="10000"/>
              </a:spcBef>
            </a:pPr>
            <a:r>
              <a:rPr lang="zh-CN" altLang="en-US" dirty="0">
                <a:latin typeface="宋体" charset="-122"/>
              </a:rPr>
              <a:t>全局量</a:t>
            </a:r>
          </a:p>
          <a:p>
            <a:pPr lvl="1">
              <a:spcBef>
                <a:spcPct val="10000"/>
              </a:spcBef>
            </a:pPr>
            <a:r>
              <a:rPr lang="en-US" altLang="zh-CN" dirty="0">
                <a:latin typeface="宋体" charset="-122"/>
              </a:rPr>
              <a:t>offset </a:t>
            </a:r>
            <a:r>
              <a:rPr lang="zh-CN" altLang="en-US" dirty="0">
                <a:latin typeface="宋体" charset="-122"/>
              </a:rPr>
              <a:t>跟踪下一个可用的相对地址的位置</a:t>
            </a:r>
          </a:p>
          <a:p>
            <a:endParaRPr lang="zh-CN" altLang="en-US" dirty="0"/>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声明语句</a:t>
            </a:r>
            <a:endParaRPr lang="zh-CN" altLang="en-US" dirty="0"/>
          </a:p>
        </p:txBody>
      </p:sp>
      <p:sp>
        <p:nvSpPr>
          <p:cNvPr id="4" name="灯片编号占位符 3">
            <a:extLst>
              <a:ext uri="{FF2B5EF4-FFF2-40B4-BE49-F238E27FC236}">
                <a16:creationId xmlns:a16="http://schemas.microsoft.com/office/drawing/2014/main" id="{A409ADDE-D5EF-4D4D-9FC2-985E4BB725D2}"/>
              </a:ext>
            </a:extLst>
          </p:cNvPr>
          <p:cNvSpPr>
            <a:spLocks noGrp="1"/>
          </p:cNvSpPr>
          <p:nvPr>
            <p:ph type="sldNum" sz="quarter" idx="4"/>
          </p:nvPr>
        </p:nvSpPr>
        <p:spPr/>
        <p:txBody>
          <a:bodyPr/>
          <a:lstStyle/>
          <a:p>
            <a:fld id="{565CE74E-AB26-4998-AD42-012C4C1AD076}" type="slidenum">
              <a:rPr lang="zh-CN" altLang="en-US" smtClean="0"/>
              <a:pPr/>
              <a:t>35</a:t>
            </a:fld>
            <a:endParaRPr lang="zh-CN" altLang="en-US"/>
          </a:p>
        </p:txBody>
      </p:sp>
    </p:spTree>
    <p:extLst>
      <p:ext uri="{BB962C8B-B14F-4D97-AF65-F5344CB8AC3E}">
        <p14:creationId xmlns:p14="http://schemas.microsoft.com/office/powerpoint/2010/main" val="12718684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声明语句</a:t>
            </a:r>
            <a:endParaRPr lang="zh-CN" altLang="en-US" dirty="0"/>
          </a:p>
        </p:txBody>
      </p:sp>
      <p:sp>
        <p:nvSpPr>
          <p:cNvPr id="32" name="Rectangle 2"/>
          <p:cNvSpPr txBox="1">
            <a:spLocks noChangeArrowheads="1"/>
          </p:cNvSpPr>
          <p:nvPr/>
        </p:nvSpPr>
        <p:spPr>
          <a:xfrm>
            <a:off x="5539409" y="716756"/>
            <a:ext cx="3505200" cy="6096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u="none" strike="noStrike" kern="1200" cap="none" spc="0" normalizeH="0">
                <a:solidFill>
                  <a:schemeClr val="bg1"/>
                </a:solidFill>
                <a:uFillTx/>
                <a:latin typeface="Times New Roman" panose="02020603050405020304" charset="0"/>
                <a:ea typeface="黑体" panose="02010609060101010101" charset="-122"/>
                <a:cs typeface="+mj-cs"/>
              </a:defRPr>
            </a:lvl1pPr>
          </a:lstStyle>
          <a:p>
            <a:r>
              <a:rPr lang="zh-CN" altLang="en-US" sz="4000">
                <a:solidFill>
                  <a:srgbClr val="0206AD"/>
                </a:solidFill>
                <a:effectLst>
                  <a:outerShdw blurRad="38100" dist="38100" dir="2700000" algn="tl">
                    <a:srgbClr val="C0C0C0"/>
                  </a:outerShdw>
                </a:effectLst>
                <a:latin typeface="宋体" charset="-122"/>
              </a:rPr>
              <a:t>例 存储布局</a:t>
            </a:r>
          </a:p>
        </p:txBody>
      </p:sp>
      <p:sp>
        <p:nvSpPr>
          <p:cNvPr id="33" name="Rectangle 8"/>
          <p:cNvSpPr>
            <a:spLocks noGrp="1" noChangeArrowheads="1"/>
          </p:cNvSpPr>
          <p:nvPr>
            <p:ph type="body" idx="1"/>
          </p:nvPr>
        </p:nvSpPr>
        <p:spPr>
          <a:xfrm>
            <a:off x="53009" y="832716"/>
            <a:ext cx="4876800" cy="3505200"/>
          </a:xfrm>
          <a:noFill/>
          <a:ln/>
        </p:spPr>
        <p:txBody>
          <a:bodyPr lIns="92075" tIns="46038" rIns="92075" bIns="46038"/>
          <a:lstStyle/>
          <a:p>
            <a:pPr>
              <a:lnSpc>
                <a:spcPct val="90000"/>
              </a:lnSpc>
              <a:spcBef>
                <a:spcPct val="10000"/>
              </a:spcBef>
            </a:pPr>
            <a:r>
              <a:rPr lang="zh-CN" altLang="en-US" b="1" dirty="0">
                <a:latin typeface="宋体" charset="-122"/>
              </a:rPr>
              <a:t>设整数类型域宽为</a:t>
            </a:r>
            <a:r>
              <a:rPr lang="en-US" altLang="zh-CN" b="1" dirty="0">
                <a:latin typeface="宋体" charset="-122"/>
              </a:rPr>
              <a:t>4</a:t>
            </a:r>
          </a:p>
          <a:p>
            <a:pPr>
              <a:lnSpc>
                <a:spcPct val="90000"/>
              </a:lnSpc>
              <a:spcBef>
                <a:spcPct val="10000"/>
              </a:spcBef>
              <a:buFontTx/>
              <a:buNone/>
            </a:pPr>
            <a:r>
              <a:rPr lang="en-US" altLang="zh-CN" b="1" dirty="0">
                <a:latin typeface="宋体" charset="-122"/>
              </a:rPr>
              <a:t>  </a:t>
            </a:r>
            <a:r>
              <a:rPr lang="zh-CN" altLang="en-US" b="1" dirty="0">
                <a:latin typeface="宋体" charset="-122"/>
              </a:rPr>
              <a:t>实数类型域宽为</a:t>
            </a:r>
            <a:r>
              <a:rPr lang="en-US" altLang="zh-CN" b="1" dirty="0">
                <a:latin typeface="宋体" charset="-122"/>
              </a:rPr>
              <a:t>8</a:t>
            </a:r>
          </a:p>
          <a:p>
            <a:pPr>
              <a:lnSpc>
                <a:spcPct val="90000"/>
              </a:lnSpc>
              <a:spcBef>
                <a:spcPct val="10000"/>
              </a:spcBef>
            </a:pPr>
            <a:r>
              <a:rPr lang="zh-CN" altLang="en-US" dirty="0">
                <a:latin typeface="宋体" charset="-122"/>
              </a:rPr>
              <a:t>声明</a:t>
            </a:r>
            <a:r>
              <a:rPr lang="zh-CN" altLang="en-US" b="1" dirty="0">
                <a:latin typeface="宋体" charset="-122"/>
              </a:rPr>
              <a:t>语句</a:t>
            </a:r>
          </a:p>
          <a:p>
            <a:pPr>
              <a:lnSpc>
                <a:spcPct val="90000"/>
              </a:lnSpc>
              <a:spcBef>
                <a:spcPct val="10000"/>
              </a:spcBef>
              <a:buFontTx/>
              <a:buNone/>
            </a:pPr>
            <a:r>
              <a:rPr lang="zh-CN" altLang="en-US" b="1" dirty="0">
                <a:latin typeface="宋体" charset="-122"/>
              </a:rPr>
              <a:t>  </a:t>
            </a:r>
            <a:r>
              <a:rPr lang="en-US" altLang="zh-CN" b="1" dirty="0">
                <a:latin typeface="宋体" charset="-122"/>
              </a:rPr>
              <a:t>x:array[8] of real;</a:t>
            </a:r>
          </a:p>
          <a:p>
            <a:pPr>
              <a:lnSpc>
                <a:spcPct val="90000"/>
              </a:lnSpc>
              <a:spcBef>
                <a:spcPct val="10000"/>
              </a:spcBef>
              <a:buFontTx/>
              <a:buNone/>
            </a:pPr>
            <a:r>
              <a:rPr lang="en-US" altLang="zh-CN" b="1" dirty="0">
                <a:latin typeface="宋体" charset="-122"/>
              </a:rPr>
              <a:t>  i:integer;</a:t>
            </a:r>
          </a:p>
          <a:p>
            <a:pPr>
              <a:lnSpc>
                <a:spcPct val="90000"/>
              </a:lnSpc>
              <a:spcBef>
                <a:spcPct val="10000"/>
              </a:spcBef>
              <a:buFontTx/>
              <a:buNone/>
            </a:pPr>
            <a:r>
              <a:rPr lang="en-US" altLang="zh-CN" b="1" dirty="0">
                <a:latin typeface="宋体" charset="-122"/>
              </a:rPr>
              <a:t>  j:real;</a:t>
            </a:r>
          </a:p>
          <a:p>
            <a:pPr>
              <a:lnSpc>
                <a:spcPct val="90000"/>
              </a:lnSpc>
              <a:spcBef>
                <a:spcPct val="10000"/>
              </a:spcBef>
            </a:pPr>
            <a:r>
              <a:rPr lang="zh-CN" altLang="en-US" b="1" dirty="0">
                <a:latin typeface="宋体" charset="-122"/>
              </a:rPr>
              <a:t>名字  类型  相对地址</a:t>
            </a:r>
            <a:endParaRPr lang="en-US" altLang="en-US" b="1" dirty="0">
              <a:latin typeface="宋体" charset="-122"/>
            </a:endParaRPr>
          </a:p>
        </p:txBody>
      </p:sp>
      <p:grpSp>
        <p:nvGrpSpPr>
          <p:cNvPr id="34" name="Group 9"/>
          <p:cNvGrpSpPr>
            <a:grpSpLocks/>
          </p:cNvGrpSpPr>
          <p:nvPr/>
        </p:nvGrpSpPr>
        <p:grpSpPr bwMode="auto">
          <a:xfrm>
            <a:off x="6453809" y="1747116"/>
            <a:ext cx="1752600" cy="4724400"/>
            <a:chOff x="4080" y="864"/>
            <a:chExt cx="1104" cy="2976"/>
          </a:xfrm>
        </p:grpSpPr>
        <p:sp>
          <p:nvSpPr>
            <p:cNvPr id="35" name="Rectangle 10"/>
            <p:cNvSpPr>
              <a:spLocks noChangeArrowheads="1"/>
            </p:cNvSpPr>
            <p:nvPr/>
          </p:nvSpPr>
          <p:spPr bwMode="auto">
            <a:xfrm>
              <a:off x="4080" y="864"/>
              <a:ext cx="1104" cy="1680"/>
            </a:xfrm>
            <a:prstGeom prst="rect">
              <a:avLst/>
            </a:prstGeom>
            <a:noFill/>
            <a:ln w="5715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kumimoji="1" lang="zh-CN" altLang="zh-CN" sz="2400" b="0">
                <a:solidFill>
                  <a:srgbClr val="0206AD"/>
                </a:solidFill>
                <a:latin typeface="宋体" charset="-122"/>
              </a:endParaRPr>
            </a:p>
          </p:txBody>
        </p:sp>
        <p:sp>
          <p:nvSpPr>
            <p:cNvPr id="36" name="Rectangle 11"/>
            <p:cNvSpPr>
              <a:spLocks noChangeArrowheads="1"/>
            </p:cNvSpPr>
            <p:nvPr/>
          </p:nvSpPr>
          <p:spPr bwMode="auto">
            <a:xfrm>
              <a:off x="4080" y="2544"/>
              <a:ext cx="1104" cy="528"/>
            </a:xfrm>
            <a:prstGeom prst="rect">
              <a:avLst/>
            </a:prstGeom>
            <a:noFill/>
            <a:ln w="5715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sp>
          <p:nvSpPr>
            <p:cNvPr id="37" name="Rectangle 12"/>
            <p:cNvSpPr>
              <a:spLocks noChangeArrowheads="1"/>
            </p:cNvSpPr>
            <p:nvPr/>
          </p:nvSpPr>
          <p:spPr bwMode="auto">
            <a:xfrm>
              <a:off x="4080" y="3072"/>
              <a:ext cx="1104" cy="768"/>
            </a:xfrm>
            <a:prstGeom prst="rect">
              <a:avLst/>
            </a:prstGeom>
            <a:noFill/>
            <a:ln w="5715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grpSp>
      <p:sp>
        <p:nvSpPr>
          <p:cNvPr id="38" name="Line 13"/>
          <p:cNvSpPr>
            <a:spLocks noChangeShapeType="1"/>
          </p:cNvSpPr>
          <p:nvPr/>
        </p:nvSpPr>
        <p:spPr bwMode="auto">
          <a:xfrm flipV="1">
            <a:off x="3939209" y="2051916"/>
            <a:ext cx="2057400" cy="2362200"/>
          </a:xfrm>
          <a:prstGeom prst="line">
            <a:avLst/>
          </a:prstGeom>
          <a:noFill/>
          <a:ln w="38100">
            <a:solidFill>
              <a:srgbClr val="0000FF"/>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sp>
        <p:nvSpPr>
          <p:cNvPr id="39" name="Line 14"/>
          <p:cNvSpPr>
            <a:spLocks noChangeShapeType="1"/>
          </p:cNvSpPr>
          <p:nvPr/>
        </p:nvSpPr>
        <p:spPr bwMode="auto">
          <a:xfrm flipV="1">
            <a:off x="4015409" y="4642716"/>
            <a:ext cx="1905000" cy="381000"/>
          </a:xfrm>
          <a:prstGeom prst="line">
            <a:avLst/>
          </a:prstGeom>
          <a:noFill/>
          <a:ln w="38100">
            <a:solidFill>
              <a:srgbClr val="0000FF"/>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sp>
        <p:nvSpPr>
          <p:cNvPr id="40" name="Line 15"/>
          <p:cNvSpPr>
            <a:spLocks noChangeShapeType="1"/>
          </p:cNvSpPr>
          <p:nvPr/>
        </p:nvSpPr>
        <p:spPr bwMode="auto">
          <a:xfrm flipV="1">
            <a:off x="4015409" y="5557116"/>
            <a:ext cx="1905000" cy="0"/>
          </a:xfrm>
          <a:prstGeom prst="line">
            <a:avLst/>
          </a:prstGeom>
          <a:noFill/>
          <a:ln w="38100">
            <a:solidFill>
              <a:srgbClr val="0000FF"/>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sp>
        <p:nvSpPr>
          <p:cNvPr id="41" name="Rectangle 16"/>
          <p:cNvSpPr>
            <a:spLocks noChangeArrowheads="1"/>
          </p:cNvSpPr>
          <p:nvPr/>
        </p:nvSpPr>
        <p:spPr bwMode="auto">
          <a:xfrm>
            <a:off x="5937872" y="1594716"/>
            <a:ext cx="3635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solidFill>
                  <a:srgbClr val="0206AD"/>
                </a:solidFill>
                <a:effectLst>
                  <a:outerShdw blurRad="38100" dist="38100" dir="2700000" algn="tl">
                    <a:srgbClr val="C0C0C0"/>
                  </a:outerShdw>
                </a:effectLst>
                <a:latin typeface="宋体" charset="-122"/>
              </a:rPr>
              <a:t>0</a:t>
            </a:r>
          </a:p>
        </p:txBody>
      </p:sp>
      <p:sp>
        <p:nvSpPr>
          <p:cNvPr id="42" name="Rectangle 17"/>
          <p:cNvSpPr>
            <a:spLocks noChangeArrowheads="1"/>
          </p:cNvSpPr>
          <p:nvPr/>
        </p:nvSpPr>
        <p:spPr bwMode="auto">
          <a:xfrm>
            <a:off x="5318747" y="1213716"/>
            <a:ext cx="14398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solidFill>
                  <a:srgbClr val="0206AD"/>
                </a:solidFill>
                <a:effectLst>
                  <a:outerShdw blurRad="38100" dist="38100" dir="2700000" algn="tl">
                    <a:srgbClr val="C0C0C0"/>
                  </a:outerShdw>
                </a:effectLst>
                <a:latin typeface="宋体" charset="-122"/>
              </a:rPr>
              <a:t> offset</a:t>
            </a:r>
          </a:p>
        </p:txBody>
      </p:sp>
      <p:sp>
        <p:nvSpPr>
          <p:cNvPr id="43" name="Rectangle 18"/>
          <p:cNvSpPr>
            <a:spLocks noChangeArrowheads="1"/>
          </p:cNvSpPr>
          <p:nvPr/>
        </p:nvSpPr>
        <p:spPr bwMode="auto">
          <a:xfrm>
            <a:off x="5768009" y="3956916"/>
            <a:ext cx="695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2800">
                <a:solidFill>
                  <a:srgbClr val="0206AD"/>
                </a:solidFill>
                <a:effectLst>
                  <a:outerShdw blurRad="38100" dist="38100" dir="2700000" algn="tl">
                    <a:srgbClr val="C0C0C0"/>
                  </a:outerShdw>
                </a:effectLst>
                <a:latin typeface="宋体" charset="-122"/>
              </a:rPr>
              <a:t>63</a:t>
            </a:r>
          </a:p>
        </p:txBody>
      </p:sp>
      <p:sp>
        <p:nvSpPr>
          <p:cNvPr id="44" name="AutoShape 19"/>
          <p:cNvSpPr>
            <a:spLocks/>
          </p:cNvSpPr>
          <p:nvPr/>
        </p:nvSpPr>
        <p:spPr bwMode="auto">
          <a:xfrm>
            <a:off x="5768009" y="1899516"/>
            <a:ext cx="152400" cy="2362200"/>
          </a:xfrm>
          <a:prstGeom prst="leftBrace">
            <a:avLst>
              <a:gd name="adj1" fmla="val 129167"/>
              <a:gd name="adj2" fmla="val 50000"/>
            </a:avLst>
          </a:prstGeom>
          <a:noFill/>
          <a:ln w="38100">
            <a:solidFill>
              <a:srgbClr val="00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sp>
        <p:nvSpPr>
          <p:cNvPr id="45" name="Rectangle 20"/>
          <p:cNvSpPr>
            <a:spLocks noChangeArrowheads="1"/>
          </p:cNvSpPr>
          <p:nvPr/>
        </p:nvSpPr>
        <p:spPr bwMode="auto">
          <a:xfrm>
            <a:off x="7157072" y="2675804"/>
            <a:ext cx="3635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solidFill>
                  <a:srgbClr val="0206AD"/>
                </a:solidFill>
                <a:effectLst>
                  <a:outerShdw blurRad="38100" dist="38100" dir="2700000" algn="tl">
                    <a:srgbClr val="C0C0C0"/>
                  </a:outerShdw>
                </a:effectLst>
                <a:latin typeface="宋体" charset="-122"/>
              </a:rPr>
              <a:t>x</a:t>
            </a:r>
          </a:p>
        </p:txBody>
      </p:sp>
      <p:sp>
        <p:nvSpPr>
          <p:cNvPr id="46" name="Rectangle 21"/>
          <p:cNvSpPr>
            <a:spLocks noChangeArrowheads="1"/>
          </p:cNvSpPr>
          <p:nvPr/>
        </p:nvSpPr>
        <p:spPr bwMode="auto">
          <a:xfrm>
            <a:off x="5844209" y="4276004"/>
            <a:ext cx="5429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solidFill>
                  <a:srgbClr val="0206AD"/>
                </a:solidFill>
                <a:effectLst>
                  <a:outerShdw blurRad="38100" dist="38100" dir="2700000" algn="tl">
                    <a:srgbClr val="C0C0C0"/>
                  </a:outerShdw>
                </a:effectLst>
                <a:latin typeface="宋体" charset="-122"/>
              </a:rPr>
              <a:t>64</a:t>
            </a:r>
          </a:p>
        </p:txBody>
      </p:sp>
      <p:sp>
        <p:nvSpPr>
          <p:cNvPr id="47" name="Rectangle 22"/>
          <p:cNvSpPr>
            <a:spLocks noChangeArrowheads="1"/>
          </p:cNvSpPr>
          <p:nvPr/>
        </p:nvSpPr>
        <p:spPr bwMode="auto">
          <a:xfrm>
            <a:off x="5910884" y="4809404"/>
            <a:ext cx="5429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solidFill>
                  <a:srgbClr val="0206AD"/>
                </a:solidFill>
                <a:effectLst>
                  <a:outerShdw blurRad="38100" dist="38100" dir="2700000" algn="tl">
                    <a:srgbClr val="C0C0C0"/>
                  </a:outerShdw>
                </a:effectLst>
                <a:latin typeface="宋体" charset="-122"/>
              </a:rPr>
              <a:t>67</a:t>
            </a:r>
          </a:p>
        </p:txBody>
      </p:sp>
      <p:sp>
        <p:nvSpPr>
          <p:cNvPr id="48" name="AutoShape 23"/>
          <p:cNvSpPr>
            <a:spLocks/>
          </p:cNvSpPr>
          <p:nvPr/>
        </p:nvSpPr>
        <p:spPr bwMode="auto">
          <a:xfrm>
            <a:off x="5844209" y="4566516"/>
            <a:ext cx="152400" cy="533400"/>
          </a:xfrm>
          <a:prstGeom prst="leftBrace">
            <a:avLst>
              <a:gd name="adj1" fmla="val 29167"/>
              <a:gd name="adj2" fmla="val 50000"/>
            </a:avLst>
          </a:prstGeom>
          <a:noFill/>
          <a:ln w="38100">
            <a:solidFill>
              <a:srgbClr val="00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sp>
        <p:nvSpPr>
          <p:cNvPr id="49" name="Rectangle 24"/>
          <p:cNvSpPr>
            <a:spLocks noChangeArrowheads="1"/>
          </p:cNvSpPr>
          <p:nvPr/>
        </p:nvSpPr>
        <p:spPr bwMode="auto">
          <a:xfrm>
            <a:off x="7157072" y="4566516"/>
            <a:ext cx="3635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solidFill>
                  <a:srgbClr val="0206AD"/>
                </a:solidFill>
                <a:effectLst>
                  <a:outerShdw blurRad="38100" dist="38100" dir="2700000" algn="tl">
                    <a:srgbClr val="C0C0C0"/>
                  </a:outerShdw>
                </a:effectLst>
                <a:latin typeface="宋体" charset="-122"/>
              </a:rPr>
              <a:t>i</a:t>
            </a:r>
          </a:p>
        </p:txBody>
      </p:sp>
      <p:sp>
        <p:nvSpPr>
          <p:cNvPr id="50" name="Rectangle 25"/>
          <p:cNvSpPr>
            <a:spLocks noChangeArrowheads="1"/>
          </p:cNvSpPr>
          <p:nvPr/>
        </p:nvSpPr>
        <p:spPr bwMode="auto">
          <a:xfrm>
            <a:off x="5910884" y="5104679"/>
            <a:ext cx="542925"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lnSpc>
                <a:spcPct val="120000"/>
              </a:lnSpc>
              <a:spcBef>
                <a:spcPct val="50000"/>
              </a:spcBef>
              <a:buClr>
                <a:schemeClr val="tx2"/>
              </a:buClr>
              <a:buSzPct val="75000"/>
              <a:buFont typeface="Monotype Sorts" pitchFamily="2" charset="2"/>
              <a:buNone/>
            </a:pPr>
            <a:r>
              <a:rPr kumimoji="1" lang="en-US" altLang="zh-CN" sz="2800">
                <a:solidFill>
                  <a:srgbClr val="0206AD"/>
                </a:solidFill>
                <a:effectLst>
                  <a:outerShdw blurRad="38100" dist="38100" dir="2700000" algn="tl">
                    <a:srgbClr val="C0C0C0"/>
                  </a:outerShdw>
                </a:effectLst>
                <a:latin typeface="宋体" charset="-122"/>
              </a:rPr>
              <a:t>68</a:t>
            </a:r>
          </a:p>
        </p:txBody>
      </p:sp>
      <p:sp>
        <p:nvSpPr>
          <p:cNvPr id="51" name="Rectangle 26"/>
          <p:cNvSpPr>
            <a:spLocks noChangeArrowheads="1"/>
          </p:cNvSpPr>
          <p:nvPr/>
        </p:nvSpPr>
        <p:spPr bwMode="auto">
          <a:xfrm>
            <a:off x="5920409" y="5942879"/>
            <a:ext cx="60960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lnSpc>
                <a:spcPct val="120000"/>
              </a:lnSpc>
              <a:spcBef>
                <a:spcPct val="50000"/>
              </a:spcBef>
              <a:buClr>
                <a:schemeClr val="tx2"/>
              </a:buClr>
              <a:buSzPct val="75000"/>
              <a:buFont typeface="Monotype Sorts" pitchFamily="2" charset="2"/>
              <a:buNone/>
            </a:pPr>
            <a:r>
              <a:rPr kumimoji="1" lang="en-US" altLang="zh-CN" sz="2800">
                <a:solidFill>
                  <a:srgbClr val="0206AD"/>
                </a:solidFill>
                <a:effectLst>
                  <a:outerShdw blurRad="38100" dist="38100" dir="2700000" algn="tl">
                    <a:srgbClr val="C0C0C0"/>
                  </a:outerShdw>
                </a:effectLst>
                <a:latin typeface="宋体" charset="-122"/>
              </a:rPr>
              <a:t>75</a:t>
            </a:r>
          </a:p>
        </p:txBody>
      </p:sp>
      <p:sp>
        <p:nvSpPr>
          <p:cNvPr id="52" name="AutoShape 27"/>
          <p:cNvSpPr>
            <a:spLocks/>
          </p:cNvSpPr>
          <p:nvPr/>
        </p:nvSpPr>
        <p:spPr bwMode="auto">
          <a:xfrm>
            <a:off x="5844209" y="5480916"/>
            <a:ext cx="152400" cy="838200"/>
          </a:xfrm>
          <a:prstGeom prst="leftBrace">
            <a:avLst>
              <a:gd name="adj1" fmla="val 45833"/>
              <a:gd name="adj2" fmla="val 50000"/>
            </a:avLst>
          </a:prstGeom>
          <a:noFill/>
          <a:ln w="38100">
            <a:solidFill>
              <a:srgbClr val="00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sp>
        <p:nvSpPr>
          <p:cNvPr id="53" name="Rectangle 28"/>
          <p:cNvSpPr>
            <a:spLocks noChangeArrowheads="1"/>
          </p:cNvSpPr>
          <p:nvPr/>
        </p:nvSpPr>
        <p:spPr bwMode="auto">
          <a:xfrm>
            <a:off x="7139609" y="5557116"/>
            <a:ext cx="3635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solidFill>
                  <a:srgbClr val="0206AD"/>
                </a:solidFill>
                <a:effectLst>
                  <a:outerShdw blurRad="38100" dist="38100" dir="2700000" algn="tl">
                    <a:srgbClr val="C0C0C0"/>
                  </a:outerShdw>
                </a:effectLst>
                <a:latin typeface="宋体" charset="-122"/>
              </a:rPr>
              <a:t>j</a:t>
            </a:r>
          </a:p>
        </p:txBody>
      </p:sp>
      <p:sp>
        <p:nvSpPr>
          <p:cNvPr id="54" name="Rectangle 29"/>
          <p:cNvSpPr>
            <a:spLocks noChangeArrowheads="1"/>
          </p:cNvSpPr>
          <p:nvPr/>
        </p:nvSpPr>
        <p:spPr bwMode="auto">
          <a:xfrm>
            <a:off x="5920409" y="6323879"/>
            <a:ext cx="60960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lnSpc>
                <a:spcPct val="120000"/>
              </a:lnSpc>
              <a:spcBef>
                <a:spcPct val="50000"/>
              </a:spcBef>
              <a:buClr>
                <a:schemeClr val="tx2"/>
              </a:buClr>
              <a:buSzPct val="75000"/>
              <a:buFont typeface="Monotype Sorts" pitchFamily="2" charset="2"/>
              <a:buNone/>
            </a:pPr>
            <a:r>
              <a:rPr kumimoji="1" lang="en-US" altLang="zh-CN" sz="2800" dirty="0">
                <a:solidFill>
                  <a:srgbClr val="0206AD"/>
                </a:solidFill>
                <a:effectLst>
                  <a:outerShdw blurRad="38100" dist="38100" dir="2700000" algn="tl">
                    <a:srgbClr val="C0C0C0"/>
                  </a:outerShdw>
                </a:effectLst>
                <a:latin typeface="宋体" charset="-122"/>
              </a:rPr>
              <a:t>76</a:t>
            </a:r>
          </a:p>
        </p:txBody>
      </p:sp>
      <p:sp>
        <p:nvSpPr>
          <p:cNvPr id="55" name="Line 30"/>
          <p:cNvSpPr>
            <a:spLocks noChangeShapeType="1"/>
          </p:cNvSpPr>
          <p:nvPr/>
        </p:nvSpPr>
        <p:spPr bwMode="auto">
          <a:xfrm>
            <a:off x="5234609" y="6700116"/>
            <a:ext cx="685800" cy="0"/>
          </a:xfrm>
          <a:prstGeom prst="line">
            <a:avLst/>
          </a:prstGeom>
          <a:noFill/>
          <a:ln w="38100">
            <a:solidFill>
              <a:srgbClr val="0000FF"/>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0206AD"/>
              </a:solidFill>
            </a:endParaRPr>
          </a:p>
        </p:txBody>
      </p:sp>
      <p:sp>
        <p:nvSpPr>
          <p:cNvPr id="56" name="Rectangle 31"/>
          <p:cNvSpPr>
            <a:spLocks noChangeArrowheads="1"/>
          </p:cNvSpPr>
          <p:nvPr/>
        </p:nvSpPr>
        <p:spPr bwMode="auto">
          <a:xfrm>
            <a:off x="586409" y="4185516"/>
            <a:ext cx="3635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solidFill>
                  <a:srgbClr val="0206AD"/>
                </a:solidFill>
                <a:effectLst>
                  <a:outerShdw blurRad="38100" dist="38100" dir="2700000" algn="tl">
                    <a:srgbClr val="C0C0C0"/>
                  </a:outerShdw>
                </a:effectLst>
                <a:latin typeface="宋体" charset="-122"/>
              </a:rPr>
              <a:t>x</a:t>
            </a:r>
          </a:p>
        </p:txBody>
      </p:sp>
      <p:sp>
        <p:nvSpPr>
          <p:cNvPr id="57" name="Rectangle 32"/>
          <p:cNvSpPr>
            <a:spLocks noChangeArrowheads="1"/>
          </p:cNvSpPr>
          <p:nvPr/>
        </p:nvSpPr>
        <p:spPr bwMode="auto">
          <a:xfrm>
            <a:off x="1043609" y="4109316"/>
            <a:ext cx="2874963"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lnSpc>
                <a:spcPct val="120000"/>
              </a:lnSpc>
              <a:spcBef>
                <a:spcPct val="50000"/>
              </a:spcBef>
              <a:buClr>
                <a:schemeClr val="tx2"/>
              </a:buClr>
              <a:buSzPct val="75000"/>
              <a:buFont typeface="Monotype Sorts" pitchFamily="2" charset="2"/>
              <a:buNone/>
            </a:pPr>
            <a:r>
              <a:rPr kumimoji="1" lang="en-US" altLang="zh-CN" sz="2800" dirty="0">
                <a:solidFill>
                  <a:srgbClr val="0206AD"/>
                </a:solidFill>
                <a:effectLst>
                  <a:outerShdw blurRad="38100" dist="38100" dir="2700000" algn="tl">
                    <a:srgbClr val="C0C0C0"/>
                  </a:outerShdw>
                </a:effectLst>
                <a:latin typeface="宋体" charset="-122"/>
              </a:rPr>
              <a:t>array(8,real) 0</a:t>
            </a:r>
          </a:p>
        </p:txBody>
      </p:sp>
      <p:sp>
        <p:nvSpPr>
          <p:cNvPr id="58" name="Rectangle 33"/>
          <p:cNvSpPr>
            <a:spLocks noChangeArrowheads="1"/>
          </p:cNvSpPr>
          <p:nvPr/>
        </p:nvSpPr>
        <p:spPr bwMode="auto">
          <a:xfrm>
            <a:off x="603872" y="4704629"/>
            <a:ext cx="3635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solidFill>
                  <a:srgbClr val="0206AD"/>
                </a:solidFill>
                <a:effectLst>
                  <a:outerShdw blurRad="38100" dist="38100" dir="2700000" algn="tl">
                    <a:srgbClr val="C0C0C0"/>
                  </a:outerShdw>
                </a:effectLst>
                <a:latin typeface="宋体" charset="-122"/>
              </a:rPr>
              <a:t>i</a:t>
            </a:r>
          </a:p>
        </p:txBody>
      </p:sp>
      <p:sp>
        <p:nvSpPr>
          <p:cNvPr id="59" name="Rectangle 34"/>
          <p:cNvSpPr>
            <a:spLocks noChangeArrowheads="1"/>
          </p:cNvSpPr>
          <p:nvPr/>
        </p:nvSpPr>
        <p:spPr bwMode="auto">
          <a:xfrm>
            <a:off x="1423022" y="4637954"/>
            <a:ext cx="2668587"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lnSpc>
                <a:spcPct val="120000"/>
              </a:lnSpc>
              <a:spcBef>
                <a:spcPct val="50000"/>
              </a:spcBef>
              <a:buClr>
                <a:schemeClr val="tx2"/>
              </a:buClr>
              <a:buSzPct val="75000"/>
              <a:buFont typeface="Monotype Sorts" pitchFamily="2" charset="2"/>
              <a:buNone/>
            </a:pPr>
            <a:r>
              <a:rPr kumimoji="1" lang="en-US" altLang="zh-CN" sz="2800">
                <a:solidFill>
                  <a:srgbClr val="0206AD"/>
                </a:solidFill>
                <a:effectLst>
                  <a:outerShdw blurRad="38100" dist="38100" dir="2700000" algn="tl">
                    <a:srgbClr val="C0C0C0"/>
                  </a:outerShdw>
                </a:effectLst>
                <a:latin typeface="宋体" charset="-122"/>
              </a:rPr>
              <a:t>integer    64</a:t>
            </a:r>
          </a:p>
        </p:txBody>
      </p:sp>
      <p:sp>
        <p:nvSpPr>
          <p:cNvPr id="60" name="Rectangle 35"/>
          <p:cNvSpPr>
            <a:spLocks noChangeArrowheads="1"/>
          </p:cNvSpPr>
          <p:nvPr/>
        </p:nvSpPr>
        <p:spPr bwMode="auto">
          <a:xfrm>
            <a:off x="586409" y="5238029"/>
            <a:ext cx="3635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solidFill>
                  <a:srgbClr val="0206AD"/>
                </a:solidFill>
                <a:effectLst>
                  <a:outerShdw blurRad="38100" dist="38100" dir="2700000" algn="tl">
                    <a:srgbClr val="C0C0C0"/>
                  </a:outerShdw>
                </a:effectLst>
                <a:latin typeface="宋体" charset="-122"/>
              </a:rPr>
              <a:t>j</a:t>
            </a:r>
          </a:p>
        </p:txBody>
      </p:sp>
      <p:sp>
        <p:nvSpPr>
          <p:cNvPr id="61" name="Rectangle 36"/>
          <p:cNvSpPr>
            <a:spLocks noChangeArrowheads="1"/>
          </p:cNvSpPr>
          <p:nvPr/>
        </p:nvSpPr>
        <p:spPr bwMode="auto">
          <a:xfrm>
            <a:off x="1577009" y="5171354"/>
            <a:ext cx="259080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lnSpc>
                <a:spcPct val="120000"/>
              </a:lnSpc>
              <a:spcBef>
                <a:spcPct val="50000"/>
              </a:spcBef>
              <a:buClr>
                <a:schemeClr val="tx2"/>
              </a:buClr>
              <a:buSzPct val="75000"/>
              <a:buFont typeface="Monotype Sorts" pitchFamily="2" charset="2"/>
              <a:buNone/>
            </a:pPr>
            <a:r>
              <a:rPr kumimoji="1" lang="en-US" altLang="zh-CN" sz="2800">
                <a:solidFill>
                  <a:srgbClr val="0206AD"/>
                </a:solidFill>
                <a:effectLst>
                  <a:outerShdw blurRad="38100" dist="38100" dir="2700000" algn="tl">
                    <a:srgbClr val="C0C0C0"/>
                  </a:outerShdw>
                </a:effectLst>
                <a:latin typeface="宋体" charset="-122"/>
              </a:rPr>
              <a:t>real      68</a:t>
            </a:r>
          </a:p>
        </p:txBody>
      </p:sp>
      <p:sp>
        <p:nvSpPr>
          <p:cNvPr id="2" name="灯片编号占位符 1">
            <a:extLst>
              <a:ext uri="{FF2B5EF4-FFF2-40B4-BE49-F238E27FC236}">
                <a16:creationId xmlns:a16="http://schemas.microsoft.com/office/drawing/2014/main" id="{D2C8B6E9-03FB-4F74-91E3-CAF7242C5B19}"/>
              </a:ext>
            </a:extLst>
          </p:cNvPr>
          <p:cNvSpPr>
            <a:spLocks noGrp="1"/>
          </p:cNvSpPr>
          <p:nvPr>
            <p:ph type="sldNum" sz="quarter" idx="4"/>
          </p:nvPr>
        </p:nvSpPr>
        <p:spPr/>
        <p:txBody>
          <a:bodyPr/>
          <a:lstStyle/>
          <a:p>
            <a:fld id="{565CE74E-AB26-4998-AD42-012C4C1AD076}" type="slidenum">
              <a:rPr lang="zh-CN" altLang="en-US" smtClean="0"/>
              <a:pPr/>
              <a:t>36</a:t>
            </a:fld>
            <a:endParaRPr lang="zh-CN" altLang="en-US"/>
          </a:p>
        </p:txBody>
      </p:sp>
    </p:spTree>
    <p:extLst>
      <p:ext uri="{BB962C8B-B14F-4D97-AF65-F5344CB8AC3E}">
        <p14:creationId xmlns:p14="http://schemas.microsoft.com/office/powerpoint/2010/main" val="231323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3">
                                            <p:txEl>
                                              <p:pRg st="0" end="0"/>
                                            </p:txEl>
                                          </p:spTgt>
                                        </p:tgtEl>
                                        <p:attrNameLst>
                                          <p:attrName>style.visibility</p:attrName>
                                        </p:attrNameLst>
                                      </p:cBhvr>
                                      <p:to>
                                        <p:strVal val="visible"/>
                                      </p:to>
                                    </p:set>
                                    <p:animEffect transition="in" filter="slide(fromBottom)">
                                      <p:cBhvr>
                                        <p:cTn id="7" dur="500"/>
                                        <p:tgtEl>
                                          <p:spTgt spid="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3">
                                            <p:txEl>
                                              <p:pRg st="1" end="1"/>
                                            </p:txEl>
                                          </p:spTgt>
                                        </p:tgtEl>
                                        <p:attrNameLst>
                                          <p:attrName>style.visibility</p:attrName>
                                        </p:attrNameLst>
                                      </p:cBhvr>
                                      <p:to>
                                        <p:strVal val="visible"/>
                                      </p:to>
                                    </p:set>
                                    <p:animEffect transition="in" filter="slide(fromBottom)">
                                      <p:cBhvr>
                                        <p:cTn id="12" dur="500"/>
                                        <p:tgtEl>
                                          <p:spTgt spid="3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3">
                                            <p:txEl>
                                              <p:pRg st="2" end="2"/>
                                            </p:txEl>
                                          </p:spTgt>
                                        </p:tgtEl>
                                        <p:attrNameLst>
                                          <p:attrName>style.visibility</p:attrName>
                                        </p:attrNameLst>
                                      </p:cBhvr>
                                      <p:to>
                                        <p:strVal val="visible"/>
                                      </p:to>
                                    </p:set>
                                    <p:animEffect transition="in" filter="slide(fromBottom)">
                                      <p:cBhvr>
                                        <p:cTn id="17" dur="500"/>
                                        <p:tgtEl>
                                          <p:spTgt spid="3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33">
                                            <p:txEl>
                                              <p:pRg st="3" end="3"/>
                                            </p:txEl>
                                          </p:spTgt>
                                        </p:tgtEl>
                                        <p:attrNameLst>
                                          <p:attrName>style.visibility</p:attrName>
                                        </p:attrNameLst>
                                      </p:cBhvr>
                                      <p:to>
                                        <p:strVal val="visible"/>
                                      </p:to>
                                    </p:set>
                                    <p:animEffect transition="in" filter="slide(fromBottom)">
                                      <p:cBhvr>
                                        <p:cTn id="22" dur="500"/>
                                        <p:tgtEl>
                                          <p:spTgt spid="3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33">
                                            <p:txEl>
                                              <p:pRg st="4" end="4"/>
                                            </p:txEl>
                                          </p:spTgt>
                                        </p:tgtEl>
                                        <p:attrNameLst>
                                          <p:attrName>style.visibility</p:attrName>
                                        </p:attrNameLst>
                                      </p:cBhvr>
                                      <p:to>
                                        <p:strVal val="visible"/>
                                      </p:to>
                                    </p:set>
                                    <p:animEffect transition="in" filter="slide(fromBottom)">
                                      <p:cBhvr>
                                        <p:cTn id="27" dur="500"/>
                                        <p:tgtEl>
                                          <p:spTgt spid="3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33">
                                            <p:txEl>
                                              <p:pRg st="5" end="5"/>
                                            </p:txEl>
                                          </p:spTgt>
                                        </p:tgtEl>
                                        <p:attrNameLst>
                                          <p:attrName>style.visibility</p:attrName>
                                        </p:attrNameLst>
                                      </p:cBhvr>
                                      <p:to>
                                        <p:strVal val="visible"/>
                                      </p:to>
                                    </p:set>
                                    <p:animEffect transition="in" filter="slide(fromBottom)">
                                      <p:cBhvr>
                                        <p:cTn id="32" dur="500"/>
                                        <p:tgtEl>
                                          <p:spTgt spid="3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3">
                                            <p:txEl>
                                              <p:pRg st="6" end="6"/>
                                            </p:txEl>
                                          </p:spTgt>
                                        </p:tgtEl>
                                        <p:attrNameLst>
                                          <p:attrName>style.visibility</p:attrName>
                                        </p:attrNameLst>
                                      </p:cBhvr>
                                      <p:to>
                                        <p:strVal val="visible"/>
                                      </p:to>
                                    </p:set>
                                    <p:animEffect transition="in" filter="slide(fromBottom)">
                                      <p:cBhvr>
                                        <p:cTn id="37" dur="500"/>
                                        <p:tgtEl>
                                          <p:spTgt spid="3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box(in)">
                                      <p:cBhvr>
                                        <p:cTn id="42" dur="500"/>
                                        <p:tgtEl>
                                          <p:spTgt spid="34"/>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slide(fromBottom)">
                                      <p:cBhvr>
                                        <p:cTn id="47" dur="500"/>
                                        <p:tgtEl>
                                          <p:spTgt spid="41"/>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slide(fromBottom)">
                                      <p:cBhvr>
                                        <p:cTn id="52" dur="500"/>
                                        <p:tgtEl>
                                          <p:spTgt spid="42"/>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56"/>
                                        </p:tgtEl>
                                        <p:attrNameLst>
                                          <p:attrName>style.visibility</p:attrName>
                                        </p:attrNameLst>
                                      </p:cBhvr>
                                      <p:to>
                                        <p:strVal val="visible"/>
                                      </p:to>
                                    </p:set>
                                    <p:animEffect transition="in" filter="slide(fromBottom)">
                                      <p:cBhvr>
                                        <p:cTn id="57" dur="500"/>
                                        <p:tgtEl>
                                          <p:spTgt spid="56"/>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4" fill="hold" grpId="0" nodeType="click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slide(fromBottom)">
                                      <p:cBhvr>
                                        <p:cTn id="62" dur="500"/>
                                        <p:tgtEl>
                                          <p:spTgt spid="43"/>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42" fill="hold" grpId="0" nodeType="click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barn(outHorizontal)">
                                      <p:cBhvr>
                                        <p:cTn id="67" dur="500"/>
                                        <p:tgtEl>
                                          <p:spTgt spid="44"/>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4" fill="hold" grpId="0" nodeType="clickEffect">
                                  <p:stCondLst>
                                    <p:cond delay="0"/>
                                  </p:stCondLst>
                                  <p:childTnLst>
                                    <p:set>
                                      <p:cBhvr>
                                        <p:cTn id="71" dur="1" fill="hold">
                                          <p:stCondLst>
                                            <p:cond delay="0"/>
                                          </p:stCondLst>
                                        </p:cTn>
                                        <p:tgtEl>
                                          <p:spTgt spid="45"/>
                                        </p:tgtEl>
                                        <p:attrNameLst>
                                          <p:attrName>style.visibility</p:attrName>
                                        </p:attrNameLst>
                                      </p:cBhvr>
                                      <p:to>
                                        <p:strVal val="visible"/>
                                      </p:to>
                                    </p:set>
                                    <p:animEffect transition="in" filter="slide(fromBottom)">
                                      <p:cBhvr>
                                        <p:cTn id="72" dur="500"/>
                                        <p:tgtEl>
                                          <p:spTgt spid="45"/>
                                        </p:tgtEl>
                                      </p:cBhvr>
                                    </p:animEffect>
                                  </p:childTnLst>
                                </p:cTn>
                              </p:par>
                            </p:childTnLst>
                          </p:cTn>
                        </p:par>
                      </p:childTnLst>
                    </p:cTn>
                  </p:par>
                  <p:par>
                    <p:cTn id="73" fill="hold">
                      <p:stCondLst>
                        <p:cond delay="indefinite"/>
                      </p:stCondLst>
                      <p:childTnLst>
                        <p:par>
                          <p:cTn id="74" fill="hold">
                            <p:stCondLst>
                              <p:cond delay="0"/>
                            </p:stCondLst>
                            <p:childTnLst>
                              <p:par>
                                <p:cTn id="75" presetID="12" presetClass="entr" presetSubtype="4" fill="hold" grpId="0" nodeType="clickEffect">
                                  <p:stCondLst>
                                    <p:cond delay="0"/>
                                  </p:stCondLst>
                                  <p:childTnLst>
                                    <p:set>
                                      <p:cBhvr>
                                        <p:cTn id="76" dur="1" fill="hold">
                                          <p:stCondLst>
                                            <p:cond delay="0"/>
                                          </p:stCondLst>
                                        </p:cTn>
                                        <p:tgtEl>
                                          <p:spTgt spid="57"/>
                                        </p:tgtEl>
                                        <p:attrNameLst>
                                          <p:attrName>style.visibility</p:attrName>
                                        </p:attrNameLst>
                                      </p:cBhvr>
                                      <p:to>
                                        <p:strVal val="visible"/>
                                      </p:to>
                                    </p:set>
                                    <p:animEffect transition="in" filter="slide(fromBottom)">
                                      <p:cBhvr>
                                        <p:cTn id="77" dur="500"/>
                                        <p:tgtEl>
                                          <p:spTgt spid="57"/>
                                        </p:tgtEl>
                                      </p:cBhvr>
                                    </p:animEffect>
                                  </p:childTnLst>
                                </p:cTn>
                              </p:par>
                            </p:childTnLst>
                          </p:cTn>
                        </p:par>
                      </p:childTnLst>
                    </p:cTn>
                  </p:par>
                  <p:par>
                    <p:cTn id="78" fill="hold">
                      <p:stCondLst>
                        <p:cond delay="indefinite"/>
                      </p:stCondLst>
                      <p:childTnLst>
                        <p:par>
                          <p:cTn id="79" fill="hold">
                            <p:stCondLst>
                              <p:cond delay="0"/>
                            </p:stCondLst>
                            <p:childTnLst>
                              <p:par>
                                <p:cTn id="80" presetID="18" presetClass="entr" presetSubtype="3" fill="hold" grpId="0" nodeType="click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strips(upRight)">
                                      <p:cBhvr>
                                        <p:cTn id="82" dur="500"/>
                                        <p:tgtEl>
                                          <p:spTgt spid="38"/>
                                        </p:tgtEl>
                                      </p:cBhvr>
                                    </p:animEffect>
                                  </p:childTnLst>
                                </p:cTn>
                              </p:par>
                            </p:childTnLst>
                          </p:cTn>
                        </p:par>
                      </p:childTnLst>
                    </p:cTn>
                  </p:par>
                  <p:par>
                    <p:cTn id="83" fill="hold">
                      <p:stCondLst>
                        <p:cond delay="indefinite"/>
                      </p:stCondLst>
                      <p:childTnLst>
                        <p:par>
                          <p:cTn id="84" fill="hold">
                            <p:stCondLst>
                              <p:cond delay="0"/>
                            </p:stCondLst>
                            <p:childTnLst>
                              <p:par>
                                <p:cTn id="85" presetID="12" presetClass="entr" presetSubtype="4" fill="hold" grpId="0" nodeType="clickEffect">
                                  <p:stCondLst>
                                    <p:cond delay="0"/>
                                  </p:stCondLst>
                                  <p:childTnLst>
                                    <p:set>
                                      <p:cBhvr>
                                        <p:cTn id="86" dur="1" fill="hold">
                                          <p:stCondLst>
                                            <p:cond delay="0"/>
                                          </p:stCondLst>
                                        </p:cTn>
                                        <p:tgtEl>
                                          <p:spTgt spid="46"/>
                                        </p:tgtEl>
                                        <p:attrNameLst>
                                          <p:attrName>style.visibility</p:attrName>
                                        </p:attrNameLst>
                                      </p:cBhvr>
                                      <p:to>
                                        <p:strVal val="visible"/>
                                      </p:to>
                                    </p:set>
                                    <p:animEffect transition="in" filter="slide(fromBottom)">
                                      <p:cBhvr>
                                        <p:cTn id="87" dur="500"/>
                                        <p:tgtEl>
                                          <p:spTgt spid="46"/>
                                        </p:tgtEl>
                                      </p:cBhvr>
                                    </p:animEffect>
                                  </p:childTnLst>
                                </p:cTn>
                              </p:par>
                            </p:childTnLst>
                          </p:cTn>
                        </p:par>
                      </p:childTnLst>
                    </p:cTn>
                  </p:par>
                  <p:par>
                    <p:cTn id="88" fill="hold">
                      <p:stCondLst>
                        <p:cond delay="indefinite"/>
                      </p:stCondLst>
                      <p:childTnLst>
                        <p:par>
                          <p:cTn id="89" fill="hold">
                            <p:stCondLst>
                              <p:cond delay="0"/>
                            </p:stCondLst>
                            <p:childTnLst>
                              <p:par>
                                <p:cTn id="90" presetID="12" presetClass="entr" presetSubtype="4" fill="hold" grpId="0" nodeType="clickEffect">
                                  <p:stCondLst>
                                    <p:cond delay="0"/>
                                  </p:stCondLst>
                                  <p:childTnLst>
                                    <p:set>
                                      <p:cBhvr>
                                        <p:cTn id="91" dur="1" fill="hold">
                                          <p:stCondLst>
                                            <p:cond delay="0"/>
                                          </p:stCondLst>
                                        </p:cTn>
                                        <p:tgtEl>
                                          <p:spTgt spid="58"/>
                                        </p:tgtEl>
                                        <p:attrNameLst>
                                          <p:attrName>style.visibility</p:attrName>
                                        </p:attrNameLst>
                                      </p:cBhvr>
                                      <p:to>
                                        <p:strVal val="visible"/>
                                      </p:to>
                                    </p:set>
                                    <p:animEffect transition="in" filter="slide(fromBottom)">
                                      <p:cBhvr>
                                        <p:cTn id="92" dur="500"/>
                                        <p:tgtEl>
                                          <p:spTgt spid="58"/>
                                        </p:tgtEl>
                                      </p:cBhvr>
                                    </p:animEffect>
                                  </p:childTnLst>
                                </p:cTn>
                              </p:par>
                            </p:childTnLst>
                          </p:cTn>
                        </p:par>
                      </p:childTnLst>
                    </p:cTn>
                  </p:par>
                  <p:par>
                    <p:cTn id="93" fill="hold">
                      <p:stCondLst>
                        <p:cond delay="indefinite"/>
                      </p:stCondLst>
                      <p:childTnLst>
                        <p:par>
                          <p:cTn id="94" fill="hold">
                            <p:stCondLst>
                              <p:cond delay="0"/>
                            </p:stCondLst>
                            <p:childTnLst>
                              <p:par>
                                <p:cTn id="95" presetID="12" presetClass="entr" presetSubtype="4" fill="hold" grpId="0" nodeType="clickEffect">
                                  <p:stCondLst>
                                    <p:cond delay="0"/>
                                  </p:stCondLst>
                                  <p:childTnLst>
                                    <p:set>
                                      <p:cBhvr>
                                        <p:cTn id="96" dur="1" fill="hold">
                                          <p:stCondLst>
                                            <p:cond delay="0"/>
                                          </p:stCondLst>
                                        </p:cTn>
                                        <p:tgtEl>
                                          <p:spTgt spid="47"/>
                                        </p:tgtEl>
                                        <p:attrNameLst>
                                          <p:attrName>style.visibility</p:attrName>
                                        </p:attrNameLst>
                                      </p:cBhvr>
                                      <p:to>
                                        <p:strVal val="visible"/>
                                      </p:to>
                                    </p:set>
                                    <p:animEffect transition="in" filter="slide(fromBottom)">
                                      <p:cBhvr>
                                        <p:cTn id="97" dur="500"/>
                                        <p:tgtEl>
                                          <p:spTgt spid="47"/>
                                        </p:tgtEl>
                                      </p:cBhvr>
                                    </p:animEffect>
                                  </p:childTnLst>
                                </p:cTn>
                              </p:par>
                            </p:childTnLst>
                          </p:cTn>
                        </p:par>
                      </p:childTnLst>
                    </p:cTn>
                  </p:par>
                  <p:par>
                    <p:cTn id="98" fill="hold">
                      <p:stCondLst>
                        <p:cond delay="indefinite"/>
                      </p:stCondLst>
                      <p:childTnLst>
                        <p:par>
                          <p:cTn id="99" fill="hold">
                            <p:stCondLst>
                              <p:cond delay="0"/>
                            </p:stCondLst>
                            <p:childTnLst>
                              <p:par>
                                <p:cTn id="100" presetID="16" presetClass="entr" presetSubtype="42" fill="hold" grpId="0" nodeType="clickEffect">
                                  <p:stCondLst>
                                    <p:cond delay="0"/>
                                  </p:stCondLst>
                                  <p:childTnLst>
                                    <p:set>
                                      <p:cBhvr>
                                        <p:cTn id="101" dur="1" fill="hold">
                                          <p:stCondLst>
                                            <p:cond delay="0"/>
                                          </p:stCondLst>
                                        </p:cTn>
                                        <p:tgtEl>
                                          <p:spTgt spid="48"/>
                                        </p:tgtEl>
                                        <p:attrNameLst>
                                          <p:attrName>style.visibility</p:attrName>
                                        </p:attrNameLst>
                                      </p:cBhvr>
                                      <p:to>
                                        <p:strVal val="visible"/>
                                      </p:to>
                                    </p:set>
                                    <p:animEffect transition="in" filter="barn(outHorizontal)">
                                      <p:cBhvr>
                                        <p:cTn id="102" dur="500"/>
                                        <p:tgtEl>
                                          <p:spTgt spid="48"/>
                                        </p:tgtEl>
                                      </p:cBhvr>
                                    </p:animEffect>
                                  </p:childTnLst>
                                </p:cTn>
                              </p:par>
                            </p:childTnLst>
                          </p:cTn>
                        </p:par>
                      </p:childTnLst>
                    </p:cTn>
                  </p:par>
                  <p:par>
                    <p:cTn id="103" fill="hold">
                      <p:stCondLst>
                        <p:cond delay="indefinite"/>
                      </p:stCondLst>
                      <p:childTnLst>
                        <p:par>
                          <p:cTn id="104" fill="hold">
                            <p:stCondLst>
                              <p:cond delay="0"/>
                            </p:stCondLst>
                            <p:childTnLst>
                              <p:par>
                                <p:cTn id="105" presetID="12" presetClass="entr" presetSubtype="4" fill="hold" grpId="0" nodeType="clickEffect">
                                  <p:stCondLst>
                                    <p:cond delay="0"/>
                                  </p:stCondLst>
                                  <p:childTnLst>
                                    <p:set>
                                      <p:cBhvr>
                                        <p:cTn id="106" dur="1" fill="hold">
                                          <p:stCondLst>
                                            <p:cond delay="0"/>
                                          </p:stCondLst>
                                        </p:cTn>
                                        <p:tgtEl>
                                          <p:spTgt spid="49"/>
                                        </p:tgtEl>
                                        <p:attrNameLst>
                                          <p:attrName>style.visibility</p:attrName>
                                        </p:attrNameLst>
                                      </p:cBhvr>
                                      <p:to>
                                        <p:strVal val="visible"/>
                                      </p:to>
                                    </p:set>
                                    <p:animEffect transition="in" filter="slide(fromBottom)">
                                      <p:cBhvr>
                                        <p:cTn id="107" dur="500"/>
                                        <p:tgtEl>
                                          <p:spTgt spid="49"/>
                                        </p:tgtEl>
                                      </p:cBhvr>
                                    </p:animEffect>
                                  </p:childTnLst>
                                </p:cTn>
                              </p:par>
                            </p:childTnLst>
                          </p:cTn>
                        </p:par>
                      </p:childTnLst>
                    </p:cTn>
                  </p:par>
                  <p:par>
                    <p:cTn id="108" fill="hold">
                      <p:stCondLst>
                        <p:cond delay="indefinite"/>
                      </p:stCondLst>
                      <p:childTnLst>
                        <p:par>
                          <p:cTn id="109" fill="hold">
                            <p:stCondLst>
                              <p:cond delay="0"/>
                            </p:stCondLst>
                            <p:childTnLst>
                              <p:par>
                                <p:cTn id="110" presetID="12" presetClass="entr" presetSubtype="4" fill="hold" grpId="0" nodeType="clickEffect">
                                  <p:stCondLst>
                                    <p:cond delay="0"/>
                                  </p:stCondLst>
                                  <p:childTnLst>
                                    <p:set>
                                      <p:cBhvr>
                                        <p:cTn id="111" dur="1" fill="hold">
                                          <p:stCondLst>
                                            <p:cond delay="0"/>
                                          </p:stCondLst>
                                        </p:cTn>
                                        <p:tgtEl>
                                          <p:spTgt spid="59"/>
                                        </p:tgtEl>
                                        <p:attrNameLst>
                                          <p:attrName>style.visibility</p:attrName>
                                        </p:attrNameLst>
                                      </p:cBhvr>
                                      <p:to>
                                        <p:strVal val="visible"/>
                                      </p:to>
                                    </p:set>
                                    <p:animEffect transition="in" filter="slide(fromBottom)">
                                      <p:cBhvr>
                                        <p:cTn id="112" dur="500"/>
                                        <p:tgtEl>
                                          <p:spTgt spid="59"/>
                                        </p:tgtEl>
                                      </p:cBhvr>
                                    </p:animEffect>
                                  </p:childTnLst>
                                </p:cTn>
                              </p:par>
                            </p:childTnLst>
                          </p:cTn>
                        </p:par>
                      </p:childTnLst>
                    </p:cTn>
                  </p:par>
                  <p:par>
                    <p:cTn id="113" fill="hold">
                      <p:stCondLst>
                        <p:cond delay="indefinite"/>
                      </p:stCondLst>
                      <p:childTnLst>
                        <p:par>
                          <p:cTn id="114" fill="hold">
                            <p:stCondLst>
                              <p:cond delay="0"/>
                            </p:stCondLst>
                            <p:childTnLst>
                              <p:par>
                                <p:cTn id="115" presetID="18" presetClass="entr" presetSubtype="3" fill="hold" grpId="0" nodeType="clickEffect">
                                  <p:stCondLst>
                                    <p:cond delay="0"/>
                                  </p:stCondLst>
                                  <p:childTnLst>
                                    <p:set>
                                      <p:cBhvr>
                                        <p:cTn id="116" dur="1" fill="hold">
                                          <p:stCondLst>
                                            <p:cond delay="0"/>
                                          </p:stCondLst>
                                        </p:cTn>
                                        <p:tgtEl>
                                          <p:spTgt spid="39"/>
                                        </p:tgtEl>
                                        <p:attrNameLst>
                                          <p:attrName>style.visibility</p:attrName>
                                        </p:attrNameLst>
                                      </p:cBhvr>
                                      <p:to>
                                        <p:strVal val="visible"/>
                                      </p:to>
                                    </p:set>
                                    <p:animEffect transition="in" filter="strips(upRight)">
                                      <p:cBhvr>
                                        <p:cTn id="117" dur="500"/>
                                        <p:tgtEl>
                                          <p:spTgt spid="39"/>
                                        </p:tgtEl>
                                      </p:cBhvr>
                                    </p:animEffect>
                                  </p:childTnLst>
                                </p:cTn>
                              </p:par>
                            </p:childTnLst>
                          </p:cTn>
                        </p:par>
                      </p:childTnLst>
                    </p:cTn>
                  </p:par>
                  <p:par>
                    <p:cTn id="118" fill="hold">
                      <p:stCondLst>
                        <p:cond delay="indefinite"/>
                      </p:stCondLst>
                      <p:childTnLst>
                        <p:par>
                          <p:cTn id="119" fill="hold">
                            <p:stCondLst>
                              <p:cond delay="0"/>
                            </p:stCondLst>
                            <p:childTnLst>
                              <p:par>
                                <p:cTn id="120" presetID="12" presetClass="entr" presetSubtype="4" fill="hold" grpId="0" nodeType="clickEffect">
                                  <p:stCondLst>
                                    <p:cond delay="0"/>
                                  </p:stCondLst>
                                  <p:childTnLst>
                                    <p:set>
                                      <p:cBhvr>
                                        <p:cTn id="121" dur="1" fill="hold">
                                          <p:stCondLst>
                                            <p:cond delay="0"/>
                                          </p:stCondLst>
                                        </p:cTn>
                                        <p:tgtEl>
                                          <p:spTgt spid="50"/>
                                        </p:tgtEl>
                                        <p:attrNameLst>
                                          <p:attrName>style.visibility</p:attrName>
                                        </p:attrNameLst>
                                      </p:cBhvr>
                                      <p:to>
                                        <p:strVal val="visible"/>
                                      </p:to>
                                    </p:set>
                                    <p:animEffect transition="in" filter="slide(fromBottom)">
                                      <p:cBhvr>
                                        <p:cTn id="122" dur="500"/>
                                        <p:tgtEl>
                                          <p:spTgt spid="50"/>
                                        </p:tgtEl>
                                      </p:cBhvr>
                                    </p:animEffect>
                                  </p:childTnLst>
                                </p:cTn>
                              </p:par>
                            </p:childTnLst>
                          </p:cTn>
                        </p:par>
                      </p:childTnLst>
                    </p:cTn>
                  </p:par>
                  <p:par>
                    <p:cTn id="123" fill="hold">
                      <p:stCondLst>
                        <p:cond delay="indefinite"/>
                      </p:stCondLst>
                      <p:childTnLst>
                        <p:par>
                          <p:cTn id="124" fill="hold">
                            <p:stCondLst>
                              <p:cond delay="0"/>
                            </p:stCondLst>
                            <p:childTnLst>
                              <p:par>
                                <p:cTn id="125" presetID="12" presetClass="entr" presetSubtype="4" fill="hold" grpId="0" nodeType="clickEffect">
                                  <p:stCondLst>
                                    <p:cond delay="0"/>
                                  </p:stCondLst>
                                  <p:childTnLst>
                                    <p:set>
                                      <p:cBhvr>
                                        <p:cTn id="126" dur="1" fill="hold">
                                          <p:stCondLst>
                                            <p:cond delay="0"/>
                                          </p:stCondLst>
                                        </p:cTn>
                                        <p:tgtEl>
                                          <p:spTgt spid="60"/>
                                        </p:tgtEl>
                                        <p:attrNameLst>
                                          <p:attrName>style.visibility</p:attrName>
                                        </p:attrNameLst>
                                      </p:cBhvr>
                                      <p:to>
                                        <p:strVal val="visible"/>
                                      </p:to>
                                    </p:set>
                                    <p:animEffect transition="in" filter="slide(fromBottom)">
                                      <p:cBhvr>
                                        <p:cTn id="127" dur="500"/>
                                        <p:tgtEl>
                                          <p:spTgt spid="60"/>
                                        </p:tgtEl>
                                      </p:cBhvr>
                                    </p:animEffect>
                                  </p:childTnLst>
                                </p:cTn>
                              </p:par>
                            </p:childTnLst>
                          </p:cTn>
                        </p:par>
                      </p:childTnLst>
                    </p:cTn>
                  </p:par>
                  <p:par>
                    <p:cTn id="128" fill="hold">
                      <p:stCondLst>
                        <p:cond delay="indefinite"/>
                      </p:stCondLst>
                      <p:childTnLst>
                        <p:par>
                          <p:cTn id="129" fill="hold">
                            <p:stCondLst>
                              <p:cond delay="0"/>
                            </p:stCondLst>
                            <p:childTnLst>
                              <p:par>
                                <p:cTn id="130" presetID="12" presetClass="entr" presetSubtype="4" fill="hold" grpId="0" nodeType="clickEffect">
                                  <p:stCondLst>
                                    <p:cond delay="0"/>
                                  </p:stCondLst>
                                  <p:childTnLst>
                                    <p:set>
                                      <p:cBhvr>
                                        <p:cTn id="131" dur="1" fill="hold">
                                          <p:stCondLst>
                                            <p:cond delay="0"/>
                                          </p:stCondLst>
                                        </p:cTn>
                                        <p:tgtEl>
                                          <p:spTgt spid="51"/>
                                        </p:tgtEl>
                                        <p:attrNameLst>
                                          <p:attrName>style.visibility</p:attrName>
                                        </p:attrNameLst>
                                      </p:cBhvr>
                                      <p:to>
                                        <p:strVal val="visible"/>
                                      </p:to>
                                    </p:set>
                                    <p:animEffect transition="in" filter="slide(fromBottom)">
                                      <p:cBhvr>
                                        <p:cTn id="132" dur="500"/>
                                        <p:tgtEl>
                                          <p:spTgt spid="51"/>
                                        </p:tgtEl>
                                      </p:cBhvr>
                                    </p:animEffect>
                                  </p:childTnLst>
                                </p:cTn>
                              </p:par>
                            </p:childTnLst>
                          </p:cTn>
                        </p:par>
                      </p:childTnLst>
                    </p:cTn>
                  </p:par>
                  <p:par>
                    <p:cTn id="133" fill="hold">
                      <p:stCondLst>
                        <p:cond delay="indefinite"/>
                      </p:stCondLst>
                      <p:childTnLst>
                        <p:par>
                          <p:cTn id="134" fill="hold">
                            <p:stCondLst>
                              <p:cond delay="0"/>
                            </p:stCondLst>
                            <p:childTnLst>
                              <p:par>
                                <p:cTn id="135" presetID="16" presetClass="entr" presetSubtype="42" fill="hold" grpId="0" nodeType="clickEffect">
                                  <p:stCondLst>
                                    <p:cond delay="0"/>
                                  </p:stCondLst>
                                  <p:childTnLst>
                                    <p:set>
                                      <p:cBhvr>
                                        <p:cTn id="136" dur="1" fill="hold">
                                          <p:stCondLst>
                                            <p:cond delay="0"/>
                                          </p:stCondLst>
                                        </p:cTn>
                                        <p:tgtEl>
                                          <p:spTgt spid="52"/>
                                        </p:tgtEl>
                                        <p:attrNameLst>
                                          <p:attrName>style.visibility</p:attrName>
                                        </p:attrNameLst>
                                      </p:cBhvr>
                                      <p:to>
                                        <p:strVal val="visible"/>
                                      </p:to>
                                    </p:set>
                                    <p:animEffect transition="in" filter="barn(outHorizontal)">
                                      <p:cBhvr>
                                        <p:cTn id="137" dur="500"/>
                                        <p:tgtEl>
                                          <p:spTgt spid="52"/>
                                        </p:tgtEl>
                                      </p:cBhvr>
                                    </p:animEffect>
                                  </p:childTnLst>
                                </p:cTn>
                              </p:par>
                            </p:childTnLst>
                          </p:cTn>
                        </p:par>
                      </p:childTnLst>
                    </p:cTn>
                  </p:par>
                  <p:par>
                    <p:cTn id="138" fill="hold">
                      <p:stCondLst>
                        <p:cond delay="indefinite"/>
                      </p:stCondLst>
                      <p:childTnLst>
                        <p:par>
                          <p:cTn id="139" fill="hold">
                            <p:stCondLst>
                              <p:cond delay="0"/>
                            </p:stCondLst>
                            <p:childTnLst>
                              <p:par>
                                <p:cTn id="140" presetID="12" presetClass="entr" presetSubtype="4" fill="hold" grpId="0" nodeType="clickEffect">
                                  <p:stCondLst>
                                    <p:cond delay="0"/>
                                  </p:stCondLst>
                                  <p:childTnLst>
                                    <p:set>
                                      <p:cBhvr>
                                        <p:cTn id="141" dur="1" fill="hold">
                                          <p:stCondLst>
                                            <p:cond delay="0"/>
                                          </p:stCondLst>
                                        </p:cTn>
                                        <p:tgtEl>
                                          <p:spTgt spid="53"/>
                                        </p:tgtEl>
                                        <p:attrNameLst>
                                          <p:attrName>style.visibility</p:attrName>
                                        </p:attrNameLst>
                                      </p:cBhvr>
                                      <p:to>
                                        <p:strVal val="visible"/>
                                      </p:to>
                                    </p:set>
                                    <p:animEffect transition="in" filter="slide(fromBottom)">
                                      <p:cBhvr>
                                        <p:cTn id="142" dur="500"/>
                                        <p:tgtEl>
                                          <p:spTgt spid="53"/>
                                        </p:tgtEl>
                                      </p:cBhvr>
                                    </p:animEffect>
                                  </p:childTnLst>
                                </p:cTn>
                              </p:par>
                            </p:childTnLst>
                          </p:cTn>
                        </p:par>
                      </p:childTnLst>
                    </p:cTn>
                  </p:par>
                  <p:par>
                    <p:cTn id="143" fill="hold">
                      <p:stCondLst>
                        <p:cond delay="indefinite"/>
                      </p:stCondLst>
                      <p:childTnLst>
                        <p:par>
                          <p:cTn id="144" fill="hold">
                            <p:stCondLst>
                              <p:cond delay="0"/>
                            </p:stCondLst>
                            <p:childTnLst>
                              <p:par>
                                <p:cTn id="145" presetID="12" presetClass="entr" presetSubtype="4" fill="hold" grpId="0" nodeType="clickEffect">
                                  <p:stCondLst>
                                    <p:cond delay="0"/>
                                  </p:stCondLst>
                                  <p:childTnLst>
                                    <p:set>
                                      <p:cBhvr>
                                        <p:cTn id="146" dur="1" fill="hold">
                                          <p:stCondLst>
                                            <p:cond delay="0"/>
                                          </p:stCondLst>
                                        </p:cTn>
                                        <p:tgtEl>
                                          <p:spTgt spid="61"/>
                                        </p:tgtEl>
                                        <p:attrNameLst>
                                          <p:attrName>style.visibility</p:attrName>
                                        </p:attrNameLst>
                                      </p:cBhvr>
                                      <p:to>
                                        <p:strVal val="visible"/>
                                      </p:to>
                                    </p:set>
                                    <p:animEffect transition="in" filter="slide(fromBottom)">
                                      <p:cBhvr>
                                        <p:cTn id="147" dur="500"/>
                                        <p:tgtEl>
                                          <p:spTgt spid="61"/>
                                        </p:tgtEl>
                                      </p:cBhvr>
                                    </p:animEffect>
                                  </p:childTnLst>
                                </p:cTn>
                              </p:par>
                            </p:childTnLst>
                          </p:cTn>
                        </p:par>
                      </p:childTnLst>
                    </p:cTn>
                  </p:par>
                  <p:par>
                    <p:cTn id="148" fill="hold">
                      <p:stCondLst>
                        <p:cond delay="indefinite"/>
                      </p:stCondLst>
                      <p:childTnLst>
                        <p:par>
                          <p:cTn id="149" fill="hold">
                            <p:stCondLst>
                              <p:cond delay="0"/>
                            </p:stCondLst>
                            <p:childTnLst>
                              <p:par>
                                <p:cTn id="150" presetID="18" presetClass="entr" presetSubtype="3" fill="hold" grpId="0" nodeType="clickEffect">
                                  <p:stCondLst>
                                    <p:cond delay="0"/>
                                  </p:stCondLst>
                                  <p:childTnLst>
                                    <p:set>
                                      <p:cBhvr>
                                        <p:cTn id="151" dur="1" fill="hold">
                                          <p:stCondLst>
                                            <p:cond delay="0"/>
                                          </p:stCondLst>
                                        </p:cTn>
                                        <p:tgtEl>
                                          <p:spTgt spid="40"/>
                                        </p:tgtEl>
                                        <p:attrNameLst>
                                          <p:attrName>style.visibility</p:attrName>
                                        </p:attrNameLst>
                                      </p:cBhvr>
                                      <p:to>
                                        <p:strVal val="visible"/>
                                      </p:to>
                                    </p:set>
                                    <p:animEffect transition="in" filter="strips(upRight)">
                                      <p:cBhvr>
                                        <p:cTn id="152" dur="500"/>
                                        <p:tgtEl>
                                          <p:spTgt spid="40"/>
                                        </p:tgtEl>
                                      </p:cBhvr>
                                    </p:animEffect>
                                  </p:childTnLst>
                                </p:cTn>
                              </p:par>
                            </p:childTnLst>
                          </p:cTn>
                        </p:par>
                      </p:childTnLst>
                    </p:cTn>
                  </p:par>
                  <p:par>
                    <p:cTn id="153" fill="hold">
                      <p:stCondLst>
                        <p:cond delay="indefinite"/>
                      </p:stCondLst>
                      <p:childTnLst>
                        <p:par>
                          <p:cTn id="154" fill="hold">
                            <p:stCondLst>
                              <p:cond delay="0"/>
                            </p:stCondLst>
                            <p:childTnLst>
                              <p:par>
                                <p:cTn id="155" presetID="12" presetClass="entr" presetSubtype="4" fill="hold" grpId="0" nodeType="clickEffect">
                                  <p:stCondLst>
                                    <p:cond delay="0"/>
                                  </p:stCondLst>
                                  <p:childTnLst>
                                    <p:set>
                                      <p:cBhvr>
                                        <p:cTn id="156" dur="1" fill="hold">
                                          <p:stCondLst>
                                            <p:cond delay="0"/>
                                          </p:stCondLst>
                                        </p:cTn>
                                        <p:tgtEl>
                                          <p:spTgt spid="54"/>
                                        </p:tgtEl>
                                        <p:attrNameLst>
                                          <p:attrName>style.visibility</p:attrName>
                                        </p:attrNameLst>
                                      </p:cBhvr>
                                      <p:to>
                                        <p:strVal val="visible"/>
                                      </p:to>
                                    </p:set>
                                    <p:animEffect transition="in" filter="slide(fromBottom)">
                                      <p:cBhvr>
                                        <p:cTn id="157" dur="500"/>
                                        <p:tgtEl>
                                          <p:spTgt spid="54"/>
                                        </p:tgtEl>
                                      </p:cBhvr>
                                    </p:animEffect>
                                  </p:childTnLst>
                                </p:cTn>
                              </p:par>
                            </p:childTnLst>
                          </p:cTn>
                        </p:par>
                      </p:childTnLst>
                    </p:cTn>
                  </p:par>
                  <p:par>
                    <p:cTn id="158" fill="hold">
                      <p:stCondLst>
                        <p:cond delay="indefinite"/>
                      </p:stCondLst>
                      <p:childTnLst>
                        <p:par>
                          <p:cTn id="159" fill="hold">
                            <p:stCondLst>
                              <p:cond delay="0"/>
                            </p:stCondLst>
                            <p:childTnLst>
                              <p:par>
                                <p:cTn id="160" presetID="17" presetClass="entr" presetSubtype="8" fill="hold" grpId="0" nodeType="clickEffect">
                                  <p:stCondLst>
                                    <p:cond delay="0"/>
                                  </p:stCondLst>
                                  <p:childTnLst>
                                    <p:set>
                                      <p:cBhvr>
                                        <p:cTn id="161" dur="1" fill="hold">
                                          <p:stCondLst>
                                            <p:cond delay="0"/>
                                          </p:stCondLst>
                                        </p:cTn>
                                        <p:tgtEl>
                                          <p:spTgt spid="55"/>
                                        </p:tgtEl>
                                        <p:attrNameLst>
                                          <p:attrName>style.visibility</p:attrName>
                                        </p:attrNameLst>
                                      </p:cBhvr>
                                      <p:to>
                                        <p:strVal val="visible"/>
                                      </p:to>
                                    </p:set>
                                    <p:anim calcmode="lin" valueType="num">
                                      <p:cBhvr>
                                        <p:cTn id="162" dur="500" fill="hold"/>
                                        <p:tgtEl>
                                          <p:spTgt spid="55"/>
                                        </p:tgtEl>
                                        <p:attrNameLst>
                                          <p:attrName>ppt_x</p:attrName>
                                        </p:attrNameLst>
                                      </p:cBhvr>
                                      <p:tavLst>
                                        <p:tav tm="0">
                                          <p:val>
                                            <p:strVal val="#ppt_x-#ppt_w/2"/>
                                          </p:val>
                                        </p:tav>
                                        <p:tav tm="100000">
                                          <p:val>
                                            <p:strVal val="#ppt_x"/>
                                          </p:val>
                                        </p:tav>
                                      </p:tavLst>
                                    </p:anim>
                                    <p:anim calcmode="lin" valueType="num">
                                      <p:cBhvr>
                                        <p:cTn id="163" dur="500" fill="hold"/>
                                        <p:tgtEl>
                                          <p:spTgt spid="55"/>
                                        </p:tgtEl>
                                        <p:attrNameLst>
                                          <p:attrName>ppt_y</p:attrName>
                                        </p:attrNameLst>
                                      </p:cBhvr>
                                      <p:tavLst>
                                        <p:tav tm="0">
                                          <p:val>
                                            <p:strVal val="#ppt_y"/>
                                          </p:val>
                                        </p:tav>
                                        <p:tav tm="100000">
                                          <p:val>
                                            <p:strVal val="#ppt_y"/>
                                          </p:val>
                                        </p:tav>
                                      </p:tavLst>
                                    </p:anim>
                                    <p:anim calcmode="lin" valueType="num">
                                      <p:cBhvr>
                                        <p:cTn id="164" dur="500" fill="hold"/>
                                        <p:tgtEl>
                                          <p:spTgt spid="55"/>
                                        </p:tgtEl>
                                        <p:attrNameLst>
                                          <p:attrName>ppt_w</p:attrName>
                                        </p:attrNameLst>
                                      </p:cBhvr>
                                      <p:tavLst>
                                        <p:tav tm="0">
                                          <p:val>
                                            <p:fltVal val="0"/>
                                          </p:val>
                                        </p:tav>
                                        <p:tav tm="100000">
                                          <p:val>
                                            <p:strVal val="#ppt_w"/>
                                          </p:val>
                                        </p:tav>
                                      </p:tavLst>
                                    </p:anim>
                                    <p:anim calcmode="lin" valueType="num">
                                      <p:cBhvr>
                                        <p:cTn id="165" dur="500" fill="hold"/>
                                        <p:tgtEl>
                                          <p:spTgt spid="5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uild="p" autoUpdateAnimBg="0"/>
      <p:bldP spid="38" grpId="0" animBg="1"/>
      <p:bldP spid="39" grpId="0" animBg="1"/>
      <p:bldP spid="40" grpId="0" animBg="1"/>
      <p:bldP spid="41" grpId="0" autoUpdateAnimBg="0"/>
      <p:bldP spid="42" grpId="0" autoUpdateAnimBg="0"/>
      <p:bldP spid="43" grpId="0" autoUpdateAnimBg="0"/>
      <p:bldP spid="44" grpId="0" animBg="1"/>
      <p:bldP spid="45" grpId="0" autoUpdateAnimBg="0"/>
      <p:bldP spid="46" grpId="0" autoUpdateAnimBg="0"/>
      <p:bldP spid="47" grpId="0" autoUpdateAnimBg="0"/>
      <p:bldP spid="48" grpId="0" animBg="1"/>
      <p:bldP spid="49" grpId="0" autoUpdateAnimBg="0"/>
      <p:bldP spid="50" grpId="0" autoUpdateAnimBg="0"/>
      <p:bldP spid="51" grpId="0" autoUpdateAnimBg="0"/>
      <p:bldP spid="52" grpId="0" animBg="1"/>
      <p:bldP spid="53" grpId="0" autoUpdateAnimBg="0"/>
      <p:bldP spid="54" grpId="0" autoUpdateAnimBg="0"/>
      <p:bldP spid="55" grpId="0" animBg="1"/>
      <p:bldP spid="56" grpId="0" autoUpdateAnimBg="0"/>
      <p:bldP spid="57" grpId="0" autoUpdateAnimBg="0"/>
      <p:bldP spid="58" grpId="0" autoUpdateAnimBg="0"/>
      <p:bldP spid="59" grpId="0" autoUpdateAnimBg="0"/>
      <p:bldP spid="60" grpId="0" autoUpdateAnimBg="0"/>
      <p:bldP spid="61"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文本占位符 5"/>
          <p:cNvSpPr>
            <a:spLocks noGrp="1"/>
          </p:cNvSpPr>
          <p:nvPr>
            <p:ph type="body" idx="1"/>
          </p:nvPr>
        </p:nvSpPr>
        <p:spPr/>
        <p:txBody>
          <a:bodyPr>
            <a:normAutofit/>
          </a:bodyPr>
          <a:lstStyle/>
          <a:p>
            <a:r>
              <a:rPr lang="zh-CN" altLang="en-US" dirty="0"/>
              <a:t>语义属性</a:t>
            </a:r>
          </a:p>
          <a:p>
            <a:pPr lvl="1"/>
            <a:r>
              <a:rPr lang="en-US" altLang="zh-CN" dirty="0"/>
              <a:t>id.name : id </a:t>
            </a:r>
            <a:r>
              <a:rPr lang="zh-CN" altLang="en-US" dirty="0"/>
              <a:t>的词法名字（符号表中的名字）    </a:t>
            </a:r>
          </a:p>
          <a:p>
            <a:pPr lvl="1"/>
            <a:r>
              <a:rPr lang="en-US" altLang="zh-CN" dirty="0" err="1"/>
              <a:t>T.type</a:t>
            </a:r>
            <a:r>
              <a:rPr lang="en-US" altLang="zh-CN" dirty="0"/>
              <a:t> :   </a:t>
            </a:r>
            <a:r>
              <a:rPr lang="zh-CN" altLang="en-US" dirty="0"/>
              <a:t>类型属性   （综合属性）</a:t>
            </a:r>
          </a:p>
          <a:p>
            <a:pPr lvl="1"/>
            <a:r>
              <a:rPr lang="en-US" altLang="zh-CN" dirty="0" err="1"/>
              <a:t>T.width</a:t>
            </a:r>
            <a:r>
              <a:rPr lang="zh-CN" altLang="en-US" dirty="0"/>
              <a:t>，</a:t>
            </a:r>
            <a:r>
              <a:rPr lang="en-US" altLang="zh-CN" dirty="0" err="1"/>
              <a:t>V.width</a:t>
            </a:r>
            <a:r>
              <a:rPr lang="en-US" altLang="zh-CN" dirty="0"/>
              <a:t> : </a:t>
            </a:r>
            <a:r>
              <a:rPr lang="zh-CN" altLang="en-US" dirty="0"/>
              <a:t>数据宽度（字节数）</a:t>
            </a:r>
          </a:p>
          <a:p>
            <a:pPr lvl="1"/>
            <a:r>
              <a:rPr lang="en-US" altLang="zh-CN" dirty="0" err="1"/>
              <a:t>L.offset</a:t>
            </a:r>
            <a:r>
              <a:rPr lang="en-US" altLang="zh-CN" dirty="0"/>
              <a:t> :  </a:t>
            </a:r>
            <a:r>
              <a:rPr lang="zh-CN" altLang="en-US" dirty="0"/>
              <a:t>列表中第一个变量的偏移地址 </a:t>
            </a:r>
          </a:p>
          <a:p>
            <a:pPr lvl="1"/>
            <a:r>
              <a:rPr lang="en-US" altLang="zh-CN" dirty="0" err="1"/>
              <a:t>L.type</a:t>
            </a:r>
            <a:r>
              <a:rPr lang="en-US" altLang="zh-CN" dirty="0"/>
              <a:t> :    </a:t>
            </a:r>
            <a:r>
              <a:rPr lang="zh-CN" altLang="en-US" dirty="0"/>
              <a:t>变量列表被申明的类型 （继承属性）</a:t>
            </a:r>
          </a:p>
          <a:p>
            <a:pPr lvl="1"/>
            <a:r>
              <a:rPr lang="en-US" altLang="zh-CN" dirty="0" err="1"/>
              <a:t>L.num</a:t>
            </a:r>
            <a:r>
              <a:rPr lang="en-US" altLang="zh-CN" dirty="0"/>
              <a:t> :    </a:t>
            </a:r>
            <a:r>
              <a:rPr lang="zh-CN" altLang="en-US" dirty="0"/>
              <a:t>变量列表中变量的个数  </a:t>
            </a:r>
          </a:p>
          <a:p>
            <a:r>
              <a:rPr lang="zh-CN" altLang="en-US" dirty="0"/>
              <a:t>语义函数</a:t>
            </a:r>
            <a:r>
              <a:rPr lang="en-US" altLang="zh-CN" dirty="0"/>
              <a:t>/</a:t>
            </a:r>
            <a:r>
              <a:rPr lang="zh-CN" altLang="en-US" dirty="0"/>
              <a:t>过程</a:t>
            </a:r>
          </a:p>
          <a:p>
            <a:pPr lvl="1"/>
            <a:r>
              <a:rPr lang="en-US" altLang="zh-CN" dirty="0"/>
              <a:t>enter (id.name, t, o) </a:t>
            </a:r>
            <a:r>
              <a:rPr lang="zh-CN" altLang="en-US" dirty="0"/>
              <a:t>：将符号表中 </a:t>
            </a:r>
            <a:r>
              <a:rPr lang="en-US" altLang="zh-CN" dirty="0"/>
              <a:t>id.name </a:t>
            </a:r>
            <a:r>
              <a:rPr lang="zh-CN" altLang="en-US" dirty="0"/>
              <a:t>所对应表 项的 </a:t>
            </a:r>
            <a:r>
              <a:rPr lang="en-US" altLang="zh-CN" dirty="0"/>
              <a:t>type </a:t>
            </a:r>
            <a:r>
              <a:rPr lang="zh-CN" altLang="en-US" dirty="0"/>
              <a:t>域置为 </a:t>
            </a:r>
            <a:r>
              <a:rPr lang="en-US" altLang="zh-CN" dirty="0"/>
              <a:t>t</a:t>
            </a:r>
            <a:r>
              <a:rPr lang="zh-CN" altLang="en-US" dirty="0"/>
              <a:t>，</a:t>
            </a:r>
            <a:r>
              <a:rPr lang="en-US" altLang="zh-CN" dirty="0"/>
              <a:t>offset </a:t>
            </a:r>
            <a:r>
              <a:rPr lang="zh-CN" altLang="en-US" dirty="0"/>
              <a:t>域置为 </a:t>
            </a:r>
            <a:r>
              <a:rPr lang="en-US" altLang="zh-CN" dirty="0"/>
              <a:t>o</a:t>
            </a:r>
          </a:p>
          <a:p>
            <a:endParaRPr lang="zh-CN" altLang="en-US" dirty="0"/>
          </a:p>
        </p:txBody>
      </p:sp>
      <p:sp>
        <p:nvSpPr>
          <p:cNvPr id="3" name="标题 2"/>
          <p:cNvSpPr>
            <a:spLocks noGrp="1"/>
          </p:cNvSpPr>
          <p:nvPr>
            <p:ph type="title"/>
          </p:nvPr>
        </p:nvSpPr>
        <p:spPr/>
        <p:txBody>
          <a:bodyPr/>
          <a:lstStyle/>
          <a:p>
            <a:r>
              <a:rPr lang="zh-CN" altLang="en-US" dirty="0"/>
              <a:t>四、中间代码 生成                 </a:t>
            </a:r>
            <a:r>
              <a:rPr lang="zh-CN" altLang="en-US" dirty="0">
                <a:solidFill>
                  <a:srgbClr val="FF0000"/>
                </a:solidFill>
              </a:rPr>
              <a:t>声明语句</a:t>
            </a:r>
          </a:p>
        </p:txBody>
      </p:sp>
      <p:sp>
        <p:nvSpPr>
          <p:cNvPr id="2" name="灯片编号占位符 1">
            <a:extLst>
              <a:ext uri="{FF2B5EF4-FFF2-40B4-BE49-F238E27FC236}">
                <a16:creationId xmlns:a16="http://schemas.microsoft.com/office/drawing/2014/main" id="{DEEE4EF8-C576-4F07-9CB2-7EA91F3E3DEA}"/>
              </a:ext>
            </a:extLst>
          </p:cNvPr>
          <p:cNvSpPr>
            <a:spLocks noGrp="1"/>
          </p:cNvSpPr>
          <p:nvPr>
            <p:ph type="sldNum" sz="quarter" idx="4"/>
          </p:nvPr>
        </p:nvSpPr>
        <p:spPr/>
        <p:txBody>
          <a:bodyPr/>
          <a:lstStyle/>
          <a:p>
            <a:fld id="{565CE74E-AB26-4998-AD42-012C4C1AD076}" type="slidenum">
              <a:rPr lang="zh-CN" altLang="en-US" smtClean="0"/>
              <a:pPr/>
              <a:t>37</a:t>
            </a:fld>
            <a:endParaRPr lang="zh-CN" altLang="en-US"/>
          </a:p>
        </p:txBody>
      </p:sp>
    </p:spTree>
    <p:extLst>
      <p:ext uri="{BB962C8B-B14F-4D97-AF65-F5344CB8AC3E}">
        <p14:creationId xmlns:p14="http://schemas.microsoft.com/office/powerpoint/2010/main" val="41628999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1256" name="Rectangle 8"/>
          <p:cNvSpPr>
            <a:spLocks noGrp="1" noChangeArrowheads="1"/>
          </p:cNvSpPr>
          <p:nvPr>
            <p:ph type="body" idx="1"/>
          </p:nvPr>
        </p:nvSpPr>
        <p:spPr>
          <a:xfrm>
            <a:off x="381000" y="647700"/>
            <a:ext cx="4191000" cy="5562600"/>
          </a:xfrm>
          <a:noFill/>
          <a:ln/>
        </p:spPr>
        <p:txBody>
          <a:bodyPr lIns="92075" tIns="46038" rIns="92075" bIns="46038"/>
          <a:lstStyle/>
          <a:p>
            <a:pPr marL="609600" indent="-609600">
              <a:buClr>
                <a:srgbClr val="0000FF"/>
              </a:buClr>
              <a:buFontTx/>
              <a:buNone/>
            </a:pPr>
            <a:r>
              <a:rPr lang="en-US" altLang="zh-CN" sz="2800" b="1" dirty="0">
                <a:solidFill>
                  <a:srgbClr val="0000FF"/>
                </a:solidFill>
                <a:latin typeface="宋体" charset="-122"/>
              </a:rPr>
              <a:t>(1)</a:t>
            </a:r>
            <a:r>
              <a:rPr lang="en-US" altLang="zh-CN" sz="2800" b="1" dirty="0">
                <a:latin typeface="宋体" charset="-122"/>
              </a:rPr>
              <a:t>P→D</a:t>
            </a:r>
          </a:p>
          <a:p>
            <a:pPr marL="609600" indent="-609600">
              <a:spcBef>
                <a:spcPct val="10000"/>
              </a:spcBef>
              <a:buClr>
                <a:srgbClr val="0000FF"/>
              </a:buClr>
              <a:buFontTx/>
              <a:buNone/>
            </a:pPr>
            <a:r>
              <a:rPr lang="en-US" altLang="zh-CN" sz="2800" b="1" dirty="0">
                <a:solidFill>
                  <a:srgbClr val="0000FF"/>
                </a:solidFill>
                <a:latin typeface="宋体" charset="-122"/>
              </a:rPr>
              <a:t>(2)</a:t>
            </a:r>
            <a:r>
              <a:rPr lang="en-US" altLang="zh-CN" sz="2800" b="1" dirty="0">
                <a:latin typeface="宋体" charset="-122"/>
              </a:rPr>
              <a:t>D→D;D</a:t>
            </a:r>
          </a:p>
          <a:p>
            <a:pPr marL="609600" indent="-609600">
              <a:spcBef>
                <a:spcPct val="0"/>
              </a:spcBef>
              <a:buClr>
                <a:srgbClr val="0000FF"/>
              </a:buClr>
              <a:buFontTx/>
              <a:buNone/>
            </a:pPr>
            <a:r>
              <a:rPr lang="en-US" altLang="zh-CN" sz="2800" b="1" dirty="0">
                <a:solidFill>
                  <a:srgbClr val="0000FF"/>
                </a:solidFill>
                <a:latin typeface="宋体" charset="-122"/>
              </a:rPr>
              <a:t>(3)</a:t>
            </a:r>
            <a:r>
              <a:rPr lang="en-US" altLang="zh-CN" sz="2800" b="1" dirty="0" err="1">
                <a:latin typeface="宋体" charset="-122"/>
              </a:rPr>
              <a:t>D→id:T</a:t>
            </a:r>
            <a:endParaRPr lang="en-US" altLang="zh-CN" sz="2800" b="1" dirty="0">
              <a:latin typeface="宋体" charset="-122"/>
            </a:endParaRPr>
          </a:p>
          <a:p>
            <a:pPr marL="609600" indent="-609600">
              <a:buClr>
                <a:srgbClr val="0000FF"/>
              </a:buClr>
              <a:buFontTx/>
              <a:buNone/>
            </a:pPr>
            <a:endParaRPr lang="en-US" altLang="zh-CN" sz="2800" b="1" dirty="0">
              <a:latin typeface="宋体" charset="-122"/>
            </a:endParaRPr>
          </a:p>
          <a:p>
            <a:pPr marL="609600" indent="-609600">
              <a:spcBef>
                <a:spcPct val="50000"/>
              </a:spcBef>
              <a:buClr>
                <a:srgbClr val="0000FF"/>
              </a:buClr>
              <a:buFontTx/>
              <a:buNone/>
            </a:pPr>
            <a:r>
              <a:rPr lang="en-US" altLang="zh-CN" sz="2800" b="1" dirty="0">
                <a:solidFill>
                  <a:srgbClr val="0000FF"/>
                </a:solidFill>
                <a:latin typeface="宋体" charset="-122"/>
              </a:rPr>
              <a:t>(4)</a:t>
            </a:r>
            <a:r>
              <a:rPr lang="en-US" altLang="zh-CN" sz="2800" b="1" dirty="0" err="1">
                <a:latin typeface="宋体" charset="-122"/>
              </a:rPr>
              <a:t>T→integer</a:t>
            </a:r>
            <a:endParaRPr lang="en-US" altLang="zh-CN" sz="2800" b="1" dirty="0">
              <a:latin typeface="宋体" charset="-122"/>
            </a:endParaRPr>
          </a:p>
          <a:p>
            <a:pPr marL="609600" indent="-609600">
              <a:buClr>
                <a:srgbClr val="0000FF"/>
              </a:buClr>
              <a:buFontTx/>
              <a:buNone/>
            </a:pPr>
            <a:r>
              <a:rPr lang="en-US" altLang="zh-CN" sz="2800" b="1" dirty="0">
                <a:solidFill>
                  <a:srgbClr val="0000FF"/>
                </a:solidFill>
                <a:latin typeface="宋体" charset="-122"/>
              </a:rPr>
              <a:t>(5)</a:t>
            </a:r>
            <a:r>
              <a:rPr lang="en-US" altLang="zh-CN" sz="2800" b="1" dirty="0" err="1">
                <a:latin typeface="宋体" charset="-122"/>
              </a:rPr>
              <a:t>T→real</a:t>
            </a:r>
            <a:endParaRPr lang="en-US" altLang="zh-CN" sz="2800" b="1" dirty="0">
              <a:latin typeface="宋体" charset="-122"/>
            </a:endParaRPr>
          </a:p>
          <a:p>
            <a:pPr marL="609600" indent="-609600">
              <a:spcBef>
                <a:spcPct val="0"/>
              </a:spcBef>
              <a:buClr>
                <a:srgbClr val="0000FF"/>
              </a:buClr>
              <a:buFontTx/>
              <a:buNone/>
            </a:pPr>
            <a:r>
              <a:rPr lang="en-US" altLang="zh-CN" sz="2800" b="1" dirty="0">
                <a:solidFill>
                  <a:srgbClr val="0000FF"/>
                </a:solidFill>
                <a:latin typeface="宋体" charset="-122"/>
              </a:rPr>
              <a:t>(6)</a:t>
            </a:r>
            <a:r>
              <a:rPr lang="en-US" altLang="zh-CN" sz="2800" b="1" dirty="0" err="1">
                <a:latin typeface="宋体" charset="-122"/>
              </a:rPr>
              <a:t>T→array</a:t>
            </a:r>
            <a:r>
              <a:rPr lang="en-US" altLang="zh-CN" sz="2800" b="1" dirty="0">
                <a:latin typeface="宋体" charset="-122"/>
              </a:rPr>
              <a:t>[</a:t>
            </a:r>
            <a:r>
              <a:rPr lang="en-US" altLang="zh-CN" sz="2800" b="1" dirty="0" err="1">
                <a:latin typeface="宋体" charset="-122"/>
              </a:rPr>
              <a:t>num</a:t>
            </a:r>
            <a:r>
              <a:rPr lang="en-US" altLang="zh-CN" sz="2800" b="1" dirty="0">
                <a:latin typeface="宋体" charset="-122"/>
              </a:rPr>
              <a:t>] of T1 </a:t>
            </a:r>
          </a:p>
          <a:p>
            <a:pPr marL="609600" indent="-609600">
              <a:buClr>
                <a:srgbClr val="0000FF"/>
              </a:buClr>
              <a:buFontTx/>
              <a:buNone/>
            </a:pPr>
            <a:endParaRPr lang="en-US" altLang="zh-CN" sz="2800" b="1" dirty="0">
              <a:latin typeface="宋体" charset="-122"/>
            </a:endParaRPr>
          </a:p>
          <a:p>
            <a:pPr marL="609600" indent="-609600">
              <a:spcBef>
                <a:spcPct val="60000"/>
              </a:spcBef>
              <a:buClr>
                <a:srgbClr val="0000FF"/>
              </a:buClr>
              <a:buFontTx/>
              <a:buNone/>
            </a:pPr>
            <a:r>
              <a:rPr lang="en-US" altLang="zh-CN" sz="2800" b="1" dirty="0">
                <a:solidFill>
                  <a:srgbClr val="0000FF"/>
                </a:solidFill>
                <a:latin typeface="宋体" charset="-122"/>
              </a:rPr>
              <a:t>(7)</a:t>
            </a:r>
            <a:r>
              <a:rPr lang="en-US" altLang="zh-CN" sz="2800" b="1" dirty="0">
                <a:latin typeface="宋体" charset="-122"/>
              </a:rPr>
              <a:t>T→↑T1</a:t>
            </a:r>
          </a:p>
        </p:txBody>
      </p:sp>
      <p:sp>
        <p:nvSpPr>
          <p:cNvPr id="181257" name="Rectangle 9"/>
          <p:cNvSpPr>
            <a:spLocks noChangeArrowheads="1"/>
          </p:cNvSpPr>
          <p:nvPr/>
        </p:nvSpPr>
        <p:spPr bwMode="auto">
          <a:xfrm>
            <a:off x="4724400" y="723900"/>
            <a:ext cx="411480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fontAlgn="base" hangingPunct="0">
              <a:lnSpc>
                <a:spcPct val="80000"/>
              </a:lnSpc>
              <a:spcBef>
                <a:spcPct val="20000"/>
              </a:spcBef>
              <a:spcAft>
                <a:spcPct val="0"/>
              </a:spcAft>
              <a:buClr>
                <a:srgbClr val="000000"/>
              </a:buClr>
              <a:buSzPct val="75000"/>
              <a:buFont typeface="Monotype Sorts" pitchFamily="2" charset="2"/>
              <a:buNone/>
            </a:pPr>
            <a:r>
              <a:rPr kumimoji="1" lang="zh-CN" altLang="en-US" sz="2800" b="1" dirty="0">
                <a:solidFill>
                  <a:srgbClr val="000000"/>
                </a:solidFill>
                <a:latin typeface="宋体" charset="-122"/>
              </a:rPr>
              <a:t>声明段</a:t>
            </a:r>
          </a:p>
          <a:p>
            <a:pPr eaLnBrk="0" fontAlgn="base" hangingPunct="0">
              <a:lnSpc>
                <a:spcPct val="80000"/>
              </a:lnSpc>
              <a:spcBef>
                <a:spcPct val="20000"/>
              </a:spcBef>
              <a:spcAft>
                <a:spcPct val="0"/>
              </a:spcAft>
              <a:buClr>
                <a:srgbClr val="000000"/>
              </a:buClr>
              <a:buSzPct val="75000"/>
              <a:buFont typeface="Monotype Sorts" pitchFamily="2" charset="2"/>
              <a:buNone/>
            </a:pPr>
            <a:r>
              <a:rPr kumimoji="1" lang="zh-CN" altLang="en-US" sz="2800" b="1" dirty="0">
                <a:solidFill>
                  <a:srgbClr val="000000"/>
                </a:solidFill>
                <a:latin typeface="宋体" charset="-122"/>
              </a:rPr>
              <a:t>声明语句序列</a:t>
            </a:r>
          </a:p>
          <a:p>
            <a:pPr eaLnBrk="0" fontAlgn="base" hangingPunct="0">
              <a:lnSpc>
                <a:spcPct val="80000"/>
              </a:lnSpc>
              <a:spcBef>
                <a:spcPct val="20000"/>
              </a:spcBef>
              <a:spcAft>
                <a:spcPct val="0"/>
              </a:spcAft>
              <a:buClr>
                <a:srgbClr val="000000"/>
              </a:buClr>
              <a:buSzPct val="75000"/>
              <a:buFont typeface="Monotype Sorts" pitchFamily="2" charset="2"/>
              <a:buNone/>
            </a:pPr>
            <a:r>
              <a:rPr kumimoji="1" lang="zh-CN" altLang="en-US" sz="2800" b="1" dirty="0">
                <a:solidFill>
                  <a:srgbClr val="000000"/>
                </a:solidFill>
                <a:latin typeface="宋体" charset="-122"/>
              </a:rPr>
              <a:t>声明变量 </a:t>
            </a:r>
            <a:r>
              <a:rPr kumimoji="1" lang="en-US" altLang="zh-CN" sz="2800" b="1" dirty="0">
                <a:solidFill>
                  <a:srgbClr val="000000"/>
                </a:solidFill>
                <a:latin typeface="宋体" charset="-122"/>
              </a:rPr>
              <a:t>id </a:t>
            </a:r>
            <a:r>
              <a:rPr kumimoji="1" lang="zh-CN" altLang="en-US" sz="2800" b="1" dirty="0">
                <a:solidFill>
                  <a:srgbClr val="000000"/>
                </a:solidFill>
                <a:latin typeface="宋体" charset="-122"/>
              </a:rPr>
              <a:t>类型为 </a:t>
            </a:r>
            <a:r>
              <a:rPr kumimoji="1" lang="en-US" altLang="zh-CN" sz="2800" b="1" dirty="0">
                <a:solidFill>
                  <a:srgbClr val="000000"/>
                </a:solidFill>
                <a:latin typeface="宋体" charset="-122"/>
              </a:rPr>
              <a:t>T</a:t>
            </a:r>
          </a:p>
          <a:p>
            <a:pPr eaLnBrk="0" fontAlgn="base" hangingPunct="0">
              <a:lnSpc>
                <a:spcPct val="80000"/>
              </a:lnSpc>
              <a:spcBef>
                <a:spcPct val="20000"/>
              </a:spcBef>
              <a:spcAft>
                <a:spcPct val="0"/>
              </a:spcAft>
              <a:buClr>
                <a:srgbClr val="000000"/>
              </a:buClr>
              <a:buSzPct val="75000"/>
              <a:buFont typeface="Monotype Sorts" pitchFamily="2" charset="2"/>
              <a:buNone/>
            </a:pPr>
            <a:endParaRPr kumimoji="1" lang="en-US" altLang="zh-CN" sz="2800" b="1" dirty="0">
              <a:solidFill>
                <a:srgbClr val="000000"/>
              </a:solidFill>
              <a:latin typeface="宋体" charset="-122"/>
            </a:endParaRPr>
          </a:p>
          <a:p>
            <a:pPr eaLnBrk="0" fontAlgn="base" hangingPunct="0">
              <a:lnSpc>
                <a:spcPct val="80000"/>
              </a:lnSpc>
              <a:spcBef>
                <a:spcPct val="20000"/>
              </a:spcBef>
              <a:spcAft>
                <a:spcPct val="0"/>
              </a:spcAft>
              <a:buClr>
                <a:srgbClr val="000000"/>
              </a:buClr>
              <a:buSzPct val="75000"/>
              <a:buFont typeface="Monotype Sorts" pitchFamily="2" charset="2"/>
              <a:buNone/>
            </a:pPr>
            <a:endParaRPr kumimoji="1" lang="en-US" altLang="zh-CN" sz="2800" b="1" dirty="0">
              <a:solidFill>
                <a:srgbClr val="000000"/>
              </a:solidFill>
              <a:latin typeface="宋体" charset="-122"/>
            </a:endParaRPr>
          </a:p>
          <a:p>
            <a:pPr eaLnBrk="0" fontAlgn="base" hangingPunct="0">
              <a:lnSpc>
                <a:spcPct val="80000"/>
              </a:lnSpc>
              <a:spcBef>
                <a:spcPct val="20000"/>
              </a:spcBef>
              <a:spcAft>
                <a:spcPct val="0"/>
              </a:spcAft>
              <a:buClr>
                <a:srgbClr val="000000"/>
              </a:buClr>
              <a:buSzPct val="75000"/>
              <a:buFont typeface="Monotype Sorts" pitchFamily="2" charset="2"/>
              <a:buNone/>
            </a:pPr>
            <a:endParaRPr kumimoji="1" lang="en-US" altLang="zh-CN" sz="2800" b="1" dirty="0">
              <a:solidFill>
                <a:srgbClr val="000000"/>
              </a:solidFill>
              <a:latin typeface="宋体" charset="-122"/>
            </a:endParaRPr>
          </a:p>
          <a:p>
            <a:pPr eaLnBrk="0" fontAlgn="base" hangingPunct="0">
              <a:lnSpc>
                <a:spcPct val="80000"/>
              </a:lnSpc>
              <a:spcBef>
                <a:spcPct val="20000"/>
              </a:spcBef>
              <a:spcAft>
                <a:spcPct val="0"/>
              </a:spcAft>
              <a:buClr>
                <a:srgbClr val="000000"/>
              </a:buClr>
              <a:buSzPct val="75000"/>
              <a:buFont typeface="Monotype Sorts" pitchFamily="2" charset="2"/>
              <a:buNone/>
            </a:pPr>
            <a:endParaRPr kumimoji="1" lang="en-US" altLang="zh-CN" sz="2800" b="1" dirty="0">
              <a:solidFill>
                <a:srgbClr val="000000"/>
              </a:solidFill>
              <a:latin typeface="宋体" charset="-122"/>
            </a:endParaRPr>
          </a:p>
          <a:p>
            <a:pPr eaLnBrk="0" fontAlgn="base" hangingPunct="0">
              <a:lnSpc>
                <a:spcPct val="80000"/>
              </a:lnSpc>
              <a:spcBef>
                <a:spcPct val="20000"/>
              </a:spcBef>
              <a:spcAft>
                <a:spcPct val="0"/>
              </a:spcAft>
              <a:buClr>
                <a:srgbClr val="000000"/>
              </a:buClr>
              <a:buSzPct val="75000"/>
              <a:buFont typeface="Monotype Sorts" pitchFamily="2" charset="2"/>
              <a:buNone/>
            </a:pPr>
            <a:r>
              <a:rPr kumimoji="1" lang="zh-CN" altLang="en-US" sz="2800" b="1" dirty="0">
                <a:solidFill>
                  <a:srgbClr val="000000"/>
                </a:solidFill>
                <a:latin typeface="宋体" charset="-122"/>
              </a:rPr>
              <a:t>数组</a:t>
            </a:r>
          </a:p>
          <a:p>
            <a:pPr eaLnBrk="0" fontAlgn="base" hangingPunct="0">
              <a:lnSpc>
                <a:spcPct val="80000"/>
              </a:lnSpc>
              <a:spcBef>
                <a:spcPct val="20000"/>
              </a:spcBef>
              <a:spcAft>
                <a:spcPct val="0"/>
              </a:spcAft>
              <a:buClr>
                <a:srgbClr val="000000"/>
              </a:buClr>
              <a:buSzPct val="75000"/>
              <a:buFont typeface="Monotype Sorts" pitchFamily="2" charset="2"/>
              <a:buNone/>
            </a:pPr>
            <a:endParaRPr kumimoji="1" lang="zh-CN" altLang="en-US" sz="2800" b="1" dirty="0">
              <a:solidFill>
                <a:srgbClr val="000000"/>
              </a:solidFill>
              <a:latin typeface="宋体" charset="-122"/>
            </a:endParaRPr>
          </a:p>
          <a:p>
            <a:pPr eaLnBrk="0" fontAlgn="base" hangingPunct="0">
              <a:lnSpc>
                <a:spcPct val="80000"/>
              </a:lnSpc>
              <a:spcBef>
                <a:spcPct val="20000"/>
              </a:spcBef>
              <a:spcAft>
                <a:spcPct val="0"/>
              </a:spcAft>
              <a:buClr>
                <a:srgbClr val="000000"/>
              </a:buClr>
              <a:buSzPct val="75000"/>
              <a:buFont typeface="Monotype Sorts" pitchFamily="2" charset="2"/>
              <a:buNone/>
            </a:pPr>
            <a:endParaRPr kumimoji="1" lang="zh-CN" altLang="en-US" sz="2800" b="1" dirty="0">
              <a:solidFill>
                <a:srgbClr val="000000"/>
              </a:solidFill>
              <a:latin typeface="宋体" charset="-122"/>
            </a:endParaRPr>
          </a:p>
          <a:p>
            <a:pPr eaLnBrk="0" fontAlgn="base" hangingPunct="0">
              <a:lnSpc>
                <a:spcPct val="80000"/>
              </a:lnSpc>
              <a:spcBef>
                <a:spcPct val="10000"/>
              </a:spcBef>
              <a:spcAft>
                <a:spcPct val="0"/>
              </a:spcAft>
              <a:buClr>
                <a:srgbClr val="000000"/>
              </a:buClr>
              <a:buSzPct val="75000"/>
              <a:buFont typeface="Monotype Sorts" pitchFamily="2" charset="2"/>
              <a:buNone/>
            </a:pPr>
            <a:r>
              <a:rPr kumimoji="1" lang="zh-CN" altLang="en-US" sz="2800" b="1" dirty="0">
                <a:solidFill>
                  <a:srgbClr val="000000"/>
                </a:solidFill>
                <a:latin typeface="宋体" charset="-122"/>
              </a:rPr>
              <a:t>指针          </a:t>
            </a:r>
          </a:p>
        </p:txBody>
      </p:sp>
      <p:sp>
        <p:nvSpPr>
          <p:cNvPr id="181258" name="Rectangle 10"/>
          <p:cNvSpPr>
            <a:spLocks noChangeArrowheads="1"/>
          </p:cNvSpPr>
          <p:nvPr/>
        </p:nvSpPr>
        <p:spPr bwMode="auto">
          <a:xfrm>
            <a:off x="1368675" y="770795"/>
            <a:ext cx="72390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800" b="1" dirty="0">
                <a:solidFill>
                  <a:srgbClr val="0000FF"/>
                </a:solidFill>
                <a:latin typeface="宋体" charset="-122"/>
              </a:rPr>
              <a:t>     {offset:=0}</a:t>
            </a:r>
          </a:p>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800" b="1" dirty="0">
                <a:solidFill>
                  <a:srgbClr val="0000FF"/>
                </a:solidFill>
                <a:latin typeface="宋体" charset="-122"/>
              </a:rPr>
              <a:t>     { } </a:t>
            </a:r>
          </a:p>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800" b="1" dirty="0">
                <a:solidFill>
                  <a:srgbClr val="0000FF"/>
                </a:solidFill>
                <a:latin typeface="宋体" charset="-122"/>
              </a:rPr>
              <a:t>     </a:t>
            </a:r>
          </a:p>
          <a:p>
            <a:pPr eaLnBrk="0" fontAlgn="base" hangingPunct="0">
              <a:lnSpc>
                <a:spcPct val="80000"/>
              </a:lnSpc>
              <a:spcBef>
                <a:spcPct val="10000"/>
              </a:spcBef>
              <a:spcAft>
                <a:spcPct val="0"/>
              </a:spcAft>
              <a:buClr>
                <a:srgbClr val="000000"/>
              </a:buClr>
              <a:buSzPct val="75000"/>
              <a:buFont typeface="Monotype Sorts" pitchFamily="2" charset="2"/>
              <a:buNone/>
            </a:pPr>
            <a:r>
              <a:rPr kumimoji="1" lang="en-US" altLang="zh-CN" sz="2800" b="1" dirty="0">
                <a:solidFill>
                  <a:srgbClr val="0000FF"/>
                </a:solidFill>
                <a:latin typeface="宋体" charset="-122"/>
              </a:rPr>
              <a:t>{ enter(</a:t>
            </a:r>
            <a:r>
              <a:rPr kumimoji="1" lang="en-US" altLang="zh-CN" sz="2800" b="1" dirty="0" err="1">
                <a:solidFill>
                  <a:srgbClr val="0000FF"/>
                </a:solidFill>
                <a:latin typeface="宋体" charset="-122"/>
              </a:rPr>
              <a:t>id.name,T.type,offset</a:t>
            </a:r>
            <a:r>
              <a:rPr kumimoji="1" lang="en-US" altLang="zh-CN" sz="2800" b="1" dirty="0">
                <a:solidFill>
                  <a:srgbClr val="0000FF"/>
                </a:solidFill>
                <a:latin typeface="宋体" charset="-122"/>
              </a:rPr>
              <a:t>);</a:t>
            </a:r>
          </a:p>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800" b="1" dirty="0">
                <a:solidFill>
                  <a:srgbClr val="0000FF"/>
                </a:solidFill>
                <a:latin typeface="宋体" charset="-122"/>
              </a:rPr>
              <a:t>  offset:=</a:t>
            </a:r>
            <a:r>
              <a:rPr kumimoji="1" lang="en-US" altLang="zh-CN" sz="2800" b="1" dirty="0" err="1">
                <a:solidFill>
                  <a:srgbClr val="0000FF"/>
                </a:solidFill>
                <a:latin typeface="宋体" charset="-122"/>
              </a:rPr>
              <a:t>offset+T.width</a:t>
            </a:r>
            <a:r>
              <a:rPr kumimoji="1" lang="en-US" altLang="zh-CN" sz="2800" b="1" dirty="0">
                <a:solidFill>
                  <a:srgbClr val="0000FF"/>
                </a:solidFill>
                <a:latin typeface="宋体" charset="-122"/>
              </a:rPr>
              <a:t> }</a:t>
            </a:r>
          </a:p>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800" b="1" dirty="0">
                <a:solidFill>
                  <a:srgbClr val="0000FF"/>
                </a:solidFill>
                <a:latin typeface="宋体" charset="-122"/>
              </a:rPr>
              <a:t>        { </a:t>
            </a:r>
            <a:r>
              <a:rPr kumimoji="1" lang="en-US" altLang="zh-CN" sz="2800" b="1" dirty="0" err="1">
                <a:solidFill>
                  <a:srgbClr val="0000FF"/>
                </a:solidFill>
                <a:latin typeface="宋体" charset="-122"/>
              </a:rPr>
              <a:t>T.type</a:t>
            </a:r>
            <a:r>
              <a:rPr kumimoji="1" lang="en-US" altLang="zh-CN" sz="2800" b="1" dirty="0">
                <a:solidFill>
                  <a:srgbClr val="0000FF"/>
                </a:solidFill>
                <a:latin typeface="宋体" charset="-122"/>
              </a:rPr>
              <a:t>:=</a:t>
            </a:r>
            <a:r>
              <a:rPr kumimoji="1" lang="en-US" altLang="zh-CN" sz="2800" b="1" dirty="0" err="1">
                <a:solidFill>
                  <a:srgbClr val="0000FF"/>
                </a:solidFill>
                <a:latin typeface="宋体" charset="-122"/>
              </a:rPr>
              <a:t>integer;T.width</a:t>
            </a:r>
            <a:r>
              <a:rPr kumimoji="1" lang="en-US" altLang="zh-CN" sz="2800" b="1" dirty="0">
                <a:solidFill>
                  <a:srgbClr val="0000FF"/>
                </a:solidFill>
                <a:latin typeface="宋体" charset="-122"/>
              </a:rPr>
              <a:t>:=4 }</a:t>
            </a:r>
          </a:p>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800" b="1" dirty="0">
                <a:solidFill>
                  <a:srgbClr val="0000FF"/>
                </a:solidFill>
                <a:latin typeface="宋体" charset="-122"/>
              </a:rPr>
              <a:t>        { </a:t>
            </a:r>
            <a:r>
              <a:rPr kumimoji="1" lang="en-US" altLang="zh-CN" sz="2800" b="1" dirty="0" err="1">
                <a:solidFill>
                  <a:srgbClr val="0000FF"/>
                </a:solidFill>
                <a:latin typeface="宋体" charset="-122"/>
              </a:rPr>
              <a:t>T.type</a:t>
            </a:r>
            <a:r>
              <a:rPr kumimoji="1" lang="en-US" altLang="zh-CN" sz="2800" b="1" dirty="0">
                <a:solidFill>
                  <a:srgbClr val="0000FF"/>
                </a:solidFill>
                <a:latin typeface="宋体" charset="-122"/>
              </a:rPr>
              <a:t>:=</a:t>
            </a:r>
            <a:r>
              <a:rPr kumimoji="1" lang="en-US" altLang="zh-CN" sz="2800" b="1" dirty="0" err="1">
                <a:solidFill>
                  <a:srgbClr val="0000FF"/>
                </a:solidFill>
                <a:latin typeface="宋体" charset="-122"/>
              </a:rPr>
              <a:t>real;T.width</a:t>
            </a:r>
            <a:r>
              <a:rPr kumimoji="1" lang="en-US" altLang="zh-CN" sz="2800" b="1" dirty="0">
                <a:solidFill>
                  <a:srgbClr val="0000FF"/>
                </a:solidFill>
                <a:latin typeface="宋体" charset="-122"/>
              </a:rPr>
              <a:t>:=8 }</a:t>
            </a:r>
          </a:p>
          <a:p>
            <a:pPr eaLnBrk="0" fontAlgn="base" hangingPunct="0">
              <a:lnSpc>
                <a:spcPct val="80000"/>
              </a:lnSpc>
              <a:spcBef>
                <a:spcPct val="20000"/>
              </a:spcBef>
              <a:spcAft>
                <a:spcPct val="0"/>
              </a:spcAft>
              <a:buClr>
                <a:srgbClr val="000000"/>
              </a:buClr>
              <a:buSzPct val="75000"/>
              <a:buFont typeface="Monotype Sorts" pitchFamily="2" charset="2"/>
              <a:buNone/>
            </a:pPr>
            <a:endParaRPr kumimoji="1" lang="en-US" altLang="zh-CN" sz="2800" b="1" dirty="0">
              <a:solidFill>
                <a:srgbClr val="0000FF"/>
              </a:solidFill>
              <a:latin typeface="宋体" charset="-122"/>
            </a:endParaRPr>
          </a:p>
          <a:p>
            <a:pPr eaLnBrk="0" fontAlgn="base" hangingPunct="0">
              <a:lnSpc>
                <a:spcPct val="80000"/>
              </a:lnSpc>
              <a:spcBef>
                <a:spcPct val="10000"/>
              </a:spcBef>
              <a:spcAft>
                <a:spcPct val="0"/>
              </a:spcAft>
              <a:buClr>
                <a:srgbClr val="000000"/>
              </a:buClr>
              <a:buSzPct val="75000"/>
              <a:buFont typeface="Monotype Sorts" pitchFamily="2" charset="2"/>
              <a:buNone/>
            </a:pPr>
            <a:r>
              <a:rPr kumimoji="1" lang="en-US" altLang="zh-CN" sz="2800" b="1" dirty="0">
                <a:solidFill>
                  <a:srgbClr val="0000FF"/>
                </a:solidFill>
                <a:latin typeface="宋体" charset="-122"/>
              </a:rPr>
              <a:t>{ </a:t>
            </a:r>
            <a:r>
              <a:rPr kumimoji="1" lang="en-US" altLang="zh-CN" sz="2800" b="1" dirty="0" err="1">
                <a:solidFill>
                  <a:srgbClr val="0000FF"/>
                </a:solidFill>
                <a:latin typeface="宋体" charset="-122"/>
              </a:rPr>
              <a:t>T.type</a:t>
            </a:r>
            <a:r>
              <a:rPr kumimoji="1" lang="en-US" altLang="zh-CN" sz="2800" b="1" dirty="0">
                <a:solidFill>
                  <a:srgbClr val="0000FF"/>
                </a:solidFill>
                <a:latin typeface="宋体" charset="-122"/>
              </a:rPr>
              <a:t>:=array(num.val,T</a:t>
            </a:r>
            <a:r>
              <a:rPr kumimoji="1" lang="en-US" altLang="zh-CN" sz="2800" b="1" baseline="-10000" dirty="0">
                <a:solidFill>
                  <a:srgbClr val="0000FF"/>
                </a:solidFill>
                <a:latin typeface="宋体" charset="-122"/>
              </a:rPr>
              <a:t>1</a:t>
            </a:r>
            <a:r>
              <a:rPr kumimoji="1" lang="en-US" altLang="zh-CN" sz="2800" b="1" dirty="0">
                <a:solidFill>
                  <a:srgbClr val="0000FF"/>
                </a:solidFill>
                <a:latin typeface="宋体" charset="-122"/>
              </a:rPr>
              <a:t>.type);</a:t>
            </a:r>
          </a:p>
          <a:p>
            <a:pPr eaLnBrk="0" fontAlgn="base" hangingPunct="0">
              <a:lnSpc>
                <a:spcPct val="80000"/>
              </a:lnSpc>
              <a:spcBef>
                <a:spcPct val="10000"/>
              </a:spcBef>
              <a:spcAft>
                <a:spcPct val="0"/>
              </a:spcAft>
              <a:buClr>
                <a:srgbClr val="000000"/>
              </a:buClr>
              <a:buSzPct val="75000"/>
              <a:buFont typeface="Monotype Sorts" pitchFamily="2" charset="2"/>
              <a:buNone/>
            </a:pPr>
            <a:r>
              <a:rPr kumimoji="1" lang="en-US" altLang="zh-CN" sz="2800" b="1" dirty="0">
                <a:solidFill>
                  <a:srgbClr val="0000FF"/>
                </a:solidFill>
                <a:latin typeface="宋体" charset="-122"/>
              </a:rPr>
              <a:t>  </a:t>
            </a:r>
            <a:r>
              <a:rPr kumimoji="1" lang="en-US" altLang="zh-CN" sz="2800" b="1" dirty="0" err="1">
                <a:solidFill>
                  <a:srgbClr val="0000FF"/>
                </a:solidFill>
                <a:latin typeface="宋体" charset="-122"/>
              </a:rPr>
              <a:t>T.width</a:t>
            </a:r>
            <a:r>
              <a:rPr kumimoji="1" lang="en-US" altLang="zh-CN" sz="2800" b="1" dirty="0">
                <a:solidFill>
                  <a:srgbClr val="0000FF"/>
                </a:solidFill>
                <a:latin typeface="宋体" charset="-122"/>
              </a:rPr>
              <a:t>:=</a:t>
            </a:r>
            <a:r>
              <a:rPr kumimoji="1" lang="en-US" altLang="zh-CN" sz="2800" b="1" dirty="0" err="1">
                <a:solidFill>
                  <a:srgbClr val="0000FF"/>
                </a:solidFill>
                <a:latin typeface="宋体" charset="-122"/>
              </a:rPr>
              <a:t>num.val</a:t>
            </a:r>
            <a:r>
              <a:rPr kumimoji="1" lang="en-US" altLang="zh-CN" sz="2800" b="1" dirty="0">
                <a:solidFill>
                  <a:srgbClr val="0000FF"/>
                </a:solidFill>
                <a:latin typeface="宋体" charset="-122"/>
              </a:rPr>
              <a:t>*T</a:t>
            </a:r>
            <a:r>
              <a:rPr kumimoji="1" lang="en-US" altLang="zh-CN" sz="2800" b="1" baseline="-10000" dirty="0">
                <a:solidFill>
                  <a:srgbClr val="0000FF"/>
                </a:solidFill>
                <a:latin typeface="宋体" charset="-122"/>
              </a:rPr>
              <a:t>1</a:t>
            </a:r>
            <a:r>
              <a:rPr kumimoji="1" lang="en-US" altLang="zh-CN" sz="2800" b="1" dirty="0">
                <a:solidFill>
                  <a:srgbClr val="0000FF"/>
                </a:solidFill>
                <a:latin typeface="宋体" charset="-122"/>
              </a:rPr>
              <a:t>.width }</a:t>
            </a:r>
          </a:p>
          <a:p>
            <a:pPr eaLnBrk="0" fontAlgn="base" hangingPunct="0">
              <a:lnSpc>
                <a:spcPct val="80000"/>
              </a:lnSpc>
              <a:spcBef>
                <a:spcPct val="20000"/>
              </a:spcBef>
              <a:spcAft>
                <a:spcPct val="0"/>
              </a:spcAft>
              <a:buClr>
                <a:srgbClr val="000000"/>
              </a:buClr>
              <a:buSzPct val="75000"/>
              <a:buFont typeface="Monotype Sorts" pitchFamily="2" charset="2"/>
              <a:buNone/>
            </a:pPr>
            <a:endParaRPr kumimoji="1" lang="en-US" altLang="zh-CN" sz="2800" b="1" dirty="0">
              <a:solidFill>
                <a:srgbClr val="0000FF"/>
              </a:solidFill>
              <a:latin typeface="宋体" charset="-122"/>
            </a:endParaRPr>
          </a:p>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800" b="1" dirty="0">
                <a:solidFill>
                  <a:srgbClr val="0000FF"/>
                </a:solidFill>
                <a:latin typeface="宋体" charset="-122"/>
              </a:rPr>
              <a:t>{ </a:t>
            </a:r>
            <a:r>
              <a:rPr kumimoji="1" lang="en-US" altLang="zh-CN" sz="2800" b="1" dirty="0" err="1">
                <a:solidFill>
                  <a:srgbClr val="0000FF"/>
                </a:solidFill>
                <a:latin typeface="宋体" charset="-122"/>
              </a:rPr>
              <a:t>T.type</a:t>
            </a:r>
            <a:r>
              <a:rPr kumimoji="1" lang="en-US" altLang="zh-CN" sz="2800" b="1" dirty="0">
                <a:solidFill>
                  <a:srgbClr val="0000FF"/>
                </a:solidFill>
                <a:latin typeface="宋体" charset="-122"/>
              </a:rPr>
              <a:t>:=pointer( T</a:t>
            </a:r>
            <a:r>
              <a:rPr kumimoji="1" lang="en-US" altLang="zh-CN" sz="2800" b="1" baseline="-25000" dirty="0">
                <a:solidFill>
                  <a:srgbClr val="0000FF"/>
                </a:solidFill>
                <a:latin typeface="宋体" charset="-122"/>
              </a:rPr>
              <a:t>1</a:t>
            </a:r>
            <a:r>
              <a:rPr kumimoji="1" lang="en-US" altLang="zh-CN" sz="2800" b="1" dirty="0">
                <a:solidFill>
                  <a:srgbClr val="0000FF"/>
                </a:solidFill>
                <a:latin typeface="宋体" charset="-122"/>
              </a:rPr>
              <a:t>.type );</a:t>
            </a:r>
          </a:p>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800" b="1" dirty="0">
                <a:solidFill>
                  <a:srgbClr val="0000FF"/>
                </a:solidFill>
                <a:latin typeface="宋体" charset="-122"/>
              </a:rPr>
              <a:t>  </a:t>
            </a:r>
            <a:r>
              <a:rPr kumimoji="1" lang="en-US" altLang="zh-CN" sz="2800" b="1" dirty="0" err="1">
                <a:solidFill>
                  <a:srgbClr val="0000FF"/>
                </a:solidFill>
                <a:latin typeface="宋体" charset="-122"/>
              </a:rPr>
              <a:t>T.width</a:t>
            </a:r>
            <a:r>
              <a:rPr kumimoji="1" lang="en-US" altLang="zh-CN" sz="2800" b="1" dirty="0">
                <a:solidFill>
                  <a:srgbClr val="0000FF"/>
                </a:solidFill>
                <a:latin typeface="宋体" charset="-122"/>
              </a:rPr>
              <a:t>:=4 }</a:t>
            </a:r>
          </a:p>
        </p:txBody>
      </p:sp>
      <p:grpSp>
        <p:nvGrpSpPr>
          <p:cNvPr id="181267" name="Group 19"/>
          <p:cNvGrpSpPr>
            <a:grpSpLocks/>
          </p:cNvGrpSpPr>
          <p:nvPr/>
        </p:nvGrpSpPr>
        <p:grpSpPr bwMode="auto">
          <a:xfrm>
            <a:off x="304800" y="647700"/>
            <a:ext cx="8382000" cy="5638800"/>
            <a:chOff x="96" y="528"/>
            <a:chExt cx="5280" cy="3552"/>
          </a:xfrm>
        </p:grpSpPr>
        <p:sp>
          <p:nvSpPr>
            <p:cNvPr id="181259" name="Rectangle 11"/>
            <p:cNvSpPr>
              <a:spLocks noChangeArrowheads="1"/>
            </p:cNvSpPr>
            <p:nvPr/>
          </p:nvSpPr>
          <p:spPr bwMode="auto">
            <a:xfrm>
              <a:off x="96" y="528"/>
              <a:ext cx="5280" cy="355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b="1">
                <a:solidFill>
                  <a:srgbClr val="000000"/>
                </a:solidFill>
              </a:endParaRPr>
            </a:p>
          </p:txBody>
        </p:sp>
        <p:sp>
          <p:nvSpPr>
            <p:cNvPr id="181260" name="Line 12"/>
            <p:cNvSpPr>
              <a:spLocks noChangeShapeType="1"/>
            </p:cNvSpPr>
            <p:nvPr/>
          </p:nvSpPr>
          <p:spPr bwMode="auto">
            <a:xfrm>
              <a:off x="96" y="816"/>
              <a:ext cx="52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81261" name="Line 13"/>
            <p:cNvSpPr>
              <a:spLocks noChangeShapeType="1"/>
            </p:cNvSpPr>
            <p:nvPr/>
          </p:nvSpPr>
          <p:spPr bwMode="auto">
            <a:xfrm>
              <a:off x="96" y="1104"/>
              <a:ext cx="52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81262" name="Line 14"/>
            <p:cNvSpPr>
              <a:spLocks noChangeShapeType="1"/>
            </p:cNvSpPr>
            <p:nvPr/>
          </p:nvSpPr>
          <p:spPr bwMode="auto">
            <a:xfrm>
              <a:off x="96" y="1872"/>
              <a:ext cx="52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81263" name="Line 15"/>
            <p:cNvSpPr>
              <a:spLocks noChangeShapeType="1"/>
            </p:cNvSpPr>
            <p:nvPr/>
          </p:nvSpPr>
          <p:spPr bwMode="auto">
            <a:xfrm>
              <a:off x="96" y="2160"/>
              <a:ext cx="52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81264" name="Line 16"/>
            <p:cNvSpPr>
              <a:spLocks noChangeShapeType="1"/>
            </p:cNvSpPr>
            <p:nvPr/>
          </p:nvSpPr>
          <p:spPr bwMode="auto">
            <a:xfrm>
              <a:off x="96" y="2448"/>
              <a:ext cx="52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81265" name="Line 17"/>
            <p:cNvSpPr>
              <a:spLocks noChangeShapeType="1"/>
            </p:cNvSpPr>
            <p:nvPr/>
          </p:nvSpPr>
          <p:spPr bwMode="auto">
            <a:xfrm>
              <a:off x="96" y="3216"/>
              <a:ext cx="52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grpSp>
      <p:sp>
        <p:nvSpPr>
          <p:cNvPr id="2" name="灯片编号占位符 1">
            <a:extLst>
              <a:ext uri="{FF2B5EF4-FFF2-40B4-BE49-F238E27FC236}">
                <a16:creationId xmlns:a16="http://schemas.microsoft.com/office/drawing/2014/main" id="{EB2DD2D1-F495-4688-9EA4-49BB277D383C}"/>
              </a:ext>
            </a:extLst>
          </p:cNvPr>
          <p:cNvSpPr>
            <a:spLocks noGrp="1"/>
          </p:cNvSpPr>
          <p:nvPr>
            <p:ph type="sldNum" sz="quarter" idx="12"/>
          </p:nvPr>
        </p:nvSpPr>
        <p:spPr/>
        <p:txBody>
          <a:bodyPr/>
          <a:lstStyle/>
          <a:p>
            <a:fld id="{DBBC0EF6-B603-432C-9C67-7FF4B1EAAA36}" type="slidenum">
              <a:rPr lang="en-US" altLang="zh-CN" smtClean="0">
                <a:solidFill>
                  <a:srgbClr val="000000"/>
                </a:solidFill>
              </a:rPr>
              <a:pPr/>
              <a:t>38</a:t>
            </a:fld>
            <a:endParaRPr lang="en-US" altLang="zh-CN">
              <a:solidFill>
                <a:srgbClr val="000000"/>
              </a:solidFill>
            </a:endParaRPr>
          </a:p>
        </p:txBody>
      </p:sp>
    </p:spTree>
    <p:extLst>
      <p:ext uri="{BB962C8B-B14F-4D97-AF65-F5344CB8AC3E}">
        <p14:creationId xmlns:p14="http://schemas.microsoft.com/office/powerpoint/2010/main" val="22749768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126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2" presetClass="entr" presetSubtype="4" fill="hold" grpId="0" nodeType="clickEffect">
                                  <p:stCondLst>
                                    <p:cond delay="0"/>
                                  </p:stCondLst>
                                  <p:childTnLst>
                                    <p:set>
                                      <p:cBhvr>
                                        <p:cTn id="10" dur="1" fill="hold">
                                          <p:stCondLst>
                                            <p:cond delay="0"/>
                                          </p:stCondLst>
                                        </p:cTn>
                                        <p:tgtEl>
                                          <p:spTgt spid="181256">
                                            <p:txEl>
                                              <p:pRg st="0" end="0"/>
                                            </p:txEl>
                                          </p:spTgt>
                                        </p:tgtEl>
                                        <p:attrNameLst>
                                          <p:attrName>style.visibility</p:attrName>
                                        </p:attrNameLst>
                                      </p:cBhvr>
                                      <p:to>
                                        <p:strVal val="visible"/>
                                      </p:to>
                                    </p:set>
                                    <p:animEffect transition="in" filter="slide(fromBottom)">
                                      <p:cBhvr>
                                        <p:cTn id="11" dur="500"/>
                                        <p:tgtEl>
                                          <p:spTgt spid="181256">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181256">
                                            <p:txEl>
                                              <p:pRg st="1" end="1"/>
                                            </p:txEl>
                                          </p:spTgt>
                                        </p:tgtEl>
                                        <p:attrNameLst>
                                          <p:attrName>style.visibility</p:attrName>
                                        </p:attrNameLst>
                                      </p:cBhvr>
                                      <p:to>
                                        <p:strVal val="visible"/>
                                      </p:to>
                                    </p:set>
                                    <p:animEffect transition="in" filter="slide(fromBottom)">
                                      <p:cBhvr>
                                        <p:cTn id="16" dur="500"/>
                                        <p:tgtEl>
                                          <p:spTgt spid="181256">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181256">
                                            <p:txEl>
                                              <p:pRg st="2" end="2"/>
                                            </p:txEl>
                                          </p:spTgt>
                                        </p:tgtEl>
                                        <p:attrNameLst>
                                          <p:attrName>style.visibility</p:attrName>
                                        </p:attrNameLst>
                                      </p:cBhvr>
                                      <p:to>
                                        <p:strVal val="visible"/>
                                      </p:to>
                                    </p:set>
                                    <p:animEffect transition="in" filter="slide(fromBottom)">
                                      <p:cBhvr>
                                        <p:cTn id="21" dur="500"/>
                                        <p:tgtEl>
                                          <p:spTgt spid="181256">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4" fill="hold" grpId="0" nodeType="clickEffect">
                                  <p:stCondLst>
                                    <p:cond delay="0"/>
                                  </p:stCondLst>
                                  <p:childTnLst>
                                    <p:set>
                                      <p:cBhvr>
                                        <p:cTn id="25" dur="1" fill="hold">
                                          <p:stCondLst>
                                            <p:cond delay="0"/>
                                          </p:stCondLst>
                                        </p:cTn>
                                        <p:tgtEl>
                                          <p:spTgt spid="181256">
                                            <p:txEl>
                                              <p:pRg st="4" end="4"/>
                                            </p:txEl>
                                          </p:spTgt>
                                        </p:tgtEl>
                                        <p:attrNameLst>
                                          <p:attrName>style.visibility</p:attrName>
                                        </p:attrNameLst>
                                      </p:cBhvr>
                                      <p:to>
                                        <p:strVal val="visible"/>
                                      </p:to>
                                    </p:set>
                                    <p:animEffect transition="in" filter="slide(fromBottom)">
                                      <p:cBhvr>
                                        <p:cTn id="26" dur="500"/>
                                        <p:tgtEl>
                                          <p:spTgt spid="181256">
                                            <p:txEl>
                                              <p:pRg st="4" end="4"/>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181256">
                                            <p:txEl>
                                              <p:pRg st="5" end="5"/>
                                            </p:txEl>
                                          </p:spTgt>
                                        </p:tgtEl>
                                        <p:attrNameLst>
                                          <p:attrName>style.visibility</p:attrName>
                                        </p:attrNameLst>
                                      </p:cBhvr>
                                      <p:to>
                                        <p:strVal val="visible"/>
                                      </p:to>
                                    </p:set>
                                    <p:animEffect transition="in" filter="slide(fromBottom)">
                                      <p:cBhvr>
                                        <p:cTn id="31" dur="500"/>
                                        <p:tgtEl>
                                          <p:spTgt spid="181256">
                                            <p:txEl>
                                              <p:pRg st="5" end="5"/>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2" presetClass="entr" presetSubtype="4" fill="hold" grpId="0" nodeType="clickEffect">
                                  <p:stCondLst>
                                    <p:cond delay="0"/>
                                  </p:stCondLst>
                                  <p:childTnLst>
                                    <p:set>
                                      <p:cBhvr>
                                        <p:cTn id="35" dur="1" fill="hold">
                                          <p:stCondLst>
                                            <p:cond delay="0"/>
                                          </p:stCondLst>
                                        </p:cTn>
                                        <p:tgtEl>
                                          <p:spTgt spid="181256">
                                            <p:txEl>
                                              <p:pRg st="6" end="6"/>
                                            </p:txEl>
                                          </p:spTgt>
                                        </p:tgtEl>
                                        <p:attrNameLst>
                                          <p:attrName>style.visibility</p:attrName>
                                        </p:attrNameLst>
                                      </p:cBhvr>
                                      <p:to>
                                        <p:strVal val="visible"/>
                                      </p:to>
                                    </p:set>
                                    <p:animEffect transition="in" filter="slide(fromBottom)">
                                      <p:cBhvr>
                                        <p:cTn id="36" dur="500"/>
                                        <p:tgtEl>
                                          <p:spTgt spid="181256">
                                            <p:txEl>
                                              <p:pRg st="6" end="6"/>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181256">
                                            <p:txEl>
                                              <p:pRg st="8" end="8"/>
                                            </p:txEl>
                                          </p:spTgt>
                                        </p:tgtEl>
                                        <p:attrNameLst>
                                          <p:attrName>style.visibility</p:attrName>
                                        </p:attrNameLst>
                                      </p:cBhvr>
                                      <p:to>
                                        <p:strVal val="visible"/>
                                      </p:to>
                                    </p:set>
                                    <p:animEffect transition="in" filter="slide(fromBottom)">
                                      <p:cBhvr>
                                        <p:cTn id="41" dur="500"/>
                                        <p:tgtEl>
                                          <p:spTgt spid="181256">
                                            <p:txEl>
                                              <p:pRg st="8" end="8"/>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4" fill="hold" grpId="0" nodeType="clickEffect">
                                  <p:stCondLst>
                                    <p:cond delay="0"/>
                                  </p:stCondLst>
                                  <p:childTnLst>
                                    <p:set>
                                      <p:cBhvr>
                                        <p:cTn id="45" dur="1" fill="hold">
                                          <p:stCondLst>
                                            <p:cond delay="0"/>
                                          </p:stCondLst>
                                        </p:cTn>
                                        <p:tgtEl>
                                          <p:spTgt spid="181257">
                                            <p:txEl>
                                              <p:pRg st="0" end="0"/>
                                            </p:txEl>
                                          </p:spTgt>
                                        </p:tgtEl>
                                        <p:attrNameLst>
                                          <p:attrName>style.visibility</p:attrName>
                                        </p:attrNameLst>
                                      </p:cBhvr>
                                      <p:to>
                                        <p:strVal val="visible"/>
                                      </p:to>
                                    </p:set>
                                    <p:animEffect transition="in" filter="slide(fromBottom)">
                                      <p:cBhvr>
                                        <p:cTn id="46" dur="500"/>
                                        <p:tgtEl>
                                          <p:spTgt spid="181257">
                                            <p:txEl>
                                              <p:pRg st="0" end="0"/>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2" presetClass="entr" presetSubtype="4" fill="hold" grpId="0" nodeType="clickEffect">
                                  <p:stCondLst>
                                    <p:cond delay="0"/>
                                  </p:stCondLst>
                                  <p:childTnLst>
                                    <p:set>
                                      <p:cBhvr>
                                        <p:cTn id="50" dur="1" fill="hold">
                                          <p:stCondLst>
                                            <p:cond delay="0"/>
                                          </p:stCondLst>
                                        </p:cTn>
                                        <p:tgtEl>
                                          <p:spTgt spid="181257">
                                            <p:txEl>
                                              <p:pRg st="1" end="1"/>
                                            </p:txEl>
                                          </p:spTgt>
                                        </p:tgtEl>
                                        <p:attrNameLst>
                                          <p:attrName>style.visibility</p:attrName>
                                        </p:attrNameLst>
                                      </p:cBhvr>
                                      <p:to>
                                        <p:strVal val="visible"/>
                                      </p:to>
                                    </p:set>
                                    <p:animEffect transition="in" filter="slide(fromBottom)">
                                      <p:cBhvr>
                                        <p:cTn id="51" dur="500"/>
                                        <p:tgtEl>
                                          <p:spTgt spid="181257">
                                            <p:txEl>
                                              <p:pRg st="1" end="1"/>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2" presetClass="entr" presetSubtype="4" fill="hold" grpId="0" nodeType="clickEffect">
                                  <p:stCondLst>
                                    <p:cond delay="0"/>
                                  </p:stCondLst>
                                  <p:childTnLst>
                                    <p:set>
                                      <p:cBhvr>
                                        <p:cTn id="55" dur="1" fill="hold">
                                          <p:stCondLst>
                                            <p:cond delay="0"/>
                                          </p:stCondLst>
                                        </p:cTn>
                                        <p:tgtEl>
                                          <p:spTgt spid="181257">
                                            <p:txEl>
                                              <p:pRg st="2" end="2"/>
                                            </p:txEl>
                                          </p:spTgt>
                                        </p:tgtEl>
                                        <p:attrNameLst>
                                          <p:attrName>style.visibility</p:attrName>
                                        </p:attrNameLst>
                                      </p:cBhvr>
                                      <p:to>
                                        <p:strVal val="visible"/>
                                      </p:to>
                                    </p:set>
                                    <p:animEffect transition="in" filter="slide(fromBottom)">
                                      <p:cBhvr>
                                        <p:cTn id="56" dur="500"/>
                                        <p:tgtEl>
                                          <p:spTgt spid="181257">
                                            <p:txEl>
                                              <p:pRg st="2" end="2"/>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181257">
                                            <p:txEl>
                                              <p:pRg st="7" end="7"/>
                                            </p:txEl>
                                          </p:spTgt>
                                        </p:tgtEl>
                                        <p:attrNameLst>
                                          <p:attrName>style.visibility</p:attrName>
                                        </p:attrNameLst>
                                      </p:cBhvr>
                                      <p:to>
                                        <p:strVal val="visible"/>
                                      </p:to>
                                    </p:set>
                                    <p:animEffect transition="in" filter="slide(fromBottom)">
                                      <p:cBhvr>
                                        <p:cTn id="61" dur="500"/>
                                        <p:tgtEl>
                                          <p:spTgt spid="181257">
                                            <p:txEl>
                                              <p:pRg st="7" end="7"/>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2" presetClass="entr" presetSubtype="4" fill="hold" grpId="0" nodeType="clickEffect">
                                  <p:stCondLst>
                                    <p:cond delay="0"/>
                                  </p:stCondLst>
                                  <p:childTnLst>
                                    <p:set>
                                      <p:cBhvr>
                                        <p:cTn id="65" dur="1" fill="hold">
                                          <p:stCondLst>
                                            <p:cond delay="0"/>
                                          </p:stCondLst>
                                        </p:cTn>
                                        <p:tgtEl>
                                          <p:spTgt spid="181257">
                                            <p:txEl>
                                              <p:pRg st="10" end="10"/>
                                            </p:txEl>
                                          </p:spTgt>
                                        </p:tgtEl>
                                        <p:attrNameLst>
                                          <p:attrName>style.visibility</p:attrName>
                                        </p:attrNameLst>
                                      </p:cBhvr>
                                      <p:to>
                                        <p:strVal val="visible"/>
                                      </p:to>
                                    </p:set>
                                    <p:animEffect transition="in" filter="slide(fromBottom)">
                                      <p:cBhvr>
                                        <p:cTn id="66" dur="500"/>
                                        <p:tgtEl>
                                          <p:spTgt spid="181257">
                                            <p:txEl>
                                              <p:pRg st="10" end="10"/>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2" presetClass="entr" presetSubtype="4" fill="hold" grpId="0" nodeType="clickEffect">
                                  <p:stCondLst>
                                    <p:cond delay="0"/>
                                  </p:stCondLst>
                                  <p:childTnLst>
                                    <p:set>
                                      <p:cBhvr>
                                        <p:cTn id="70" dur="1" fill="hold">
                                          <p:stCondLst>
                                            <p:cond delay="0"/>
                                          </p:stCondLst>
                                        </p:cTn>
                                        <p:tgtEl>
                                          <p:spTgt spid="181258">
                                            <p:txEl>
                                              <p:pRg st="0" end="0"/>
                                            </p:txEl>
                                          </p:spTgt>
                                        </p:tgtEl>
                                        <p:attrNameLst>
                                          <p:attrName>style.visibility</p:attrName>
                                        </p:attrNameLst>
                                      </p:cBhvr>
                                      <p:to>
                                        <p:strVal val="visible"/>
                                      </p:to>
                                    </p:set>
                                    <p:animEffect transition="in" filter="slide(fromBottom)">
                                      <p:cBhvr>
                                        <p:cTn id="71" dur="500"/>
                                        <p:tgtEl>
                                          <p:spTgt spid="181258">
                                            <p:txEl>
                                              <p:pRg st="0" end="0"/>
                                            </p:txEl>
                                          </p:spTgt>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2" presetClass="entr" presetSubtype="4" fill="hold" grpId="0" nodeType="clickEffect">
                                  <p:stCondLst>
                                    <p:cond delay="0"/>
                                  </p:stCondLst>
                                  <p:childTnLst>
                                    <p:set>
                                      <p:cBhvr>
                                        <p:cTn id="75" dur="1" fill="hold">
                                          <p:stCondLst>
                                            <p:cond delay="0"/>
                                          </p:stCondLst>
                                        </p:cTn>
                                        <p:tgtEl>
                                          <p:spTgt spid="181258">
                                            <p:txEl>
                                              <p:pRg st="1" end="1"/>
                                            </p:txEl>
                                          </p:spTgt>
                                        </p:tgtEl>
                                        <p:attrNameLst>
                                          <p:attrName>style.visibility</p:attrName>
                                        </p:attrNameLst>
                                      </p:cBhvr>
                                      <p:to>
                                        <p:strVal val="visible"/>
                                      </p:to>
                                    </p:set>
                                    <p:animEffect transition="in" filter="slide(fromBottom)">
                                      <p:cBhvr>
                                        <p:cTn id="76" dur="500"/>
                                        <p:tgtEl>
                                          <p:spTgt spid="181258">
                                            <p:txEl>
                                              <p:pRg st="1" end="1"/>
                                            </p:txEl>
                                          </p:spTgt>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2" presetClass="entr" presetSubtype="4" fill="hold" grpId="0" nodeType="clickEffect">
                                  <p:stCondLst>
                                    <p:cond delay="0"/>
                                  </p:stCondLst>
                                  <p:childTnLst>
                                    <p:set>
                                      <p:cBhvr>
                                        <p:cTn id="80" dur="1" fill="hold">
                                          <p:stCondLst>
                                            <p:cond delay="0"/>
                                          </p:stCondLst>
                                        </p:cTn>
                                        <p:tgtEl>
                                          <p:spTgt spid="181258">
                                            <p:txEl>
                                              <p:pRg st="2" end="2"/>
                                            </p:txEl>
                                          </p:spTgt>
                                        </p:tgtEl>
                                        <p:attrNameLst>
                                          <p:attrName>style.visibility</p:attrName>
                                        </p:attrNameLst>
                                      </p:cBhvr>
                                      <p:to>
                                        <p:strVal val="visible"/>
                                      </p:to>
                                    </p:set>
                                    <p:animEffect transition="in" filter="slide(fromBottom)">
                                      <p:cBhvr>
                                        <p:cTn id="81" dur="500"/>
                                        <p:tgtEl>
                                          <p:spTgt spid="181258">
                                            <p:txEl>
                                              <p:pRg st="2" end="2"/>
                                            </p:txEl>
                                          </p:spTgt>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12" presetClass="entr" presetSubtype="4" fill="hold" grpId="0" nodeType="clickEffect">
                                  <p:stCondLst>
                                    <p:cond delay="0"/>
                                  </p:stCondLst>
                                  <p:childTnLst>
                                    <p:set>
                                      <p:cBhvr>
                                        <p:cTn id="85" dur="1" fill="hold">
                                          <p:stCondLst>
                                            <p:cond delay="0"/>
                                          </p:stCondLst>
                                        </p:cTn>
                                        <p:tgtEl>
                                          <p:spTgt spid="181258">
                                            <p:txEl>
                                              <p:pRg st="3" end="3"/>
                                            </p:txEl>
                                          </p:spTgt>
                                        </p:tgtEl>
                                        <p:attrNameLst>
                                          <p:attrName>style.visibility</p:attrName>
                                        </p:attrNameLst>
                                      </p:cBhvr>
                                      <p:to>
                                        <p:strVal val="visible"/>
                                      </p:to>
                                    </p:set>
                                    <p:animEffect transition="in" filter="slide(fromBottom)">
                                      <p:cBhvr>
                                        <p:cTn id="86" dur="500"/>
                                        <p:tgtEl>
                                          <p:spTgt spid="181258">
                                            <p:txEl>
                                              <p:pRg st="3" end="3"/>
                                            </p:txEl>
                                          </p:spTgt>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12" presetClass="entr" presetSubtype="4" fill="hold" grpId="0" nodeType="clickEffect">
                                  <p:stCondLst>
                                    <p:cond delay="0"/>
                                  </p:stCondLst>
                                  <p:childTnLst>
                                    <p:set>
                                      <p:cBhvr>
                                        <p:cTn id="90" dur="1" fill="hold">
                                          <p:stCondLst>
                                            <p:cond delay="0"/>
                                          </p:stCondLst>
                                        </p:cTn>
                                        <p:tgtEl>
                                          <p:spTgt spid="181258">
                                            <p:txEl>
                                              <p:pRg st="4" end="4"/>
                                            </p:txEl>
                                          </p:spTgt>
                                        </p:tgtEl>
                                        <p:attrNameLst>
                                          <p:attrName>style.visibility</p:attrName>
                                        </p:attrNameLst>
                                      </p:cBhvr>
                                      <p:to>
                                        <p:strVal val="visible"/>
                                      </p:to>
                                    </p:set>
                                    <p:animEffect transition="in" filter="slide(fromBottom)">
                                      <p:cBhvr>
                                        <p:cTn id="91" dur="500"/>
                                        <p:tgtEl>
                                          <p:spTgt spid="181258">
                                            <p:txEl>
                                              <p:pRg st="4" end="4"/>
                                            </p:txEl>
                                          </p:spTgt>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12" presetClass="entr" presetSubtype="4" fill="hold" grpId="0" nodeType="clickEffect">
                                  <p:stCondLst>
                                    <p:cond delay="0"/>
                                  </p:stCondLst>
                                  <p:childTnLst>
                                    <p:set>
                                      <p:cBhvr>
                                        <p:cTn id="95" dur="1" fill="hold">
                                          <p:stCondLst>
                                            <p:cond delay="0"/>
                                          </p:stCondLst>
                                        </p:cTn>
                                        <p:tgtEl>
                                          <p:spTgt spid="181258">
                                            <p:txEl>
                                              <p:pRg st="5" end="5"/>
                                            </p:txEl>
                                          </p:spTgt>
                                        </p:tgtEl>
                                        <p:attrNameLst>
                                          <p:attrName>style.visibility</p:attrName>
                                        </p:attrNameLst>
                                      </p:cBhvr>
                                      <p:to>
                                        <p:strVal val="visible"/>
                                      </p:to>
                                    </p:set>
                                    <p:animEffect transition="in" filter="slide(fromBottom)">
                                      <p:cBhvr>
                                        <p:cTn id="96" dur="500"/>
                                        <p:tgtEl>
                                          <p:spTgt spid="181258">
                                            <p:txEl>
                                              <p:pRg st="5" end="5"/>
                                            </p:txEl>
                                          </p:spTgt>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12" presetClass="entr" presetSubtype="4" fill="hold" grpId="0" nodeType="clickEffect">
                                  <p:stCondLst>
                                    <p:cond delay="0"/>
                                  </p:stCondLst>
                                  <p:childTnLst>
                                    <p:set>
                                      <p:cBhvr>
                                        <p:cTn id="100" dur="1" fill="hold">
                                          <p:stCondLst>
                                            <p:cond delay="0"/>
                                          </p:stCondLst>
                                        </p:cTn>
                                        <p:tgtEl>
                                          <p:spTgt spid="181258">
                                            <p:txEl>
                                              <p:pRg st="6" end="6"/>
                                            </p:txEl>
                                          </p:spTgt>
                                        </p:tgtEl>
                                        <p:attrNameLst>
                                          <p:attrName>style.visibility</p:attrName>
                                        </p:attrNameLst>
                                      </p:cBhvr>
                                      <p:to>
                                        <p:strVal val="visible"/>
                                      </p:to>
                                    </p:set>
                                    <p:animEffect transition="in" filter="slide(fromBottom)">
                                      <p:cBhvr>
                                        <p:cTn id="101" dur="500"/>
                                        <p:tgtEl>
                                          <p:spTgt spid="181258">
                                            <p:txEl>
                                              <p:pRg st="6" end="6"/>
                                            </p:txEl>
                                          </p:spTgt>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2" presetClass="entr" presetSubtype="4" fill="hold" grpId="0" nodeType="clickEffect">
                                  <p:stCondLst>
                                    <p:cond delay="0"/>
                                  </p:stCondLst>
                                  <p:childTnLst>
                                    <p:set>
                                      <p:cBhvr>
                                        <p:cTn id="105" dur="1" fill="hold">
                                          <p:stCondLst>
                                            <p:cond delay="0"/>
                                          </p:stCondLst>
                                        </p:cTn>
                                        <p:tgtEl>
                                          <p:spTgt spid="181258">
                                            <p:txEl>
                                              <p:pRg st="8" end="8"/>
                                            </p:txEl>
                                          </p:spTgt>
                                        </p:tgtEl>
                                        <p:attrNameLst>
                                          <p:attrName>style.visibility</p:attrName>
                                        </p:attrNameLst>
                                      </p:cBhvr>
                                      <p:to>
                                        <p:strVal val="visible"/>
                                      </p:to>
                                    </p:set>
                                    <p:animEffect transition="in" filter="slide(fromBottom)">
                                      <p:cBhvr>
                                        <p:cTn id="106" dur="500"/>
                                        <p:tgtEl>
                                          <p:spTgt spid="181258">
                                            <p:txEl>
                                              <p:pRg st="8" end="8"/>
                                            </p:txEl>
                                          </p:spTgt>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2" presetClass="entr" presetSubtype="4" fill="hold" grpId="0" nodeType="clickEffect">
                                  <p:stCondLst>
                                    <p:cond delay="0"/>
                                  </p:stCondLst>
                                  <p:childTnLst>
                                    <p:set>
                                      <p:cBhvr>
                                        <p:cTn id="110" dur="1" fill="hold">
                                          <p:stCondLst>
                                            <p:cond delay="0"/>
                                          </p:stCondLst>
                                        </p:cTn>
                                        <p:tgtEl>
                                          <p:spTgt spid="181258">
                                            <p:txEl>
                                              <p:pRg st="9" end="9"/>
                                            </p:txEl>
                                          </p:spTgt>
                                        </p:tgtEl>
                                        <p:attrNameLst>
                                          <p:attrName>style.visibility</p:attrName>
                                        </p:attrNameLst>
                                      </p:cBhvr>
                                      <p:to>
                                        <p:strVal val="visible"/>
                                      </p:to>
                                    </p:set>
                                    <p:animEffect transition="in" filter="slide(fromBottom)">
                                      <p:cBhvr>
                                        <p:cTn id="111" dur="500"/>
                                        <p:tgtEl>
                                          <p:spTgt spid="181258">
                                            <p:txEl>
                                              <p:pRg st="9" end="9"/>
                                            </p:txEl>
                                          </p:spTgt>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12" presetClass="entr" presetSubtype="4" fill="hold" grpId="0" nodeType="clickEffect">
                                  <p:stCondLst>
                                    <p:cond delay="0"/>
                                  </p:stCondLst>
                                  <p:childTnLst>
                                    <p:set>
                                      <p:cBhvr>
                                        <p:cTn id="115" dur="1" fill="hold">
                                          <p:stCondLst>
                                            <p:cond delay="0"/>
                                          </p:stCondLst>
                                        </p:cTn>
                                        <p:tgtEl>
                                          <p:spTgt spid="181258">
                                            <p:txEl>
                                              <p:pRg st="11" end="11"/>
                                            </p:txEl>
                                          </p:spTgt>
                                        </p:tgtEl>
                                        <p:attrNameLst>
                                          <p:attrName>style.visibility</p:attrName>
                                        </p:attrNameLst>
                                      </p:cBhvr>
                                      <p:to>
                                        <p:strVal val="visible"/>
                                      </p:to>
                                    </p:set>
                                    <p:animEffect transition="in" filter="slide(fromBottom)">
                                      <p:cBhvr>
                                        <p:cTn id="116" dur="500"/>
                                        <p:tgtEl>
                                          <p:spTgt spid="181258">
                                            <p:txEl>
                                              <p:pRg st="11" end="11"/>
                                            </p:txEl>
                                          </p:spTgt>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2" presetClass="entr" presetSubtype="4" fill="hold" grpId="0" nodeType="clickEffect">
                                  <p:stCondLst>
                                    <p:cond delay="0"/>
                                  </p:stCondLst>
                                  <p:childTnLst>
                                    <p:set>
                                      <p:cBhvr>
                                        <p:cTn id="120" dur="1" fill="hold">
                                          <p:stCondLst>
                                            <p:cond delay="0"/>
                                          </p:stCondLst>
                                        </p:cTn>
                                        <p:tgtEl>
                                          <p:spTgt spid="181258">
                                            <p:txEl>
                                              <p:pRg st="12" end="12"/>
                                            </p:txEl>
                                          </p:spTgt>
                                        </p:tgtEl>
                                        <p:attrNameLst>
                                          <p:attrName>style.visibility</p:attrName>
                                        </p:attrNameLst>
                                      </p:cBhvr>
                                      <p:to>
                                        <p:strVal val="visible"/>
                                      </p:to>
                                    </p:set>
                                    <p:animEffect transition="in" filter="slide(fromBottom)">
                                      <p:cBhvr>
                                        <p:cTn id="121" dur="500"/>
                                        <p:tgtEl>
                                          <p:spTgt spid="181258">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6" grpId="0" build="p" autoUpdateAnimBg="0"/>
      <p:bldP spid="181257" grpId="0" build="p" autoUpdateAnimBg="0"/>
      <p:bldP spid="181258"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82331" name="Group 59"/>
          <p:cNvGrpSpPr>
            <a:grpSpLocks/>
          </p:cNvGrpSpPr>
          <p:nvPr/>
        </p:nvGrpSpPr>
        <p:grpSpPr bwMode="auto">
          <a:xfrm>
            <a:off x="228600" y="1219200"/>
            <a:ext cx="8534400" cy="4495800"/>
            <a:chOff x="96" y="768"/>
            <a:chExt cx="5376" cy="2832"/>
          </a:xfrm>
        </p:grpSpPr>
        <p:grpSp>
          <p:nvGrpSpPr>
            <p:cNvPr id="182280" name="Group 8"/>
            <p:cNvGrpSpPr>
              <a:grpSpLocks/>
            </p:cNvGrpSpPr>
            <p:nvPr/>
          </p:nvGrpSpPr>
          <p:grpSpPr bwMode="auto">
            <a:xfrm>
              <a:off x="96" y="768"/>
              <a:ext cx="5376" cy="2832"/>
              <a:chOff x="0" y="672"/>
              <a:chExt cx="5760" cy="2832"/>
            </a:xfrm>
          </p:grpSpPr>
          <p:graphicFrame>
            <p:nvGraphicFramePr>
              <p:cNvPr id="182281" name="Object 9"/>
              <p:cNvGraphicFramePr>
                <a:graphicFrameLocks noChangeAspect="1"/>
              </p:cNvGraphicFramePr>
              <p:nvPr/>
            </p:nvGraphicFramePr>
            <p:xfrm>
              <a:off x="0" y="672"/>
              <a:ext cx="5760" cy="2832"/>
            </p:xfrm>
            <a:graphic>
              <a:graphicData uri="http://schemas.openxmlformats.org/presentationml/2006/ole">
                <mc:AlternateContent xmlns:mc="http://schemas.openxmlformats.org/markup-compatibility/2006">
                  <mc:Choice xmlns:v="urn:schemas-microsoft-com:vml" Requires="v">
                    <p:oleObj spid="_x0000_s2269" name="MS 组织结构图 2.0" r:id="rId3" imgW="2590560" imgH="1238040" progId="OrgPlusWOPX.4">
                      <p:embed followColorScheme="full"/>
                    </p:oleObj>
                  </mc:Choice>
                  <mc:Fallback>
                    <p:oleObj name="MS 组织结构图 2.0" r:id="rId3" imgW="2590560" imgH="1238040" progId="OrgPlusWOPX.4">
                      <p:embed followColorScheme="full"/>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72"/>
                            <a:ext cx="5760" cy="28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2282" name="Rectangle 10"/>
              <p:cNvSpPr>
                <a:spLocks noChangeArrowheads="1"/>
              </p:cNvSpPr>
              <p:nvPr/>
            </p:nvSpPr>
            <p:spPr bwMode="auto">
              <a:xfrm>
                <a:off x="519" y="2496"/>
                <a:ext cx="279"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600">
                    <a:effectLst>
                      <a:outerShdw blurRad="38100" dist="38100" dir="2700000" algn="tl">
                        <a:srgbClr val="C0C0C0"/>
                      </a:outerShdw>
                    </a:effectLst>
                    <a:latin typeface="宋体" charset="-122"/>
                  </a:rPr>
                  <a:t>x</a:t>
                </a:r>
              </a:p>
            </p:txBody>
          </p:sp>
          <p:sp>
            <p:nvSpPr>
              <p:cNvPr id="182283" name="Rectangle 11"/>
              <p:cNvSpPr>
                <a:spLocks noChangeArrowheads="1"/>
              </p:cNvSpPr>
              <p:nvPr/>
            </p:nvSpPr>
            <p:spPr bwMode="auto">
              <a:xfrm>
                <a:off x="3465" y="2524"/>
                <a:ext cx="28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600" dirty="0" err="1">
                    <a:effectLst>
                      <a:outerShdw blurRad="38100" dist="38100" dir="2700000" algn="tl">
                        <a:srgbClr val="C0C0C0"/>
                      </a:outerShdw>
                    </a:effectLst>
                    <a:latin typeface="宋体" charset="-122"/>
                  </a:rPr>
                  <a:t>i</a:t>
                </a:r>
                <a:endParaRPr kumimoji="1" lang="en-US" altLang="zh-CN" sz="3600" dirty="0">
                  <a:effectLst>
                    <a:outerShdw blurRad="38100" dist="38100" dir="2700000" algn="tl">
                      <a:srgbClr val="C0C0C0"/>
                    </a:outerShdw>
                  </a:effectLst>
                  <a:latin typeface="宋体" charset="-122"/>
                </a:endParaRPr>
              </a:p>
            </p:txBody>
          </p:sp>
        </p:grpSp>
        <p:sp>
          <p:nvSpPr>
            <p:cNvPr id="182297" name="Line 25"/>
            <p:cNvSpPr>
              <a:spLocks noChangeShapeType="1"/>
            </p:cNvSpPr>
            <p:nvPr/>
          </p:nvSpPr>
          <p:spPr bwMode="auto">
            <a:xfrm>
              <a:off x="2784" y="1152"/>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82330" name="Group 58"/>
            <p:cNvGrpSpPr>
              <a:grpSpLocks/>
            </p:cNvGrpSpPr>
            <p:nvPr/>
          </p:nvGrpSpPr>
          <p:grpSpPr bwMode="auto">
            <a:xfrm>
              <a:off x="1440" y="1776"/>
              <a:ext cx="2736" cy="240"/>
              <a:chOff x="1440" y="1776"/>
              <a:chExt cx="2736" cy="240"/>
            </a:xfrm>
          </p:grpSpPr>
          <p:sp>
            <p:nvSpPr>
              <p:cNvPr id="182300" name="Line 28"/>
              <p:cNvSpPr>
                <a:spLocks noChangeShapeType="1"/>
              </p:cNvSpPr>
              <p:nvPr/>
            </p:nvSpPr>
            <p:spPr bwMode="auto">
              <a:xfrm>
                <a:off x="1440" y="1872"/>
                <a:ext cx="27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301" name="Line 29"/>
              <p:cNvSpPr>
                <a:spLocks noChangeShapeType="1"/>
              </p:cNvSpPr>
              <p:nvPr/>
            </p:nvSpPr>
            <p:spPr bwMode="auto">
              <a:xfrm>
                <a:off x="2784" y="1776"/>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303" name="Line 31"/>
              <p:cNvSpPr>
                <a:spLocks noChangeShapeType="1"/>
              </p:cNvSpPr>
              <p:nvPr/>
            </p:nvSpPr>
            <p:spPr bwMode="auto">
              <a:xfrm>
                <a:off x="2304" y="1872"/>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304" name="Line 32"/>
              <p:cNvSpPr>
                <a:spLocks noChangeShapeType="1"/>
              </p:cNvSpPr>
              <p:nvPr/>
            </p:nvSpPr>
            <p:spPr bwMode="auto">
              <a:xfrm>
                <a:off x="1440" y="1872"/>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305" name="Line 33"/>
              <p:cNvSpPr>
                <a:spLocks noChangeShapeType="1"/>
              </p:cNvSpPr>
              <p:nvPr/>
            </p:nvSpPr>
            <p:spPr bwMode="auto">
              <a:xfrm>
                <a:off x="4176" y="1872"/>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2327" name="Group 55"/>
            <p:cNvGrpSpPr>
              <a:grpSpLocks/>
            </p:cNvGrpSpPr>
            <p:nvPr/>
          </p:nvGrpSpPr>
          <p:grpSpPr bwMode="auto">
            <a:xfrm>
              <a:off x="528" y="2352"/>
              <a:ext cx="1776" cy="240"/>
              <a:chOff x="528" y="2352"/>
              <a:chExt cx="1776" cy="240"/>
            </a:xfrm>
          </p:grpSpPr>
          <p:sp>
            <p:nvSpPr>
              <p:cNvPr id="182315" name="Line 43"/>
              <p:cNvSpPr>
                <a:spLocks noChangeShapeType="1"/>
              </p:cNvSpPr>
              <p:nvPr/>
            </p:nvSpPr>
            <p:spPr bwMode="auto">
              <a:xfrm>
                <a:off x="528" y="2448"/>
                <a:ext cx="177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316" name="Line 44"/>
              <p:cNvSpPr>
                <a:spLocks noChangeShapeType="1"/>
              </p:cNvSpPr>
              <p:nvPr/>
            </p:nvSpPr>
            <p:spPr bwMode="auto">
              <a:xfrm>
                <a:off x="1440" y="2352"/>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317" name="Line 45"/>
              <p:cNvSpPr>
                <a:spLocks noChangeShapeType="1"/>
              </p:cNvSpPr>
              <p:nvPr/>
            </p:nvSpPr>
            <p:spPr bwMode="auto">
              <a:xfrm>
                <a:off x="1440" y="2448"/>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318" name="Line 46"/>
              <p:cNvSpPr>
                <a:spLocks noChangeShapeType="1"/>
              </p:cNvSpPr>
              <p:nvPr/>
            </p:nvSpPr>
            <p:spPr bwMode="auto">
              <a:xfrm>
                <a:off x="528" y="2448"/>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319" name="Line 47"/>
              <p:cNvSpPr>
                <a:spLocks noChangeShapeType="1"/>
              </p:cNvSpPr>
              <p:nvPr/>
            </p:nvSpPr>
            <p:spPr bwMode="auto">
              <a:xfrm>
                <a:off x="2304" y="2448"/>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2328" name="Group 56"/>
            <p:cNvGrpSpPr>
              <a:grpSpLocks/>
            </p:cNvGrpSpPr>
            <p:nvPr/>
          </p:nvGrpSpPr>
          <p:grpSpPr bwMode="auto">
            <a:xfrm>
              <a:off x="3264" y="2352"/>
              <a:ext cx="1776" cy="240"/>
              <a:chOff x="3264" y="2352"/>
              <a:chExt cx="1776" cy="240"/>
            </a:xfrm>
          </p:grpSpPr>
          <p:sp>
            <p:nvSpPr>
              <p:cNvPr id="182320" name="Line 48"/>
              <p:cNvSpPr>
                <a:spLocks noChangeShapeType="1"/>
              </p:cNvSpPr>
              <p:nvPr/>
            </p:nvSpPr>
            <p:spPr bwMode="auto">
              <a:xfrm>
                <a:off x="3264" y="2448"/>
                <a:ext cx="177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321" name="Line 49"/>
              <p:cNvSpPr>
                <a:spLocks noChangeShapeType="1"/>
              </p:cNvSpPr>
              <p:nvPr/>
            </p:nvSpPr>
            <p:spPr bwMode="auto">
              <a:xfrm>
                <a:off x="4176" y="2352"/>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322" name="Line 50"/>
              <p:cNvSpPr>
                <a:spLocks noChangeShapeType="1"/>
              </p:cNvSpPr>
              <p:nvPr/>
            </p:nvSpPr>
            <p:spPr bwMode="auto">
              <a:xfrm>
                <a:off x="4176" y="2448"/>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323" name="Line 51"/>
              <p:cNvSpPr>
                <a:spLocks noChangeShapeType="1"/>
              </p:cNvSpPr>
              <p:nvPr/>
            </p:nvSpPr>
            <p:spPr bwMode="auto">
              <a:xfrm>
                <a:off x="3264" y="2448"/>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324" name="Line 52"/>
              <p:cNvSpPr>
                <a:spLocks noChangeShapeType="1"/>
              </p:cNvSpPr>
              <p:nvPr/>
            </p:nvSpPr>
            <p:spPr bwMode="auto">
              <a:xfrm>
                <a:off x="5040" y="2448"/>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82325" name="Line 53"/>
            <p:cNvSpPr>
              <a:spLocks noChangeShapeType="1"/>
            </p:cNvSpPr>
            <p:nvPr/>
          </p:nvSpPr>
          <p:spPr bwMode="auto">
            <a:xfrm>
              <a:off x="2304" y="2976"/>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326" name="Line 54"/>
            <p:cNvSpPr>
              <a:spLocks noChangeShapeType="1"/>
            </p:cNvSpPr>
            <p:nvPr/>
          </p:nvSpPr>
          <p:spPr bwMode="auto">
            <a:xfrm>
              <a:off x="5040" y="2976"/>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82274" name="Rectangle 2"/>
          <p:cNvSpPr>
            <a:spLocks noGrp="1" noChangeArrowheads="1"/>
          </p:cNvSpPr>
          <p:nvPr>
            <p:ph type="title"/>
          </p:nvPr>
        </p:nvSpPr>
        <p:spPr>
          <a:xfrm>
            <a:off x="609600" y="76200"/>
            <a:ext cx="7848600" cy="609600"/>
          </a:xfrm>
        </p:spPr>
        <p:txBody>
          <a:bodyPr/>
          <a:lstStyle/>
          <a:p>
            <a:r>
              <a:rPr lang="zh-CN" altLang="en-US">
                <a:latin typeface="宋体" charset="-122"/>
              </a:rPr>
              <a:t>例 </a:t>
            </a:r>
            <a:r>
              <a:rPr lang="en-US" altLang="zh-CN" sz="3600">
                <a:latin typeface="宋体" charset="-122"/>
              </a:rPr>
              <a:t>x:real; i:integer </a:t>
            </a:r>
            <a:r>
              <a:rPr lang="zh-CN" altLang="en-US" sz="3600">
                <a:latin typeface="宋体" charset="-122"/>
              </a:rPr>
              <a:t>的翻译</a:t>
            </a:r>
          </a:p>
        </p:txBody>
      </p:sp>
      <p:sp>
        <p:nvSpPr>
          <p:cNvPr id="182284" name="Rectangle 12"/>
          <p:cNvSpPr>
            <a:spLocks noGrp="1" noChangeArrowheads="1"/>
          </p:cNvSpPr>
          <p:nvPr>
            <p:ph type="body" idx="1"/>
          </p:nvPr>
        </p:nvSpPr>
        <p:spPr>
          <a:xfrm>
            <a:off x="228600" y="990600"/>
            <a:ext cx="3352800" cy="533400"/>
          </a:xfrm>
          <a:noFill/>
          <a:ln/>
        </p:spPr>
        <p:txBody>
          <a:bodyPr lIns="92075" tIns="46038" rIns="92075" bIns="46038"/>
          <a:lstStyle/>
          <a:p>
            <a:pPr>
              <a:lnSpc>
                <a:spcPct val="90000"/>
              </a:lnSpc>
              <a:buFontTx/>
              <a:buNone/>
            </a:pPr>
            <a:r>
              <a:rPr lang="en-US" altLang="zh-CN" b="1">
                <a:solidFill>
                  <a:srgbClr val="FF0000"/>
                </a:solidFill>
                <a:latin typeface="宋体" charset="-122"/>
              </a:rPr>
              <a:t>enter(x,real,0)</a:t>
            </a:r>
          </a:p>
        </p:txBody>
      </p:sp>
      <p:sp>
        <p:nvSpPr>
          <p:cNvPr id="182285" name="Text Box 13"/>
          <p:cNvSpPr txBox="1">
            <a:spLocks noChangeArrowheads="1"/>
          </p:cNvSpPr>
          <p:nvPr/>
        </p:nvSpPr>
        <p:spPr bwMode="auto">
          <a:xfrm>
            <a:off x="2438400" y="1600200"/>
            <a:ext cx="1416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a:solidFill>
                  <a:srgbClr val="FF0000"/>
                </a:solidFill>
                <a:effectLst>
                  <a:outerShdw blurRad="38100" dist="38100" dir="2700000" algn="tl">
                    <a:srgbClr val="C0C0C0"/>
                  </a:outerShdw>
                </a:effectLst>
                <a:latin typeface="宋体" charset="-122"/>
              </a:rPr>
              <a:t>offset=0</a:t>
            </a:r>
          </a:p>
        </p:txBody>
      </p:sp>
      <p:sp>
        <p:nvSpPr>
          <p:cNvPr id="182286" name="Text Box 14"/>
          <p:cNvSpPr txBox="1">
            <a:spLocks noChangeArrowheads="1"/>
          </p:cNvSpPr>
          <p:nvPr/>
        </p:nvSpPr>
        <p:spPr bwMode="auto">
          <a:xfrm>
            <a:off x="3886200" y="3671888"/>
            <a:ext cx="1416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a:solidFill>
                  <a:srgbClr val="FF0000"/>
                </a:solidFill>
                <a:effectLst>
                  <a:outerShdw blurRad="38100" dist="38100" dir="2700000" algn="tl">
                    <a:srgbClr val="C0C0C0"/>
                  </a:outerShdw>
                </a:effectLst>
                <a:latin typeface="宋体" charset="-122"/>
              </a:rPr>
              <a:t>offset=8</a:t>
            </a:r>
          </a:p>
        </p:txBody>
      </p:sp>
      <p:sp>
        <p:nvSpPr>
          <p:cNvPr id="182287" name="Text Box 15"/>
          <p:cNvSpPr txBox="1">
            <a:spLocks noChangeArrowheads="1"/>
          </p:cNvSpPr>
          <p:nvPr/>
        </p:nvSpPr>
        <p:spPr bwMode="auto">
          <a:xfrm>
            <a:off x="1143000" y="5029200"/>
            <a:ext cx="18780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a:solidFill>
                  <a:srgbClr val="FF0000"/>
                </a:solidFill>
                <a:effectLst>
                  <a:outerShdw blurRad="38100" dist="38100" dir="2700000" algn="tl">
                    <a:srgbClr val="C0C0C0"/>
                  </a:outerShdw>
                </a:effectLst>
                <a:latin typeface="宋体" charset="-122"/>
              </a:rPr>
              <a:t>T.type=real</a:t>
            </a:r>
          </a:p>
          <a:p>
            <a:pPr eaLnBrk="0" hangingPunct="0"/>
            <a:r>
              <a:rPr kumimoji="1" lang="en-US" altLang="zh-CN" sz="2400">
                <a:solidFill>
                  <a:srgbClr val="FF0000"/>
                </a:solidFill>
                <a:effectLst>
                  <a:outerShdw blurRad="38100" dist="38100" dir="2700000" algn="tl">
                    <a:srgbClr val="C0C0C0"/>
                  </a:outerShdw>
                </a:effectLst>
                <a:latin typeface="宋体" charset="-122"/>
              </a:rPr>
              <a:t>T.width=8</a:t>
            </a:r>
          </a:p>
        </p:txBody>
      </p:sp>
      <p:sp>
        <p:nvSpPr>
          <p:cNvPr id="182288" name="Text Box 16"/>
          <p:cNvSpPr txBox="1">
            <a:spLocks noChangeArrowheads="1"/>
          </p:cNvSpPr>
          <p:nvPr/>
        </p:nvSpPr>
        <p:spPr bwMode="auto">
          <a:xfrm>
            <a:off x="7345363" y="3352800"/>
            <a:ext cx="15700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a:solidFill>
                  <a:srgbClr val="FF0000"/>
                </a:solidFill>
                <a:effectLst>
                  <a:outerShdw blurRad="38100" dist="38100" dir="2700000" algn="tl">
                    <a:srgbClr val="C0C0C0"/>
                  </a:outerShdw>
                </a:effectLst>
                <a:latin typeface="宋体" charset="-122"/>
              </a:rPr>
              <a:t>offset=12</a:t>
            </a:r>
          </a:p>
        </p:txBody>
      </p:sp>
      <p:sp>
        <p:nvSpPr>
          <p:cNvPr id="182289" name="Text Box 17"/>
          <p:cNvSpPr txBox="1">
            <a:spLocks noChangeArrowheads="1"/>
          </p:cNvSpPr>
          <p:nvPr/>
        </p:nvSpPr>
        <p:spPr bwMode="auto">
          <a:xfrm>
            <a:off x="5105400" y="5029200"/>
            <a:ext cx="23399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a:solidFill>
                  <a:srgbClr val="FF0000"/>
                </a:solidFill>
                <a:effectLst>
                  <a:outerShdw blurRad="38100" dist="38100" dir="2700000" algn="tl">
                    <a:srgbClr val="C0C0C0"/>
                  </a:outerShdw>
                </a:effectLst>
                <a:latin typeface="宋体" charset="-122"/>
              </a:rPr>
              <a:t>T.type=integer</a:t>
            </a:r>
          </a:p>
          <a:p>
            <a:pPr eaLnBrk="0" hangingPunct="0"/>
            <a:r>
              <a:rPr kumimoji="1" lang="en-US" altLang="zh-CN" sz="2400">
                <a:solidFill>
                  <a:srgbClr val="FF0000"/>
                </a:solidFill>
                <a:effectLst>
                  <a:outerShdw blurRad="38100" dist="38100" dir="2700000" algn="tl">
                    <a:srgbClr val="C0C0C0"/>
                  </a:outerShdw>
                </a:effectLst>
                <a:latin typeface="宋体" charset="-122"/>
              </a:rPr>
              <a:t>T.width=4</a:t>
            </a:r>
          </a:p>
        </p:txBody>
      </p:sp>
      <p:sp>
        <p:nvSpPr>
          <p:cNvPr id="182290" name="Rectangle 18"/>
          <p:cNvSpPr>
            <a:spLocks noChangeArrowheads="1"/>
          </p:cNvSpPr>
          <p:nvPr/>
        </p:nvSpPr>
        <p:spPr bwMode="auto">
          <a:xfrm>
            <a:off x="5257800" y="990600"/>
            <a:ext cx="396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20000"/>
              </a:spcBef>
              <a:buClr>
                <a:schemeClr val="tx2"/>
              </a:buClr>
              <a:buSzPct val="75000"/>
              <a:buFont typeface="Monotype Sorts" pitchFamily="2" charset="2"/>
              <a:buNone/>
            </a:pPr>
            <a:r>
              <a:rPr kumimoji="1" lang="en-US" altLang="zh-CN" sz="3200">
                <a:solidFill>
                  <a:srgbClr val="FF0000"/>
                </a:solidFill>
                <a:effectLst>
                  <a:outerShdw blurRad="38100" dist="38100" dir="2700000" algn="tl">
                    <a:srgbClr val="C0C0C0"/>
                  </a:outerShdw>
                </a:effectLst>
                <a:latin typeface="宋体" charset="-122"/>
              </a:rPr>
              <a:t>enter(i,integer,8)</a:t>
            </a:r>
          </a:p>
        </p:txBody>
      </p:sp>
      <p:sp>
        <p:nvSpPr>
          <p:cNvPr id="182291" name="Oval 19"/>
          <p:cNvSpPr>
            <a:spLocks noChangeArrowheads="1"/>
          </p:cNvSpPr>
          <p:nvPr/>
        </p:nvSpPr>
        <p:spPr bwMode="auto">
          <a:xfrm>
            <a:off x="3124200" y="4800600"/>
            <a:ext cx="1219200" cy="457200"/>
          </a:xfrm>
          <a:prstGeom prst="ellipse">
            <a:avLst/>
          </a:prstGeom>
          <a:noFill/>
          <a:ln w="381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292" name="Oval 20"/>
          <p:cNvSpPr>
            <a:spLocks noChangeArrowheads="1"/>
          </p:cNvSpPr>
          <p:nvPr/>
        </p:nvSpPr>
        <p:spPr bwMode="auto">
          <a:xfrm>
            <a:off x="762000" y="3810000"/>
            <a:ext cx="3200400" cy="457200"/>
          </a:xfrm>
          <a:prstGeom prst="ellipse">
            <a:avLst/>
          </a:prstGeom>
          <a:noFill/>
          <a:ln w="381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293" name="Oval 21"/>
          <p:cNvSpPr>
            <a:spLocks noChangeArrowheads="1"/>
          </p:cNvSpPr>
          <p:nvPr/>
        </p:nvSpPr>
        <p:spPr bwMode="auto">
          <a:xfrm>
            <a:off x="7543800" y="4800600"/>
            <a:ext cx="1143000" cy="457200"/>
          </a:xfrm>
          <a:prstGeom prst="ellipse">
            <a:avLst/>
          </a:prstGeom>
          <a:noFill/>
          <a:ln w="381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294" name="Oval 22"/>
          <p:cNvSpPr>
            <a:spLocks noChangeArrowheads="1"/>
          </p:cNvSpPr>
          <p:nvPr/>
        </p:nvSpPr>
        <p:spPr bwMode="auto">
          <a:xfrm>
            <a:off x="5334000" y="3810000"/>
            <a:ext cx="2743200" cy="457200"/>
          </a:xfrm>
          <a:prstGeom prst="ellipse">
            <a:avLst/>
          </a:prstGeom>
          <a:noFill/>
          <a:ln w="381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295" name="Oval 23"/>
          <p:cNvSpPr>
            <a:spLocks noChangeArrowheads="1"/>
          </p:cNvSpPr>
          <p:nvPr/>
        </p:nvSpPr>
        <p:spPr bwMode="auto">
          <a:xfrm>
            <a:off x="2743200" y="2895600"/>
            <a:ext cx="3733800" cy="457200"/>
          </a:xfrm>
          <a:prstGeom prst="ellipse">
            <a:avLst/>
          </a:prstGeom>
          <a:noFill/>
          <a:ln w="381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296" name="Oval 24"/>
          <p:cNvSpPr>
            <a:spLocks noChangeArrowheads="1"/>
          </p:cNvSpPr>
          <p:nvPr/>
        </p:nvSpPr>
        <p:spPr bwMode="auto">
          <a:xfrm>
            <a:off x="3962400" y="1981200"/>
            <a:ext cx="1066800" cy="304800"/>
          </a:xfrm>
          <a:prstGeom prst="ellipse">
            <a:avLst/>
          </a:prstGeom>
          <a:noFill/>
          <a:ln w="381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6481D622-E6A7-4807-B415-27C62AE10663}"/>
              </a:ext>
            </a:extLst>
          </p:cNvPr>
          <p:cNvSpPr>
            <a:spLocks noGrp="1"/>
          </p:cNvSpPr>
          <p:nvPr>
            <p:ph type="sldNum" sz="quarter" idx="12"/>
          </p:nvPr>
        </p:nvSpPr>
        <p:spPr/>
        <p:txBody>
          <a:bodyPr/>
          <a:lstStyle/>
          <a:p>
            <a:fld id="{DBBC0EF6-B603-432C-9C67-7FF4B1EAAA36}" type="slidenum">
              <a:rPr lang="en-US" altLang="zh-CN" smtClean="0">
                <a:solidFill>
                  <a:srgbClr val="000000"/>
                </a:solidFill>
              </a:rPr>
              <a:pPr/>
              <a:t>39</a:t>
            </a:fld>
            <a:endParaRPr lang="en-US" altLang="zh-CN">
              <a:solidFill>
                <a:srgbClr val="000000"/>
              </a:solidFill>
            </a:endParaRPr>
          </a:p>
        </p:txBody>
      </p:sp>
    </p:spTree>
    <p:extLst>
      <p:ext uri="{BB962C8B-B14F-4D97-AF65-F5344CB8AC3E}">
        <p14:creationId xmlns:p14="http://schemas.microsoft.com/office/powerpoint/2010/main" val="28959568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82285"/>
                                        </p:tgtEl>
                                        <p:attrNameLst>
                                          <p:attrName>style.visibility</p:attrName>
                                        </p:attrNameLst>
                                      </p:cBhvr>
                                      <p:to>
                                        <p:strVal val="visible"/>
                                      </p:to>
                                    </p:set>
                                    <p:animEffect transition="in" filter="slide(fromBottom)">
                                      <p:cBhvr>
                                        <p:cTn id="7" dur="500"/>
                                        <p:tgtEl>
                                          <p:spTgt spid="1822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9" fill="hold" grpId="0" nodeType="clickEffect">
                                  <p:stCondLst>
                                    <p:cond delay="0"/>
                                  </p:stCondLst>
                                  <p:childTnLst>
                                    <p:set>
                                      <p:cBhvr>
                                        <p:cTn id="11" dur="1" fill="hold">
                                          <p:stCondLst>
                                            <p:cond delay="0"/>
                                          </p:stCondLst>
                                        </p:cTn>
                                        <p:tgtEl>
                                          <p:spTgt spid="182291"/>
                                        </p:tgtEl>
                                        <p:attrNameLst>
                                          <p:attrName>style.visibility</p:attrName>
                                        </p:attrNameLst>
                                      </p:cBhvr>
                                      <p:to>
                                        <p:strVal val="visible"/>
                                      </p:to>
                                    </p:set>
                                    <p:animEffect transition="in" filter="strips(upLeft)">
                                      <p:cBhvr>
                                        <p:cTn id="12" dur="500"/>
                                        <p:tgtEl>
                                          <p:spTgt spid="1822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82287"/>
                                        </p:tgtEl>
                                        <p:attrNameLst>
                                          <p:attrName>style.visibility</p:attrName>
                                        </p:attrNameLst>
                                      </p:cBhvr>
                                      <p:to>
                                        <p:strVal val="visible"/>
                                      </p:to>
                                    </p:set>
                                    <p:animEffect transition="in" filter="slide(fromBottom)">
                                      <p:cBhvr>
                                        <p:cTn id="17" dur="500"/>
                                        <p:tgtEl>
                                          <p:spTgt spid="1822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9" fill="hold" grpId="0" nodeType="clickEffect">
                                  <p:stCondLst>
                                    <p:cond delay="0"/>
                                  </p:stCondLst>
                                  <p:childTnLst>
                                    <p:set>
                                      <p:cBhvr>
                                        <p:cTn id="21" dur="1" fill="hold">
                                          <p:stCondLst>
                                            <p:cond delay="0"/>
                                          </p:stCondLst>
                                        </p:cTn>
                                        <p:tgtEl>
                                          <p:spTgt spid="182292"/>
                                        </p:tgtEl>
                                        <p:attrNameLst>
                                          <p:attrName>style.visibility</p:attrName>
                                        </p:attrNameLst>
                                      </p:cBhvr>
                                      <p:to>
                                        <p:strVal val="visible"/>
                                      </p:to>
                                    </p:set>
                                    <p:animEffect transition="in" filter="strips(upLeft)">
                                      <p:cBhvr>
                                        <p:cTn id="22" dur="500"/>
                                        <p:tgtEl>
                                          <p:spTgt spid="18229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82284">
                                            <p:txEl>
                                              <p:pRg st="0" end="0"/>
                                            </p:txEl>
                                          </p:spTgt>
                                        </p:tgtEl>
                                        <p:attrNameLst>
                                          <p:attrName>style.visibility</p:attrName>
                                        </p:attrNameLst>
                                      </p:cBhvr>
                                      <p:to>
                                        <p:strVal val="visible"/>
                                      </p:to>
                                    </p:set>
                                    <p:animEffect transition="in" filter="slide(fromBottom)">
                                      <p:cBhvr>
                                        <p:cTn id="27" dur="500"/>
                                        <p:tgtEl>
                                          <p:spTgt spid="182284">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82286"/>
                                        </p:tgtEl>
                                        <p:attrNameLst>
                                          <p:attrName>style.visibility</p:attrName>
                                        </p:attrNameLst>
                                      </p:cBhvr>
                                      <p:to>
                                        <p:strVal val="visible"/>
                                      </p:to>
                                    </p:set>
                                    <p:animEffect transition="in" filter="slide(fromBottom)">
                                      <p:cBhvr>
                                        <p:cTn id="32" dur="500"/>
                                        <p:tgtEl>
                                          <p:spTgt spid="18228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9" fill="hold" grpId="0" nodeType="clickEffect">
                                  <p:stCondLst>
                                    <p:cond delay="0"/>
                                  </p:stCondLst>
                                  <p:childTnLst>
                                    <p:set>
                                      <p:cBhvr>
                                        <p:cTn id="36" dur="1" fill="hold">
                                          <p:stCondLst>
                                            <p:cond delay="0"/>
                                          </p:stCondLst>
                                        </p:cTn>
                                        <p:tgtEl>
                                          <p:spTgt spid="182293"/>
                                        </p:tgtEl>
                                        <p:attrNameLst>
                                          <p:attrName>style.visibility</p:attrName>
                                        </p:attrNameLst>
                                      </p:cBhvr>
                                      <p:to>
                                        <p:strVal val="visible"/>
                                      </p:to>
                                    </p:set>
                                    <p:animEffect transition="in" filter="strips(upLeft)">
                                      <p:cBhvr>
                                        <p:cTn id="37" dur="500"/>
                                        <p:tgtEl>
                                          <p:spTgt spid="18229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182289"/>
                                        </p:tgtEl>
                                        <p:attrNameLst>
                                          <p:attrName>style.visibility</p:attrName>
                                        </p:attrNameLst>
                                      </p:cBhvr>
                                      <p:to>
                                        <p:strVal val="visible"/>
                                      </p:to>
                                    </p:set>
                                    <p:animEffect transition="in" filter="slide(fromBottom)">
                                      <p:cBhvr>
                                        <p:cTn id="42" dur="500"/>
                                        <p:tgtEl>
                                          <p:spTgt spid="18228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9" fill="hold" grpId="0" nodeType="clickEffect">
                                  <p:stCondLst>
                                    <p:cond delay="0"/>
                                  </p:stCondLst>
                                  <p:childTnLst>
                                    <p:set>
                                      <p:cBhvr>
                                        <p:cTn id="46" dur="1" fill="hold">
                                          <p:stCondLst>
                                            <p:cond delay="0"/>
                                          </p:stCondLst>
                                        </p:cTn>
                                        <p:tgtEl>
                                          <p:spTgt spid="182294"/>
                                        </p:tgtEl>
                                        <p:attrNameLst>
                                          <p:attrName>style.visibility</p:attrName>
                                        </p:attrNameLst>
                                      </p:cBhvr>
                                      <p:to>
                                        <p:strVal val="visible"/>
                                      </p:to>
                                    </p:set>
                                    <p:animEffect transition="in" filter="strips(upLeft)">
                                      <p:cBhvr>
                                        <p:cTn id="47" dur="500"/>
                                        <p:tgtEl>
                                          <p:spTgt spid="18229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182290"/>
                                        </p:tgtEl>
                                        <p:attrNameLst>
                                          <p:attrName>style.visibility</p:attrName>
                                        </p:attrNameLst>
                                      </p:cBhvr>
                                      <p:to>
                                        <p:strVal val="visible"/>
                                      </p:to>
                                    </p:set>
                                    <p:animEffect transition="in" filter="slide(fromBottom)">
                                      <p:cBhvr>
                                        <p:cTn id="52" dur="500"/>
                                        <p:tgtEl>
                                          <p:spTgt spid="18229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182288"/>
                                        </p:tgtEl>
                                        <p:attrNameLst>
                                          <p:attrName>style.visibility</p:attrName>
                                        </p:attrNameLst>
                                      </p:cBhvr>
                                      <p:to>
                                        <p:strVal val="visible"/>
                                      </p:to>
                                    </p:set>
                                    <p:animEffect transition="in" filter="slide(fromBottom)">
                                      <p:cBhvr>
                                        <p:cTn id="57" dur="500"/>
                                        <p:tgtEl>
                                          <p:spTgt spid="18228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8" presetClass="entr" presetSubtype="9" fill="hold" grpId="0" nodeType="clickEffect">
                                  <p:stCondLst>
                                    <p:cond delay="0"/>
                                  </p:stCondLst>
                                  <p:childTnLst>
                                    <p:set>
                                      <p:cBhvr>
                                        <p:cTn id="61" dur="1" fill="hold">
                                          <p:stCondLst>
                                            <p:cond delay="0"/>
                                          </p:stCondLst>
                                        </p:cTn>
                                        <p:tgtEl>
                                          <p:spTgt spid="182295"/>
                                        </p:tgtEl>
                                        <p:attrNameLst>
                                          <p:attrName>style.visibility</p:attrName>
                                        </p:attrNameLst>
                                      </p:cBhvr>
                                      <p:to>
                                        <p:strVal val="visible"/>
                                      </p:to>
                                    </p:set>
                                    <p:animEffect transition="in" filter="strips(upLeft)">
                                      <p:cBhvr>
                                        <p:cTn id="62" dur="500"/>
                                        <p:tgtEl>
                                          <p:spTgt spid="18229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8" presetClass="entr" presetSubtype="9" fill="hold" grpId="0" nodeType="clickEffect">
                                  <p:stCondLst>
                                    <p:cond delay="0"/>
                                  </p:stCondLst>
                                  <p:childTnLst>
                                    <p:set>
                                      <p:cBhvr>
                                        <p:cTn id="66" dur="1" fill="hold">
                                          <p:stCondLst>
                                            <p:cond delay="0"/>
                                          </p:stCondLst>
                                        </p:cTn>
                                        <p:tgtEl>
                                          <p:spTgt spid="182296"/>
                                        </p:tgtEl>
                                        <p:attrNameLst>
                                          <p:attrName>style.visibility</p:attrName>
                                        </p:attrNameLst>
                                      </p:cBhvr>
                                      <p:to>
                                        <p:strVal val="visible"/>
                                      </p:to>
                                    </p:set>
                                    <p:animEffect transition="in" filter="strips(upLeft)">
                                      <p:cBhvr>
                                        <p:cTn id="67" dur="500"/>
                                        <p:tgtEl>
                                          <p:spTgt spid="182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84" grpId="0" build="p" autoUpdateAnimBg="0"/>
      <p:bldP spid="182285" grpId="0" autoUpdateAnimBg="0"/>
      <p:bldP spid="182286" grpId="0" autoUpdateAnimBg="0"/>
      <p:bldP spid="182287" grpId="0" autoUpdateAnimBg="0"/>
      <p:bldP spid="182288" grpId="0" autoUpdateAnimBg="0"/>
      <p:bldP spid="182289" grpId="0" autoUpdateAnimBg="0"/>
      <p:bldP spid="182290" grpId="0" autoUpdateAnimBg="0"/>
      <p:bldP spid="182291" grpId="0" animBg="1"/>
      <p:bldP spid="182292" grpId="0" animBg="1"/>
      <p:bldP spid="182293" grpId="0" animBg="1"/>
      <p:bldP spid="182294" grpId="0" animBg="1"/>
      <p:bldP spid="182295" grpId="0" animBg="1"/>
      <p:bldP spid="182296"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文本占位符 6"/>
          <p:cNvSpPr>
            <a:spLocks noGrp="1"/>
          </p:cNvSpPr>
          <p:nvPr>
            <p:ph type="body" idx="1"/>
          </p:nvPr>
        </p:nvSpPr>
        <p:spPr/>
        <p:txBody>
          <a:bodyPr>
            <a:normAutofit/>
          </a:bodyPr>
          <a:lstStyle/>
          <a:p>
            <a:r>
              <a:rPr lang="zh-CN" altLang="en-US" dirty="0"/>
              <a:t>语法 </a:t>
            </a:r>
            <a:r>
              <a:rPr lang="en-US" altLang="zh-CN" dirty="0"/>
              <a:t>id := E</a:t>
            </a:r>
          </a:p>
          <a:p>
            <a:r>
              <a:rPr lang="zh-CN" altLang="en-US" dirty="0"/>
              <a:t>语义 计算表达式</a:t>
            </a:r>
            <a:r>
              <a:rPr lang="en-US" altLang="zh-CN" dirty="0"/>
              <a:t>E</a:t>
            </a:r>
            <a:r>
              <a:rPr lang="zh-CN" altLang="en-US" dirty="0"/>
              <a:t>的值之后把值赋给变量</a:t>
            </a:r>
            <a:r>
              <a:rPr lang="en-US" altLang="zh-CN" dirty="0"/>
              <a:t>id</a:t>
            </a:r>
          </a:p>
          <a:p>
            <a:r>
              <a:rPr lang="zh-CN" altLang="en-US" dirty="0"/>
              <a:t>翻译执行过程</a:t>
            </a:r>
          </a:p>
          <a:p>
            <a:pPr lvl="1"/>
            <a:r>
              <a:rPr lang="zh-CN" altLang="en-US" dirty="0"/>
              <a:t>计算 </a:t>
            </a:r>
            <a:r>
              <a:rPr lang="en-US" altLang="zh-CN" dirty="0"/>
              <a:t>id </a:t>
            </a:r>
            <a:r>
              <a:rPr lang="zh-CN" altLang="en-US" dirty="0"/>
              <a:t>的变量地址</a:t>
            </a:r>
          </a:p>
          <a:p>
            <a:pPr lvl="1"/>
            <a:r>
              <a:rPr lang="zh-CN" altLang="en-US" dirty="0"/>
              <a:t>计算右部表达式 </a:t>
            </a:r>
            <a:r>
              <a:rPr lang="en-US" altLang="zh-CN" dirty="0"/>
              <a:t>E </a:t>
            </a:r>
            <a:r>
              <a:rPr lang="zh-CN" altLang="en-US" dirty="0"/>
              <a:t>的值</a:t>
            </a:r>
          </a:p>
          <a:p>
            <a:pPr lvl="1"/>
            <a:r>
              <a:rPr lang="zh-CN" altLang="en-US" dirty="0"/>
              <a:t>如果需要，对 </a:t>
            </a:r>
            <a:r>
              <a:rPr lang="en-US" altLang="zh-CN" dirty="0"/>
              <a:t>E </a:t>
            </a:r>
            <a:r>
              <a:rPr lang="zh-CN" altLang="en-US" dirty="0"/>
              <a:t>进行强制类型转换</a:t>
            </a:r>
          </a:p>
          <a:p>
            <a:pPr lvl="1"/>
            <a:r>
              <a:rPr lang="zh-CN" altLang="en-US" dirty="0"/>
              <a:t>把转换过的 </a:t>
            </a:r>
            <a:r>
              <a:rPr lang="en-US" altLang="zh-CN" dirty="0"/>
              <a:t>E </a:t>
            </a:r>
            <a:r>
              <a:rPr lang="zh-CN" altLang="en-US" dirty="0"/>
              <a:t>值赋予 </a:t>
            </a:r>
            <a:r>
              <a:rPr lang="en-US" altLang="zh-CN" dirty="0"/>
              <a:t>id </a:t>
            </a:r>
            <a:r>
              <a:rPr lang="zh-CN" altLang="en-US" dirty="0"/>
              <a:t>的地址</a:t>
            </a:r>
          </a:p>
          <a:p>
            <a:r>
              <a:rPr lang="zh-CN" altLang="en-US" dirty="0"/>
              <a:t>两种情况</a:t>
            </a:r>
          </a:p>
          <a:p>
            <a:pPr lvl="1"/>
            <a:r>
              <a:rPr lang="zh-CN" altLang="en-US" dirty="0"/>
              <a:t>简单算术表达式及赋值语句</a:t>
            </a:r>
          </a:p>
          <a:p>
            <a:pPr lvl="1"/>
            <a:r>
              <a:rPr lang="zh-CN" altLang="en-US" dirty="0"/>
              <a:t>数组元素的引用</a:t>
            </a:r>
          </a:p>
          <a:p>
            <a:endParaRPr lang="zh-CN" altLang="en-US" dirty="0"/>
          </a:p>
        </p:txBody>
      </p:sp>
      <p:sp>
        <p:nvSpPr>
          <p:cNvPr id="5" name="灯片编号占位符 4"/>
          <p:cNvSpPr>
            <a:spLocks noGrp="1"/>
          </p:cNvSpPr>
          <p:nvPr>
            <p:ph type="sldNum" sz="quarter" idx="4"/>
          </p:nvPr>
        </p:nvSpPr>
        <p:spPr/>
        <p:txBody>
          <a:bodyPr/>
          <a:lstStyle/>
          <a:p>
            <a:fld id="{DBBC0EF6-B603-432C-9C67-7FF4B1EAAA36}" type="slidenum">
              <a:rPr lang="en-US" altLang="zh-CN" smtClean="0">
                <a:solidFill>
                  <a:srgbClr val="000000"/>
                </a:solidFill>
              </a:rPr>
              <a:pPr/>
              <a:t>40</a:t>
            </a:fld>
            <a:endParaRPr lang="en-US" altLang="zh-CN">
              <a:solidFill>
                <a:srgbClr val="000000"/>
              </a:solidFill>
            </a:endParaRPr>
          </a:p>
        </p:txBody>
      </p:sp>
      <p:sp>
        <p:nvSpPr>
          <p:cNvPr id="6" name="标题 5"/>
          <p:cNvSpPr>
            <a:spLocks noGrp="1"/>
          </p:cNvSpPr>
          <p:nvPr>
            <p:ph type="title"/>
          </p:nvPr>
        </p:nvSpPr>
        <p:spPr/>
        <p:txBody>
          <a:bodyPr/>
          <a:lstStyle/>
          <a:p>
            <a:r>
              <a:rPr lang="zh-CN" altLang="en-US" dirty="0"/>
              <a:t>四、中间代码 生成    </a:t>
            </a:r>
            <a:r>
              <a:rPr lang="zh-CN" altLang="en-US" dirty="0">
                <a:solidFill>
                  <a:srgbClr val="FF0000"/>
                </a:solidFill>
              </a:rPr>
              <a:t>     简单赋值语句</a:t>
            </a:r>
            <a:endParaRPr lang="zh-CN" altLang="en-US" dirty="0"/>
          </a:p>
        </p:txBody>
      </p:sp>
    </p:spTree>
    <p:extLst>
      <p:ext uri="{BB962C8B-B14F-4D97-AF65-F5344CB8AC3E}">
        <p14:creationId xmlns:p14="http://schemas.microsoft.com/office/powerpoint/2010/main" val="4423165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a:bodyPr>
          <a:lstStyle/>
          <a:p>
            <a:r>
              <a:rPr lang="zh-CN" altLang="en-US" dirty="0"/>
              <a:t>语义属性</a:t>
            </a:r>
          </a:p>
          <a:p>
            <a:pPr lvl="1"/>
            <a:r>
              <a:rPr lang="en-US" altLang="zh-CN" dirty="0" err="1"/>
              <a:t>id.place</a:t>
            </a:r>
            <a:r>
              <a:rPr lang="en-US" altLang="zh-CN" dirty="0"/>
              <a:t> : id </a:t>
            </a:r>
            <a:r>
              <a:rPr lang="zh-CN" altLang="en-US" dirty="0"/>
              <a:t>对应的存储位置     </a:t>
            </a:r>
          </a:p>
          <a:p>
            <a:pPr lvl="1"/>
            <a:r>
              <a:rPr lang="en-US" altLang="zh-CN" dirty="0" err="1"/>
              <a:t>E.place</a:t>
            </a:r>
            <a:r>
              <a:rPr lang="en-US" altLang="zh-CN" dirty="0"/>
              <a:t> : </a:t>
            </a:r>
            <a:r>
              <a:rPr lang="zh-CN" altLang="en-US" dirty="0"/>
              <a:t>用来存放 </a:t>
            </a:r>
            <a:r>
              <a:rPr lang="en-US" altLang="zh-CN" dirty="0"/>
              <a:t>E </a:t>
            </a:r>
            <a:r>
              <a:rPr lang="zh-CN" altLang="en-US" dirty="0"/>
              <a:t>的值的存储位置</a:t>
            </a:r>
          </a:p>
          <a:p>
            <a:pPr lvl="1"/>
            <a:r>
              <a:rPr lang="en-US" altLang="zh-CN" dirty="0" err="1"/>
              <a:t>E.code</a:t>
            </a:r>
            <a:r>
              <a:rPr lang="en-US" altLang="zh-CN" dirty="0"/>
              <a:t> :  E </a:t>
            </a:r>
            <a:r>
              <a:rPr lang="zh-CN" altLang="en-US" dirty="0"/>
              <a:t>求值的 </a:t>
            </a:r>
            <a:r>
              <a:rPr lang="en-US" altLang="zh-CN" dirty="0"/>
              <a:t>TAC </a:t>
            </a:r>
            <a:r>
              <a:rPr lang="zh-CN" altLang="en-US" dirty="0"/>
              <a:t>语句序列</a:t>
            </a:r>
          </a:p>
          <a:p>
            <a:pPr lvl="1"/>
            <a:r>
              <a:rPr lang="en-US" altLang="zh-CN" dirty="0" err="1"/>
              <a:t>S.code</a:t>
            </a:r>
            <a:r>
              <a:rPr lang="en-US" altLang="zh-CN" dirty="0"/>
              <a:t> :  </a:t>
            </a:r>
            <a:r>
              <a:rPr lang="zh-CN" altLang="en-US" dirty="0"/>
              <a:t>对应于 </a:t>
            </a:r>
            <a:r>
              <a:rPr lang="en-US" altLang="zh-CN" dirty="0"/>
              <a:t>S </a:t>
            </a:r>
            <a:r>
              <a:rPr lang="zh-CN" altLang="en-US" dirty="0"/>
              <a:t>的 </a:t>
            </a:r>
            <a:r>
              <a:rPr lang="en-US" altLang="zh-CN" dirty="0"/>
              <a:t>TAC </a:t>
            </a:r>
            <a:r>
              <a:rPr lang="zh-CN" altLang="en-US" dirty="0"/>
              <a:t>语句序列 </a:t>
            </a:r>
          </a:p>
          <a:p>
            <a:r>
              <a:rPr lang="zh-CN" altLang="en-US" dirty="0"/>
              <a:t>语义函数</a:t>
            </a:r>
            <a:r>
              <a:rPr lang="en-US" altLang="zh-CN" dirty="0"/>
              <a:t>/</a:t>
            </a:r>
            <a:r>
              <a:rPr lang="zh-CN" altLang="en-US" dirty="0"/>
              <a:t>过程</a:t>
            </a:r>
          </a:p>
          <a:p>
            <a:pPr lvl="1"/>
            <a:r>
              <a:rPr lang="en-US" altLang="zh-CN" dirty="0"/>
              <a:t>gen : </a:t>
            </a:r>
            <a:r>
              <a:rPr lang="zh-CN" altLang="en-US" dirty="0"/>
              <a:t>生成一条 </a:t>
            </a:r>
            <a:r>
              <a:rPr lang="en-US" altLang="zh-CN" dirty="0"/>
              <a:t>TAC </a:t>
            </a:r>
            <a:r>
              <a:rPr lang="zh-CN" altLang="en-US" dirty="0"/>
              <a:t>语句</a:t>
            </a:r>
          </a:p>
          <a:p>
            <a:pPr lvl="1"/>
            <a:r>
              <a:rPr lang="en-US" altLang="zh-CN" dirty="0" err="1"/>
              <a:t>newtemp</a:t>
            </a:r>
            <a:r>
              <a:rPr lang="en-US" altLang="zh-CN" dirty="0"/>
              <a:t> : </a:t>
            </a:r>
            <a:r>
              <a:rPr lang="zh-CN" altLang="en-US" dirty="0"/>
              <a:t>在符号表中新建一个从未使用过的名字， 并返回该名字的存储位置</a:t>
            </a:r>
          </a:p>
          <a:p>
            <a:pPr lvl="1"/>
            <a:r>
              <a:rPr lang="en-US" altLang="zh-CN" dirty="0"/>
              <a:t>|| </a:t>
            </a:r>
            <a:r>
              <a:rPr lang="zh-CN" altLang="en-US" dirty="0"/>
              <a:t>是</a:t>
            </a:r>
            <a:r>
              <a:rPr lang="en-US" altLang="zh-CN" dirty="0"/>
              <a:t>TAC </a:t>
            </a:r>
            <a:r>
              <a:rPr lang="zh-CN" altLang="en-US" dirty="0"/>
              <a:t>语句序列之间的链接运算 </a:t>
            </a:r>
          </a:p>
          <a:p>
            <a:endParaRPr lang="zh-CN" altLang="en-US" dirty="0"/>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赋值语句</a:t>
            </a:r>
            <a:endParaRPr lang="zh-CN" altLang="en-US" dirty="0"/>
          </a:p>
        </p:txBody>
      </p:sp>
      <p:sp>
        <p:nvSpPr>
          <p:cNvPr id="4" name="灯片编号占位符 3">
            <a:extLst>
              <a:ext uri="{FF2B5EF4-FFF2-40B4-BE49-F238E27FC236}">
                <a16:creationId xmlns:a16="http://schemas.microsoft.com/office/drawing/2014/main" id="{37822364-0C44-41ED-B6F6-6745CDFB7C47}"/>
              </a:ext>
            </a:extLst>
          </p:cNvPr>
          <p:cNvSpPr>
            <a:spLocks noGrp="1"/>
          </p:cNvSpPr>
          <p:nvPr>
            <p:ph type="sldNum" sz="quarter" idx="4"/>
          </p:nvPr>
        </p:nvSpPr>
        <p:spPr/>
        <p:txBody>
          <a:bodyPr/>
          <a:lstStyle/>
          <a:p>
            <a:fld id="{565CE74E-AB26-4998-AD42-012C4C1AD076}" type="slidenum">
              <a:rPr lang="zh-CN" altLang="en-US" smtClean="0"/>
              <a:pPr/>
              <a:t>41</a:t>
            </a:fld>
            <a:endParaRPr lang="zh-CN" altLang="en-US"/>
          </a:p>
        </p:txBody>
      </p:sp>
    </p:spTree>
    <p:extLst>
      <p:ext uri="{BB962C8B-B14F-4D97-AF65-F5344CB8AC3E}">
        <p14:creationId xmlns:p14="http://schemas.microsoft.com/office/powerpoint/2010/main" val="2089334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赋值语句</a:t>
            </a:r>
            <a:endParaRPr lang="zh-CN" altLang="en-US" dirty="0"/>
          </a:p>
        </p:txBody>
      </p:sp>
      <p:sp>
        <p:nvSpPr>
          <p:cNvPr id="4" name="Rectangle 9"/>
          <p:cNvSpPr txBox="1">
            <a:spLocks noChangeArrowheads="1"/>
          </p:cNvSpPr>
          <p:nvPr/>
        </p:nvSpPr>
        <p:spPr>
          <a:xfrm>
            <a:off x="457200" y="1066800"/>
            <a:ext cx="8534400" cy="1524000"/>
          </a:xfrm>
          <a:prstGeom prst="rect">
            <a:avLst/>
          </a:prstGeom>
          <a:noFill/>
          <a:ln/>
        </p:spPr>
        <p:txBody>
          <a:bodyPr vert="horz" lIns="92075" tIns="46038" rIns="92075" bIns="46038" rtlCol="0">
            <a:normAutofit/>
          </a:bodyPr>
          <a:lst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a:solidFill>
                  <a:srgbClr val="0206AD"/>
                </a:solidFill>
                <a:uFillTx/>
                <a:latin typeface="Times New Roman" panose="02020603050405020304" charset="0"/>
                <a:ea typeface="黑体" panose="02010609060101010101" charset="-122"/>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a:solidFill>
                  <a:srgbClr val="0066FF"/>
                </a:solidFill>
                <a:uFillTx/>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a:solidFill>
                  <a:srgbClr val="0206AD"/>
                </a:solidFill>
                <a:uFillTx/>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10000"/>
              </a:spcBef>
            </a:pPr>
            <a:r>
              <a:rPr lang="zh-CN" altLang="en-US" dirty="0">
                <a:latin typeface="宋体" charset="-122"/>
              </a:rPr>
              <a:t>语义过程</a:t>
            </a:r>
          </a:p>
          <a:p>
            <a:pPr lvl="1">
              <a:spcBef>
                <a:spcPct val="10000"/>
              </a:spcBef>
            </a:pPr>
            <a:r>
              <a:rPr lang="en-US" altLang="zh-CN" dirty="0">
                <a:latin typeface="宋体" charset="-122"/>
              </a:rPr>
              <a:t>lookup(id.name)</a:t>
            </a:r>
            <a:r>
              <a:rPr lang="zh-CN" altLang="en-US" dirty="0">
                <a:latin typeface="宋体" charset="-122"/>
              </a:rPr>
              <a:t>检查在符号表中是否存在</a:t>
            </a:r>
          </a:p>
          <a:p>
            <a:pPr lvl="1">
              <a:spcBef>
                <a:spcPct val="10000"/>
              </a:spcBef>
              <a:buFontTx/>
              <a:buNone/>
            </a:pPr>
            <a:r>
              <a:rPr lang="zh-CN" altLang="en-US" dirty="0">
                <a:latin typeface="宋体" charset="-122"/>
              </a:rPr>
              <a:t>                </a:t>
            </a:r>
            <a:r>
              <a:rPr lang="en-US" altLang="zh-CN" dirty="0">
                <a:latin typeface="宋体" charset="-122"/>
              </a:rPr>
              <a:t>id.name</a:t>
            </a:r>
            <a:r>
              <a:rPr lang="zh-CN" altLang="en-US" dirty="0">
                <a:latin typeface="宋体" charset="-122"/>
              </a:rPr>
              <a:t>的表项</a:t>
            </a:r>
          </a:p>
        </p:txBody>
      </p:sp>
      <p:sp>
        <p:nvSpPr>
          <p:cNvPr id="5" name="Rectangle 10"/>
          <p:cNvSpPr>
            <a:spLocks noChangeArrowheads="1"/>
          </p:cNvSpPr>
          <p:nvPr/>
        </p:nvSpPr>
        <p:spPr bwMode="auto">
          <a:xfrm>
            <a:off x="533400" y="3886200"/>
            <a:ext cx="84582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lvl="1" eaLnBrk="0" hangingPunct="0">
              <a:spcBef>
                <a:spcPct val="20000"/>
              </a:spcBef>
              <a:buClr>
                <a:schemeClr val="folHlink"/>
              </a:buClr>
              <a:buFont typeface="Monotype Sorts" pitchFamily="2" charset="2"/>
              <a:buBlip>
                <a:blip r:embed="rId2"/>
              </a:buBlip>
            </a:pPr>
            <a:r>
              <a:rPr kumimoji="1" lang="en-US" altLang="zh-CN" sz="2800" dirty="0">
                <a:solidFill>
                  <a:srgbClr val="0206AD"/>
                </a:solidFill>
                <a:latin typeface="宋体" charset="-122"/>
              </a:rPr>
              <a:t>emit(x‘:=’</a:t>
            </a:r>
            <a:r>
              <a:rPr kumimoji="1" lang="en-US" altLang="zh-CN" sz="2800" dirty="0" err="1">
                <a:solidFill>
                  <a:srgbClr val="0206AD"/>
                </a:solidFill>
                <a:latin typeface="宋体" charset="-122"/>
              </a:rPr>
              <a:t>y‘+’z</a:t>
            </a:r>
            <a:r>
              <a:rPr kumimoji="1" lang="en-US" altLang="zh-CN" sz="2800" dirty="0">
                <a:solidFill>
                  <a:srgbClr val="0206AD"/>
                </a:solidFill>
                <a:latin typeface="宋体" charset="-122"/>
              </a:rPr>
              <a:t>) </a:t>
            </a:r>
            <a:r>
              <a:rPr kumimoji="1" lang="zh-CN" altLang="en-US" sz="2800" dirty="0">
                <a:solidFill>
                  <a:srgbClr val="0206AD"/>
                </a:solidFill>
                <a:latin typeface="宋体" charset="-122"/>
              </a:rPr>
              <a:t>将生成的三地址代码</a:t>
            </a:r>
            <a:r>
              <a:rPr kumimoji="1" lang="en-US" altLang="zh-CN" sz="2800" dirty="0">
                <a:solidFill>
                  <a:srgbClr val="0206AD"/>
                </a:solidFill>
                <a:latin typeface="宋体" charset="-122"/>
              </a:rPr>
              <a:t>x:=y+z</a:t>
            </a:r>
            <a:r>
              <a:rPr kumimoji="1" lang="zh-CN" altLang="en-US" sz="2800" dirty="0">
                <a:solidFill>
                  <a:srgbClr val="0206AD"/>
                </a:solidFill>
                <a:latin typeface="宋体" charset="-122"/>
              </a:rPr>
              <a:t>发送到输出文件</a:t>
            </a:r>
          </a:p>
          <a:p>
            <a:pPr marL="228600" indent="-228600">
              <a:lnSpc>
                <a:spcPct val="90000"/>
              </a:lnSpc>
              <a:spcBef>
                <a:spcPct val="10000"/>
              </a:spcBef>
              <a:buClr>
                <a:schemeClr val="tx2"/>
              </a:buClr>
              <a:buFont typeface="Wingdings" panose="05000000000000000000" charset="0"/>
              <a:buChar char="n"/>
            </a:pPr>
            <a:r>
              <a:rPr lang="zh-CN" altLang="en-US" sz="3200" b="1" dirty="0">
                <a:solidFill>
                  <a:srgbClr val="0206AD"/>
                </a:solidFill>
                <a:latin typeface="宋体" charset="-122"/>
                <a:ea typeface="黑体" panose="02010609060101010101" charset="-122"/>
              </a:rPr>
              <a:t>属性设置</a:t>
            </a:r>
          </a:p>
          <a:p>
            <a:pPr lvl="1" eaLnBrk="0" hangingPunct="0">
              <a:spcBef>
                <a:spcPct val="20000"/>
              </a:spcBef>
              <a:buClr>
                <a:schemeClr val="folHlink"/>
              </a:buClr>
              <a:buFont typeface="Monotype Sorts" pitchFamily="2" charset="2"/>
              <a:buBlip>
                <a:blip r:embed="rId2"/>
              </a:buBlip>
            </a:pPr>
            <a:r>
              <a:rPr kumimoji="1" lang="zh-CN" altLang="en-US" sz="2800" dirty="0">
                <a:solidFill>
                  <a:srgbClr val="0206AD"/>
                </a:solidFill>
                <a:latin typeface="宋体" charset="-122"/>
              </a:rPr>
              <a:t>存储位置 </a:t>
            </a:r>
            <a:r>
              <a:rPr kumimoji="1" lang="en-US" altLang="zh-CN" sz="2800" dirty="0">
                <a:solidFill>
                  <a:srgbClr val="0206AD"/>
                </a:solidFill>
                <a:latin typeface="宋体" charset="-122"/>
              </a:rPr>
              <a:t>place</a:t>
            </a:r>
          </a:p>
        </p:txBody>
      </p:sp>
      <p:sp>
        <p:nvSpPr>
          <p:cNvPr id="6" name="Rectangle 11"/>
          <p:cNvSpPr>
            <a:spLocks noChangeArrowheads="1"/>
          </p:cNvSpPr>
          <p:nvPr/>
        </p:nvSpPr>
        <p:spPr bwMode="auto">
          <a:xfrm>
            <a:off x="1181100" y="2941638"/>
            <a:ext cx="31623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2800" dirty="0">
                <a:solidFill>
                  <a:srgbClr val="0206AD"/>
                </a:solidFill>
                <a:latin typeface="宋体" charset="-122"/>
              </a:rPr>
              <a:t>lookup(id.name)=</a:t>
            </a:r>
          </a:p>
        </p:txBody>
      </p:sp>
      <p:sp>
        <p:nvSpPr>
          <p:cNvPr id="7" name="AutoShape 12"/>
          <p:cNvSpPr>
            <a:spLocks/>
          </p:cNvSpPr>
          <p:nvPr/>
        </p:nvSpPr>
        <p:spPr bwMode="auto">
          <a:xfrm>
            <a:off x="4267200" y="2819400"/>
            <a:ext cx="152400" cy="838200"/>
          </a:xfrm>
          <a:prstGeom prst="leftBrace">
            <a:avLst>
              <a:gd name="adj1" fmla="val 45833"/>
              <a:gd name="adj2" fmla="val 50000"/>
            </a:avLst>
          </a:prstGeom>
          <a:noFill/>
          <a:ln w="381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sp>
        <p:nvSpPr>
          <p:cNvPr id="8" name="Rectangle 13"/>
          <p:cNvSpPr>
            <a:spLocks noChangeArrowheads="1"/>
          </p:cNvSpPr>
          <p:nvPr/>
        </p:nvSpPr>
        <p:spPr bwMode="auto">
          <a:xfrm>
            <a:off x="4267200" y="2590800"/>
            <a:ext cx="449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2800">
                <a:solidFill>
                  <a:srgbClr val="0206AD"/>
                </a:solidFill>
                <a:latin typeface="宋体" charset="-122"/>
              </a:rPr>
              <a:t>id.entry id.name</a:t>
            </a:r>
            <a:r>
              <a:rPr kumimoji="1" lang="zh-CN" altLang="en-US" sz="2800">
                <a:solidFill>
                  <a:srgbClr val="0206AD"/>
                </a:solidFill>
                <a:latin typeface="宋体" charset="-122"/>
              </a:rPr>
              <a:t>在表中</a:t>
            </a:r>
          </a:p>
        </p:txBody>
      </p:sp>
      <p:sp>
        <p:nvSpPr>
          <p:cNvPr id="9" name="Rectangle 14"/>
          <p:cNvSpPr>
            <a:spLocks noChangeArrowheads="1"/>
          </p:cNvSpPr>
          <p:nvPr/>
        </p:nvSpPr>
        <p:spPr bwMode="auto">
          <a:xfrm>
            <a:off x="4597400" y="3276600"/>
            <a:ext cx="2333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dirty="0">
                <a:solidFill>
                  <a:srgbClr val="0206AD"/>
                </a:solidFill>
                <a:latin typeface="宋体" charset="-122"/>
              </a:rPr>
              <a:t>nil     </a:t>
            </a:r>
            <a:r>
              <a:rPr kumimoji="1" lang="zh-CN" altLang="en-US" sz="2800" dirty="0">
                <a:solidFill>
                  <a:srgbClr val="0206AD"/>
                </a:solidFill>
                <a:latin typeface="宋体" charset="-122"/>
              </a:rPr>
              <a:t>否则</a:t>
            </a:r>
          </a:p>
        </p:txBody>
      </p:sp>
      <p:sp>
        <p:nvSpPr>
          <p:cNvPr id="2" name="灯片编号占位符 1">
            <a:extLst>
              <a:ext uri="{FF2B5EF4-FFF2-40B4-BE49-F238E27FC236}">
                <a16:creationId xmlns:a16="http://schemas.microsoft.com/office/drawing/2014/main" id="{99711F2E-8A98-425B-826D-B061544977DB}"/>
              </a:ext>
            </a:extLst>
          </p:cNvPr>
          <p:cNvSpPr>
            <a:spLocks noGrp="1"/>
          </p:cNvSpPr>
          <p:nvPr>
            <p:ph type="sldNum" sz="quarter" idx="4"/>
          </p:nvPr>
        </p:nvSpPr>
        <p:spPr/>
        <p:txBody>
          <a:bodyPr/>
          <a:lstStyle/>
          <a:p>
            <a:fld id="{565CE74E-AB26-4998-AD42-012C4C1AD076}" type="slidenum">
              <a:rPr lang="zh-CN" altLang="en-US" smtClean="0"/>
              <a:pPr/>
              <a:t>42</a:t>
            </a:fld>
            <a:endParaRPr lang="zh-CN" altLang="en-US"/>
          </a:p>
        </p:txBody>
      </p:sp>
    </p:spTree>
    <p:extLst>
      <p:ext uri="{BB962C8B-B14F-4D97-AF65-F5344CB8AC3E}">
        <p14:creationId xmlns:p14="http://schemas.microsoft.com/office/powerpoint/2010/main" val="4211818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Bottom)">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slide(fromBottom)">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slide(fromBottom)">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lide(fromBottom)">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outHorizont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slide(fromBottom)">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slide(fromBottom)">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5">
                                            <p:txEl>
                                              <p:pRg st="0" end="0"/>
                                            </p:txEl>
                                          </p:spTgt>
                                        </p:tgtEl>
                                        <p:attrNameLst>
                                          <p:attrName>style.visibility</p:attrName>
                                        </p:attrNameLst>
                                      </p:cBhvr>
                                      <p:to>
                                        <p:strVal val="visible"/>
                                      </p:to>
                                    </p:set>
                                    <p:animEffect transition="in" filter="slide(fromBottom)">
                                      <p:cBhvr>
                                        <p:cTn id="42" dur="500"/>
                                        <p:tgtEl>
                                          <p:spTgt spid="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5">
                                            <p:txEl>
                                              <p:pRg st="1" end="1"/>
                                            </p:txEl>
                                          </p:spTgt>
                                        </p:tgtEl>
                                        <p:attrNameLst>
                                          <p:attrName>style.visibility</p:attrName>
                                        </p:attrNameLst>
                                      </p:cBhvr>
                                      <p:to>
                                        <p:strVal val="visible"/>
                                      </p:to>
                                    </p:set>
                                    <p:animEffect transition="in" filter="slide(fromBottom)">
                                      <p:cBhvr>
                                        <p:cTn id="47" dur="500"/>
                                        <p:tgtEl>
                                          <p:spTgt spid="5">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5">
                                            <p:txEl>
                                              <p:pRg st="2" end="2"/>
                                            </p:txEl>
                                          </p:spTgt>
                                        </p:tgtEl>
                                        <p:attrNameLst>
                                          <p:attrName>style.visibility</p:attrName>
                                        </p:attrNameLst>
                                      </p:cBhvr>
                                      <p:to>
                                        <p:strVal val="visible"/>
                                      </p:to>
                                    </p:set>
                                    <p:animEffect transition="in" filter="slide(fromBottom)">
                                      <p:cBhvr>
                                        <p:cTn id="5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autoUpdateAnimBg="0"/>
      <p:bldP spid="5" grpId="0" build="p" bldLvl="2" autoUpdateAnimBg="0"/>
      <p:bldP spid="6" grpId="0" autoUpdateAnimBg="0"/>
      <p:bldP spid="7" grpId="0" animBg="1"/>
      <p:bldP spid="8" grpId="0" autoUpdateAnimBg="0"/>
      <p:bldP spid="9"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228600" y="0"/>
            <a:ext cx="8763000" cy="685800"/>
          </a:xfrm>
        </p:spPr>
        <p:txBody>
          <a:bodyPr/>
          <a:lstStyle/>
          <a:p>
            <a:r>
              <a:rPr lang="zh-CN" altLang="en-US" sz="3600" dirty="0">
                <a:solidFill>
                  <a:schemeClr val="hlink"/>
                </a:solidFill>
                <a:latin typeface="宋体" charset="-122"/>
              </a:rPr>
              <a:t>产生赋值语句三地址代码的翻译模式</a:t>
            </a:r>
            <a:endParaRPr lang="en-US" altLang="zh-CN" sz="3600" dirty="0">
              <a:solidFill>
                <a:schemeClr val="hlink"/>
              </a:solidFill>
              <a:latin typeface="宋体" charset="-122"/>
            </a:endParaRPr>
          </a:p>
        </p:txBody>
      </p:sp>
      <p:sp>
        <p:nvSpPr>
          <p:cNvPr id="134153" name="Rectangle 9"/>
          <p:cNvSpPr>
            <a:spLocks noChangeArrowheads="1"/>
          </p:cNvSpPr>
          <p:nvPr/>
        </p:nvSpPr>
        <p:spPr bwMode="auto">
          <a:xfrm>
            <a:off x="76200" y="682625"/>
            <a:ext cx="9144000" cy="564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90000"/>
              </a:lnSpc>
              <a:spcBef>
                <a:spcPct val="20000"/>
              </a:spcBef>
              <a:spcAft>
                <a:spcPct val="0"/>
              </a:spcAft>
            </a:pPr>
            <a:r>
              <a:rPr kumimoji="1" lang="en-US" altLang="zh-CN" sz="2400" b="1" dirty="0" err="1">
                <a:solidFill>
                  <a:srgbClr val="000000"/>
                </a:solidFill>
                <a:latin typeface="宋体" charset="-122"/>
              </a:rPr>
              <a:t>S→id</a:t>
            </a:r>
            <a:r>
              <a:rPr kumimoji="1" lang="en-US" altLang="zh-CN" sz="2400" b="1" dirty="0">
                <a:solidFill>
                  <a:srgbClr val="000000"/>
                </a:solidFill>
                <a:latin typeface="宋体" charset="-122"/>
              </a:rPr>
              <a:t>:=E { p:=lookup(id.name); </a:t>
            </a:r>
          </a:p>
          <a:p>
            <a:pPr fontAlgn="base">
              <a:lnSpc>
                <a:spcPct val="90000"/>
              </a:lnSpc>
              <a:spcBef>
                <a:spcPct val="20000"/>
              </a:spcBef>
              <a:spcAft>
                <a:spcPct val="0"/>
              </a:spcAft>
            </a:pPr>
            <a:r>
              <a:rPr kumimoji="1" lang="en-US" altLang="zh-CN" sz="2400" b="1" dirty="0">
                <a:solidFill>
                  <a:srgbClr val="000000"/>
                </a:solidFill>
                <a:latin typeface="宋体" charset="-122"/>
              </a:rPr>
              <a:t> </a:t>
            </a:r>
            <a:r>
              <a:rPr kumimoji="1" lang="en-US" altLang="zh-CN" sz="2400" b="1" dirty="0">
                <a:solidFill>
                  <a:srgbClr val="0000FF"/>
                </a:solidFill>
                <a:latin typeface="宋体" charset="-122"/>
              </a:rPr>
              <a:t>(sub1)</a:t>
            </a:r>
            <a:r>
              <a:rPr kumimoji="1" lang="en-US" altLang="zh-CN" sz="2400" b="1" dirty="0">
                <a:solidFill>
                  <a:srgbClr val="000000"/>
                </a:solidFill>
                <a:latin typeface="宋体" charset="-122"/>
              </a:rPr>
              <a:t>    if p&lt;&gt;nil then emit(p</a:t>
            </a:r>
            <a:r>
              <a:rPr kumimoji="1" lang="en-US" altLang="zh-CN" sz="2400" b="1" dirty="0">
                <a:solidFill>
                  <a:srgbClr val="000000"/>
                </a:solidFill>
                <a:latin typeface="Times New Roman"/>
              </a:rPr>
              <a:t>‘</a:t>
            </a:r>
            <a:r>
              <a:rPr kumimoji="1" lang="en-US" altLang="zh-CN" sz="2400" b="1" dirty="0">
                <a:solidFill>
                  <a:srgbClr val="000000"/>
                </a:solidFill>
                <a:latin typeface="宋体" charset="-122"/>
              </a:rPr>
              <a:t>:=</a:t>
            </a:r>
            <a:r>
              <a:rPr kumimoji="1" lang="en-US" altLang="zh-CN" sz="2400" b="1" dirty="0">
                <a:solidFill>
                  <a:srgbClr val="000000"/>
                </a:solidFill>
                <a:latin typeface="Times New Roman"/>
              </a:rPr>
              <a:t>’</a:t>
            </a:r>
            <a:r>
              <a:rPr kumimoji="1" lang="en-US" altLang="zh-CN" sz="2400" b="1" dirty="0">
                <a:solidFill>
                  <a:srgbClr val="000000"/>
                </a:solidFill>
                <a:latin typeface="宋体" charset="-122"/>
              </a:rPr>
              <a:t> </a:t>
            </a:r>
            <a:r>
              <a:rPr kumimoji="1" lang="en-US" altLang="zh-CN" sz="2400" b="1" dirty="0" err="1">
                <a:solidFill>
                  <a:srgbClr val="000000"/>
                </a:solidFill>
                <a:latin typeface="宋体" charset="-122"/>
              </a:rPr>
              <a:t>E.place</a:t>
            </a:r>
            <a:r>
              <a:rPr kumimoji="1" lang="en-US" altLang="zh-CN" sz="2400" b="1" dirty="0">
                <a:solidFill>
                  <a:srgbClr val="000000"/>
                </a:solidFill>
                <a:latin typeface="宋体" charset="-122"/>
              </a:rPr>
              <a:t>) /*id</a:t>
            </a:r>
            <a:r>
              <a:rPr kumimoji="1" lang="zh-CN" altLang="en-US" sz="2400" b="1" dirty="0">
                <a:solidFill>
                  <a:srgbClr val="000000"/>
                </a:solidFill>
                <a:latin typeface="宋体" charset="-122"/>
              </a:rPr>
              <a:t>在表中*</a:t>
            </a:r>
            <a:r>
              <a:rPr kumimoji="1" lang="en-US" altLang="zh-CN" sz="2400" b="1" dirty="0">
                <a:solidFill>
                  <a:srgbClr val="000000"/>
                </a:solidFill>
                <a:latin typeface="宋体" charset="-122"/>
              </a:rPr>
              <a:t>/</a:t>
            </a:r>
          </a:p>
          <a:p>
            <a:pPr fontAlgn="base">
              <a:lnSpc>
                <a:spcPct val="90000"/>
              </a:lnSpc>
              <a:spcBef>
                <a:spcPct val="20000"/>
              </a:spcBef>
              <a:spcAft>
                <a:spcPct val="0"/>
              </a:spcAft>
            </a:pPr>
            <a:r>
              <a:rPr kumimoji="1" lang="en-US" altLang="zh-CN" sz="2400" b="1" dirty="0">
                <a:solidFill>
                  <a:srgbClr val="000000"/>
                </a:solidFill>
                <a:latin typeface="宋体" charset="-122"/>
              </a:rPr>
              <a:t>                     else error /*id</a:t>
            </a:r>
            <a:r>
              <a:rPr kumimoji="1" lang="zh-CN" altLang="en-US" sz="2400" b="1" dirty="0">
                <a:solidFill>
                  <a:srgbClr val="000000"/>
                </a:solidFill>
                <a:latin typeface="宋体" charset="-122"/>
              </a:rPr>
              <a:t>不在表中*</a:t>
            </a:r>
            <a:r>
              <a:rPr kumimoji="1" lang="en-US" altLang="zh-CN" sz="2400" b="1" dirty="0">
                <a:solidFill>
                  <a:srgbClr val="000000"/>
                </a:solidFill>
                <a:latin typeface="宋体" charset="-122"/>
              </a:rPr>
              <a:t>/ } </a:t>
            </a:r>
          </a:p>
          <a:p>
            <a:pPr fontAlgn="base">
              <a:lnSpc>
                <a:spcPct val="90000"/>
              </a:lnSpc>
              <a:spcBef>
                <a:spcPct val="20000"/>
              </a:spcBef>
              <a:spcAft>
                <a:spcPct val="0"/>
              </a:spcAft>
            </a:pPr>
            <a:r>
              <a:rPr kumimoji="1" lang="en-US" altLang="zh-CN" sz="2400" b="1" dirty="0">
                <a:solidFill>
                  <a:srgbClr val="000000"/>
                </a:solidFill>
                <a:latin typeface="宋体" charset="-122"/>
              </a:rPr>
              <a:t>E→E</a:t>
            </a:r>
            <a:r>
              <a:rPr kumimoji="1" lang="en-US" altLang="zh-CN" sz="2400" b="1" baseline="-10000" dirty="0">
                <a:solidFill>
                  <a:srgbClr val="000000"/>
                </a:solidFill>
                <a:latin typeface="宋体" charset="-122"/>
              </a:rPr>
              <a:t>1</a:t>
            </a:r>
            <a:r>
              <a:rPr kumimoji="1" lang="en-US" altLang="zh-CN" sz="2400" b="1" dirty="0">
                <a:solidFill>
                  <a:srgbClr val="000000"/>
                </a:solidFill>
                <a:latin typeface="宋体" charset="-122"/>
              </a:rPr>
              <a:t>+E</a:t>
            </a:r>
            <a:r>
              <a:rPr kumimoji="1" lang="en-US" altLang="zh-CN" sz="2400" b="1" baseline="-10000" dirty="0">
                <a:solidFill>
                  <a:srgbClr val="000000"/>
                </a:solidFill>
                <a:latin typeface="宋体" charset="-122"/>
              </a:rPr>
              <a:t>2</a:t>
            </a:r>
            <a:r>
              <a:rPr kumimoji="1" lang="en-US" altLang="zh-CN" sz="2400" b="1" dirty="0">
                <a:solidFill>
                  <a:srgbClr val="000000"/>
                </a:solidFill>
                <a:latin typeface="宋体" charset="-122"/>
              </a:rPr>
              <a:t>  { </a:t>
            </a:r>
            <a:r>
              <a:rPr kumimoji="1" lang="en-US" altLang="zh-CN" sz="2400" b="1" dirty="0" err="1">
                <a:solidFill>
                  <a:srgbClr val="000000"/>
                </a:solidFill>
                <a:latin typeface="宋体" charset="-122"/>
              </a:rPr>
              <a:t>E.place</a:t>
            </a:r>
            <a:r>
              <a:rPr kumimoji="1" lang="en-US" altLang="zh-CN" sz="2400" b="1" dirty="0">
                <a:solidFill>
                  <a:srgbClr val="000000"/>
                </a:solidFill>
                <a:latin typeface="宋体" charset="-122"/>
              </a:rPr>
              <a:t>=</a:t>
            </a:r>
            <a:r>
              <a:rPr kumimoji="1" lang="en-US" altLang="zh-CN" sz="2400" b="1" dirty="0" err="1">
                <a:solidFill>
                  <a:srgbClr val="000000"/>
                </a:solidFill>
                <a:latin typeface="宋体" charset="-122"/>
              </a:rPr>
              <a:t>newtemp</a:t>
            </a:r>
            <a:r>
              <a:rPr kumimoji="1" lang="en-US" altLang="zh-CN" sz="2400" b="1" dirty="0">
                <a:solidFill>
                  <a:srgbClr val="000000"/>
                </a:solidFill>
                <a:latin typeface="宋体" charset="-122"/>
              </a:rPr>
              <a:t>;</a:t>
            </a:r>
          </a:p>
          <a:p>
            <a:pPr fontAlgn="base">
              <a:lnSpc>
                <a:spcPct val="90000"/>
              </a:lnSpc>
              <a:spcBef>
                <a:spcPct val="20000"/>
              </a:spcBef>
              <a:spcAft>
                <a:spcPct val="0"/>
              </a:spcAft>
            </a:pPr>
            <a:r>
              <a:rPr kumimoji="1" lang="en-US" altLang="zh-CN" sz="2400" b="1" dirty="0">
                <a:solidFill>
                  <a:srgbClr val="0000FF"/>
                </a:solidFill>
                <a:latin typeface="宋体" charset="-122"/>
              </a:rPr>
              <a:t> (sub2)</a:t>
            </a:r>
            <a:r>
              <a:rPr kumimoji="1" lang="en-US" altLang="zh-CN" sz="2400" b="1" dirty="0">
                <a:solidFill>
                  <a:srgbClr val="000000"/>
                </a:solidFill>
                <a:latin typeface="宋体" charset="-122"/>
              </a:rPr>
              <a:t>    emit(</a:t>
            </a:r>
            <a:r>
              <a:rPr kumimoji="1" lang="en-US" altLang="zh-CN" sz="2400" b="1" dirty="0" err="1">
                <a:solidFill>
                  <a:srgbClr val="000000"/>
                </a:solidFill>
                <a:latin typeface="宋体" charset="-122"/>
              </a:rPr>
              <a:t>E.place</a:t>
            </a:r>
            <a:r>
              <a:rPr kumimoji="1" lang="en-US" altLang="zh-CN" sz="2400" b="1" dirty="0">
                <a:solidFill>
                  <a:srgbClr val="000000"/>
                </a:solidFill>
                <a:latin typeface="宋体" charset="-122"/>
              </a:rPr>
              <a:t>':='E</a:t>
            </a:r>
            <a:r>
              <a:rPr kumimoji="1" lang="en-US" altLang="zh-CN" sz="2400" b="1" baseline="-10000" dirty="0">
                <a:solidFill>
                  <a:srgbClr val="000000"/>
                </a:solidFill>
                <a:latin typeface="宋体" charset="-122"/>
              </a:rPr>
              <a:t>1</a:t>
            </a:r>
            <a:r>
              <a:rPr kumimoji="1" lang="en-US" altLang="zh-CN" sz="2400" b="1" dirty="0">
                <a:solidFill>
                  <a:srgbClr val="000000"/>
                </a:solidFill>
                <a:latin typeface="宋体" charset="-122"/>
              </a:rPr>
              <a:t>.place'+'E</a:t>
            </a:r>
            <a:r>
              <a:rPr kumimoji="1" lang="en-US" altLang="zh-CN" sz="2400" b="1" baseline="-10000" dirty="0">
                <a:solidFill>
                  <a:srgbClr val="000000"/>
                </a:solidFill>
                <a:latin typeface="宋体" charset="-122"/>
              </a:rPr>
              <a:t>2</a:t>
            </a:r>
            <a:r>
              <a:rPr kumimoji="1" lang="en-US" altLang="zh-CN" sz="2400" b="1" dirty="0">
                <a:solidFill>
                  <a:srgbClr val="000000"/>
                </a:solidFill>
                <a:latin typeface="宋体" charset="-122"/>
              </a:rPr>
              <a:t>.place')} </a:t>
            </a:r>
          </a:p>
          <a:p>
            <a:pPr fontAlgn="base">
              <a:lnSpc>
                <a:spcPct val="90000"/>
              </a:lnSpc>
              <a:spcBef>
                <a:spcPct val="20000"/>
              </a:spcBef>
              <a:spcAft>
                <a:spcPct val="0"/>
              </a:spcAft>
            </a:pPr>
            <a:r>
              <a:rPr kumimoji="1" lang="en-US" altLang="zh-CN" sz="2400" b="1" dirty="0">
                <a:solidFill>
                  <a:srgbClr val="000000"/>
                </a:solidFill>
                <a:latin typeface="宋体" charset="-122"/>
              </a:rPr>
              <a:t>E→E</a:t>
            </a:r>
            <a:r>
              <a:rPr kumimoji="1" lang="en-US" altLang="zh-CN" sz="2400" b="1" baseline="-10000" dirty="0">
                <a:solidFill>
                  <a:srgbClr val="000000"/>
                </a:solidFill>
                <a:latin typeface="宋体" charset="-122"/>
              </a:rPr>
              <a:t>1</a:t>
            </a:r>
            <a:r>
              <a:rPr kumimoji="1" lang="en-US" altLang="zh-CN" sz="2400" b="1" dirty="0">
                <a:solidFill>
                  <a:srgbClr val="000000"/>
                </a:solidFill>
                <a:latin typeface="宋体" charset="-122"/>
              </a:rPr>
              <a:t>*E</a:t>
            </a:r>
            <a:r>
              <a:rPr kumimoji="1" lang="en-US" altLang="zh-CN" sz="2400" b="1" baseline="-10000" dirty="0">
                <a:solidFill>
                  <a:srgbClr val="000000"/>
                </a:solidFill>
                <a:latin typeface="宋体" charset="-122"/>
              </a:rPr>
              <a:t>2</a:t>
            </a:r>
            <a:r>
              <a:rPr kumimoji="1" lang="en-US" altLang="zh-CN" sz="2400" b="1" dirty="0">
                <a:solidFill>
                  <a:srgbClr val="000000"/>
                </a:solidFill>
                <a:latin typeface="宋体" charset="-122"/>
              </a:rPr>
              <a:t>  { </a:t>
            </a:r>
            <a:r>
              <a:rPr kumimoji="1" lang="en-US" altLang="zh-CN" sz="2400" b="1" dirty="0" err="1">
                <a:solidFill>
                  <a:srgbClr val="000000"/>
                </a:solidFill>
                <a:latin typeface="宋体" charset="-122"/>
              </a:rPr>
              <a:t>E.place</a:t>
            </a:r>
            <a:r>
              <a:rPr kumimoji="1" lang="en-US" altLang="zh-CN" sz="2400" b="1" dirty="0">
                <a:solidFill>
                  <a:srgbClr val="000000"/>
                </a:solidFill>
                <a:latin typeface="宋体" charset="-122"/>
              </a:rPr>
              <a:t>=</a:t>
            </a:r>
            <a:r>
              <a:rPr kumimoji="1" lang="en-US" altLang="zh-CN" sz="2400" b="1" dirty="0" err="1">
                <a:solidFill>
                  <a:srgbClr val="000000"/>
                </a:solidFill>
                <a:latin typeface="宋体" charset="-122"/>
              </a:rPr>
              <a:t>newtemp</a:t>
            </a:r>
            <a:r>
              <a:rPr kumimoji="1" lang="en-US" altLang="zh-CN" sz="2400" b="1" dirty="0">
                <a:solidFill>
                  <a:srgbClr val="000000"/>
                </a:solidFill>
                <a:latin typeface="宋体" charset="-122"/>
              </a:rPr>
              <a:t>;</a:t>
            </a:r>
          </a:p>
          <a:p>
            <a:pPr fontAlgn="base">
              <a:lnSpc>
                <a:spcPct val="90000"/>
              </a:lnSpc>
              <a:spcBef>
                <a:spcPct val="20000"/>
              </a:spcBef>
              <a:spcAft>
                <a:spcPct val="0"/>
              </a:spcAft>
            </a:pPr>
            <a:r>
              <a:rPr kumimoji="1" lang="en-US" altLang="zh-CN" sz="2400" b="1" dirty="0">
                <a:solidFill>
                  <a:srgbClr val="000000"/>
                </a:solidFill>
                <a:latin typeface="宋体" charset="-122"/>
              </a:rPr>
              <a:t> </a:t>
            </a:r>
            <a:r>
              <a:rPr kumimoji="1" lang="en-US" altLang="zh-CN" sz="2400" b="1" dirty="0">
                <a:solidFill>
                  <a:srgbClr val="0000FF"/>
                </a:solidFill>
                <a:latin typeface="宋体" charset="-122"/>
              </a:rPr>
              <a:t>(sub3)</a:t>
            </a:r>
            <a:r>
              <a:rPr kumimoji="1" lang="en-US" altLang="zh-CN" sz="2400" b="1" dirty="0">
                <a:solidFill>
                  <a:srgbClr val="000000"/>
                </a:solidFill>
                <a:latin typeface="宋体" charset="-122"/>
              </a:rPr>
              <a:t>    emit(</a:t>
            </a:r>
            <a:r>
              <a:rPr kumimoji="1" lang="en-US" altLang="zh-CN" sz="2400" b="1" dirty="0" err="1">
                <a:solidFill>
                  <a:srgbClr val="000000"/>
                </a:solidFill>
                <a:latin typeface="宋体" charset="-122"/>
              </a:rPr>
              <a:t>E.place</a:t>
            </a:r>
            <a:r>
              <a:rPr kumimoji="1" lang="en-US" altLang="zh-CN" sz="2400" b="1" dirty="0">
                <a:solidFill>
                  <a:srgbClr val="000000"/>
                </a:solidFill>
                <a:latin typeface="宋体" charset="-122"/>
              </a:rPr>
              <a:t>':='E</a:t>
            </a:r>
            <a:r>
              <a:rPr kumimoji="1" lang="en-US" altLang="zh-CN" sz="2400" b="1" baseline="-10000" dirty="0">
                <a:solidFill>
                  <a:srgbClr val="000000"/>
                </a:solidFill>
                <a:latin typeface="宋体" charset="-122"/>
              </a:rPr>
              <a:t>1</a:t>
            </a:r>
            <a:r>
              <a:rPr kumimoji="1" lang="en-US" altLang="zh-CN" sz="2400" b="1" dirty="0">
                <a:solidFill>
                  <a:srgbClr val="000000"/>
                </a:solidFill>
                <a:latin typeface="宋体" charset="-122"/>
              </a:rPr>
              <a:t>.place'*'E</a:t>
            </a:r>
            <a:r>
              <a:rPr kumimoji="1" lang="en-US" altLang="zh-CN" sz="2400" b="1" baseline="-10000" dirty="0">
                <a:solidFill>
                  <a:srgbClr val="000000"/>
                </a:solidFill>
                <a:latin typeface="宋体" charset="-122"/>
              </a:rPr>
              <a:t>2</a:t>
            </a:r>
            <a:r>
              <a:rPr kumimoji="1" lang="en-US" altLang="zh-CN" sz="2400" b="1" dirty="0">
                <a:solidFill>
                  <a:srgbClr val="000000"/>
                </a:solidFill>
                <a:latin typeface="宋体" charset="-122"/>
              </a:rPr>
              <a:t>.place')} </a:t>
            </a:r>
          </a:p>
          <a:p>
            <a:pPr fontAlgn="base">
              <a:lnSpc>
                <a:spcPct val="90000"/>
              </a:lnSpc>
              <a:spcBef>
                <a:spcPct val="20000"/>
              </a:spcBef>
              <a:spcAft>
                <a:spcPct val="0"/>
              </a:spcAft>
            </a:pPr>
            <a:r>
              <a:rPr kumimoji="1" lang="en-US" altLang="zh-CN" sz="2400" b="1" dirty="0">
                <a:solidFill>
                  <a:srgbClr val="000000"/>
                </a:solidFill>
                <a:latin typeface="宋体" charset="-122"/>
              </a:rPr>
              <a:t>E→-E</a:t>
            </a:r>
            <a:r>
              <a:rPr kumimoji="1" lang="en-US" altLang="zh-CN" sz="2400" b="1" baseline="-10000" dirty="0">
                <a:solidFill>
                  <a:srgbClr val="000000"/>
                </a:solidFill>
                <a:latin typeface="宋体" charset="-122"/>
              </a:rPr>
              <a:t>1</a:t>
            </a:r>
            <a:r>
              <a:rPr kumimoji="1" lang="en-US" altLang="zh-CN" sz="2400" b="1" dirty="0">
                <a:solidFill>
                  <a:srgbClr val="000000"/>
                </a:solidFill>
                <a:latin typeface="宋体" charset="-122"/>
              </a:rPr>
              <a:t>    { </a:t>
            </a:r>
            <a:r>
              <a:rPr kumimoji="1" lang="en-US" altLang="zh-CN" sz="2400" b="1" dirty="0" err="1">
                <a:solidFill>
                  <a:srgbClr val="000000"/>
                </a:solidFill>
                <a:latin typeface="宋体" charset="-122"/>
              </a:rPr>
              <a:t>E.place</a:t>
            </a:r>
            <a:r>
              <a:rPr kumimoji="1" lang="en-US" altLang="zh-CN" sz="2400" b="1" dirty="0">
                <a:solidFill>
                  <a:srgbClr val="000000"/>
                </a:solidFill>
                <a:latin typeface="宋体" charset="-122"/>
              </a:rPr>
              <a:t>:=</a:t>
            </a:r>
            <a:r>
              <a:rPr kumimoji="1" lang="en-US" altLang="zh-CN" sz="2400" b="1" dirty="0" err="1">
                <a:solidFill>
                  <a:srgbClr val="000000"/>
                </a:solidFill>
                <a:latin typeface="宋体" charset="-122"/>
              </a:rPr>
              <a:t>newtemp</a:t>
            </a:r>
            <a:r>
              <a:rPr kumimoji="1" lang="en-US" altLang="zh-CN" sz="2400" b="1" dirty="0">
                <a:solidFill>
                  <a:srgbClr val="000000"/>
                </a:solidFill>
                <a:latin typeface="宋体" charset="-122"/>
              </a:rPr>
              <a:t>;</a:t>
            </a:r>
          </a:p>
          <a:p>
            <a:pPr fontAlgn="base">
              <a:lnSpc>
                <a:spcPct val="90000"/>
              </a:lnSpc>
              <a:spcBef>
                <a:spcPct val="20000"/>
              </a:spcBef>
              <a:spcAft>
                <a:spcPct val="0"/>
              </a:spcAft>
            </a:pPr>
            <a:r>
              <a:rPr kumimoji="1" lang="en-US" altLang="zh-CN" sz="2400" b="1" dirty="0">
                <a:solidFill>
                  <a:srgbClr val="0000FF"/>
                </a:solidFill>
                <a:latin typeface="宋体" charset="-122"/>
              </a:rPr>
              <a:t> (sub4)</a:t>
            </a:r>
            <a:r>
              <a:rPr kumimoji="1" lang="en-US" altLang="zh-CN" sz="2400" b="1" dirty="0">
                <a:solidFill>
                  <a:srgbClr val="000000"/>
                </a:solidFill>
                <a:latin typeface="宋体" charset="-122"/>
              </a:rPr>
              <a:t>    emit(</a:t>
            </a:r>
            <a:r>
              <a:rPr kumimoji="1" lang="en-US" altLang="zh-CN" sz="2400" b="1" dirty="0" err="1">
                <a:solidFill>
                  <a:srgbClr val="000000"/>
                </a:solidFill>
                <a:latin typeface="宋体" charset="-122"/>
              </a:rPr>
              <a:t>E.place</a:t>
            </a:r>
            <a:r>
              <a:rPr kumimoji="1" lang="en-US" altLang="zh-CN" sz="2400" b="1" dirty="0">
                <a:solidFill>
                  <a:srgbClr val="000000"/>
                </a:solidFill>
                <a:latin typeface="宋体" charset="-122"/>
              </a:rPr>
              <a:t> ´ := ´ ´uminus´E</a:t>
            </a:r>
            <a:r>
              <a:rPr kumimoji="1" lang="en-US" altLang="zh-CN" sz="2400" b="1" baseline="-10000" dirty="0">
                <a:solidFill>
                  <a:srgbClr val="000000"/>
                </a:solidFill>
                <a:latin typeface="宋体" charset="-122"/>
              </a:rPr>
              <a:t>1</a:t>
            </a:r>
            <a:r>
              <a:rPr kumimoji="1" lang="en-US" altLang="zh-CN" sz="2400" b="1" dirty="0">
                <a:solidFill>
                  <a:srgbClr val="000000"/>
                </a:solidFill>
                <a:latin typeface="宋体" charset="-122"/>
              </a:rPr>
              <a:t>.place}</a:t>
            </a:r>
          </a:p>
          <a:p>
            <a:pPr fontAlgn="base">
              <a:lnSpc>
                <a:spcPct val="90000"/>
              </a:lnSpc>
              <a:spcBef>
                <a:spcPct val="20000"/>
              </a:spcBef>
              <a:spcAft>
                <a:spcPct val="0"/>
              </a:spcAft>
            </a:pPr>
            <a:r>
              <a:rPr kumimoji="1" lang="en-US" altLang="zh-CN" sz="2400" b="1" dirty="0">
                <a:solidFill>
                  <a:srgbClr val="000000"/>
                </a:solidFill>
                <a:latin typeface="宋体" charset="-122"/>
              </a:rPr>
              <a:t>E→(E</a:t>
            </a:r>
            <a:r>
              <a:rPr kumimoji="1" lang="en-US" altLang="zh-CN" sz="2400" b="1" baseline="-10000" dirty="0">
                <a:solidFill>
                  <a:srgbClr val="000000"/>
                </a:solidFill>
                <a:latin typeface="宋体" charset="-122"/>
              </a:rPr>
              <a:t>1</a:t>
            </a:r>
            <a:r>
              <a:rPr kumimoji="1" lang="en-US" altLang="zh-CN" sz="2400" b="1" dirty="0">
                <a:solidFill>
                  <a:srgbClr val="000000"/>
                </a:solidFill>
                <a:latin typeface="宋体" charset="-122"/>
              </a:rPr>
              <a:t>)   { </a:t>
            </a:r>
            <a:r>
              <a:rPr kumimoji="1" lang="en-US" altLang="zh-CN" sz="2400" b="1" dirty="0" err="1">
                <a:solidFill>
                  <a:srgbClr val="000000"/>
                </a:solidFill>
                <a:latin typeface="宋体" charset="-122"/>
              </a:rPr>
              <a:t>E.place</a:t>
            </a:r>
            <a:r>
              <a:rPr kumimoji="1" lang="en-US" altLang="zh-CN" sz="2400" b="1" dirty="0">
                <a:solidFill>
                  <a:srgbClr val="000000"/>
                </a:solidFill>
                <a:latin typeface="宋体" charset="-122"/>
              </a:rPr>
              <a:t>:=E</a:t>
            </a:r>
            <a:r>
              <a:rPr kumimoji="1" lang="en-US" altLang="zh-CN" sz="2400" b="1" baseline="-10000" dirty="0">
                <a:solidFill>
                  <a:srgbClr val="000000"/>
                </a:solidFill>
                <a:latin typeface="宋体" charset="-122"/>
              </a:rPr>
              <a:t>1</a:t>
            </a:r>
            <a:r>
              <a:rPr kumimoji="1" lang="en-US" altLang="zh-CN" sz="2400" b="1" dirty="0">
                <a:solidFill>
                  <a:srgbClr val="000000"/>
                </a:solidFill>
                <a:latin typeface="宋体" charset="-122"/>
              </a:rPr>
              <a:t>.place}  </a:t>
            </a:r>
          </a:p>
          <a:p>
            <a:pPr fontAlgn="base">
              <a:lnSpc>
                <a:spcPct val="90000"/>
              </a:lnSpc>
              <a:spcBef>
                <a:spcPct val="20000"/>
              </a:spcBef>
              <a:spcAft>
                <a:spcPct val="0"/>
              </a:spcAft>
            </a:pPr>
            <a:r>
              <a:rPr kumimoji="1" lang="en-US" altLang="zh-CN" sz="2400" b="1" dirty="0">
                <a:solidFill>
                  <a:srgbClr val="0000FF"/>
                </a:solidFill>
                <a:latin typeface="宋体" charset="-122"/>
              </a:rPr>
              <a:t> (sub5)</a:t>
            </a:r>
          </a:p>
          <a:p>
            <a:pPr fontAlgn="base">
              <a:lnSpc>
                <a:spcPct val="90000"/>
              </a:lnSpc>
              <a:spcBef>
                <a:spcPct val="20000"/>
              </a:spcBef>
              <a:spcAft>
                <a:spcPct val="0"/>
              </a:spcAft>
            </a:pPr>
            <a:r>
              <a:rPr kumimoji="1" lang="en-US" altLang="zh-CN" sz="2400" b="1" dirty="0" err="1">
                <a:solidFill>
                  <a:srgbClr val="000000"/>
                </a:solidFill>
                <a:latin typeface="宋体" charset="-122"/>
              </a:rPr>
              <a:t>E→id</a:t>
            </a:r>
            <a:r>
              <a:rPr kumimoji="1" lang="en-US" altLang="zh-CN" sz="2400" b="1" dirty="0">
                <a:solidFill>
                  <a:srgbClr val="000000"/>
                </a:solidFill>
                <a:latin typeface="宋体" charset="-122"/>
              </a:rPr>
              <a:t>    { p:=lookup(id.name);</a:t>
            </a:r>
          </a:p>
          <a:p>
            <a:pPr fontAlgn="base">
              <a:lnSpc>
                <a:spcPct val="90000"/>
              </a:lnSpc>
              <a:spcBef>
                <a:spcPct val="20000"/>
              </a:spcBef>
              <a:spcAft>
                <a:spcPct val="0"/>
              </a:spcAft>
            </a:pPr>
            <a:r>
              <a:rPr kumimoji="1" lang="en-US" altLang="zh-CN" sz="2400" b="1" dirty="0">
                <a:solidFill>
                  <a:srgbClr val="0000FF"/>
                </a:solidFill>
                <a:latin typeface="宋体" charset="-122"/>
              </a:rPr>
              <a:t> (sub6)</a:t>
            </a:r>
            <a:r>
              <a:rPr kumimoji="1" lang="en-US" altLang="zh-CN" sz="2400" b="1" dirty="0">
                <a:solidFill>
                  <a:srgbClr val="000000"/>
                </a:solidFill>
                <a:latin typeface="宋体" charset="-122"/>
              </a:rPr>
              <a:t>    if p&lt;&gt;nil  then  </a:t>
            </a:r>
            <a:r>
              <a:rPr kumimoji="1" lang="en-US" altLang="zh-CN" sz="2400" b="1" dirty="0" err="1">
                <a:solidFill>
                  <a:srgbClr val="000000"/>
                </a:solidFill>
                <a:latin typeface="宋体" charset="-122"/>
              </a:rPr>
              <a:t>E.place</a:t>
            </a:r>
            <a:r>
              <a:rPr kumimoji="1" lang="en-US" altLang="zh-CN" sz="2400" b="1" dirty="0">
                <a:solidFill>
                  <a:srgbClr val="000000"/>
                </a:solidFill>
                <a:latin typeface="宋体" charset="-122"/>
              </a:rPr>
              <a:t>:=p /*id</a:t>
            </a:r>
            <a:r>
              <a:rPr kumimoji="1" lang="zh-CN" altLang="en-US" sz="2400" b="1" dirty="0">
                <a:solidFill>
                  <a:srgbClr val="000000"/>
                </a:solidFill>
                <a:latin typeface="宋体" charset="-122"/>
              </a:rPr>
              <a:t>在表中*</a:t>
            </a:r>
            <a:r>
              <a:rPr kumimoji="1" lang="en-US" altLang="zh-CN" sz="2400" b="1" dirty="0">
                <a:solidFill>
                  <a:srgbClr val="000000"/>
                </a:solidFill>
                <a:latin typeface="宋体" charset="-122"/>
              </a:rPr>
              <a:t>/</a:t>
            </a:r>
          </a:p>
          <a:p>
            <a:pPr fontAlgn="base">
              <a:lnSpc>
                <a:spcPct val="90000"/>
              </a:lnSpc>
              <a:spcBef>
                <a:spcPct val="20000"/>
              </a:spcBef>
              <a:spcAft>
                <a:spcPct val="0"/>
              </a:spcAft>
            </a:pPr>
            <a:r>
              <a:rPr kumimoji="1" lang="en-US" altLang="zh-CN" sz="2400" b="1" dirty="0">
                <a:solidFill>
                  <a:srgbClr val="000000"/>
                </a:solidFill>
                <a:latin typeface="宋体" charset="-122"/>
              </a:rPr>
              <a:t>		          else error/*id</a:t>
            </a:r>
            <a:r>
              <a:rPr kumimoji="1" lang="zh-CN" altLang="en-US" sz="2400" b="1" dirty="0">
                <a:solidFill>
                  <a:srgbClr val="000000"/>
                </a:solidFill>
                <a:latin typeface="宋体" charset="-122"/>
              </a:rPr>
              <a:t>不在表中*</a:t>
            </a:r>
            <a:r>
              <a:rPr kumimoji="1" lang="en-US" altLang="zh-CN" sz="2400" b="1" dirty="0">
                <a:solidFill>
                  <a:srgbClr val="000000"/>
                </a:solidFill>
                <a:latin typeface="宋体" charset="-122"/>
              </a:rPr>
              <a:t>/ } </a:t>
            </a:r>
          </a:p>
        </p:txBody>
      </p:sp>
      <p:grpSp>
        <p:nvGrpSpPr>
          <p:cNvPr id="134164" name="Group 20"/>
          <p:cNvGrpSpPr>
            <a:grpSpLocks/>
          </p:cNvGrpSpPr>
          <p:nvPr/>
        </p:nvGrpSpPr>
        <p:grpSpPr bwMode="auto">
          <a:xfrm>
            <a:off x="152400" y="685800"/>
            <a:ext cx="8915400" cy="5638800"/>
            <a:chOff x="48" y="432"/>
            <a:chExt cx="5616" cy="3552"/>
          </a:xfrm>
        </p:grpSpPr>
        <p:sp>
          <p:nvSpPr>
            <p:cNvPr id="134154" name="Rectangle 10"/>
            <p:cNvSpPr>
              <a:spLocks noChangeArrowheads="1"/>
            </p:cNvSpPr>
            <p:nvPr/>
          </p:nvSpPr>
          <p:spPr bwMode="auto">
            <a:xfrm>
              <a:off x="48" y="432"/>
              <a:ext cx="5616" cy="355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b="1">
                <a:solidFill>
                  <a:srgbClr val="000000"/>
                </a:solidFill>
              </a:endParaRPr>
            </a:p>
          </p:txBody>
        </p:sp>
        <p:sp>
          <p:nvSpPr>
            <p:cNvPr id="134156" name="Line 12"/>
            <p:cNvSpPr>
              <a:spLocks noChangeShapeType="1"/>
            </p:cNvSpPr>
            <p:nvPr/>
          </p:nvSpPr>
          <p:spPr bwMode="auto">
            <a:xfrm>
              <a:off x="48" y="1200"/>
              <a:ext cx="56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4157" name="Line 13"/>
            <p:cNvSpPr>
              <a:spLocks noChangeShapeType="1"/>
            </p:cNvSpPr>
            <p:nvPr/>
          </p:nvSpPr>
          <p:spPr bwMode="auto">
            <a:xfrm>
              <a:off x="48" y="1680"/>
              <a:ext cx="56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4158" name="Line 14"/>
            <p:cNvSpPr>
              <a:spLocks noChangeShapeType="1"/>
            </p:cNvSpPr>
            <p:nvPr/>
          </p:nvSpPr>
          <p:spPr bwMode="auto">
            <a:xfrm>
              <a:off x="48" y="2256"/>
              <a:ext cx="56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4159" name="Line 15"/>
            <p:cNvSpPr>
              <a:spLocks noChangeShapeType="1"/>
            </p:cNvSpPr>
            <p:nvPr/>
          </p:nvSpPr>
          <p:spPr bwMode="auto">
            <a:xfrm>
              <a:off x="48" y="2736"/>
              <a:ext cx="56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4160" name="Line 16"/>
            <p:cNvSpPr>
              <a:spLocks noChangeShapeType="1"/>
            </p:cNvSpPr>
            <p:nvPr/>
          </p:nvSpPr>
          <p:spPr bwMode="auto">
            <a:xfrm>
              <a:off x="48" y="3216"/>
              <a:ext cx="56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4161" name="Line 17"/>
            <p:cNvSpPr>
              <a:spLocks noChangeShapeType="1"/>
            </p:cNvSpPr>
            <p:nvPr/>
          </p:nvSpPr>
          <p:spPr bwMode="auto">
            <a:xfrm>
              <a:off x="912" y="432"/>
              <a:ext cx="0" cy="355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grpSp>
      <p:sp>
        <p:nvSpPr>
          <p:cNvPr id="2" name="灯片编号占位符 1">
            <a:extLst>
              <a:ext uri="{FF2B5EF4-FFF2-40B4-BE49-F238E27FC236}">
                <a16:creationId xmlns:a16="http://schemas.microsoft.com/office/drawing/2014/main" id="{ED72BE2C-ED8D-4D33-AD61-E74AC745D487}"/>
              </a:ext>
            </a:extLst>
          </p:cNvPr>
          <p:cNvSpPr>
            <a:spLocks noGrp="1"/>
          </p:cNvSpPr>
          <p:nvPr>
            <p:ph type="sldNum" sz="quarter" idx="12"/>
          </p:nvPr>
        </p:nvSpPr>
        <p:spPr/>
        <p:txBody>
          <a:bodyPr/>
          <a:lstStyle/>
          <a:p>
            <a:fld id="{DBBC0EF6-B603-432C-9C67-7FF4B1EAAA36}" type="slidenum">
              <a:rPr lang="en-US" altLang="zh-CN" smtClean="0">
                <a:solidFill>
                  <a:srgbClr val="000000"/>
                </a:solidFill>
              </a:rPr>
              <a:pPr/>
              <a:t>43</a:t>
            </a:fld>
            <a:endParaRPr lang="en-US" altLang="zh-CN">
              <a:solidFill>
                <a:srgbClr val="000000"/>
              </a:solidFill>
            </a:endParaRPr>
          </a:p>
        </p:txBody>
      </p:sp>
    </p:spTree>
    <p:extLst>
      <p:ext uri="{BB962C8B-B14F-4D97-AF65-F5344CB8AC3E}">
        <p14:creationId xmlns:p14="http://schemas.microsoft.com/office/powerpoint/2010/main" val="21617209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34153"/>
                                        </p:tgtEl>
                                        <p:attrNameLst>
                                          <p:attrName>style.visibility</p:attrName>
                                        </p:attrNameLst>
                                      </p:cBhvr>
                                      <p:to>
                                        <p:strVal val="visible"/>
                                      </p:to>
                                    </p:set>
                                    <p:animEffect transition="in" filter="strips(downRight)">
                                      <p:cBhvr>
                                        <p:cTn id="7" dur="500"/>
                                        <p:tgtEl>
                                          <p:spTgt spid="134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53" grpId="0"/>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609600" y="76200"/>
            <a:ext cx="8153400" cy="533400"/>
          </a:xfrm>
        </p:spPr>
        <p:txBody>
          <a:bodyPr/>
          <a:lstStyle/>
          <a:p>
            <a:r>
              <a:rPr lang="en-US" altLang="zh-CN" sz="3200">
                <a:solidFill>
                  <a:srgbClr val="009900"/>
                </a:solidFill>
                <a:latin typeface="宋体" charset="-122"/>
              </a:rPr>
              <a:t>a:= -c+b*d</a:t>
            </a:r>
            <a:r>
              <a:rPr lang="zh-CN" altLang="en-US" sz="3200"/>
              <a:t>自下而上语法制导翻译过程举例</a:t>
            </a:r>
          </a:p>
        </p:txBody>
      </p:sp>
      <p:sp>
        <p:nvSpPr>
          <p:cNvPr id="135177" name="Rectangle 9"/>
          <p:cNvSpPr>
            <a:spLocks noGrp="1" noChangeArrowheads="1"/>
          </p:cNvSpPr>
          <p:nvPr>
            <p:ph type="body" idx="1"/>
          </p:nvPr>
        </p:nvSpPr>
        <p:spPr>
          <a:xfrm>
            <a:off x="2286000" y="609600"/>
            <a:ext cx="6858000" cy="762000"/>
          </a:xfrm>
          <a:noFill/>
          <a:ln/>
        </p:spPr>
        <p:txBody>
          <a:bodyPr lIns="92075" tIns="46038" rIns="92075" bIns="46038"/>
          <a:lstStyle/>
          <a:p>
            <a:pPr>
              <a:lnSpc>
                <a:spcPct val="90000"/>
              </a:lnSpc>
              <a:spcBef>
                <a:spcPct val="0"/>
              </a:spcBef>
              <a:buFontTx/>
              <a:buNone/>
            </a:pPr>
            <a:r>
              <a:rPr lang="zh-CN" altLang="en-US" sz="2000" b="1" dirty="0">
                <a:latin typeface="宋体" charset="-122"/>
              </a:rPr>
              <a:t>步骤  符号栈  输入串  动作  语义值  三地址代码</a:t>
            </a:r>
          </a:p>
          <a:p>
            <a:pPr>
              <a:lnSpc>
                <a:spcPct val="90000"/>
              </a:lnSpc>
              <a:spcBef>
                <a:spcPct val="0"/>
              </a:spcBef>
              <a:buFontTx/>
              <a:buNone/>
            </a:pPr>
            <a:r>
              <a:rPr lang="zh-CN" altLang="en-US" sz="2400" b="1" dirty="0">
                <a:latin typeface="宋体" charset="-122"/>
              </a:rPr>
              <a:t>  </a:t>
            </a:r>
            <a:r>
              <a:rPr lang="en-US" altLang="zh-CN" sz="2400" b="1" dirty="0">
                <a:latin typeface="宋体" charset="-122"/>
              </a:rPr>
              <a:t>0 #  a:=-c+b*d# </a:t>
            </a:r>
            <a:r>
              <a:rPr lang="zh-CN" altLang="en-US" sz="2000" b="1" dirty="0">
                <a:latin typeface="宋体" charset="-122"/>
              </a:rPr>
              <a:t>预备</a:t>
            </a:r>
            <a:r>
              <a:rPr lang="zh-CN" altLang="en-US" sz="2400" b="1" dirty="0">
                <a:latin typeface="宋体" charset="-122"/>
              </a:rPr>
              <a:t>   </a:t>
            </a:r>
          </a:p>
        </p:txBody>
      </p:sp>
      <p:grpSp>
        <p:nvGrpSpPr>
          <p:cNvPr id="135228" name="Group 60"/>
          <p:cNvGrpSpPr>
            <a:grpSpLocks/>
          </p:cNvGrpSpPr>
          <p:nvPr/>
        </p:nvGrpSpPr>
        <p:grpSpPr bwMode="auto">
          <a:xfrm>
            <a:off x="76200" y="839788"/>
            <a:ext cx="2332039" cy="3881437"/>
            <a:chOff x="48" y="529"/>
            <a:chExt cx="1469" cy="2445"/>
          </a:xfrm>
        </p:grpSpPr>
        <p:sp>
          <p:nvSpPr>
            <p:cNvPr id="135179" name="Rectangle 11"/>
            <p:cNvSpPr>
              <a:spLocks noChangeArrowheads="1"/>
            </p:cNvSpPr>
            <p:nvPr/>
          </p:nvSpPr>
          <p:spPr bwMode="auto">
            <a:xfrm>
              <a:off x="48" y="1008"/>
              <a:ext cx="912" cy="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lnSpc>
                  <a:spcPct val="80000"/>
                </a:lnSpc>
                <a:spcBef>
                  <a:spcPct val="0"/>
                </a:spcBef>
                <a:spcAft>
                  <a:spcPct val="0"/>
                </a:spcAft>
              </a:pPr>
              <a:r>
                <a:rPr kumimoji="1" lang="en-US" altLang="zh-CN" sz="2400" b="1" dirty="0">
                  <a:solidFill>
                    <a:srgbClr val="009900"/>
                  </a:solidFill>
                  <a:latin typeface="宋体" charset="-122"/>
                </a:rPr>
                <a:t>id</a:t>
              </a:r>
              <a:r>
                <a:rPr kumimoji="1" lang="en-US" altLang="zh-CN" sz="2400" b="1" dirty="0">
                  <a:solidFill>
                    <a:srgbClr val="000000"/>
                  </a:solidFill>
                  <a:latin typeface="宋体" charset="-122"/>
                </a:rPr>
                <a:t> </a:t>
              </a:r>
              <a:r>
                <a:rPr kumimoji="1" lang="en-US" altLang="zh-CN" sz="2400" b="1" dirty="0">
                  <a:solidFill>
                    <a:srgbClr val="009900"/>
                  </a:solidFill>
                  <a:latin typeface="宋体" charset="-122"/>
                </a:rPr>
                <a:t>:=  </a:t>
              </a:r>
              <a:r>
                <a:rPr kumimoji="1" lang="en-US" altLang="zh-CN" sz="2400" b="1" dirty="0">
                  <a:solidFill>
                    <a:srgbClr val="000000"/>
                  </a:solidFill>
                  <a:latin typeface="宋体" charset="-122"/>
                </a:rPr>
                <a:t>E</a:t>
              </a:r>
            </a:p>
            <a:p>
              <a:pPr eaLnBrk="0" fontAlgn="base" hangingPunct="0">
                <a:lnSpc>
                  <a:spcPct val="80000"/>
                </a:lnSpc>
                <a:spcBef>
                  <a:spcPct val="0"/>
                </a:spcBef>
                <a:spcAft>
                  <a:spcPct val="0"/>
                </a:spcAft>
              </a:pPr>
              <a:r>
                <a:rPr kumimoji="1" lang="en-US" altLang="zh-CN" sz="2400" b="1" dirty="0">
                  <a:solidFill>
                    <a:srgbClr val="009900"/>
                  </a:solidFill>
                  <a:latin typeface="宋体" charset="-122"/>
                </a:rPr>
                <a:t>a</a:t>
              </a:r>
            </a:p>
          </p:txBody>
        </p:sp>
        <p:sp>
          <p:nvSpPr>
            <p:cNvPr id="135180" name="Rectangle 12"/>
            <p:cNvSpPr>
              <a:spLocks noChangeArrowheads="1"/>
            </p:cNvSpPr>
            <p:nvPr/>
          </p:nvSpPr>
          <p:spPr bwMode="auto">
            <a:xfrm>
              <a:off x="336" y="529"/>
              <a:ext cx="2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kumimoji="1" lang="en-US" altLang="zh-CN" sz="2400" b="1">
                  <a:solidFill>
                    <a:srgbClr val="000000"/>
                  </a:solidFill>
                  <a:latin typeface="宋体" charset="-122"/>
                </a:rPr>
                <a:t>S</a:t>
              </a:r>
            </a:p>
          </p:txBody>
        </p:sp>
        <p:grpSp>
          <p:nvGrpSpPr>
            <p:cNvPr id="135181" name="Group 13"/>
            <p:cNvGrpSpPr>
              <a:grpSpLocks/>
            </p:cNvGrpSpPr>
            <p:nvPr/>
          </p:nvGrpSpPr>
          <p:grpSpPr bwMode="auto">
            <a:xfrm>
              <a:off x="432" y="1248"/>
              <a:ext cx="576" cy="288"/>
              <a:chOff x="528" y="1344"/>
              <a:chExt cx="672" cy="336"/>
            </a:xfrm>
          </p:grpSpPr>
          <p:sp>
            <p:nvSpPr>
              <p:cNvPr id="135182" name="Line 14"/>
              <p:cNvSpPr>
                <a:spLocks noChangeShapeType="1"/>
              </p:cNvSpPr>
              <p:nvPr/>
            </p:nvSpPr>
            <p:spPr bwMode="auto">
              <a:xfrm flipH="1">
                <a:off x="528" y="1344"/>
                <a:ext cx="341" cy="33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183" name="Line 15"/>
              <p:cNvSpPr>
                <a:spLocks noChangeShapeType="1"/>
              </p:cNvSpPr>
              <p:nvPr/>
            </p:nvSpPr>
            <p:spPr bwMode="auto">
              <a:xfrm>
                <a:off x="907" y="1344"/>
                <a:ext cx="0" cy="33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184" name="Line 16"/>
              <p:cNvSpPr>
                <a:spLocks noChangeShapeType="1"/>
              </p:cNvSpPr>
              <p:nvPr/>
            </p:nvSpPr>
            <p:spPr bwMode="auto">
              <a:xfrm>
                <a:off x="945" y="1344"/>
                <a:ext cx="255" cy="33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grpSp>
        <p:sp>
          <p:nvSpPr>
            <p:cNvPr id="135185" name="Rectangle 17"/>
            <p:cNvSpPr>
              <a:spLocks noChangeArrowheads="1"/>
            </p:cNvSpPr>
            <p:nvPr/>
          </p:nvSpPr>
          <p:spPr bwMode="auto">
            <a:xfrm>
              <a:off x="336" y="1488"/>
              <a:ext cx="9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kumimoji="1" lang="en-US" altLang="zh-CN" sz="2400" b="1">
                  <a:solidFill>
                    <a:srgbClr val="000000"/>
                  </a:solidFill>
                  <a:latin typeface="宋体" charset="-122"/>
                </a:rPr>
                <a:t>E  </a:t>
              </a:r>
              <a:r>
                <a:rPr kumimoji="1" lang="en-US" altLang="zh-CN" sz="2400" b="1">
                  <a:solidFill>
                    <a:srgbClr val="009900"/>
                  </a:solidFill>
                  <a:latin typeface="宋体" charset="-122"/>
                </a:rPr>
                <a:t>+ </a:t>
              </a:r>
              <a:r>
                <a:rPr kumimoji="1" lang="en-US" altLang="zh-CN" sz="2400" b="1">
                  <a:solidFill>
                    <a:srgbClr val="000000"/>
                  </a:solidFill>
                  <a:latin typeface="宋体" charset="-122"/>
                </a:rPr>
                <a:t> E</a:t>
              </a:r>
            </a:p>
          </p:txBody>
        </p:sp>
        <p:grpSp>
          <p:nvGrpSpPr>
            <p:cNvPr id="135186" name="Group 18"/>
            <p:cNvGrpSpPr>
              <a:grpSpLocks/>
            </p:cNvGrpSpPr>
            <p:nvPr/>
          </p:nvGrpSpPr>
          <p:grpSpPr bwMode="auto">
            <a:xfrm>
              <a:off x="240" y="1776"/>
              <a:ext cx="288" cy="288"/>
              <a:chOff x="624" y="1920"/>
              <a:chExt cx="384" cy="288"/>
            </a:xfrm>
          </p:grpSpPr>
          <p:sp>
            <p:nvSpPr>
              <p:cNvPr id="135187" name="Line 19"/>
              <p:cNvSpPr>
                <a:spLocks noChangeShapeType="1"/>
              </p:cNvSpPr>
              <p:nvPr/>
            </p:nvSpPr>
            <p:spPr bwMode="auto">
              <a:xfrm flipH="1">
                <a:off x="624" y="1920"/>
                <a:ext cx="144" cy="2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188" name="Line 20"/>
              <p:cNvSpPr>
                <a:spLocks noChangeShapeType="1"/>
              </p:cNvSpPr>
              <p:nvPr/>
            </p:nvSpPr>
            <p:spPr bwMode="auto">
              <a:xfrm>
                <a:off x="864" y="1920"/>
                <a:ext cx="144" cy="2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grpSp>
        <p:sp>
          <p:nvSpPr>
            <p:cNvPr id="135189" name="Rectangle 21"/>
            <p:cNvSpPr>
              <a:spLocks noChangeArrowheads="1"/>
            </p:cNvSpPr>
            <p:nvPr/>
          </p:nvSpPr>
          <p:spPr bwMode="auto">
            <a:xfrm>
              <a:off x="144" y="2016"/>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kumimoji="1" lang="en-US" altLang="zh-CN" sz="2400" b="1">
                  <a:solidFill>
                    <a:srgbClr val="009900"/>
                  </a:solidFill>
                  <a:latin typeface="宋体" charset="-122"/>
                </a:rPr>
                <a:t>-  </a:t>
              </a:r>
              <a:r>
                <a:rPr kumimoji="1" lang="en-US" altLang="zh-CN" sz="2400" b="1">
                  <a:solidFill>
                    <a:srgbClr val="000000"/>
                  </a:solidFill>
                  <a:latin typeface="宋体" charset="-122"/>
                </a:rPr>
                <a:t>E</a:t>
              </a:r>
            </a:p>
          </p:txBody>
        </p:sp>
        <p:grpSp>
          <p:nvGrpSpPr>
            <p:cNvPr id="135190" name="Group 22"/>
            <p:cNvGrpSpPr>
              <a:grpSpLocks/>
            </p:cNvGrpSpPr>
            <p:nvPr/>
          </p:nvGrpSpPr>
          <p:grpSpPr bwMode="auto">
            <a:xfrm>
              <a:off x="144" y="816"/>
              <a:ext cx="576" cy="240"/>
              <a:chOff x="384" y="768"/>
              <a:chExt cx="912" cy="288"/>
            </a:xfrm>
          </p:grpSpPr>
          <p:sp>
            <p:nvSpPr>
              <p:cNvPr id="135191" name="Line 23"/>
              <p:cNvSpPr>
                <a:spLocks noChangeShapeType="1"/>
              </p:cNvSpPr>
              <p:nvPr/>
            </p:nvSpPr>
            <p:spPr bwMode="auto">
              <a:xfrm flipH="1">
                <a:off x="384" y="768"/>
                <a:ext cx="432" cy="2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192" name="Line 24"/>
              <p:cNvSpPr>
                <a:spLocks noChangeShapeType="1"/>
              </p:cNvSpPr>
              <p:nvPr/>
            </p:nvSpPr>
            <p:spPr bwMode="auto">
              <a:xfrm>
                <a:off x="864" y="768"/>
                <a:ext cx="0" cy="2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193" name="Line 25"/>
              <p:cNvSpPr>
                <a:spLocks noChangeShapeType="1"/>
              </p:cNvSpPr>
              <p:nvPr/>
            </p:nvSpPr>
            <p:spPr bwMode="auto">
              <a:xfrm>
                <a:off x="912" y="768"/>
                <a:ext cx="384" cy="24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grpSp>
        <p:sp>
          <p:nvSpPr>
            <p:cNvPr id="135194" name="Line 26"/>
            <p:cNvSpPr>
              <a:spLocks noChangeShapeType="1"/>
            </p:cNvSpPr>
            <p:nvPr/>
          </p:nvSpPr>
          <p:spPr bwMode="auto">
            <a:xfrm>
              <a:off x="528" y="2304"/>
              <a:ext cx="0" cy="24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195" name="Rectangle 27"/>
            <p:cNvSpPr>
              <a:spLocks noChangeArrowheads="1"/>
            </p:cNvSpPr>
            <p:nvPr/>
          </p:nvSpPr>
          <p:spPr bwMode="auto">
            <a:xfrm>
              <a:off x="368" y="2544"/>
              <a:ext cx="488" cy="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lnSpc>
                  <a:spcPct val="80000"/>
                </a:lnSpc>
                <a:spcBef>
                  <a:spcPct val="0"/>
                </a:spcBef>
                <a:spcAft>
                  <a:spcPct val="0"/>
                </a:spcAft>
              </a:pPr>
              <a:r>
                <a:rPr kumimoji="1" lang="en-US" altLang="zh-CN" sz="2400" b="1" dirty="0">
                  <a:solidFill>
                    <a:srgbClr val="009900"/>
                  </a:solidFill>
                  <a:latin typeface="宋体" charset="-122"/>
                </a:rPr>
                <a:t>id</a:t>
              </a:r>
            </a:p>
            <a:p>
              <a:pPr eaLnBrk="0" fontAlgn="base" hangingPunct="0">
                <a:lnSpc>
                  <a:spcPct val="80000"/>
                </a:lnSpc>
                <a:spcBef>
                  <a:spcPct val="0"/>
                </a:spcBef>
                <a:spcAft>
                  <a:spcPct val="0"/>
                </a:spcAft>
              </a:pPr>
              <a:r>
                <a:rPr kumimoji="1" lang="en-US" altLang="zh-CN" sz="2400" b="1" dirty="0">
                  <a:solidFill>
                    <a:srgbClr val="009900"/>
                  </a:solidFill>
                  <a:latin typeface="宋体" charset="-122"/>
                </a:rPr>
                <a:t>c</a:t>
              </a:r>
            </a:p>
          </p:txBody>
        </p:sp>
        <p:grpSp>
          <p:nvGrpSpPr>
            <p:cNvPr id="135196" name="Group 28"/>
            <p:cNvGrpSpPr>
              <a:grpSpLocks/>
            </p:cNvGrpSpPr>
            <p:nvPr/>
          </p:nvGrpSpPr>
          <p:grpSpPr bwMode="auto">
            <a:xfrm>
              <a:off x="816" y="1776"/>
              <a:ext cx="432" cy="288"/>
              <a:chOff x="528" y="1344"/>
              <a:chExt cx="672" cy="336"/>
            </a:xfrm>
          </p:grpSpPr>
          <p:sp>
            <p:nvSpPr>
              <p:cNvPr id="135197" name="Line 29"/>
              <p:cNvSpPr>
                <a:spLocks noChangeShapeType="1"/>
              </p:cNvSpPr>
              <p:nvPr/>
            </p:nvSpPr>
            <p:spPr bwMode="auto">
              <a:xfrm flipH="1">
                <a:off x="528" y="1344"/>
                <a:ext cx="341" cy="33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198" name="Line 30"/>
              <p:cNvSpPr>
                <a:spLocks noChangeShapeType="1"/>
              </p:cNvSpPr>
              <p:nvPr/>
            </p:nvSpPr>
            <p:spPr bwMode="auto">
              <a:xfrm>
                <a:off x="907" y="1344"/>
                <a:ext cx="0" cy="33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199" name="Line 31"/>
              <p:cNvSpPr>
                <a:spLocks noChangeShapeType="1"/>
              </p:cNvSpPr>
              <p:nvPr/>
            </p:nvSpPr>
            <p:spPr bwMode="auto">
              <a:xfrm>
                <a:off x="945" y="1344"/>
                <a:ext cx="255" cy="33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grpSp>
        <p:sp>
          <p:nvSpPr>
            <p:cNvPr id="135200" name="Rectangle 32"/>
            <p:cNvSpPr>
              <a:spLocks noChangeArrowheads="1"/>
            </p:cNvSpPr>
            <p:nvPr/>
          </p:nvSpPr>
          <p:spPr bwMode="auto">
            <a:xfrm>
              <a:off x="768" y="2016"/>
              <a:ext cx="7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kumimoji="1" lang="en-US" altLang="zh-CN" sz="2400" b="1">
                  <a:solidFill>
                    <a:srgbClr val="000000"/>
                  </a:solidFill>
                  <a:latin typeface="宋体" charset="-122"/>
                </a:rPr>
                <a:t>E </a:t>
              </a:r>
              <a:r>
                <a:rPr kumimoji="1" lang="en-US" altLang="zh-CN" sz="2400" b="1">
                  <a:solidFill>
                    <a:srgbClr val="009900"/>
                  </a:solidFill>
                  <a:latin typeface="宋体" charset="-122"/>
                </a:rPr>
                <a:t>* </a:t>
              </a:r>
              <a:r>
                <a:rPr kumimoji="1" lang="en-US" altLang="zh-CN" sz="2400" b="1">
                  <a:solidFill>
                    <a:srgbClr val="000000"/>
                  </a:solidFill>
                  <a:latin typeface="宋体" charset="-122"/>
                </a:rPr>
                <a:t>E</a:t>
              </a:r>
            </a:p>
          </p:txBody>
        </p:sp>
        <p:sp>
          <p:nvSpPr>
            <p:cNvPr id="135201" name="Line 33"/>
            <p:cNvSpPr>
              <a:spLocks noChangeShapeType="1"/>
            </p:cNvSpPr>
            <p:nvPr/>
          </p:nvSpPr>
          <p:spPr bwMode="auto">
            <a:xfrm>
              <a:off x="864" y="2304"/>
              <a:ext cx="0" cy="24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202" name="Rectangle 34"/>
            <p:cNvSpPr>
              <a:spLocks noChangeArrowheads="1"/>
            </p:cNvSpPr>
            <p:nvPr/>
          </p:nvSpPr>
          <p:spPr bwMode="auto">
            <a:xfrm>
              <a:off x="724" y="2544"/>
              <a:ext cx="360" cy="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lnSpc>
                  <a:spcPct val="80000"/>
                </a:lnSpc>
                <a:spcBef>
                  <a:spcPct val="0"/>
                </a:spcBef>
                <a:spcAft>
                  <a:spcPct val="0"/>
                </a:spcAft>
              </a:pPr>
              <a:r>
                <a:rPr kumimoji="1" lang="en-US" altLang="zh-CN" sz="2400" b="1" dirty="0">
                  <a:solidFill>
                    <a:srgbClr val="009900"/>
                  </a:solidFill>
                  <a:latin typeface="宋体" charset="-122"/>
                </a:rPr>
                <a:t>id</a:t>
              </a:r>
            </a:p>
            <a:p>
              <a:pPr eaLnBrk="0" fontAlgn="base" hangingPunct="0">
                <a:lnSpc>
                  <a:spcPct val="80000"/>
                </a:lnSpc>
                <a:spcBef>
                  <a:spcPct val="0"/>
                </a:spcBef>
                <a:spcAft>
                  <a:spcPct val="0"/>
                </a:spcAft>
              </a:pPr>
              <a:r>
                <a:rPr kumimoji="1" lang="en-US" altLang="zh-CN" sz="2400" b="1" dirty="0">
                  <a:solidFill>
                    <a:srgbClr val="009900"/>
                  </a:solidFill>
                  <a:latin typeface="宋体" charset="-122"/>
                </a:rPr>
                <a:t>b</a:t>
              </a:r>
            </a:p>
          </p:txBody>
        </p:sp>
        <p:sp>
          <p:nvSpPr>
            <p:cNvPr id="135203" name="Line 35"/>
            <p:cNvSpPr>
              <a:spLocks noChangeShapeType="1"/>
            </p:cNvSpPr>
            <p:nvPr/>
          </p:nvSpPr>
          <p:spPr bwMode="auto">
            <a:xfrm>
              <a:off x="1296" y="2304"/>
              <a:ext cx="0" cy="24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204" name="Rectangle 36"/>
            <p:cNvSpPr>
              <a:spLocks noChangeArrowheads="1"/>
            </p:cNvSpPr>
            <p:nvPr/>
          </p:nvSpPr>
          <p:spPr bwMode="auto">
            <a:xfrm>
              <a:off x="1137" y="2544"/>
              <a:ext cx="380" cy="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lnSpc>
                  <a:spcPct val="80000"/>
                </a:lnSpc>
                <a:spcBef>
                  <a:spcPct val="0"/>
                </a:spcBef>
                <a:spcAft>
                  <a:spcPct val="0"/>
                </a:spcAft>
              </a:pPr>
              <a:r>
                <a:rPr kumimoji="1" lang="en-US" altLang="zh-CN" sz="2400" b="1" dirty="0">
                  <a:solidFill>
                    <a:srgbClr val="009900"/>
                  </a:solidFill>
                  <a:latin typeface="宋体" charset="-122"/>
                </a:rPr>
                <a:t>id</a:t>
              </a:r>
            </a:p>
            <a:p>
              <a:pPr eaLnBrk="0" fontAlgn="base" hangingPunct="0">
                <a:lnSpc>
                  <a:spcPct val="80000"/>
                </a:lnSpc>
                <a:spcBef>
                  <a:spcPct val="0"/>
                </a:spcBef>
                <a:spcAft>
                  <a:spcPct val="0"/>
                </a:spcAft>
              </a:pPr>
              <a:r>
                <a:rPr kumimoji="1" lang="en-US" altLang="zh-CN" sz="2400" b="1" dirty="0">
                  <a:solidFill>
                    <a:srgbClr val="009900"/>
                  </a:solidFill>
                  <a:latin typeface="宋体" charset="-122"/>
                </a:rPr>
                <a:t>d</a:t>
              </a:r>
            </a:p>
          </p:txBody>
        </p:sp>
      </p:grpSp>
      <p:sp>
        <p:nvSpPr>
          <p:cNvPr id="135205" name="Rectangle 37"/>
          <p:cNvSpPr>
            <a:spLocks noChangeArrowheads="1"/>
          </p:cNvSpPr>
          <p:nvPr/>
        </p:nvSpPr>
        <p:spPr bwMode="auto">
          <a:xfrm>
            <a:off x="2286000" y="1219200"/>
            <a:ext cx="4800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400" b="1" dirty="0">
                <a:solidFill>
                  <a:srgbClr val="000000"/>
                </a:solidFill>
                <a:latin typeface="宋体" charset="-122"/>
              </a:rPr>
              <a:t>  1 #id  :=-</a:t>
            </a:r>
            <a:r>
              <a:rPr kumimoji="1" lang="en-US" altLang="zh-CN" sz="2400" b="1" dirty="0" err="1">
                <a:solidFill>
                  <a:srgbClr val="000000"/>
                </a:solidFill>
                <a:latin typeface="宋体" charset="-122"/>
              </a:rPr>
              <a:t>c+b</a:t>
            </a:r>
            <a:r>
              <a:rPr kumimoji="1" lang="en-US" altLang="zh-CN" sz="2400" b="1" dirty="0">
                <a:solidFill>
                  <a:srgbClr val="000000"/>
                </a:solidFill>
                <a:latin typeface="宋体" charset="-122"/>
              </a:rPr>
              <a:t>*d# </a:t>
            </a:r>
            <a:r>
              <a:rPr kumimoji="1" lang="zh-CN" altLang="en-US" sz="2000" b="1" dirty="0">
                <a:solidFill>
                  <a:srgbClr val="000000"/>
                </a:solidFill>
                <a:latin typeface="宋体" charset="-122"/>
              </a:rPr>
              <a:t>移进</a:t>
            </a:r>
            <a:r>
              <a:rPr kumimoji="1" lang="zh-CN" altLang="en-US" sz="2400" b="1" dirty="0">
                <a:solidFill>
                  <a:srgbClr val="000000"/>
                </a:solidFill>
                <a:latin typeface="宋体" charset="-122"/>
              </a:rPr>
              <a:t>   </a:t>
            </a:r>
            <a:r>
              <a:rPr kumimoji="1" lang="en-US" altLang="zh-CN" sz="2400" b="1" dirty="0">
                <a:solidFill>
                  <a:srgbClr val="000000"/>
                </a:solidFill>
                <a:latin typeface="宋体" charset="-122"/>
              </a:rPr>
              <a:t>a  </a:t>
            </a:r>
          </a:p>
        </p:txBody>
      </p:sp>
      <p:sp>
        <p:nvSpPr>
          <p:cNvPr id="135206" name="Rectangle 38"/>
          <p:cNvSpPr>
            <a:spLocks noChangeArrowheads="1"/>
          </p:cNvSpPr>
          <p:nvPr/>
        </p:nvSpPr>
        <p:spPr bwMode="auto">
          <a:xfrm>
            <a:off x="2286000" y="1524000"/>
            <a:ext cx="48768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400" b="1" dirty="0">
                <a:solidFill>
                  <a:srgbClr val="000000"/>
                </a:solidFill>
                <a:latin typeface="宋体" charset="-122"/>
              </a:rPr>
              <a:t>  2 #id:=  -</a:t>
            </a:r>
            <a:r>
              <a:rPr kumimoji="1" lang="en-US" altLang="zh-CN" sz="2400" b="1" dirty="0" err="1">
                <a:solidFill>
                  <a:srgbClr val="000000"/>
                </a:solidFill>
                <a:latin typeface="宋体" charset="-122"/>
              </a:rPr>
              <a:t>c+b</a:t>
            </a:r>
            <a:r>
              <a:rPr kumimoji="1" lang="en-US" altLang="zh-CN" sz="2400" b="1" dirty="0">
                <a:solidFill>
                  <a:srgbClr val="000000"/>
                </a:solidFill>
                <a:latin typeface="宋体" charset="-122"/>
              </a:rPr>
              <a:t>*d# </a:t>
            </a:r>
            <a:r>
              <a:rPr kumimoji="1" lang="zh-CN" altLang="en-US" sz="2000" b="1" dirty="0">
                <a:solidFill>
                  <a:srgbClr val="000000"/>
                </a:solidFill>
                <a:latin typeface="宋体" charset="-122"/>
              </a:rPr>
              <a:t>移进</a:t>
            </a:r>
            <a:r>
              <a:rPr kumimoji="1" lang="zh-CN" altLang="en-US" sz="2400" b="1" dirty="0">
                <a:solidFill>
                  <a:srgbClr val="000000"/>
                </a:solidFill>
                <a:latin typeface="宋体" charset="-122"/>
              </a:rPr>
              <a:t>   </a:t>
            </a:r>
            <a:r>
              <a:rPr kumimoji="1" lang="en-US" altLang="zh-CN" sz="2400" b="1" dirty="0">
                <a:solidFill>
                  <a:srgbClr val="000000"/>
                </a:solidFill>
                <a:latin typeface="宋体" charset="-122"/>
              </a:rPr>
              <a:t>a_  </a:t>
            </a:r>
          </a:p>
        </p:txBody>
      </p:sp>
      <p:sp>
        <p:nvSpPr>
          <p:cNvPr id="135207" name="Rectangle 39"/>
          <p:cNvSpPr>
            <a:spLocks noChangeArrowheads="1"/>
          </p:cNvSpPr>
          <p:nvPr/>
        </p:nvSpPr>
        <p:spPr bwMode="auto">
          <a:xfrm>
            <a:off x="2286000" y="1828800"/>
            <a:ext cx="56388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400" b="1" dirty="0">
                <a:solidFill>
                  <a:srgbClr val="000000"/>
                </a:solidFill>
                <a:latin typeface="宋体" charset="-122"/>
              </a:rPr>
              <a:t>  3 #id:=-  </a:t>
            </a:r>
            <a:r>
              <a:rPr kumimoji="1" lang="en-US" altLang="zh-CN" sz="2400" b="1" dirty="0" err="1">
                <a:solidFill>
                  <a:srgbClr val="000000"/>
                </a:solidFill>
                <a:latin typeface="宋体" charset="-122"/>
              </a:rPr>
              <a:t>c+b</a:t>
            </a:r>
            <a:r>
              <a:rPr kumimoji="1" lang="en-US" altLang="zh-CN" sz="2400" b="1" dirty="0">
                <a:solidFill>
                  <a:srgbClr val="000000"/>
                </a:solidFill>
                <a:latin typeface="宋体" charset="-122"/>
              </a:rPr>
              <a:t>*d# </a:t>
            </a:r>
            <a:r>
              <a:rPr kumimoji="1" lang="zh-CN" altLang="en-US" sz="2000" b="1" dirty="0">
                <a:solidFill>
                  <a:srgbClr val="000000"/>
                </a:solidFill>
                <a:latin typeface="宋体" charset="-122"/>
              </a:rPr>
              <a:t>移进</a:t>
            </a:r>
            <a:r>
              <a:rPr kumimoji="1" lang="zh-CN" altLang="en-US" sz="2400" b="1" dirty="0">
                <a:solidFill>
                  <a:srgbClr val="000000"/>
                </a:solidFill>
                <a:latin typeface="宋体" charset="-122"/>
              </a:rPr>
              <a:t>   </a:t>
            </a:r>
            <a:r>
              <a:rPr kumimoji="1" lang="en-US" altLang="zh-CN" sz="2400" b="1" dirty="0">
                <a:solidFill>
                  <a:srgbClr val="000000"/>
                </a:solidFill>
                <a:latin typeface="宋体" charset="-122"/>
              </a:rPr>
              <a:t>a_ _  </a:t>
            </a:r>
          </a:p>
        </p:txBody>
      </p:sp>
      <p:sp>
        <p:nvSpPr>
          <p:cNvPr id="135208" name="Rectangle 40"/>
          <p:cNvSpPr>
            <a:spLocks noChangeArrowheads="1"/>
          </p:cNvSpPr>
          <p:nvPr/>
        </p:nvSpPr>
        <p:spPr bwMode="auto">
          <a:xfrm>
            <a:off x="2286000" y="22098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400" b="1" dirty="0">
                <a:solidFill>
                  <a:srgbClr val="000000"/>
                </a:solidFill>
                <a:latin typeface="宋体" charset="-122"/>
              </a:rPr>
              <a:t>  4 #id:=-</a:t>
            </a:r>
            <a:r>
              <a:rPr kumimoji="1" lang="en-US" altLang="zh-CN" sz="2400" b="1" dirty="0">
                <a:solidFill>
                  <a:srgbClr val="009900"/>
                </a:solidFill>
                <a:latin typeface="宋体" charset="-122"/>
              </a:rPr>
              <a:t>id</a:t>
            </a:r>
            <a:r>
              <a:rPr kumimoji="1" lang="en-US" altLang="zh-CN" sz="2400" b="1" dirty="0">
                <a:solidFill>
                  <a:srgbClr val="000000"/>
                </a:solidFill>
                <a:latin typeface="宋体" charset="-122"/>
              </a:rPr>
              <a:t>  +b*d# </a:t>
            </a:r>
            <a:r>
              <a:rPr kumimoji="1" lang="zh-CN" altLang="en-US" sz="2000" b="1" dirty="0">
                <a:solidFill>
                  <a:srgbClr val="000000"/>
                </a:solidFill>
                <a:latin typeface="宋体" charset="-122"/>
              </a:rPr>
              <a:t>移进</a:t>
            </a:r>
            <a:r>
              <a:rPr kumimoji="1" lang="zh-CN" altLang="en-US" sz="2400" b="1" dirty="0">
                <a:solidFill>
                  <a:srgbClr val="000000"/>
                </a:solidFill>
                <a:latin typeface="宋体" charset="-122"/>
              </a:rPr>
              <a:t>   </a:t>
            </a:r>
            <a:r>
              <a:rPr kumimoji="1" lang="en-US" altLang="zh-CN" sz="2400" b="1" dirty="0">
                <a:solidFill>
                  <a:srgbClr val="000000"/>
                </a:solidFill>
                <a:latin typeface="宋体" charset="-122"/>
              </a:rPr>
              <a:t>a_ _c  </a:t>
            </a:r>
          </a:p>
        </p:txBody>
      </p:sp>
      <p:sp>
        <p:nvSpPr>
          <p:cNvPr id="135209" name="Oval 41"/>
          <p:cNvSpPr>
            <a:spLocks noChangeArrowheads="1"/>
          </p:cNvSpPr>
          <p:nvPr/>
        </p:nvSpPr>
        <p:spPr bwMode="auto">
          <a:xfrm>
            <a:off x="609600" y="3886200"/>
            <a:ext cx="457200" cy="838200"/>
          </a:xfrm>
          <a:prstGeom prst="ellipse">
            <a:avLst/>
          </a:prstGeom>
          <a:noFill/>
          <a:ln w="28575">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b="1">
              <a:solidFill>
                <a:srgbClr val="000000"/>
              </a:solidFill>
            </a:endParaRPr>
          </a:p>
        </p:txBody>
      </p:sp>
      <p:sp>
        <p:nvSpPr>
          <p:cNvPr id="135210" name="Rectangle 42"/>
          <p:cNvSpPr>
            <a:spLocks noChangeArrowheads="1"/>
          </p:cNvSpPr>
          <p:nvPr/>
        </p:nvSpPr>
        <p:spPr bwMode="auto">
          <a:xfrm>
            <a:off x="2286000" y="2514600"/>
            <a:ext cx="5486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400" b="1" dirty="0">
                <a:solidFill>
                  <a:srgbClr val="000000"/>
                </a:solidFill>
                <a:latin typeface="宋体" charset="-122"/>
              </a:rPr>
              <a:t>  5 #id:=</a:t>
            </a:r>
            <a:r>
              <a:rPr kumimoji="1" lang="en-US" altLang="zh-CN" sz="2400" b="1" dirty="0">
                <a:solidFill>
                  <a:srgbClr val="009900"/>
                </a:solidFill>
                <a:latin typeface="宋体" charset="-122"/>
              </a:rPr>
              <a:t>-E</a:t>
            </a:r>
            <a:r>
              <a:rPr kumimoji="1" lang="en-US" altLang="zh-CN" sz="2400" b="1" dirty="0">
                <a:solidFill>
                  <a:srgbClr val="000000"/>
                </a:solidFill>
                <a:latin typeface="宋体" charset="-122"/>
              </a:rPr>
              <a:t>  +b*d# </a:t>
            </a:r>
            <a:r>
              <a:rPr kumimoji="1" lang="zh-CN" altLang="en-US" sz="2000" b="1" dirty="0">
                <a:solidFill>
                  <a:srgbClr val="009900"/>
                </a:solidFill>
                <a:latin typeface="宋体" charset="-122"/>
              </a:rPr>
              <a:t>归</a:t>
            </a:r>
            <a:r>
              <a:rPr kumimoji="1" lang="en-US" altLang="zh-CN" sz="2000" b="1" dirty="0">
                <a:solidFill>
                  <a:srgbClr val="009900"/>
                </a:solidFill>
                <a:latin typeface="宋体" charset="-122"/>
              </a:rPr>
              <a:t>sub6</a:t>
            </a:r>
            <a:r>
              <a:rPr kumimoji="1" lang="en-US" altLang="zh-CN" sz="2400" b="1" dirty="0">
                <a:solidFill>
                  <a:srgbClr val="000000"/>
                </a:solidFill>
                <a:latin typeface="宋体" charset="-122"/>
              </a:rPr>
              <a:t> a_ </a:t>
            </a:r>
            <a:r>
              <a:rPr kumimoji="1" lang="en-US" altLang="zh-CN" sz="2400" b="1" dirty="0">
                <a:solidFill>
                  <a:srgbClr val="009900"/>
                </a:solidFill>
                <a:latin typeface="宋体" charset="-122"/>
              </a:rPr>
              <a:t>_c</a:t>
            </a:r>
            <a:r>
              <a:rPr kumimoji="1" lang="en-US" altLang="zh-CN" sz="2400" b="1" dirty="0">
                <a:solidFill>
                  <a:srgbClr val="000000"/>
                </a:solidFill>
                <a:latin typeface="宋体" charset="-122"/>
              </a:rPr>
              <a:t>  </a:t>
            </a:r>
          </a:p>
        </p:txBody>
      </p:sp>
      <p:sp>
        <p:nvSpPr>
          <p:cNvPr id="135211" name="Oval 43"/>
          <p:cNvSpPr>
            <a:spLocks noChangeArrowheads="1"/>
          </p:cNvSpPr>
          <p:nvPr/>
        </p:nvSpPr>
        <p:spPr bwMode="auto">
          <a:xfrm>
            <a:off x="76200" y="3200400"/>
            <a:ext cx="1143000" cy="457200"/>
          </a:xfrm>
          <a:prstGeom prst="ellipse">
            <a:avLst/>
          </a:prstGeom>
          <a:noFill/>
          <a:ln w="28575">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b="1">
              <a:solidFill>
                <a:srgbClr val="000000"/>
              </a:solidFill>
            </a:endParaRPr>
          </a:p>
        </p:txBody>
      </p:sp>
      <p:sp>
        <p:nvSpPr>
          <p:cNvPr id="135212" name="Rectangle 44"/>
          <p:cNvSpPr>
            <a:spLocks noChangeArrowheads="1"/>
          </p:cNvSpPr>
          <p:nvPr/>
        </p:nvSpPr>
        <p:spPr bwMode="auto">
          <a:xfrm>
            <a:off x="2286000" y="2832100"/>
            <a:ext cx="68580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400" b="1" dirty="0">
                <a:solidFill>
                  <a:srgbClr val="000000"/>
                </a:solidFill>
                <a:latin typeface="宋体" charset="-122"/>
              </a:rPr>
              <a:t>  6 #id:=E   +b*d# </a:t>
            </a:r>
            <a:r>
              <a:rPr kumimoji="1" lang="zh-CN" altLang="en-US" sz="2000" b="1" dirty="0">
                <a:solidFill>
                  <a:srgbClr val="009900"/>
                </a:solidFill>
                <a:latin typeface="宋体" charset="-122"/>
              </a:rPr>
              <a:t>归</a:t>
            </a:r>
            <a:r>
              <a:rPr kumimoji="1" lang="en-US" altLang="zh-CN" sz="2000" b="1" dirty="0">
                <a:solidFill>
                  <a:srgbClr val="009900"/>
                </a:solidFill>
                <a:latin typeface="宋体" charset="-122"/>
              </a:rPr>
              <a:t>sub5</a:t>
            </a:r>
            <a:r>
              <a:rPr kumimoji="1" lang="en-US" altLang="zh-CN" sz="2400" b="1" dirty="0">
                <a:solidFill>
                  <a:srgbClr val="000000"/>
                </a:solidFill>
                <a:latin typeface="宋体" charset="-122"/>
              </a:rPr>
              <a:t> a_</a:t>
            </a:r>
            <a:r>
              <a:rPr kumimoji="1" lang="en-US" altLang="zh-CN" sz="2400" b="1" dirty="0">
                <a:solidFill>
                  <a:srgbClr val="FF0000"/>
                </a:solidFill>
                <a:latin typeface="宋体" charset="-122"/>
              </a:rPr>
              <a:t>T1</a:t>
            </a:r>
            <a:r>
              <a:rPr kumimoji="1" lang="en-US" altLang="zh-CN" sz="2400" b="1" dirty="0">
                <a:solidFill>
                  <a:srgbClr val="000000"/>
                </a:solidFill>
                <a:latin typeface="宋体" charset="-122"/>
              </a:rPr>
              <a:t>     </a:t>
            </a:r>
            <a:r>
              <a:rPr kumimoji="1" lang="en-US" altLang="zh-CN" sz="2400" b="1" dirty="0">
                <a:solidFill>
                  <a:srgbClr val="009900"/>
                </a:solidFill>
                <a:latin typeface="宋体" charset="-122"/>
              </a:rPr>
              <a:t>T1:=-c</a:t>
            </a:r>
            <a:r>
              <a:rPr kumimoji="1" lang="en-US" altLang="zh-CN" sz="2400" b="1" dirty="0">
                <a:solidFill>
                  <a:srgbClr val="000000"/>
                </a:solidFill>
                <a:latin typeface="宋体" charset="-122"/>
              </a:rPr>
              <a:t>  </a:t>
            </a:r>
          </a:p>
        </p:txBody>
      </p:sp>
      <p:sp>
        <p:nvSpPr>
          <p:cNvPr id="135213" name="Rectangle 45"/>
          <p:cNvSpPr>
            <a:spLocks noChangeArrowheads="1"/>
          </p:cNvSpPr>
          <p:nvPr/>
        </p:nvSpPr>
        <p:spPr bwMode="auto">
          <a:xfrm>
            <a:off x="2286000" y="3136900"/>
            <a:ext cx="57150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400" b="1" dirty="0">
                <a:solidFill>
                  <a:srgbClr val="000000"/>
                </a:solidFill>
                <a:latin typeface="宋体" charset="-122"/>
              </a:rPr>
              <a:t>  7 #id:=E+   b*d# </a:t>
            </a:r>
            <a:r>
              <a:rPr kumimoji="1" lang="zh-CN" altLang="en-US" sz="2000" b="1" dirty="0">
                <a:solidFill>
                  <a:srgbClr val="000000"/>
                </a:solidFill>
                <a:latin typeface="宋体" charset="-122"/>
              </a:rPr>
              <a:t>移进</a:t>
            </a:r>
            <a:r>
              <a:rPr kumimoji="1" lang="zh-CN" altLang="en-US" sz="2400" b="1" dirty="0">
                <a:solidFill>
                  <a:srgbClr val="000000"/>
                </a:solidFill>
                <a:latin typeface="宋体" charset="-122"/>
              </a:rPr>
              <a:t>   </a:t>
            </a:r>
            <a:r>
              <a:rPr kumimoji="1" lang="en-US" altLang="zh-CN" sz="2400" b="1" dirty="0">
                <a:solidFill>
                  <a:srgbClr val="000000"/>
                </a:solidFill>
                <a:latin typeface="宋体" charset="-122"/>
              </a:rPr>
              <a:t>a_T1_  </a:t>
            </a:r>
          </a:p>
        </p:txBody>
      </p:sp>
      <p:sp>
        <p:nvSpPr>
          <p:cNvPr id="135214" name="Rectangle 46"/>
          <p:cNvSpPr>
            <a:spLocks noChangeArrowheads="1"/>
          </p:cNvSpPr>
          <p:nvPr/>
        </p:nvSpPr>
        <p:spPr bwMode="auto">
          <a:xfrm>
            <a:off x="2286000" y="3505200"/>
            <a:ext cx="57912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400" b="1" dirty="0">
                <a:solidFill>
                  <a:srgbClr val="000000"/>
                </a:solidFill>
                <a:latin typeface="宋体" charset="-122"/>
              </a:rPr>
              <a:t>  8 #id:=</a:t>
            </a:r>
            <a:r>
              <a:rPr kumimoji="1" lang="en-US" altLang="zh-CN" sz="2400" b="1" dirty="0" err="1">
                <a:solidFill>
                  <a:srgbClr val="000000"/>
                </a:solidFill>
                <a:latin typeface="宋体" charset="-122"/>
              </a:rPr>
              <a:t>E+</a:t>
            </a:r>
            <a:r>
              <a:rPr kumimoji="1" lang="en-US" altLang="zh-CN" sz="2400" b="1" dirty="0" err="1">
                <a:solidFill>
                  <a:srgbClr val="009900"/>
                </a:solidFill>
                <a:latin typeface="宋体" charset="-122"/>
              </a:rPr>
              <a:t>id</a:t>
            </a:r>
            <a:r>
              <a:rPr kumimoji="1" lang="en-US" altLang="zh-CN" sz="2400" b="1" dirty="0">
                <a:solidFill>
                  <a:srgbClr val="000000"/>
                </a:solidFill>
                <a:latin typeface="宋体" charset="-122"/>
              </a:rPr>
              <a:t>  *d# </a:t>
            </a:r>
            <a:r>
              <a:rPr kumimoji="1" lang="zh-CN" altLang="en-US" sz="2000" b="1" dirty="0">
                <a:solidFill>
                  <a:srgbClr val="000000"/>
                </a:solidFill>
                <a:latin typeface="宋体" charset="-122"/>
              </a:rPr>
              <a:t>移进</a:t>
            </a:r>
            <a:r>
              <a:rPr kumimoji="1" lang="zh-CN" altLang="en-US" sz="2400" b="1" dirty="0">
                <a:solidFill>
                  <a:srgbClr val="000000"/>
                </a:solidFill>
                <a:latin typeface="宋体" charset="-122"/>
              </a:rPr>
              <a:t>   </a:t>
            </a:r>
            <a:r>
              <a:rPr kumimoji="1" lang="en-US" altLang="zh-CN" sz="2400" b="1" dirty="0">
                <a:solidFill>
                  <a:srgbClr val="000000"/>
                </a:solidFill>
                <a:latin typeface="宋体" charset="-122"/>
              </a:rPr>
              <a:t>a_T1_b  </a:t>
            </a:r>
          </a:p>
        </p:txBody>
      </p:sp>
      <p:sp>
        <p:nvSpPr>
          <p:cNvPr id="135215" name="Oval 47"/>
          <p:cNvSpPr>
            <a:spLocks noChangeArrowheads="1"/>
          </p:cNvSpPr>
          <p:nvPr/>
        </p:nvSpPr>
        <p:spPr bwMode="auto">
          <a:xfrm>
            <a:off x="1143000" y="3886200"/>
            <a:ext cx="457200" cy="838200"/>
          </a:xfrm>
          <a:prstGeom prst="ellipse">
            <a:avLst/>
          </a:prstGeom>
          <a:noFill/>
          <a:ln w="28575">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b="1">
              <a:solidFill>
                <a:srgbClr val="000000"/>
              </a:solidFill>
            </a:endParaRPr>
          </a:p>
        </p:txBody>
      </p:sp>
      <p:sp>
        <p:nvSpPr>
          <p:cNvPr id="135216" name="Rectangle 48"/>
          <p:cNvSpPr>
            <a:spLocks noChangeArrowheads="1"/>
          </p:cNvSpPr>
          <p:nvPr/>
        </p:nvSpPr>
        <p:spPr bwMode="auto">
          <a:xfrm>
            <a:off x="2286000" y="3822700"/>
            <a:ext cx="62484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400" b="1" dirty="0">
                <a:solidFill>
                  <a:srgbClr val="000000"/>
                </a:solidFill>
                <a:latin typeface="宋体" charset="-122"/>
              </a:rPr>
              <a:t>  9 #id:=E+E   *d# </a:t>
            </a:r>
            <a:r>
              <a:rPr kumimoji="1" lang="zh-CN" altLang="en-US" sz="2000" b="1" dirty="0">
                <a:solidFill>
                  <a:srgbClr val="009900"/>
                </a:solidFill>
                <a:latin typeface="宋体" charset="-122"/>
              </a:rPr>
              <a:t>归</a:t>
            </a:r>
            <a:r>
              <a:rPr kumimoji="1" lang="en-US" altLang="zh-CN" sz="2000" b="1" dirty="0">
                <a:solidFill>
                  <a:srgbClr val="009900"/>
                </a:solidFill>
                <a:latin typeface="宋体" charset="-122"/>
              </a:rPr>
              <a:t>sub6</a:t>
            </a:r>
            <a:r>
              <a:rPr kumimoji="1" lang="en-US" altLang="zh-CN" sz="2400" b="1" dirty="0">
                <a:solidFill>
                  <a:srgbClr val="000000"/>
                </a:solidFill>
                <a:latin typeface="宋体" charset="-122"/>
              </a:rPr>
              <a:t> a_T1_b </a:t>
            </a:r>
          </a:p>
        </p:txBody>
      </p:sp>
      <p:sp>
        <p:nvSpPr>
          <p:cNvPr id="135217" name="Rectangle 49"/>
          <p:cNvSpPr>
            <a:spLocks noChangeArrowheads="1"/>
          </p:cNvSpPr>
          <p:nvPr/>
        </p:nvSpPr>
        <p:spPr bwMode="auto">
          <a:xfrm>
            <a:off x="2286000" y="4127500"/>
            <a:ext cx="60960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400" b="1" dirty="0">
                <a:solidFill>
                  <a:srgbClr val="000000"/>
                </a:solidFill>
                <a:latin typeface="宋体" charset="-122"/>
              </a:rPr>
              <a:t> 10 #id:=E+E*   d# </a:t>
            </a:r>
            <a:r>
              <a:rPr kumimoji="1" lang="zh-CN" altLang="en-US" sz="2000" b="1" dirty="0">
                <a:solidFill>
                  <a:srgbClr val="000000"/>
                </a:solidFill>
                <a:latin typeface="宋体" charset="-122"/>
              </a:rPr>
              <a:t>移进</a:t>
            </a:r>
            <a:r>
              <a:rPr kumimoji="1" lang="zh-CN" altLang="en-US" sz="2400" b="1" dirty="0">
                <a:solidFill>
                  <a:srgbClr val="000000"/>
                </a:solidFill>
                <a:latin typeface="宋体" charset="-122"/>
              </a:rPr>
              <a:t>   </a:t>
            </a:r>
            <a:r>
              <a:rPr kumimoji="1" lang="en-US" altLang="zh-CN" sz="2400" b="1" dirty="0">
                <a:solidFill>
                  <a:srgbClr val="000000"/>
                </a:solidFill>
                <a:latin typeface="宋体" charset="-122"/>
              </a:rPr>
              <a:t>a_T1_b_ </a:t>
            </a:r>
          </a:p>
        </p:txBody>
      </p:sp>
      <p:sp>
        <p:nvSpPr>
          <p:cNvPr id="135218" name="Rectangle 50"/>
          <p:cNvSpPr>
            <a:spLocks noChangeArrowheads="1"/>
          </p:cNvSpPr>
          <p:nvPr/>
        </p:nvSpPr>
        <p:spPr bwMode="auto">
          <a:xfrm>
            <a:off x="2286000" y="4495800"/>
            <a:ext cx="68580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400" b="1" dirty="0">
                <a:solidFill>
                  <a:srgbClr val="000000"/>
                </a:solidFill>
                <a:latin typeface="宋体" charset="-122"/>
              </a:rPr>
              <a:t> 11 #id:=E+E*</a:t>
            </a:r>
            <a:r>
              <a:rPr kumimoji="1" lang="en-US" altLang="zh-CN" sz="2400" b="1" dirty="0">
                <a:solidFill>
                  <a:srgbClr val="009900"/>
                </a:solidFill>
                <a:latin typeface="宋体" charset="-122"/>
              </a:rPr>
              <a:t>id</a:t>
            </a:r>
            <a:r>
              <a:rPr kumimoji="1" lang="en-US" altLang="zh-CN" sz="2400" b="1" dirty="0">
                <a:solidFill>
                  <a:srgbClr val="000000"/>
                </a:solidFill>
                <a:latin typeface="宋体" charset="-122"/>
              </a:rPr>
              <a:t>  # </a:t>
            </a:r>
            <a:r>
              <a:rPr kumimoji="1" lang="zh-CN" altLang="en-US" sz="2000" b="1" dirty="0">
                <a:solidFill>
                  <a:srgbClr val="000000"/>
                </a:solidFill>
                <a:latin typeface="宋体" charset="-122"/>
              </a:rPr>
              <a:t>移进</a:t>
            </a:r>
            <a:r>
              <a:rPr kumimoji="1" lang="zh-CN" altLang="en-US" sz="2400" b="1" dirty="0">
                <a:solidFill>
                  <a:srgbClr val="000000"/>
                </a:solidFill>
                <a:latin typeface="宋体" charset="-122"/>
              </a:rPr>
              <a:t>   </a:t>
            </a:r>
            <a:r>
              <a:rPr kumimoji="1" lang="en-US" altLang="zh-CN" sz="2400" b="1" dirty="0">
                <a:solidFill>
                  <a:srgbClr val="000000"/>
                </a:solidFill>
                <a:latin typeface="宋体" charset="-122"/>
              </a:rPr>
              <a:t>a_T1_b_d </a:t>
            </a:r>
          </a:p>
        </p:txBody>
      </p:sp>
      <p:sp>
        <p:nvSpPr>
          <p:cNvPr id="135219" name="Oval 51"/>
          <p:cNvSpPr>
            <a:spLocks noChangeArrowheads="1"/>
          </p:cNvSpPr>
          <p:nvPr/>
        </p:nvSpPr>
        <p:spPr bwMode="auto">
          <a:xfrm>
            <a:off x="1828800" y="3886200"/>
            <a:ext cx="457200" cy="838200"/>
          </a:xfrm>
          <a:prstGeom prst="ellipse">
            <a:avLst/>
          </a:prstGeom>
          <a:noFill/>
          <a:ln w="28575">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b="1">
              <a:solidFill>
                <a:srgbClr val="000000"/>
              </a:solidFill>
            </a:endParaRPr>
          </a:p>
        </p:txBody>
      </p:sp>
      <p:sp>
        <p:nvSpPr>
          <p:cNvPr id="135220" name="Rectangle 52"/>
          <p:cNvSpPr>
            <a:spLocks noChangeArrowheads="1"/>
          </p:cNvSpPr>
          <p:nvPr/>
        </p:nvSpPr>
        <p:spPr bwMode="auto">
          <a:xfrm>
            <a:off x="2286000" y="4889500"/>
            <a:ext cx="68580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400" b="1" dirty="0">
                <a:solidFill>
                  <a:srgbClr val="000000"/>
                </a:solidFill>
                <a:latin typeface="宋体" charset="-122"/>
              </a:rPr>
              <a:t> 12 #id:=E+</a:t>
            </a:r>
            <a:r>
              <a:rPr kumimoji="1" lang="en-US" altLang="zh-CN" sz="2400" b="1" dirty="0">
                <a:solidFill>
                  <a:srgbClr val="009900"/>
                </a:solidFill>
                <a:latin typeface="宋体" charset="-122"/>
              </a:rPr>
              <a:t>E*E </a:t>
            </a:r>
            <a:r>
              <a:rPr kumimoji="1" lang="en-US" altLang="zh-CN" sz="2400" b="1" dirty="0">
                <a:solidFill>
                  <a:srgbClr val="000000"/>
                </a:solidFill>
                <a:latin typeface="宋体" charset="-122"/>
              </a:rPr>
              <a:t>  # </a:t>
            </a:r>
            <a:r>
              <a:rPr kumimoji="1" lang="zh-CN" altLang="en-US" sz="2000" b="1" dirty="0">
                <a:solidFill>
                  <a:srgbClr val="009900"/>
                </a:solidFill>
                <a:latin typeface="宋体" charset="-122"/>
              </a:rPr>
              <a:t>归</a:t>
            </a:r>
            <a:r>
              <a:rPr kumimoji="1" lang="en-US" altLang="zh-CN" sz="2000" b="1" dirty="0">
                <a:solidFill>
                  <a:srgbClr val="009900"/>
                </a:solidFill>
                <a:latin typeface="宋体" charset="-122"/>
              </a:rPr>
              <a:t>sub6</a:t>
            </a:r>
            <a:r>
              <a:rPr kumimoji="1" lang="en-US" altLang="zh-CN" sz="2400" b="1" dirty="0">
                <a:solidFill>
                  <a:srgbClr val="000000"/>
                </a:solidFill>
                <a:latin typeface="宋体" charset="-122"/>
              </a:rPr>
              <a:t> a_T1_</a:t>
            </a:r>
            <a:r>
              <a:rPr kumimoji="1" lang="en-US" altLang="zh-CN" sz="2400" b="1" dirty="0">
                <a:solidFill>
                  <a:srgbClr val="009900"/>
                </a:solidFill>
                <a:latin typeface="宋体" charset="-122"/>
              </a:rPr>
              <a:t>b_d</a:t>
            </a:r>
            <a:r>
              <a:rPr kumimoji="1" lang="en-US" altLang="zh-CN" sz="2400" b="1" dirty="0">
                <a:solidFill>
                  <a:srgbClr val="000000"/>
                </a:solidFill>
                <a:latin typeface="宋体" charset="-122"/>
              </a:rPr>
              <a:t> </a:t>
            </a:r>
          </a:p>
        </p:txBody>
      </p:sp>
      <p:sp>
        <p:nvSpPr>
          <p:cNvPr id="135221" name="Oval 53"/>
          <p:cNvSpPr>
            <a:spLocks noChangeArrowheads="1"/>
          </p:cNvSpPr>
          <p:nvPr/>
        </p:nvSpPr>
        <p:spPr bwMode="auto">
          <a:xfrm>
            <a:off x="1143000" y="3124200"/>
            <a:ext cx="1143000" cy="533400"/>
          </a:xfrm>
          <a:prstGeom prst="ellipse">
            <a:avLst/>
          </a:prstGeom>
          <a:noFill/>
          <a:ln w="28575">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b="1">
              <a:solidFill>
                <a:srgbClr val="000000"/>
              </a:solidFill>
            </a:endParaRPr>
          </a:p>
        </p:txBody>
      </p:sp>
      <p:sp>
        <p:nvSpPr>
          <p:cNvPr id="135222" name="Rectangle 54"/>
          <p:cNvSpPr>
            <a:spLocks noChangeArrowheads="1"/>
          </p:cNvSpPr>
          <p:nvPr/>
        </p:nvSpPr>
        <p:spPr bwMode="auto">
          <a:xfrm>
            <a:off x="2286000" y="5257800"/>
            <a:ext cx="6858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400" b="1" dirty="0">
                <a:solidFill>
                  <a:srgbClr val="000000"/>
                </a:solidFill>
                <a:latin typeface="宋体" charset="-122"/>
              </a:rPr>
              <a:t> 13 #id:=</a:t>
            </a:r>
            <a:r>
              <a:rPr kumimoji="1" lang="en-US" altLang="zh-CN" sz="2400" b="1" dirty="0">
                <a:solidFill>
                  <a:srgbClr val="009900"/>
                </a:solidFill>
                <a:latin typeface="宋体" charset="-122"/>
              </a:rPr>
              <a:t>E+E</a:t>
            </a:r>
            <a:r>
              <a:rPr kumimoji="1" lang="en-US" altLang="zh-CN" sz="2400" b="1" dirty="0">
                <a:solidFill>
                  <a:srgbClr val="000000"/>
                </a:solidFill>
                <a:latin typeface="宋体" charset="-122"/>
              </a:rPr>
              <a:t>     # </a:t>
            </a:r>
            <a:r>
              <a:rPr kumimoji="1" lang="zh-CN" altLang="en-US" sz="2000" b="1" dirty="0">
                <a:solidFill>
                  <a:srgbClr val="009900"/>
                </a:solidFill>
                <a:latin typeface="宋体" charset="-122"/>
              </a:rPr>
              <a:t>归</a:t>
            </a:r>
            <a:r>
              <a:rPr kumimoji="1" lang="en-US" altLang="zh-CN" sz="2000" b="1" dirty="0">
                <a:solidFill>
                  <a:srgbClr val="009900"/>
                </a:solidFill>
                <a:latin typeface="宋体" charset="-122"/>
              </a:rPr>
              <a:t>sub3</a:t>
            </a:r>
            <a:r>
              <a:rPr kumimoji="1" lang="en-US" altLang="zh-CN" sz="2400" b="1" dirty="0">
                <a:solidFill>
                  <a:srgbClr val="000000"/>
                </a:solidFill>
                <a:latin typeface="宋体" charset="-122"/>
              </a:rPr>
              <a:t> a_</a:t>
            </a:r>
            <a:r>
              <a:rPr kumimoji="1" lang="en-US" altLang="zh-CN" sz="2400" b="1" dirty="0">
                <a:solidFill>
                  <a:srgbClr val="009900"/>
                </a:solidFill>
                <a:latin typeface="宋体" charset="-122"/>
              </a:rPr>
              <a:t>T1_</a:t>
            </a:r>
            <a:r>
              <a:rPr kumimoji="1" lang="en-US" altLang="zh-CN" sz="2400" b="1" dirty="0">
                <a:solidFill>
                  <a:srgbClr val="FF0000"/>
                </a:solidFill>
                <a:latin typeface="宋体" charset="-122"/>
              </a:rPr>
              <a:t>T2</a:t>
            </a:r>
            <a:r>
              <a:rPr kumimoji="1" lang="en-US" altLang="zh-CN" sz="2400" b="1" dirty="0">
                <a:solidFill>
                  <a:srgbClr val="000000"/>
                </a:solidFill>
                <a:latin typeface="宋体" charset="-122"/>
              </a:rPr>
              <a:t>  </a:t>
            </a:r>
            <a:r>
              <a:rPr kumimoji="1" lang="en-US" altLang="zh-CN" sz="2400" b="1" dirty="0">
                <a:solidFill>
                  <a:srgbClr val="009900"/>
                </a:solidFill>
                <a:latin typeface="宋体" charset="-122"/>
              </a:rPr>
              <a:t>T2:=b*d</a:t>
            </a:r>
            <a:r>
              <a:rPr kumimoji="1" lang="en-US" altLang="zh-CN" sz="2400" b="1" dirty="0">
                <a:solidFill>
                  <a:srgbClr val="000000"/>
                </a:solidFill>
                <a:latin typeface="宋体" charset="-122"/>
              </a:rPr>
              <a:t> </a:t>
            </a:r>
          </a:p>
        </p:txBody>
      </p:sp>
      <p:sp>
        <p:nvSpPr>
          <p:cNvPr id="135223" name="Oval 55"/>
          <p:cNvSpPr>
            <a:spLocks noChangeArrowheads="1"/>
          </p:cNvSpPr>
          <p:nvPr/>
        </p:nvSpPr>
        <p:spPr bwMode="auto">
          <a:xfrm>
            <a:off x="381000" y="2286000"/>
            <a:ext cx="1752600" cy="533400"/>
          </a:xfrm>
          <a:prstGeom prst="ellipse">
            <a:avLst/>
          </a:prstGeom>
          <a:noFill/>
          <a:ln w="28575">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b="1">
              <a:solidFill>
                <a:srgbClr val="000000"/>
              </a:solidFill>
            </a:endParaRPr>
          </a:p>
        </p:txBody>
      </p:sp>
      <p:sp>
        <p:nvSpPr>
          <p:cNvPr id="135224" name="Rectangle 56"/>
          <p:cNvSpPr>
            <a:spLocks noChangeArrowheads="1"/>
          </p:cNvSpPr>
          <p:nvPr/>
        </p:nvSpPr>
        <p:spPr bwMode="auto">
          <a:xfrm>
            <a:off x="2286000" y="5638800"/>
            <a:ext cx="6858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fontAlgn="base" hangingPunct="0">
              <a:lnSpc>
                <a:spcPct val="80000"/>
              </a:lnSpc>
              <a:spcBef>
                <a:spcPct val="20000"/>
              </a:spcBef>
              <a:spcAft>
                <a:spcPct val="0"/>
              </a:spcAft>
              <a:buClr>
                <a:srgbClr val="000000"/>
              </a:buClr>
              <a:buSzPct val="75000"/>
              <a:buFont typeface="Monotype Sorts" pitchFamily="2" charset="2"/>
              <a:buNone/>
            </a:pPr>
            <a:r>
              <a:rPr kumimoji="1" lang="en-US" altLang="zh-CN" sz="2400" b="1" dirty="0">
                <a:solidFill>
                  <a:srgbClr val="000000"/>
                </a:solidFill>
                <a:latin typeface="宋体" charset="-122"/>
              </a:rPr>
              <a:t> 14 #</a:t>
            </a:r>
            <a:r>
              <a:rPr kumimoji="1" lang="en-US" altLang="zh-CN" sz="2400" b="1" dirty="0">
                <a:solidFill>
                  <a:srgbClr val="009900"/>
                </a:solidFill>
                <a:latin typeface="宋体" charset="-122"/>
              </a:rPr>
              <a:t>id:=E</a:t>
            </a:r>
            <a:r>
              <a:rPr kumimoji="1" lang="en-US" altLang="zh-CN" sz="2400" b="1" dirty="0">
                <a:solidFill>
                  <a:srgbClr val="000000"/>
                </a:solidFill>
                <a:latin typeface="宋体" charset="-122"/>
              </a:rPr>
              <a:t>       # </a:t>
            </a:r>
            <a:r>
              <a:rPr kumimoji="1" lang="zh-CN" altLang="en-US" sz="2000" b="1" dirty="0">
                <a:solidFill>
                  <a:srgbClr val="009900"/>
                </a:solidFill>
                <a:latin typeface="宋体" charset="-122"/>
              </a:rPr>
              <a:t>归</a:t>
            </a:r>
            <a:r>
              <a:rPr kumimoji="1" lang="en-US" altLang="zh-CN" sz="2000" b="1" dirty="0">
                <a:solidFill>
                  <a:srgbClr val="009900"/>
                </a:solidFill>
                <a:latin typeface="宋体" charset="-122"/>
              </a:rPr>
              <a:t>sub2</a:t>
            </a:r>
            <a:r>
              <a:rPr kumimoji="1" lang="en-US" altLang="zh-CN" sz="2400" b="1" dirty="0">
                <a:solidFill>
                  <a:srgbClr val="000000"/>
                </a:solidFill>
                <a:latin typeface="宋体" charset="-122"/>
              </a:rPr>
              <a:t> </a:t>
            </a:r>
            <a:r>
              <a:rPr kumimoji="1" lang="en-US" altLang="zh-CN" sz="2400" b="1" dirty="0">
                <a:solidFill>
                  <a:srgbClr val="009900"/>
                </a:solidFill>
                <a:latin typeface="宋体" charset="-122"/>
              </a:rPr>
              <a:t>a_</a:t>
            </a:r>
            <a:r>
              <a:rPr kumimoji="1" lang="en-US" altLang="zh-CN" sz="2400" b="1" dirty="0">
                <a:solidFill>
                  <a:srgbClr val="FF0000"/>
                </a:solidFill>
                <a:latin typeface="宋体" charset="-122"/>
              </a:rPr>
              <a:t>T3</a:t>
            </a:r>
            <a:r>
              <a:rPr kumimoji="1" lang="en-US" altLang="zh-CN" sz="2400" b="1" dirty="0">
                <a:solidFill>
                  <a:srgbClr val="000000"/>
                </a:solidFill>
                <a:latin typeface="宋体" charset="-122"/>
              </a:rPr>
              <a:t>     </a:t>
            </a:r>
            <a:r>
              <a:rPr kumimoji="1" lang="en-US" altLang="zh-CN" sz="2400" b="1" dirty="0">
                <a:solidFill>
                  <a:srgbClr val="009900"/>
                </a:solidFill>
                <a:latin typeface="宋体" charset="-122"/>
              </a:rPr>
              <a:t>T3:=T1+T2</a:t>
            </a:r>
            <a:endParaRPr kumimoji="1" lang="en-US" altLang="zh-CN" sz="2400" b="1" dirty="0">
              <a:solidFill>
                <a:srgbClr val="000000"/>
              </a:solidFill>
              <a:latin typeface="宋体" charset="-122"/>
            </a:endParaRPr>
          </a:p>
        </p:txBody>
      </p:sp>
      <p:sp>
        <p:nvSpPr>
          <p:cNvPr id="135225" name="Oval 57"/>
          <p:cNvSpPr>
            <a:spLocks noChangeArrowheads="1"/>
          </p:cNvSpPr>
          <p:nvPr/>
        </p:nvSpPr>
        <p:spPr bwMode="auto">
          <a:xfrm>
            <a:off x="76200" y="1524000"/>
            <a:ext cx="1371600" cy="533400"/>
          </a:xfrm>
          <a:prstGeom prst="ellipse">
            <a:avLst/>
          </a:prstGeom>
          <a:noFill/>
          <a:ln w="28575">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b="1">
              <a:solidFill>
                <a:srgbClr val="000000"/>
              </a:solidFill>
            </a:endParaRPr>
          </a:p>
        </p:txBody>
      </p:sp>
      <p:sp>
        <p:nvSpPr>
          <p:cNvPr id="135226" name="Rectangle 58"/>
          <p:cNvSpPr>
            <a:spLocks noChangeArrowheads="1"/>
          </p:cNvSpPr>
          <p:nvPr/>
        </p:nvSpPr>
        <p:spPr bwMode="auto">
          <a:xfrm>
            <a:off x="2286000" y="5943600"/>
            <a:ext cx="68580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fontAlgn="base" hangingPunct="0">
              <a:lnSpc>
                <a:spcPct val="75000"/>
              </a:lnSpc>
              <a:spcBef>
                <a:spcPct val="5000"/>
              </a:spcBef>
              <a:spcAft>
                <a:spcPct val="0"/>
              </a:spcAft>
              <a:buClr>
                <a:srgbClr val="000000"/>
              </a:buClr>
              <a:buSzPct val="75000"/>
              <a:buFont typeface="Monotype Sorts" pitchFamily="2" charset="2"/>
              <a:buNone/>
            </a:pPr>
            <a:r>
              <a:rPr kumimoji="1" lang="en-US" altLang="zh-CN" sz="2400" b="1" dirty="0">
                <a:solidFill>
                  <a:srgbClr val="000000"/>
                </a:solidFill>
                <a:latin typeface="宋体" charset="-122"/>
              </a:rPr>
              <a:t> 15 #S           # </a:t>
            </a:r>
            <a:r>
              <a:rPr kumimoji="1" lang="zh-CN" altLang="en-US" sz="2000" b="1" dirty="0">
                <a:solidFill>
                  <a:srgbClr val="009900"/>
                </a:solidFill>
                <a:latin typeface="宋体" charset="-122"/>
              </a:rPr>
              <a:t>归</a:t>
            </a:r>
            <a:r>
              <a:rPr kumimoji="1" lang="en-US" altLang="zh-CN" sz="2000" b="1" dirty="0">
                <a:solidFill>
                  <a:srgbClr val="009900"/>
                </a:solidFill>
                <a:latin typeface="宋体" charset="-122"/>
              </a:rPr>
              <a:t>sub1</a:t>
            </a:r>
            <a:r>
              <a:rPr kumimoji="1" lang="en-US" altLang="zh-CN" sz="2400" b="1" dirty="0">
                <a:solidFill>
                  <a:srgbClr val="000000"/>
                </a:solidFill>
                <a:latin typeface="宋体" charset="-122"/>
              </a:rPr>
              <a:t>          </a:t>
            </a:r>
            <a:r>
              <a:rPr kumimoji="1" lang="en-US" altLang="zh-CN" sz="2400" b="1" dirty="0">
                <a:solidFill>
                  <a:srgbClr val="009900"/>
                </a:solidFill>
                <a:latin typeface="宋体" charset="-122"/>
              </a:rPr>
              <a:t>a:=T3</a:t>
            </a:r>
          </a:p>
          <a:p>
            <a:pPr eaLnBrk="0" fontAlgn="base" hangingPunct="0">
              <a:lnSpc>
                <a:spcPct val="75000"/>
              </a:lnSpc>
              <a:spcBef>
                <a:spcPct val="5000"/>
              </a:spcBef>
              <a:spcAft>
                <a:spcPct val="0"/>
              </a:spcAft>
              <a:buClr>
                <a:srgbClr val="000000"/>
              </a:buClr>
              <a:buSzPct val="75000"/>
              <a:buFont typeface="Monotype Sorts" pitchFamily="2" charset="2"/>
              <a:buNone/>
            </a:pPr>
            <a:r>
              <a:rPr kumimoji="1" lang="en-US" altLang="zh-CN" sz="2400" b="1" dirty="0">
                <a:solidFill>
                  <a:srgbClr val="000000"/>
                </a:solidFill>
                <a:latin typeface="宋体" charset="-122"/>
              </a:rPr>
              <a:t> 16               </a:t>
            </a:r>
            <a:r>
              <a:rPr kumimoji="1" lang="zh-CN" altLang="en-US" sz="2000" b="1" dirty="0">
                <a:solidFill>
                  <a:srgbClr val="000000"/>
                </a:solidFill>
                <a:latin typeface="宋体" charset="-122"/>
              </a:rPr>
              <a:t>分析成功结束</a:t>
            </a:r>
            <a:r>
              <a:rPr kumimoji="1" lang="zh-CN" altLang="en-US" sz="2400" b="1" dirty="0">
                <a:solidFill>
                  <a:srgbClr val="000000"/>
                </a:solidFill>
                <a:latin typeface="宋体" charset="-122"/>
              </a:rPr>
              <a:t>	</a:t>
            </a:r>
          </a:p>
        </p:txBody>
      </p:sp>
      <p:grpSp>
        <p:nvGrpSpPr>
          <p:cNvPr id="135250" name="Group 82"/>
          <p:cNvGrpSpPr>
            <a:grpSpLocks/>
          </p:cNvGrpSpPr>
          <p:nvPr/>
        </p:nvGrpSpPr>
        <p:grpSpPr bwMode="auto">
          <a:xfrm>
            <a:off x="2362200" y="609600"/>
            <a:ext cx="6705600" cy="6019800"/>
            <a:chOff x="1488" y="384"/>
            <a:chExt cx="4224" cy="3792"/>
          </a:xfrm>
        </p:grpSpPr>
        <p:sp>
          <p:nvSpPr>
            <p:cNvPr id="135229" name="Rectangle 61"/>
            <p:cNvSpPr>
              <a:spLocks noChangeArrowheads="1"/>
            </p:cNvSpPr>
            <p:nvPr/>
          </p:nvSpPr>
          <p:spPr bwMode="auto">
            <a:xfrm>
              <a:off x="1488" y="384"/>
              <a:ext cx="4224" cy="3792"/>
            </a:xfrm>
            <a:prstGeom prst="rect">
              <a:avLst/>
            </a:prstGeom>
            <a:noFill/>
            <a:ln w="1905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b="1">
                <a:solidFill>
                  <a:srgbClr val="000000"/>
                </a:solidFill>
              </a:endParaRPr>
            </a:p>
          </p:txBody>
        </p:sp>
        <p:sp>
          <p:nvSpPr>
            <p:cNvPr id="135230" name="Line 62"/>
            <p:cNvSpPr>
              <a:spLocks noChangeShapeType="1"/>
            </p:cNvSpPr>
            <p:nvPr/>
          </p:nvSpPr>
          <p:spPr bwMode="auto">
            <a:xfrm>
              <a:off x="1488" y="576"/>
              <a:ext cx="4217"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231" name="Line 63"/>
            <p:cNvSpPr>
              <a:spLocks noChangeShapeType="1"/>
            </p:cNvSpPr>
            <p:nvPr/>
          </p:nvSpPr>
          <p:spPr bwMode="auto">
            <a:xfrm>
              <a:off x="1488" y="793"/>
              <a:ext cx="4217"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232" name="Line 64"/>
            <p:cNvSpPr>
              <a:spLocks noChangeShapeType="1"/>
            </p:cNvSpPr>
            <p:nvPr/>
          </p:nvSpPr>
          <p:spPr bwMode="auto">
            <a:xfrm>
              <a:off x="1488" y="1008"/>
              <a:ext cx="4217"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233" name="Line 65"/>
            <p:cNvSpPr>
              <a:spLocks noChangeShapeType="1"/>
            </p:cNvSpPr>
            <p:nvPr/>
          </p:nvSpPr>
          <p:spPr bwMode="auto">
            <a:xfrm>
              <a:off x="1488" y="1200"/>
              <a:ext cx="4217"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234" name="Line 66"/>
            <p:cNvSpPr>
              <a:spLocks noChangeShapeType="1"/>
            </p:cNvSpPr>
            <p:nvPr/>
          </p:nvSpPr>
          <p:spPr bwMode="auto">
            <a:xfrm>
              <a:off x="1488" y="1392"/>
              <a:ext cx="4217"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235" name="Line 67"/>
            <p:cNvSpPr>
              <a:spLocks noChangeShapeType="1"/>
            </p:cNvSpPr>
            <p:nvPr/>
          </p:nvSpPr>
          <p:spPr bwMode="auto">
            <a:xfrm>
              <a:off x="1488" y="1632"/>
              <a:ext cx="4217"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236" name="Line 68"/>
            <p:cNvSpPr>
              <a:spLocks noChangeShapeType="1"/>
            </p:cNvSpPr>
            <p:nvPr/>
          </p:nvSpPr>
          <p:spPr bwMode="auto">
            <a:xfrm>
              <a:off x="1488" y="1824"/>
              <a:ext cx="4217"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237" name="Line 69"/>
            <p:cNvSpPr>
              <a:spLocks noChangeShapeType="1"/>
            </p:cNvSpPr>
            <p:nvPr/>
          </p:nvSpPr>
          <p:spPr bwMode="auto">
            <a:xfrm>
              <a:off x="1488" y="2016"/>
              <a:ext cx="4217"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238" name="Line 70"/>
            <p:cNvSpPr>
              <a:spLocks noChangeShapeType="1"/>
            </p:cNvSpPr>
            <p:nvPr/>
          </p:nvSpPr>
          <p:spPr bwMode="auto">
            <a:xfrm>
              <a:off x="1488" y="2208"/>
              <a:ext cx="4217"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239" name="Line 71"/>
            <p:cNvSpPr>
              <a:spLocks noChangeShapeType="1"/>
            </p:cNvSpPr>
            <p:nvPr/>
          </p:nvSpPr>
          <p:spPr bwMode="auto">
            <a:xfrm>
              <a:off x="1488" y="2448"/>
              <a:ext cx="4217"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240" name="Line 72"/>
            <p:cNvSpPr>
              <a:spLocks noChangeShapeType="1"/>
            </p:cNvSpPr>
            <p:nvPr/>
          </p:nvSpPr>
          <p:spPr bwMode="auto">
            <a:xfrm>
              <a:off x="1488" y="2640"/>
              <a:ext cx="4217"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241" name="Line 73"/>
            <p:cNvSpPr>
              <a:spLocks noChangeShapeType="1"/>
            </p:cNvSpPr>
            <p:nvPr/>
          </p:nvSpPr>
          <p:spPr bwMode="auto">
            <a:xfrm>
              <a:off x="1488" y="2832"/>
              <a:ext cx="4217"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242" name="Line 74"/>
            <p:cNvSpPr>
              <a:spLocks noChangeShapeType="1"/>
            </p:cNvSpPr>
            <p:nvPr/>
          </p:nvSpPr>
          <p:spPr bwMode="auto">
            <a:xfrm>
              <a:off x="1488" y="3072"/>
              <a:ext cx="4217"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243" name="Line 75"/>
            <p:cNvSpPr>
              <a:spLocks noChangeShapeType="1"/>
            </p:cNvSpPr>
            <p:nvPr/>
          </p:nvSpPr>
          <p:spPr bwMode="auto">
            <a:xfrm>
              <a:off x="1488" y="3326"/>
              <a:ext cx="4217"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244" name="Line 76"/>
            <p:cNvSpPr>
              <a:spLocks noChangeShapeType="1"/>
            </p:cNvSpPr>
            <p:nvPr/>
          </p:nvSpPr>
          <p:spPr bwMode="auto">
            <a:xfrm>
              <a:off x="1488" y="3567"/>
              <a:ext cx="4217"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245" name="Line 77"/>
            <p:cNvSpPr>
              <a:spLocks noChangeShapeType="1"/>
            </p:cNvSpPr>
            <p:nvPr/>
          </p:nvSpPr>
          <p:spPr bwMode="auto">
            <a:xfrm>
              <a:off x="1488" y="3792"/>
              <a:ext cx="4217"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35246" name="Line 78"/>
            <p:cNvSpPr>
              <a:spLocks noChangeShapeType="1"/>
            </p:cNvSpPr>
            <p:nvPr/>
          </p:nvSpPr>
          <p:spPr bwMode="auto">
            <a:xfrm>
              <a:off x="1488" y="3982"/>
              <a:ext cx="4217"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grpSp>
      <p:sp>
        <p:nvSpPr>
          <p:cNvPr id="2" name="灯片编号占位符 1">
            <a:extLst>
              <a:ext uri="{FF2B5EF4-FFF2-40B4-BE49-F238E27FC236}">
                <a16:creationId xmlns:a16="http://schemas.microsoft.com/office/drawing/2014/main" id="{61A75DF1-96ED-45D5-8C7B-43FC9FF6AD24}"/>
              </a:ext>
            </a:extLst>
          </p:cNvPr>
          <p:cNvSpPr>
            <a:spLocks noGrp="1"/>
          </p:cNvSpPr>
          <p:nvPr>
            <p:ph type="sldNum" sz="quarter" idx="12"/>
          </p:nvPr>
        </p:nvSpPr>
        <p:spPr/>
        <p:txBody>
          <a:bodyPr/>
          <a:lstStyle/>
          <a:p>
            <a:fld id="{DBBC0EF6-B603-432C-9C67-7FF4B1EAAA36}" type="slidenum">
              <a:rPr lang="en-US" altLang="zh-CN" smtClean="0">
                <a:solidFill>
                  <a:srgbClr val="000000"/>
                </a:solidFill>
              </a:rPr>
              <a:pPr/>
              <a:t>44</a:t>
            </a:fld>
            <a:endParaRPr lang="en-US" altLang="zh-CN">
              <a:solidFill>
                <a:srgbClr val="000000"/>
              </a:solidFill>
            </a:endParaRPr>
          </a:p>
        </p:txBody>
      </p:sp>
    </p:spTree>
    <p:extLst>
      <p:ext uri="{BB962C8B-B14F-4D97-AF65-F5344CB8AC3E}">
        <p14:creationId xmlns:p14="http://schemas.microsoft.com/office/powerpoint/2010/main" val="31520241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135228"/>
                                        </p:tgtEl>
                                        <p:attrNameLst>
                                          <p:attrName>style.visibility</p:attrName>
                                        </p:attrNameLst>
                                      </p:cBhvr>
                                      <p:to>
                                        <p:strVal val="visible"/>
                                      </p:to>
                                    </p:set>
                                    <p:animEffect transition="in" filter="strips(downRight)">
                                      <p:cBhvr>
                                        <p:cTn id="7" dur="500"/>
                                        <p:tgtEl>
                                          <p:spTgt spid="1352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135250"/>
                                        </p:tgtEl>
                                        <p:attrNameLst>
                                          <p:attrName>style.visibility</p:attrName>
                                        </p:attrNameLst>
                                      </p:cBhvr>
                                      <p:to>
                                        <p:strVal val="visible"/>
                                      </p:to>
                                    </p:set>
                                    <p:animEffect transition="in" filter="strips(downRight)">
                                      <p:cBhvr>
                                        <p:cTn id="12" dur="500"/>
                                        <p:tgtEl>
                                          <p:spTgt spid="1352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35177">
                                            <p:txEl>
                                              <p:pRg st="0" end="0"/>
                                            </p:txEl>
                                          </p:spTgt>
                                        </p:tgtEl>
                                        <p:attrNameLst>
                                          <p:attrName>style.visibility</p:attrName>
                                        </p:attrNameLst>
                                      </p:cBhvr>
                                      <p:to>
                                        <p:strVal val="visible"/>
                                      </p:to>
                                    </p:set>
                                    <p:animEffect transition="in" filter="slide(fromBottom)">
                                      <p:cBhvr>
                                        <p:cTn id="17" dur="500"/>
                                        <p:tgtEl>
                                          <p:spTgt spid="13517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35177">
                                            <p:txEl>
                                              <p:pRg st="1" end="1"/>
                                            </p:txEl>
                                          </p:spTgt>
                                        </p:tgtEl>
                                        <p:attrNameLst>
                                          <p:attrName>style.visibility</p:attrName>
                                        </p:attrNameLst>
                                      </p:cBhvr>
                                      <p:to>
                                        <p:strVal val="visible"/>
                                      </p:to>
                                    </p:set>
                                    <p:animEffect transition="in" filter="slide(fromBottom)">
                                      <p:cBhvr>
                                        <p:cTn id="22" dur="500"/>
                                        <p:tgtEl>
                                          <p:spTgt spid="135177">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35205">
                                            <p:txEl>
                                              <p:pRg st="0" end="0"/>
                                            </p:txEl>
                                          </p:spTgt>
                                        </p:tgtEl>
                                        <p:attrNameLst>
                                          <p:attrName>style.visibility</p:attrName>
                                        </p:attrNameLst>
                                      </p:cBhvr>
                                      <p:to>
                                        <p:strVal val="visible"/>
                                      </p:to>
                                    </p:set>
                                    <p:animEffect transition="in" filter="slide(fromBottom)">
                                      <p:cBhvr>
                                        <p:cTn id="27" dur="500"/>
                                        <p:tgtEl>
                                          <p:spTgt spid="135205">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35206">
                                            <p:txEl>
                                              <p:pRg st="0" end="0"/>
                                            </p:txEl>
                                          </p:spTgt>
                                        </p:tgtEl>
                                        <p:attrNameLst>
                                          <p:attrName>style.visibility</p:attrName>
                                        </p:attrNameLst>
                                      </p:cBhvr>
                                      <p:to>
                                        <p:strVal val="visible"/>
                                      </p:to>
                                    </p:set>
                                    <p:animEffect transition="in" filter="slide(fromBottom)">
                                      <p:cBhvr>
                                        <p:cTn id="32" dur="500"/>
                                        <p:tgtEl>
                                          <p:spTgt spid="135206">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135207">
                                            <p:txEl>
                                              <p:pRg st="0" end="0"/>
                                            </p:txEl>
                                          </p:spTgt>
                                        </p:tgtEl>
                                        <p:attrNameLst>
                                          <p:attrName>style.visibility</p:attrName>
                                        </p:attrNameLst>
                                      </p:cBhvr>
                                      <p:to>
                                        <p:strVal val="visible"/>
                                      </p:to>
                                    </p:set>
                                    <p:animEffect transition="in" filter="slide(fromBottom)">
                                      <p:cBhvr>
                                        <p:cTn id="37" dur="500"/>
                                        <p:tgtEl>
                                          <p:spTgt spid="135207">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135208">
                                            <p:txEl>
                                              <p:pRg st="0" end="0"/>
                                            </p:txEl>
                                          </p:spTgt>
                                        </p:tgtEl>
                                        <p:attrNameLst>
                                          <p:attrName>style.visibility</p:attrName>
                                        </p:attrNameLst>
                                      </p:cBhvr>
                                      <p:to>
                                        <p:strVal val="visible"/>
                                      </p:to>
                                    </p:set>
                                    <p:animEffect transition="in" filter="slide(fromBottom)">
                                      <p:cBhvr>
                                        <p:cTn id="42" dur="500"/>
                                        <p:tgtEl>
                                          <p:spTgt spid="135208">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135209"/>
                                        </p:tgtEl>
                                        <p:attrNameLst>
                                          <p:attrName>style.visibility</p:attrName>
                                        </p:attrNameLst>
                                      </p:cBhvr>
                                      <p:to>
                                        <p:strVal val="visible"/>
                                      </p:to>
                                    </p:set>
                                    <p:animEffect transition="in" filter="strips(downRight)">
                                      <p:cBhvr>
                                        <p:cTn id="47" dur="500"/>
                                        <p:tgtEl>
                                          <p:spTgt spid="13520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135210">
                                            <p:txEl>
                                              <p:pRg st="0" end="0"/>
                                            </p:txEl>
                                          </p:spTgt>
                                        </p:tgtEl>
                                        <p:attrNameLst>
                                          <p:attrName>style.visibility</p:attrName>
                                        </p:attrNameLst>
                                      </p:cBhvr>
                                      <p:to>
                                        <p:strVal val="visible"/>
                                      </p:to>
                                    </p:set>
                                    <p:animEffect transition="in" filter="slide(fromBottom)">
                                      <p:cBhvr>
                                        <p:cTn id="52" dur="500"/>
                                        <p:tgtEl>
                                          <p:spTgt spid="135210">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8" presetClass="entr" presetSubtype="6" fill="hold" grpId="0" nodeType="clickEffect">
                                  <p:stCondLst>
                                    <p:cond delay="0"/>
                                  </p:stCondLst>
                                  <p:childTnLst>
                                    <p:set>
                                      <p:cBhvr>
                                        <p:cTn id="56" dur="1" fill="hold">
                                          <p:stCondLst>
                                            <p:cond delay="0"/>
                                          </p:stCondLst>
                                        </p:cTn>
                                        <p:tgtEl>
                                          <p:spTgt spid="135211"/>
                                        </p:tgtEl>
                                        <p:attrNameLst>
                                          <p:attrName>style.visibility</p:attrName>
                                        </p:attrNameLst>
                                      </p:cBhvr>
                                      <p:to>
                                        <p:strVal val="visible"/>
                                      </p:to>
                                    </p:set>
                                    <p:animEffect transition="in" filter="strips(downRight)">
                                      <p:cBhvr>
                                        <p:cTn id="57" dur="500"/>
                                        <p:tgtEl>
                                          <p:spTgt spid="13521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4" fill="hold" grpId="0" nodeType="clickEffect">
                                  <p:stCondLst>
                                    <p:cond delay="0"/>
                                  </p:stCondLst>
                                  <p:childTnLst>
                                    <p:set>
                                      <p:cBhvr>
                                        <p:cTn id="61" dur="1" fill="hold">
                                          <p:stCondLst>
                                            <p:cond delay="0"/>
                                          </p:stCondLst>
                                        </p:cTn>
                                        <p:tgtEl>
                                          <p:spTgt spid="135212">
                                            <p:txEl>
                                              <p:pRg st="0" end="0"/>
                                            </p:txEl>
                                          </p:spTgt>
                                        </p:tgtEl>
                                        <p:attrNameLst>
                                          <p:attrName>style.visibility</p:attrName>
                                        </p:attrNameLst>
                                      </p:cBhvr>
                                      <p:to>
                                        <p:strVal val="visible"/>
                                      </p:to>
                                    </p:set>
                                    <p:animEffect transition="in" filter="slide(fromBottom)">
                                      <p:cBhvr>
                                        <p:cTn id="62" dur="500"/>
                                        <p:tgtEl>
                                          <p:spTgt spid="135212">
                                            <p:txEl>
                                              <p:pRg st="0" end="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135213">
                                            <p:txEl>
                                              <p:pRg st="0" end="0"/>
                                            </p:txEl>
                                          </p:spTgt>
                                        </p:tgtEl>
                                        <p:attrNameLst>
                                          <p:attrName>style.visibility</p:attrName>
                                        </p:attrNameLst>
                                      </p:cBhvr>
                                      <p:to>
                                        <p:strVal val="visible"/>
                                      </p:to>
                                    </p:set>
                                    <p:animEffect transition="in" filter="slide(fromBottom)">
                                      <p:cBhvr>
                                        <p:cTn id="67" dur="500"/>
                                        <p:tgtEl>
                                          <p:spTgt spid="135213">
                                            <p:txEl>
                                              <p:pRg st="0" end="0"/>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2" presetClass="entr" presetSubtype="4" fill="hold" grpId="0" nodeType="clickEffect">
                                  <p:stCondLst>
                                    <p:cond delay="0"/>
                                  </p:stCondLst>
                                  <p:childTnLst>
                                    <p:set>
                                      <p:cBhvr>
                                        <p:cTn id="71" dur="1" fill="hold">
                                          <p:stCondLst>
                                            <p:cond delay="0"/>
                                          </p:stCondLst>
                                        </p:cTn>
                                        <p:tgtEl>
                                          <p:spTgt spid="135214">
                                            <p:txEl>
                                              <p:pRg st="0" end="0"/>
                                            </p:txEl>
                                          </p:spTgt>
                                        </p:tgtEl>
                                        <p:attrNameLst>
                                          <p:attrName>style.visibility</p:attrName>
                                        </p:attrNameLst>
                                      </p:cBhvr>
                                      <p:to>
                                        <p:strVal val="visible"/>
                                      </p:to>
                                    </p:set>
                                    <p:animEffect transition="in" filter="slide(fromBottom)">
                                      <p:cBhvr>
                                        <p:cTn id="72" dur="500"/>
                                        <p:tgtEl>
                                          <p:spTgt spid="135214">
                                            <p:txEl>
                                              <p:pRg st="0" end="0"/>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8" presetClass="entr" presetSubtype="6" fill="hold" grpId="0" nodeType="clickEffect">
                                  <p:stCondLst>
                                    <p:cond delay="0"/>
                                  </p:stCondLst>
                                  <p:childTnLst>
                                    <p:set>
                                      <p:cBhvr>
                                        <p:cTn id="76" dur="1" fill="hold">
                                          <p:stCondLst>
                                            <p:cond delay="0"/>
                                          </p:stCondLst>
                                        </p:cTn>
                                        <p:tgtEl>
                                          <p:spTgt spid="135215"/>
                                        </p:tgtEl>
                                        <p:attrNameLst>
                                          <p:attrName>style.visibility</p:attrName>
                                        </p:attrNameLst>
                                      </p:cBhvr>
                                      <p:to>
                                        <p:strVal val="visible"/>
                                      </p:to>
                                    </p:set>
                                    <p:animEffect transition="in" filter="strips(downRight)">
                                      <p:cBhvr>
                                        <p:cTn id="77" dur="500"/>
                                        <p:tgtEl>
                                          <p:spTgt spid="13521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2" presetClass="entr" presetSubtype="4" fill="hold" grpId="0" nodeType="clickEffect">
                                  <p:stCondLst>
                                    <p:cond delay="0"/>
                                  </p:stCondLst>
                                  <p:childTnLst>
                                    <p:set>
                                      <p:cBhvr>
                                        <p:cTn id="81" dur="1" fill="hold">
                                          <p:stCondLst>
                                            <p:cond delay="0"/>
                                          </p:stCondLst>
                                        </p:cTn>
                                        <p:tgtEl>
                                          <p:spTgt spid="135216">
                                            <p:txEl>
                                              <p:pRg st="0" end="0"/>
                                            </p:txEl>
                                          </p:spTgt>
                                        </p:tgtEl>
                                        <p:attrNameLst>
                                          <p:attrName>style.visibility</p:attrName>
                                        </p:attrNameLst>
                                      </p:cBhvr>
                                      <p:to>
                                        <p:strVal val="visible"/>
                                      </p:to>
                                    </p:set>
                                    <p:animEffect transition="in" filter="slide(fromBottom)">
                                      <p:cBhvr>
                                        <p:cTn id="82" dur="500"/>
                                        <p:tgtEl>
                                          <p:spTgt spid="135216">
                                            <p:txEl>
                                              <p:pRg st="0" end="0"/>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2" presetClass="entr" presetSubtype="4" fill="hold" grpId="0" nodeType="clickEffect">
                                  <p:stCondLst>
                                    <p:cond delay="0"/>
                                  </p:stCondLst>
                                  <p:childTnLst>
                                    <p:set>
                                      <p:cBhvr>
                                        <p:cTn id="86" dur="1" fill="hold">
                                          <p:stCondLst>
                                            <p:cond delay="0"/>
                                          </p:stCondLst>
                                        </p:cTn>
                                        <p:tgtEl>
                                          <p:spTgt spid="135217">
                                            <p:txEl>
                                              <p:pRg st="0" end="0"/>
                                            </p:txEl>
                                          </p:spTgt>
                                        </p:tgtEl>
                                        <p:attrNameLst>
                                          <p:attrName>style.visibility</p:attrName>
                                        </p:attrNameLst>
                                      </p:cBhvr>
                                      <p:to>
                                        <p:strVal val="visible"/>
                                      </p:to>
                                    </p:set>
                                    <p:animEffect transition="in" filter="slide(fromBottom)">
                                      <p:cBhvr>
                                        <p:cTn id="87" dur="500"/>
                                        <p:tgtEl>
                                          <p:spTgt spid="135217">
                                            <p:txEl>
                                              <p:pRg st="0" end="0"/>
                                            </p:txEl>
                                          </p:spTgt>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2" presetClass="entr" presetSubtype="4" fill="hold" grpId="0" nodeType="clickEffect">
                                  <p:stCondLst>
                                    <p:cond delay="0"/>
                                  </p:stCondLst>
                                  <p:childTnLst>
                                    <p:set>
                                      <p:cBhvr>
                                        <p:cTn id="91" dur="1" fill="hold">
                                          <p:stCondLst>
                                            <p:cond delay="0"/>
                                          </p:stCondLst>
                                        </p:cTn>
                                        <p:tgtEl>
                                          <p:spTgt spid="135218">
                                            <p:txEl>
                                              <p:pRg st="0" end="0"/>
                                            </p:txEl>
                                          </p:spTgt>
                                        </p:tgtEl>
                                        <p:attrNameLst>
                                          <p:attrName>style.visibility</p:attrName>
                                        </p:attrNameLst>
                                      </p:cBhvr>
                                      <p:to>
                                        <p:strVal val="visible"/>
                                      </p:to>
                                    </p:set>
                                    <p:animEffect transition="in" filter="slide(fromBottom)">
                                      <p:cBhvr>
                                        <p:cTn id="92" dur="500"/>
                                        <p:tgtEl>
                                          <p:spTgt spid="135218">
                                            <p:txEl>
                                              <p:pRg st="0" end="0"/>
                                            </p:txEl>
                                          </p:spTgt>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8" presetClass="entr" presetSubtype="6" fill="hold" grpId="0" nodeType="clickEffect">
                                  <p:stCondLst>
                                    <p:cond delay="0"/>
                                  </p:stCondLst>
                                  <p:childTnLst>
                                    <p:set>
                                      <p:cBhvr>
                                        <p:cTn id="96" dur="1" fill="hold">
                                          <p:stCondLst>
                                            <p:cond delay="0"/>
                                          </p:stCondLst>
                                        </p:cTn>
                                        <p:tgtEl>
                                          <p:spTgt spid="135219"/>
                                        </p:tgtEl>
                                        <p:attrNameLst>
                                          <p:attrName>style.visibility</p:attrName>
                                        </p:attrNameLst>
                                      </p:cBhvr>
                                      <p:to>
                                        <p:strVal val="visible"/>
                                      </p:to>
                                    </p:set>
                                    <p:animEffect transition="in" filter="strips(downRight)">
                                      <p:cBhvr>
                                        <p:cTn id="97" dur="500"/>
                                        <p:tgtEl>
                                          <p:spTgt spid="135219"/>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2" presetClass="entr" presetSubtype="4" fill="hold" grpId="0" nodeType="clickEffect">
                                  <p:stCondLst>
                                    <p:cond delay="0"/>
                                  </p:stCondLst>
                                  <p:childTnLst>
                                    <p:set>
                                      <p:cBhvr>
                                        <p:cTn id="101" dur="1" fill="hold">
                                          <p:stCondLst>
                                            <p:cond delay="0"/>
                                          </p:stCondLst>
                                        </p:cTn>
                                        <p:tgtEl>
                                          <p:spTgt spid="135220">
                                            <p:txEl>
                                              <p:pRg st="0" end="0"/>
                                            </p:txEl>
                                          </p:spTgt>
                                        </p:tgtEl>
                                        <p:attrNameLst>
                                          <p:attrName>style.visibility</p:attrName>
                                        </p:attrNameLst>
                                      </p:cBhvr>
                                      <p:to>
                                        <p:strVal val="visible"/>
                                      </p:to>
                                    </p:set>
                                    <p:animEffect transition="in" filter="slide(fromBottom)">
                                      <p:cBhvr>
                                        <p:cTn id="102" dur="500"/>
                                        <p:tgtEl>
                                          <p:spTgt spid="135220">
                                            <p:txEl>
                                              <p:pRg st="0" end="0"/>
                                            </p:txEl>
                                          </p:spTgt>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8" presetClass="entr" presetSubtype="6" fill="hold" grpId="0" nodeType="clickEffect">
                                  <p:stCondLst>
                                    <p:cond delay="0"/>
                                  </p:stCondLst>
                                  <p:childTnLst>
                                    <p:set>
                                      <p:cBhvr>
                                        <p:cTn id="106" dur="1" fill="hold">
                                          <p:stCondLst>
                                            <p:cond delay="0"/>
                                          </p:stCondLst>
                                        </p:cTn>
                                        <p:tgtEl>
                                          <p:spTgt spid="135221"/>
                                        </p:tgtEl>
                                        <p:attrNameLst>
                                          <p:attrName>style.visibility</p:attrName>
                                        </p:attrNameLst>
                                      </p:cBhvr>
                                      <p:to>
                                        <p:strVal val="visible"/>
                                      </p:to>
                                    </p:set>
                                    <p:animEffect transition="in" filter="strips(downRight)">
                                      <p:cBhvr>
                                        <p:cTn id="107" dur="500"/>
                                        <p:tgtEl>
                                          <p:spTgt spid="135221"/>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2" presetClass="entr" presetSubtype="4" fill="hold" grpId="0" nodeType="clickEffect">
                                  <p:stCondLst>
                                    <p:cond delay="0"/>
                                  </p:stCondLst>
                                  <p:childTnLst>
                                    <p:set>
                                      <p:cBhvr>
                                        <p:cTn id="111" dur="1" fill="hold">
                                          <p:stCondLst>
                                            <p:cond delay="0"/>
                                          </p:stCondLst>
                                        </p:cTn>
                                        <p:tgtEl>
                                          <p:spTgt spid="135222">
                                            <p:txEl>
                                              <p:pRg st="0" end="0"/>
                                            </p:txEl>
                                          </p:spTgt>
                                        </p:tgtEl>
                                        <p:attrNameLst>
                                          <p:attrName>style.visibility</p:attrName>
                                        </p:attrNameLst>
                                      </p:cBhvr>
                                      <p:to>
                                        <p:strVal val="visible"/>
                                      </p:to>
                                    </p:set>
                                    <p:animEffect transition="in" filter="slide(fromBottom)">
                                      <p:cBhvr>
                                        <p:cTn id="112" dur="500"/>
                                        <p:tgtEl>
                                          <p:spTgt spid="135222">
                                            <p:txEl>
                                              <p:pRg st="0" end="0"/>
                                            </p:txEl>
                                          </p:spTgt>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8" presetClass="entr" presetSubtype="6" fill="hold" grpId="0" nodeType="clickEffect">
                                  <p:stCondLst>
                                    <p:cond delay="0"/>
                                  </p:stCondLst>
                                  <p:childTnLst>
                                    <p:set>
                                      <p:cBhvr>
                                        <p:cTn id="116" dur="1" fill="hold">
                                          <p:stCondLst>
                                            <p:cond delay="0"/>
                                          </p:stCondLst>
                                        </p:cTn>
                                        <p:tgtEl>
                                          <p:spTgt spid="135223"/>
                                        </p:tgtEl>
                                        <p:attrNameLst>
                                          <p:attrName>style.visibility</p:attrName>
                                        </p:attrNameLst>
                                      </p:cBhvr>
                                      <p:to>
                                        <p:strVal val="visible"/>
                                      </p:to>
                                    </p:set>
                                    <p:animEffect transition="in" filter="strips(downRight)">
                                      <p:cBhvr>
                                        <p:cTn id="117" dur="500"/>
                                        <p:tgtEl>
                                          <p:spTgt spid="135223"/>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2" presetClass="entr" presetSubtype="4" fill="hold" grpId="0" nodeType="clickEffect">
                                  <p:stCondLst>
                                    <p:cond delay="0"/>
                                  </p:stCondLst>
                                  <p:childTnLst>
                                    <p:set>
                                      <p:cBhvr>
                                        <p:cTn id="121" dur="1" fill="hold">
                                          <p:stCondLst>
                                            <p:cond delay="0"/>
                                          </p:stCondLst>
                                        </p:cTn>
                                        <p:tgtEl>
                                          <p:spTgt spid="135224">
                                            <p:txEl>
                                              <p:pRg st="0" end="0"/>
                                            </p:txEl>
                                          </p:spTgt>
                                        </p:tgtEl>
                                        <p:attrNameLst>
                                          <p:attrName>style.visibility</p:attrName>
                                        </p:attrNameLst>
                                      </p:cBhvr>
                                      <p:to>
                                        <p:strVal val="visible"/>
                                      </p:to>
                                    </p:set>
                                    <p:animEffect transition="in" filter="slide(fromBottom)">
                                      <p:cBhvr>
                                        <p:cTn id="122" dur="500"/>
                                        <p:tgtEl>
                                          <p:spTgt spid="135224">
                                            <p:txEl>
                                              <p:pRg st="0" end="0"/>
                                            </p:txEl>
                                          </p:spTgt>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8" presetClass="entr" presetSubtype="6" fill="hold" grpId="0" nodeType="clickEffect">
                                  <p:stCondLst>
                                    <p:cond delay="0"/>
                                  </p:stCondLst>
                                  <p:childTnLst>
                                    <p:set>
                                      <p:cBhvr>
                                        <p:cTn id="126" dur="1" fill="hold">
                                          <p:stCondLst>
                                            <p:cond delay="0"/>
                                          </p:stCondLst>
                                        </p:cTn>
                                        <p:tgtEl>
                                          <p:spTgt spid="135225"/>
                                        </p:tgtEl>
                                        <p:attrNameLst>
                                          <p:attrName>style.visibility</p:attrName>
                                        </p:attrNameLst>
                                      </p:cBhvr>
                                      <p:to>
                                        <p:strVal val="visible"/>
                                      </p:to>
                                    </p:set>
                                    <p:animEffect transition="in" filter="strips(downRight)">
                                      <p:cBhvr>
                                        <p:cTn id="127" dur="500"/>
                                        <p:tgtEl>
                                          <p:spTgt spid="135225"/>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2" presetClass="entr" presetSubtype="4" fill="hold" grpId="0" nodeType="clickEffect">
                                  <p:stCondLst>
                                    <p:cond delay="0"/>
                                  </p:stCondLst>
                                  <p:childTnLst>
                                    <p:set>
                                      <p:cBhvr>
                                        <p:cTn id="131" dur="1" fill="hold">
                                          <p:stCondLst>
                                            <p:cond delay="0"/>
                                          </p:stCondLst>
                                        </p:cTn>
                                        <p:tgtEl>
                                          <p:spTgt spid="135226">
                                            <p:txEl>
                                              <p:pRg st="0" end="0"/>
                                            </p:txEl>
                                          </p:spTgt>
                                        </p:tgtEl>
                                        <p:attrNameLst>
                                          <p:attrName>style.visibility</p:attrName>
                                        </p:attrNameLst>
                                      </p:cBhvr>
                                      <p:to>
                                        <p:strVal val="visible"/>
                                      </p:to>
                                    </p:set>
                                    <p:animEffect transition="in" filter="slide(fromBottom)">
                                      <p:cBhvr>
                                        <p:cTn id="132" dur="500"/>
                                        <p:tgtEl>
                                          <p:spTgt spid="135226">
                                            <p:txEl>
                                              <p:pRg st="0" end="0"/>
                                            </p:txEl>
                                          </p:spTgt>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2" presetClass="entr" presetSubtype="4" fill="hold" grpId="0" nodeType="clickEffect">
                                  <p:stCondLst>
                                    <p:cond delay="0"/>
                                  </p:stCondLst>
                                  <p:childTnLst>
                                    <p:set>
                                      <p:cBhvr>
                                        <p:cTn id="136" dur="1" fill="hold">
                                          <p:stCondLst>
                                            <p:cond delay="0"/>
                                          </p:stCondLst>
                                        </p:cTn>
                                        <p:tgtEl>
                                          <p:spTgt spid="135226">
                                            <p:txEl>
                                              <p:pRg st="1" end="1"/>
                                            </p:txEl>
                                          </p:spTgt>
                                        </p:tgtEl>
                                        <p:attrNameLst>
                                          <p:attrName>style.visibility</p:attrName>
                                        </p:attrNameLst>
                                      </p:cBhvr>
                                      <p:to>
                                        <p:strVal val="visible"/>
                                      </p:to>
                                    </p:set>
                                    <p:animEffect transition="in" filter="slide(fromBottom)">
                                      <p:cBhvr>
                                        <p:cTn id="137" dur="500"/>
                                        <p:tgtEl>
                                          <p:spTgt spid="13522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7" grpId="0" build="p" autoUpdateAnimBg="0"/>
      <p:bldP spid="135205" grpId="0" build="p" autoUpdateAnimBg="0"/>
      <p:bldP spid="135206" grpId="0" build="p" autoUpdateAnimBg="0"/>
      <p:bldP spid="135207" grpId="0" build="p" autoUpdateAnimBg="0"/>
      <p:bldP spid="135208" grpId="0" build="p" autoUpdateAnimBg="0"/>
      <p:bldP spid="135209" grpId="0" animBg="1"/>
      <p:bldP spid="135210" grpId="0" build="p" autoUpdateAnimBg="0"/>
      <p:bldP spid="135211" grpId="0" animBg="1"/>
      <p:bldP spid="135212" grpId="0" build="p" autoUpdateAnimBg="0"/>
      <p:bldP spid="135213" grpId="0" build="p" autoUpdateAnimBg="0"/>
      <p:bldP spid="135214" grpId="0" build="p" autoUpdateAnimBg="0"/>
      <p:bldP spid="135215" grpId="0" animBg="1"/>
      <p:bldP spid="135216" grpId="0" build="p" autoUpdateAnimBg="0"/>
      <p:bldP spid="135217" grpId="0" build="p" autoUpdateAnimBg="0"/>
      <p:bldP spid="135218" grpId="0" build="p" autoUpdateAnimBg="0"/>
      <p:bldP spid="135219" grpId="0" animBg="1"/>
      <p:bldP spid="135220" grpId="0" build="p" autoUpdateAnimBg="0"/>
      <p:bldP spid="135221" grpId="0" animBg="1"/>
      <p:bldP spid="135222" grpId="0" build="p" autoUpdateAnimBg="0"/>
      <p:bldP spid="135223" grpId="0" animBg="1"/>
      <p:bldP spid="135224" grpId="0" build="p" autoUpdateAnimBg="0"/>
      <p:bldP spid="135225" grpId="0" animBg="1"/>
      <p:bldP spid="135226"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文本占位符 7"/>
          <p:cNvSpPr>
            <a:spLocks noGrp="1"/>
          </p:cNvSpPr>
          <p:nvPr>
            <p:ph type="body" idx="1"/>
          </p:nvPr>
        </p:nvSpPr>
        <p:spPr/>
        <p:txBody>
          <a:bodyPr/>
          <a:lstStyle/>
          <a:p>
            <a:r>
              <a:rPr lang="zh-CN" altLang="en-US" dirty="0"/>
              <a:t>数组元素的引用</a:t>
            </a:r>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数组元素引用</a:t>
            </a:r>
            <a:endParaRPr lang="zh-CN" altLang="en-US" dirty="0"/>
          </a:p>
        </p:txBody>
      </p:sp>
      <p:sp>
        <p:nvSpPr>
          <p:cNvPr id="4" name="Rectangle 8"/>
          <p:cNvSpPr txBox="1">
            <a:spLocks noChangeArrowheads="1"/>
          </p:cNvSpPr>
          <p:nvPr/>
        </p:nvSpPr>
        <p:spPr>
          <a:xfrm>
            <a:off x="838200" y="1398100"/>
            <a:ext cx="8077200" cy="4038600"/>
          </a:xfrm>
          <a:prstGeom prst="rect">
            <a:avLst/>
          </a:prstGeom>
          <a:noFill/>
          <a:ln/>
        </p:spPr>
        <p:txBody>
          <a:bodyPr vert="horz" lIns="92075" tIns="46038" rIns="92075" bIns="46038" rtlCol="0">
            <a:normAutofit/>
          </a:bodyPr>
          <a:lst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a:solidFill>
                  <a:srgbClr val="0206AD"/>
                </a:solidFill>
                <a:uFillTx/>
                <a:latin typeface="Times New Roman" panose="02020603050405020304" charset="0"/>
                <a:ea typeface="黑体" panose="02010609060101010101" charset="-122"/>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a:solidFill>
                  <a:srgbClr val="0066FF"/>
                </a:solidFill>
                <a:uFillTx/>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a:solidFill>
                  <a:srgbClr val="0206AD"/>
                </a:solidFill>
                <a:uFillTx/>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dirty="0">
                <a:latin typeface="宋体" charset="-122"/>
              </a:rPr>
              <a:t>翻译工作</a:t>
            </a:r>
          </a:p>
          <a:p>
            <a:pPr lvl="1"/>
            <a:r>
              <a:rPr lang="zh-CN" altLang="en-US" sz="3200" dirty="0">
                <a:latin typeface="宋体" charset="-122"/>
              </a:rPr>
              <a:t>计算数组元素的相对地址</a:t>
            </a:r>
          </a:p>
          <a:p>
            <a:pPr lvl="1"/>
            <a:r>
              <a:rPr lang="zh-CN" altLang="en-US" sz="3200" dirty="0">
                <a:latin typeface="宋体" charset="-122"/>
              </a:rPr>
              <a:t>产生三地址代码完成相对地址的计算</a:t>
            </a:r>
          </a:p>
          <a:p>
            <a:r>
              <a:rPr lang="zh-CN" altLang="en-US" sz="3600" dirty="0">
                <a:latin typeface="宋体" charset="-122"/>
              </a:rPr>
              <a:t>目标</a:t>
            </a:r>
            <a:r>
              <a:rPr lang="zh-CN" altLang="en-US" dirty="0">
                <a:latin typeface="宋体" charset="-122"/>
              </a:rPr>
              <a:t> </a:t>
            </a:r>
          </a:p>
          <a:p>
            <a:pPr lvl="1"/>
            <a:r>
              <a:rPr lang="en-US" altLang="zh-CN" sz="3200" dirty="0">
                <a:solidFill>
                  <a:srgbClr val="FF0000"/>
                </a:solidFill>
                <a:latin typeface="宋体" charset="-122"/>
              </a:rPr>
              <a:t>T3</a:t>
            </a:r>
            <a:r>
              <a:rPr lang="en-US" altLang="zh-CN" sz="3200" dirty="0">
                <a:latin typeface="宋体" charset="-122"/>
              </a:rPr>
              <a:t>:=</a:t>
            </a:r>
            <a:r>
              <a:rPr lang="en-US" altLang="zh-CN" sz="3200" dirty="0">
                <a:solidFill>
                  <a:srgbClr val="0000FF"/>
                </a:solidFill>
                <a:latin typeface="宋体" charset="-122"/>
              </a:rPr>
              <a:t>T2</a:t>
            </a:r>
            <a:r>
              <a:rPr lang="en-US" altLang="zh-CN" sz="3200" dirty="0">
                <a:latin typeface="宋体" charset="-122"/>
              </a:rPr>
              <a:t>[</a:t>
            </a:r>
            <a:r>
              <a:rPr lang="en-US" altLang="zh-CN" sz="3200" dirty="0">
                <a:solidFill>
                  <a:srgbClr val="009900"/>
                </a:solidFill>
                <a:latin typeface="宋体" charset="-122"/>
              </a:rPr>
              <a:t>T1</a:t>
            </a:r>
            <a:r>
              <a:rPr lang="en-US" altLang="zh-CN" sz="3200" dirty="0">
                <a:latin typeface="宋体" charset="-122"/>
              </a:rPr>
              <a:t>]   </a:t>
            </a:r>
          </a:p>
        </p:txBody>
      </p:sp>
      <p:sp>
        <p:nvSpPr>
          <p:cNvPr id="5" name="AutoShape 9"/>
          <p:cNvSpPr>
            <a:spLocks noChangeArrowheads="1"/>
          </p:cNvSpPr>
          <p:nvPr/>
        </p:nvSpPr>
        <p:spPr bwMode="auto">
          <a:xfrm>
            <a:off x="4343400" y="3150700"/>
            <a:ext cx="3200400" cy="1219200"/>
          </a:xfrm>
          <a:prstGeom prst="cloudCallout">
            <a:avLst>
              <a:gd name="adj1" fmla="val -80556"/>
              <a:gd name="adj2" fmla="val 14065"/>
            </a:avLst>
          </a:prstGeom>
          <a:noFill/>
          <a:ln w="38100">
            <a:solidFill>
              <a:srgbClr val="0099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hangingPunct="0"/>
            <a:r>
              <a:rPr kumimoji="1" lang="zh-CN" altLang="en-US" sz="2800">
                <a:solidFill>
                  <a:srgbClr val="009900"/>
                </a:solidFill>
                <a:effectLst>
                  <a:outerShdw blurRad="38100" dist="38100" dir="2700000" algn="tl">
                    <a:srgbClr val="C0C0C0"/>
                  </a:outerShdw>
                </a:effectLst>
                <a:latin typeface="宋体" charset="-122"/>
              </a:rPr>
              <a:t>可变部分</a:t>
            </a:r>
          </a:p>
          <a:p>
            <a:pPr algn="ctr" eaLnBrk="0" hangingPunct="0"/>
            <a:r>
              <a:rPr kumimoji="1" lang="zh-CN" altLang="en-US" sz="2800">
                <a:solidFill>
                  <a:srgbClr val="009900"/>
                </a:solidFill>
                <a:effectLst>
                  <a:outerShdw blurRad="38100" dist="38100" dir="2700000" algn="tl">
                    <a:srgbClr val="C0C0C0"/>
                  </a:outerShdw>
                </a:effectLst>
                <a:latin typeface="宋体" charset="-122"/>
              </a:rPr>
              <a:t>与下标有关</a:t>
            </a:r>
          </a:p>
        </p:txBody>
      </p:sp>
      <p:sp>
        <p:nvSpPr>
          <p:cNvPr id="6" name="AutoShape 10"/>
          <p:cNvSpPr>
            <a:spLocks noChangeArrowheads="1"/>
          </p:cNvSpPr>
          <p:nvPr/>
        </p:nvSpPr>
        <p:spPr bwMode="auto">
          <a:xfrm>
            <a:off x="3352800" y="4750900"/>
            <a:ext cx="3276600" cy="1752600"/>
          </a:xfrm>
          <a:prstGeom prst="cloudCallout">
            <a:avLst>
              <a:gd name="adj1" fmla="val -67731"/>
              <a:gd name="adj2" fmla="val -69838"/>
            </a:avLst>
          </a:prstGeom>
          <a:noFill/>
          <a:ln w="38100">
            <a:solidFill>
              <a:srgbClr val="00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hangingPunct="0"/>
            <a:r>
              <a:rPr kumimoji="1" lang="zh-CN" altLang="en-US" sz="2800">
                <a:solidFill>
                  <a:srgbClr val="0000FF"/>
                </a:solidFill>
                <a:latin typeface="宋体" charset="-122"/>
              </a:rPr>
              <a:t>不变部分</a:t>
            </a:r>
          </a:p>
          <a:p>
            <a:pPr algn="ctr" eaLnBrk="0" hangingPunct="0"/>
            <a:r>
              <a:rPr kumimoji="1" lang="zh-CN" altLang="en-US" sz="2800">
                <a:solidFill>
                  <a:srgbClr val="0000FF"/>
                </a:solidFill>
                <a:latin typeface="宋体" charset="-122"/>
              </a:rPr>
              <a:t>与首地址和维数有关</a:t>
            </a:r>
          </a:p>
        </p:txBody>
      </p:sp>
      <p:sp>
        <p:nvSpPr>
          <p:cNvPr id="7" name="AutoShape 11"/>
          <p:cNvSpPr>
            <a:spLocks noChangeArrowheads="1"/>
          </p:cNvSpPr>
          <p:nvPr/>
        </p:nvSpPr>
        <p:spPr bwMode="auto">
          <a:xfrm>
            <a:off x="457200" y="5284300"/>
            <a:ext cx="2590800" cy="838200"/>
          </a:xfrm>
          <a:prstGeom prst="cloudCallout">
            <a:avLst>
              <a:gd name="adj1" fmla="val 6801"/>
              <a:gd name="adj2" fmla="val -157384"/>
            </a:avLst>
          </a:prstGeom>
          <a:noFill/>
          <a:ln w="381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hangingPunct="0"/>
            <a:r>
              <a:rPr kumimoji="1" lang="zh-CN" altLang="en-US" sz="2800">
                <a:solidFill>
                  <a:srgbClr val="FF0000"/>
                </a:solidFill>
                <a:effectLst>
                  <a:outerShdw blurRad="38100" dist="38100" dir="2700000" algn="tl">
                    <a:srgbClr val="C0C0C0"/>
                  </a:outerShdw>
                </a:effectLst>
                <a:latin typeface="宋体" charset="-122"/>
              </a:rPr>
              <a:t>相对地址</a:t>
            </a:r>
          </a:p>
        </p:txBody>
      </p:sp>
      <p:sp>
        <p:nvSpPr>
          <p:cNvPr id="2" name="灯片编号占位符 1">
            <a:extLst>
              <a:ext uri="{FF2B5EF4-FFF2-40B4-BE49-F238E27FC236}">
                <a16:creationId xmlns:a16="http://schemas.microsoft.com/office/drawing/2014/main" id="{E33EAA89-A0AF-4C9E-811E-04BFD4F30B53}"/>
              </a:ext>
            </a:extLst>
          </p:cNvPr>
          <p:cNvSpPr>
            <a:spLocks noGrp="1"/>
          </p:cNvSpPr>
          <p:nvPr>
            <p:ph type="sldNum" sz="quarter" idx="4"/>
          </p:nvPr>
        </p:nvSpPr>
        <p:spPr/>
        <p:txBody>
          <a:bodyPr/>
          <a:lstStyle/>
          <a:p>
            <a:fld id="{565CE74E-AB26-4998-AD42-012C4C1AD076}" type="slidenum">
              <a:rPr lang="zh-CN" altLang="en-US" smtClean="0"/>
              <a:pPr/>
              <a:t>45</a:t>
            </a:fld>
            <a:endParaRPr lang="zh-CN" altLang="en-US"/>
          </a:p>
        </p:txBody>
      </p:sp>
    </p:spTree>
    <p:extLst>
      <p:ext uri="{BB962C8B-B14F-4D97-AF65-F5344CB8AC3E}">
        <p14:creationId xmlns:p14="http://schemas.microsoft.com/office/powerpoint/2010/main" val="1381997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Bottom)">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slide(fromBottom)">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slide(fromBottom)">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slide(fromBottom)">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slide(fromBottom)">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strips(downRigh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3"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strips(upRight)">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12"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strips(downLeft)">
                                      <p:cBhvr>
                                        <p:cTn id="4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autoUpdateAnimBg="0"/>
      <p:bldP spid="5" grpId="0" animBg="1" autoUpdateAnimBg="0"/>
      <p:bldP spid="6" grpId="0" animBg="1" autoUpdateAnimBg="0"/>
      <p:bldP spid="7"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solidFill>
                  <a:srgbClr val="FF0000"/>
                </a:solidFill>
                <a:latin typeface="宋体" charset="-122"/>
              </a:rPr>
              <a:t>一维数组元素地址的计算</a:t>
            </a:r>
            <a:endParaRPr lang="zh-CN" altLang="en-US" dirty="0">
              <a:solidFill>
                <a:srgbClr val="FF0000"/>
              </a:solidFill>
            </a:endParaRPr>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数组元素引用</a:t>
            </a:r>
            <a:endParaRPr lang="zh-CN" altLang="en-US" dirty="0"/>
          </a:p>
        </p:txBody>
      </p:sp>
      <p:sp>
        <p:nvSpPr>
          <p:cNvPr id="4" name="Rectangle 11"/>
          <p:cNvSpPr txBox="1">
            <a:spLocks noChangeArrowheads="1"/>
          </p:cNvSpPr>
          <p:nvPr/>
        </p:nvSpPr>
        <p:spPr>
          <a:xfrm>
            <a:off x="546652" y="1600200"/>
            <a:ext cx="7924800" cy="5257800"/>
          </a:xfrm>
          <a:prstGeom prst="rect">
            <a:avLst/>
          </a:prstGeom>
          <a:noFill/>
          <a:ln/>
        </p:spPr>
        <p:txBody>
          <a:bodyPr vert="horz" lIns="92075" tIns="46038" rIns="92075" bIns="46038" rtlCol="0">
            <a:normAutofit lnSpcReduction="10000"/>
          </a:bodyPr>
          <a:lst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a:solidFill>
                  <a:srgbClr val="0206AD"/>
                </a:solidFill>
                <a:uFillTx/>
                <a:latin typeface="Times New Roman" panose="02020603050405020304" charset="0"/>
                <a:ea typeface="黑体" panose="02010609060101010101" charset="-122"/>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a:solidFill>
                  <a:srgbClr val="0066FF"/>
                </a:solidFill>
                <a:uFillTx/>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a:solidFill>
                  <a:srgbClr val="0206AD"/>
                </a:solidFill>
                <a:uFillTx/>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a:latin typeface="宋体" charset="-122"/>
              </a:rPr>
              <a:t>说明：</a:t>
            </a:r>
            <a:r>
              <a:rPr lang="en-US" altLang="zh-CN" sz="2800">
                <a:latin typeface="宋体" charset="-122"/>
              </a:rPr>
              <a:t>VAR a:ARRAY [low .. high] OF real;</a:t>
            </a:r>
          </a:p>
          <a:p>
            <a:r>
              <a:rPr lang="zh-CN" altLang="en-US" sz="2800">
                <a:latin typeface="宋体" charset="-122"/>
              </a:rPr>
              <a:t>数组元素</a:t>
            </a:r>
            <a:r>
              <a:rPr lang="en-US" altLang="zh-CN" sz="2800">
                <a:latin typeface="宋体" charset="-122"/>
              </a:rPr>
              <a:t>a[</a:t>
            </a:r>
            <a:r>
              <a:rPr lang="en-US" altLang="zh-CN" sz="2800">
                <a:solidFill>
                  <a:srgbClr val="009900"/>
                </a:solidFill>
                <a:latin typeface="宋体" charset="-122"/>
              </a:rPr>
              <a:t>i</a:t>
            </a:r>
            <a:r>
              <a:rPr lang="en-US" altLang="zh-CN" sz="2800">
                <a:latin typeface="宋体" charset="-122"/>
              </a:rPr>
              <a:t>]</a:t>
            </a:r>
            <a:r>
              <a:rPr lang="zh-CN" altLang="en-US" sz="2800">
                <a:latin typeface="宋体" charset="-122"/>
              </a:rPr>
              <a:t>的起始地址</a:t>
            </a:r>
            <a:r>
              <a:rPr lang="en-US" altLang="zh-CN" sz="2800">
                <a:latin typeface="宋体" charset="-122"/>
              </a:rPr>
              <a:t>:</a:t>
            </a:r>
          </a:p>
          <a:p>
            <a:pPr>
              <a:buFontTx/>
              <a:buNone/>
            </a:pPr>
            <a:r>
              <a:rPr lang="en-US" altLang="zh-CN" sz="2800">
                <a:latin typeface="宋体" charset="-122"/>
              </a:rPr>
              <a:t>   base+(</a:t>
            </a:r>
            <a:r>
              <a:rPr lang="en-US" altLang="zh-CN" sz="2800">
                <a:solidFill>
                  <a:srgbClr val="009900"/>
                </a:solidFill>
                <a:latin typeface="宋体" charset="-122"/>
              </a:rPr>
              <a:t>i</a:t>
            </a:r>
            <a:r>
              <a:rPr lang="en-US" altLang="zh-CN" sz="2800">
                <a:latin typeface="宋体" charset="-122"/>
              </a:rPr>
              <a:t>-low)*w           (7.4)</a:t>
            </a:r>
          </a:p>
          <a:p>
            <a:pPr>
              <a:buFontTx/>
              <a:buNone/>
            </a:pPr>
            <a:r>
              <a:rPr lang="en-US" altLang="zh-CN" sz="2800">
                <a:latin typeface="宋体" charset="-122"/>
              </a:rPr>
              <a:t>   =</a:t>
            </a:r>
            <a:r>
              <a:rPr lang="en-US" altLang="zh-CN" sz="2800">
                <a:solidFill>
                  <a:srgbClr val="009900"/>
                </a:solidFill>
                <a:latin typeface="宋体" charset="-122"/>
              </a:rPr>
              <a:t>i*w</a:t>
            </a:r>
            <a:r>
              <a:rPr lang="en-US" altLang="zh-CN" sz="2800">
                <a:latin typeface="宋体" charset="-122"/>
              </a:rPr>
              <a:t>+</a:t>
            </a:r>
            <a:r>
              <a:rPr lang="en-US" altLang="zh-CN" sz="2800">
                <a:solidFill>
                  <a:srgbClr val="0000FF"/>
                </a:solidFill>
                <a:latin typeface="宋体" charset="-122"/>
              </a:rPr>
              <a:t>base-low*w </a:t>
            </a:r>
            <a:r>
              <a:rPr lang="en-US" altLang="zh-CN" sz="2800">
                <a:latin typeface="宋体" charset="-122"/>
              </a:rPr>
              <a:t> </a:t>
            </a:r>
          </a:p>
          <a:p>
            <a:pPr>
              <a:buFontTx/>
              <a:buNone/>
            </a:pPr>
            <a:r>
              <a:rPr lang="en-US" altLang="zh-CN" sz="2800">
                <a:latin typeface="宋体" charset="-122"/>
              </a:rPr>
              <a:t>   =</a:t>
            </a:r>
            <a:r>
              <a:rPr lang="en-US" altLang="zh-CN" sz="2800">
                <a:solidFill>
                  <a:srgbClr val="009900"/>
                </a:solidFill>
                <a:latin typeface="宋体" charset="-122"/>
              </a:rPr>
              <a:t>V</a:t>
            </a:r>
            <a:r>
              <a:rPr lang="en-US" altLang="zh-CN" sz="2800">
                <a:latin typeface="宋体" charset="-122"/>
              </a:rPr>
              <a:t>+</a:t>
            </a:r>
            <a:r>
              <a:rPr lang="en-US" altLang="zh-CN" sz="2800">
                <a:solidFill>
                  <a:srgbClr val="0000FF"/>
                </a:solidFill>
                <a:latin typeface="宋体" charset="-122"/>
              </a:rPr>
              <a:t>base-C</a:t>
            </a:r>
          </a:p>
          <a:p>
            <a:pPr>
              <a:buFontTx/>
              <a:buNone/>
            </a:pPr>
            <a:r>
              <a:rPr lang="en-US" altLang="zh-CN" sz="2800">
                <a:latin typeface="宋体" charset="-122"/>
              </a:rPr>
              <a:t>   =</a:t>
            </a:r>
            <a:r>
              <a:rPr lang="zh-CN" altLang="en-US" sz="2800">
                <a:solidFill>
                  <a:srgbClr val="009900"/>
                </a:solidFill>
                <a:latin typeface="宋体" charset="-122"/>
              </a:rPr>
              <a:t>可变部分</a:t>
            </a:r>
            <a:r>
              <a:rPr lang="en-US" altLang="zh-CN" sz="2800">
                <a:latin typeface="宋体" charset="-122"/>
              </a:rPr>
              <a:t>+</a:t>
            </a:r>
            <a:r>
              <a:rPr lang="zh-CN" altLang="en-US" sz="2800">
                <a:solidFill>
                  <a:srgbClr val="0000FF"/>
                </a:solidFill>
                <a:latin typeface="宋体" charset="-122"/>
              </a:rPr>
              <a:t>不变</a:t>
            </a:r>
            <a:r>
              <a:rPr lang="zh-CN" altLang="zh-CN" sz="2800">
                <a:solidFill>
                  <a:srgbClr val="0000FF"/>
                </a:solidFill>
                <a:latin typeface="宋体" charset="-122"/>
              </a:rPr>
              <a:t>部分</a:t>
            </a:r>
            <a:r>
              <a:rPr lang="en-US" altLang="zh-CN" sz="2800">
                <a:latin typeface="宋体" charset="-122"/>
              </a:rPr>
              <a:t>(</a:t>
            </a:r>
            <a:r>
              <a:rPr lang="zh-CN" altLang="zh-CN" sz="2800">
                <a:latin typeface="宋体" charset="-122"/>
              </a:rPr>
              <a:t>可在编译时计算出来</a:t>
            </a:r>
            <a:r>
              <a:rPr lang="en-US" altLang="zh-CN" sz="2800">
                <a:latin typeface="宋体" charset="-122"/>
              </a:rPr>
              <a:t>)</a:t>
            </a:r>
            <a:endParaRPr lang="zh-CN" altLang="zh-CN" sz="2800">
              <a:latin typeface="宋体" charset="-122"/>
            </a:endParaRPr>
          </a:p>
          <a:p>
            <a:pPr>
              <a:buFontTx/>
              <a:buNone/>
            </a:pPr>
            <a:r>
              <a:rPr lang="en-US" altLang="zh-CN" sz="2800">
                <a:latin typeface="宋体" charset="-122"/>
              </a:rPr>
              <a:t>  </a:t>
            </a:r>
            <a:r>
              <a:rPr lang="zh-CN" altLang="zh-CN" sz="2800">
                <a:latin typeface="宋体" charset="-122"/>
              </a:rPr>
              <a:t>其中，</a:t>
            </a:r>
            <a:r>
              <a:rPr lang="en-US" altLang="zh-CN" sz="2800">
                <a:latin typeface="宋体" charset="-122"/>
              </a:rPr>
              <a:t>base</a:t>
            </a:r>
            <a:r>
              <a:rPr lang="zh-CN" altLang="zh-CN" sz="2800">
                <a:latin typeface="宋体" charset="-122"/>
              </a:rPr>
              <a:t>是</a:t>
            </a:r>
            <a:r>
              <a:rPr lang="zh-CN" altLang="en-US" sz="2800">
                <a:latin typeface="宋体" charset="-122"/>
              </a:rPr>
              <a:t>数组</a:t>
            </a:r>
            <a:r>
              <a:rPr lang="en-US" altLang="zh-CN" sz="2800">
                <a:latin typeface="宋体" charset="-122"/>
              </a:rPr>
              <a:t>a</a:t>
            </a:r>
            <a:r>
              <a:rPr lang="zh-CN" altLang="en-US" sz="2800">
                <a:latin typeface="宋体" charset="-122"/>
              </a:rPr>
              <a:t>的首地址，</a:t>
            </a:r>
            <a:r>
              <a:rPr lang="en-US" altLang="zh-CN" sz="2800">
                <a:latin typeface="宋体" charset="-122"/>
              </a:rPr>
              <a:t>w</a:t>
            </a:r>
            <a:r>
              <a:rPr lang="zh-CN" altLang="en-US" sz="2800">
                <a:latin typeface="宋体" charset="-122"/>
              </a:rPr>
              <a:t>是元素的域宽</a:t>
            </a:r>
          </a:p>
          <a:p>
            <a:r>
              <a:rPr lang="zh-CN" altLang="en-US" sz="2800">
                <a:latin typeface="宋体" charset="-122"/>
              </a:rPr>
              <a:t>例如  </a:t>
            </a:r>
            <a:r>
              <a:rPr lang="en-US" altLang="zh-CN" sz="2800">
                <a:latin typeface="宋体" charset="-122"/>
              </a:rPr>
              <a:t>VAR a:ARRAY [1..10] OF real;</a:t>
            </a:r>
          </a:p>
          <a:p>
            <a:pPr>
              <a:buFontTx/>
              <a:buNone/>
            </a:pPr>
            <a:r>
              <a:rPr lang="en-US" altLang="zh-CN" sz="2800">
                <a:latin typeface="宋体" charset="-122"/>
              </a:rPr>
              <a:t>  </a:t>
            </a:r>
            <a:r>
              <a:rPr lang="zh-CN" altLang="en-US" sz="2800">
                <a:latin typeface="宋体" charset="-122"/>
              </a:rPr>
              <a:t>元素</a:t>
            </a:r>
            <a:r>
              <a:rPr lang="en-US" altLang="zh-CN" sz="2800">
                <a:latin typeface="宋体" charset="-122"/>
              </a:rPr>
              <a:t>a[i]</a:t>
            </a:r>
            <a:r>
              <a:rPr lang="zh-CN" altLang="en-US" sz="2800">
                <a:latin typeface="宋体" charset="-122"/>
              </a:rPr>
              <a:t>的起始地址： </a:t>
            </a:r>
            <a:r>
              <a:rPr lang="en-US" altLang="zh-CN" sz="2800">
                <a:latin typeface="宋体" charset="-122"/>
              </a:rPr>
              <a:t>base+(i-low)*w</a:t>
            </a:r>
          </a:p>
          <a:p>
            <a:pPr>
              <a:buFontTx/>
              <a:buNone/>
            </a:pPr>
            <a:r>
              <a:rPr lang="en-US" altLang="zh-CN" sz="2800">
                <a:latin typeface="宋体" charset="-122"/>
              </a:rPr>
              <a:t>                       =A+(i-1)*8</a:t>
            </a:r>
          </a:p>
          <a:p>
            <a:pPr>
              <a:buFontTx/>
              <a:buNone/>
            </a:pPr>
            <a:r>
              <a:rPr lang="en-US" altLang="zh-CN" sz="2800">
                <a:latin typeface="宋体" charset="-122"/>
              </a:rPr>
              <a:t>                       =</a:t>
            </a:r>
            <a:r>
              <a:rPr lang="en-US" altLang="zh-CN" sz="2800">
                <a:solidFill>
                  <a:srgbClr val="0000FF"/>
                </a:solidFill>
                <a:latin typeface="宋体" charset="-122"/>
              </a:rPr>
              <a:t>i*8</a:t>
            </a:r>
            <a:r>
              <a:rPr lang="en-US" altLang="zh-CN" sz="2800">
                <a:latin typeface="宋体" charset="-122"/>
              </a:rPr>
              <a:t>+</a:t>
            </a:r>
            <a:r>
              <a:rPr lang="en-US" altLang="zh-CN" sz="2800">
                <a:solidFill>
                  <a:srgbClr val="009900"/>
                </a:solidFill>
                <a:latin typeface="宋体" charset="-122"/>
              </a:rPr>
              <a:t>A-8</a:t>
            </a:r>
            <a:endParaRPr lang="en-US" altLang="zh-CN" sz="2800" dirty="0">
              <a:solidFill>
                <a:srgbClr val="009900"/>
              </a:solidFill>
              <a:latin typeface="宋体" charset="-122"/>
            </a:endParaRPr>
          </a:p>
        </p:txBody>
      </p:sp>
      <p:sp>
        <p:nvSpPr>
          <p:cNvPr id="5" name="灯片编号占位符 4">
            <a:extLst>
              <a:ext uri="{FF2B5EF4-FFF2-40B4-BE49-F238E27FC236}">
                <a16:creationId xmlns:a16="http://schemas.microsoft.com/office/drawing/2014/main" id="{4FBCADB0-933F-47D7-A395-3A437448D824}"/>
              </a:ext>
            </a:extLst>
          </p:cNvPr>
          <p:cNvSpPr>
            <a:spLocks noGrp="1"/>
          </p:cNvSpPr>
          <p:nvPr>
            <p:ph type="sldNum" sz="quarter" idx="4"/>
          </p:nvPr>
        </p:nvSpPr>
        <p:spPr/>
        <p:txBody>
          <a:bodyPr/>
          <a:lstStyle/>
          <a:p>
            <a:fld id="{565CE74E-AB26-4998-AD42-012C4C1AD076}" type="slidenum">
              <a:rPr lang="zh-CN" altLang="en-US" smtClean="0"/>
              <a:pPr/>
              <a:t>46</a:t>
            </a:fld>
            <a:endParaRPr lang="zh-CN" altLang="en-US"/>
          </a:p>
        </p:txBody>
      </p:sp>
    </p:spTree>
    <p:extLst>
      <p:ext uri="{BB962C8B-B14F-4D97-AF65-F5344CB8AC3E}">
        <p14:creationId xmlns:p14="http://schemas.microsoft.com/office/powerpoint/2010/main" val="134996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Bottom)">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slide(fromBottom)">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slide(fromBottom)">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slide(fromBottom)">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slide(fromBottom)">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slide(fromBottom)">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slide(fromBottom)">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slide(fromBottom)">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slide(fromBottom)">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slide(fromBottom)">
                                      <p:cBhvr>
                                        <p:cTn id="52" dur="5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slide(fromBottom)">
                                      <p:cBhvr>
                                        <p:cTn id="57"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latin typeface="宋体" charset="-122"/>
              </a:rPr>
              <a:t>二维数组元素地址的计算</a:t>
            </a:r>
            <a:endParaRPr lang="zh-CN" altLang="en-US" dirty="0"/>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数组元素引用</a:t>
            </a:r>
            <a:endParaRPr lang="zh-CN" altLang="en-US" dirty="0"/>
          </a:p>
        </p:txBody>
      </p:sp>
      <p:sp>
        <p:nvSpPr>
          <p:cNvPr id="4" name="Rectangle 8"/>
          <p:cNvSpPr txBox="1">
            <a:spLocks noChangeArrowheads="1"/>
          </p:cNvSpPr>
          <p:nvPr/>
        </p:nvSpPr>
        <p:spPr>
          <a:xfrm>
            <a:off x="327991" y="1636644"/>
            <a:ext cx="8382000" cy="4648200"/>
          </a:xfrm>
          <a:prstGeom prst="rect">
            <a:avLst/>
          </a:prstGeom>
          <a:noFill/>
          <a:ln/>
        </p:spPr>
        <p:txBody>
          <a:bodyPr vert="horz" lIns="92075" tIns="46038" rIns="92075" bIns="46038" rtlCol="0">
            <a:normAutofit/>
          </a:bodyPr>
          <a:lst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a:solidFill>
                  <a:srgbClr val="0206AD"/>
                </a:solidFill>
                <a:uFillTx/>
                <a:latin typeface="Times New Roman" panose="02020603050405020304" charset="0"/>
                <a:ea typeface="黑体" panose="02010609060101010101" charset="-122"/>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a:solidFill>
                  <a:srgbClr val="0066FF"/>
                </a:solidFill>
                <a:uFillTx/>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a:solidFill>
                  <a:srgbClr val="0206AD"/>
                </a:solidFill>
                <a:uFillTx/>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10000"/>
              </a:spcBef>
            </a:pPr>
            <a:r>
              <a:rPr lang="zh-CN" altLang="en-US" sz="2400">
                <a:latin typeface="宋体" charset="-122"/>
              </a:rPr>
              <a:t>二维数组若按行存放</a:t>
            </a:r>
          </a:p>
          <a:p>
            <a:pPr>
              <a:spcBef>
                <a:spcPct val="10000"/>
              </a:spcBef>
            </a:pPr>
            <a:r>
              <a:rPr lang="zh-CN" altLang="en-US" sz="2400">
                <a:latin typeface="宋体" charset="-122"/>
              </a:rPr>
              <a:t>可如下计算</a:t>
            </a:r>
            <a:r>
              <a:rPr lang="en-US" altLang="zh-CN" sz="2400">
                <a:latin typeface="宋体" charset="-122"/>
              </a:rPr>
              <a:t>a[i1,i2]</a:t>
            </a:r>
            <a:r>
              <a:rPr lang="zh-CN" altLang="en-US" sz="2400">
                <a:latin typeface="宋体" charset="-122"/>
              </a:rPr>
              <a:t>的相对地址： </a:t>
            </a:r>
          </a:p>
          <a:p>
            <a:pPr>
              <a:spcBef>
                <a:spcPct val="10000"/>
              </a:spcBef>
              <a:buFontTx/>
              <a:buNone/>
            </a:pPr>
            <a:r>
              <a:rPr lang="zh-CN" altLang="en-US" sz="2400">
                <a:latin typeface="宋体" charset="-122"/>
              </a:rPr>
              <a:t>   </a:t>
            </a:r>
            <a:r>
              <a:rPr lang="en-US" altLang="zh-CN" sz="2400">
                <a:latin typeface="宋体" charset="-122"/>
              </a:rPr>
              <a:t>base+((i1-low1 )*n2+i2-low2)*w)</a:t>
            </a:r>
          </a:p>
          <a:p>
            <a:pPr>
              <a:spcBef>
                <a:spcPct val="10000"/>
              </a:spcBef>
              <a:buFontTx/>
              <a:buNone/>
            </a:pPr>
            <a:r>
              <a:rPr lang="en-US" altLang="zh-CN" sz="2400">
                <a:latin typeface="宋体" charset="-122"/>
              </a:rPr>
              <a:t>   =</a:t>
            </a:r>
            <a:r>
              <a:rPr lang="en-US" altLang="zh-CN" sz="2400">
                <a:solidFill>
                  <a:srgbClr val="009900"/>
                </a:solidFill>
                <a:latin typeface="宋体" charset="-122"/>
              </a:rPr>
              <a:t>(i1*n2)+i2)*w</a:t>
            </a:r>
            <a:r>
              <a:rPr lang="en-US" altLang="zh-CN" sz="2400">
                <a:latin typeface="宋体" charset="-122"/>
              </a:rPr>
              <a:t>+</a:t>
            </a:r>
            <a:r>
              <a:rPr lang="en-US" altLang="zh-CN" sz="2400">
                <a:solidFill>
                  <a:srgbClr val="0000FF"/>
                </a:solidFill>
                <a:latin typeface="宋体" charset="-122"/>
              </a:rPr>
              <a:t>base-((low1*n2)+low2</a:t>
            </a:r>
            <a:r>
              <a:rPr lang="zh-CN" altLang="en-US" sz="2400">
                <a:solidFill>
                  <a:srgbClr val="0000FF"/>
                </a:solidFill>
                <a:latin typeface="宋体" charset="-122"/>
              </a:rPr>
              <a:t>）*</a:t>
            </a:r>
            <a:r>
              <a:rPr lang="en-US" altLang="zh-CN" sz="2400">
                <a:solidFill>
                  <a:srgbClr val="0000FF"/>
                </a:solidFill>
                <a:latin typeface="宋体" charset="-122"/>
              </a:rPr>
              <a:t>w</a:t>
            </a:r>
            <a:r>
              <a:rPr lang="en-US" altLang="zh-CN" sz="2400">
                <a:latin typeface="宋体" charset="-122"/>
              </a:rPr>
              <a:t> (7.5) </a:t>
            </a:r>
          </a:p>
          <a:p>
            <a:pPr>
              <a:spcBef>
                <a:spcPct val="10000"/>
              </a:spcBef>
              <a:buFontTx/>
              <a:buNone/>
            </a:pPr>
            <a:r>
              <a:rPr lang="en-US" altLang="zh-CN" sz="2400">
                <a:latin typeface="宋体" charset="-122"/>
              </a:rPr>
              <a:t>   = </a:t>
            </a:r>
            <a:r>
              <a:rPr lang="en-US" altLang="zh-CN" sz="2400">
                <a:solidFill>
                  <a:srgbClr val="009900"/>
                </a:solidFill>
                <a:latin typeface="宋体" charset="-122"/>
              </a:rPr>
              <a:t>V </a:t>
            </a:r>
            <a:r>
              <a:rPr lang="en-US" altLang="zh-CN" sz="2400">
                <a:latin typeface="宋体" charset="-122"/>
              </a:rPr>
              <a:t>+ </a:t>
            </a:r>
            <a:r>
              <a:rPr lang="en-US" altLang="zh-CN" sz="2400">
                <a:solidFill>
                  <a:srgbClr val="0000FF"/>
                </a:solidFill>
                <a:latin typeface="宋体" charset="-122"/>
              </a:rPr>
              <a:t>base - C</a:t>
            </a:r>
          </a:p>
          <a:p>
            <a:pPr>
              <a:spcBef>
                <a:spcPct val="10000"/>
              </a:spcBef>
              <a:buFontTx/>
              <a:buNone/>
            </a:pPr>
            <a:r>
              <a:rPr lang="en-US" altLang="zh-CN" sz="2400">
                <a:latin typeface="宋体" charset="-122"/>
              </a:rPr>
              <a:t>  </a:t>
            </a:r>
            <a:r>
              <a:rPr lang="zh-CN" altLang="en-US" sz="2400">
                <a:latin typeface="宋体" charset="-122"/>
              </a:rPr>
              <a:t>其中，</a:t>
            </a:r>
            <a:r>
              <a:rPr lang="en-US" altLang="zh-CN" sz="2400">
                <a:latin typeface="宋体" charset="-122"/>
              </a:rPr>
              <a:t>n2=high2-low2+1</a:t>
            </a:r>
            <a:r>
              <a:rPr lang="zh-CN" altLang="en-US" sz="2400">
                <a:latin typeface="宋体" charset="-122"/>
              </a:rPr>
              <a:t>，称为第二维的界差</a:t>
            </a:r>
            <a:r>
              <a:rPr lang="en-US" altLang="zh-CN" sz="2400">
                <a:latin typeface="宋体" charset="-122"/>
              </a:rPr>
              <a:t>(</a:t>
            </a:r>
            <a:r>
              <a:rPr lang="zh-CN" altLang="en-US" sz="2400">
                <a:latin typeface="宋体" charset="-122"/>
              </a:rPr>
              <a:t>编译时可知</a:t>
            </a:r>
            <a:r>
              <a:rPr lang="en-US" altLang="zh-CN" sz="2400">
                <a:latin typeface="宋体" charset="-122"/>
              </a:rPr>
              <a:t>)</a:t>
            </a:r>
          </a:p>
          <a:p>
            <a:pPr>
              <a:spcBef>
                <a:spcPct val="10000"/>
              </a:spcBef>
            </a:pPr>
            <a:r>
              <a:rPr lang="zh-CN" altLang="en-US" sz="2400">
                <a:latin typeface="宋体" charset="-122"/>
              </a:rPr>
              <a:t>例 二维整型数组</a:t>
            </a:r>
            <a:r>
              <a:rPr lang="en-US" altLang="zh-CN" sz="2400">
                <a:latin typeface="宋体" charset="-122"/>
              </a:rPr>
              <a:t>a[1..10,1..20] n2=20-1+1=20 w=4</a:t>
            </a:r>
          </a:p>
          <a:p>
            <a:pPr>
              <a:spcBef>
                <a:spcPct val="10000"/>
              </a:spcBef>
              <a:buFontTx/>
              <a:buNone/>
            </a:pPr>
            <a:r>
              <a:rPr lang="en-US" altLang="zh-CN" sz="2400">
                <a:latin typeface="宋体" charset="-122"/>
              </a:rPr>
              <a:t>  </a:t>
            </a:r>
            <a:r>
              <a:rPr lang="zh-CN" altLang="en-US" sz="2400">
                <a:latin typeface="宋体" charset="-122"/>
              </a:rPr>
              <a:t>数组元素</a:t>
            </a:r>
            <a:r>
              <a:rPr lang="en-US" altLang="zh-CN" sz="2400">
                <a:latin typeface="宋体" charset="-122"/>
              </a:rPr>
              <a:t>a[i,j]</a:t>
            </a:r>
            <a:r>
              <a:rPr lang="zh-CN" altLang="en-US" sz="2400">
                <a:latin typeface="宋体" charset="-122"/>
              </a:rPr>
              <a:t>的相对地址：   </a:t>
            </a:r>
          </a:p>
          <a:p>
            <a:pPr>
              <a:spcBef>
                <a:spcPct val="10000"/>
              </a:spcBef>
              <a:buFontTx/>
              <a:buNone/>
            </a:pPr>
            <a:r>
              <a:rPr lang="zh-CN" altLang="en-US" sz="2400">
                <a:latin typeface="宋体" charset="-122"/>
              </a:rPr>
              <a:t>  </a:t>
            </a:r>
            <a:r>
              <a:rPr lang="en-US" altLang="zh-CN" sz="2400">
                <a:latin typeface="宋体" charset="-122"/>
              </a:rPr>
              <a:t>A+((i-1)*20+j-1))*4           </a:t>
            </a:r>
          </a:p>
          <a:p>
            <a:pPr>
              <a:spcBef>
                <a:spcPct val="10000"/>
              </a:spcBef>
              <a:buFontTx/>
              <a:buNone/>
            </a:pPr>
            <a:r>
              <a:rPr lang="en-US" altLang="zh-CN" sz="2400">
                <a:latin typeface="宋体" charset="-122"/>
              </a:rPr>
              <a:t>  =(i*20+j)*4+A-((1*20)+1)*4</a:t>
            </a:r>
          </a:p>
          <a:p>
            <a:pPr>
              <a:spcBef>
                <a:spcPct val="10000"/>
              </a:spcBef>
              <a:buFontTx/>
              <a:buNone/>
            </a:pPr>
            <a:r>
              <a:rPr lang="en-US" altLang="zh-CN" sz="2400">
                <a:latin typeface="宋体" charset="-122"/>
              </a:rPr>
              <a:t>  =</a:t>
            </a:r>
            <a:r>
              <a:rPr lang="en-US" altLang="zh-CN" sz="2400">
                <a:solidFill>
                  <a:srgbClr val="009900"/>
                </a:solidFill>
                <a:latin typeface="宋体" charset="-122"/>
              </a:rPr>
              <a:t>(i*20+j)*4</a:t>
            </a:r>
            <a:r>
              <a:rPr lang="en-US" altLang="zh-CN" sz="2400">
                <a:latin typeface="宋体" charset="-122"/>
              </a:rPr>
              <a:t>+</a:t>
            </a:r>
            <a:r>
              <a:rPr lang="en-US" altLang="zh-CN" sz="2400">
                <a:solidFill>
                  <a:srgbClr val="0000FF"/>
                </a:solidFill>
                <a:latin typeface="宋体" charset="-122"/>
              </a:rPr>
              <a:t>A-84</a:t>
            </a:r>
            <a:endParaRPr lang="en-US" altLang="zh-CN" sz="2400" dirty="0">
              <a:solidFill>
                <a:srgbClr val="0000FF"/>
              </a:solidFill>
              <a:latin typeface="宋体" charset="-122"/>
            </a:endParaRPr>
          </a:p>
        </p:txBody>
      </p:sp>
      <p:sp>
        <p:nvSpPr>
          <p:cNvPr id="5" name="灯片编号占位符 4">
            <a:extLst>
              <a:ext uri="{FF2B5EF4-FFF2-40B4-BE49-F238E27FC236}">
                <a16:creationId xmlns:a16="http://schemas.microsoft.com/office/drawing/2014/main" id="{E87F5D94-891A-43DB-8D95-14B8715E124F}"/>
              </a:ext>
            </a:extLst>
          </p:cNvPr>
          <p:cNvSpPr>
            <a:spLocks noGrp="1"/>
          </p:cNvSpPr>
          <p:nvPr>
            <p:ph type="sldNum" sz="quarter" idx="4"/>
          </p:nvPr>
        </p:nvSpPr>
        <p:spPr/>
        <p:txBody>
          <a:bodyPr/>
          <a:lstStyle/>
          <a:p>
            <a:fld id="{565CE74E-AB26-4998-AD42-012C4C1AD076}" type="slidenum">
              <a:rPr lang="zh-CN" altLang="en-US" smtClean="0"/>
              <a:pPr/>
              <a:t>47</a:t>
            </a:fld>
            <a:endParaRPr lang="zh-CN" altLang="en-US"/>
          </a:p>
        </p:txBody>
      </p:sp>
    </p:spTree>
    <p:extLst>
      <p:ext uri="{BB962C8B-B14F-4D97-AF65-F5344CB8AC3E}">
        <p14:creationId xmlns:p14="http://schemas.microsoft.com/office/powerpoint/2010/main" val="370646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Bottom)">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slide(fromBottom)">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slide(fromBottom)">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slide(fromBottom)">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slide(fromBottom)">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slide(fromBottom)">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slide(fromBottom)">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slide(fromBottom)">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slide(fromBottom)">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slide(fromBottom)">
                                      <p:cBhvr>
                                        <p:cTn id="52" dur="5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slide(fromBottom)">
                                      <p:cBhvr>
                                        <p:cTn id="57"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latin typeface="宋体" charset="-122"/>
              </a:rPr>
              <a:t>多维数组元素地址的计算</a:t>
            </a:r>
            <a:endParaRPr lang="zh-CN" altLang="en-US" dirty="0"/>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数组元素引用</a:t>
            </a:r>
            <a:endParaRPr lang="zh-CN" altLang="en-US" dirty="0"/>
          </a:p>
        </p:txBody>
      </p:sp>
      <p:sp>
        <p:nvSpPr>
          <p:cNvPr id="4" name="Rectangle 6"/>
          <p:cNvSpPr txBox="1">
            <a:spLocks noChangeArrowheads="1"/>
          </p:cNvSpPr>
          <p:nvPr/>
        </p:nvSpPr>
        <p:spPr>
          <a:xfrm>
            <a:off x="629478" y="1838739"/>
            <a:ext cx="8153400" cy="5029200"/>
          </a:xfrm>
          <a:prstGeom prst="rect">
            <a:avLst/>
          </a:prstGeom>
          <a:noFill/>
          <a:ln/>
        </p:spPr>
        <p:txBody>
          <a:bodyPr vert="horz" lIns="92075" tIns="46038" rIns="92075" bIns="46038" rtlCol="0">
            <a:normAutofit/>
          </a:bodyPr>
          <a:lst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a:solidFill>
                  <a:srgbClr val="0206AD"/>
                </a:solidFill>
                <a:uFillTx/>
                <a:latin typeface="Times New Roman" panose="02020603050405020304" charset="0"/>
                <a:ea typeface="黑体" panose="02010609060101010101" charset="-122"/>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a:solidFill>
                  <a:srgbClr val="0066FF"/>
                </a:solidFill>
                <a:uFillTx/>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a:solidFill>
                  <a:srgbClr val="0206AD"/>
                </a:solidFill>
                <a:uFillTx/>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10000"/>
              </a:spcBef>
            </a:pPr>
            <a:r>
              <a:rPr lang="zh-CN" altLang="en-US" sz="2400" dirty="0">
                <a:latin typeface="宋体" charset="-122"/>
              </a:rPr>
              <a:t>推广公式，若按行存放，</a:t>
            </a:r>
          </a:p>
          <a:p>
            <a:pPr>
              <a:spcBef>
                <a:spcPct val="10000"/>
              </a:spcBef>
            </a:pPr>
            <a:r>
              <a:rPr lang="zh-CN" altLang="en-US" sz="2400" dirty="0">
                <a:latin typeface="宋体" charset="-122"/>
              </a:rPr>
              <a:t>计算</a:t>
            </a:r>
            <a:r>
              <a:rPr lang="en-US" altLang="zh-CN" sz="2400" dirty="0">
                <a:latin typeface="宋体" charset="-122"/>
              </a:rPr>
              <a:t>k</a:t>
            </a:r>
            <a:r>
              <a:rPr lang="zh-CN" altLang="en-US" sz="2400" dirty="0">
                <a:latin typeface="宋体" charset="-122"/>
              </a:rPr>
              <a:t>维数组元素</a:t>
            </a:r>
            <a:r>
              <a:rPr lang="en-US" altLang="zh-CN" sz="2400" dirty="0">
                <a:latin typeface="宋体" charset="-122"/>
              </a:rPr>
              <a:t>a[i1,i2 ,…</a:t>
            </a:r>
            <a:r>
              <a:rPr lang="zh-CN" altLang="en-US" sz="2400" dirty="0">
                <a:latin typeface="宋体" charset="-122"/>
              </a:rPr>
              <a:t>，</a:t>
            </a:r>
            <a:r>
              <a:rPr lang="en-US" altLang="zh-CN" sz="2400" dirty="0" err="1">
                <a:latin typeface="宋体" charset="-122"/>
              </a:rPr>
              <a:t>ik</a:t>
            </a:r>
            <a:r>
              <a:rPr lang="en-US" altLang="zh-CN" sz="2400" dirty="0">
                <a:latin typeface="宋体" charset="-122"/>
              </a:rPr>
              <a:t>]</a:t>
            </a:r>
            <a:r>
              <a:rPr lang="zh-CN" altLang="en-US" sz="2400" dirty="0">
                <a:latin typeface="宋体" charset="-122"/>
              </a:rPr>
              <a:t>的相对地址：</a:t>
            </a:r>
          </a:p>
          <a:p>
            <a:pPr>
              <a:spcBef>
                <a:spcPct val="10000"/>
              </a:spcBef>
              <a:buFontTx/>
              <a:buNone/>
            </a:pPr>
            <a:r>
              <a:rPr lang="zh-CN" altLang="en-US" sz="2400" dirty="0">
                <a:solidFill>
                  <a:srgbClr val="009900"/>
                </a:solidFill>
                <a:latin typeface="宋体" charset="-122"/>
              </a:rPr>
              <a:t> </a:t>
            </a:r>
            <a:r>
              <a:rPr lang="en-US" altLang="zh-CN" sz="2400" dirty="0">
                <a:solidFill>
                  <a:srgbClr val="009900"/>
                </a:solidFill>
                <a:latin typeface="宋体" charset="-122"/>
              </a:rPr>
              <a:t>((...((i1*n2+i2)*n3+i3)...)*</a:t>
            </a:r>
            <a:r>
              <a:rPr lang="en-US" altLang="zh-CN" sz="2400" dirty="0" err="1">
                <a:solidFill>
                  <a:srgbClr val="009900"/>
                </a:solidFill>
                <a:latin typeface="宋体" charset="-122"/>
              </a:rPr>
              <a:t>nk+ik</a:t>
            </a:r>
            <a:r>
              <a:rPr lang="en-US" altLang="zh-CN" sz="2400" dirty="0">
                <a:solidFill>
                  <a:srgbClr val="009900"/>
                </a:solidFill>
                <a:latin typeface="宋体" charset="-122"/>
              </a:rPr>
              <a:t>)*</a:t>
            </a:r>
            <a:r>
              <a:rPr lang="en-US" altLang="zh-CN" sz="2400" dirty="0" err="1">
                <a:solidFill>
                  <a:srgbClr val="009900"/>
                </a:solidFill>
                <a:latin typeface="宋体" charset="-122"/>
              </a:rPr>
              <a:t>w</a:t>
            </a:r>
            <a:r>
              <a:rPr lang="en-US" altLang="zh-CN" sz="2400" dirty="0" err="1">
                <a:latin typeface="宋体" charset="-122"/>
              </a:rPr>
              <a:t>+</a:t>
            </a:r>
            <a:r>
              <a:rPr lang="en-US" altLang="zh-CN" sz="2400" dirty="0" err="1">
                <a:solidFill>
                  <a:srgbClr val="0000FF"/>
                </a:solidFill>
                <a:latin typeface="宋体" charset="-122"/>
              </a:rPr>
              <a:t>base</a:t>
            </a:r>
            <a:r>
              <a:rPr lang="en-US" altLang="zh-CN" sz="2400" dirty="0">
                <a:solidFill>
                  <a:srgbClr val="0000FF"/>
                </a:solidFill>
                <a:latin typeface="宋体" charset="-122"/>
              </a:rPr>
              <a:t>-</a:t>
            </a:r>
          </a:p>
          <a:p>
            <a:pPr>
              <a:spcBef>
                <a:spcPct val="10000"/>
              </a:spcBef>
              <a:buFontTx/>
              <a:buNone/>
            </a:pPr>
            <a:r>
              <a:rPr lang="en-US" altLang="zh-CN" sz="2400" dirty="0">
                <a:solidFill>
                  <a:srgbClr val="0000FF"/>
                </a:solidFill>
                <a:latin typeface="宋体" charset="-122"/>
              </a:rPr>
              <a:t> ((...((low1*n2+low2)*n3+low3)...)*</a:t>
            </a:r>
            <a:r>
              <a:rPr lang="en-US" altLang="zh-CN" sz="2400" dirty="0" err="1">
                <a:solidFill>
                  <a:srgbClr val="0000FF"/>
                </a:solidFill>
                <a:latin typeface="宋体" charset="-122"/>
              </a:rPr>
              <a:t>nk+lowk</a:t>
            </a:r>
            <a:r>
              <a:rPr lang="en-US" altLang="zh-CN" sz="2400" dirty="0">
                <a:solidFill>
                  <a:srgbClr val="0000FF"/>
                </a:solidFill>
                <a:latin typeface="宋体" charset="-122"/>
              </a:rPr>
              <a:t>)*w</a:t>
            </a:r>
            <a:r>
              <a:rPr lang="en-US" altLang="zh-CN" sz="2400" dirty="0">
                <a:latin typeface="宋体" charset="-122"/>
              </a:rPr>
              <a:t> (7.6)</a:t>
            </a:r>
          </a:p>
          <a:p>
            <a:pPr>
              <a:spcBef>
                <a:spcPct val="10000"/>
              </a:spcBef>
              <a:buFontTx/>
              <a:buNone/>
            </a:pPr>
            <a:r>
              <a:rPr lang="en-US" altLang="zh-CN" sz="2400" dirty="0">
                <a:latin typeface="宋体" charset="-122"/>
              </a:rPr>
              <a:t>  = </a:t>
            </a:r>
            <a:r>
              <a:rPr lang="en-US" altLang="zh-CN" sz="2400" dirty="0">
                <a:solidFill>
                  <a:srgbClr val="009900"/>
                </a:solidFill>
                <a:latin typeface="宋体" charset="-122"/>
              </a:rPr>
              <a:t>V</a:t>
            </a:r>
            <a:r>
              <a:rPr lang="en-US" altLang="zh-CN" sz="2400" dirty="0">
                <a:latin typeface="宋体" charset="-122"/>
              </a:rPr>
              <a:t> + </a:t>
            </a:r>
            <a:r>
              <a:rPr lang="en-US" altLang="zh-CN" sz="2400" dirty="0">
                <a:solidFill>
                  <a:srgbClr val="0000FF"/>
                </a:solidFill>
                <a:latin typeface="宋体" charset="-122"/>
              </a:rPr>
              <a:t>base - C</a:t>
            </a:r>
          </a:p>
          <a:p>
            <a:pPr>
              <a:spcBef>
                <a:spcPct val="10000"/>
              </a:spcBef>
              <a:buFontTx/>
              <a:buNone/>
            </a:pPr>
            <a:r>
              <a:rPr lang="en-US" altLang="zh-CN" sz="2400" dirty="0">
                <a:latin typeface="宋体" charset="-122"/>
              </a:rPr>
              <a:t> </a:t>
            </a:r>
            <a:r>
              <a:rPr lang="zh-CN" altLang="en-US" sz="2400" dirty="0">
                <a:latin typeface="宋体" charset="-122"/>
              </a:rPr>
              <a:t>其中，对任何</a:t>
            </a:r>
            <a:r>
              <a:rPr lang="en-US" altLang="zh-CN" sz="2400" dirty="0">
                <a:latin typeface="宋体" charset="-122"/>
              </a:rPr>
              <a:t>j</a:t>
            </a:r>
            <a:r>
              <a:rPr lang="zh-CN" altLang="en-US" sz="2400" dirty="0">
                <a:latin typeface="宋体" charset="-122"/>
              </a:rPr>
              <a:t>，</a:t>
            </a:r>
            <a:r>
              <a:rPr lang="en-US" altLang="zh-CN" sz="2400" dirty="0" err="1">
                <a:latin typeface="宋体" charset="-122"/>
              </a:rPr>
              <a:t>nj</a:t>
            </a:r>
            <a:r>
              <a:rPr lang="en-US" altLang="zh-CN" sz="2400" dirty="0">
                <a:latin typeface="宋体" charset="-122"/>
              </a:rPr>
              <a:t>=highj-lowj+1 </a:t>
            </a:r>
            <a:r>
              <a:rPr lang="zh-CN" altLang="en-US" sz="2400" dirty="0">
                <a:latin typeface="宋体" charset="-122"/>
              </a:rPr>
              <a:t>第</a:t>
            </a:r>
            <a:r>
              <a:rPr lang="en-US" altLang="zh-CN" sz="2400" dirty="0">
                <a:latin typeface="宋体" charset="-122"/>
              </a:rPr>
              <a:t>j</a:t>
            </a:r>
            <a:r>
              <a:rPr lang="zh-CN" altLang="en-US" sz="2400" dirty="0">
                <a:latin typeface="宋体" charset="-122"/>
              </a:rPr>
              <a:t>维的界差   </a:t>
            </a:r>
          </a:p>
          <a:p>
            <a:pPr>
              <a:spcBef>
                <a:spcPct val="10000"/>
              </a:spcBef>
            </a:pPr>
            <a:r>
              <a:rPr lang="zh-CN" altLang="en-US" sz="2400" dirty="0">
                <a:latin typeface="宋体" charset="-122"/>
              </a:rPr>
              <a:t>例如 三维整型数组</a:t>
            </a:r>
            <a:r>
              <a:rPr lang="en-US" altLang="zh-CN" sz="2400" dirty="0">
                <a:latin typeface="宋体" charset="-122"/>
              </a:rPr>
              <a:t>a[1..10,1..20</a:t>
            </a:r>
            <a:r>
              <a:rPr lang="zh-CN" altLang="en-US" sz="2400" dirty="0">
                <a:latin typeface="宋体" charset="-122"/>
              </a:rPr>
              <a:t>，</a:t>
            </a:r>
            <a:r>
              <a:rPr lang="en-US" altLang="zh-CN" sz="2400" dirty="0">
                <a:latin typeface="宋体" charset="-122"/>
              </a:rPr>
              <a:t>1..30]</a:t>
            </a:r>
          </a:p>
          <a:p>
            <a:pPr>
              <a:spcBef>
                <a:spcPct val="10000"/>
              </a:spcBef>
              <a:buFontTx/>
              <a:buNone/>
            </a:pPr>
            <a:r>
              <a:rPr lang="en-US" altLang="zh-CN" sz="2400" dirty="0">
                <a:latin typeface="宋体" charset="-122"/>
              </a:rPr>
              <a:t>     n2=20 n3=30 w=4</a:t>
            </a:r>
          </a:p>
          <a:p>
            <a:pPr>
              <a:spcBef>
                <a:spcPct val="10000"/>
              </a:spcBef>
              <a:buFontTx/>
              <a:buNone/>
            </a:pPr>
            <a:r>
              <a:rPr lang="en-US" altLang="zh-CN" sz="2400" dirty="0">
                <a:latin typeface="宋体" charset="-122"/>
              </a:rPr>
              <a:t> </a:t>
            </a:r>
            <a:r>
              <a:rPr lang="zh-CN" altLang="en-US" sz="2400" dirty="0">
                <a:latin typeface="宋体" charset="-122"/>
              </a:rPr>
              <a:t>数组元素</a:t>
            </a:r>
            <a:r>
              <a:rPr lang="en-US" altLang="zh-CN" sz="2400" dirty="0">
                <a:latin typeface="宋体" charset="-122"/>
              </a:rPr>
              <a:t>a[</a:t>
            </a:r>
            <a:r>
              <a:rPr lang="en-US" altLang="zh-CN" sz="2400" dirty="0" err="1">
                <a:latin typeface="宋体" charset="-122"/>
              </a:rPr>
              <a:t>i,j,k</a:t>
            </a:r>
            <a:r>
              <a:rPr lang="en-US" altLang="zh-CN" sz="2400" dirty="0">
                <a:latin typeface="宋体" charset="-122"/>
              </a:rPr>
              <a:t>]</a:t>
            </a:r>
            <a:r>
              <a:rPr lang="zh-CN" altLang="en-US" sz="2400" dirty="0">
                <a:latin typeface="宋体" charset="-122"/>
              </a:rPr>
              <a:t>的相对地址：   </a:t>
            </a:r>
          </a:p>
          <a:p>
            <a:pPr>
              <a:spcBef>
                <a:spcPct val="10000"/>
              </a:spcBef>
              <a:buFontTx/>
              <a:buNone/>
            </a:pPr>
            <a:r>
              <a:rPr lang="zh-CN" altLang="en-US" sz="2400" dirty="0">
                <a:latin typeface="宋体" charset="-122"/>
              </a:rPr>
              <a:t> </a:t>
            </a:r>
            <a:r>
              <a:rPr lang="en-US" altLang="zh-CN" sz="2400" dirty="0">
                <a:solidFill>
                  <a:srgbClr val="009900"/>
                </a:solidFill>
                <a:latin typeface="宋体" charset="-122"/>
              </a:rPr>
              <a:t>((</a:t>
            </a:r>
            <a:r>
              <a:rPr lang="en-US" altLang="zh-CN" sz="2400" dirty="0" err="1">
                <a:solidFill>
                  <a:srgbClr val="009900"/>
                </a:solidFill>
                <a:latin typeface="宋体" charset="-122"/>
              </a:rPr>
              <a:t>i</a:t>
            </a:r>
            <a:r>
              <a:rPr lang="en-US" altLang="zh-CN" sz="2400" dirty="0">
                <a:solidFill>
                  <a:srgbClr val="009900"/>
                </a:solidFill>
                <a:latin typeface="宋体" charset="-122"/>
              </a:rPr>
              <a:t>*20+j)*30+k)*4</a:t>
            </a:r>
            <a:r>
              <a:rPr lang="en-US" altLang="zh-CN" sz="2400" dirty="0">
                <a:latin typeface="宋体" charset="-122"/>
              </a:rPr>
              <a:t>+</a:t>
            </a:r>
          </a:p>
          <a:p>
            <a:pPr>
              <a:spcBef>
                <a:spcPct val="10000"/>
              </a:spcBef>
              <a:buFontTx/>
              <a:buNone/>
            </a:pPr>
            <a:r>
              <a:rPr lang="en-US" altLang="zh-CN" sz="2400" dirty="0">
                <a:solidFill>
                  <a:srgbClr val="0000FF"/>
                </a:solidFill>
                <a:latin typeface="宋体" charset="-122"/>
              </a:rPr>
              <a:t>      A-((1*20+1)*30+1)*4</a:t>
            </a:r>
          </a:p>
          <a:p>
            <a:pPr>
              <a:spcBef>
                <a:spcPct val="10000"/>
              </a:spcBef>
              <a:buFontTx/>
              <a:buNone/>
            </a:pPr>
            <a:r>
              <a:rPr lang="en-US" altLang="zh-CN" sz="2400" dirty="0">
                <a:latin typeface="宋体" charset="-122"/>
              </a:rPr>
              <a:t> =</a:t>
            </a:r>
            <a:r>
              <a:rPr lang="en-US" altLang="zh-CN" sz="2400" dirty="0">
                <a:solidFill>
                  <a:srgbClr val="009900"/>
                </a:solidFill>
                <a:latin typeface="宋体" charset="-122"/>
              </a:rPr>
              <a:t>((</a:t>
            </a:r>
            <a:r>
              <a:rPr lang="en-US" altLang="zh-CN" sz="2400" dirty="0" err="1">
                <a:solidFill>
                  <a:srgbClr val="009900"/>
                </a:solidFill>
                <a:latin typeface="宋体" charset="-122"/>
              </a:rPr>
              <a:t>i</a:t>
            </a:r>
            <a:r>
              <a:rPr lang="en-US" altLang="zh-CN" sz="2400" dirty="0">
                <a:solidFill>
                  <a:srgbClr val="009900"/>
                </a:solidFill>
                <a:latin typeface="宋体" charset="-122"/>
              </a:rPr>
              <a:t>*20+j)*30+k)*4</a:t>
            </a:r>
            <a:r>
              <a:rPr lang="en-US" altLang="zh-CN" sz="2400" dirty="0">
                <a:latin typeface="宋体" charset="-122"/>
              </a:rPr>
              <a:t>+</a:t>
            </a:r>
            <a:r>
              <a:rPr lang="en-US" altLang="zh-CN" sz="2400" dirty="0">
                <a:solidFill>
                  <a:srgbClr val="0000FF"/>
                </a:solidFill>
                <a:latin typeface="宋体" charset="-122"/>
              </a:rPr>
              <a:t>A-2524</a:t>
            </a:r>
          </a:p>
        </p:txBody>
      </p:sp>
      <p:sp>
        <p:nvSpPr>
          <p:cNvPr id="5" name="灯片编号占位符 4">
            <a:extLst>
              <a:ext uri="{FF2B5EF4-FFF2-40B4-BE49-F238E27FC236}">
                <a16:creationId xmlns:a16="http://schemas.microsoft.com/office/drawing/2014/main" id="{E2D51B71-1FC7-4486-9E72-CCA8E333E4F9}"/>
              </a:ext>
            </a:extLst>
          </p:cNvPr>
          <p:cNvSpPr>
            <a:spLocks noGrp="1"/>
          </p:cNvSpPr>
          <p:nvPr>
            <p:ph type="sldNum" sz="quarter" idx="4"/>
          </p:nvPr>
        </p:nvSpPr>
        <p:spPr/>
        <p:txBody>
          <a:bodyPr/>
          <a:lstStyle/>
          <a:p>
            <a:fld id="{565CE74E-AB26-4998-AD42-012C4C1AD076}" type="slidenum">
              <a:rPr lang="zh-CN" altLang="en-US" smtClean="0"/>
              <a:pPr/>
              <a:t>48</a:t>
            </a:fld>
            <a:endParaRPr lang="zh-CN" altLang="en-US"/>
          </a:p>
        </p:txBody>
      </p:sp>
    </p:spTree>
    <p:extLst>
      <p:ext uri="{BB962C8B-B14F-4D97-AF65-F5344CB8AC3E}">
        <p14:creationId xmlns:p14="http://schemas.microsoft.com/office/powerpoint/2010/main" val="35013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Bottom)">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slide(fromBottom)">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slide(fromBottom)">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slide(fromBottom)">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slide(fromBottom)">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slide(fromBottom)">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slide(fromBottom)">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slide(fromBottom)">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slide(fromBottom)">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slide(fromBottom)">
                                      <p:cBhvr>
                                        <p:cTn id="52" dur="5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slide(fromBottom)">
                                      <p:cBhvr>
                                        <p:cTn id="57" dur="500"/>
                                        <p:tgtEl>
                                          <p:spTgt spid="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4" fill="hold" grpId="0" nodeType="clickEffect">
                                  <p:stCondLst>
                                    <p:cond delay="0"/>
                                  </p:stCondLst>
                                  <p:childTnLst>
                                    <p:set>
                                      <p:cBhvr>
                                        <p:cTn id="61" dur="1" fill="hold">
                                          <p:stCondLst>
                                            <p:cond delay="0"/>
                                          </p:stCondLst>
                                        </p:cTn>
                                        <p:tgtEl>
                                          <p:spTgt spid="4">
                                            <p:txEl>
                                              <p:pRg st="11" end="11"/>
                                            </p:txEl>
                                          </p:spTgt>
                                        </p:tgtEl>
                                        <p:attrNameLst>
                                          <p:attrName>style.visibility</p:attrName>
                                        </p:attrNameLst>
                                      </p:cBhvr>
                                      <p:to>
                                        <p:strVal val="visible"/>
                                      </p:to>
                                    </p:set>
                                    <p:animEffect transition="in" filter="slide(fromBottom)">
                                      <p:cBhvr>
                                        <p:cTn id="62"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产生引用数组元素的三地址代码</a:t>
            </a:r>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数组元素引用</a:t>
            </a:r>
            <a:endParaRPr lang="zh-CN" altLang="en-US" dirty="0"/>
          </a:p>
        </p:txBody>
      </p:sp>
      <p:sp>
        <p:nvSpPr>
          <p:cNvPr id="4" name="Rectangle 14"/>
          <p:cNvSpPr txBox="1">
            <a:spLocks noChangeArrowheads="1"/>
          </p:cNvSpPr>
          <p:nvPr/>
        </p:nvSpPr>
        <p:spPr>
          <a:xfrm>
            <a:off x="1066800" y="1371600"/>
            <a:ext cx="7620000" cy="4800600"/>
          </a:xfrm>
          <a:prstGeom prst="rect">
            <a:avLst/>
          </a:prstGeom>
          <a:noFill/>
          <a:ln/>
        </p:spPr>
        <p:txBody>
          <a:bodyPr vert="horz" lIns="92075" tIns="46038" rIns="92075" bIns="46038" rtlCol="0">
            <a:normAutofit lnSpcReduction="10000"/>
          </a:bodyPr>
          <a:lst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a:solidFill>
                  <a:srgbClr val="0206AD"/>
                </a:solidFill>
                <a:uFillTx/>
                <a:latin typeface="Times New Roman" panose="02020603050405020304" charset="0"/>
                <a:ea typeface="黑体" panose="02010609060101010101" charset="-122"/>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a:solidFill>
                  <a:srgbClr val="0066FF"/>
                </a:solidFill>
                <a:uFillTx/>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a:solidFill>
                  <a:srgbClr val="0206AD"/>
                </a:solidFill>
                <a:uFillTx/>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dirty="0">
                <a:latin typeface="宋体" charset="-122"/>
              </a:rPr>
              <a:t>数组元素的三地址代码结构</a:t>
            </a:r>
          </a:p>
          <a:p>
            <a:pPr>
              <a:buFontTx/>
              <a:buNone/>
            </a:pPr>
            <a:r>
              <a:rPr lang="zh-CN" altLang="en-US" sz="2800" dirty="0">
                <a:latin typeface="宋体" charset="-122"/>
              </a:rPr>
              <a:t>    </a:t>
            </a:r>
            <a:r>
              <a:rPr lang="en-US" altLang="zh-CN" sz="2800" dirty="0">
                <a:solidFill>
                  <a:srgbClr val="009900"/>
                </a:solidFill>
                <a:latin typeface="宋体" charset="-122"/>
              </a:rPr>
              <a:t>T1:=V      </a:t>
            </a:r>
            <a:r>
              <a:rPr lang="zh-CN" altLang="en-US" sz="2800" dirty="0">
                <a:solidFill>
                  <a:srgbClr val="009900"/>
                </a:solidFill>
                <a:latin typeface="宋体" charset="-122"/>
              </a:rPr>
              <a:t>计算可变部分</a:t>
            </a:r>
          </a:p>
          <a:p>
            <a:pPr>
              <a:buFontTx/>
              <a:buNone/>
            </a:pPr>
            <a:r>
              <a:rPr lang="zh-CN" altLang="en-US" sz="2800" dirty="0">
                <a:solidFill>
                  <a:srgbClr val="009900"/>
                </a:solidFill>
                <a:latin typeface="宋体" charset="-122"/>
              </a:rPr>
              <a:t>               </a:t>
            </a:r>
            <a:r>
              <a:rPr lang="en-US" altLang="zh-CN" sz="2800" dirty="0">
                <a:solidFill>
                  <a:srgbClr val="009900"/>
                </a:solidFill>
                <a:latin typeface="宋体" charset="-122"/>
              </a:rPr>
              <a:t>(</a:t>
            </a:r>
            <a:r>
              <a:rPr lang="zh-CN" altLang="en-US" sz="2800" dirty="0">
                <a:solidFill>
                  <a:srgbClr val="009900"/>
                </a:solidFill>
                <a:latin typeface="宋体" charset="-122"/>
              </a:rPr>
              <a:t>有若干条三地址语句</a:t>
            </a:r>
            <a:r>
              <a:rPr lang="en-US" altLang="zh-CN" sz="2800" dirty="0">
                <a:solidFill>
                  <a:srgbClr val="009900"/>
                </a:solidFill>
                <a:latin typeface="宋体" charset="-122"/>
              </a:rPr>
              <a:t>)</a:t>
            </a:r>
          </a:p>
          <a:p>
            <a:pPr>
              <a:buFontTx/>
              <a:buNone/>
            </a:pPr>
            <a:r>
              <a:rPr lang="en-US" altLang="zh-CN" sz="2800" dirty="0">
                <a:latin typeface="宋体" charset="-122"/>
              </a:rPr>
              <a:t>    </a:t>
            </a:r>
            <a:r>
              <a:rPr lang="en-US" altLang="zh-CN" sz="2800" dirty="0">
                <a:solidFill>
                  <a:srgbClr val="0000FF"/>
                </a:solidFill>
                <a:latin typeface="宋体" charset="-122"/>
              </a:rPr>
              <a:t>T2:=base-C </a:t>
            </a:r>
            <a:r>
              <a:rPr lang="zh-CN" altLang="en-US" sz="2800" dirty="0">
                <a:solidFill>
                  <a:srgbClr val="0000FF"/>
                </a:solidFill>
                <a:latin typeface="宋体" charset="-122"/>
              </a:rPr>
              <a:t>计算不变部分</a:t>
            </a:r>
          </a:p>
          <a:p>
            <a:pPr>
              <a:buFontTx/>
              <a:buNone/>
            </a:pPr>
            <a:r>
              <a:rPr lang="zh-CN" altLang="en-US" sz="2800" dirty="0">
                <a:solidFill>
                  <a:srgbClr val="0000FF"/>
                </a:solidFill>
                <a:latin typeface="宋体" charset="-122"/>
              </a:rPr>
              <a:t>              </a:t>
            </a:r>
            <a:r>
              <a:rPr lang="en-US" altLang="zh-CN" sz="2800" dirty="0">
                <a:solidFill>
                  <a:srgbClr val="0000FF"/>
                </a:solidFill>
                <a:latin typeface="宋体" charset="-122"/>
              </a:rPr>
              <a:t>(</a:t>
            </a:r>
            <a:r>
              <a:rPr lang="en-US" altLang="zh-CN" sz="2800" dirty="0" err="1">
                <a:solidFill>
                  <a:srgbClr val="0000FF"/>
                </a:solidFill>
                <a:latin typeface="宋体" charset="-122"/>
              </a:rPr>
              <a:t>base,C</a:t>
            </a:r>
            <a:r>
              <a:rPr lang="zh-CN" altLang="en-US" sz="2800" dirty="0">
                <a:solidFill>
                  <a:srgbClr val="0000FF"/>
                </a:solidFill>
                <a:latin typeface="宋体" charset="-122"/>
              </a:rPr>
              <a:t>可从符号表中查找到</a:t>
            </a:r>
            <a:r>
              <a:rPr lang="en-US" altLang="zh-CN" sz="2800" dirty="0">
                <a:solidFill>
                  <a:srgbClr val="0000FF"/>
                </a:solidFill>
                <a:latin typeface="宋体" charset="-122"/>
              </a:rPr>
              <a:t>)</a:t>
            </a:r>
          </a:p>
          <a:p>
            <a:pPr>
              <a:buFontTx/>
              <a:buNone/>
            </a:pPr>
            <a:r>
              <a:rPr lang="en-US" altLang="zh-CN" sz="2800" dirty="0">
                <a:latin typeface="宋体" charset="-122"/>
              </a:rPr>
              <a:t>    </a:t>
            </a:r>
            <a:r>
              <a:rPr lang="en-US" altLang="zh-CN" sz="2800" dirty="0">
                <a:solidFill>
                  <a:srgbClr val="FF0000"/>
                </a:solidFill>
                <a:latin typeface="宋体" charset="-122"/>
              </a:rPr>
              <a:t>T3:=</a:t>
            </a:r>
            <a:r>
              <a:rPr lang="en-US" altLang="zh-CN" sz="2800" dirty="0">
                <a:solidFill>
                  <a:srgbClr val="0000FF"/>
                </a:solidFill>
                <a:latin typeface="宋体" charset="-122"/>
              </a:rPr>
              <a:t>T2</a:t>
            </a:r>
            <a:r>
              <a:rPr lang="en-US" altLang="zh-CN" sz="2800" dirty="0">
                <a:latin typeface="宋体" charset="-122"/>
              </a:rPr>
              <a:t>[</a:t>
            </a:r>
            <a:r>
              <a:rPr lang="en-US" altLang="zh-CN" sz="2800" dirty="0">
                <a:solidFill>
                  <a:srgbClr val="009900"/>
                </a:solidFill>
                <a:latin typeface="宋体" charset="-122"/>
              </a:rPr>
              <a:t>T1</a:t>
            </a:r>
            <a:r>
              <a:rPr lang="en-US" altLang="zh-CN" sz="2800" dirty="0">
                <a:latin typeface="宋体" charset="-122"/>
              </a:rPr>
              <a:t>] </a:t>
            </a:r>
            <a:r>
              <a:rPr lang="zh-CN" altLang="en-US" sz="2800" dirty="0">
                <a:solidFill>
                  <a:srgbClr val="FF0000"/>
                </a:solidFill>
                <a:latin typeface="宋体" charset="-122"/>
              </a:rPr>
              <a:t>访问元素的地址</a:t>
            </a:r>
            <a:r>
              <a:rPr lang="en-US" altLang="zh-CN" sz="2800" dirty="0">
                <a:solidFill>
                  <a:srgbClr val="FF0000"/>
                </a:solidFill>
                <a:latin typeface="宋体" charset="-122"/>
              </a:rPr>
              <a:t>T3</a:t>
            </a:r>
          </a:p>
          <a:p>
            <a:r>
              <a:rPr lang="zh-CN" altLang="en-US" sz="2800" dirty="0">
                <a:latin typeface="宋体" charset="-122"/>
              </a:rPr>
              <a:t>若 </a:t>
            </a:r>
            <a:r>
              <a:rPr lang="en-US" altLang="zh-CN" sz="2800" dirty="0">
                <a:latin typeface="宋体" charset="-122"/>
              </a:rPr>
              <a:t>x:=</a:t>
            </a:r>
            <a:r>
              <a:rPr lang="en-US" altLang="zh-CN" sz="2800" dirty="0">
                <a:solidFill>
                  <a:srgbClr val="FF0000"/>
                </a:solidFill>
                <a:latin typeface="宋体" charset="-122"/>
              </a:rPr>
              <a:t>a[i1,i2 ,…</a:t>
            </a:r>
            <a:r>
              <a:rPr lang="zh-CN" altLang="en-US" sz="2800" dirty="0">
                <a:solidFill>
                  <a:srgbClr val="FF0000"/>
                </a:solidFill>
                <a:latin typeface="宋体" charset="-122"/>
              </a:rPr>
              <a:t>，</a:t>
            </a:r>
            <a:r>
              <a:rPr lang="en-US" altLang="zh-CN" sz="2800" dirty="0" err="1">
                <a:solidFill>
                  <a:srgbClr val="FF0000"/>
                </a:solidFill>
                <a:latin typeface="宋体" charset="-122"/>
              </a:rPr>
              <a:t>ik</a:t>
            </a:r>
            <a:r>
              <a:rPr lang="en-US" altLang="zh-CN" sz="2800" dirty="0">
                <a:solidFill>
                  <a:srgbClr val="FF0000"/>
                </a:solidFill>
                <a:latin typeface="宋体" charset="-122"/>
              </a:rPr>
              <a:t>]</a:t>
            </a:r>
          </a:p>
          <a:p>
            <a:pPr>
              <a:buFontTx/>
              <a:buNone/>
            </a:pPr>
            <a:r>
              <a:rPr lang="en-US" altLang="zh-CN" sz="2800" dirty="0">
                <a:latin typeface="宋体" charset="-122"/>
              </a:rPr>
              <a:t>     </a:t>
            </a:r>
            <a:r>
              <a:rPr lang="zh-CN" altLang="en-US" sz="2800" dirty="0">
                <a:latin typeface="宋体" charset="-122"/>
              </a:rPr>
              <a:t>则 </a:t>
            </a:r>
            <a:r>
              <a:rPr lang="en-US" altLang="zh-CN" sz="2800" dirty="0">
                <a:latin typeface="宋体" charset="-122"/>
              </a:rPr>
              <a:t>x:=</a:t>
            </a:r>
            <a:r>
              <a:rPr lang="en-US" altLang="zh-CN" sz="2800" dirty="0">
                <a:solidFill>
                  <a:srgbClr val="FF0000"/>
                </a:solidFill>
                <a:latin typeface="宋体" charset="-122"/>
              </a:rPr>
              <a:t>T3</a:t>
            </a:r>
          </a:p>
          <a:p>
            <a:r>
              <a:rPr lang="zh-CN" altLang="en-US" sz="2800" dirty="0">
                <a:latin typeface="宋体" charset="-122"/>
              </a:rPr>
              <a:t>若 </a:t>
            </a:r>
            <a:r>
              <a:rPr lang="en-US" altLang="zh-CN" sz="2800" dirty="0">
                <a:solidFill>
                  <a:srgbClr val="FF0000"/>
                </a:solidFill>
                <a:latin typeface="宋体" charset="-122"/>
              </a:rPr>
              <a:t>a[i1,i2 ,…</a:t>
            </a:r>
            <a:r>
              <a:rPr lang="zh-CN" altLang="en-US" sz="2800" dirty="0">
                <a:solidFill>
                  <a:srgbClr val="FF0000"/>
                </a:solidFill>
                <a:latin typeface="宋体" charset="-122"/>
              </a:rPr>
              <a:t>，</a:t>
            </a:r>
            <a:r>
              <a:rPr lang="en-US" altLang="zh-CN" sz="2800" dirty="0" err="1">
                <a:solidFill>
                  <a:srgbClr val="FF0000"/>
                </a:solidFill>
                <a:latin typeface="宋体" charset="-122"/>
              </a:rPr>
              <a:t>ik</a:t>
            </a:r>
            <a:r>
              <a:rPr lang="en-US" altLang="zh-CN" sz="2800" dirty="0">
                <a:solidFill>
                  <a:srgbClr val="FF0000"/>
                </a:solidFill>
                <a:latin typeface="宋体" charset="-122"/>
              </a:rPr>
              <a:t>]</a:t>
            </a:r>
            <a:r>
              <a:rPr lang="en-US" altLang="zh-CN" sz="2800" dirty="0">
                <a:latin typeface="宋体" charset="-122"/>
              </a:rPr>
              <a:t>:=x</a:t>
            </a:r>
          </a:p>
          <a:p>
            <a:pPr>
              <a:buFontTx/>
              <a:buNone/>
            </a:pPr>
            <a:r>
              <a:rPr lang="en-US" altLang="zh-CN" sz="2800" dirty="0">
                <a:latin typeface="宋体" charset="-122"/>
              </a:rPr>
              <a:t>     </a:t>
            </a:r>
            <a:r>
              <a:rPr lang="zh-CN" altLang="en-US" sz="2800" dirty="0">
                <a:latin typeface="宋体" charset="-122"/>
              </a:rPr>
              <a:t>则 </a:t>
            </a:r>
            <a:r>
              <a:rPr lang="en-US" altLang="zh-CN" sz="2800" dirty="0">
                <a:solidFill>
                  <a:srgbClr val="FF0000"/>
                </a:solidFill>
                <a:latin typeface="宋体" charset="-122"/>
              </a:rPr>
              <a:t>T3</a:t>
            </a:r>
            <a:r>
              <a:rPr lang="en-US" altLang="zh-CN" sz="2800" dirty="0">
                <a:latin typeface="宋体" charset="-122"/>
              </a:rPr>
              <a:t>:=x </a:t>
            </a:r>
          </a:p>
        </p:txBody>
      </p:sp>
      <p:sp>
        <p:nvSpPr>
          <p:cNvPr id="5" name="灯片编号占位符 4">
            <a:extLst>
              <a:ext uri="{FF2B5EF4-FFF2-40B4-BE49-F238E27FC236}">
                <a16:creationId xmlns:a16="http://schemas.microsoft.com/office/drawing/2014/main" id="{6069A844-6792-4B67-AAAC-F0D08B981330}"/>
              </a:ext>
            </a:extLst>
          </p:cNvPr>
          <p:cNvSpPr>
            <a:spLocks noGrp="1"/>
          </p:cNvSpPr>
          <p:nvPr>
            <p:ph type="sldNum" sz="quarter" idx="4"/>
          </p:nvPr>
        </p:nvSpPr>
        <p:spPr/>
        <p:txBody>
          <a:bodyPr/>
          <a:lstStyle/>
          <a:p>
            <a:fld id="{565CE74E-AB26-4998-AD42-012C4C1AD076}" type="slidenum">
              <a:rPr lang="zh-CN" altLang="en-US" smtClean="0"/>
              <a:pPr/>
              <a:t>49</a:t>
            </a:fld>
            <a:endParaRPr lang="zh-CN" altLang="en-US"/>
          </a:p>
        </p:txBody>
      </p:sp>
    </p:spTree>
    <p:extLst>
      <p:ext uri="{BB962C8B-B14F-4D97-AF65-F5344CB8AC3E}">
        <p14:creationId xmlns:p14="http://schemas.microsoft.com/office/powerpoint/2010/main" val="1065723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Bottom)">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slide(fromBottom)">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slide(fromBottom)">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slide(fromBottom)">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slide(fromBottom)">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slide(fromBottom)">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slide(fromBottom)">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slide(fromBottom)">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slide(fromBottom)">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slide(fromBottom)">
                                      <p:cBhvr>
                                        <p:cTn id="52"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数组类型在符号表中的信息组织</a:t>
            </a:r>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数组元素引用</a:t>
            </a:r>
            <a:endParaRPr lang="zh-CN" altLang="en-US" dirty="0"/>
          </a:p>
        </p:txBody>
      </p:sp>
      <p:sp>
        <p:nvSpPr>
          <p:cNvPr id="4" name="Text Box 9"/>
          <p:cNvSpPr txBox="1">
            <a:spLocks noChangeArrowheads="1"/>
          </p:cNvSpPr>
          <p:nvPr/>
        </p:nvSpPr>
        <p:spPr bwMode="auto">
          <a:xfrm>
            <a:off x="152400" y="1444625"/>
            <a:ext cx="6629400" cy="1031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kumimoji="1" lang="zh-CN" altLang="en-US" sz="2800">
                <a:solidFill>
                  <a:srgbClr val="0206AD"/>
                </a:solidFill>
                <a:effectLst>
                  <a:outerShdw blurRad="38100" dist="38100" dir="2700000" algn="tl">
                    <a:srgbClr val="C0C0C0"/>
                  </a:outerShdw>
                </a:effectLst>
                <a:latin typeface="宋体" charset="-122"/>
              </a:rPr>
              <a:t>数组的类型信息：</a:t>
            </a:r>
          </a:p>
          <a:p>
            <a:pPr>
              <a:spcBef>
                <a:spcPct val="20000"/>
              </a:spcBef>
            </a:pPr>
            <a:r>
              <a:rPr kumimoji="1" lang="en-US" altLang="zh-CN" sz="2800">
                <a:solidFill>
                  <a:srgbClr val="0206AD"/>
                </a:solidFill>
                <a:effectLst>
                  <a:outerShdw blurRad="38100" dist="38100" dir="2700000" algn="tl">
                    <a:srgbClr val="C0C0C0"/>
                  </a:outerShdw>
                </a:effectLst>
                <a:latin typeface="宋体" charset="-122"/>
              </a:rPr>
              <a:t>VAR a:ARRAY [1..10,1..20] OF real;</a:t>
            </a:r>
          </a:p>
        </p:txBody>
      </p:sp>
      <p:sp>
        <p:nvSpPr>
          <p:cNvPr id="5" name="Rectangle 10"/>
          <p:cNvSpPr>
            <a:spLocks noChangeArrowheads="1"/>
          </p:cNvSpPr>
          <p:nvPr/>
        </p:nvSpPr>
        <p:spPr bwMode="auto">
          <a:xfrm>
            <a:off x="990600" y="2792413"/>
            <a:ext cx="12557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a:solidFill>
                  <a:srgbClr val="0206AD"/>
                </a:solidFill>
                <a:effectLst>
                  <a:outerShdw blurRad="38100" dist="38100" dir="2700000" algn="tl">
                    <a:srgbClr val="C0C0C0"/>
                  </a:outerShdw>
                </a:effectLst>
                <a:latin typeface="宋体" charset="-122"/>
              </a:rPr>
              <a:t>名字表</a:t>
            </a:r>
          </a:p>
        </p:txBody>
      </p:sp>
      <p:sp>
        <p:nvSpPr>
          <p:cNvPr id="6" name="Rectangle 11"/>
          <p:cNvSpPr>
            <a:spLocks noChangeArrowheads="1"/>
          </p:cNvSpPr>
          <p:nvPr/>
        </p:nvSpPr>
        <p:spPr bwMode="auto">
          <a:xfrm>
            <a:off x="838200" y="3965575"/>
            <a:ext cx="1612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kumimoji="1" lang="zh-CN" altLang="en-US" sz="2800">
                <a:solidFill>
                  <a:srgbClr val="0206AD"/>
                </a:solidFill>
                <a:effectLst>
                  <a:outerShdw blurRad="38100" dist="38100" dir="2700000" algn="tl">
                    <a:srgbClr val="C0C0C0"/>
                  </a:outerShdw>
                </a:effectLst>
                <a:latin typeface="宋体" charset="-122"/>
              </a:rPr>
              <a:t>信息向量</a:t>
            </a:r>
          </a:p>
        </p:txBody>
      </p:sp>
      <p:grpSp>
        <p:nvGrpSpPr>
          <p:cNvPr id="7" name="Group 12"/>
          <p:cNvGrpSpPr>
            <a:grpSpLocks/>
          </p:cNvGrpSpPr>
          <p:nvPr/>
        </p:nvGrpSpPr>
        <p:grpSpPr bwMode="auto">
          <a:xfrm>
            <a:off x="2971800" y="2663823"/>
            <a:ext cx="5562600" cy="533400"/>
            <a:chOff x="1776" y="1392"/>
            <a:chExt cx="3504" cy="336"/>
          </a:xfrm>
        </p:grpSpPr>
        <p:sp>
          <p:nvSpPr>
            <p:cNvPr id="8" name="Text Box 13"/>
            <p:cNvSpPr txBox="1">
              <a:spLocks noChangeArrowheads="1"/>
            </p:cNvSpPr>
            <p:nvPr/>
          </p:nvSpPr>
          <p:spPr bwMode="auto">
            <a:xfrm>
              <a:off x="1776" y="1392"/>
              <a:ext cx="3504" cy="33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0">
                  <a:solidFill>
                    <a:srgbClr val="0206AD"/>
                  </a:solidFill>
                  <a:latin typeface="宋体" charset="-122"/>
                </a:rPr>
                <a:t> </a:t>
              </a:r>
              <a:r>
                <a:rPr kumimoji="1" lang="en-US" altLang="zh-CN" sz="2800">
                  <a:solidFill>
                    <a:srgbClr val="0206AD"/>
                  </a:solidFill>
                  <a:effectLst>
                    <a:outerShdw blurRad="38100" dist="38100" dir="2700000" algn="tl">
                      <a:srgbClr val="C0C0C0"/>
                    </a:outerShdw>
                  </a:effectLst>
                  <a:latin typeface="宋体" charset="-122"/>
                </a:rPr>
                <a:t>a </a:t>
              </a:r>
              <a:r>
                <a:rPr kumimoji="1" lang="zh-CN" altLang="en-US" sz="2800">
                  <a:solidFill>
                    <a:srgbClr val="0206AD"/>
                  </a:solidFill>
                  <a:effectLst>
                    <a:outerShdw blurRad="38100" dist="38100" dir="2700000" algn="tl">
                      <a:srgbClr val="C0C0C0"/>
                    </a:outerShdw>
                  </a:effectLst>
                  <a:latin typeface="宋体" charset="-122"/>
                </a:rPr>
                <a:t>嵌套深度    偏移量   类型 </a:t>
              </a:r>
            </a:p>
          </p:txBody>
        </p:sp>
        <p:sp>
          <p:nvSpPr>
            <p:cNvPr id="9" name="Line 14"/>
            <p:cNvSpPr>
              <a:spLocks noChangeShapeType="1"/>
            </p:cNvSpPr>
            <p:nvPr/>
          </p:nvSpPr>
          <p:spPr bwMode="auto">
            <a:xfrm>
              <a:off x="2112" y="1392"/>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sp>
          <p:nvSpPr>
            <p:cNvPr id="10" name="Line 15"/>
            <p:cNvSpPr>
              <a:spLocks noChangeShapeType="1"/>
            </p:cNvSpPr>
            <p:nvPr/>
          </p:nvSpPr>
          <p:spPr bwMode="auto">
            <a:xfrm>
              <a:off x="3360" y="1392"/>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sp>
          <p:nvSpPr>
            <p:cNvPr id="11" name="Line 16"/>
            <p:cNvSpPr>
              <a:spLocks noChangeShapeType="1"/>
            </p:cNvSpPr>
            <p:nvPr/>
          </p:nvSpPr>
          <p:spPr bwMode="auto">
            <a:xfrm>
              <a:off x="4368" y="1392"/>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grpSp>
      <p:grpSp>
        <p:nvGrpSpPr>
          <p:cNvPr id="12" name="Group 17"/>
          <p:cNvGrpSpPr>
            <a:grpSpLocks/>
          </p:cNvGrpSpPr>
          <p:nvPr/>
        </p:nvGrpSpPr>
        <p:grpSpPr bwMode="auto">
          <a:xfrm>
            <a:off x="2971800" y="3578225"/>
            <a:ext cx="2362200" cy="3119438"/>
            <a:chOff x="1776" y="1920"/>
            <a:chExt cx="1488" cy="1965"/>
          </a:xfrm>
        </p:grpSpPr>
        <p:sp>
          <p:nvSpPr>
            <p:cNvPr id="13" name="Text Box 18"/>
            <p:cNvSpPr txBox="1">
              <a:spLocks noChangeArrowheads="1"/>
            </p:cNvSpPr>
            <p:nvPr/>
          </p:nvSpPr>
          <p:spPr bwMode="auto">
            <a:xfrm>
              <a:off x="1776" y="1920"/>
              <a:ext cx="1488" cy="196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en-US" altLang="zh-CN" sz="2800">
                  <a:solidFill>
                    <a:srgbClr val="0206AD"/>
                  </a:solidFill>
                  <a:effectLst>
                    <a:outerShdw blurRad="38100" dist="38100" dir="2700000" algn="tl">
                      <a:srgbClr val="C0C0C0"/>
                    </a:outerShdw>
                  </a:effectLst>
                  <a:latin typeface="宋体" charset="-122"/>
                </a:rPr>
                <a:t>C=84</a:t>
              </a:r>
            </a:p>
            <a:p>
              <a:pPr algn="ctr"/>
              <a:r>
                <a:rPr kumimoji="1" lang="en-US" altLang="zh-CN" sz="2800">
                  <a:solidFill>
                    <a:srgbClr val="0206AD"/>
                  </a:solidFill>
                  <a:effectLst>
                    <a:outerShdw blurRad="38100" dist="38100" dir="2700000" algn="tl">
                      <a:srgbClr val="C0C0C0"/>
                    </a:outerShdw>
                  </a:effectLst>
                  <a:latin typeface="宋体" charset="-122"/>
                </a:rPr>
                <a:t>low1=1</a:t>
              </a:r>
            </a:p>
            <a:p>
              <a:pPr algn="ctr"/>
              <a:r>
                <a:rPr kumimoji="1" lang="en-US" altLang="zh-CN" sz="2800">
                  <a:solidFill>
                    <a:srgbClr val="0206AD"/>
                  </a:solidFill>
                  <a:effectLst>
                    <a:outerShdw blurRad="38100" dist="38100" dir="2700000" algn="tl">
                      <a:srgbClr val="C0C0C0"/>
                    </a:outerShdw>
                  </a:effectLst>
                  <a:latin typeface="宋体" charset="-122"/>
                </a:rPr>
                <a:t>n1=10</a:t>
              </a:r>
            </a:p>
            <a:p>
              <a:pPr algn="ctr"/>
              <a:r>
                <a:rPr kumimoji="1" lang="en-US" altLang="zh-CN" sz="2800">
                  <a:solidFill>
                    <a:srgbClr val="0206AD"/>
                  </a:solidFill>
                  <a:effectLst>
                    <a:outerShdw blurRad="38100" dist="38100" dir="2700000" algn="tl">
                      <a:srgbClr val="C0C0C0"/>
                    </a:outerShdw>
                  </a:effectLst>
                  <a:latin typeface="宋体" charset="-122"/>
                </a:rPr>
                <a:t>low2=1</a:t>
              </a:r>
            </a:p>
            <a:p>
              <a:pPr algn="ctr"/>
              <a:r>
                <a:rPr kumimoji="1" lang="en-US" altLang="zh-CN" sz="2800">
                  <a:solidFill>
                    <a:srgbClr val="0206AD"/>
                  </a:solidFill>
                  <a:effectLst>
                    <a:outerShdw blurRad="38100" dist="38100" dir="2700000" algn="tl">
                      <a:srgbClr val="C0C0C0"/>
                    </a:outerShdw>
                  </a:effectLst>
                  <a:latin typeface="宋体" charset="-122"/>
                </a:rPr>
                <a:t>n2=20</a:t>
              </a:r>
            </a:p>
            <a:p>
              <a:pPr algn="ctr"/>
              <a:r>
                <a:rPr kumimoji="1" lang="en-US" altLang="zh-CN" sz="2800">
                  <a:solidFill>
                    <a:srgbClr val="0206AD"/>
                  </a:solidFill>
                  <a:effectLst>
                    <a:outerShdw blurRad="38100" dist="38100" dir="2700000" algn="tl">
                      <a:srgbClr val="C0C0C0"/>
                    </a:outerShdw>
                  </a:effectLst>
                  <a:latin typeface="宋体" charset="-122"/>
                </a:rPr>
                <a:t>A</a:t>
              </a:r>
            </a:p>
            <a:p>
              <a:pPr algn="ctr"/>
              <a:r>
                <a:rPr kumimoji="1" lang="zh-CN" altLang="en-US" sz="2800">
                  <a:solidFill>
                    <a:srgbClr val="0206AD"/>
                  </a:solidFill>
                  <a:effectLst>
                    <a:outerShdw blurRad="38100" dist="38100" dir="2700000" algn="tl">
                      <a:srgbClr val="C0C0C0"/>
                    </a:outerShdw>
                  </a:effectLst>
                  <a:latin typeface="宋体" charset="-122"/>
                </a:rPr>
                <a:t>基类型</a:t>
              </a:r>
            </a:p>
          </p:txBody>
        </p:sp>
        <p:sp>
          <p:nvSpPr>
            <p:cNvPr id="14" name="Line 19"/>
            <p:cNvSpPr>
              <a:spLocks noChangeShapeType="1"/>
            </p:cNvSpPr>
            <p:nvPr/>
          </p:nvSpPr>
          <p:spPr bwMode="auto">
            <a:xfrm>
              <a:off x="1776" y="2208"/>
              <a:ext cx="1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sp>
          <p:nvSpPr>
            <p:cNvPr id="15" name="Line 20"/>
            <p:cNvSpPr>
              <a:spLocks noChangeShapeType="1"/>
            </p:cNvSpPr>
            <p:nvPr/>
          </p:nvSpPr>
          <p:spPr bwMode="auto">
            <a:xfrm>
              <a:off x="1776" y="2496"/>
              <a:ext cx="1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sp>
          <p:nvSpPr>
            <p:cNvPr id="16" name="Line 21"/>
            <p:cNvSpPr>
              <a:spLocks noChangeShapeType="1"/>
            </p:cNvSpPr>
            <p:nvPr/>
          </p:nvSpPr>
          <p:spPr bwMode="auto">
            <a:xfrm>
              <a:off x="1776" y="2784"/>
              <a:ext cx="1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sp>
          <p:nvSpPr>
            <p:cNvPr id="17" name="Line 22"/>
            <p:cNvSpPr>
              <a:spLocks noChangeShapeType="1"/>
            </p:cNvSpPr>
            <p:nvPr/>
          </p:nvSpPr>
          <p:spPr bwMode="auto">
            <a:xfrm>
              <a:off x="1776" y="3072"/>
              <a:ext cx="1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sp>
          <p:nvSpPr>
            <p:cNvPr id="18" name="Line 23"/>
            <p:cNvSpPr>
              <a:spLocks noChangeShapeType="1"/>
            </p:cNvSpPr>
            <p:nvPr/>
          </p:nvSpPr>
          <p:spPr bwMode="auto">
            <a:xfrm>
              <a:off x="1776" y="3312"/>
              <a:ext cx="1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sp>
          <p:nvSpPr>
            <p:cNvPr id="19" name="Line 24"/>
            <p:cNvSpPr>
              <a:spLocks noChangeShapeType="1"/>
            </p:cNvSpPr>
            <p:nvPr/>
          </p:nvSpPr>
          <p:spPr bwMode="auto">
            <a:xfrm>
              <a:off x="1776" y="3552"/>
              <a:ext cx="1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grpSp>
      <p:grpSp>
        <p:nvGrpSpPr>
          <p:cNvPr id="20" name="Group 25"/>
          <p:cNvGrpSpPr>
            <a:grpSpLocks/>
          </p:cNvGrpSpPr>
          <p:nvPr/>
        </p:nvGrpSpPr>
        <p:grpSpPr bwMode="auto">
          <a:xfrm>
            <a:off x="5943600" y="4187825"/>
            <a:ext cx="2667000" cy="1538288"/>
            <a:chOff x="3648" y="2304"/>
            <a:chExt cx="1680" cy="969"/>
          </a:xfrm>
        </p:grpSpPr>
        <p:sp>
          <p:nvSpPr>
            <p:cNvPr id="21" name="Text Box 26"/>
            <p:cNvSpPr txBox="1">
              <a:spLocks noChangeArrowheads="1"/>
            </p:cNvSpPr>
            <p:nvPr/>
          </p:nvSpPr>
          <p:spPr bwMode="auto">
            <a:xfrm>
              <a:off x="3648" y="2304"/>
              <a:ext cx="1680" cy="969"/>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15000"/>
                </a:spcBef>
              </a:pPr>
              <a:r>
                <a:rPr kumimoji="1" lang="en-US" altLang="zh-CN" sz="2800">
                  <a:solidFill>
                    <a:srgbClr val="0206AD"/>
                  </a:solidFill>
                  <a:effectLst>
                    <a:outerShdw blurRad="38100" dist="38100" dir="2700000" algn="tl">
                      <a:srgbClr val="C0C0C0"/>
                    </a:outerShdw>
                  </a:effectLst>
                  <a:latin typeface="宋体" charset="-122"/>
                </a:rPr>
                <a:t>Real</a:t>
              </a:r>
            </a:p>
            <a:p>
              <a:pPr algn="ctr">
                <a:spcBef>
                  <a:spcPct val="15000"/>
                </a:spcBef>
              </a:pPr>
              <a:r>
                <a:rPr kumimoji="1" lang="zh-CN" altLang="zh-CN" sz="2800">
                  <a:solidFill>
                    <a:srgbClr val="0206AD"/>
                  </a:solidFill>
                  <a:effectLst>
                    <a:outerShdw blurRad="38100" dist="38100" dir="2700000" algn="tl">
                      <a:srgbClr val="C0C0C0"/>
                    </a:outerShdw>
                  </a:effectLst>
                  <a:latin typeface="宋体" charset="-122"/>
                </a:rPr>
                <a:t>标准类型</a:t>
              </a:r>
            </a:p>
            <a:p>
              <a:pPr algn="ctr">
                <a:spcBef>
                  <a:spcPct val="15000"/>
                </a:spcBef>
              </a:pPr>
              <a:r>
                <a:rPr kumimoji="1" lang="en-US" altLang="zh-CN" sz="2800">
                  <a:solidFill>
                    <a:srgbClr val="0206AD"/>
                  </a:solidFill>
                  <a:effectLst>
                    <a:outerShdw blurRad="38100" dist="38100" dir="2700000" algn="tl">
                      <a:srgbClr val="C0C0C0"/>
                    </a:outerShdw>
                  </a:effectLst>
                  <a:latin typeface="宋体" charset="-122"/>
                </a:rPr>
                <a:t>8</a:t>
              </a:r>
            </a:p>
          </p:txBody>
        </p:sp>
        <p:sp>
          <p:nvSpPr>
            <p:cNvPr id="22" name="Line 27"/>
            <p:cNvSpPr>
              <a:spLocks noChangeShapeType="1"/>
            </p:cNvSpPr>
            <p:nvPr/>
          </p:nvSpPr>
          <p:spPr bwMode="auto">
            <a:xfrm>
              <a:off x="3648" y="2640"/>
              <a:ext cx="168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sp>
          <p:nvSpPr>
            <p:cNvPr id="23" name="Line 28"/>
            <p:cNvSpPr>
              <a:spLocks noChangeShapeType="1"/>
            </p:cNvSpPr>
            <p:nvPr/>
          </p:nvSpPr>
          <p:spPr bwMode="auto">
            <a:xfrm>
              <a:off x="3648" y="3024"/>
              <a:ext cx="168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grpSp>
      <p:sp>
        <p:nvSpPr>
          <p:cNvPr id="24" name="Freeform 29"/>
          <p:cNvSpPr>
            <a:spLocks/>
          </p:cNvSpPr>
          <p:nvPr/>
        </p:nvSpPr>
        <p:spPr bwMode="auto">
          <a:xfrm>
            <a:off x="2568575" y="3122613"/>
            <a:ext cx="5699125" cy="741362"/>
          </a:xfrm>
          <a:custGeom>
            <a:avLst/>
            <a:gdLst>
              <a:gd name="T0" fmla="*/ 3590 w 3590"/>
              <a:gd name="T1" fmla="*/ 0 h 467"/>
              <a:gd name="T2" fmla="*/ 3456 w 3590"/>
              <a:gd name="T3" fmla="*/ 222 h 467"/>
              <a:gd name="T4" fmla="*/ 3234 w 3590"/>
              <a:gd name="T5" fmla="*/ 278 h 467"/>
              <a:gd name="T6" fmla="*/ 3101 w 3590"/>
              <a:gd name="T7" fmla="*/ 289 h 467"/>
              <a:gd name="T8" fmla="*/ 2379 w 3590"/>
              <a:gd name="T9" fmla="*/ 256 h 467"/>
              <a:gd name="T10" fmla="*/ 1878 w 3590"/>
              <a:gd name="T11" fmla="*/ 211 h 467"/>
              <a:gd name="T12" fmla="*/ 1345 w 3590"/>
              <a:gd name="T13" fmla="*/ 222 h 467"/>
              <a:gd name="T14" fmla="*/ 1056 w 3590"/>
              <a:gd name="T15" fmla="*/ 189 h 467"/>
              <a:gd name="T16" fmla="*/ 634 w 3590"/>
              <a:gd name="T17" fmla="*/ 211 h 467"/>
              <a:gd name="T18" fmla="*/ 478 w 3590"/>
              <a:gd name="T19" fmla="*/ 234 h 467"/>
              <a:gd name="T20" fmla="*/ 267 w 3590"/>
              <a:gd name="T21" fmla="*/ 234 h 467"/>
              <a:gd name="T22" fmla="*/ 34 w 3590"/>
              <a:gd name="T23" fmla="*/ 245 h 467"/>
              <a:gd name="T24" fmla="*/ 0 w 3590"/>
              <a:gd name="T25" fmla="*/ 311 h 467"/>
              <a:gd name="T26" fmla="*/ 212 w 3590"/>
              <a:gd name="T27" fmla="*/ 467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90" h="467">
                <a:moveTo>
                  <a:pt x="3590" y="0"/>
                </a:moveTo>
                <a:cubicBezTo>
                  <a:pt x="3568" y="89"/>
                  <a:pt x="3536" y="170"/>
                  <a:pt x="3456" y="222"/>
                </a:cubicBezTo>
                <a:cubicBezTo>
                  <a:pt x="3405" y="300"/>
                  <a:pt x="3335" y="271"/>
                  <a:pt x="3234" y="278"/>
                </a:cubicBezTo>
                <a:cubicBezTo>
                  <a:pt x="3190" y="281"/>
                  <a:pt x="3145" y="285"/>
                  <a:pt x="3101" y="289"/>
                </a:cubicBezTo>
                <a:cubicBezTo>
                  <a:pt x="2859" y="282"/>
                  <a:pt x="2620" y="278"/>
                  <a:pt x="2379" y="256"/>
                </a:cubicBezTo>
                <a:cubicBezTo>
                  <a:pt x="2206" y="222"/>
                  <a:pt x="2064" y="218"/>
                  <a:pt x="1878" y="211"/>
                </a:cubicBezTo>
                <a:cubicBezTo>
                  <a:pt x="1641" y="234"/>
                  <a:pt x="1709" y="233"/>
                  <a:pt x="1345" y="222"/>
                </a:cubicBezTo>
                <a:cubicBezTo>
                  <a:pt x="1249" y="210"/>
                  <a:pt x="1152" y="203"/>
                  <a:pt x="1056" y="189"/>
                </a:cubicBezTo>
                <a:cubicBezTo>
                  <a:pt x="915" y="199"/>
                  <a:pt x="774" y="200"/>
                  <a:pt x="634" y="211"/>
                </a:cubicBezTo>
                <a:cubicBezTo>
                  <a:pt x="582" y="215"/>
                  <a:pt x="478" y="234"/>
                  <a:pt x="478" y="234"/>
                </a:cubicBezTo>
                <a:cubicBezTo>
                  <a:pt x="382" y="266"/>
                  <a:pt x="492" y="234"/>
                  <a:pt x="267" y="234"/>
                </a:cubicBezTo>
                <a:cubicBezTo>
                  <a:pt x="189" y="234"/>
                  <a:pt x="112" y="241"/>
                  <a:pt x="34" y="245"/>
                </a:cubicBezTo>
                <a:cubicBezTo>
                  <a:pt x="24" y="260"/>
                  <a:pt x="0" y="290"/>
                  <a:pt x="0" y="311"/>
                </a:cubicBezTo>
                <a:cubicBezTo>
                  <a:pt x="0" y="411"/>
                  <a:pt x="125" y="467"/>
                  <a:pt x="212" y="467"/>
                </a:cubicBezTo>
              </a:path>
            </a:pathLst>
          </a:custGeom>
          <a:noFill/>
          <a:ln w="38100"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sp>
        <p:nvSpPr>
          <p:cNvPr id="25" name="Freeform 30"/>
          <p:cNvSpPr>
            <a:spLocks/>
          </p:cNvSpPr>
          <p:nvPr/>
        </p:nvSpPr>
        <p:spPr bwMode="auto">
          <a:xfrm>
            <a:off x="5334000" y="4586288"/>
            <a:ext cx="533400" cy="1887537"/>
          </a:xfrm>
          <a:custGeom>
            <a:avLst/>
            <a:gdLst>
              <a:gd name="T0" fmla="*/ 0 w 500"/>
              <a:gd name="T1" fmla="*/ 1456 h 1456"/>
              <a:gd name="T2" fmla="*/ 212 w 500"/>
              <a:gd name="T3" fmla="*/ 1411 h 1456"/>
              <a:gd name="T4" fmla="*/ 245 w 500"/>
              <a:gd name="T5" fmla="*/ 1389 h 1456"/>
              <a:gd name="T6" fmla="*/ 289 w 500"/>
              <a:gd name="T7" fmla="*/ 1322 h 1456"/>
              <a:gd name="T8" fmla="*/ 267 w 500"/>
              <a:gd name="T9" fmla="*/ 889 h 1456"/>
              <a:gd name="T10" fmla="*/ 278 w 500"/>
              <a:gd name="T11" fmla="*/ 623 h 1456"/>
              <a:gd name="T12" fmla="*/ 289 w 500"/>
              <a:gd name="T13" fmla="*/ 467 h 1456"/>
              <a:gd name="T14" fmla="*/ 356 w 500"/>
              <a:gd name="T15" fmla="*/ 0 h 1456"/>
              <a:gd name="T16" fmla="*/ 500 w 500"/>
              <a:gd name="T17" fmla="*/ 11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0" h="1456">
                <a:moveTo>
                  <a:pt x="0" y="1456"/>
                </a:moveTo>
                <a:cubicBezTo>
                  <a:pt x="71" y="1444"/>
                  <a:pt x="142" y="1428"/>
                  <a:pt x="212" y="1411"/>
                </a:cubicBezTo>
                <a:cubicBezTo>
                  <a:pt x="223" y="1404"/>
                  <a:pt x="236" y="1399"/>
                  <a:pt x="245" y="1389"/>
                </a:cubicBezTo>
                <a:cubicBezTo>
                  <a:pt x="262" y="1369"/>
                  <a:pt x="289" y="1322"/>
                  <a:pt x="289" y="1322"/>
                </a:cubicBezTo>
                <a:cubicBezTo>
                  <a:pt x="324" y="1183"/>
                  <a:pt x="281" y="1030"/>
                  <a:pt x="267" y="889"/>
                </a:cubicBezTo>
                <a:cubicBezTo>
                  <a:pt x="271" y="800"/>
                  <a:pt x="273" y="712"/>
                  <a:pt x="278" y="623"/>
                </a:cubicBezTo>
                <a:cubicBezTo>
                  <a:pt x="281" y="571"/>
                  <a:pt x="286" y="519"/>
                  <a:pt x="289" y="467"/>
                </a:cubicBezTo>
                <a:cubicBezTo>
                  <a:pt x="297" y="326"/>
                  <a:pt x="272" y="129"/>
                  <a:pt x="356" y="0"/>
                </a:cubicBezTo>
                <a:cubicBezTo>
                  <a:pt x="485" y="12"/>
                  <a:pt x="437" y="11"/>
                  <a:pt x="500" y="11"/>
                </a:cubicBezTo>
              </a:path>
            </a:pathLst>
          </a:custGeom>
          <a:noFill/>
          <a:ln w="38100"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206AD"/>
              </a:solidFill>
            </a:endParaRPr>
          </a:p>
        </p:txBody>
      </p:sp>
      <p:sp>
        <p:nvSpPr>
          <p:cNvPr id="26" name="灯片编号占位符 25">
            <a:extLst>
              <a:ext uri="{FF2B5EF4-FFF2-40B4-BE49-F238E27FC236}">
                <a16:creationId xmlns:a16="http://schemas.microsoft.com/office/drawing/2014/main" id="{B26176CD-D138-4EC6-B5D0-5F6426A1551F}"/>
              </a:ext>
            </a:extLst>
          </p:cNvPr>
          <p:cNvSpPr>
            <a:spLocks noGrp="1"/>
          </p:cNvSpPr>
          <p:nvPr>
            <p:ph type="sldNum" sz="quarter" idx="4"/>
          </p:nvPr>
        </p:nvSpPr>
        <p:spPr/>
        <p:txBody>
          <a:bodyPr/>
          <a:lstStyle/>
          <a:p>
            <a:fld id="{565CE74E-AB26-4998-AD42-012C4C1AD076}" type="slidenum">
              <a:rPr lang="zh-CN" altLang="en-US" smtClean="0"/>
              <a:pPr/>
              <a:t>50</a:t>
            </a:fld>
            <a:endParaRPr lang="zh-CN" altLang="en-US"/>
          </a:p>
        </p:txBody>
      </p:sp>
    </p:spTree>
    <p:extLst>
      <p:ext uri="{BB962C8B-B14F-4D97-AF65-F5344CB8AC3E}">
        <p14:creationId xmlns:p14="http://schemas.microsoft.com/office/powerpoint/2010/main" val="2131206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Bottom)">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slide(fromBottom)">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slide(fromBottom)">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slide(fromBottom)">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strips(downLeft)">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slide(fromBottom)">
                                      <p:cBhvr>
                                        <p:cTn id="32" dur="500"/>
                                        <p:tgtEl>
                                          <p:spTgt spid="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slide(fromBottom)">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3"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strips(upRight)">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slide(fromBottom)">
                                      <p:cBhvr>
                                        <p:cTn id="4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5" grpId="0" build="p" autoUpdateAnimBg="0"/>
      <p:bldP spid="6" grpId="0" build="p" autoUpdateAnimBg="0"/>
      <p:bldP spid="24" grpId="0" animBg="1"/>
      <p:bldP spid="25"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latin typeface="宋体" charset="-122"/>
              </a:rPr>
              <a:t>引用数组元素的文法</a:t>
            </a:r>
            <a:endParaRPr lang="zh-CN" altLang="en-US" dirty="0"/>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数组元素引用</a:t>
            </a:r>
            <a:endParaRPr lang="zh-CN" altLang="en-US" dirty="0"/>
          </a:p>
        </p:txBody>
      </p:sp>
      <p:sp>
        <p:nvSpPr>
          <p:cNvPr id="4" name="Rectangle 9"/>
          <p:cNvSpPr txBox="1">
            <a:spLocks noChangeArrowheads="1"/>
          </p:cNvSpPr>
          <p:nvPr/>
        </p:nvSpPr>
        <p:spPr>
          <a:xfrm>
            <a:off x="609600" y="1494182"/>
            <a:ext cx="8153400" cy="4419600"/>
          </a:xfrm>
          <a:prstGeom prst="rect">
            <a:avLst/>
          </a:prstGeom>
          <a:noFill/>
          <a:ln/>
        </p:spPr>
        <p:txBody>
          <a:bodyPr vert="horz" lIns="92075" tIns="46038" rIns="92075" bIns="46038" rtlCol="0">
            <a:normAutofit lnSpcReduction="10000"/>
          </a:bodyPr>
          <a:lst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a:solidFill>
                  <a:srgbClr val="0206AD"/>
                </a:solidFill>
                <a:uFillTx/>
                <a:latin typeface="Times New Roman" panose="02020603050405020304" charset="0"/>
                <a:ea typeface="黑体" panose="02010609060101010101" charset="-122"/>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a:solidFill>
                  <a:srgbClr val="0066FF"/>
                </a:solidFill>
                <a:uFillTx/>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a:solidFill>
                  <a:srgbClr val="0206AD"/>
                </a:solidFill>
                <a:uFillTx/>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a:latin typeface="宋体" charset="-122"/>
              </a:rPr>
              <a:t>数组数组元素引用的文法</a:t>
            </a:r>
          </a:p>
          <a:p>
            <a:pPr>
              <a:buFontTx/>
              <a:buNone/>
            </a:pPr>
            <a:r>
              <a:rPr lang="zh-CN" altLang="en-US" sz="2800">
                <a:latin typeface="宋体" charset="-122"/>
              </a:rPr>
              <a:t>     </a:t>
            </a:r>
            <a:r>
              <a:rPr lang="en-US" altLang="zh-CN" sz="2800">
                <a:latin typeface="宋体" charset="-122"/>
              </a:rPr>
              <a:t>S→L:=E </a:t>
            </a:r>
          </a:p>
          <a:p>
            <a:pPr>
              <a:buFontTx/>
              <a:buNone/>
            </a:pPr>
            <a:r>
              <a:rPr lang="en-US" altLang="zh-CN" sz="2800">
                <a:latin typeface="宋体" charset="-122"/>
              </a:rPr>
              <a:t>     L→id[Elist]|id </a:t>
            </a:r>
          </a:p>
          <a:p>
            <a:pPr>
              <a:buFontTx/>
              <a:buNone/>
            </a:pPr>
            <a:r>
              <a:rPr lang="en-US" altLang="zh-CN" sz="2800">
                <a:latin typeface="宋体" charset="-122"/>
              </a:rPr>
              <a:t>     Elist→Elist,E|E</a:t>
            </a:r>
          </a:p>
          <a:p>
            <a:pPr>
              <a:buFontTx/>
              <a:buNone/>
            </a:pPr>
            <a:r>
              <a:rPr lang="en-US" altLang="zh-CN" sz="2800">
                <a:latin typeface="宋体" charset="-122"/>
              </a:rPr>
              <a:t>     E→L </a:t>
            </a:r>
          </a:p>
          <a:p>
            <a:r>
              <a:rPr lang="en-US" altLang="zh-CN" sz="2800">
                <a:latin typeface="宋体" charset="-122"/>
              </a:rPr>
              <a:t>Elist </a:t>
            </a:r>
            <a:r>
              <a:rPr lang="en-US" altLang="zh-CN" sz="2800">
                <a:latin typeface="宋体" charset="-122"/>
                <a:sym typeface="Symbol" pitchFamily="18" charset="2"/>
              </a:rPr>
              <a:t></a:t>
            </a:r>
            <a:r>
              <a:rPr lang="en-US" altLang="zh-CN" sz="2800" baseline="30000">
                <a:latin typeface="宋体" charset="-122"/>
                <a:sym typeface="Symbol" pitchFamily="18" charset="2"/>
              </a:rPr>
              <a:t>+</a:t>
            </a:r>
            <a:r>
              <a:rPr lang="en-US" altLang="zh-CN" sz="2800">
                <a:latin typeface="宋体" charset="-122"/>
                <a:sym typeface="Symbol" pitchFamily="18" charset="2"/>
              </a:rPr>
              <a:t> i1,i2,…,in</a:t>
            </a:r>
            <a:endParaRPr lang="en-US" altLang="zh-CN" sz="2800">
              <a:latin typeface="宋体" charset="-122"/>
            </a:endParaRPr>
          </a:p>
          <a:p>
            <a:r>
              <a:rPr lang="zh-CN" altLang="en-US" sz="2800">
                <a:latin typeface="宋体" charset="-122"/>
              </a:rPr>
              <a:t>若为获得有关数组各维界差</a:t>
            </a:r>
            <a:r>
              <a:rPr lang="en-US" altLang="zh-CN" sz="2800">
                <a:latin typeface="宋体" charset="-122"/>
              </a:rPr>
              <a:t>nj </a:t>
            </a:r>
            <a:r>
              <a:rPr lang="zh-CN" altLang="en-US" sz="2800">
                <a:latin typeface="宋体" charset="-122"/>
              </a:rPr>
              <a:t>的信息，改写为：</a:t>
            </a:r>
          </a:p>
          <a:p>
            <a:pPr>
              <a:buFontTx/>
              <a:buNone/>
            </a:pPr>
            <a:r>
              <a:rPr lang="zh-CN" altLang="en-US" sz="2800">
                <a:latin typeface="宋体" charset="-122"/>
              </a:rPr>
              <a:t>       </a:t>
            </a:r>
            <a:r>
              <a:rPr lang="en-US" altLang="zh-CN" sz="2800">
                <a:latin typeface="宋体" charset="-122"/>
              </a:rPr>
              <a:t>L→Elist]|id </a:t>
            </a:r>
          </a:p>
          <a:p>
            <a:pPr>
              <a:buFontTx/>
              <a:buNone/>
            </a:pPr>
            <a:r>
              <a:rPr lang="en-US" altLang="zh-CN" sz="2800">
                <a:latin typeface="宋体" charset="-122"/>
              </a:rPr>
              <a:t>       Elist→Elist,E|id[E  </a:t>
            </a:r>
            <a:endParaRPr lang="en-US" altLang="zh-CN" sz="2800" dirty="0">
              <a:latin typeface="宋体" charset="-122"/>
            </a:endParaRPr>
          </a:p>
        </p:txBody>
      </p:sp>
      <p:sp>
        <p:nvSpPr>
          <p:cNvPr id="5" name="灯片编号占位符 4">
            <a:extLst>
              <a:ext uri="{FF2B5EF4-FFF2-40B4-BE49-F238E27FC236}">
                <a16:creationId xmlns:a16="http://schemas.microsoft.com/office/drawing/2014/main" id="{12AD274B-DD37-43FC-8020-70F9252E1D14}"/>
              </a:ext>
            </a:extLst>
          </p:cNvPr>
          <p:cNvSpPr>
            <a:spLocks noGrp="1"/>
          </p:cNvSpPr>
          <p:nvPr>
            <p:ph type="sldNum" sz="quarter" idx="4"/>
          </p:nvPr>
        </p:nvSpPr>
        <p:spPr/>
        <p:txBody>
          <a:bodyPr/>
          <a:lstStyle/>
          <a:p>
            <a:fld id="{565CE74E-AB26-4998-AD42-012C4C1AD076}" type="slidenum">
              <a:rPr lang="zh-CN" altLang="en-US" smtClean="0"/>
              <a:pPr/>
              <a:t>51</a:t>
            </a:fld>
            <a:endParaRPr lang="zh-CN" altLang="en-US"/>
          </a:p>
        </p:txBody>
      </p:sp>
    </p:spTree>
    <p:extLst>
      <p:ext uri="{BB962C8B-B14F-4D97-AF65-F5344CB8AC3E}">
        <p14:creationId xmlns:p14="http://schemas.microsoft.com/office/powerpoint/2010/main" val="3892702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Bottom)">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slide(fromBottom)">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slide(fromBottom)">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slide(fromBottom)">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slide(fromBottom)">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slide(fromBottom)">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slide(fromBottom)">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slide(fromBottom)">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slide(fromBottom)">
                                      <p:cBhvr>
                                        <p:cTn id="4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latin typeface="宋体" charset="-122"/>
              </a:rPr>
              <a:t>在赋值语句中加入数组元素的文法</a:t>
            </a:r>
            <a:endParaRPr lang="zh-CN" altLang="en-US" dirty="0"/>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数组元素引用</a:t>
            </a:r>
            <a:endParaRPr lang="zh-CN" altLang="en-US" dirty="0"/>
          </a:p>
        </p:txBody>
      </p:sp>
      <p:sp>
        <p:nvSpPr>
          <p:cNvPr id="4" name="Rectangle 8"/>
          <p:cNvSpPr txBox="1">
            <a:spLocks noChangeArrowheads="1"/>
          </p:cNvSpPr>
          <p:nvPr/>
        </p:nvSpPr>
        <p:spPr>
          <a:xfrm>
            <a:off x="477078" y="1421296"/>
            <a:ext cx="7772400" cy="4495800"/>
          </a:xfrm>
          <a:prstGeom prst="rect">
            <a:avLst/>
          </a:prstGeom>
          <a:noFill/>
          <a:ln/>
        </p:spPr>
        <p:txBody>
          <a:bodyPr vert="horz" lIns="92075" tIns="46038" rIns="92075" bIns="46038" rtlCol="0">
            <a:normAutofit lnSpcReduction="10000"/>
          </a:bodyPr>
          <a:lst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a:solidFill>
                  <a:srgbClr val="0206AD"/>
                </a:solidFill>
                <a:uFillTx/>
                <a:latin typeface="Times New Roman" panose="02020603050405020304" charset="0"/>
                <a:ea typeface="黑体" panose="02010609060101010101" charset="-122"/>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a:solidFill>
                  <a:srgbClr val="0066FF"/>
                </a:solidFill>
                <a:uFillTx/>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a:solidFill>
                  <a:srgbClr val="0206AD"/>
                </a:solidFill>
                <a:uFillTx/>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a:latin typeface="宋体" charset="-122"/>
              </a:rPr>
              <a:t>给定文法： </a:t>
            </a:r>
          </a:p>
          <a:p>
            <a:pPr>
              <a:buFontTx/>
              <a:buNone/>
            </a:pPr>
            <a:r>
              <a:rPr lang="zh-CN" altLang="en-US" sz="2800">
                <a:latin typeface="宋体" charset="-122"/>
              </a:rPr>
              <a:t>   （</a:t>
            </a:r>
            <a:r>
              <a:rPr lang="en-US" altLang="zh-CN" sz="2800">
                <a:latin typeface="宋体" charset="-122"/>
              </a:rPr>
              <a:t>1</a:t>
            </a:r>
            <a:r>
              <a:rPr lang="zh-CN" altLang="en-US" sz="2800">
                <a:latin typeface="宋体" charset="-122"/>
              </a:rPr>
              <a:t>）</a:t>
            </a:r>
            <a:r>
              <a:rPr lang="en-US" altLang="zh-CN" sz="2800">
                <a:latin typeface="宋体" charset="-122"/>
              </a:rPr>
              <a:t>S→L:= E  </a:t>
            </a:r>
            <a:r>
              <a:rPr lang="zh-CN" altLang="en-US" sz="2800">
                <a:latin typeface="宋体" charset="-122"/>
              </a:rPr>
              <a:t>赋值语句 </a:t>
            </a:r>
          </a:p>
          <a:p>
            <a:pPr>
              <a:buFontTx/>
              <a:buNone/>
            </a:pPr>
            <a:r>
              <a:rPr lang="zh-CN" altLang="en-US" sz="2800">
                <a:latin typeface="宋体" charset="-122"/>
              </a:rPr>
              <a:t>   （</a:t>
            </a:r>
            <a:r>
              <a:rPr lang="en-US" altLang="zh-CN" sz="2800">
                <a:latin typeface="宋体" charset="-122"/>
              </a:rPr>
              <a:t>2</a:t>
            </a:r>
            <a:r>
              <a:rPr lang="zh-CN" altLang="en-US" sz="2800">
                <a:latin typeface="宋体" charset="-122"/>
              </a:rPr>
              <a:t>）</a:t>
            </a:r>
            <a:r>
              <a:rPr lang="en-US" altLang="zh-CN" sz="2800">
                <a:latin typeface="宋体" charset="-122"/>
              </a:rPr>
              <a:t>E→E + E  </a:t>
            </a:r>
            <a:r>
              <a:rPr lang="zh-CN" altLang="en-US" sz="2800">
                <a:latin typeface="宋体" charset="-122"/>
              </a:rPr>
              <a:t>表达式</a:t>
            </a:r>
          </a:p>
          <a:p>
            <a:pPr>
              <a:buFontTx/>
              <a:buNone/>
            </a:pPr>
            <a:r>
              <a:rPr lang="zh-CN" altLang="en-US" sz="2800">
                <a:latin typeface="宋体" charset="-122"/>
              </a:rPr>
              <a:t>   （</a:t>
            </a:r>
            <a:r>
              <a:rPr lang="en-US" altLang="zh-CN" sz="2800">
                <a:latin typeface="宋体" charset="-122"/>
              </a:rPr>
              <a:t>3</a:t>
            </a:r>
            <a:r>
              <a:rPr lang="zh-CN" altLang="en-US" sz="2800">
                <a:latin typeface="宋体" charset="-122"/>
              </a:rPr>
              <a:t>）</a:t>
            </a:r>
            <a:r>
              <a:rPr lang="en-US" altLang="zh-CN" sz="2800">
                <a:latin typeface="宋体" charset="-122"/>
              </a:rPr>
              <a:t>E→</a:t>
            </a:r>
            <a:r>
              <a:rPr lang="zh-CN" altLang="en-US" sz="2800">
                <a:latin typeface="宋体" charset="-122"/>
              </a:rPr>
              <a:t>（</a:t>
            </a:r>
            <a:r>
              <a:rPr lang="en-US" altLang="zh-CN" sz="2800">
                <a:latin typeface="宋体" charset="-122"/>
              </a:rPr>
              <a:t>E</a:t>
            </a:r>
            <a:r>
              <a:rPr lang="zh-CN" altLang="en-US" sz="2800">
                <a:latin typeface="宋体" charset="-122"/>
              </a:rPr>
              <a:t>） </a:t>
            </a:r>
          </a:p>
          <a:p>
            <a:pPr>
              <a:buFontTx/>
              <a:buNone/>
            </a:pPr>
            <a:r>
              <a:rPr lang="zh-CN" altLang="en-US" sz="2800">
                <a:latin typeface="宋体" charset="-122"/>
              </a:rPr>
              <a:t>   （</a:t>
            </a:r>
            <a:r>
              <a:rPr lang="en-US" altLang="zh-CN" sz="2800">
                <a:latin typeface="宋体" charset="-122"/>
              </a:rPr>
              <a:t>4</a:t>
            </a:r>
            <a:r>
              <a:rPr lang="zh-CN" altLang="en-US" sz="2800">
                <a:latin typeface="宋体" charset="-122"/>
              </a:rPr>
              <a:t>）</a:t>
            </a:r>
            <a:r>
              <a:rPr lang="en-US" altLang="zh-CN" sz="2800">
                <a:latin typeface="宋体" charset="-122"/>
              </a:rPr>
              <a:t>E→L     </a:t>
            </a:r>
            <a:r>
              <a:rPr lang="zh-CN" altLang="en-US" sz="2800">
                <a:latin typeface="宋体" charset="-122"/>
              </a:rPr>
              <a:t>允许含有数组元素的表达式 </a:t>
            </a:r>
          </a:p>
          <a:p>
            <a:pPr>
              <a:buFontTx/>
              <a:buNone/>
            </a:pPr>
            <a:r>
              <a:rPr lang="zh-CN" altLang="en-US" sz="2800">
                <a:latin typeface="宋体" charset="-122"/>
              </a:rPr>
              <a:t>   （</a:t>
            </a:r>
            <a:r>
              <a:rPr lang="en-US" altLang="zh-CN" sz="2800">
                <a:latin typeface="宋体" charset="-122"/>
              </a:rPr>
              <a:t>5) L→Elist] </a:t>
            </a:r>
            <a:r>
              <a:rPr lang="zh-CN" altLang="en-US" sz="2800">
                <a:latin typeface="宋体" charset="-122"/>
              </a:rPr>
              <a:t>数组变量 </a:t>
            </a:r>
          </a:p>
          <a:p>
            <a:pPr>
              <a:buFontTx/>
              <a:buNone/>
            </a:pPr>
            <a:r>
              <a:rPr lang="zh-CN" altLang="en-US" sz="2800">
                <a:latin typeface="宋体" charset="-122"/>
              </a:rPr>
              <a:t>   （</a:t>
            </a:r>
            <a:r>
              <a:rPr lang="en-US" altLang="zh-CN" sz="2800">
                <a:latin typeface="宋体" charset="-122"/>
              </a:rPr>
              <a:t>6</a:t>
            </a:r>
            <a:r>
              <a:rPr lang="zh-CN" altLang="en-US" sz="2800">
                <a:latin typeface="宋体" charset="-122"/>
              </a:rPr>
              <a:t>）</a:t>
            </a:r>
            <a:r>
              <a:rPr lang="en-US" altLang="zh-CN" sz="2800">
                <a:latin typeface="宋体" charset="-122"/>
              </a:rPr>
              <a:t>L→id     </a:t>
            </a:r>
            <a:r>
              <a:rPr lang="zh-CN" altLang="en-US" sz="2800">
                <a:latin typeface="宋体" charset="-122"/>
              </a:rPr>
              <a:t>简单变量</a:t>
            </a:r>
          </a:p>
          <a:p>
            <a:pPr>
              <a:buFontTx/>
              <a:buNone/>
            </a:pPr>
            <a:r>
              <a:rPr lang="zh-CN" altLang="en-US" sz="2800">
                <a:latin typeface="宋体" charset="-122"/>
              </a:rPr>
              <a:t>   （</a:t>
            </a:r>
            <a:r>
              <a:rPr lang="en-US" altLang="zh-CN" sz="2800">
                <a:latin typeface="宋体" charset="-122"/>
              </a:rPr>
              <a:t>7</a:t>
            </a:r>
            <a:r>
              <a:rPr lang="zh-CN" altLang="en-US" sz="2800">
                <a:latin typeface="宋体" charset="-122"/>
              </a:rPr>
              <a:t>）</a:t>
            </a:r>
            <a:r>
              <a:rPr lang="en-US" altLang="zh-CN" sz="2800">
                <a:latin typeface="宋体" charset="-122"/>
              </a:rPr>
              <a:t>Elist→Elist</a:t>
            </a:r>
            <a:r>
              <a:rPr lang="zh-CN" altLang="en-US" sz="2800">
                <a:latin typeface="宋体" charset="-122"/>
              </a:rPr>
              <a:t>，</a:t>
            </a:r>
            <a:r>
              <a:rPr lang="en-US" altLang="zh-CN" sz="2800">
                <a:latin typeface="宋体" charset="-122"/>
              </a:rPr>
              <a:t>E  </a:t>
            </a:r>
            <a:r>
              <a:rPr lang="zh-CN" altLang="en-US" sz="2800">
                <a:latin typeface="宋体" charset="-122"/>
              </a:rPr>
              <a:t>扩大维数</a:t>
            </a:r>
          </a:p>
          <a:p>
            <a:pPr>
              <a:buFontTx/>
              <a:buNone/>
            </a:pPr>
            <a:r>
              <a:rPr lang="zh-CN" altLang="en-US" sz="2800">
                <a:latin typeface="宋体" charset="-122"/>
              </a:rPr>
              <a:t>   （</a:t>
            </a:r>
            <a:r>
              <a:rPr lang="en-US" altLang="zh-CN" sz="2800">
                <a:latin typeface="宋体" charset="-122"/>
              </a:rPr>
              <a:t>8</a:t>
            </a:r>
            <a:r>
              <a:rPr lang="zh-CN" altLang="en-US" sz="2800">
                <a:latin typeface="宋体" charset="-122"/>
              </a:rPr>
              <a:t>）</a:t>
            </a:r>
            <a:r>
              <a:rPr lang="en-US" altLang="zh-CN" sz="2800">
                <a:latin typeface="宋体" charset="-122"/>
              </a:rPr>
              <a:t>Elist→id[E      </a:t>
            </a:r>
            <a:r>
              <a:rPr lang="zh-CN" altLang="en-US" sz="2800">
                <a:latin typeface="宋体" charset="-122"/>
              </a:rPr>
              <a:t>数组头部</a:t>
            </a:r>
            <a:endParaRPr lang="zh-CN" altLang="en-US" sz="2800" dirty="0">
              <a:latin typeface="宋体" charset="-122"/>
            </a:endParaRPr>
          </a:p>
        </p:txBody>
      </p:sp>
      <p:sp>
        <p:nvSpPr>
          <p:cNvPr id="5" name="Line 9"/>
          <p:cNvSpPr>
            <a:spLocks noChangeShapeType="1"/>
          </p:cNvSpPr>
          <p:nvPr/>
        </p:nvSpPr>
        <p:spPr bwMode="auto">
          <a:xfrm flipH="1">
            <a:off x="3220278" y="5618922"/>
            <a:ext cx="228600" cy="831574"/>
          </a:xfrm>
          <a:prstGeom prst="line">
            <a:avLst/>
          </a:prstGeom>
          <a:noFill/>
          <a:ln w="381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Rectangle 10"/>
          <p:cNvSpPr>
            <a:spLocks noChangeArrowheads="1"/>
          </p:cNvSpPr>
          <p:nvPr/>
        </p:nvSpPr>
        <p:spPr bwMode="auto">
          <a:xfrm>
            <a:off x="2610678" y="6388584"/>
            <a:ext cx="12557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zh-CN" altLang="en-US" sz="2800">
                <a:solidFill>
                  <a:srgbClr val="0000FF"/>
                </a:solidFill>
                <a:effectLst>
                  <a:outerShdw blurRad="38100" dist="38100" dir="2700000" algn="tl">
                    <a:srgbClr val="C0C0C0"/>
                  </a:outerShdw>
                </a:effectLst>
                <a:latin typeface="宋体" charset="-122"/>
              </a:rPr>
              <a:t>数组名</a:t>
            </a:r>
          </a:p>
        </p:txBody>
      </p:sp>
      <p:sp>
        <p:nvSpPr>
          <p:cNvPr id="7" name="Line 11"/>
          <p:cNvSpPr>
            <a:spLocks noChangeShapeType="1"/>
          </p:cNvSpPr>
          <p:nvPr/>
        </p:nvSpPr>
        <p:spPr bwMode="auto">
          <a:xfrm>
            <a:off x="3982278" y="5526157"/>
            <a:ext cx="762000" cy="924339"/>
          </a:xfrm>
          <a:prstGeom prst="line">
            <a:avLst/>
          </a:prstGeom>
          <a:noFill/>
          <a:ln w="381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Rectangle 12"/>
          <p:cNvSpPr>
            <a:spLocks noChangeArrowheads="1"/>
          </p:cNvSpPr>
          <p:nvPr/>
        </p:nvSpPr>
        <p:spPr bwMode="auto">
          <a:xfrm>
            <a:off x="4287078" y="6374296"/>
            <a:ext cx="19700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zh-CN" altLang="en-US" sz="2800">
                <a:solidFill>
                  <a:srgbClr val="0000FF"/>
                </a:solidFill>
                <a:effectLst>
                  <a:outerShdw blurRad="38100" dist="38100" dir="2700000" algn="tl">
                    <a:srgbClr val="C0C0C0"/>
                  </a:outerShdw>
                </a:effectLst>
                <a:latin typeface="宋体" charset="-122"/>
              </a:rPr>
              <a:t>第一维下标</a:t>
            </a:r>
          </a:p>
        </p:txBody>
      </p:sp>
      <p:sp>
        <p:nvSpPr>
          <p:cNvPr id="9" name="灯片编号占位符 8">
            <a:extLst>
              <a:ext uri="{FF2B5EF4-FFF2-40B4-BE49-F238E27FC236}">
                <a16:creationId xmlns:a16="http://schemas.microsoft.com/office/drawing/2014/main" id="{4A9FA20C-43C7-48DC-8512-CF0DD48E8BAF}"/>
              </a:ext>
            </a:extLst>
          </p:cNvPr>
          <p:cNvSpPr>
            <a:spLocks noGrp="1"/>
          </p:cNvSpPr>
          <p:nvPr>
            <p:ph type="sldNum" sz="quarter" idx="4"/>
          </p:nvPr>
        </p:nvSpPr>
        <p:spPr/>
        <p:txBody>
          <a:bodyPr/>
          <a:lstStyle/>
          <a:p>
            <a:fld id="{565CE74E-AB26-4998-AD42-012C4C1AD076}" type="slidenum">
              <a:rPr lang="zh-CN" altLang="en-US" smtClean="0"/>
              <a:pPr/>
              <a:t>52</a:t>
            </a:fld>
            <a:endParaRPr lang="zh-CN" altLang="en-US"/>
          </a:p>
        </p:txBody>
      </p:sp>
    </p:spTree>
    <p:extLst>
      <p:ext uri="{BB962C8B-B14F-4D97-AF65-F5344CB8AC3E}">
        <p14:creationId xmlns:p14="http://schemas.microsoft.com/office/powerpoint/2010/main" val="34985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Bottom)">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slide(fromBottom)">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slide(fromBottom)">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slide(fromBottom)">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slide(fromBottom)">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slide(fromBottom)">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slide(fromBottom)">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slide(fromBottom)">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slide(fromBottom)">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12" fill="hold" grpId="0"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strips(downLeft)">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6">
                                            <p:txEl>
                                              <p:pRg st="0" end="0"/>
                                            </p:txEl>
                                          </p:spTgt>
                                        </p:tgtEl>
                                        <p:attrNameLst>
                                          <p:attrName>style.visibility</p:attrName>
                                        </p:attrNameLst>
                                      </p:cBhvr>
                                      <p:to>
                                        <p:strVal val="visible"/>
                                      </p:to>
                                    </p:set>
                                    <p:animEffect transition="in" filter="slide(fromBottom)">
                                      <p:cBhvr>
                                        <p:cTn id="57" dur="500"/>
                                        <p:tgtEl>
                                          <p:spTgt spid="6">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6" fill="hold" grpId="0"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strips(downRight)">
                                      <p:cBhvr>
                                        <p:cTn id="62" dur="500"/>
                                        <p:tgtEl>
                                          <p:spTgt spid="7"/>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8">
                                            <p:txEl>
                                              <p:pRg st="0" end="0"/>
                                            </p:txEl>
                                          </p:spTgt>
                                        </p:tgtEl>
                                        <p:attrNameLst>
                                          <p:attrName>style.visibility</p:attrName>
                                        </p:attrNameLst>
                                      </p:cBhvr>
                                      <p:to>
                                        <p:strVal val="visible"/>
                                      </p:to>
                                    </p:set>
                                    <p:animEffect transition="in" filter="slide(fromBottom)">
                                      <p:cBhvr>
                                        <p:cTn id="6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5" grpId="0" animBg="1"/>
      <p:bldP spid="6" grpId="0" build="p" autoUpdateAnimBg="0"/>
      <p:bldP spid="7" grpId="0" animBg="1"/>
      <p:bldP spid="8"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solidFill>
                  <a:srgbClr val="FF0000"/>
                </a:solidFill>
                <a:effectLst>
                  <a:outerShdw blurRad="38100" dist="38100" dir="2700000" algn="tl">
                    <a:srgbClr val="C0C0C0"/>
                  </a:outerShdw>
                </a:effectLst>
                <a:latin typeface="宋体" charset="-122"/>
              </a:rPr>
              <a:t>有关变量与函数的说明</a:t>
            </a:r>
            <a:endParaRPr lang="zh-CN" altLang="en-US" dirty="0">
              <a:solidFill>
                <a:srgbClr val="FF0000"/>
              </a:solidFill>
            </a:endParaRPr>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数组元素引用</a:t>
            </a:r>
            <a:endParaRPr lang="zh-CN" altLang="en-US" dirty="0"/>
          </a:p>
        </p:txBody>
      </p:sp>
      <p:sp>
        <p:nvSpPr>
          <p:cNvPr id="4" name="Rectangle 8"/>
          <p:cNvSpPr txBox="1">
            <a:spLocks noChangeArrowheads="1"/>
          </p:cNvSpPr>
          <p:nvPr/>
        </p:nvSpPr>
        <p:spPr>
          <a:xfrm>
            <a:off x="583096" y="1364974"/>
            <a:ext cx="8305800" cy="3810000"/>
          </a:xfrm>
          <a:prstGeom prst="rect">
            <a:avLst/>
          </a:prstGeom>
          <a:noFill/>
          <a:ln/>
        </p:spPr>
        <p:txBody>
          <a:bodyPr vert="horz" lIns="92075" tIns="46038" rIns="92075" bIns="46038" rtlCol="0">
            <a:normAutofit/>
          </a:bodyPr>
          <a:lst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a:solidFill>
                  <a:srgbClr val="0206AD"/>
                </a:solidFill>
                <a:uFillTx/>
                <a:latin typeface="Times New Roman" panose="02020603050405020304" charset="0"/>
                <a:ea typeface="黑体" panose="02010609060101010101" charset="-122"/>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a:solidFill>
                  <a:srgbClr val="0066FF"/>
                </a:solidFill>
                <a:uFillTx/>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a:solidFill>
                  <a:srgbClr val="0206AD"/>
                </a:solidFill>
                <a:uFillTx/>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800">
                <a:latin typeface="宋体" charset="-122"/>
              </a:rPr>
              <a:t>Elist.array</a:t>
            </a:r>
            <a:r>
              <a:rPr lang="zh-CN" altLang="en-US" sz="2800">
                <a:latin typeface="宋体" charset="-122"/>
              </a:rPr>
              <a:t>：</a:t>
            </a:r>
            <a:r>
              <a:rPr lang="en-US" altLang="zh-CN" sz="2800">
                <a:latin typeface="宋体" charset="-122"/>
              </a:rPr>
              <a:t>Elist</a:t>
            </a:r>
            <a:r>
              <a:rPr lang="zh-CN" altLang="en-US" sz="2800">
                <a:latin typeface="宋体" charset="-122"/>
              </a:rPr>
              <a:t>的综合属性，用来记录</a:t>
            </a:r>
            <a:r>
              <a:rPr lang="zh-CN" altLang="zh-CN" sz="2800">
                <a:latin typeface="宋体" charset="-122"/>
              </a:rPr>
              <a:t>指向</a:t>
            </a:r>
            <a:r>
              <a:rPr lang="zh-CN" altLang="en-US" sz="2800">
                <a:latin typeface="宋体" charset="-122"/>
              </a:rPr>
              <a:t>               </a:t>
            </a:r>
            <a:r>
              <a:rPr lang="zh-CN" altLang="zh-CN" sz="2800">
                <a:latin typeface="宋体" charset="-122"/>
              </a:rPr>
              <a:t>符号表中</a:t>
            </a:r>
            <a:r>
              <a:rPr lang="zh-CN" altLang="en-US" sz="2800">
                <a:latin typeface="宋体" charset="-122"/>
              </a:rPr>
              <a:t>数组名字表项的指针</a:t>
            </a:r>
          </a:p>
          <a:p>
            <a:r>
              <a:rPr lang="en-US" altLang="zh-CN" sz="2800">
                <a:latin typeface="宋体" charset="-122"/>
              </a:rPr>
              <a:t>Elist.ndim</a:t>
            </a:r>
            <a:r>
              <a:rPr lang="zh-CN" altLang="en-US" sz="2800">
                <a:latin typeface="宋体" charset="-122"/>
              </a:rPr>
              <a:t>：记录</a:t>
            </a:r>
            <a:r>
              <a:rPr lang="en-US" altLang="zh-CN" sz="2800">
                <a:latin typeface="宋体" charset="-122"/>
              </a:rPr>
              <a:t>Elist</a:t>
            </a:r>
            <a:r>
              <a:rPr lang="zh-CN" altLang="en-US" sz="2800">
                <a:latin typeface="宋体" charset="-122"/>
              </a:rPr>
              <a:t>中的下标表达式的个数，              即维数</a:t>
            </a:r>
          </a:p>
          <a:p>
            <a:r>
              <a:rPr lang="en-US" altLang="zh-CN" sz="2800">
                <a:latin typeface="宋体" charset="-122"/>
              </a:rPr>
              <a:t>Elist.place</a:t>
            </a:r>
            <a:r>
              <a:rPr lang="zh-CN" altLang="en-US" sz="2800">
                <a:latin typeface="宋体" charset="-122"/>
              </a:rPr>
              <a:t>：临时变量，用来临时存放由</a:t>
            </a:r>
            <a:r>
              <a:rPr lang="en-US" altLang="zh-CN" sz="2800">
                <a:latin typeface="宋体" charset="-122"/>
              </a:rPr>
              <a:t>Elist               </a:t>
            </a:r>
            <a:r>
              <a:rPr lang="zh-CN" altLang="en-US" sz="2800">
                <a:latin typeface="宋体" charset="-122"/>
              </a:rPr>
              <a:t>中的下标表达式计算出来的值 </a:t>
            </a:r>
          </a:p>
          <a:p>
            <a:r>
              <a:rPr lang="zh-CN" altLang="en-US" sz="2800">
                <a:latin typeface="宋体" charset="-122"/>
              </a:rPr>
              <a:t>函数</a:t>
            </a:r>
            <a:r>
              <a:rPr lang="en-US" altLang="zh-CN" sz="2800">
                <a:latin typeface="宋体" charset="-122"/>
              </a:rPr>
              <a:t>limit(array,j)</a:t>
            </a:r>
            <a:r>
              <a:rPr lang="zh-CN" altLang="en-US" sz="2800">
                <a:latin typeface="宋体" charset="-122"/>
              </a:rPr>
              <a:t>：返回</a:t>
            </a:r>
            <a:r>
              <a:rPr lang="en-US" altLang="zh-CN" sz="2800">
                <a:latin typeface="宋体" charset="-122"/>
              </a:rPr>
              <a:t>nj</a:t>
            </a:r>
            <a:r>
              <a:rPr lang="zh-CN" altLang="en-US" sz="2800">
                <a:latin typeface="宋体" charset="-122"/>
              </a:rPr>
              <a:t>，即由</a:t>
            </a:r>
            <a:r>
              <a:rPr lang="en-US" altLang="zh-CN" sz="2800">
                <a:latin typeface="宋体" charset="-122"/>
              </a:rPr>
              <a:t>array</a:t>
            </a:r>
            <a:r>
              <a:rPr lang="zh-CN" altLang="en-US" sz="2800">
                <a:latin typeface="宋体" charset="-122"/>
              </a:rPr>
              <a:t>所指示                      的数组的第</a:t>
            </a:r>
            <a:r>
              <a:rPr lang="en-US" altLang="zh-CN" sz="2800">
                <a:latin typeface="宋体" charset="-122"/>
              </a:rPr>
              <a:t>j</a:t>
            </a:r>
            <a:r>
              <a:rPr lang="zh-CN" altLang="en-US" sz="2800">
                <a:latin typeface="宋体" charset="-122"/>
              </a:rPr>
              <a:t>维界差 </a:t>
            </a:r>
            <a:endParaRPr lang="zh-CN" altLang="en-US" sz="2800" dirty="0">
              <a:latin typeface="宋体" charset="-122"/>
            </a:endParaRPr>
          </a:p>
        </p:txBody>
      </p:sp>
      <p:sp>
        <p:nvSpPr>
          <p:cNvPr id="5" name="Rectangle 9"/>
          <p:cNvSpPr>
            <a:spLocks noChangeArrowheads="1"/>
          </p:cNvSpPr>
          <p:nvPr/>
        </p:nvSpPr>
        <p:spPr bwMode="auto">
          <a:xfrm>
            <a:off x="1040296" y="5174974"/>
            <a:ext cx="76200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80000"/>
              </a:lnSpc>
              <a:spcBef>
                <a:spcPct val="20000"/>
              </a:spcBef>
              <a:buClr>
                <a:schemeClr val="tx2"/>
              </a:buClr>
              <a:buFont typeface="Monotype Sorts" pitchFamily="2" charset="2"/>
              <a:buBlip>
                <a:blip r:embed="rId2"/>
              </a:buBlip>
            </a:pPr>
            <a:r>
              <a:rPr kumimoji="1" lang="zh-CN" altLang="en-US" sz="2800" dirty="0">
                <a:effectLst>
                  <a:outerShdw blurRad="38100" dist="38100" dir="2700000" algn="tl">
                    <a:srgbClr val="C0C0C0"/>
                  </a:outerShdw>
                </a:effectLst>
                <a:latin typeface="宋体" charset="-122"/>
              </a:rPr>
              <a:t>若</a:t>
            </a:r>
            <a:r>
              <a:rPr kumimoji="1" lang="en-US" altLang="zh-CN" sz="2800" dirty="0">
                <a:effectLst>
                  <a:outerShdw blurRad="38100" dist="38100" dir="2700000" algn="tl">
                    <a:srgbClr val="C0C0C0"/>
                  </a:outerShdw>
                </a:effectLst>
                <a:latin typeface="宋体" charset="-122"/>
              </a:rPr>
              <a:t>L</a:t>
            </a:r>
            <a:r>
              <a:rPr kumimoji="1" lang="zh-CN" altLang="en-US" sz="2800" dirty="0">
                <a:effectLst>
                  <a:outerShdw blurRad="38100" dist="38100" dir="2700000" algn="tl">
                    <a:srgbClr val="C0C0C0"/>
                  </a:outerShdw>
                </a:effectLst>
                <a:latin typeface="宋体" charset="-122"/>
              </a:rPr>
              <a:t>是数组，</a:t>
            </a:r>
            <a:r>
              <a:rPr kumimoji="1" lang="en-US" altLang="zh-CN" sz="2800" dirty="0" err="1">
                <a:effectLst>
                  <a:outerShdw blurRad="38100" dist="38100" dir="2700000" algn="tl">
                    <a:srgbClr val="C0C0C0"/>
                  </a:outerShdw>
                </a:effectLst>
                <a:latin typeface="宋体" charset="-122"/>
              </a:rPr>
              <a:t>L.place</a:t>
            </a:r>
            <a:r>
              <a:rPr kumimoji="1" lang="zh-CN" altLang="en-US" sz="2800" dirty="0">
                <a:effectLst>
                  <a:outerShdw blurRad="38100" dist="38100" dir="2700000" algn="tl">
                    <a:srgbClr val="C0C0C0"/>
                  </a:outerShdw>
                </a:effectLst>
                <a:latin typeface="宋体" charset="-122"/>
              </a:rPr>
              <a:t>：数组地址的不变部分</a:t>
            </a:r>
          </a:p>
          <a:p>
            <a:pPr eaLnBrk="0" hangingPunct="0">
              <a:lnSpc>
                <a:spcPct val="80000"/>
              </a:lnSpc>
              <a:spcBef>
                <a:spcPct val="20000"/>
              </a:spcBef>
              <a:buClr>
                <a:schemeClr val="tx2"/>
              </a:buClr>
              <a:buSzPct val="75000"/>
              <a:buFont typeface="Monotype Sorts" pitchFamily="2" charset="2"/>
              <a:buNone/>
            </a:pPr>
            <a:r>
              <a:rPr kumimoji="1" lang="zh-CN" altLang="en-US" sz="2800" dirty="0">
                <a:effectLst>
                  <a:outerShdw blurRad="38100" dist="38100" dir="2700000" algn="tl">
                    <a:srgbClr val="C0C0C0"/>
                  </a:outerShdw>
                </a:effectLst>
                <a:latin typeface="宋体" charset="-122"/>
              </a:rPr>
              <a:t>             </a:t>
            </a:r>
            <a:r>
              <a:rPr kumimoji="1" lang="en-US" altLang="zh-CN" sz="2800" dirty="0" err="1">
                <a:effectLst>
                  <a:outerShdw blurRad="38100" dist="38100" dir="2700000" algn="tl">
                    <a:srgbClr val="C0C0C0"/>
                  </a:outerShdw>
                </a:effectLst>
                <a:latin typeface="宋体" charset="-122"/>
              </a:rPr>
              <a:t>L.offset</a:t>
            </a:r>
            <a:r>
              <a:rPr kumimoji="1" lang="en-US" altLang="zh-CN" sz="2800" dirty="0">
                <a:effectLst>
                  <a:outerShdw blurRad="38100" dist="38100" dir="2700000" algn="tl">
                    <a:srgbClr val="C0C0C0"/>
                  </a:outerShdw>
                </a:effectLst>
                <a:latin typeface="宋体" charset="-122"/>
              </a:rPr>
              <a:t>:</a:t>
            </a:r>
            <a:r>
              <a:rPr kumimoji="1" lang="zh-CN" altLang="en-US" sz="2800" dirty="0">
                <a:effectLst>
                  <a:outerShdw blurRad="38100" dist="38100" dir="2700000" algn="tl">
                    <a:srgbClr val="C0C0C0"/>
                  </a:outerShdw>
                </a:effectLst>
                <a:latin typeface="宋体" charset="-122"/>
              </a:rPr>
              <a:t>数组地址的可变部分</a:t>
            </a:r>
          </a:p>
          <a:p>
            <a:pPr eaLnBrk="0" hangingPunct="0">
              <a:lnSpc>
                <a:spcPct val="80000"/>
              </a:lnSpc>
              <a:spcBef>
                <a:spcPct val="20000"/>
              </a:spcBef>
              <a:buClr>
                <a:schemeClr val="tx2"/>
              </a:buClr>
              <a:buFont typeface="Monotype Sorts" pitchFamily="2" charset="2"/>
              <a:buBlip>
                <a:blip r:embed="rId2"/>
              </a:buBlip>
            </a:pPr>
            <a:r>
              <a:rPr kumimoji="1" lang="zh-CN" altLang="en-US" sz="2800" dirty="0">
                <a:effectLst>
                  <a:outerShdw blurRad="38100" dist="38100" dir="2700000" algn="tl">
                    <a:srgbClr val="C0C0C0"/>
                  </a:outerShdw>
                </a:effectLst>
                <a:latin typeface="宋体" charset="-122"/>
              </a:rPr>
              <a:t>若</a:t>
            </a:r>
            <a:r>
              <a:rPr kumimoji="1" lang="en-US" altLang="zh-CN" sz="2800" dirty="0">
                <a:effectLst>
                  <a:outerShdw blurRad="38100" dist="38100" dir="2700000" algn="tl">
                    <a:srgbClr val="C0C0C0"/>
                  </a:outerShdw>
                </a:effectLst>
                <a:latin typeface="宋体" charset="-122"/>
              </a:rPr>
              <a:t>L</a:t>
            </a:r>
            <a:r>
              <a:rPr kumimoji="1" lang="zh-CN" altLang="en-US" sz="2800" dirty="0">
                <a:effectLst>
                  <a:outerShdw blurRad="38100" dist="38100" dir="2700000" algn="tl">
                    <a:srgbClr val="C0C0C0"/>
                  </a:outerShdw>
                </a:effectLst>
                <a:latin typeface="宋体" charset="-122"/>
              </a:rPr>
              <a:t>是简单变量，</a:t>
            </a:r>
            <a:r>
              <a:rPr kumimoji="1" lang="en-US" altLang="zh-CN" sz="2800" dirty="0" err="1">
                <a:effectLst>
                  <a:outerShdw blurRad="38100" dist="38100" dir="2700000" algn="tl">
                    <a:srgbClr val="C0C0C0"/>
                  </a:outerShdw>
                </a:effectLst>
                <a:latin typeface="宋体" charset="-122"/>
              </a:rPr>
              <a:t>L.place</a:t>
            </a:r>
            <a:r>
              <a:rPr kumimoji="1" lang="en-US" altLang="zh-CN" sz="2800" dirty="0">
                <a:effectLst>
                  <a:outerShdw blurRad="38100" dist="38100" dir="2700000" algn="tl">
                    <a:srgbClr val="C0C0C0"/>
                  </a:outerShdw>
                </a:effectLst>
                <a:latin typeface="宋体" charset="-122"/>
              </a:rPr>
              <a:t>:</a:t>
            </a:r>
            <a:r>
              <a:rPr kumimoji="1" lang="zh-CN" altLang="en-US" sz="2800" dirty="0">
                <a:effectLst>
                  <a:outerShdw blurRad="38100" dist="38100" dir="2700000" algn="tl">
                    <a:srgbClr val="C0C0C0"/>
                  </a:outerShdw>
                </a:effectLst>
                <a:latin typeface="宋体" charset="-122"/>
              </a:rPr>
              <a:t>简单变量的名字</a:t>
            </a:r>
          </a:p>
          <a:p>
            <a:pPr eaLnBrk="0" hangingPunct="0">
              <a:lnSpc>
                <a:spcPct val="80000"/>
              </a:lnSpc>
              <a:spcBef>
                <a:spcPct val="20000"/>
              </a:spcBef>
              <a:buClr>
                <a:schemeClr val="tx2"/>
              </a:buClr>
              <a:buSzPct val="75000"/>
              <a:buFont typeface="Monotype Sorts" pitchFamily="2" charset="2"/>
              <a:buNone/>
            </a:pPr>
            <a:r>
              <a:rPr kumimoji="1" lang="zh-CN" altLang="en-US" sz="2800" dirty="0">
                <a:effectLst>
                  <a:outerShdw blurRad="38100" dist="38100" dir="2700000" algn="tl">
                    <a:srgbClr val="C0C0C0"/>
                  </a:outerShdw>
                </a:effectLst>
                <a:latin typeface="宋体" charset="-122"/>
              </a:rPr>
              <a:t>                 </a:t>
            </a:r>
            <a:r>
              <a:rPr kumimoji="1" lang="en-US" altLang="zh-CN" sz="2800" dirty="0" err="1">
                <a:effectLst>
                  <a:outerShdw blurRad="38100" dist="38100" dir="2700000" algn="tl">
                    <a:srgbClr val="C0C0C0"/>
                  </a:outerShdw>
                </a:effectLst>
                <a:latin typeface="宋体" charset="-122"/>
              </a:rPr>
              <a:t>L.offset:null</a:t>
            </a:r>
            <a:r>
              <a:rPr kumimoji="1" lang="en-US" altLang="zh-CN" sz="2800" dirty="0">
                <a:effectLst>
                  <a:outerShdw blurRad="38100" dist="38100" dir="2700000" algn="tl">
                    <a:srgbClr val="C0C0C0"/>
                  </a:outerShdw>
                </a:effectLst>
                <a:latin typeface="宋体" charset="-122"/>
              </a:rPr>
              <a:t>(</a:t>
            </a:r>
            <a:r>
              <a:rPr kumimoji="1" lang="zh-CN" altLang="en-US" sz="2800" dirty="0">
                <a:effectLst>
                  <a:outerShdw blurRad="38100" dist="38100" dir="2700000" algn="tl">
                    <a:srgbClr val="C0C0C0"/>
                  </a:outerShdw>
                </a:effectLst>
                <a:latin typeface="宋体" charset="-122"/>
              </a:rPr>
              <a:t>空值</a:t>
            </a:r>
            <a:r>
              <a:rPr kumimoji="1" lang="en-US" altLang="zh-CN" sz="2800" dirty="0">
                <a:effectLst>
                  <a:outerShdw blurRad="38100" dist="38100" dir="2700000" algn="tl">
                    <a:srgbClr val="C0C0C0"/>
                  </a:outerShdw>
                </a:effectLst>
                <a:latin typeface="宋体" charset="-122"/>
              </a:rPr>
              <a:t>)                  </a:t>
            </a:r>
          </a:p>
        </p:txBody>
      </p:sp>
      <p:sp>
        <p:nvSpPr>
          <p:cNvPr id="6" name="灯片编号占位符 5">
            <a:extLst>
              <a:ext uri="{FF2B5EF4-FFF2-40B4-BE49-F238E27FC236}">
                <a16:creationId xmlns:a16="http://schemas.microsoft.com/office/drawing/2014/main" id="{7F56F0DA-A832-4DB3-A814-D2C6AA63364B}"/>
              </a:ext>
            </a:extLst>
          </p:cNvPr>
          <p:cNvSpPr>
            <a:spLocks noGrp="1"/>
          </p:cNvSpPr>
          <p:nvPr>
            <p:ph type="sldNum" sz="quarter" idx="4"/>
          </p:nvPr>
        </p:nvSpPr>
        <p:spPr/>
        <p:txBody>
          <a:bodyPr/>
          <a:lstStyle/>
          <a:p>
            <a:fld id="{565CE74E-AB26-4998-AD42-012C4C1AD076}" type="slidenum">
              <a:rPr lang="zh-CN" altLang="en-US" smtClean="0"/>
              <a:pPr/>
              <a:t>53</a:t>
            </a:fld>
            <a:endParaRPr lang="zh-CN" altLang="en-US"/>
          </a:p>
        </p:txBody>
      </p:sp>
    </p:spTree>
    <p:extLst>
      <p:ext uri="{BB962C8B-B14F-4D97-AF65-F5344CB8AC3E}">
        <p14:creationId xmlns:p14="http://schemas.microsoft.com/office/powerpoint/2010/main" val="4182926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Bottom)">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slide(fromBottom)">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slide(fromBottom)">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slide(fromBottom)">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slide(fromBottom)">
                                      <p:cBhvr>
                                        <p:cTn id="27" dur="500"/>
                                        <p:tgtEl>
                                          <p:spTgt spid="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5">
                                            <p:txEl>
                                              <p:pRg st="1" end="1"/>
                                            </p:txEl>
                                          </p:spTgt>
                                        </p:tgtEl>
                                        <p:attrNameLst>
                                          <p:attrName>style.visibility</p:attrName>
                                        </p:attrNameLst>
                                      </p:cBhvr>
                                      <p:to>
                                        <p:strVal val="visible"/>
                                      </p:to>
                                    </p:set>
                                    <p:animEffect transition="in" filter="slide(fromBottom)">
                                      <p:cBhvr>
                                        <p:cTn id="32" dur="500"/>
                                        <p:tgtEl>
                                          <p:spTgt spid="5">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5">
                                            <p:txEl>
                                              <p:pRg st="2" end="2"/>
                                            </p:txEl>
                                          </p:spTgt>
                                        </p:tgtEl>
                                        <p:attrNameLst>
                                          <p:attrName>style.visibility</p:attrName>
                                        </p:attrNameLst>
                                      </p:cBhvr>
                                      <p:to>
                                        <p:strVal val="visible"/>
                                      </p:to>
                                    </p:set>
                                    <p:animEffect transition="in" filter="slide(fromBottom)">
                                      <p:cBhvr>
                                        <p:cTn id="37" dur="500"/>
                                        <p:tgtEl>
                                          <p:spTgt spid="5">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5">
                                            <p:txEl>
                                              <p:pRg st="3" end="3"/>
                                            </p:txEl>
                                          </p:spTgt>
                                        </p:tgtEl>
                                        <p:attrNameLst>
                                          <p:attrName>style.visibility</p:attrName>
                                        </p:attrNameLst>
                                      </p:cBhvr>
                                      <p:to>
                                        <p:strVal val="visible"/>
                                      </p:to>
                                    </p:set>
                                    <p:animEffect transition="in" filter="slide(fromBottom)">
                                      <p:cBhvr>
                                        <p:cTn id="4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5"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375919" y="793750"/>
            <a:ext cx="8569297" cy="5563235"/>
          </a:xfrm>
        </p:spPr>
        <p:txBody>
          <a:bodyPr/>
          <a:lstStyle/>
          <a:p>
            <a:r>
              <a:rPr lang="zh-CN" altLang="en-US" dirty="0">
                <a:latin typeface="宋体" charset="-122"/>
              </a:rPr>
              <a:t>布尔表达式的作用</a:t>
            </a:r>
          </a:p>
          <a:p>
            <a:pPr lvl="1"/>
            <a:r>
              <a:rPr lang="zh-CN" altLang="en-US" dirty="0">
                <a:latin typeface="宋体" charset="-122"/>
              </a:rPr>
              <a:t>计算</a:t>
            </a:r>
            <a:r>
              <a:rPr lang="zh-CN" altLang="en-US" dirty="0">
                <a:solidFill>
                  <a:srgbClr val="FF0000"/>
                </a:solidFill>
                <a:latin typeface="宋体" charset="-122"/>
              </a:rPr>
              <a:t>逻辑值</a:t>
            </a:r>
          </a:p>
          <a:p>
            <a:pPr lvl="1"/>
            <a:r>
              <a:rPr lang="zh-CN" altLang="en-US" dirty="0">
                <a:latin typeface="宋体" charset="-122"/>
              </a:rPr>
              <a:t>控制流语句如</a:t>
            </a:r>
            <a:r>
              <a:rPr lang="en-US" altLang="zh-CN" dirty="0">
                <a:latin typeface="宋体" charset="-122"/>
              </a:rPr>
              <a:t>if-then</a:t>
            </a:r>
            <a:r>
              <a:rPr lang="zh-CN" altLang="en-US" dirty="0">
                <a:latin typeface="宋体" charset="-122"/>
              </a:rPr>
              <a:t>，</a:t>
            </a:r>
            <a:r>
              <a:rPr lang="en-US" altLang="zh-CN" dirty="0">
                <a:latin typeface="宋体" charset="-122"/>
              </a:rPr>
              <a:t>if-then-else</a:t>
            </a:r>
            <a:r>
              <a:rPr lang="zh-CN" altLang="en-US" dirty="0">
                <a:latin typeface="宋体" charset="-122"/>
              </a:rPr>
              <a:t>和</a:t>
            </a:r>
            <a:r>
              <a:rPr lang="en-US" altLang="zh-CN" dirty="0">
                <a:latin typeface="宋体" charset="-122"/>
              </a:rPr>
              <a:t>while-do</a:t>
            </a:r>
            <a:r>
              <a:rPr lang="zh-CN" altLang="en-US" dirty="0">
                <a:latin typeface="宋体" charset="-122"/>
              </a:rPr>
              <a:t>等之中的</a:t>
            </a:r>
            <a:r>
              <a:rPr lang="zh-CN" altLang="en-US" dirty="0">
                <a:solidFill>
                  <a:srgbClr val="009900"/>
                </a:solidFill>
                <a:latin typeface="宋体" charset="-122"/>
              </a:rPr>
              <a:t>条件表达式</a:t>
            </a:r>
          </a:p>
          <a:p>
            <a:r>
              <a:rPr lang="zh-CN" altLang="en-US" dirty="0">
                <a:latin typeface="宋体" charset="-122"/>
              </a:rPr>
              <a:t>例如</a:t>
            </a:r>
          </a:p>
          <a:p>
            <a:pPr lvl="1"/>
            <a:r>
              <a:rPr lang="en-US" altLang="zh-CN" dirty="0">
                <a:solidFill>
                  <a:srgbClr val="FF0000"/>
                </a:solidFill>
                <a:latin typeface="宋体" charset="-122"/>
              </a:rPr>
              <a:t>1 or ( not 0 and 0 ) or 0</a:t>
            </a:r>
          </a:p>
          <a:p>
            <a:pPr lvl="1"/>
            <a:r>
              <a:rPr lang="en-US" altLang="zh-CN" dirty="0">
                <a:solidFill>
                  <a:srgbClr val="FF0000"/>
                </a:solidFill>
                <a:latin typeface="宋体" charset="-122"/>
              </a:rPr>
              <a:t>a&lt;b or c&lt;d and e&lt;f</a:t>
            </a:r>
          </a:p>
          <a:p>
            <a:pPr lvl="1"/>
            <a:r>
              <a:rPr lang="en-US" altLang="zh-CN" dirty="0">
                <a:latin typeface="宋体" charset="-122"/>
              </a:rPr>
              <a:t>if </a:t>
            </a:r>
            <a:r>
              <a:rPr lang="en-US" altLang="zh-CN" dirty="0">
                <a:solidFill>
                  <a:srgbClr val="009900"/>
                </a:solidFill>
                <a:latin typeface="宋体" charset="-122"/>
              </a:rPr>
              <a:t>a&lt;b or c&lt;d and e&lt;f</a:t>
            </a:r>
            <a:r>
              <a:rPr lang="en-US" altLang="zh-CN" dirty="0">
                <a:latin typeface="宋体" charset="-122"/>
              </a:rPr>
              <a:t> then x:=1 else x:=-1</a:t>
            </a:r>
          </a:p>
          <a:p>
            <a:pPr lvl="1"/>
            <a:r>
              <a:rPr lang="en-US" altLang="zh-CN" dirty="0">
                <a:latin typeface="宋体" charset="-122"/>
              </a:rPr>
              <a:t>while </a:t>
            </a:r>
            <a:r>
              <a:rPr lang="en-US" altLang="zh-CN" dirty="0">
                <a:solidFill>
                  <a:srgbClr val="009900"/>
                </a:solidFill>
                <a:latin typeface="宋体" charset="-122"/>
              </a:rPr>
              <a:t>a&lt;b </a:t>
            </a:r>
            <a:r>
              <a:rPr lang="en-US" altLang="zh-CN" dirty="0">
                <a:latin typeface="宋体" charset="-122"/>
              </a:rPr>
              <a:t>do a:=a-b</a:t>
            </a:r>
          </a:p>
          <a:p>
            <a:endParaRPr lang="zh-CN" altLang="en-US" dirty="0"/>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布尔表达式语句</a:t>
            </a:r>
            <a:endParaRPr lang="zh-CN" altLang="en-US" dirty="0"/>
          </a:p>
        </p:txBody>
      </p:sp>
      <p:sp>
        <p:nvSpPr>
          <p:cNvPr id="4" name="灯片编号占位符 3">
            <a:extLst>
              <a:ext uri="{FF2B5EF4-FFF2-40B4-BE49-F238E27FC236}">
                <a16:creationId xmlns:a16="http://schemas.microsoft.com/office/drawing/2014/main" id="{C35D30B2-EDA0-49C0-91A2-57BAE69EC7FF}"/>
              </a:ext>
            </a:extLst>
          </p:cNvPr>
          <p:cNvSpPr>
            <a:spLocks noGrp="1"/>
          </p:cNvSpPr>
          <p:nvPr>
            <p:ph type="sldNum" sz="quarter" idx="4"/>
          </p:nvPr>
        </p:nvSpPr>
        <p:spPr/>
        <p:txBody>
          <a:bodyPr/>
          <a:lstStyle/>
          <a:p>
            <a:fld id="{565CE74E-AB26-4998-AD42-012C4C1AD076}" type="slidenum">
              <a:rPr lang="zh-CN" altLang="en-US" smtClean="0"/>
              <a:pPr/>
              <a:t>54</a:t>
            </a:fld>
            <a:endParaRPr lang="zh-CN" altLang="en-US"/>
          </a:p>
        </p:txBody>
      </p:sp>
    </p:spTree>
    <p:extLst>
      <p:ext uri="{BB962C8B-B14F-4D97-AF65-F5344CB8AC3E}">
        <p14:creationId xmlns:p14="http://schemas.microsoft.com/office/powerpoint/2010/main" val="38255020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solidFill>
                  <a:srgbClr val="FF0000"/>
                </a:solidFill>
                <a:latin typeface="宋体" charset="-122"/>
              </a:rPr>
              <a:t>布尔表达式的文法</a:t>
            </a:r>
            <a:endParaRPr lang="zh-CN" altLang="en-US" dirty="0">
              <a:solidFill>
                <a:srgbClr val="FF0000"/>
              </a:solidFill>
            </a:endParaRPr>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布尔表达式语句</a:t>
            </a:r>
            <a:endParaRPr lang="zh-CN" altLang="en-US" dirty="0"/>
          </a:p>
        </p:txBody>
      </p:sp>
      <p:sp>
        <p:nvSpPr>
          <p:cNvPr id="26" name="Rectangle 9"/>
          <p:cNvSpPr txBox="1">
            <a:spLocks noChangeArrowheads="1"/>
          </p:cNvSpPr>
          <p:nvPr/>
        </p:nvSpPr>
        <p:spPr>
          <a:xfrm>
            <a:off x="228600" y="1657558"/>
            <a:ext cx="8839200" cy="3276600"/>
          </a:xfrm>
          <a:prstGeom prst="rect">
            <a:avLst/>
          </a:prstGeom>
          <a:noFill/>
          <a:ln/>
        </p:spPr>
        <p:txBody>
          <a:bodyPr vert="horz" lIns="92075" tIns="46038" rIns="92075" bIns="46038" rtlCol="0">
            <a:normAutofit/>
          </a:bodyPr>
          <a:lst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a:solidFill>
                  <a:srgbClr val="0206AD"/>
                </a:solidFill>
                <a:uFillTx/>
                <a:latin typeface="Times New Roman" panose="02020603050405020304" charset="0"/>
                <a:ea typeface="黑体" panose="02010609060101010101" charset="-122"/>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a:solidFill>
                  <a:srgbClr val="0066FF"/>
                </a:solidFill>
                <a:uFillTx/>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a:solidFill>
                  <a:srgbClr val="0206AD"/>
                </a:solidFill>
                <a:uFillTx/>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15000"/>
              </a:spcBef>
            </a:pPr>
            <a:r>
              <a:rPr lang="zh-CN" altLang="en-US">
                <a:latin typeface="宋体" charset="-122"/>
              </a:rPr>
              <a:t>布尔表达式</a:t>
            </a:r>
            <a:r>
              <a:rPr lang="en-US" altLang="zh-CN">
                <a:latin typeface="宋体" charset="-122"/>
              </a:rPr>
              <a:t>——</a:t>
            </a:r>
            <a:r>
              <a:rPr lang="zh-CN" altLang="en-US">
                <a:latin typeface="宋体" charset="-122"/>
              </a:rPr>
              <a:t>用布尔运算符号</a:t>
            </a:r>
            <a:r>
              <a:rPr lang="en-US" altLang="zh-CN">
                <a:latin typeface="宋体" charset="-122"/>
              </a:rPr>
              <a:t>(and,or,not)  </a:t>
            </a:r>
            <a:r>
              <a:rPr lang="zh-CN" altLang="en-US">
                <a:latin typeface="宋体" charset="-122"/>
              </a:rPr>
              <a:t>作用到布尔变量或关系表达式上而组成</a:t>
            </a:r>
          </a:p>
          <a:p>
            <a:pPr lvl="1">
              <a:spcBef>
                <a:spcPct val="15000"/>
              </a:spcBef>
            </a:pPr>
            <a:r>
              <a:rPr lang="zh-CN" altLang="en-US">
                <a:latin typeface="宋体" charset="-122"/>
              </a:rPr>
              <a:t>例如 布尔表达式： </a:t>
            </a:r>
            <a:r>
              <a:rPr lang="en-US" altLang="zh-CN">
                <a:solidFill>
                  <a:srgbClr val="009900"/>
                </a:solidFill>
                <a:latin typeface="宋体" charset="-122"/>
              </a:rPr>
              <a:t>a or b and c &lt; d</a:t>
            </a:r>
          </a:p>
          <a:p>
            <a:pPr>
              <a:spcBef>
                <a:spcPct val="15000"/>
              </a:spcBef>
            </a:pPr>
            <a:r>
              <a:rPr lang="zh-CN" altLang="en-US">
                <a:latin typeface="宋体" charset="-122"/>
              </a:rPr>
              <a:t>考虑如下生成布尔表达式的文法</a:t>
            </a:r>
          </a:p>
          <a:p>
            <a:pPr lvl="1">
              <a:spcBef>
                <a:spcPct val="15000"/>
              </a:spcBef>
            </a:pPr>
            <a:r>
              <a:rPr lang="en-US" altLang="zh-CN">
                <a:latin typeface="宋体" charset="-122"/>
              </a:rPr>
              <a:t>E→E </a:t>
            </a:r>
            <a:r>
              <a:rPr lang="en-US" altLang="zh-CN">
                <a:solidFill>
                  <a:srgbClr val="009900"/>
                </a:solidFill>
                <a:latin typeface="宋体" charset="-122"/>
              </a:rPr>
              <a:t>or</a:t>
            </a:r>
            <a:r>
              <a:rPr lang="en-US" altLang="zh-CN">
                <a:latin typeface="宋体" charset="-122"/>
              </a:rPr>
              <a:t> E|E </a:t>
            </a:r>
            <a:r>
              <a:rPr lang="en-US" altLang="zh-CN">
                <a:solidFill>
                  <a:srgbClr val="009900"/>
                </a:solidFill>
                <a:latin typeface="宋体" charset="-122"/>
              </a:rPr>
              <a:t>and</a:t>
            </a:r>
            <a:r>
              <a:rPr lang="en-US" altLang="zh-CN">
                <a:latin typeface="宋体" charset="-122"/>
              </a:rPr>
              <a:t> E|</a:t>
            </a:r>
            <a:r>
              <a:rPr lang="en-US" altLang="zh-CN">
                <a:solidFill>
                  <a:srgbClr val="009900"/>
                </a:solidFill>
                <a:latin typeface="宋体" charset="-122"/>
              </a:rPr>
              <a:t>not</a:t>
            </a:r>
            <a:r>
              <a:rPr lang="en-US" altLang="zh-CN">
                <a:latin typeface="宋体" charset="-122"/>
              </a:rPr>
              <a:t> E|</a:t>
            </a:r>
            <a:r>
              <a:rPr lang="en-US" altLang="zh-CN">
                <a:solidFill>
                  <a:srgbClr val="009900"/>
                </a:solidFill>
                <a:latin typeface="宋体" charset="-122"/>
              </a:rPr>
              <a:t>(</a:t>
            </a:r>
            <a:r>
              <a:rPr lang="en-US" altLang="zh-CN">
                <a:latin typeface="宋体" charset="-122"/>
              </a:rPr>
              <a:t>E</a:t>
            </a:r>
            <a:r>
              <a:rPr lang="en-US" altLang="zh-CN">
                <a:solidFill>
                  <a:srgbClr val="009900"/>
                </a:solidFill>
                <a:latin typeface="宋体" charset="-122"/>
              </a:rPr>
              <a:t>)</a:t>
            </a:r>
            <a:r>
              <a:rPr lang="en-US" altLang="zh-CN">
                <a:latin typeface="宋体" charset="-122"/>
              </a:rPr>
              <a:t>|</a:t>
            </a:r>
            <a:r>
              <a:rPr lang="en-US" altLang="zh-CN">
                <a:solidFill>
                  <a:srgbClr val="009900"/>
                </a:solidFill>
                <a:latin typeface="宋体" charset="-122"/>
              </a:rPr>
              <a:t>id</a:t>
            </a:r>
            <a:r>
              <a:rPr lang="en-US" altLang="zh-CN">
                <a:latin typeface="宋体" charset="-122"/>
              </a:rPr>
              <a:t> </a:t>
            </a:r>
            <a:r>
              <a:rPr lang="en-US" altLang="zh-CN">
                <a:solidFill>
                  <a:srgbClr val="009900"/>
                </a:solidFill>
                <a:latin typeface="宋体" charset="-122"/>
              </a:rPr>
              <a:t>relop</a:t>
            </a:r>
            <a:r>
              <a:rPr lang="en-US" altLang="zh-CN">
                <a:latin typeface="宋体" charset="-122"/>
              </a:rPr>
              <a:t> </a:t>
            </a:r>
            <a:r>
              <a:rPr lang="en-US" altLang="zh-CN">
                <a:solidFill>
                  <a:srgbClr val="009900"/>
                </a:solidFill>
                <a:latin typeface="宋体" charset="-122"/>
              </a:rPr>
              <a:t>id</a:t>
            </a:r>
            <a:r>
              <a:rPr lang="en-US" altLang="zh-CN">
                <a:latin typeface="宋体" charset="-122"/>
              </a:rPr>
              <a:t>|</a:t>
            </a:r>
            <a:r>
              <a:rPr lang="en-US" altLang="zh-CN">
                <a:solidFill>
                  <a:srgbClr val="009900"/>
                </a:solidFill>
                <a:latin typeface="宋体" charset="-122"/>
              </a:rPr>
              <a:t>id</a:t>
            </a:r>
          </a:p>
          <a:p>
            <a:pPr lvl="1">
              <a:spcBef>
                <a:spcPct val="15000"/>
              </a:spcBef>
              <a:buFontTx/>
              <a:buNone/>
            </a:pPr>
            <a:r>
              <a:rPr lang="en-US" altLang="zh-CN">
                <a:latin typeface="宋体" charset="-122"/>
              </a:rPr>
              <a:t>  </a:t>
            </a:r>
            <a:r>
              <a:rPr lang="zh-CN" altLang="en-US">
                <a:latin typeface="宋体" charset="-122"/>
              </a:rPr>
              <a:t>其中</a:t>
            </a:r>
            <a:r>
              <a:rPr lang="en-US" altLang="zh-CN">
                <a:latin typeface="宋体" charset="-122"/>
              </a:rPr>
              <a:t>relop</a:t>
            </a:r>
            <a:r>
              <a:rPr lang="zh-CN" altLang="en-US">
                <a:latin typeface="宋体" charset="-122"/>
              </a:rPr>
              <a:t>表示六个关系运算符之一</a:t>
            </a:r>
          </a:p>
          <a:p>
            <a:pPr lvl="1">
              <a:spcBef>
                <a:spcPct val="15000"/>
              </a:spcBef>
              <a:buFontTx/>
              <a:buNone/>
            </a:pPr>
            <a:r>
              <a:rPr lang="zh-CN" altLang="en-US">
                <a:latin typeface="宋体" charset="-122"/>
              </a:rPr>
              <a:t>  例如 </a:t>
            </a:r>
            <a:r>
              <a:rPr lang="en-US" altLang="zh-CN">
                <a:latin typeface="宋体" charset="-122"/>
              </a:rPr>
              <a:t>E==&gt;E </a:t>
            </a:r>
            <a:r>
              <a:rPr lang="en-US" altLang="zh-CN">
                <a:solidFill>
                  <a:srgbClr val="009900"/>
                </a:solidFill>
                <a:latin typeface="宋体" charset="-122"/>
              </a:rPr>
              <a:t>or</a:t>
            </a:r>
            <a:r>
              <a:rPr lang="en-US" altLang="zh-CN">
                <a:latin typeface="宋体" charset="-122"/>
              </a:rPr>
              <a:t> E</a:t>
            </a:r>
            <a:endParaRPr lang="en-US" altLang="zh-CN" dirty="0">
              <a:latin typeface="宋体" charset="-122"/>
            </a:endParaRPr>
          </a:p>
        </p:txBody>
      </p:sp>
      <p:sp>
        <p:nvSpPr>
          <p:cNvPr id="27" name="Rectangle 10"/>
          <p:cNvSpPr>
            <a:spLocks noChangeArrowheads="1"/>
          </p:cNvSpPr>
          <p:nvPr/>
        </p:nvSpPr>
        <p:spPr bwMode="auto">
          <a:xfrm>
            <a:off x="2819400" y="6320046"/>
            <a:ext cx="36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solidFill>
                  <a:srgbClr val="009900"/>
                </a:solidFill>
                <a:latin typeface="宋体" charset="-122"/>
              </a:rPr>
              <a:t>a</a:t>
            </a:r>
          </a:p>
        </p:txBody>
      </p:sp>
      <p:sp>
        <p:nvSpPr>
          <p:cNvPr id="28" name="Rectangle 11"/>
          <p:cNvSpPr>
            <a:spLocks noChangeArrowheads="1"/>
          </p:cNvSpPr>
          <p:nvPr/>
        </p:nvSpPr>
        <p:spPr bwMode="auto">
          <a:xfrm>
            <a:off x="3886200" y="6305758"/>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solidFill>
                  <a:srgbClr val="009900"/>
                </a:solidFill>
                <a:latin typeface="宋体" charset="-122"/>
              </a:rPr>
              <a:t>b</a:t>
            </a:r>
          </a:p>
        </p:txBody>
      </p:sp>
      <p:sp>
        <p:nvSpPr>
          <p:cNvPr id="29" name="Rectangle 12"/>
          <p:cNvSpPr>
            <a:spLocks noChangeArrowheads="1"/>
          </p:cNvSpPr>
          <p:nvPr/>
        </p:nvSpPr>
        <p:spPr bwMode="auto">
          <a:xfrm>
            <a:off x="5122863" y="6320046"/>
            <a:ext cx="36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solidFill>
                  <a:srgbClr val="009900"/>
                </a:solidFill>
                <a:latin typeface="宋体" charset="-122"/>
              </a:rPr>
              <a:t>c</a:t>
            </a:r>
          </a:p>
        </p:txBody>
      </p:sp>
      <p:sp>
        <p:nvSpPr>
          <p:cNvPr id="30" name="Rectangle 13"/>
          <p:cNvSpPr>
            <a:spLocks noChangeArrowheads="1"/>
          </p:cNvSpPr>
          <p:nvPr/>
        </p:nvSpPr>
        <p:spPr bwMode="auto">
          <a:xfrm>
            <a:off x="5961063" y="6320046"/>
            <a:ext cx="3635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solidFill>
                  <a:srgbClr val="009900"/>
                </a:solidFill>
                <a:latin typeface="宋体" charset="-122"/>
              </a:rPr>
              <a:t>&lt;</a:t>
            </a:r>
          </a:p>
        </p:txBody>
      </p:sp>
      <p:sp>
        <p:nvSpPr>
          <p:cNvPr id="31" name="Rectangle 14"/>
          <p:cNvSpPr>
            <a:spLocks noChangeArrowheads="1"/>
          </p:cNvSpPr>
          <p:nvPr/>
        </p:nvSpPr>
        <p:spPr bwMode="auto">
          <a:xfrm>
            <a:off x="6723063" y="6305758"/>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solidFill>
                  <a:srgbClr val="009900"/>
                </a:solidFill>
                <a:latin typeface="宋体" charset="-122"/>
              </a:rPr>
              <a:t>d</a:t>
            </a:r>
          </a:p>
        </p:txBody>
      </p:sp>
      <p:sp>
        <p:nvSpPr>
          <p:cNvPr id="32" name="Rectangle 17"/>
          <p:cNvSpPr>
            <a:spLocks noChangeArrowheads="1"/>
          </p:cNvSpPr>
          <p:nvPr/>
        </p:nvSpPr>
        <p:spPr bwMode="auto">
          <a:xfrm>
            <a:off x="6934200" y="4948446"/>
            <a:ext cx="2057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zh-CN" altLang="en-US" sz="2800">
                <a:solidFill>
                  <a:srgbClr val="009900"/>
                </a:solidFill>
                <a:latin typeface="宋体" charset="-122"/>
              </a:rPr>
              <a:t>对应语法树</a:t>
            </a:r>
          </a:p>
        </p:txBody>
      </p:sp>
      <p:sp>
        <p:nvSpPr>
          <p:cNvPr id="33" name="Rectangle 18"/>
          <p:cNvSpPr>
            <a:spLocks noChangeArrowheads="1"/>
          </p:cNvSpPr>
          <p:nvPr/>
        </p:nvSpPr>
        <p:spPr bwMode="auto">
          <a:xfrm>
            <a:off x="2133600" y="478175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Blip>
                <a:blip r:embed="rId2"/>
              </a:buBlip>
              <a:defRPr sz="3200">
                <a:solidFill>
                  <a:schemeClr val="tx1"/>
                </a:solidFill>
                <a:latin typeface="Arial" charset="0"/>
                <a:ea typeface="宋体" charset="-122"/>
              </a:defRPr>
            </a:lvl1pPr>
            <a:lvl2pPr marL="742950" indent="-285750">
              <a:spcBef>
                <a:spcPct val="20000"/>
              </a:spcBef>
              <a:buBlip>
                <a:blip r:embed="rId3"/>
              </a:buBlip>
              <a:defRPr sz="2800">
                <a:solidFill>
                  <a:schemeClr val="tx1"/>
                </a:solidFill>
                <a:latin typeface="Arial" charset="0"/>
                <a:ea typeface="宋体" charset="-122"/>
              </a:defRPr>
            </a:lvl2pPr>
            <a:lvl3pPr marL="1143000" indent="-228600">
              <a:spcBef>
                <a:spcPct val="20000"/>
              </a:spcBef>
              <a:buClr>
                <a:srgbClr val="FF0000"/>
              </a:buClr>
              <a:buChar char="Ø"/>
              <a:defRPr sz="2400">
                <a:solidFill>
                  <a:schemeClr val="tx1"/>
                </a:solidFill>
                <a:latin typeface="Arial" charset="0"/>
                <a:ea typeface="宋体" charset="-122"/>
              </a:defRPr>
            </a:lvl3pPr>
            <a:lvl4pPr marL="1600200" indent="-228600">
              <a:spcBef>
                <a:spcPct val="20000"/>
              </a:spcBef>
              <a:buChar char="–"/>
              <a:defRPr sz="2000">
                <a:solidFill>
                  <a:schemeClr val="tx1"/>
                </a:solidFill>
                <a:latin typeface="Arial" charset="0"/>
                <a:ea typeface="宋体" charset="-122"/>
              </a:defRPr>
            </a:lvl4pPr>
            <a:lvl5pPr marL="2057400" indent="-228600">
              <a:spcBef>
                <a:spcPct val="20000"/>
              </a:spcBef>
              <a:buChar char="»"/>
              <a:defRPr sz="2000">
                <a:solidFill>
                  <a:schemeClr val="tx1"/>
                </a:solidFill>
                <a:latin typeface="Arial" charset="0"/>
                <a:ea typeface="宋体" charset="-122"/>
              </a:defRPr>
            </a:lvl5pPr>
            <a:lvl6pPr marL="2514600" indent="-228600" fontAlgn="base">
              <a:spcBef>
                <a:spcPct val="20000"/>
              </a:spcBef>
              <a:spcAft>
                <a:spcPct val="0"/>
              </a:spcAft>
              <a:buChar char="»"/>
              <a:defRPr sz="2000">
                <a:solidFill>
                  <a:schemeClr val="tx1"/>
                </a:solidFill>
                <a:latin typeface="Arial" charset="0"/>
                <a:ea typeface="宋体" charset="-122"/>
              </a:defRPr>
            </a:lvl6pPr>
            <a:lvl7pPr marL="2971800" indent="-228600" fontAlgn="base">
              <a:spcBef>
                <a:spcPct val="20000"/>
              </a:spcBef>
              <a:spcAft>
                <a:spcPct val="0"/>
              </a:spcAft>
              <a:buChar char="»"/>
              <a:defRPr sz="2000">
                <a:solidFill>
                  <a:schemeClr val="tx1"/>
                </a:solidFill>
                <a:latin typeface="Arial" charset="0"/>
                <a:ea typeface="宋体" charset="-122"/>
              </a:defRPr>
            </a:lvl7pPr>
            <a:lvl8pPr marL="3429000" indent="-228600" fontAlgn="base">
              <a:spcBef>
                <a:spcPct val="20000"/>
              </a:spcBef>
              <a:spcAft>
                <a:spcPct val="0"/>
              </a:spcAft>
              <a:buChar char="»"/>
              <a:defRPr sz="2000">
                <a:solidFill>
                  <a:schemeClr val="tx1"/>
                </a:solidFill>
                <a:latin typeface="Arial" charset="0"/>
                <a:ea typeface="宋体" charset="-122"/>
              </a:defRPr>
            </a:lvl8pPr>
            <a:lvl9pPr marL="3886200" indent="-228600" fontAlgn="base">
              <a:spcBef>
                <a:spcPct val="20000"/>
              </a:spcBef>
              <a:spcAft>
                <a:spcPct val="0"/>
              </a:spcAft>
              <a:buChar char="»"/>
              <a:defRPr sz="2000">
                <a:solidFill>
                  <a:schemeClr val="tx1"/>
                </a:solidFill>
                <a:latin typeface="Arial" charset="0"/>
                <a:ea typeface="宋体" charset="-122"/>
              </a:defRPr>
            </a:lvl9pPr>
          </a:lstStyle>
          <a:p>
            <a:pPr>
              <a:lnSpc>
                <a:spcPct val="90000"/>
              </a:lnSpc>
              <a:spcBef>
                <a:spcPct val="15000"/>
              </a:spcBef>
              <a:buFontTx/>
              <a:buNone/>
            </a:pPr>
            <a:r>
              <a:rPr lang="en-US" altLang="zh-CN" sz="2800">
                <a:latin typeface="宋体" charset="-122"/>
              </a:rPr>
              <a:t>==&gt;E </a:t>
            </a:r>
            <a:r>
              <a:rPr lang="en-US" altLang="zh-CN" sz="2800">
                <a:solidFill>
                  <a:srgbClr val="009900"/>
                </a:solidFill>
                <a:latin typeface="宋体" charset="-122"/>
              </a:rPr>
              <a:t>or</a:t>
            </a:r>
            <a:r>
              <a:rPr lang="en-US" altLang="zh-CN" sz="2800">
                <a:latin typeface="宋体" charset="-122"/>
              </a:rPr>
              <a:t> E </a:t>
            </a:r>
            <a:r>
              <a:rPr lang="en-US" altLang="zh-CN" sz="2800">
                <a:solidFill>
                  <a:srgbClr val="009900"/>
                </a:solidFill>
                <a:latin typeface="宋体" charset="-122"/>
              </a:rPr>
              <a:t>and</a:t>
            </a:r>
            <a:r>
              <a:rPr lang="en-US" altLang="zh-CN" sz="2800">
                <a:latin typeface="宋体" charset="-122"/>
              </a:rPr>
              <a:t> E  </a:t>
            </a:r>
          </a:p>
        </p:txBody>
      </p:sp>
      <p:sp>
        <p:nvSpPr>
          <p:cNvPr id="34" name="Rectangle 19"/>
          <p:cNvSpPr>
            <a:spLocks noChangeArrowheads="1"/>
          </p:cNvSpPr>
          <p:nvPr/>
        </p:nvSpPr>
        <p:spPr bwMode="auto">
          <a:xfrm>
            <a:off x="2133600" y="5162758"/>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Blip>
                <a:blip r:embed="rId2"/>
              </a:buBlip>
              <a:defRPr sz="3200">
                <a:solidFill>
                  <a:schemeClr val="tx1"/>
                </a:solidFill>
                <a:latin typeface="Arial" charset="0"/>
                <a:ea typeface="宋体" charset="-122"/>
              </a:defRPr>
            </a:lvl1pPr>
            <a:lvl2pPr marL="742950" indent="-285750">
              <a:spcBef>
                <a:spcPct val="20000"/>
              </a:spcBef>
              <a:buBlip>
                <a:blip r:embed="rId3"/>
              </a:buBlip>
              <a:defRPr sz="2800">
                <a:solidFill>
                  <a:schemeClr val="tx1"/>
                </a:solidFill>
                <a:latin typeface="Arial" charset="0"/>
                <a:ea typeface="宋体" charset="-122"/>
              </a:defRPr>
            </a:lvl2pPr>
            <a:lvl3pPr marL="1143000" indent="-228600">
              <a:spcBef>
                <a:spcPct val="20000"/>
              </a:spcBef>
              <a:buClr>
                <a:srgbClr val="FF0000"/>
              </a:buClr>
              <a:buChar char="Ø"/>
              <a:defRPr sz="2400">
                <a:solidFill>
                  <a:schemeClr val="tx1"/>
                </a:solidFill>
                <a:latin typeface="Arial" charset="0"/>
                <a:ea typeface="宋体" charset="-122"/>
              </a:defRPr>
            </a:lvl3pPr>
            <a:lvl4pPr marL="1600200" indent="-228600">
              <a:spcBef>
                <a:spcPct val="20000"/>
              </a:spcBef>
              <a:buChar char="–"/>
              <a:defRPr sz="2000">
                <a:solidFill>
                  <a:schemeClr val="tx1"/>
                </a:solidFill>
                <a:latin typeface="Arial" charset="0"/>
                <a:ea typeface="宋体" charset="-122"/>
              </a:defRPr>
            </a:lvl4pPr>
            <a:lvl5pPr marL="2057400" indent="-228600">
              <a:spcBef>
                <a:spcPct val="20000"/>
              </a:spcBef>
              <a:buChar char="»"/>
              <a:defRPr sz="2000">
                <a:solidFill>
                  <a:schemeClr val="tx1"/>
                </a:solidFill>
                <a:latin typeface="Arial" charset="0"/>
                <a:ea typeface="宋体" charset="-122"/>
              </a:defRPr>
            </a:lvl5pPr>
            <a:lvl6pPr marL="2514600" indent="-228600" fontAlgn="base">
              <a:spcBef>
                <a:spcPct val="20000"/>
              </a:spcBef>
              <a:spcAft>
                <a:spcPct val="0"/>
              </a:spcAft>
              <a:buChar char="»"/>
              <a:defRPr sz="2000">
                <a:solidFill>
                  <a:schemeClr val="tx1"/>
                </a:solidFill>
                <a:latin typeface="Arial" charset="0"/>
                <a:ea typeface="宋体" charset="-122"/>
              </a:defRPr>
            </a:lvl6pPr>
            <a:lvl7pPr marL="2971800" indent="-228600" fontAlgn="base">
              <a:spcBef>
                <a:spcPct val="20000"/>
              </a:spcBef>
              <a:spcAft>
                <a:spcPct val="0"/>
              </a:spcAft>
              <a:buChar char="»"/>
              <a:defRPr sz="2000">
                <a:solidFill>
                  <a:schemeClr val="tx1"/>
                </a:solidFill>
                <a:latin typeface="Arial" charset="0"/>
                <a:ea typeface="宋体" charset="-122"/>
              </a:defRPr>
            </a:lvl7pPr>
            <a:lvl8pPr marL="3429000" indent="-228600" fontAlgn="base">
              <a:spcBef>
                <a:spcPct val="20000"/>
              </a:spcBef>
              <a:spcAft>
                <a:spcPct val="0"/>
              </a:spcAft>
              <a:buChar char="»"/>
              <a:defRPr sz="2000">
                <a:solidFill>
                  <a:schemeClr val="tx1"/>
                </a:solidFill>
                <a:latin typeface="Arial" charset="0"/>
                <a:ea typeface="宋体" charset="-122"/>
              </a:defRPr>
            </a:lvl8pPr>
            <a:lvl9pPr marL="3886200" indent="-228600" fontAlgn="base">
              <a:spcBef>
                <a:spcPct val="20000"/>
              </a:spcBef>
              <a:spcAft>
                <a:spcPct val="0"/>
              </a:spcAft>
              <a:buChar char="»"/>
              <a:defRPr sz="2000">
                <a:solidFill>
                  <a:schemeClr val="tx1"/>
                </a:solidFill>
                <a:latin typeface="Arial" charset="0"/>
                <a:ea typeface="宋体" charset="-122"/>
              </a:defRPr>
            </a:lvl9pPr>
          </a:lstStyle>
          <a:p>
            <a:pPr>
              <a:lnSpc>
                <a:spcPct val="90000"/>
              </a:lnSpc>
              <a:spcBef>
                <a:spcPct val="15000"/>
              </a:spcBef>
              <a:buFontTx/>
              <a:buNone/>
            </a:pPr>
            <a:r>
              <a:rPr lang="en-US" altLang="zh-CN" sz="2800" dirty="0">
                <a:latin typeface="宋体" charset="-122"/>
              </a:rPr>
              <a:t>==&gt;E </a:t>
            </a:r>
            <a:r>
              <a:rPr lang="en-US" altLang="zh-CN" sz="2800" dirty="0">
                <a:solidFill>
                  <a:srgbClr val="009900"/>
                </a:solidFill>
                <a:latin typeface="宋体" charset="-122"/>
              </a:rPr>
              <a:t>or</a:t>
            </a:r>
            <a:r>
              <a:rPr lang="en-US" altLang="zh-CN" sz="2800" dirty="0">
                <a:latin typeface="宋体" charset="-122"/>
              </a:rPr>
              <a:t> E </a:t>
            </a:r>
            <a:r>
              <a:rPr lang="en-US" altLang="zh-CN" sz="2800" dirty="0">
                <a:solidFill>
                  <a:srgbClr val="009900"/>
                </a:solidFill>
                <a:latin typeface="宋体" charset="-122"/>
              </a:rPr>
              <a:t>and id </a:t>
            </a:r>
            <a:r>
              <a:rPr lang="en-US" altLang="zh-CN" sz="2800" dirty="0" err="1">
                <a:solidFill>
                  <a:srgbClr val="009900"/>
                </a:solidFill>
                <a:latin typeface="宋体" charset="-122"/>
              </a:rPr>
              <a:t>relop</a:t>
            </a:r>
            <a:r>
              <a:rPr lang="en-US" altLang="zh-CN" sz="2800" dirty="0">
                <a:solidFill>
                  <a:srgbClr val="009900"/>
                </a:solidFill>
                <a:latin typeface="宋体" charset="-122"/>
              </a:rPr>
              <a:t> id</a:t>
            </a:r>
            <a:endParaRPr lang="en-US" altLang="zh-CN" sz="2800" dirty="0">
              <a:latin typeface="宋体" charset="-122"/>
            </a:endParaRPr>
          </a:p>
        </p:txBody>
      </p:sp>
      <p:sp>
        <p:nvSpPr>
          <p:cNvPr id="35" name="Rectangle 20"/>
          <p:cNvSpPr>
            <a:spLocks noChangeArrowheads="1"/>
          </p:cNvSpPr>
          <p:nvPr/>
        </p:nvSpPr>
        <p:spPr bwMode="auto">
          <a:xfrm>
            <a:off x="2133600" y="5543758"/>
            <a:ext cx="487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Blip>
                <a:blip r:embed="rId2"/>
              </a:buBlip>
              <a:defRPr sz="3200">
                <a:solidFill>
                  <a:schemeClr val="tx1"/>
                </a:solidFill>
                <a:latin typeface="Arial" charset="0"/>
                <a:ea typeface="宋体" charset="-122"/>
              </a:defRPr>
            </a:lvl1pPr>
            <a:lvl2pPr marL="742950" indent="-285750">
              <a:spcBef>
                <a:spcPct val="20000"/>
              </a:spcBef>
              <a:buBlip>
                <a:blip r:embed="rId3"/>
              </a:buBlip>
              <a:defRPr sz="2800">
                <a:solidFill>
                  <a:schemeClr val="tx1"/>
                </a:solidFill>
                <a:latin typeface="Arial" charset="0"/>
                <a:ea typeface="宋体" charset="-122"/>
              </a:defRPr>
            </a:lvl2pPr>
            <a:lvl3pPr marL="1143000" indent="-228600">
              <a:spcBef>
                <a:spcPct val="20000"/>
              </a:spcBef>
              <a:buClr>
                <a:srgbClr val="FF0000"/>
              </a:buClr>
              <a:buChar char="Ø"/>
              <a:defRPr sz="2400">
                <a:solidFill>
                  <a:schemeClr val="tx1"/>
                </a:solidFill>
                <a:latin typeface="Arial" charset="0"/>
                <a:ea typeface="宋体" charset="-122"/>
              </a:defRPr>
            </a:lvl3pPr>
            <a:lvl4pPr marL="1600200" indent="-228600">
              <a:spcBef>
                <a:spcPct val="20000"/>
              </a:spcBef>
              <a:buChar char="–"/>
              <a:defRPr sz="2000">
                <a:solidFill>
                  <a:schemeClr val="tx1"/>
                </a:solidFill>
                <a:latin typeface="Arial" charset="0"/>
                <a:ea typeface="宋体" charset="-122"/>
              </a:defRPr>
            </a:lvl4pPr>
            <a:lvl5pPr marL="2057400" indent="-228600">
              <a:spcBef>
                <a:spcPct val="20000"/>
              </a:spcBef>
              <a:buChar char="»"/>
              <a:defRPr sz="2000">
                <a:solidFill>
                  <a:schemeClr val="tx1"/>
                </a:solidFill>
                <a:latin typeface="Arial" charset="0"/>
                <a:ea typeface="宋体" charset="-122"/>
              </a:defRPr>
            </a:lvl5pPr>
            <a:lvl6pPr marL="2514600" indent="-228600" fontAlgn="base">
              <a:spcBef>
                <a:spcPct val="20000"/>
              </a:spcBef>
              <a:spcAft>
                <a:spcPct val="0"/>
              </a:spcAft>
              <a:buChar char="»"/>
              <a:defRPr sz="2000">
                <a:solidFill>
                  <a:schemeClr val="tx1"/>
                </a:solidFill>
                <a:latin typeface="Arial" charset="0"/>
                <a:ea typeface="宋体" charset="-122"/>
              </a:defRPr>
            </a:lvl6pPr>
            <a:lvl7pPr marL="2971800" indent="-228600" fontAlgn="base">
              <a:spcBef>
                <a:spcPct val="20000"/>
              </a:spcBef>
              <a:spcAft>
                <a:spcPct val="0"/>
              </a:spcAft>
              <a:buChar char="»"/>
              <a:defRPr sz="2000">
                <a:solidFill>
                  <a:schemeClr val="tx1"/>
                </a:solidFill>
                <a:latin typeface="Arial" charset="0"/>
                <a:ea typeface="宋体" charset="-122"/>
              </a:defRPr>
            </a:lvl7pPr>
            <a:lvl8pPr marL="3429000" indent="-228600" fontAlgn="base">
              <a:spcBef>
                <a:spcPct val="20000"/>
              </a:spcBef>
              <a:spcAft>
                <a:spcPct val="0"/>
              </a:spcAft>
              <a:buChar char="»"/>
              <a:defRPr sz="2000">
                <a:solidFill>
                  <a:schemeClr val="tx1"/>
                </a:solidFill>
                <a:latin typeface="Arial" charset="0"/>
                <a:ea typeface="宋体" charset="-122"/>
              </a:defRPr>
            </a:lvl8pPr>
            <a:lvl9pPr marL="3886200" indent="-228600" fontAlgn="base">
              <a:spcBef>
                <a:spcPct val="20000"/>
              </a:spcBef>
              <a:spcAft>
                <a:spcPct val="0"/>
              </a:spcAft>
              <a:buChar char="»"/>
              <a:defRPr sz="2000">
                <a:solidFill>
                  <a:schemeClr val="tx1"/>
                </a:solidFill>
                <a:latin typeface="Arial" charset="0"/>
                <a:ea typeface="宋体" charset="-122"/>
              </a:defRPr>
            </a:lvl9pPr>
          </a:lstStyle>
          <a:p>
            <a:pPr>
              <a:lnSpc>
                <a:spcPct val="90000"/>
              </a:lnSpc>
              <a:spcBef>
                <a:spcPct val="15000"/>
              </a:spcBef>
              <a:buFontTx/>
              <a:buNone/>
            </a:pPr>
            <a:r>
              <a:rPr lang="en-US" altLang="zh-CN" sz="2800">
                <a:latin typeface="宋体" charset="-122"/>
              </a:rPr>
              <a:t>==&gt;E </a:t>
            </a:r>
            <a:r>
              <a:rPr lang="en-US" altLang="zh-CN" sz="2800">
                <a:solidFill>
                  <a:srgbClr val="009900"/>
                </a:solidFill>
                <a:latin typeface="宋体" charset="-122"/>
              </a:rPr>
              <a:t>or id and id relop id</a:t>
            </a:r>
            <a:r>
              <a:rPr lang="en-US" altLang="zh-CN" sz="2800">
                <a:latin typeface="宋体" charset="-122"/>
              </a:rPr>
              <a:t> </a:t>
            </a:r>
          </a:p>
        </p:txBody>
      </p:sp>
      <p:sp>
        <p:nvSpPr>
          <p:cNvPr id="36" name="Rectangle 21"/>
          <p:cNvSpPr>
            <a:spLocks noChangeArrowheads="1"/>
          </p:cNvSpPr>
          <p:nvPr/>
        </p:nvSpPr>
        <p:spPr bwMode="auto">
          <a:xfrm>
            <a:off x="2133600" y="5924758"/>
            <a:ext cx="5181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Blip>
                <a:blip r:embed="rId2"/>
              </a:buBlip>
              <a:defRPr sz="3200">
                <a:solidFill>
                  <a:schemeClr val="tx1"/>
                </a:solidFill>
                <a:latin typeface="Arial" charset="0"/>
                <a:ea typeface="宋体" charset="-122"/>
              </a:defRPr>
            </a:lvl1pPr>
            <a:lvl2pPr marL="742950" indent="-285750">
              <a:spcBef>
                <a:spcPct val="20000"/>
              </a:spcBef>
              <a:buBlip>
                <a:blip r:embed="rId3"/>
              </a:buBlip>
              <a:defRPr sz="2800">
                <a:solidFill>
                  <a:schemeClr val="tx1"/>
                </a:solidFill>
                <a:latin typeface="Arial" charset="0"/>
                <a:ea typeface="宋体" charset="-122"/>
              </a:defRPr>
            </a:lvl2pPr>
            <a:lvl3pPr marL="1143000" indent="-228600">
              <a:spcBef>
                <a:spcPct val="20000"/>
              </a:spcBef>
              <a:buClr>
                <a:srgbClr val="FF0000"/>
              </a:buClr>
              <a:buChar char="Ø"/>
              <a:defRPr sz="2400">
                <a:solidFill>
                  <a:schemeClr val="tx1"/>
                </a:solidFill>
                <a:latin typeface="Arial" charset="0"/>
                <a:ea typeface="宋体" charset="-122"/>
              </a:defRPr>
            </a:lvl3pPr>
            <a:lvl4pPr marL="1600200" indent="-228600">
              <a:spcBef>
                <a:spcPct val="20000"/>
              </a:spcBef>
              <a:buChar char="–"/>
              <a:defRPr sz="2000">
                <a:solidFill>
                  <a:schemeClr val="tx1"/>
                </a:solidFill>
                <a:latin typeface="Arial" charset="0"/>
                <a:ea typeface="宋体" charset="-122"/>
              </a:defRPr>
            </a:lvl4pPr>
            <a:lvl5pPr marL="2057400" indent="-228600">
              <a:spcBef>
                <a:spcPct val="20000"/>
              </a:spcBef>
              <a:buChar char="»"/>
              <a:defRPr sz="2000">
                <a:solidFill>
                  <a:schemeClr val="tx1"/>
                </a:solidFill>
                <a:latin typeface="Arial" charset="0"/>
                <a:ea typeface="宋体" charset="-122"/>
              </a:defRPr>
            </a:lvl5pPr>
            <a:lvl6pPr marL="2514600" indent="-228600" fontAlgn="base">
              <a:spcBef>
                <a:spcPct val="20000"/>
              </a:spcBef>
              <a:spcAft>
                <a:spcPct val="0"/>
              </a:spcAft>
              <a:buChar char="»"/>
              <a:defRPr sz="2000">
                <a:solidFill>
                  <a:schemeClr val="tx1"/>
                </a:solidFill>
                <a:latin typeface="Arial" charset="0"/>
                <a:ea typeface="宋体" charset="-122"/>
              </a:defRPr>
            </a:lvl6pPr>
            <a:lvl7pPr marL="2971800" indent="-228600" fontAlgn="base">
              <a:spcBef>
                <a:spcPct val="20000"/>
              </a:spcBef>
              <a:spcAft>
                <a:spcPct val="0"/>
              </a:spcAft>
              <a:buChar char="»"/>
              <a:defRPr sz="2000">
                <a:solidFill>
                  <a:schemeClr val="tx1"/>
                </a:solidFill>
                <a:latin typeface="Arial" charset="0"/>
                <a:ea typeface="宋体" charset="-122"/>
              </a:defRPr>
            </a:lvl7pPr>
            <a:lvl8pPr marL="3429000" indent="-228600" fontAlgn="base">
              <a:spcBef>
                <a:spcPct val="20000"/>
              </a:spcBef>
              <a:spcAft>
                <a:spcPct val="0"/>
              </a:spcAft>
              <a:buChar char="»"/>
              <a:defRPr sz="2000">
                <a:solidFill>
                  <a:schemeClr val="tx1"/>
                </a:solidFill>
                <a:latin typeface="Arial" charset="0"/>
                <a:ea typeface="宋体" charset="-122"/>
              </a:defRPr>
            </a:lvl8pPr>
            <a:lvl9pPr marL="3886200" indent="-228600" fontAlgn="base">
              <a:spcBef>
                <a:spcPct val="20000"/>
              </a:spcBef>
              <a:spcAft>
                <a:spcPct val="0"/>
              </a:spcAft>
              <a:buChar char="»"/>
              <a:defRPr sz="2000">
                <a:solidFill>
                  <a:schemeClr val="tx1"/>
                </a:solidFill>
                <a:latin typeface="Arial" charset="0"/>
                <a:ea typeface="宋体" charset="-122"/>
              </a:defRPr>
            </a:lvl9pPr>
          </a:lstStyle>
          <a:p>
            <a:pPr>
              <a:lnSpc>
                <a:spcPct val="90000"/>
              </a:lnSpc>
              <a:spcBef>
                <a:spcPct val="15000"/>
              </a:spcBef>
              <a:buFontTx/>
              <a:buNone/>
            </a:pPr>
            <a:r>
              <a:rPr lang="en-US" altLang="zh-CN" sz="2800">
                <a:latin typeface="宋体" charset="-122"/>
              </a:rPr>
              <a:t>==&gt;</a:t>
            </a:r>
            <a:r>
              <a:rPr lang="en-US" altLang="zh-CN" sz="2800">
                <a:solidFill>
                  <a:srgbClr val="009900"/>
                </a:solidFill>
                <a:latin typeface="宋体" charset="-122"/>
              </a:rPr>
              <a:t>id or id and id relop id</a:t>
            </a:r>
            <a:r>
              <a:rPr lang="en-US" altLang="zh-CN" sz="2800">
                <a:latin typeface="宋体" charset="-122"/>
              </a:rPr>
              <a:t> </a:t>
            </a:r>
          </a:p>
        </p:txBody>
      </p:sp>
      <p:sp>
        <p:nvSpPr>
          <p:cNvPr id="4" name="灯片编号占位符 3">
            <a:extLst>
              <a:ext uri="{FF2B5EF4-FFF2-40B4-BE49-F238E27FC236}">
                <a16:creationId xmlns:a16="http://schemas.microsoft.com/office/drawing/2014/main" id="{A604D840-EA53-478B-AC6E-E8F0CF8BF149}"/>
              </a:ext>
            </a:extLst>
          </p:cNvPr>
          <p:cNvSpPr>
            <a:spLocks noGrp="1"/>
          </p:cNvSpPr>
          <p:nvPr>
            <p:ph type="sldNum" sz="quarter" idx="4"/>
          </p:nvPr>
        </p:nvSpPr>
        <p:spPr/>
        <p:txBody>
          <a:bodyPr/>
          <a:lstStyle/>
          <a:p>
            <a:fld id="{565CE74E-AB26-4998-AD42-012C4C1AD076}" type="slidenum">
              <a:rPr lang="zh-CN" altLang="en-US" smtClean="0"/>
              <a:pPr/>
              <a:t>55</a:t>
            </a:fld>
            <a:endParaRPr lang="zh-CN" altLang="en-US"/>
          </a:p>
        </p:txBody>
      </p:sp>
    </p:spTree>
    <p:extLst>
      <p:ext uri="{BB962C8B-B14F-4D97-AF65-F5344CB8AC3E}">
        <p14:creationId xmlns:p14="http://schemas.microsoft.com/office/powerpoint/2010/main" val="1320953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slide(fromBottom)">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6">
                                            <p:txEl>
                                              <p:pRg st="1" end="1"/>
                                            </p:txEl>
                                          </p:spTgt>
                                        </p:tgtEl>
                                        <p:attrNameLst>
                                          <p:attrName>style.visibility</p:attrName>
                                        </p:attrNameLst>
                                      </p:cBhvr>
                                      <p:to>
                                        <p:strVal val="visible"/>
                                      </p:to>
                                    </p:set>
                                    <p:animEffect transition="in" filter="slide(fromBottom)">
                                      <p:cBhvr>
                                        <p:cTn id="12" dur="500"/>
                                        <p:tgtEl>
                                          <p:spTgt spid="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6">
                                            <p:txEl>
                                              <p:pRg st="2" end="2"/>
                                            </p:txEl>
                                          </p:spTgt>
                                        </p:tgtEl>
                                        <p:attrNameLst>
                                          <p:attrName>style.visibility</p:attrName>
                                        </p:attrNameLst>
                                      </p:cBhvr>
                                      <p:to>
                                        <p:strVal val="visible"/>
                                      </p:to>
                                    </p:set>
                                    <p:animEffect transition="in" filter="slide(fromBottom)">
                                      <p:cBhvr>
                                        <p:cTn id="17" dur="500"/>
                                        <p:tgtEl>
                                          <p:spTgt spid="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26">
                                            <p:txEl>
                                              <p:pRg st="3" end="3"/>
                                            </p:txEl>
                                          </p:spTgt>
                                        </p:tgtEl>
                                        <p:attrNameLst>
                                          <p:attrName>style.visibility</p:attrName>
                                        </p:attrNameLst>
                                      </p:cBhvr>
                                      <p:to>
                                        <p:strVal val="visible"/>
                                      </p:to>
                                    </p:set>
                                    <p:animEffect transition="in" filter="slide(fromBottom)">
                                      <p:cBhvr>
                                        <p:cTn id="22" dur="500"/>
                                        <p:tgtEl>
                                          <p:spTgt spid="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6">
                                            <p:txEl>
                                              <p:pRg st="4" end="4"/>
                                            </p:txEl>
                                          </p:spTgt>
                                        </p:tgtEl>
                                        <p:attrNameLst>
                                          <p:attrName>style.visibility</p:attrName>
                                        </p:attrNameLst>
                                      </p:cBhvr>
                                      <p:to>
                                        <p:strVal val="visible"/>
                                      </p:to>
                                    </p:set>
                                    <p:animEffect transition="in" filter="slide(fromBottom)">
                                      <p:cBhvr>
                                        <p:cTn id="27" dur="500"/>
                                        <p:tgtEl>
                                          <p:spTgt spid="2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26">
                                            <p:txEl>
                                              <p:pRg st="5" end="5"/>
                                            </p:txEl>
                                          </p:spTgt>
                                        </p:tgtEl>
                                        <p:attrNameLst>
                                          <p:attrName>style.visibility</p:attrName>
                                        </p:attrNameLst>
                                      </p:cBhvr>
                                      <p:to>
                                        <p:strVal val="visible"/>
                                      </p:to>
                                    </p:set>
                                    <p:animEffect transition="in" filter="slide(fromBottom)">
                                      <p:cBhvr>
                                        <p:cTn id="32" dur="500"/>
                                        <p:tgtEl>
                                          <p:spTgt spid="2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3">
                                            <p:txEl>
                                              <p:pRg st="0" end="0"/>
                                            </p:txEl>
                                          </p:spTgt>
                                        </p:tgtEl>
                                        <p:attrNameLst>
                                          <p:attrName>style.visibility</p:attrName>
                                        </p:attrNameLst>
                                      </p:cBhvr>
                                      <p:to>
                                        <p:strVal val="visible"/>
                                      </p:to>
                                    </p:set>
                                    <p:animEffect transition="in" filter="slide(fromBottom)">
                                      <p:cBhvr>
                                        <p:cTn id="37" dur="500"/>
                                        <p:tgtEl>
                                          <p:spTgt spid="33">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nodeType="clickEffect">
                                  <p:stCondLst>
                                    <p:cond delay="0"/>
                                  </p:stCondLst>
                                  <p:childTnLst>
                                    <p:set>
                                      <p:cBhvr>
                                        <p:cTn id="41" dur="1" fill="hold">
                                          <p:stCondLst>
                                            <p:cond delay="0"/>
                                          </p:stCondLst>
                                        </p:cTn>
                                        <p:tgtEl>
                                          <p:spTgt spid="34">
                                            <p:txEl>
                                              <p:pRg st="0" end="0"/>
                                            </p:txEl>
                                          </p:spTgt>
                                        </p:tgtEl>
                                        <p:attrNameLst>
                                          <p:attrName>style.visibility</p:attrName>
                                        </p:attrNameLst>
                                      </p:cBhvr>
                                      <p:to>
                                        <p:strVal val="visible"/>
                                      </p:to>
                                    </p:set>
                                    <p:animEffect transition="in" filter="slide(fromBottom)">
                                      <p:cBhvr>
                                        <p:cTn id="42" dur="500"/>
                                        <p:tgtEl>
                                          <p:spTgt spid="3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35">
                                            <p:txEl>
                                              <p:pRg st="0" end="0"/>
                                            </p:txEl>
                                          </p:spTgt>
                                        </p:tgtEl>
                                        <p:attrNameLst>
                                          <p:attrName>style.visibility</p:attrName>
                                        </p:attrNameLst>
                                      </p:cBhvr>
                                      <p:to>
                                        <p:strVal val="visible"/>
                                      </p:to>
                                    </p:set>
                                    <p:animEffect transition="in" filter="slide(fromBottom)">
                                      <p:cBhvr>
                                        <p:cTn id="47" dur="500"/>
                                        <p:tgtEl>
                                          <p:spTgt spid="3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36">
                                            <p:txEl>
                                              <p:pRg st="0" end="0"/>
                                            </p:txEl>
                                          </p:spTgt>
                                        </p:tgtEl>
                                        <p:attrNameLst>
                                          <p:attrName>style.visibility</p:attrName>
                                        </p:attrNameLst>
                                      </p:cBhvr>
                                      <p:to>
                                        <p:strVal val="visible"/>
                                      </p:to>
                                    </p:set>
                                    <p:animEffect transition="in" filter="slide(fromBottom)">
                                      <p:cBhvr>
                                        <p:cTn id="52" dur="500"/>
                                        <p:tgtEl>
                                          <p:spTgt spid="36">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slide(fromBottom)">
                                      <p:cBhvr>
                                        <p:cTn id="57" dur="500"/>
                                        <p:tgtEl>
                                          <p:spTgt spid="27"/>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4" fill="hold" grpId="0"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slide(fromBottom)">
                                      <p:cBhvr>
                                        <p:cTn id="62" dur="5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slide(fromBottom)">
                                      <p:cBhvr>
                                        <p:cTn id="67" dur="500"/>
                                        <p:tgtEl>
                                          <p:spTgt spid="29"/>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4" fill="hold" grpId="0" nodeType="click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slide(fromBottom)">
                                      <p:cBhvr>
                                        <p:cTn id="72" dur="500"/>
                                        <p:tgtEl>
                                          <p:spTgt spid="30"/>
                                        </p:tgtEl>
                                      </p:cBhvr>
                                    </p:animEffect>
                                  </p:childTnLst>
                                </p:cTn>
                              </p:par>
                            </p:childTnLst>
                          </p:cTn>
                        </p:par>
                      </p:childTnLst>
                    </p:cTn>
                  </p:par>
                  <p:par>
                    <p:cTn id="73" fill="hold">
                      <p:stCondLst>
                        <p:cond delay="indefinite"/>
                      </p:stCondLst>
                      <p:childTnLst>
                        <p:par>
                          <p:cTn id="74" fill="hold">
                            <p:stCondLst>
                              <p:cond delay="0"/>
                            </p:stCondLst>
                            <p:childTnLst>
                              <p:par>
                                <p:cTn id="75" presetID="12" presetClass="entr" presetSubtype="4" fill="hold" grpId="0" nodeType="click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slide(fromBottom)">
                                      <p:cBhvr>
                                        <p:cTn id="77" dur="500"/>
                                        <p:tgtEl>
                                          <p:spTgt spid="31"/>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4" fill="hold" grpId="0" nodeType="click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slide(fromBottom)">
                                      <p:cBhvr>
                                        <p:cTn id="8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bldLvl="2" autoUpdateAnimBg="0"/>
      <p:bldP spid="27" grpId="0" autoUpdateAnimBg="0"/>
      <p:bldP spid="28" grpId="0" autoUpdateAnimBg="0"/>
      <p:bldP spid="29" grpId="0" autoUpdateAnimBg="0"/>
      <p:bldP spid="30" grpId="0" autoUpdateAnimBg="0"/>
      <p:bldP spid="31" grpId="0" autoUpdateAnimBg="0"/>
      <p:bldP spid="32" grpId="0" autoUpdateAnimBg="0"/>
      <p:bldP spid="33" grpId="0" build="p" bldLvl="2" autoUpdateAnimBg="0"/>
      <p:bldP spid="35" grpId="0" build="p" bldLvl="2" autoUpdateAnimBg="0"/>
      <p:bldP spid="36" grpId="0" build="p" bldLvl="2"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布尔表达式语句</a:t>
            </a:r>
            <a:endParaRPr lang="zh-CN" altLang="en-US" dirty="0"/>
          </a:p>
        </p:txBody>
      </p:sp>
      <p:sp>
        <p:nvSpPr>
          <p:cNvPr id="4" name="Rectangle 9"/>
          <p:cNvSpPr txBox="1">
            <a:spLocks noChangeArrowheads="1"/>
          </p:cNvSpPr>
          <p:nvPr/>
        </p:nvSpPr>
        <p:spPr>
          <a:xfrm>
            <a:off x="381000" y="1295400"/>
            <a:ext cx="8458200" cy="1066800"/>
          </a:xfrm>
          <a:prstGeom prst="rect">
            <a:avLst/>
          </a:prstGeom>
          <a:noFill/>
          <a:ln/>
        </p:spPr>
        <p:txBody>
          <a:bodyPr vert="horz" lIns="92075" tIns="46038" rIns="92075" bIns="46038" rtlCol="0">
            <a:normAutofit/>
          </a:bodyPr>
          <a:lst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a:solidFill>
                  <a:srgbClr val="0206AD"/>
                </a:solidFill>
                <a:uFillTx/>
                <a:latin typeface="Times New Roman" panose="02020603050405020304" charset="0"/>
                <a:ea typeface="黑体" panose="02010609060101010101" charset="-122"/>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a:solidFill>
                  <a:srgbClr val="0066FF"/>
                </a:solidFill>
                <a:uFillTx/>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a:solidFill>
                  <a:srgbClr val="0206AD"/>
                </a:solidFill>
                <a:uFillTx/>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a:latin typeface="宋体" charset="-122"/>
              </a:rPr>
              <a:t>若用</a:t>
            </a:r>
            <a:r>
              <a:rPr lang="en-US" altLang="zh-CN" sz="2800">
                <a:latin typeface="宋体" charset="-122"/>
              </a:rPr>
              <a:t>1</a:t>
            </a:r>
            <a:r>
              <a:rPr lang="zh-CN" altLang="en-US" sz="2800">
                <a:latin typeface="宋体" charset="-122"/>
              </a:rPr>
              <a:t>表示真，</a:t>
            </a:r>
            <a:r>
              <a:rPr lang="en-US" altLang="zh-CN" sz="2800">
                <a:latin typeface="宋体" charset="-122"/>
              </a:rPr>
              <a:t>0</a:t>
            </a:r>
            <a:r>
              <a:rPr lang="zh-CN" altLang="en-US" sz="2800">
                <a:latin typeface="宋体" charset="-122"/>
              </a:rPr>
              <a:t>表示假，则布尔表达式可以象算术表达式一样来计算</a:t>
            </a:r>
          </a:p>
        </p:txBody>
      </p:sp>
      <p:sp>
        <p:nvSpPr>
          <p:cNvPr id="5" name="Rectangle 10"/>
          <p:cNvSpPr>
            <a:spLocks noChangeArrowheads="1"/>
          </p:cNvSpPr>
          <p:nvPr/>
        </p:nvSpPr>
        <p:spPr bwMode="auto">
          <a:xfrm>
            <a:off x="4267200" y="2133600"/>
            <a:ext cx="44196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10000"/>
              </a:spcBef>
              <a:buClr>
                <a:schemeClr val="folHlink"/>
              </a:buClr>
              <a:buFont typeface="Monotype Sorts" pitchFamily="2" charset="2"/>
              <a:buBlip>
                <a:blip r:embed="rId2"/>
              </a:buBlip>
            </a:pPr>
            <a:r>
              <a:rPr kumimoji="1" lang="zh-CN" altLang="en-US" sz="2800">
                <a:latin typeface="宋体" charset="-122"/>
              </a:rPr>
              <a:t>例如 关系表达式 </a:t>
            </a:r>
            <a:r>
              <a:rPr kumimoji="1" lang="en-US" altLang="zh-CN" sz="2800">
                <a:latin typeface="宋体" charset="-122"/>
              </a:rPr>
              <a:t>a&lt;b  </a:t>
            </a:r>
            <a:r>
              <a:rPr kumimoji="1" lang="zh-CN" altLang="en-US" sz="2800">
                <a:latin typeface="宋体" charset="-122"/>
              </a:rPr>
              <a:t>可等价地写成</a:t>
            </a:r>
            <a:r>
              <a:rPr kumimoji="1" lang="en-US" altLang="zh-CN" sz="2800">
                <a:latin typeface="宋体" charset="-122"/>
              </a:rPr>
              <a:t>:</a:t>
            </a:r>
          </a:p>
          <a:p>
            <a:pPr eaLnBrk="0" hangingPunct="0">
              <a:lnSpc>
                <a:spcPct val="90000"/>
              </a:lnSpc>
              <a:spcBef>
                <a:spcPct val="10000"/>
              </a:spcBef>
              <a:buClr>
                <a:schemeClr val="folHlink"/>
              </a:buClr>
              <a:buFont typeface="Monotype Sorts" pitchFamily="2" charset="2"/>
              <a:buNone/>
            </a:pPr>
            <a:r>
              <a:rPr kumimoji="1" lang="en-US" altLang="zh-CN" sz="2800">
                <a:latin typeface="宋体" charset="-122"/>
              </a:rPr>
              <a:t>  if a&lt;b then 1 else 0</a:t>
            </a:r>
            <a:r>
              <a:rPr kumimoji="1" lang="zh-CN" altLang="en-US" sz="2800">
                <a:latin typeface="宋体" charset="-122"/>
              </a:rPr>
              <a:t>翻译成三地址代码：</a:t>
            </a:r>
          </a:p>
          <a:p>
            <a:pPr eaLnBrk="0" hangingPunct="0">
              <a:lnSpc>
                <a:spcPct val="90000"/>
              </a:lnSpc>
              <a:spcBef>
                <a:spcPct val="10000"/>
              </a:spcBef>
              <a:buClr>
                <a:schemeClr val="folHlink"/>
              </a:buClr>
              <a:buSzPct val="75000"/>
              <a:buFont typeface="Monotype Sorts" pitchFamily="2" charset="2"/>
              <a:buNone/>
            </a:pPr>
            <a:r>
              <a:rPr kumimoji="1" lang="zh-CN" altLang="en-US" sz="2800">
                <a:latin typeface="宋体" charset="-122"/>
              </a:rPr>
              <a:t>   </a:t>
            </a:r>
            <a:r>
              <a:rPr kumimoji="1" lang="en-US" altLang="zh-CN" sz="2800">
                <a:latin typeface="宋体" charset="-122"/>
              </a:rPr>
              <a:t>100 if a&lt;b goto 103</a:t>
            </a:r>
          </a:p>
          <a:p>
            <a:pPr eaLnBrk="0" hangingPunct="0">
              <a:lnSpc>
                <a:spcPct val="90000"/>
              </a:lnSpc>
              <a:spcBef>
                <a:spcPct val="10000"/>
              </a:spcBef>
              <a:buClr>
                <a:schemeClr val="folHlink"/>
              </a:buClr>
              <a:buSzPct val="75000"/>
              <a:buFont typeface="Monotype Sorts" pitchFamily="2" charset="2"/>
              <a:buNone/>
            </a:pPr>
            <a:r>
              <a:rPr kumimoji="1" lang="en-US" altLang="zh-CN" sz="2800">
                <a:latin typeface="宋体" charset="-122"/>
              </a:rPr>
              <a:t>   101 T</a:t>
            </a:r>
            <a:r>
              <a:rPr kumimoji="1" lang="en-US" altLang="zh-CN" sz="2800" baseline="-10000">
                <a:latin typeface="宋体" charset="-122"/>
              </a:rPr>
              <a:t>1</a:t>
            </a:r>
            <a:r>
              <a:rPr kumimoji="1" lang="en-US" altLang="zh-CN" sz="2800">
                <a:latin typeface="宋体" charset="-122"/>
              </a:rPr>
              <a:t>:=0</a:t>
            </a:r>
          </a:p>
          <a:p>
            <a:pPr eaLnBrk="0" hangingPunct="0">
              <a:lnSpc>
                <a:spcPct val="90000"/>
              </a:lnSpc>
              <a:spcBef>
                <a:spcPct val="10000"/>
              </a:spcBef>
              <a:buClr>
                <a:schemeClr val="folHlink"/>
              </a:buClr>
              <a:buSzPct val="75000"/>
              <a:buFont typeface="Monotype Sorts" pitchFamily="2" charset="2"/>
              <a:buNone/>
            </a:pPr>
            <a:r>
              <a:rPr kumimoji="1" lang="en-US" altLang="zh-CN" sz="2800">
                <a:latin typeface="宋体" charset="-122"/>
              </a:rPr>
              <a:t>   102 goto 104 </a:t>
            </a:r>
          </a:p>
          <a:p>
            <a:pPr eaLnBrk="0" hangingPunct="0">
              <a:lnSpc>
                <a:spcPct val="90000"/>
              </a:lnSpc>
              <a:spcBef>
                <a:spcPct val="10000"/>
              </a:spcBef>
              <a:buClr>
                <a:schemeClr val="folHlink"/>
              </a:buClr>
              <a:buSzPct val="75000"/>
              <a:buFont typeface="Monotype Sorts" pitchFamily="2" charset="2"/>
              <a:buNone/>
            </a:pPr>
            <a:r>
              <a:rPr kumimoji="1" lang="en-US" altLang="zh-CN" sz="2800">
                <a:latin typeface="宋体" charset="-122"/>
              </a:rPr>
              <a:t>   103 T</a:t>
            </a:r>
            <a:r>
              <a:rPr kumimoji="1" lang="en-US" altLang="zh-CN" sz="2800" baseline="-10000">
                <a:latin typeface="宋体" charset="-122"/>
              </a:rPr>
              <a:t>1</a:t>
            </a:r>
            <a:r>
              <a:rPr kumimoji="1" lang="en-US" altLang="zh-CN" sz="2800">
                <a:latin typeface="宋体" charset="-122"/>
              </a:rPr>
              <a:t>:=1</a:t>
            </a:r>
          </a:p>
          <a:p>
            <a:pPr eaLnBrk="0" hangingPunct="0">
              <a:lnSpc>
                <a:spcPct val="90000"/>
              </a:lnSpc>
              <a:spcBef>
                <a:spcPct val="10000"/>
              </a:spcBef>
              <a:buClr>
                <a:schemeClr val="folHlink"/>
              </a:buClr>
              <a:buSzPct val="75000"/>
              <a:buFont typeface="Monotype Sorts" pitchFamily="2" charset="2"/>
              <a:buNone/>
            </a:pPr>
            <a:r>
              <a:rPr kumimoji="1" lang="en-US" altLang="zh-CN" sz="2800">
                <a:latin typeface="宋体" charset="-122"/>
              </a:rPr>
              <a:t>   104      </a:t>
            </a:r>
          </a:p>
        </p:txBody>
      </p:sp>
      <p:sp>
        <p:nvSpPr>
          <p:cNvPr id="6" name="Rectangle 11"/>
          <p:cNvSpPr>
            <a:spLocks noChangeArrowheads="1"/>
          </p:cNvSpPr>
          <p:nvPr/>
        </p:nvSpPr>
        <p:spPr bwMode="auto">
          <a:xfrm>
            <a:off x="381000" y="2209800"/>
            <a:ext cx="40386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10000"/>
              </a:spcBef>
              <a:buClr>
                <a:schemeClr val="tx2"/>
              </a:buClr>
              <a:buFont typeface="Monotype Sorts" pitchFamily="2" charset="2"/>
              <a:buBlip>
                <a:blip r:embed="rId2"/>
              </a:buBlip>
            </a:pPr>
            <a:r>
              <a:rPr kumimoji="1" lang="zh-CN" altLang="en-US" sz="2800">
                <a:latin typeface="宋体" charset="-122"/>
              </a:rPr>
              <a:t>例如 逻辑表达式</a:t>
            </a:r>
          </a:p>
          <a:p>
            <a:pPr eaLnBrk="0" hangingPunct="0">
              <a:lnSpc>
                <a:spcPct val="90000"/>
              </a:lnSpc>
              <a:spcBef>
                <a:spcPct val="10000"/>
              </a:spcBef>
              <a:buClr>
                <a:schemeClr val="tx2"/>
              </a:buClr>
              <a:buFont typeface="Monotype Sorts" pitchFamily="2" charset="2"/>
              <a:buNone/>
            </a:pPr>
            <a:r>
              <a:rPr kumimoji="1" lang="zh-CN" altLang="en-US" sz="2800">
                <a:latin typeface="宋体" charset="-122"/>
              </a:rPr>
              <a:t>  </a:t>
            </a:r>
            <a:r>
              <a:rPr kumimoji="1" lang="en-US" altLang="zh-CN" sz="2800">
                <a:latin typeface="宋体" charset="-122"/>
              </a:rPr>
              <a:t>a or b and not c</a:t>
            </a:r>
          </a:p>
          <a:p>
            <a:pPr eaLnBrk="0" hangingPunct="0">
              <a:lnSpc>
                <a:spcPct val="90000"/>
              </a:lnSpc>
              <a:spcBef>
                <a:spcPct val="10000"/>
              </a:spcBef>
              <a:buClr>
                <a:schemeClr val="tx2"/>
              </a:buClr>
              <a:buFont typeface="Monotype Sorts" pitchFamily="2" charset="2"/>
              <a:buNone/>
            </a:pPr>
            <a:r>
              <a:rPr kumimoji="1" lang="en-US" altLang="zh-CN" sz="2800">
                <a:latin typeface="宋体" charset="-122"/>
              </a:rPr>
              <a:t>  </a:t>
            </a:r>
            <a:r>
              <a:rPr kumimoji="1" lang="zh-CN" altLang="en-US" sz="2800">
                <a:latin typeface="宋体" charset="-122"/>
              </a:rPr>
              <a:t>翻译成三地址代码：</a:t>
            </a:r>
          </a:p>
          <a:p>
            <a:pPr lvl="1" eaLnBrk="0" hangingPunct="0">
              <a:lnSpc>
                <a:spcPct val="90000"/>
              </a:lnSpc>
              <a:spcBef>
                <a:spcPct val="10000"/>
              </a:spcBef>
              <a:buClr>
                <a:schemeClr val="folHlink"/>
              </a:buClr>
              <a:buSzPct val="75000"/>
              <a:buFont typeface="Monotype Sorts" pitchFamily="2" charset="2"/>
              <a:buNone/>
            </a:pPr>
            <a:r>
              <a:rPr kumimoji="1" lang="en-US" altLang="zh-CN" sz="2800">
                <a:latin typeface="宋体" charset="-122"/>
              </a:rPr>
              <a:t>(1)T</a:t>
            </a:r>
            <a:r>
              <a:rPr kumimoji="1" lang="en-US" altLang="zh-CN" sz="2800" baseline="-10000">
                <a:latin typeface="宋体" charset="-122"/>
              </a:rPr>
              <a:t>1</a:t>
            </a:r>
            <a:r>
              <a:rPr kumimoji="1" lang="en-US" altLang="zh-CN" sz="2800">
                <a:latin typeface="宋体" charset="-122"/>
              </a:rPr>
              <a:t>:=not c</a:t>
            </a:r>
          </a:p>
          <a:p>
            <a:pPr lvl="1" eaLnBrk="0" hangingPunct="0">
              <a:lnSpc>
                <a:spcPct val="90000"/>
              </a:lnSpc>
              <a:spcBef>
                <a:spcPct val="10000"/>
              </a:spcBef>
              <a:buClr>
                <a:schemeClr val="folHlink"/>
              </a:buClr>
              <a:buSzPct val="75000"/>
              <a:buFont typeface="Monotype Sorts" pitchFamily="2" charset="2"/>
              <a:buNone/>
            </a:pPr>
            <a:r>
              <a:rPr kumimoji="1" lang="en-US" altLang="zh-CN" sz="2800">
                <a:latin typeface="宋体" charset="-122"/>
              </a:rPr>
              <a:t>(2)T</a:t>
            </a:r>
            <a:r>
              <a:rPr kumimoji="1" lang="en-US" altLang="zh-CN" sz="2800" baseline="-10000">
                <a:latin typeface="宋体" charset="-122"/>
              </a:rPr>
              <a:t>2</a:t>
            </a:r>
            <a:r>
              <a:rPr kumimoji="1" lang="en-US" altLang="zh-CN" sz="2800">
                <a:latin typeface="宋体" charset="-122"/>
              </a:rPr>
              <a:t>:=b and T</a:t>
            </a:r>
            <a:r>
              <a:rPr kumimoji="1" lang="en-US" altLang="zh-CN" sz="2800" baseline="-10000">
                <a:latin typeface="宋体" charset="-122"/>
              </a:rPr>
              <a:t>1</a:t>
            </a:r>
            <a:r>
              <a:rPr kumimoji="1" lang="en-US" altLang="zh-CN" sz="2800">
                <a:latin typeface="宋体" charset="-122"/>
              </a:rPr>
              <a:t>	</a:t>
            </a:r>
          </a:p>
          <a:p>
            <a:pPr lvl="1" eaLnBrk="0" hangingPunct="0">
              <a:lnSpc>
                <a:spcPct val="90000"/>
              </a:lnSpc>
              <a:spcBef>
                <a:spcPct val="10000"/>
              </a:spcBef>
              <a:buClr>
                <a:schemeClr val="folHlink"/>
              </a:buClr>
              <a:buSzPct val="75000"/>
              <a:buFont typeface="Monotype Sorts" pitchFamily="2" charset="2"/>
              <a:buNone/>
            </a:pPr>
            <a:r>
              <a:rPr kumimoji="1" lang="en-US" altLang="zh-CN" sz="2800">
                <a:latin typeface="宋体" charset="-122"/>
              </a:rPr>
              <a:t>(3)T</a:t>
            </a:r>
            <a:r>
              <a:rPr kumimoji="1" lang="en-US" altLang="zh-CN" sz="2800" baseline="-10000">
                <a:latin typeface="宋体" charset="-122"/>
              </a:rPr>
              <a:t>3</a:t>
            </a:r>
            <a:r>
              <a:rPr kumimoji="1" lang="en-US" altLang="zh-CN" sz="2800">
                <a:latin typeface="宋体" charset="-122"/>
              </a:rPr>
              <a:t>:=a or T</a:t>
            </a:r>
            <a:r>
              <a:rPr kumimoji="1" lang="en-US" altLang="zh-CN" sz="2800" baseline="-10000">
                <a:latin typeface="宋体" charset="-122"/>
              </a:rPr>
              <a:t>2</a:t>
            </a:r>
          </a:p>
        </p:txBody>
      </p:sp>
      <p:sp>
        <p:nvSpPr>
          <p:cNvPr id="7" name="Line 12"/>
          <p:cNvSpPr>
            <a:spLocks noChangeShapeType="1"/>
          </p:cNvSpPr>
          <p:nvPr/>
        </p:nvSpPr>
        <p:spPr bwMode="auto">
          <a:xfrm>
            <a:off x="7772400" y="4191000"/>
            <a:ext cx="609600" cy="0"/>
          </a:xfrm>
          <a:prstGeom prst="line">
            <a:avLst/>
          </a:prstGeom>
          <a:noFill/>
          <a:ln w="381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Rectangle 13"/>
          <p:cNvSpPr>
            <a:spLocks noChangeArrowheads="1"/>
          </p:cNvSpPr>
          <p:nvPr/>
        </p:nvSpPr>
        <p:spPr bwMode="auto">
          <a:xfrm>
            <a:off x="7897813" y="4114800"/>
            <a:ext cx="11699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2800">
                <a:solidFill>
                  <a:schemeClr val="hlink"/>
                </a:solidFill>
                <a:latin typeface="宋体" charset="-122"/>
              </a:rPr>
              <a:t>100</a:t>
            </a:r>
            <a:r>
              <a:rPr kumimoji="1" lang="en-US" altLang="zh-CN" sz="2800">
                <a:latin typeface="宋体" charset="-122"/>
              </a:rPr>
              <a:t>+3</a:t>
            </a:r>
          </a:p>
        </p:txBody>
      </p:sp>
      <p:sp>
        <p:nvSpPr>
          <p:cNvPr id="9" name="Line 14"/>
          <p:cNvSpPr>
            <a:spLocks noChangeShapeType="1"/>
          </p:cNvSpPr>
          <p:nvPr/>
        </p:nvSpPr>
        <p:spPr bwMode="auto">
          <a:xfrm>
            <a:off x="6477000" y="5029200"/>
            <a:ext cx="685800" cy="0"/>
          </a:xfrm>
          <a:prstGeom prst="line">
            <a:avLst/>
          </a:prstGeom>
          <a:noFill/>
          <a:ln w="381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Rectangle 15"/>
          <p:cNvSpPr>
            <a:spLocks noChangeArrowheads="1"/>
          </p:cNvSpPr>
          <p:nvPr/>
        </p:nvSpPr>
        <p:spPr bwMode="auto">
          <a:xfrm>
            <a:off x="6781800" y="4967288"/>
            <a:ext cx="1219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2800">
                <a:solidFill>
                  <a:schemeClr val="hlink"/>
                </a:solidFill>
                <a:latin typeface="宋体" charset="-122"/>
              </a:rPr>
              <a:t>102</a:t>
            </a:r>
            <a:r>
              <a:rPr kumimoji="1" lang="en-US" altLang="zh-CN" sz="2800">
                <a:latin typeface="宋体" charset="-122"/>
              </a:rPr>
              <a:t>+2</a:t>
            </a:r>
          </a:p>
        </p:txBody>
      </p:sp>
      <p:sp>
        <p:nvSpPr>
          <p:cNvPr id="11" name="Line 22"/>
          <p:cNvSpPr>
            <a:spLocks noChangeShapeType="1"/>
          </p:cNvSpPr>
          <p:nvPr/>
        </p:nvSpPr>
        <p:spPr bwMode="auto">
          <a:xfrm>
            <a:off x="4038600" y="4038600"/>
            <a:ext cx="838200" cy="0"/>
          </a:xfrm>
          <a:prstGeom prst="line">
            <a:avLst/>
          </a:prstGeom>
          <a:noFill/>
          <a:ln w="38100">
            <a:solidFill>
              <a:srgbClr val="0000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23"/>
          <p:cNvSpPr>
            <a:spLocks noChangeShapeType="1"/>
          </p:cNvSpPr>
          <p:nvPr/>
        </p:nvSpPr>
        <p:spPr bwMode="auto">
          <a:xfrm>
            <a:off x="4191000" y="4876800"/>
            <a:ext cx="762000" cy="0"/>
          </a:xfrm>
          <a:prstGeom prst="line">
            <a:avLst/>
          </a:prstGeom>
          <a:noFill/>
          <a:ln w="38100">
            <a:solidFill>
              <a:srgbClr val="0000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AutoShape 24"/>
          <p:cNvSpPr>
            <a:spLocks noChangeArrowheads="1"/>
          </p:cNvSpPr>
          <p:nvPr/>
        </p:nvSpPr>
        <p:spPr bwMode="auto">
          <a:xfrm>
            <a:off x="2057400" y="4800600"/>
            <a:ext cx="1981200" cy="609600"/>
          </a:xfrm>
          <a:prstGeom prst="cloudCallout">
            <a:avLst>
              <a:gd name="adj1" fmla="val 91505"/>
              <a:gd name="adj2" fmla="val -108593"/>
            </a:avLst>
          </a:prstGeom>
          <a:noFill/>
          <a:ln w="28575">
            <a:solidFill>
              <a:srgbClr val="009900"/>
            </a:solidFill>
            <a:round/>
            <a:headEnd/>
            <a:tailEnd/>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400">
                <a:solidFill>
                  <a:srgbClr val="009900"/>
                </a:solidFill>
                <a:latin typeface="宋体" charset="-122"/>
              </a:rPr>
              <a:t>a&lt;b</a:t>
            </a:r>
            <a:r>
              <a:rPr lang="zh-CN" altLang="en-US" sz="2400">
                <a:solidFill>
                  <a:srgbClr val="009900"/>
                </a:solidFill>
                <a:latin typeface="宋体" charset="-122"/>
              </a:rPr>
              <a:t>为假</a:t>
            </a:r>
          </a:p>
        </p:txBody>
      </p:sp>
      <p:sp>
        <p:nvSpPr>
          <p:cNvPr id="14" name="AutoShape 25"/>
          <p:cNvSpPr>
            <a:spLocks noChangeArrowheads="1"/>
          </p:cNvSpPr>
          <p:nvPr/>
        </p:nvSpPr>
        <p:spPr bwMode="auto">
          <a:xfrm>
            <a:off x="2438400" y="5791200"/>
            <a:ext cx="1981200" cy="609600"/>
          </a:xfrm>
          <a:prstGeom prst="cloudCallout">
            <a:avLst>
              <a:gd name="adj1" fmla="val 73718"/>
              <a:gd name="adj2" fmla="val -133593"/>
            </a:avLst>
          </a:prstGeom>
          <a:noFill/>
          <a:ln w="28575">
            <a:solidFill>
              <a:srgbClr val="FF0000"/>
            </a:solidFill>
            <a:round/>
            <a:headEnd/>
            <a:tailEnd/>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400">
                <a:solidFill>
                  <a:srgbClr val="FF0000"/>
                </a:solidFill>
                <a:latin typeface="宋体" charset="-122"/>
              </a:rPr>
              <a:t>a&lt;b</a:t>
            </a:r>
            <a:r>
              <a:rPr lang="zh-CN" altLang="en-US" sz="2400">
                <a:solidFill>
                  <a:srgbClr val="FF0000"/>
                </a:solidFill>
                <a:latin typeface="宋体" charset="-122"/>
              </a:rPr>
              <a:t>为真</a:t>
            </a:r>
          </a:p>
        </p:txBody>
      </p:sp>
      <p:sp>
        <p:nvSpPr>
          <p:cNvPr id="15" name="AutoShape 26"/>
          <p:cNvSpPr>
            <a:spLocks noChangeArrowheads="1"/>
          </p:cNvSpPr>
          <p:nvPr/>
        </p:nvSpPr>
        <p:spPr bwMode="auto">
          <a:xfrm>
            <a:off x="5334000" y="6019800"/>
            <a:ext cx="2667000" cy="609600"/>
          </a:xfrm>
          <a:prstGeom prst="cloudCallout">
            <a:avLst>
              <a:gd name="adj1" fmla="val -40713"/>
              <a:gd name="adj2" fmla="val -92449"/>
            </a:avLst>
          </a:prstGeom>
          <a:noFill/>
          <a:ln w="28575">
            <a:solidFill>
              <a:srgbClr val="0000FF"/>
            </a:solidFill>
            <a:round/>
            <a:headEnd/>
            <a:tailEnd/>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a:solidFill>
                  <a:schemeClr val="hlink"/>
                </a:solidFill>
                <a:latin typeface="宋体" charset="-122"/>
              </a:rPr>
              <a:t>后续代码</a:t>
            </a:r>
          </a:p>
        </p:txBody>
      </p:sp>
      <p:sp>
        <p:nvSpPr>
          <p:cNvPr id="16" name="Rectangle 27"/>
          <p:cNvSpPr>
            <a:spLocks noChangeArrowheads="1"/>
          </p:cNvSpPr>
          <p:nvPr/>
        </p:nvSpPr>
        <p:spPr bwMode="auto">
          <a:xfrm>
            <a:off x="3505200" y="3581400"/>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a:solidFill>
                  <a:schemeClr val="hlink"/>
                </a:solidFill>
                <a:effectLst>
                  <a:outerShdw blurRad="38100" dist="38100" dir="2700000" algn="tl">
                    <a:srgbClr val="C0C0C0"/>
                  </a:outerShdw>
                </a:effectLst>
                <a:latin typeface="宋体" charset="-122"/>
              </a:rPr>
              <a:t>nextstat</a:t>
            </a:r>
          </a:p>
        </p:txBody>
      </p:sp>
      <p:sp>
        <p:nvSpPr>
          <p:cNvPr id="2" name="灯片编号占位符 1">
            <a:extLst>
              <a:ext uri="{FF2B5EF4-FFF2-40B4-BE49-F238E27FC236}">
                <a16:creationId xmlns:a16="http://schemas.microsoft.com/office/drawing/2014/main" id="{C8DAC126-5450-4386-9133-A0BFFC964418}"/>
              </a:ext>
            </a:extLst>
          </p:cNvPr>
          <p:cNvSpPr>
            <a:spLocks noGrp="1"/>
          </p:cNvSpPr>
          <p:nvPr>
            <p:ph type="sldNum" sz="quarter" idx="4"/>
          </p:nvPr>
        </p:nvSpPr>
        <p:spPr/>
        <p:txBody>
          <a:bodyPr/>
          <a:lstStyle/>
          <a:p>
            <a:fld id="{565CE74E-AB26-4998-AD42-012C4C1AD076}" type="slidenum">
              <a:rPr lang="zh-CN" altLang="en-US" smtClean="0"/>
              <a:pPr/>
              <a:t>56</a:t>
            </a:fld>
            <a:endParaRPr lang="zh-CN" altLang="en-US"/>
          </a:p>
        </p:txBody>
      </p:sp>
    </p:spTree>
    <p:extLst>
      <p:ext uri="{BB962C8B-B14F-4D97-AF65-F5344CB8AC3E}">
        <p14:creationId xmlns:p14="http://schemas.microsoft.com/office/powerpoint/2010/main" val="2480554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Bottom)">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slide(fromBottom)">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slide(fromBottom)">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slide(fromBottom)">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slide(fromBottom)">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slide(fromBottom)">
                                      <p:cBhvr>
                                        <p:cTn id="32" dur="5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slide(fromBottom)">
                                      <p:cBhvr>
                                        <p:cTn id="37" dur="500"/>
                                        <p:tgtEl>
                                          <p:spTgt spid="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5">
                                            <p:txEl>
                                              <p:pRg st="0" end="0"/>
                                            </p:txEl>
                                          </p:spTgt>
                                        </p:tgtEl>
                                        <p:attrNameLst>
                                          <p:attrName>style.visibility</p:attrName>
                                        </p:attrNameLst>
                                      </p:cBhvr>
                                      <p:to>
                                        <p:strVal val="visible"/>
                                      </p:to>
                                    </p:set>
                                    <p:animEffect transition="in" filter="slide(fromBottom)">
                                      <p:cBhvr>
                                        <p:cTn id="42" dur="500"/>
                                        <p:tgtEl>
                                          <p:spTgt spid="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5">
                                            <p:txEl>
                                              <p:pRg st="1" end="1"/>
                                            </p:txEl>
                                          </p:spTgt>
                                        </p:tgtEl>
                                        <p:attrNameLst>
                                          <p:attrName>style.visibility</p:attrName>
                                        </p:attrNameLst>
                                      </p:cBhvr>
                                      <p:to>
                                        <p:strVal val="visible"/>
                                      </p:to>
                                    </p:set>
                                    <p:animEffect transition="in" filter="slide(fromBottom)">
                                      <p:cBhvr>
                                        <p:cTn id="47" dur="500"/>
                                        <p:tgtEl>
                                          <p:spTgt spid="5">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5">
                                            <p:txEl>
                                              <p:pRg st="2" end="2"/>
                                            </p:txEl>
                                          </p:spTgt>
                                        </p:tgtEl>
                                        <p:attrNameLst>
                                          <p:attrName>style.visibility</p:attrName>
                                        </p:attrNameLst>
                                      </p:cBhvr>
                                      <p:to>
                                        <p:strVal val="visible"/>
                                      </p:to>
                                    </p:set>
                                    <p:animEffect transition="in" filter="slide(fromBottom)">
                                      <p:cBhvr>
                                        <p:cTn id="52" dur="500"/>
                                        <p:tgtEl>
                                          <p:spTgt spid="5">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5">
                                            <p:txEl>
                                              <p:pRg st="3" end="3"/>
                                            </p:txEl>
                                          </p:spTgt>
                                        </p:tgtEl>
                                        <p:attrNameLst>
                                          <p:attrName>style.visibility</p:attrName>
                                        </p:attrNameLst>
                                      </p:cBhvr>
                                      <p:to>
                                        <p:strVal val="visible"/>
                                      </p:to>
                                    </p:set>
                                    <p:animEffect transition="in" filter="slide(fromBottom)">
                                      <p:cBhvr>
                                        <p:cTn id="57" dur="500"/>
                                        <p:tgtEl>
                                          <p:spTgt spid="5">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4" fill="hold" grpId="0" nodeType="clickEffect">
                                  <p:stCondLst>
                                    <p:cond delay="0"/>
                                  </p:stCondLst>
                                  <p:childTnLst>
                                    <p:set>
                                      <p:cBhvr>
                                        <p:cTn id="61" dur="1" fill="hold">
                                          <p:stCondLst>
                                            <p:cond delay="0"/>
                                          </p:stCondLst>
                                        </p:cTn>
                                        <p:tgtEl>
                                          <p:spTgt spid="5">
                                            <p:txEl>
                                              <p:pRg st="4" end="4"/>
                                            </p:txEl>
                                          </p:spTgt>
                                        </p:tgtEl>
                                        <p:attrNameLst>
                                          <p:attrName>style.visibility</p:attrName>
                                        </p:attrNameLst>
                                      </p:cBhvr>
                                      <p:to>
                                        <p:strVal val="visible"/>
                                      </p:to>
                                    </p:set>
                                    <p:animEffect transition="in" filter="slide(fromBottom)">
                                      <p:cBhvr>
                                        <p:cTn id="62" dur="500"/>
                                        <p:tgtEl>
                                          <p:spTgt spid="5">
                                            <p:txEl>
                                              <p:pRg st="4" end="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5">
                                            <p:txEl>
                                              <p:pRg st="5" end="5"/>
                                            </p:txEl>
                                          </p:spTgt>
                                        </p:tgtEl>
                                        <p:attrNameLst>
                                          <p:attrName>style.visibility</p:attrName>
                                        </p:attrNameLst>
                                      </p:cBhvr>
                                      <p:to>
                                        <p:strVal val="visible"/>
                                      </p:to>
                                    </p:set>
                                    <p:animEffect transition="in" filter="slide(fromBottom)">
                                      <p:cBhvr>
                                        <p:cTn id="67" dur="500"/>
                                        <p:tgtEl>
                                          <p:spTgt spid="5">
                                            <p:txEl>
                                              <p:pRg st="5" end="5"/>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4" fill="hold" grpId="0" nodeType="clickEffect">
                                  <p:stCondLst>
                                    <p:cond delay="0"/>
                                  </p:stCondLst>
                                  <p:childTnLst>
                                    <p:set>
                                      <p:cBhvr>
                                        <p:cTn id="71" dur="1" fill="hold">
                                          <p:stCondLst>
                                            <p:cond delay="0"/>
                                          </p:stCondLst>
                                        </p:cTn>
                                        <p:tgtEl>
                                          <p:spTgt spid="5">
                                            <p:txEl>
                                              <p:pRg st="6" end="6"/>
                                            </p:txEl>
                                          </p:spTgt>
                                        </p:tgtEl>
                                        <p:attrNameLst>
                                          <p:attrName>style.visibility</p:attrName>
                                        </p:attrNameLst>
                                      </p:cBhvr>
                                      <p:to>
                                        <p:strVal val="visible"/>
                                      </p:to>
                                    </p:set>
                                    <p:animEffect transition="in" filter="slide(fromBottom)">
                                      <p:cBhvr>
                                        <p:cTn id="72" dur="500"/>
                                        <p:tgtEl>
                                          <p:spTgt spid="5">
                                            <p:txEl>
                                              <p:pRg st="6" end="6"/>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8" presetClass="entr" presetSubtype="12" fill="hold" grpId="0" nodeType="click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strips(downLeft)">
                                      <p:cBhvr>
                                        <p:cTn id="77" dur="500"/>
                                        <p:tgtEl>
                                          <p:spTgt spid="13"/>
                                        </p:tgtEl>
                                      </p:cBhvr>
                                    </p:animEffect>
                                  </p:childTnLst>
                                </p:cTn>
                              </p:par>
                            </p:childTnLst>
                          </p:cTn>
                        </p:par>
                      </p:childTnLst>
                    </p:cTn>
                  </p:par>
                  <p:par>
                    <p:cTn id="78" fill="hold">
                      <p:stCondLst>
                        <p:cond delay="indefinite"/>
                      </p:stCondLst>
                      <p:childTnLst>
                        <p:par>
                          <p:cTn id="79" fill="hold">
                            <p:stCondLst>
                              <p:cond delay="0"/>
                            </p:stCondLst>
                            <p:childTnLst>
                              <p:par>
                                <p:cTn id="80" presetID="18" presetClass="entr" presetSubtype="12" fill="hold" grpId="0" nodeType="click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strips(downLeft)">
                                      <p:cBhvr>
                                        <p:cTn id="82" dur="500"/>
                                        <p:tgtEl>
                                          <p:spTgt spid="14"/>
                                        </p:tgtEl>
                                      </p:cBhvr>
                                    </p:animEffect>
                                  </p:childTnLst>
                                </p:cTn>
                              </p:par>
                            </p:childTnLst>
                          </p:cTn>
                        </p:par>
                      </p:childTnLst>
                    </p:cTn>
                  </p:par>
                  <p:par>
                    <p:cTn id="83" fill="hold">
                      <p:stCondLst>
                        <p:cond delay="indefinite"/>
                      </p:stCondLst>
                      <p:childTnLst>
                        <p:par>
                          <p:cTn id="84" fill="hold">
                            <p:stCondLst>
                              <p:cond delay="0"/>
                            </p:stCondLst>
                            <p:childTnLst>
                              <p:par>
                                <p:cTn id="85" presetID="18" presetClass="entr" presetSubtype="6" fill="hold" grpId="0" nodeType="clickEffect">
                                  <p:stCondLst>
                                    <p:cond delay="0"/>
                                  </p:stCondLst>
                                  <p:childTnLst>
                                    <p:set>
                                      <p:cBhvr>
                                        <p:cTn id="86" dur="1" fill="hold">
                                          <p:stCondLst>
                                            <p:cond delay="0"/>
                                          </p:stCondLst>
                                        </p:cTn>
                                        <p:tgtEl>
                                          <p:spTgt spid="15"/>
                                        </p:tgtEl>
                                        <p:attrNameLst>
                                          <p:attrName>style.visibility</p:attrName>
                                        </p:attrNameLst>
                                      </p:cBhvr>
                                      <p:to>
                                        <p:strVal val="visible"/>
                                      </p:to>
                                    </p:set>
                                    <p:animEffect transition="in" filter="strips(downRight)">
                                      <p:cBhvr>
                                        <p:cTn id="87" dur="500"/>
                                        <p:tgtEl>
                                          <p:spTgt spid="15"/>
                                        </p:tgtEl>
                                      </p:cBhvr>
                                    </p:animEffect>
                                  </p:childTnLst>
                                </p:cTn>
                              </p:par>
                            </p:childTnLst>
                          </p:cTn>
                        </p:par>
                      </p:childTnLst>
                    </p:cTn>
                  </p:par>
                  <p:par>
                    <p:cTn id="88" fill="hold">
                      <p:stCondLst>
                        <p:cond delay="indefinite"/>
                      </p:stCondLst>
                      <p:childTnLst>
                        <p:par>
                          <p:cTn id="89" fill="hold">
                            <p:stCondLst>
                              <p:cond delay="0"/>
                            </p:stCondLst>
                            <p:childTnLst>
                              <p:par>
                                <p:cTn id="90" presetID="17" presetClass="entr" presetSubtype="8" fill="hold" grpId="0" nodeType="clickEffect">
                                  <p:stCondLst>
                                    <p:cond delay="0"/>
                                  </p:stCondLst>
                                  <p:childTnLst>
                                    <p:set>
                                      <p:cBhvr>
                                        <p:cTn id="91" dur="1" fill="hold">
                                          <p:stCondLst>
                                            <p:cond delay="0"/>
                                          </p:stCondLst>
                                        </p:cTn>
                                        <p:tgtEl>
                                          <p:spTgt spid="11"/>
                                        </p:tgtEl>
                                        <p:attrNameLst>
                                          <p:attrName>style.visibility</p:attrName>
                                        </p:attrNameLst>
                                      </p:cBhvr>
                                      <p:to>
                                        <p:strVal val="visible"/>
                                      </p:to>
                                    </p:set>
                                    <p:anim calcmode="lin" valueType="num">
                                      <p:cBhvr>
                                        <p:cTn id="92" dur="500" fill="hold"/>
                                        <p:tgtEl>
                                          <p:spTgt spid="11"/>
                                        </p:tgtEl>
                                        <p:attrNameLst>
                                          <p:attrName>ppt_x</p:attrName>
                                        </p:attrNameLst>
                                      </p:cBhvr>
                                      <p:tavLst>
                                        <p:tav tm="0">
                                          <p:val>
                                            <p:strVal val="#ppt_x-#ppt_w/2"/>
                                          </p:val>
                                        </p:tav>
                                        <p:tav tm="100000">
                                          <p:val>
                                            <p:strVal val="#ppt_x"/>
                                          </p:val>
                                        </p:tav>
                                      </p:tavLst>
                                    </p:anim>
                                    <p:anim calcmode="lin" valueType="num">
                                      <p:cBhvr>
                                        <p:cTn id="93" dur="500" fill="hold"/>
                                        <p:tgtEl>
                                          <p:spTgt spid="11"/>
                                        </p:tgtEl>
                                        <p:attrNameLst>
                                          <p:attrName>ppt_y</p:attrName>
                                        </p:attrNameLst>
                                      </p:cBhvr>
                                      <p:tavLst>
                                        <p:tav tm="0">
                                          <p:val>
                                            <p:strVal val="#ppt_y"/>
                                          </p:val>
                                        </p:tav>
                                        <p:tav tm="100000">
                                          <p:val>
                                            <p:strVal val="#ppt_y"/>
                                          </p:val>
                                        </p:tav>
                                      </p:tavLst>
                                    </p:anim>
                                    <p:anim calcmode="lin" valueType="num">
                                      <p:cBhvr>
                                        <p:cTn id="94" dur="500" fill="hold"/>
                                        <p:tgtEl>
                                          <p:spTgt spid="11"/>
                                        </p:tgtEl>
                                        <p:attrNameLst>
                                          <p:attrName>ppt_w</p:attrName>
                                        </p:attrNameLst>
                                      </p:cBhvr>
                                      <p:tavLst>
                                        <p:tav tm="0">
                                          <p:val>
                                            <p:fltVal val="0"/>
                                          </p:val>
                                        </p:tav>
                                        <p:tav tm="100000">
                                          <p:val>
                                            <p:strVal val="#ppt_w"/>
                                          </p:val>
                                        </p:tav>
                                      </p:tavLst>
                                    </p:anim>
                                    <p:anim calcmode="lin" valueType="num">
                                      <p:cBhvr>
                                        <p:cTn id="95" dur="5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96" fill="hold">
                      <p:stCondLst>
                        <p:cond delay="indefinite"/>
                      </p:stCondLst>
                      <p:childTnLst>
                        <p:par>
                          <p:cTn id="97" fill="hold">
                            <p:stCondLst>
                              <p:cond delay="0"/>
                            </p:stCondLst>
                            <p:childTnLst>
                              <p:par>
                                <p:cTn id="98" presetID="18" presetClass="entr" presetSubtype="6" fill="hold" grpId="0" nodeType="clickEffect">
                                  <p:stCondLst>
                                    <p:cond delay="0"/>
                                  </p:stCondLst>
                                  <p:childTnLst>
                                    <p:set>
                                      <p:cBhvr>
                                        <p:cTn id="99" dur="1" fill="hold">
                                          <p:stCondLst>
                                            <p:cond delay="0"/>
                                          </p:stCondLst>
                                        </p:cTn>
                                        <p:tgtEl>
                                          <p:spTgt spid="16"/>
                                        </p:tgtEl>
                                        <p:attrNameLst>
                                          <p:attrName>style.visibility</p:attrName>
                                        </p:attrNameLst>
                                      </p:cBhvr>
                                      <p:to>
                                        <p:strVal val="visible"/>
                                      </p:to>
                                    </p:set>
                                    <p:animEffect transition="in" filter="strips(downRight)">
                                      <p:cBhvr>
                                        <p:cTn id="100" dur="500"/>
                                        <p:tgtEl>
                                          <p:spTgt spid="16"/>
                                        </p:tgtEl>
                                      </p:cBhvr>
                                    </p:animEffect>
                                  </p:childTnLst>
                                </p:cTn>
                              </p:par>
                            </p:childTnLst>
                          </p:cTn>
                        </p:par>
                      </p:childTnLst>
                    </p:cTn>
                  </p:par>
                  <p:par>
                    <p:cTn id="101" fill="hold">
                      <p:stCondLst>
                        <p:cond delay="indefinite"/>
                      </p:stCondLst>
                      <p:childTnLst>
                        <p:par>
                          <p:cTn id="102" fill="hold">
                            <p:stCondLst>
                              <p:cond delay="0"/>
                            </p:stCondLst>
                            <p:childTnLst>
                              <p:par>
                                <p:cTn id="103" presetID="16" presetClass="entr" presetSubtype="37" fill="hold" grpId="0" nodeType="clickEffect">
                                  <p:stCondLst>
                                    <p:cond delay="0"/>
                                  </p:stCondLst>
                                  <p:childTnLst>
                                    <p:set>
                                      <p:cBhvr>
                                        <p:cTn id="104" dur="1" fill="hold">
                                          <p:stCondLst>
                                            <p:cond delay="0"/>
                                          </p:stCondLst>
                                        </p:cTn>
                                        <p:tgtEl>
                                          <p:spTgt spid="7"/>
                                        </p:tgtEl>
                                        <p:attrNameLst>
                                          <p:attrName>style.visibility</p:attrName>
                                        </p:attrNameLst>
                                      </p:cBhvr>
                                      <p:to>
                                        <p:strVal val="visible"/>
                                      </p:to>
                                    </p:set>
                                    <p:animEffect transition="in" filter="barn(outVertical)">
                                      <p:cBhvr>
                                        <p:cTn id="105" dur="500"/>
                                        <p:tgtEl>
                                          <p:spTgt spid="7"/>
                                        </p:tgtEl>
                                      </p:cBhvr>
                                    </p:animEffect>
                                  </p:childTnLst>
                                </p:cTn>
                              </p:par>
                            </p:childTnLst>
                          </p:cTn>
                        </p:par>
                      </p:childTnLst>
                    </p:cTn>
                  </p:par>
                  <p:par>
                    <p:cTn id="106" fill="hold">
                      <p:stCondLst>
                        <p:cond delay="indefinite"/>
                      </p:stCondLst>
                      <p:childTnLst>
                        <p:par>
                          <p:cTn id="107" fill="hold">
                            <p:stCondLst>
                              <p:cond delay="0"/>
                            </p:stCondLst>
                            <p:childTnLst>
                              <p:par>
                                <p:cTn id="108" presetID="12" presetClass="entr" presetSubtype="4" fill="hold" grpId="0" nodeType="clickEffect">
                                  <p:stCondLst>
                                    <p:cond delay="0"/>
                                  </p:stCondLst>
                                  <p:childTnLst>
                                    <p:set>
                                      <p:cBhvr>
                                        <p:cTn id="109" dur="1" fill="hold">
                                          <p:stCondLst>
                                            <p:cond delay="0"/>
                                          </p:stCondLst>
                                        </p:cTn>
                                        <p:tgtEl>
                                          <p:spTgt spid="8"/>
                                        </p:tgtEl>
                                        <p:attrNameLst>
                                          <p:attrName>style.visibility</p:attrName>
                                        </p:attrNameLst>
                                      </p:cBhvr>
                                      <p:to>
                                        <p:strVal val="visible"/>
                                      </p:to>
                                    </p:set>
                                    <p:animEffect transition="in" filter="slide(fromBottom)">
                                      <p:cBhvr>
                                        <p:cTn id="110" dur="500"/>
                                        <p:tgtEl>
                                          <p:spTgt spid="8"/>
                                        </p:tgtEl>
                                      </p:cBhvr>
                                    </p:animEffect>
                                  </p:childTnLst>
                                </p:cTn>
                              </p:par>
                            </p:childTnLst>
                          </p:cTn>
                        </p:par>
                      </p:childTnLst>
                    </p:cTn>
                  </p:par>
                  <p:par>
                    <p:cTn id="111" fill="hold">
                      <p:stCondLst>
                        <p:cond delay="indefinite"/>
                      </p:stCondLst>
                      <p:childTnLst>
                        <p:par>
                          <p:cTn id="112" fill="hold">
                            <p:stCondLst>
                              <p:cond delay="0"/>
                            </p:stCondLst>
                            <p:childTnLst>
                              <p:par>
                                <p:cTn id="113" presetID="17" presetClass="entr" presetSubtype="8" fill="hold" grpId="0" nodeType="clickEffect">
                                  <p:stCondLst>
                                    <p:cond delay="0"/>
                                  </p:stCondLst>
                                  <p:childTnLst>
                                    <p:set>
                                      <p:cBhvr>
                                        <p:cTn id="114" dur="1" fill="hold">
                                          <p:stCondLst>
                                            <p:cond delay="0"/>
                                          </p:stCondLst>
                                        </p:cTn>
                                        <p:tgtEl>
                                          <p:spTgt spid="12"/>
                                        </p:tgtEl>
                                        <p:attrNameLst>
                                          <p:attrName>style.visibility</p:attrName>
                                        </p:attrNameLst>
                                      </p:cBhvr>
                                      <p:to>
                                        <p:strVal val="visible"/>
                                      </p:to>
                                    </p:set>
                                    <p:anim calcmode="lin" valueType="num">
                                      <p:cBhvr>
                                        <p:cTn id="115" dur="500" fill="hold"/>
                                        <p:tgtEl>
                                          <p:spTgt spid="12"/>
                                        </p:tgtEl>
                                        <p:attrNameLst>
                                          <p:attrName>ppt_x</p:attrName>
                                        </p:attrNameLst>
                                      </p:cBhvr>
                                      <p:tavLst>
                                        <p:tav tm="0">
                                          <p:val>
                                            <p:strVal val="#ppt_x-#ppt_w/2"/>
                                          </p:val>
                                        </p:tav>
                                        <p:tav tm="100000">
                                          <p:val>
                                            <p:strVal val="#ppt_x"/>
                                          </p:val>
                                        </p:tav>
                                      </p:tavLst>
                                    </p:anim>
                                    <p:anim calcmode="lin" valueType="num">
                                      <p:cBhvr>
                                        <p:cTn id="116" dur="500" fill="hold"/>
                                        <p:tgtEl>
                                          <p:spTgt spid="12"/>
                                        </p:tgtEl>
                                        <p:attrNameLst>
                                          <p:attrName>ppt_y</p:attrName>
                                        </p:attrNameLst>
                                      </p:cBhvr>
                                      <p:tavLst>
                                        <p:tav tm="0">
                                          <p:val>
                                            <p:strVal val="#ppt_y"/>
                                          </p:val>
                                        </p:tav>
                                        <p:tav tm="100000">
                                          <p:val>
                                            <p:strVal val="#ppt_y"/>
                                          </p:val>
                                        </p:tav>
                                      </p:tavLst>
                                    </p:anim>
                                    <p:anim calcmode="lin" valueType="num">
                                      <p:cBhvr>
                                        <p:cTn id="117" dur="500" fill="hold"/>
                                        <p:tgtEl>
                                          <p:spTgt spid="12"/>
                                        </p:tgtEl>
                                        <p:attrNameLst>
                                          <p:attrName>ppt_w</p:attrName>
                                        </p:attrNameLst>
                                      </p:cBhvr>
                                      <p:tavLst>
                                        <p:tav tm="0">
                                          <p:val>
                                            <p:fltVal val="0"/>
                                          </p:val>
                                        </p:tav>
                                        <p:tav tm="100000">
                                          <p:val>
                                            <p:strVal val="#ppt_w"/>
                                          </p:val>
                                        </p:tav>
                                      </p:tavLst>
                                    </p:anim>
                                    <p:anim calcmode="lin" valueType="num">
                                      <p:cBhvr>
                                        <p:cTn id="118" dur="5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119" fill="hold">
                      <p:stCondLst>
                        <p:cond delay="indefinite"/>
                      </p:stCondLst>
                      <p:childTnLst>
                        <p:par>
                          <p:cTn id="120" fill="hold">
                            <p:stCondLst>
                              <p:cond delay="0"/>
                            </p:stCondLst>
                            <p:childTnLst>
                              <p:par>
                                <p:cTn id="121" presetID="16" presetClass="entr" presetSubtype="37" fill="hold" grpId="0" nodeType="clickEffect">
                                  <p:stCondLst>
                                    <p:cond delay="0"/>
                                  </p:stCondLst>
                                  <p:childTnLst>
                                    <p:set>
                                      <p:cBhvr>
                                        <p:cTn id="122" dur="1" fill="hold">
                                          <p:stCondLst>
                                            <p:cond delay="0"/>
                                          </p:stCondLst>
                                        </p:cTn>
                                        <p:tgtEl>
                                          <p:spTgt spid="9"/>
                                        </p:tgtEl>
                                        <p:attrNameLst>
                                          <p:attrName>style.visibility</p:attrName>
                                        </p:attrNameLst>
                                      </p:cBhvr>
                                      <p:to>
                                        <p:strVal val="visible"/>
                                      </p:to>
                                    </p:set>
                                    <p:animEffect transition="in" filter="barn(outVertical)">
                                      <p:cBhvr>
                                        <p:cTn id="123" dur="500"/>
                                        <p:tgtEl>
                                          <p:spTgt spid="9"/>
                                        </p:tgtEl>
                                      </p:cBhvr>
                                    </p:animEffect>
                                  </p:childTnLst>
                                </p:cTn>
                              </p:par>
                            </p:childTnLst>
                          </p:cTn>
                        </p:par>
                      </p:childTnLst>
                    </p:cTn>
                  </p:par>
                  <p:par>
                    <p:cTn id="124" fill="hold">
                      <p:stCondLst>
                        <p:cond delay="indefinite"/>
                      </p:stCondLst>
                      <p:childTnLst>
                        <p:par>
                          <p:cTn id="125" fill="hold">
                            <p:stCondLst>
                              <p:cond delay="0"/>
                            </p:stCondLst>
                            <p:childTnLst>
                              <p:par>
                                <p:cTn id="126" presetID="12" presetClass="entr" presetSubtype="4" fill="hold" grpId="0" nodeType="clickEffect">
                                  <p:stCondLst>
                                    <p:cond delay="0"/>
                                  </p:stCondLst>
                                  <p:childTnLst>
                                    <p:set>
                                      <p:cBhvr>
                                        <p:cTn id="127" dur="1" fill="hold">
                                          <p:stCondLst>
                                            <p:cond delay="0"/>
                                          </p:stCondLst>
                                        </p:cTn>
                                        <p:tgtEl>
                                          <p:spTgt spid="10"/>
                                        </p:tgtEl>
                                        <p:attrNameLst>
                                          <p:attrName>style.visibility</p:attrName>
                                        </p:attrNameLst>
                                      </p:cBhvr>
                                      <p:to>
                                        <p:strVal val="visible"/>
                                      </p:to>
                                    </p:set>
                                    <p:animEffect transition="in" filter="slide(fromBottom)">
                                      <p:cBhvr>
                                        <p:cTn id="1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5" grpId="0" build="p" bldLvl="2" autoUpdateAnimBg="0"/>
      <p:bldP spid="6" grpId="0" build="p" bldLvl="2" autoUpdateAnimBg="0"/>
      <p:bldP spid="7" grpId="0" animBg="1"/>
      <p:bldP spid="8" grpId="0" autoUpdateAnimBg="0"/>
      <p:bldP spid="9" grpId="0" animBg="1"/>
      <p:bldP spid="10" grpId="0" autoUpdateAnimBg="0"/>
      <p:bldP spid="11" grpId="0" animBg="1"/>
      <p:bldP spid="12" grpId="0" animBg="1"/>
      <p:bldP spid="13" grpId="0" animBg="1"/>
      <p:bldP spid="14" grpId="0" animBg="1"/>
      <p:bldP spid="15" grpId="0" animBg="1"/>
      <p:bldP spid="16" grpId="0"/>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布尔表达式语句</a:t>
            </a:r>
            <a:endParaRPr lang="zh-CN" altLang="en-US" dirty="0"/>
          </a:p>
        </p:txBody>
      </p:sp>
      <p:sp>
        <p:nvSpPr>
          <p:cNvPr id="4" name="Rectangle 9"/>
          <p:cNvSpPr txBox="1">
            <a:spLocks noChangeArrowheads="1"/>
          </p:cNvSpPr>
          <p:nvPr/>
        </p:nvSpPr>
        <p:spPr>
          <a:xfrm>
            <a:off x="609600" y="1219200"/>
            <a:ext cx="8305800" cy="4876800"/>
          </a:xfrm>
          <a:prstGeom prst="rect">
            <a:avLst/>
          </a:prstGeom>
          <a:noFill/>
          <a:ln/>
        </p:spPr>
        <p:txBody>
          <a:bodyPr vert="horz" lIns="92075" tIns="46038" rIns="92075" bIns="46038" rtlCol="0">
            <a:normAutofit/>
          </a:bodyPr>
          <a:lst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a:solidFill>
                  <a:srgbClr val="0206AD"/>
                </a:solidFill>
                <a:uFillTx/>
                <a:latin typeface="Times New Roman" panose="02020603050405020304" charset="0"/>
                <a:ea typeface="黑体" panose="02010609060101010101" charset="-122"/>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a:solidFill>
                  <a:srgbClr val="0066FF"/>
                </a:solidFill>
                <a:uFillTx/>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a:solidFill>
                  <a:srgbClr val="0206AD"/>
                </a:solidFill>
                <a:uFillTx/>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10000"/>
              </a:spcBef>
            </a:pPr>
            <a:r>
              <a:rPr lang="zh-CN" altLang="en-US">
                <a:latin typeface="宋体" charset="-122"/>
              </a:rPr>
              <a:t>属性</a:t>
            </a:r>
          </a:p>
          <a:p>
            <a:pPr lvl="1">
              <a:spcBef>
                <a:spcPct val="10000"/>
              </a:spcBef>
            </a:pPr>
            <a:r>
              <a:rPr lang="en-US" altLang="zh-CN">
                <a:solidFill>
                  <a:srgbClr val="0000FF"/>
                </a:solidFill>
                <a:latin typeface="宋体" charset="-122"/>
              </a:rPr>
              <a:t>E.place</a:t>
            </a:r>
            <a:r>
              <a:rPr lang="en-US" altLang="zh-CN">
                <a:latin typeface="宋体" charset="-122"/>
              </a:rPr>
              <a:t> </a:t>
            </a:r>
            <a:r>
              <a:rPr lang="zh-CN" altLang="en-US">
                <a:latin typeface="宋体" charset="-122"/>
              </a:rPr>
              <a:t>综合属性，表示存放布尔表达式值的名字</a:t>
            </a:r>
          </a:p>
          <a:p>
            <a:pPr lvl="1">
              <a:spcBef>
                <a:spcPct val="10000"/>
              </a:spcBef>
            </a:pPr>
            <a:r>
              <a:rPr lang="en-US" altLang="zh-CN">
                <a:solidFill>
                  <a:srgbClr val="0000FF"/>
                </a:solidFill>
                <a:latin typeface="宋体" charset="-122"/>
              </a:rPr>
              <a:t>relop.op</a:t>
            </a:r>
            <a:r>
              <a:rPr lang="en-US" altLang="zh-CN">
                <a:latin typeface="宋体" charset="-122"/>
              </a:rPr>
              <a:t> </a:t>
            </a:r>
            <a:r>
              <a:rPr lang="zh-CN" altLang="en-US">
                <a:latin typeface="宋体" charset="-122"/>
              </a:rPr>
              <a:t>综合属性，表示六个关系运算符之一</a:t>
            </a:r>
          </a:p>
          <a:p>
            <a:pPr>
              <a:spcBef>
                <a:spcPct val="10000"/>
              </a:spcBef>
            </a:pPr>
            <a:r>
              <a:rPr lang="zh-CN" altLang="en-US">
                <a:latin typeface="宋体" charset="-122"/>
              </a:rPr>
              <a:t>三地址代码的编号</a:t>
            </a:r>
          </a:p>
          <a:p>
            <a:pPr lvl="1">
              <a:spcBef>
                <a:spcPct val="10000"/>
              </a:spcBef>
            </a:pPr>
            <a:r>
              <a:rPr lang="en-US" altLang="zh-CN">
                <a:solidFill>
                  <a:srgbClr val="0000FF"/>
                </a:solidFill>
                <a:latin typeface="宋体" charset="-122"/>
              </a:rPr>
              <a:t>nextstat</a:t>
            </a:r>
            <a:r>
              <a:rPr lang="en-US" altLang="zh-CN">
                <a:latin typeface="宋体" charset="-122"/>
              </a:rPr>
              <a:t> </a:t>
            </a:r>
            <a:r>
              <a:rPr lang="zh-CN" altLang="en-US">
                <a:latin typeface="宋体" charset="-122"/>
              </a:rPr>
              <a:t>给出输出三地址代码序列中下一条代码的编号</a:t>
            </a:r>
            <a:r>
              <a:rPr lang="en-US" altLang="zh-CN">
                <a:latin typeface="宋体" charset="-122"/>
              </a:rPr>
              <a:t>(</a:t>
            </a:r>
            <a:r>
              <a:rPr lang="zh-CN" altLang="en-US">
                <a:latin typeface="宋体" charset="-122"/>
              </a:rPr>
              <a:t>地址索引</a:t>
            </a:r>
            <a:r>
              <a:rPr lang="en-US" altLang="zh-CN">
                <a:latin typeface="宋体" charset="-122"/>
              </a:rPr>
              <a:t>)</a:t>
            </a:r>
          </a:p>
          <a:p>
            <a:pPr>
              <a:spcBef>
                <a:spcPct val="10000"/>
              </a:spcBef>
            </a:pPr>
            <a:r>
              <a:rPr lang="zh-CN" altLang="en-US">
                <a:latin typeface="宋体" charset="-122"/>
              </a:rPr>
              <a:t>函数</a:t>
            </a:r>
          </a:p>
          <a:p>
            <a:pPr lvl="1">
              <a:spcBef>
                <a:spcPct val="10000"/>
              </a:spcBef>
            </a:pPr>
            <a:r>
              <a:rPr lang="en-US" altLang="zh-CN">
                <a:solidFill>
                  <a:srgbClr val="0000FF"/>
                </a:solidFill>
                <a:latin typeface="宋体" charset="-122"/>
              </a:rPr>
              <a:t>emit </a:t>
            </a:r>
            <a:r>
              <a:rPr lang="zh-CN" altLang="en-US">
                <a:latin typeface="宋体" charset="-122"/>
              </a:rPr>
              <a:t>将产生的三地址代码送到输出文件中</a:t>
            </a:r>
            <a:r>
              <a:rPr lang="en-US" altLang="zh-CN">
                <a:latin typeface="宋体" charset="-122"/>
              </a:rPr>
              <a:t>,</a:t>
            </a:r>
            <a:r>
              <a:rPr lang="zh-CN" altLang="en-US">
                <a:latin typeface="宋体" charset="-122"/>
              </a:rPr>
              <a:t>每产生一条三地址代码后，</a:t>
            </a:r>
            <a:r>
              <a:rPr lang="en-US" altLang="zh-CN">
                <a:latin typeface="宋体" charset="-122"/>
              </a:rPr>
              <a:t>emit</a:t>
            </a:r>
            <a:r>
              <a:rPr lang="zh-CN" altLang="en-US">
                <a:latin typeface="宋体" charset="-122"/>
              </a:rPr>
              <a:t>便把</a:t>
            </a:r>
            <a:r>
              <a:rPr lang="en-US" altLang="zh-CN">
                <a:latin typeface="宋体" charset="-122"/>
              </a:rPr>
              <a:t>nextstat</a:t>
            </a:r>
            <a:r>
              <a:rPr lang="zh-CN" altLang="en-US">
                <a:latin typeface="宋体" charset="-122"/>
              </a:rPr>
              <a:t>增</a:t>
            </a:r>
            <a:r>
              <a:rPr lang="en-US" altLang="zh-CN">
                <a:latin typeface="宋体" charset="-122"/>
              </a:rPr>
              <a:t>1</a:t>
            </a:r>
            <a:endParaRPr lang="en-US" altLang="zh-CN" dirty="0">
              <a:latin typeface="宋体" charset="-122"/>
            </a:endParaRPr>
          </a:p>
        </p:txBody>
      </p:sp>
      <p:sp>
        <p:nvSpPr>
          <p:cNvPr id="2" name="灯片编号占位符 1">
            <a:extLst>
              <a:ext uri="{FF2B5EF4-FFF2-40B4-BE49-F238E27FC236}">
                <a16:creationId xmlns:a16="http://schemas.microsoft.com/office/drawing/2014/main" id="{372A393C-9541-465C-B9BC-8A61D3BF2014}"/>
              </a:ext>
            </a:extLst>
          </p:cNvPr>
          <p:cNvSpPr>
            <a:spLocks noGrp="1"/>
          </p:cNvSpPr>
          <p:nvPr>
            <p:ph type="sldNum" sz="quarter" idx="4"/>
          </p:nvPr>
        </p:nvSpPr>
        <p:spPr/>
        <p:txBody>
          <a:bodyPr/>
          <a:lstStyle/>
          <a:p>
            <a:fld id="{565CE74E-AB26-4998-AD42-012C4C1AD076}" type="slidenum">
              <a:rPr lang="zh-CN" altLang="en-US" smtClean="0"/>
              <a:pPr/>
              <a:t>57</a:t>
            </a:fld>
            <a:endParaRPr lang="zh-CN" altLang="en-US"/>
          </a:p>
        </p:txBody>
      </p:sp>
    </p:spTree>
    <p:extLst>
      <p:ext uri="{BB962C8B-B14F-4D97-AF65-F5344CB8AC3E}">
        <p14:creationId xmlns:p14="http://schemas.microsoft.com/office/powerpoint/2010/main" val="3338735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Bottom)">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slide(fromBottom)">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slide(fromBottom)">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slide(fromBottom)">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slide(fromBottom)">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slide(fromBottom)">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slide(fromBottom)">
                                      <p:cBhvr>
                                        <p:cTn id="3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228600" y="76200"/>
            <a:ext cx="8763000" cy="533400"/>
          </a:xfrm>
        </p:spPr>
        <p:txBody>
          <a:bodyPr/>
          <a:lstStyle/>
          <a:p>
            <a:r>
              <a:rPr lang="zh-CN" altLang="en-US" sz="3200" dirty="0">
                <a:latin typeface="宋体" charset="-122"/>
              </a:rPr>
              <a:t>计算布尔表达式值三地址代码的翻译模式</a:t>
            </a:r>
            <a:endParaRPr lang="en-US" altLang="zh-CN" sz="3200" dirty="0">
              <a:latin typeface="宋体" charset="-122"/>
            </a:endParaRPr>
          </a:p>
        </p:txBody>
      </p:sp>
      <p:sp>
        <p:nvSpPr>
          <p:cNvPr id="144393" name="Rectangle 9"/>
          <p:cNvSpPr>
            <a:spLocks noGrp="1" noChangeArrowheads="1"/>
          </p:cNvSpPr>
          <p:nvPr>
            <p:ph type="body" idx="1"/>
          </p:nvPr>
        </p:nvSpPr>
        <p:spPr>
          <a:xfrm>
            <a:off x="304800" y="609600"/>
            <a:ext cx="8839200" cy="5943600"/>
          </a:xfrm>
          <a:noFill/>
          <a:ln/>
        </p:spPr>
        <p:txBody>
          <a:bodyPr lIns="92075" tIns="46038" rIns="92075" bIns="46038"/>
          <a:lstStyle/>
          <a:p>
            <a:pPr>
              <a:lnSpc>
                <a:spcPct val="80000"/>
              </a:lnSpc>
              <a:buFontTx/>
              <a:buNone/>
            </a:pPr>
            <a:r>
              <a:rPr lang="en-US" altLang="zh-CN" sz="2400" b="1" dirty="0">
                <a:latin typeface="宋体" charset="-122"/>
              </a:rPr>
              <a:t>E→E1 or E2   {</a:t>
            </a:r>
            <a:r>
              <a:rPr lang="en-US" altLang="zh-CN" sz="2400" b="1" dirty="0" err="1">
                <a:latin typeface="宋体" charset="-122"/>
              </a:rPr>
              <a:t>E.place</a:t>
            </a:r>
            <a:r>
              <a:rPr lang="en-US" altLang="zh-CN" sz="2400" b="1" dirty="0">
                <a:latin typeface="宋体" charset="-122"/>
              </a:rPr>
              <a:t>:=</a:t>
            </a:r>
            <a:r>
              <a:rPr lang="en-US" altLang="zh-CN" sz="2400" b="1" dirty="0" err="1">
                <a:latin typeface="宋体" charset="-122"/>
              </a:rPr>
              <a:t>newtemp</a:t>
            </a:r>
            <a:r>
              <a:rPr lang="en-US" altLang="zh-CN" sz="2400" b="1" dirty="0">
                <a:latin typeface="宋体" charset="-122"/>
              </a:rPr>
              <a:t>; </a:t>
            </a:r>
          </a:p>
          <a:p>
            <a:pPr>
              <a:lnSpc>
                <a:spcPct val="80000"/>
              </a:lnSpc>
              <a:buFontTx/>
              <a:buNone/>
            </a:pPr>
            <a:r>
              <a:rPr lang="en-US" altLang="zh-CN" sz="2400" b="1" dirty="0">
                <a:solidFill>
                  <a:srgbClr val="0000FF"/>
                </a:solidFill>
                <a:latin typeface="宋体" charset="-122"/>
              </a:rPr>
              <a:t>sub1</a:t>
            </a:r>
            <a:r>
              <a:rPr lang="en-US" altLang="zh-CN" sz="2400" b="1" dirty="0">
                <a:latin typeface="宋体" charset="-122"/>
              </a:rPr>
              <a:t>         emit(</a:t>
            </a:r>
            <a:r>
              <a:rPr lang="en-US" altLang="zh-CN" sz="2400" b="1" dirty="0" err="1">
                <a:latin typeface="宋体" charset="-122"/>
              </a:rPr>
              <a:t>E.place</a:t>
            </a:r>
            <a:r>
              <a:rPr lang="en-US" altLang="zh-CN" sz="2400" b="1" dirty="0">
                <a:latin typeface="宋体" charset="-122"/>
              </a:rPr>
              <a:t>‘:=’E1.place‘or’E2.place)}</a:t>
            </a:r>
          </a:p>
          <a:p>
            <a:pPr>
              <a:lnSpc>
                <a:spcPct val="80000"/>
              </a:lnSpc>
              <a:buFontTx/>
              <a:buNone/>
            </a:pPr>
            <a:r>
              <a:rPr lang="en-US" altLang="zh-CN" sz="2400" b="1" dirty="0">
                <a:latin typeface="宋体" charset="-122"/>
              </a:rPr>
              <a:t>E→E1 and E2  {</a:t>
            </a:r>
            <a:r>
              <a:rPr lang="en-US" altLang="zh-CN" sz="2400" b="1" dirty="0" err="1">
                <a:latin typeface="宋体" charset="-122"/>
              </a:rPr>
              <a:t>E.place</a:t>
            </a:r>
            <a:r>
              <a:rPr lang="en-US" altLang="zh-CN" sz="2400" b="1" dirty="0">
                <a:latin typeface="宋体" charset="-122"/>
              </a:rPr>
              <a:t>:=</a:t>
            </a:r>
            <a:r>
              <a:rPr lang="en-US" altLang="zh-CN" sz="2400" b="1" dirty="0" err="1">
                <a:latin typeface="宋体" charset="-122"/>
              </a:rPr>
              <a:t>newtemp</a:t>
            </a:r>
            <a:r>
              <a:rPr lang="en-US" altLang="zh-CN" sz="2400" b="1" dirty="0">
                <a:latin typeface="宋体" charset="-122"/>
              </a:rPr>
              <a:t>; </a:t>
            </a:r>
          </a:p>
          <a:p>
            <a:pPr>
              <a:lnSpc>
                <a:spcPct val="80000"/>
              </a:lnSpc>
              <a:buFontTx/>
              <a:buNone/>
            </a:pPr>
            <a:r>
              <a:rPr lang="en-US" altLang="zh-CN" sz="2400" b="1" dirty="0">
                <a:solidFill>
                  <a:srgbClr val="0000FF"/>
                </a:solidFill>
                <a:latin typeface="宋体" charset="-122"/>
              </a:rPr>
              <a:t>sub2</a:t>
            </a:r>
            <a:r>
              <a:rPr lang="en-US" altLang="zh-CN" sz="2400" b="1" dirty="0">
                <a:latin typeface="宋体" charset="-122"/>
              </a:rPr>
              <a:t>         emit(</a:t>
            </a:r>
            <a:r>
              <a:rPr lang="en-US" altLang="zh-CN" sz="2400" b="1" dirty="0" err="1">
                <a:latin typeface="宋体" charset="-122"/>
              </a:rPr>
              <a:t>E.place</a:t>
            </a:r>
            <a:r>
              <a:rPr lang="en-US" altLang="zh-CN" sz="2400" b="1" dirty="0">
                <a:latin typeface="宋体" charset="-122"/>
              </a:rPr>
              <a:t>‘:=’E1.place‘and’E2.place)}</a:t>
            </a:r>
          </a:p>
          <a:p>
            <a:pPr>
              <a:lnSpc>
                <a:spcPct val="80000"/>
              </a:lnSpc>
              <a:buFontTx/>
              <a:buNone/>
            </a:pPr>
            <a:r>
              <a:rPr lang="en-US" altLang="zh-CN" sz="2400" b="1" dirty="0" err="1">
                <a:latin typeface="宋体" charset="-122"/>
              </a:rPr>
              <a:t>E→not</a:t>
            </a:r>
            <a:r>
              <a:rPr lang="en-US" altLang="zh-CN" sz="2400" b="1" dirty="0">
                <a:latin typeface="宋体" charset="-122"/>
              </a:rPr>
              <a:t> E1     {</a:t>
            </a:r>
            <a:r>
              <a:rPr lang="en-US" altLang="zh-CN" sz="2400" b="1" dirty="0" err="1">
                <a:latin typeface="宋体" charset="-122"/>
              </a:rPr>
              <a:t>E.place</a:t>
            </a:r>
            <a:r>
              <a:rPr lang="en-US" altLang="zh-CN" sz="2400" b="1" dirty="0">
                <a:latin typeface="宋体" charset="-122"/>
              </a:rPr>
              <a:t> = </a:t>
            </a:r>
            <a:r>
              <a:rPr lang="en-US" altLang="zh-CN" sz="2400" b="1" dirty="0" err="1">
                <a:latin typeface="宋体" charset="-122"/>
              </a:rPr>
              <a:t>newtemp</a:t>
            </a:r>
            <a:r>
              <a:rPr lang="en-US" altLang="zh-CN" sz="2400" b="1" dirty="0">
                <a:latin typeface="宋体" charset="-122"/>
              </a:rPr>
              <a:t>; </a:t>
            </a:r>
          </a:p>
          <a:p>
            <a:pPr>
              <a:lnSpc>
                <a:spcPct val="80000"/>
              </a:lnSpc>
              <a:buFontTx/>
              <a:buNone/>
            </a:pPr>
            <a:r>
              <a:rPr lang="en-US" altLang="zh-CN" sz="2400" b="1" dirty="0">
                <a:solidFill>
                  <a:srgbClr val="0000FF"/>
                </a:solidFill>
                <a:latin typeface="宋体" charset="-122"/>
              </a:rPr>
              <a:t>sub3</a:t>
            </a:r>
            <a:r>
              <a:rPr lang="en-US" altLang="zh-CN" sz="2400" b="1" dirty="0">
                <a:latin typeface="宋体" charset="-122"/>
              </a:rPr>
              <a:t>         emit(</a:t>
            </a:r>
            <a:r>
              <a:rPr lang="en-US" altLang="zh-CN" sz="2400" b="1" dirty="0" err="1">
                <a:latin typeface="宋体" charset="-122"/>
              </a:rPr>
              <a:t>E.place</a:t>
            </a:r>
            <a:r>
              <a:rPr lang="en-US" altLang="zh-CN" sz="2400" b="1" dirty="0">
                <a:latin typeface="宋体" charset="-122"/>
              </a:rPr>
              <a:t>‘:=’‘not’E1.place)}</a:t>
            </a:r>
          </a:p>
          <a:p>
            <a:pPr>
              <a:lnSpc>
                <a:spcPct val="80000"/>
              </a:lnSpc>
              <a:buFontTx/>
              <a:buNone/>
            </a:pPr>
            <a:r>
              <a:rPr lang="en-US" altLang="zh-CN" sz="2400" b="1" dirty="0">
                <a:latin typeface="宋体" charset="-122"/>
              </a:rPr>
              <a:t>E→(E1)       {</a:t>
            </a:r>
            <a:r>
              <a:rPr lang="en-US" altLang="zh-CN" sz="2400" b="1" dirty="0" err="1">
                <a:latin typeface="宋体" charset="-122"/>
              </a:rPr>
              <a:t>E.place</a:t>
            </a:r>
            <a:r>
              <a:rPr lang="en-US" altLang="zh-CN" sz="2400" b="1" dirty="0">
                <a:latin typeface="宋体" charset="-122"/>
              </a:rPr>
              <a:t>:=E1.place)}</a:t>
            </a:r>
          </a:p>
          <a:p>
            <a:pPr>
              <a:lnSpc>
                <a:spcPct val="80000"/>
              </a:lnSpc>
              <a:buFontTx/>
              <a:buNone/>
            </a:pPr>
            <a:r>
              <a:rPr lang="en-US" altLang="zh-CN" sz="2400" b="1" dirty="0">
                <a:solidFill>
                  <a:srgbClr val="0000FF"/>
                </a:solidFill>
                <a:latin typeface="宋体" charset="-122"/>
              </a:rPr>
              <a:t>sub4</a:t>
            </a:r>
          </a:p>
          <a:p>
            <a:pPr>
              <a:lnSpc>
                <a:spcPct val="80000"/>
              </a:lnSpc>
              <a:buFontTx/>
              <a:buNone/>
            </a:pPr>
            <a:r>
              <a:rPr lang="en-US" altLang="zh-CN" sz="2400" b="1" dirty="0">
                <a:latin typeface="宋体" charset="-122"/>
              </a:rPr>
              <a:t>E→id1        {</a:t>
            </a:r>
            <a:r>
              <a:rPr lang="en-US" altLang="zh-CN" sz="2400" b="1" dirty="0" err="1">
                <a:latin typeface="宋体" charset="-122"/>
              </a:rPr>
              <a:t>E.place</a:t>
            </a:r>
            <a:r>
              <a:rPr lang="en-US" altLang="zh-CN" sz="2400" b="1" dirty="0">
                <a:latin typeface="宋体" charset="-122"/>
              </a:rPr>
              <a:t>:=</a:t>
            </a:r>
            <a:r>
              <a:rPr lang="en-US" altLang="zh-CN" sz="2400" b="1" dirty="0" err="1">
                <a:latin typeface="宋体" charset="-122"/>
              </a:rPr>
              <a:t>newtemp</a:t>
            </a:r>
            <a:r>
              <a:rPr lang="en-US" altLang="zh-CN" sz="2400" b="1" dirty="0">
                <a:latin typeface="宋体" charset="-122"/>
              </a:rPr>
              <a:t>;  </a:t>
            </a:r>
          </a:p>
          <a:p>
            <a:pPr>
              <a:lnSpc>
                <a:spcPct val="80000"/>
              </a:lnSpc>
              <a:buFontTx/>
              <a:buNone/>
            </a:pPr>
            <a:r>
              <a:rPr lang="en-US" altLang="zh-CN" sz="2400" b="1" dirty="0">
                <a:latin typeface="宋体" charset="-122"/>
              </a:rPr>
              <a:t>   </a:t>
            </a:r>
            <a:r>
              <a:rPr lang="en-US" altLang="zh-CN" sz="2400" b="1" dirty="0" err="1">
                <a:latin typeface="宋体" charset="-122"/>
              </a:rPr>
              <a:t>relop</a:t>
            </a:r>
            <a:r>
              <a:rPr lang="en-US" altLang="zh-CN" sz="2400" b="1" dirty="0">
                <a:latin typeface="宋体" charset="-122"/>
              </a:rPr>
              <a:t> id2 emit(‘if’id1.place </a:t>
            </a:r>
            <a:r>
              <a:rPr lang="en-US" altLang="zh-CN" sz="2400" b="1" dirty="0" err="1">
                <a:latin typeface="宋体" charset="-122"/>
              </a:rPr>
              <a:t>relop.op</a:t>
            </a:r>
            <a:r>
              <a:rPr lang="en-US" altLang="zh-CN" sz="2400" b="1" dirty="0">
                <a:latin typeface="宋体" charset="-122"/>
              </a:rPr>
              <a:t> id2.place</a:t>
            </a:r>
          </a:p>
          <a:p>
            <a:pPr>
              <a:lnSpc>
                <a:spcPct val="80000"/>
              </a:lnSpc>
              <a:buFontTx/>
              <a:buNone/>
            </a:pPr>
            <a:r>
              <a:rPr lang="en-US" altLang="zh-CN" sz="2400" b="1" dirty="0">
                <a:solidFill>
                  <a:srgbClr val="0000FF"/>
                </a:solidFill>
                <a:latin typeface="宋体" charset="-122"/>
              </a:rPr>
              <a:t>sub5 </a:t>
            </a:r>
            <a:r>
              <a:rPr lang="en-US" altLang="zh-CN" sz="2400" b="1" dirty="0">
                <a:latin typeface="宋体" charset="-122"/>
              </a:rPr>
              <a:t>                               ‘goto’nextstat+3); </a:t>
            </a:r>
          </a:p>
          <a:p>
            <a:pPr>
              <a:lnSpc>
                <a:spcPct val="80000"/>
              </a:lnSpc>
              <a:buFontTx/>
              <a:buNone/>
            </a:pPr>
            <a:r>
              <a:rPr lang="en-US" altLang="zh-CN" sz="2400" b="1" dirty="0">
                <a:latin typeface="宋体" charset="-122"/>
              </a:rPr>
              <a:t>             emit(</a:t>
            </a:r>
            <a:r>
              <a:rPr lang="en-US" altLang="zh-CN" sz="2400" b="1" dirty="0" err="1">
                <a:latin typeface="宋体" charset="-122"/>
              </a:rPr>
              <a:t>E.place</a:t>
            </a:r>
            <a:r>
              <a:rPr lang="en-US" altLang="zh-CN" sz="2400" b="1" dirty="0">
                <a:latin typeface="宋体" charset="-122"/>
              </a:rPr>
              <a:t>‘:=’‘0’); </a:t>
            </a:r>
          </a:p>
          <a:p>
            <a:pPr>
              <a:lnSpc>
                <a:spcPct val="80000"/>
              </a:lnSpc>
              <a:buFontTx/>
              <a:buNone/>
            </a:pPr>
            <a:r>
              <a:rPr lang="en-US" altLang="zh-CN" sz="2400" b="1" dirty="0">
                <a:latin typeface="宋体" charset="-122"/>
              </a:rPr>
              <a:t>             emit(‘goto’nextstat+2); </a:t>
            </a:r>
          </a:p>
          <a:p>
            <a:pPr>
              <a:lnSpc>
                <a:spcPct val="80000"/>
              </a:lnSpc>
              <a:buFontTx/>
              <a:buNone/>
            </a:pPr>
            <a:r>
              <a:rPr lang="en-US" altLang="zh-CN" sz="2400" b="1" dirty="0">
                <a:latin typeface="宋体" charset="-122"/>
              </a:rPr>
              <a:t>             emit(</a:t>
            </a:r>
            <a:r>
              <a:rPr lang="en-US" altLang="zh-CN" sz="2400" b="1" dirty="0" err="1">
                <a:latin typeface="宋体" charset="-122"/>
              </a:rPr>
              <a:t>E.place</a:t>
            </a:r>
            <a:r>
              <a:rPr lang="en-US" altLang="zh-CN" sz="2400" b="1" dirty="0">
                <a:latin typeface="宋体" charset="-122"/>
              </a:rPr>
              <a:t>‘:=’‘1’)}</a:t>
            </a:r>
          </a:p>
          <a:p>
            <a:pPr>
              <a:lnSpc>
                <a:spcPct val="80000"/>
              </a:lnSpc>
              <a:buFontTx/>
              <a:buNone/>
            </a:pPr>
            <a:r>
              <a:rPr lang="en-US" altLang="zh-CN" sz="2400" b="1" dirty="0" err="1">
                <a:latin typeface="宋体" charset="-122"/>
              </a:rPr>
              <a:t>E→id</a:t>
            </a:r>
            <a:r>
              <a:rPr lang="en-US" altLang="zh-CN" sz="2400" b="1" dirty="0">
                <a:latin typeface="宋体" charset="-122"/>
              </a:rPr>
              <a:t>         {</a:t>
            </a:r>
            <a:r>
              <a:rPr lang="en-US" altLang="zh-CN" sz="2400" b="1" dirty="0" err="1">
                <a:latin typeface="宋体" charset="-122"/>
              </a:rPr>
              <a:t>E.place</a:t>
            </a:r>
            <a:r>
              <a:rPr lang="en-US" altLang="zh-CN" sz="2400" b="1" dirty="0">
                <a:latin typeface="宋体" charset="-122"/>
              </a:rPr>
              <a:t>:=</a:t>
            </a:r>
            <a:r>
              <a:rPr lang="en-US" altLang="zh-CN" sz="2400" b="1" dirty="0" err="1">
                <a:latin typeface="宋体" charset="-122"/>
              </a:rPr>
              <a:t>id.place</a:t>
            </a:r>
            <a:r>
              <a:rPr lang="en-US" altLang="zh-CN" sz="2400" b="1" dirty="0">
                <a:latin typeface="宋体" charset="-122"/>
              </a:rPr>
              <a:t> }</a:t>
            </a:r>
          </a:p>
          <a:p>
            <a:pPr>
              <a:lnSpc>
                <a:spcPct val="80000"/>
              </a:lnSpc>
              <a:buFontTx/>
              <a:buNone/>
            </a:pPr>
            <a:r>
              <a:rPr lang="en-US" altLang="zh-CN" sz="2400" b="1" dirty="0">
                <a:solidFill>
                  <a:srgbClr val="0000FF"/>
                </a:solidFill>
                <a:latin typeface="宋体" charset="-122"/>
              </a:rPr>
              <a:t>sub6</a:t>
            </a:r>
          </a:p>
        </p:txBody>
      </p:sp>
      <p:sp>
        <p:nvSpPr>
          <p:cNvPr id="144400" name="Line 16"/>
          <p:cNvSpPr>
            <a:spLocks noChangeShapeType="1"/>
          </p:cNvSpPr>
          <p:nvPr/>
        </p:nvSpPr>
        <p:spPr bwMode="auto">
          <a:xfrm>
            <a:off x="2362200" y="609600"/>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grpSp>
        <p:nvGrpSpPr>
          <p:cNvPr id="144402" name="Group 18"/>
          <p:cNvGrpSpPr>
            <a:grpSpLocks/>
          </p:cNvGrpSpPr>
          <p:nvPr/>
        </p:nvGrpSpPr>
        <p:grpSpPr bwMode="auto">
          <a:xfrm>
            <a:off x="304800" y="609600"/>
            <a:ext cx="8763000" cy="5867400"/>
            <a:chOff x="192" y="384"/>
            <a:chExt cx="5520" cy="3696"/>
          </a:xfrm>
        </p:grpSpPr>
        <p:sp>
          <p:nvSpPr>
            <p:cNvPr id="144394" name="Rectangle 10"/>
            <p:cNvSpPr>
              <a:spLocks noChangeArrowheads="1"/>
            </p:cNvSpPr>
            <p:nvPr/>
          </p:nvSpPr>
          <p:spPr bwMode="auto">
            <a:xfrm>
              <a:off x="192" y="384"/>
              <a:ext cx="5520" cy="369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b="1">
                <a:solidFill>
                  <a:srgbClr val="000000"/>
                </a:solidFill>
              </a:endParaRPr>
            </a:p>
          </p:txBody>
        </p:sp>
        <p:sp>
          <p:nvSpPr>
            <p:cNvPr id="144395" name="Line 11"/>
            <p:cNvSpPr>
              <a:spLocks noChangeShapeType="1"/>
            </p:cNvSpPr>
            <p:nvPr/>
          </p:nvSpPr>
          <p:spPr bwMode="auto">
            <a:xfrm>
              <a:off x="192" y="864"/>
              <a:ext cx="552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44396" name="Line 12"/>
            <p:cNvSpPr>
              <a:spLocks noChangeShapeType="1"/>
            </p:cNvSpPr>
            <p:nvPr/>
          </p:nvSpPr>
          <p:spPr bwMode="auto">
            <a:xfrm>
              <a:off x="192" y="1326"/>
              <a:ext cx="552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44397" name="Line 13"/>
            <p:cNvSpPr>
              <a:spLocks noChangeShapeType="1"/>
            </p:cNvSpPr>
            <p:nvPr/>
          </p:nvSpPr>
          <p:spPr bwMode="auto">
            <a:xfrm>
              <a:off x="192" y="1776"/>
              <a:ext cx="552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44398" name="Line 14"/>
            <p:cNvSpPr>
              <a:spLocks noChangeShapeType="1"/>
            </p:cNvSpPr>
            <p:nvPr/>
          </p:nvSpPr>
          <p:spPr bwMode="auto">
            <a:xfrm>
              <a:off x="192" y="2244"/>
              <a:ext cx="552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44399" name="Line 15"/>
            <p:cNvSpPr>
              <a:spLocks noChangeShapeType="1"/>
            </p:cNvSpPr>
            <p:nvPr/>
          </p:nvSpPr>
          <p:spPr bwMode="auto">
            <a:xfrm>
              <a:off x="192" y="3627"/>
              <a:ext cx="552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sp>
          <p:nvSpPr>
            <p:cNvPr id="144401" name="Line 17"/>
            <p:cNvSpPr>
              <a:spLocks noChangeShapeType="1"/>
            </p:cNvSpPr>
            <p:nvPr/>
          </p:nvSpPr>
          <p:spPr bwMode="auto">
            <a:xfrm>
              <a:off x="1488" y="384"/>
              <a:ext cx="0" cy="36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b="1">
                <a:solidFill>
                  <a:srgbClr val="000000"/>
                </a:solidFill>
              </a:endParaRPr>
            </a:p>
          </p:txBody>
        </p:sp>
      </p:grpSp>
      <p:sp>
        <p:nvSpPr>
          <p:cNvPr id="2" name="灯片编号占位符 1">
            <a:extLst>
              <a:ext uri="{FF2B5EF4-FFF2-40B4-BE49-F238E27FC236}">
                <a16:creationId xmlns:a16="http://schemas.microsoft.com/office/drawing/2014/main" id="{3079FDD6-EFF9-45FA-877C-F8BB396F568D}"/>
              </a:ext>
            </a:extLst>
          </p:cNvPr>
          <p:cNvSpPr>
            <a:spLocks noGrp="1"/>
          </p:cNvSpPr>
          <p:nvPr>
            <p:ph type="sldNum" sz="quarter" idx="12"/>
          </p:nvPr>
        </p:nvSpPr>
        <p:spPr/>
        <p:txBody>
          <a:bodyPr/>
          <a:lstStyle/>
          <a:p>
            <a:fld id="{DBBC0EF6-B603-432C-9C67-7FF4B1EAAA36}" type="slidenum">
              <a:rPr lang="en-US" altLang="zh-CN" smtClean="0">
                <a:solidFill>
                  <a:srgbClr val="000000"/>
                </a:solidFill>
              </a:rPr>
              <a:pPr/>
              <a:t>58</a:t>
            </a:fld>
            <a:endParaRPr lang="en-US" altLang="zh-CN">
              <a:solidFill>
                <a:srgbClr val="000000"/>
              </a:solidFill>
            </a:endParaRPr>
          </a:p>
        </p:txBody>
      </p:sp>
    </p:spTree>
    <p:extLst>
      <p:ext uri="{BB962C8B-B14F-4D97-AF65-F5344CB8AC3E}">
        <p14:creationId xmlns:p14="http://schemas.microsoft.com/office/powerpoint/2010/main" val="20591425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44393">
                                            <p:txEl>
                                              <p:pRg st="0" end="0"/>
                                            </p:txEl>
                                          </p:spTgt>
                                        </p:tgtEl>
                                        <p:attrNameLst>
                                          <p:attrName>style.visibility</p:attrName>
                                        </p:attrNameLst>
                                      </p:cBhvr>
                                      <p:to>
                                        <p:strVal val="visible"/>
                                      </p:to>
                                    </p:set>
                                    <p:animEffect transition="in" filter="slide(fromBottom)">
                                      <p:cBhvr>
                                        <p:cTn id="7" dur="500"/>
                                        <p:tgtEl>
                                          <p:spTgt spid="14439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44393">
                                            <p:txEl>
                                              <p:pRg st="1" end="1"/>
                                            </p:txEl>
                                          </p:spTgt>
                                        </p:tgtEl>
                                        <p:attrNameLst>
                                          <p:attrName>style.visibility</p:attrName>
                                        </p:attrNameLst>
                                      </p:cBhvr>
                                      <p:to>
                                        <p:strVal val="visible"/>
                                      </p:to>
                                    </p:set>
                                    <p:animEffect transition="in" filter="slide(fromBottom)">
                                      <p:cBhvr>
                                        <p:cTn id="12" dur="500"/>
                                        <p:tgtEl>
                                          <p:spTgt spid="14439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44393">
                                            <p:txEl>
                                              <p:pRg st="2" end="2"/>
                                            </p:txEl>
                                          </p:spTgt>
                                        </p:tgtEl>
                                        <p:attrNameLst>
                                          <p:attrName>style.visibility</p:attrName>
                                        </p:attrNameLst>
                                      </p:cBhvr>
                                      <p:to>
                                        <p:strVal val="visible"/>
                                      </p:to>
                                    </p:set>
                                    <p:animEffect transition="in" filter="slide(fromBottom)">
                                      <p:cBhvr>
                                        <p:cTn id="17" dur="500"/>
                                        <p:tgtEl>
                                          <p:spTgt spid="14439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44393">
                                            <p:txEl>
                                              <p:pRg st="3" end="3"/>
                                            </p:txEl>
                                          </p:spTgt>
                                        </p:tgtEl>
                                        <p:attrNameLst>
                                          <p:attrName>style.visibility</p:attrName>
                                        </p:attrNameLst>
                                      </p:cBhvr>
                                      <p:to>
                                        <p:strVal val="visible"/>
                                      </p:to>
                                    </p:set>
                                    <p:animEffect transition="in" filter="slide(fromBottom)">
                                      <p:cBhvr>
                                        <p:cTn id="22" dur="500"/>
                                        <p:tgtEl>
                                          <p:spTgt spid="14439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44393">
                                            <p:txEl>
                                              <p:pRg st="4" end="4"/>
                                            </p:txEl>
                                          </p:spTgt>
                                        </p:tgtEl>
                                        <p:attrNameLst>
                                          <p:attrName>style.visibility</p:attrName>
                                        </p:attrNameLst>
                                      </p:cBhvr>
                                      <p:to>
                                        <p:strVal val="visible"/>
                                      </p:to>
                                    </p:set>
                                    <p:animEffect transition="in" filter="slide(fromBottom)">
                                      <p:cBhvr>
                                        <p:cTn id="27" dur="500"/>
                                        <p:tgtEl>
                                          <p:spTgt spid="14439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44393">
                                            <p:txEl>
                                              <p:pRg st="5" end="5"/>
                                            </p:txEl>
                                          </p:spTgt>
                                        </p:tgtEl>
                                        <p:attrNameLst>
                                          <p:attrName>style.visibility</p:attrName>
                                        </p:attrNameLst>
                                      </p:cBhvr>
                                      <p:to>
                                        <p:strVal val="visible"/>
                                      </p:to>
                                    </p:set>
                                    <p:animEffect transition="in" filter="slide(fromBottom)">
                                      <p:cBhvr>
                                        <p:cTn id="32" dur="500"/>
                                        <p:tgtEl>
                                          <p:spTgt spid="14439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144393">
                                            <p:txEl>
                                              <p:pRg st="6" end="6"/>
                                            </p:txEl>
                                          </p:spTgt>
                                        </p:tgtEl>
                                        <p:attrNameLst>
                                          <p:attrName>style.visibility</p:attrName>
                                        </p:attrNameLst>
                                      </p:cBhvr>
                                      <p:to>
                                        <p:strVal val="visible"/>
                                      </p:to>
                                    </p:set>
                                    <p:animEffect transition="in" filter="slide(fromBottom)">
                                      <p:cBhvr>
                                        <p:cTn id="37" dur="500"/>
                                        <p:tgtEl>
                                          <p:spTgt spid="14439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144393">
                                            <p:txEl>
                                              <p:pRg st="7" end="7"/>
                                            </p:txEl>
                                          </p:spTgt>
                                        </p:tgtEl>
                                        <p:attrNameLst>
                                          <p:attrName>style.visibility</p:attrName>
                                        </p:attrNameLst>
                                      </p:cBhvr>
                                      <p:to>
                                        <p:strVal val="visible"/>
                                      </p:to>
                                    </p:set>
                                    <p:animEffect transition="in" filter="slide(fromBottom)">
                                      <p:cBhvr>
                                        <p:cTn id="42" dur="500"/>
                                        <p:tgtEl>
                                          <p:spTgt spid="14439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144393">
                                            <p:txEl>
                                              <p:pRg st="8" end="8"/>
                                            </p:txEl>
                                          </p:spTgt>
                                        </p:tgtEl>
                                        <p:attrNameLst>
                                          <p:attrName>style.visibility</p:attrName>
                                        </p:attrNameLst>
                                      </p:cBhvr>
                                      <p:to>
                                        <p:strVal val="visible"/>
                                      </p:to>
                                    </p:set>
                                    <p:animEffect transition="in" filter="slide(fromBottom)">
                                      <p:cBhvr>
                                        <p:cTn id="47" dur="500"/>
                                        <p:tgtEl>
                                          <p:spTgt spid="144393">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144393">
                                            <p:txEl>
                                              <p:pRg st="9" end="9"/>
                                            </p:txEl>
                                          </p:spTgt>
                                        </p:tgtEl>
                                        <p:attrNameLst>
                                          <p:attrName>style.visibility</p:attrName>
                                        </p:attrNameLst>
                                      </p:cBhvr>
                                      <p:to>
                                        <p:strVal val="visible"/>
                                      </p:to>
                                    </p:set>
                                    <p:animEffect transition="in" filter="slide(fromBottom)">
                                      <p:cBhvr>
                                        <p:cTn id="52" dur="500"/>
                                        <p:tgtEl>
                                          <p:spTgt spid="144393">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144393">
                                            <p:txEl>
                                              <p:pRg st="10" end="10"/>
                                            </p:txEl>
                                          </p:spTgt>
                                        </p:tgtEl>
                                        <p:attrNameLst>
                                          <p:attrName>style.visibility</p:attrName>
                                        </p:attrNameLst>
                                      </p:cBhvr>
                                      <p:to>
                                        <p:strVal val="visible"/>
                                      </p:to>
                                    </p:set>
                                    <p:animEffect transition="in" filter="slide(fromBottom)">
                                      <p:cBhvr>
                                        <p:cTn id="57" dur="500"/>
                                        <p:tgtEl>
                                          <p:spTgt spid="144393">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4" fill="hold" grpId="0" nodeType="clickEffect">
                                  <p:stCondLst>
                                    <p:cond delay="0"/>
                                  </p:stCondLst>
                                  <p:childTnLst>
                                    <p:set>
                                      <p:cBhvr>
                                        <p:cTn id="61" dur="1" fill="hold">
                                          <p:stCondLst>
                                            <p:cond delay="0"/>
                                          </p:stCondLst>
                                        </p:cTn>
                                        <p:tgtEl>
                                          <p:spTgt spid="144393">
                                            <p:txEl>
                                              <p:pRg st="11" end="11"/>
                                            </p:txEl>
                                          </p:spTgt>
                                        </p:tgtEl>
                                        <p:attrNameLst>
                                          <p:attrName>style.visibility</p:attrName>
                                        </p:attrNameLst>
                                      </p:cBhvr>
                                      <p:to>
                                        <p:strVal val="visible"/>
                                      </p:to>
                                    </p:set>
                                    <p:animEffect transition="in" filter="slide(fromBottom)">
                                      <p:cBhvr>
                                        <p:cTn id="62" dur="500"/>
                                        <p:tgtEl>
                                          <p:spTgt spid="144393">
                                            <p:txEl>
                                              <p:pRg st="11" end="1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144393">
                                            <p:txEl>
                                              <p:pRg st="12" end="12"/>
                                            </p:txEl>
                                          </p:spTgt>
                                        </p:tgtEl>
                                        <p:attrNameLst>
                                          <p:attrName>style.visibility</p:attrName>
                                        </p:attrNameLst>
                                      </p:cBhvr>
                                      <p:to>
                                        <p:strVal val="visible"/>
                                      </p:to>
                                    </p:set>
                                    <p:animEffect transition="in" filter="slide(fromBottom)">
                                      <p:cBhvr>
                                        <p:cTn id="67" dur="500"/>
                                        <p:tgtEl>
                                          <p:spTgt spid="144393">
                                            <p:txEl>
                                              <p:pRg st="12" end="12"/>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2" presetClass="entr" presetSubtype="4" fill="hold" grpId="0" nodeType="clickEffect">
                                  <p:stCondLst>
                                    <p:cond delay="0"/>
                                  </p:stCondLst>
                                  <p:childTnLst>
                                    <p:set>
                                      <p:cBhvr>
                                        <p:cTn id="71" dur="1" fill="hold">
                                          <p:stCondLst>
                                            <p:cond delay="0"/>
                                          </p:stCondLst>
                                        </p:cTn>
                                        <p:tgtEl>
                                          <p:spTgt spid="144393">
                                            <p:txEl>
                                              <p:pRg st="13" end="13"/>
                                            </p:txEl>
                                          </p:spTgt>
                                        </p:tgtEl>
                                        <p:attrNameLst>
                                          <p:attrName>style.visibility</p:attrName>
                                        </p:attrNameLst>
                                      </p:cBhvr>
                                      <p:to>
                                        <p:strVal val="visible"/>
                                      </p:to>
                                    </p:set>
                                    <p:animEffect transition="in" filter="slide(fromBottom)">
                                      <p:cBhvr>
                                        <p:cTn id="72" dur="500"/>
                                        <p:tgtEl>
                                          <p:spTgt spid="144393">
                                            <p:txEl>
                                              <p:pRg st="13" end="13"/>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2" presetClass="entr" presetSubtype="4" fill="hold" grpId="0" nodeType="clickEffect">
                                  <p:stCondLst>
                                    <p:cond delay="0"/>
                                  </p:stCondLst>
                                  <p:childTnLst>
                                    <p:set>
                                      <p:cBhvr>
                                        <p:cTn id="76" dur="1" fill="hold">
                                          <p:stCondLst>
                                            <p:cond delay="0"/>
                                          </p:stCondLst>
                                        </p:cTn>
                                        <p:tgtEl>
                                          <p:spTgt spid="144393">
                                            <p:txEl>
                                              <p:pRg st="14" end="14"/>
                                            </p:txEl>
                                          </p:spTgt>
                                        </p:tgtEl>
                                        <p:attrNameLst>
                                          <p:attrName>style.visibility</p:attrName>
                                        </p:attrNameLst>
                                      </p:cBhvr>
                                      <p:to>
                                        <p:strVal val="visible"/>
                                      </p:to>
                                    </p:set>
                                    <p:animEffect transition="in" filter="slide(fromBottom)">
                                      <p:cBhvr>
                                        <p:cTn id="77" dur="500"/>
                                        <p:tgtEl>
                                          <p:spTgt spid="144393">
                                            <p:txEl>
                                              <p:pRg st="14" end="14"/>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2" presetClass="entr" presetSubtype="4" fill="hold" grpId="0" nodeType="clickEffect">
                                  <p:stCondLst>
                                    <p:cond delay="0"/>
                                  </p:stCondLst>
                                  <p:childTnLst>
                                    <p:set>
                                      <p:cBhvr>
                                        <p:cTn id="81" dur="1" fill="hold">
                                          <p:stCondLst>
                                            <p:cond delay="0"/>
                                          </p:stCondLst>
                                        </p:cTn>
                                        <p:tgtEl>
                                          <p:spTgt spid="144393">
                                            <p:txEl>
                                              <p:pRg st="15" end="15"/>
                                            </p:txEl>
                                          </p:spTgt>
                                        </p:tgtEl>
                                        <p:attrNameLst>
                                          <p:attrName>style.visibility</p:attrName>
                                        </p:attrNameLst>
                                      </p:cBhvr>
                                      <p:to>
                                        <p:strVal val="visible"/>
                                      </p:to>
                                    </p:set>
                                    <p:animEffect transition="in" filter="slide(fromBottom)">
                                      <p:cBhvr>
                                        <p:cTn id="82" dur="500"/>
                                        <p:tgtEl>
                                          <p:spTgt spid="14439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93"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3352800" y="152400"/>
            <a:ext cx="5562600" cy="914400"/>
          </a:xfrm>
        </p:spPr>
        <p:txBody>
          <a:bodyPr/>
          <a:lstStyle/>
          <a:p>
            <a:r>
              <a:rPr lang="zh-CN" altLang="en-US" sz="3200">
                <a:latin typeface="宋体" charset="-122"/>
              </a:rPr>
              <a:t>把 </a:t>
            </a:r>
            <a:r>
              <a:rPr lang="en-US" altLang="zh-CN" sz="3200">
                <a:solidFill>
                  <a:srgbClr val="009900"/>
                </a:solidFill>
                <a:latin typeface="宋体" charset="-122"/>
              </a:rPr>
              <a:t>a&lt;b or c&lt;d and e&lt;f</a:t>
            </a:r>
            <a:r>
              <a:rPr lang="en-US" altLang="zh-CN" sz="3200">
                <a:latin typeface="宋体" charset="-122"/>
              </a:rPr>
              <a:t> </a:t>
            </a:r>
            <a:r>
              <a:rPr lang="zh-CN" altLang="en-US" sz="3200">
                <a:latin typeface="宋体" charset="-122"/>
              </a:rPr>
              <a:t>翻译</a:t>
            </a:r>
            <a:br>
              <a:rPr lang="zh-CN" altLang="en-US" sz="3200">
                <a:latin typeface="宋体" charset="-122"/>
              </a:rPr>
            </a:br>
            <a:r>
              <a:rPr lang="zh-CN" altLang="en-US" sz="3200">
                <a:latin typeface="宋体" charset="-122"/>
              </a:rPr>
              <a:t>成三地址代码举例</a:t>
            </a:r>
            <a:r>
              <a:rPr lang="en-US" altLang="zh-CN" sz="3200">
                <a:latin typeface="宋体" charset="-122"/>
              </a:rPr>
              <a:t>p187</a:t>
            </a:r>
          </a:p>
        </p:txBody>
      </p:sp>
      <p:grpSp>
        <p:nvGrpSpPr>
          <p:cNvPr id="145417" name="Group 9"/>
          <p:cNvGrpSpPr>
            <a:grpSpLocks/>
          </p:cNvGrpSpPr>
          <p:nvPr/>
        </p:nvGrpSpPr>
        <p:grpSpPr bwMode="auto">
          <a:xfrm>
            <a:off x="152400" y="381000"/>
            <a:ext cx="7404100" cy="3235325"/>
            <a:chOff x="0" y="144"/>
            <a:chExt cx="4664" cy="2038"/>
          </a:xfrm>
        </p:grpSpPr>
        <p:grpSp>
          <p:nvGrpSpPr>
            <p:cNvPr id="145418" name="Group 10"/>
            <p:cNvGrpSpPr>
              <a:grpSpLocks/>
            </p:cNvGrpSpPr>
            <p:nvPr/>
          </p:nvGrpSpPr>
          <p:grpSpPr bwMode="auto">
            <a:xfrm>
              <a:off x="0" y="613"/>
              <a:ext cx="1499" cy="1118"/>
              <a:chOff x="0" y="613"/>
              <a:chExt cx="1499" cy="1118"/>
            </a:xfrm>
          </p:grpSpPr>
          <p:sp>
            <p:nvSpPr>
              <p:cNvPr id="145419" name="Rectangle 11"/>
              <p:cNvSpPr>
                <a:spLocks noChangeArrowheads="1"/>
              </p:cNvSpPr>
              <p:nvPr/>
            </p:nvSpPr>
            <p:spPr bwMode="auto">
              <a:xfrm>
                <a:off x="655" y="613"/>
                <a:ext cx="24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200">
                    <a:latin typeface="宋体" charset="-122"/>
                  </a:rPr>
                  <a:t>E</a:t>
                </a:r>
              </a:p>
            </p:txBody>
          </p:sp>
          <p:sp>
            <p:nvSpPr>
              <p:cNvPr id="145420" name="Line 12"/>
              <p:cNvSpPr>
                <a:spLocks noChangeShapeType="1"/>
              </p:cNvSpPr>
              <p:nvPr/>
            </p:nvSpPr>
            <p:spPr bwMode="auto">
              <a:xfrm flipH="1">
                <a:off x="229" y="931"/>
                <a:ext cx="491" cy="221"/>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21" name="Line 13"/>
              <p:cNvSpPr>
                <a:spLocks noChangeShapeType="1"/>
              </p:cNvSpPr>
              <p:nvPr/>
            </p:nvSpPr>
            <p:spPr bwMode="auto">
              <a:xfrm>
                <a:off x="768" y="912"/>
                <a:ext cx="0" cy="232"/>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22" name="Line 14"/>
              <p:cNvSpPr>
                <a:spLocks noChangeShapeType="1"/>
              </p:cNvSpPr>
              <p:nvPr/>
            </p:nvSpPr>
            <p:spPr bwMode="auto">
              <a:xfrm>
                <a:off x="745" y="920"/>
                <a:ext cx="574" cy="232"/>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23" name="Rectangle 15"/>
              <p:cNvSpPr>
                <a:spLocks noChangeArrowheads="1"/>
              </p:cNvSpPr>
              <p:nvPr/>
            </p:nvSpPr>
            <p:spPr bwMode="auto">
              <a:xfrm>
                <a:off x="0" y="1059"/>
                <a:ext cx="447"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3200">
                    <a:solidFill>
                      <a:srgbClr val="009900"/>
                    </a:solidFill>
                    <a:latin typeface="宋体" charset="-122"/>
                  </a:rPr>
                  <a:t>id</a:t>
                </a:r>
              </a:p>
              <a:p>
                <a:pPr algn="ctr" eaLnBrk="0" hangingPunct="0"/>
                <a:r>
                  <a:rPr kumimoji="1" lang="en-US" altLang="zh-CN" sz="3200">
                    <a:solidFill>
                      <a:srgbClr val="009900"/>
                    </a:solidFill>
                    <a:latin typeface="宋体" charset="-122"/>
                  </a:rPr>
                  <a:t>a</a:t>
                </a:r>
              </a:p>
            </p:txBody>
          </p:sp>
          <p:sp>
            <p:nvSpPr>
              <p:cNvPr id="145424" name="Rectangle 16"/>
              <p:cNvSpPr>
                <a:spLocks noChangeArrowheads="1"/>
              </p:cNvSpPr>
              <p:nvPr/>
            </p:nvSpPr>
            <p:spPr bwMode="auto">
              <a:xfrm>
                <a:off x="339" y="1059"/>
                <a:ext cx="909"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3200">
                    <a:solidFill>
                      <a:srgbClr val="009900"/>
                    </a:solidFill>
                    <a:latin typeface="宋体" charset="-122"/>
                  </a:rPr>
                  <a:t>relop</a:t>
                </a:r>
              </a:p>
              <a:p>
                <a:pPr algn="ctr" eaLnBrk="0" hangingPunct="0"/>
                <a:r>
                  <a:rPr kumimoji="1" lang="en-US" altLang="zh-CN" sz="3200">
                    <a:solidFill>
                      <a:srgbClr val="009900"/>
                    </a:solidFill>
                    <a:latin typeface="宋体" charset="-122"/>
                  </a:rPr>
                  <a:t>&lt;</a:t>
                </a:r>
              </a:p>
            </p:txBody>
          </p:sp>
          <p:sp>
            <p:nvSpPr>
              <p:cNvPr id="145425" name="Rectangle 17"/>
              <p:cNvSpPr>
                <a:spLocks noChangeArrowheads="1"/>
              </p:cNvSpPr>
              <p:nvPr/>
            </p:nvSpPr>
            <p:spPr bwMode="auto">
              <a:xfrm>
                <a:off x="1125" y="1059"/>
                <a:ext cx="374"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200">
                    <a:solidFill>
                      <a:srgbClr val="009900"/>
                    </a:solidFill>
                    <a:latin typeface="宋体" charset="-122"/>
                  </a:rPr>
                  <a:t>id</a:t>
                </a:r>
              </a:p>
              <a:p>
                <a:pPr algn="ctr" eaLnBrk="0" hangingPunct="0"/>
                <a:r>
                  <a:rPr kumimoji="1" lang="en-US" altLang="zh-CN" sz="3200">
                    <a:solidFill>
                      <a:srgbClr val="009900"/>
                    </a:solidFill>
                    <a:latin typeface="宋体" charset="-122"/>
                  </a:rPr>
                  <a:t>b</a:t>
                </a:r>
              </a:p>
            </p:txBody>
          </p:sp>
        </p:grpSp>
        <p:grpSp>
          <p:nvGrpSpPr>
            <p:cNvPr id="145426" name="Group 18"/>
            <p:cNvGrpSpPr>
              <a:grpSpLocks/>
            </p:cNvGrpSpPr>
            <p:nvPr/>
          </p:nvGrpSpPr>
          <p:grpSpPr bwMode="auto">
            <a:xfrm>
              <a:off x="1392" y="1036"/>
              <a:ext cx="1614" cy="1132"/>
              <a:chOff x="1392" y="1036"/>
              <a:chExt cx="1614" cy="1132"/>
            </a:xfrm>
          </p:grpSpPr>
          <p:sp>
            <p:nvSpPr>
              <p:cNvPr id="145427" name="Rectangle 19"/>
              <p:cNvSpPr>
                <a:spLocks noChangeArrowheads="1"/>
              </p:cNvSpPr>
              <p:nvPr/>
            </p:nvSpPr>
            <p:spPr bwMode="auto">
              <a:xfrm>
                <a:off x="2124" y="1036"/>
                <a:ext cx="24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200">
                    <a:latin typeface="宋体" charset="-122"/>
                  </a:rPr>
                  <a:t>E</a:t>
                </a:r>
              </a:p>
            </p:txBody>
          </p:sp>
          <p:sp>
            <p:nvSpPr>
              <p:cNvPr id="145428" name="Line 20"/>
              <p:cNvSpPr>
                <a:spLocks noChangeShapeType="1"/>
              </p:cNvSpPr>
              <p:nvPr/>
            </p:nvSpPr>
            <p:spPr bwMode="auto">
              <a:xfrm flipH="1">
                <a:off x="1651" y="1343"/>
                <a:ext cx="561" cy="232"/>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29" name="Line 21"/>
              <p:cNvSpPr>
                <a:spLocks noChangeShapeType="1"/>
              </p:cNvSpPr>
              <p:nvPr/>
            </p:nvSpPr>
            <p:spPr bwMode="auto">
              <a:xfrm>
                <a:off x="2212" y="1343"/>
                <a:ext cx="0" cy="27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30" name="Line 22"/>
              <p:cNvSpPr>
                <a:spLocks noChangeShapeType="1"/>
              </p:cNvSpPr>
              <p:nvPr/>
            </p:nvSpPr>
            <p:spPr bwMode="auto">
              <a:xfrm>
                <a:off x="2212" y="1343"/>
                <a:ext cx="624" cy="232"/>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31" name="Rectangle 23"/>
              <p:cNvSpPr>
                <a:spLocks noChangeArrowheads="1"/>
              </p:cNvSpPr>
              <p:nvPr/>
            </p:nvSpPr>
            <p:spPr bwMode="auto">
              <a:xfrm>
                <a:off x="1392" y="1496"/>
                <a:ext cx="486"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3200">
                    <a:solidFill>
                      <a:srgbClr val="009900"/>
                    </a:solidFill>
                    <a:latin typeface="宋体" charset="-122"/>
                  </a:rPr>
                  <a:t>id</a:t>
                </a:r>
              </a:p>
              <a:p>
                <a:pPr algn="ctr" eaLnBrk="0" hangingPunct="0"/>
                <a:r>
                  <a:rPr kumimoji="1" lang="en-US" altLang="zh-CN" sz="3200">
                    <a:solidFill>
                      <a:srgbClr val="009900"/>
                    </a:solidFill>
                    <a:latin typeface="宋体" charset="-122"/>
                  </a:rPr>
                  <a:t>c</a:t>
                </a:r>
              </a:p>
            </p:txBody>
          </p:sp>
          <p:sp>
            <p:nvSpPr>
              <p:cNvPr id="145432" name="Rectangle 24"/>
              <p:cNvSpPr>
                <a:spLocks noChangeArrowheads="1"/>
              </p:cNvSpPr>
              <p:nvPr/>
            </p:nvSpPr>
            <p:spPr bwMode="auto">
              <a:xfrm>
                <a:off x="1704" y="1496"/>
                <a:ext cx="988"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3200">
                    <a:solidFill>
                      <a:srgbClr val="009900"/>
                    </a:solidFill>
                    <a:latin typeface="宋体" charset="-122"/>
                  </a:rPr>
                  <a:t>relop</a:t>
                </a:r>
              </a:p>
              <a:p>
                <a:pPr algn="ctr" eaLnBrk="0" hangingPunct="0"/>
                <a:r>
                  <a:rPr kumimoji="1" lang="en-US" altLang="zh-CN" sz="3200">
                    <a:solidFill>
                      <a:srgbClr val="009900"/>
                    </a:solidFill>
                    <a:latin typeface="宋体" charset="-122"/>
                  </a:rPr>
                  <a:t>&lt;</a:t>
                </a:r>
              </a:p>
            </p:txBody>
          </p:sp>
          <p:sp>
            <p:nvSpPr>
              <p:cNvPr id="145433" name="Rectangle 25"/>
              <p:cNvSpPr>
                <a:spLocks noChangeArrowheads="1"/>
              </p:cNvSpPr>
              <p:nvPr/>
            </p:nvSpPr>
            <p:spPr bwMode="auto">
              <a:xfrm>
                <a:off x="2632" y="1496"/>
                <a:ext cx="374"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200">
                    <a:solidFill>
                      <a:srgbClr val="009900"/>
                    </a:solidFill>
                    <a:latin typeface="宋体" charset="-122"/>
                  </a:rPr>
                  <a:t>id</a:t>
                </a:r>
              </a:p>
              <a:p>
                <a:pPr algn="ctr" eaLnBrk="0" hangingPunct="0"/>
                <a:r>
                  <a:rPr kumimoji="1" lang="en-US" altLang="zh-CN" sz="3200">
                    <a:solidFill>
                      <a:srgbClr val="009900"/>
                    </a:solidFill>
                    <a:latin typeface="宋体" charset="-122"/>
                  </a:rPr>
                  <a:t>d</a:t>
                </a:r>
              </a:p>
            </p:txBody>
          </p:sp>
        </p:grpSp>
        <p:grpSp>
          <p:nvGrpSpPr>
            <p:cNvPr id="145434" name="Group 26"/>
            <p:cNvGrpSpPr>
              <a:grpSpLocks/>
            </p:cNvGrpSpPr>
            <p:nvPr/>
          </p:nvGrpSpPr>
          <p:grpSpPr bwMode="auto">
            <a:xfrm>
              <a:off x="2928" y="1031"/>
              <a:ext cx="1736" cy="1151"/>
              <a:chOff x="2928" y="1031"/>
              <a:chExt cx="1736" cy="1151"/>
            </a:xfrm>
          </p:grpSpPr>
          <p:sp>
            <p:nvSpPr>
              <p:cNvPr id="145435" name="Rectangle 27"/>
              <p:cNvSpPr>
                <a:spLocks noChangeArrowheads="1"/>
              </p:cNvSpPr>
              <p:nvPr/>
            </p:nvSpPr>
            <p:spPr bwMode="auto">
              <a:xfrm>
                <a:off x="3763" y="1031"/>
                <a:ext cx="24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200">
                    <a:latin typeface="宋体" charset="-122"/>
                  </a:rPr>
                  <a:t>E</a:t>
                </a:r>
              </a:p>
            </p:txBody>
          </p:sp>
          <p:sp>
            <p:nvSpPr>
              <p:cNvPr id="145436" name="Line 28"/>
              <p:cNvSpPr>
                <a:spLocks noChangeShapeType="1"/>
              </p:cNvSpPr>
              <p:nvPr/>
            </p:nvSpPr>
            <p:spPr bwMode="auto">
              <a:xfrm flipH="1">
                <a:off x="3239" y="1338"/>
                <a:ext cx="609" cy="232"/>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37" name="Line 29"/>
              <p:cNvSpPr>
                <a:spLocks noChangeShapeType="1"/>
              </p:cNvSpPr>
              <p:nvPr/>
            </p:nvSpPr>
            <p:spPr bwMode="auto">
              <a:xfrm>
                <a:off x="3848" y="1338"/>
                <a:ext cx="0" cy="251"/>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38" name="Line 30"/>
              <p:cNvSpPr>
                <a:spLocks noChangeShapeType="1"/>
              </p:cNvSpPr>
              <p:nvPr/>
            </p:nvSpPr>
            <p:spPr bwMode="auto">
              <a:xfrm>
                <a:off x="3848" y="1338"/>
                <a:ext cx="677" cy="232"/>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39" name="Rectangle 31"/>
              <p:cNvSpPr>
                <a:spLocks noChangeArrowheads="1"/>
              </p:cNvSpPr>
              <p:nvPr/>
            </p:nvSpPr>
            <p:spPr bwMode="auto">
              <a:xfrm>
                <a:off x="2928" y="1491"/>
                <a:ext cx="527"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3200">
                    <a:solidFill>
                      <a:srgbClr val="009900"/>
                    </a:solidFill>
                    <a:latin typeface="宋体" charset="-122"/>
                  </a:rPr>
                  <a:t>id</a:t>
                </a:r>
              </a:p>
              <a:p>
                <a:pPr algn="ctr" eaLnBrk="0" hangingPunct="0"/>
                <a:r>
                  <a:rPr kumimoji="1" lang="en-US" altLang="zh-CN" sz="3200">
                    <a:solidFill>
                      <a:srgbClr val="009900"/>
                    </a:solidFill>
                    <a:latin typeface="宋体" charset="-122"/>
                  </a:rPr>
                  <a:t>e</a:t>
                </a:r>
              </a:p>
            </p:txBody>
          </p:sp>
          <p:sp>
            <p:nvSpPr>
              <p:cNvPr id="145440" name="Rectangle 32"/>
              <p:cNvSpPr>
                <a:spLocks noChangeArrowheads="1"/>
              </p:cNvSpPr>
              <p:nvPr/>
            </p:nvSpPr>
            <p:spPr bwMode="auto">
              <a:xfrm>
                <a:off x="3284" y="1509"/>
                <a:ext cx="1074" cy="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3200">
                    <a:solidFill>
                      <a:srgbClr val="009900"/>
                    </a:solidFill>
                    <a:latin typeface="宋体" charset="-122"/>
                  </a:rPr>
                  <a:t>relop</a:t>
                </a:r>
              </a:p>
              <a:p>
                <a:pPr algn="ctr" eaLnBrk="0" hangingPunct="0"/>
                <a:r>
                  <a:rPr kumimoji="1" lang="en-US" altLang="zh-CN" sz="3200">
                    <a:solidFill>
                      <a:srgbClr val="009900"/>
                    </a:solidFill>
                    <a:latin typeface="宋体" charset="-122"/>
                  </a:rPr>
                  <a:t>&lt;</a:t>
                </a:r>
              </a:p>
            </p:txBody>
          </p:sp>
          <p:sp>
            <p:nvSpPr>
              <p:cNvPr id="145441" name="Rectangle 33"/>
              <p:cNvSpPr>
                <a:spLocks noChangeArrowheads="1"/>
              </p:cNvSpPr>
              <p:nvPr/>
            </p:nvSpPr>
            <p:spPr bwMode="auto">
              <a:xfrm>
                <a:off x="4290" y="1492"/>
                <a:ext cx="374"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200">
                    <a:solidFill>
                      <a:srgbClr val="009900"/>
                    </a:solidFill>
                    <a:latin typeface="宋体" charset="-122"/>
                  </a:rPr>
                  <a:t>id</a:t>
                </a:r>
              </a:p>
              <a:p>
                <a:pPr algn="ctr" eaLnBrk="0" hangingPunct="0"/>
                <a:r>
                  <a:rPr kumimoji="1" lang="en-US" altLang="zh-CN" sz="3200">
                    <a:solidFill>
                      <a:srgbClr val="009900"/>
                    </a:solidFill>
                    <a:latin typeface="宋体" charset="-122"/>
                  </a:rPr>
                  <a:t>f</a:t>
                </a:r>
              </a:p>
            </p:txBody>
          </p:sp>
        </p:grpSp>
        <p:grpSp>
          <p:nvGrpSpPr>
            <p:cNvPr id="145442" name="Group 34"/>
            <p:cNvGrpSpPr>
              <a:grpSpLocks/>
            </p:cNvGrpSpPr>
            <p:nvPr/>
          </p:nvGrpSpPr>
          <p:grpSpPr bwMode="auto">
            <a:xfrm>
              <a:off x="2248" y="567"/>
              <a:ext cx="1536" cy="807"/>
              <a:chOff x="2248" y="567"/>
              <a:chExt cx="1536" cy="807"/>
            </a:xfrm>
          </p:grpSpPr>
          <p:sp>
            <p:nvSpPr>
              <p:cNvPr id="145443" name="Rectangle 35"/>
              <p:cNvSpPr>
                <a:spLocks noChangeArrowheads="1"/>
              </p:cNvSpPr>
              <p:nvPr/>
            </p:nvSpPr>
            <p:spPr bwMode="auto">
              <a:xfrm>
                <a:off x="2872" y="567"/>
                <a:ext cx="24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200">
                    <a:latin typeface="宋体" charset="-122"/>
                  </a:rPr>
                  <a:t>E</a:t>
                </a:r>
              </a:p>
            </p:txBody>
          </p:sp>
          <p:sp>
            <p:nvSpPr>
              <p:cNvPr id="145444" name="Line 36"/>
              <p:cNvSpPr>
                <a:spLocks noChangeShapeType="1"/>
              </p:cNvSpPr>
              <p:nvPr/>
            </p:nvSpPr>
            <p:spPr bwMode="auto">
              <a:xfrm flipH="1">
                <a:off x="2248" y="874"/>
                <a:ext cx="720" cy="255"/>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45" name="Line 37"/>
              <p:cNvSpPr>
                <a:spLocks noChangeShapeType="1"/>
              </p:cNvSpPr>
              <p:nvPr/>
            </p:nvSpPr>
            <p:spPr bwMode="auto">
              <a:xfrm>
                <a:off x="2968" y="874"/>
                <a:ext cx="0" cy="227"/>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46" name="Line 38"/>
              <p:cNvSpPr>
                <a:spLocks noChangeShapeType="1"/>
              </p:cNvSpPr>
              <p:nvPr/>
            </p:nvSpPr>
            <p:spPr bwMode="auto">
              <a:xfrm>
                <a:off x="2968" y="874"/>
                <a:ext cx="816" cy="255"/>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47" name="Rectangle 39"/>
              <p:cNvSpPr>
                <a:spLocks noChangeArrowheads="1"/>
              </p:cNvSpPr>
              <p:nvPr/>
            </p:nvSpPr>
            <p:spPr bwMode="auto">
              <a:xfrm>
                <a:off x="2584" y="1009"/>
                <a:ext cx="76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3200">
                    <a:solidFill>
                      <a:srgbClr val="009900"/>
                    </a:solidFill>
                    <a:latin typeface="宋体" charset="-122"/>
                  </a:rPr>
                  <a:t>and</a:t>
                </a:r>
              </a:p>
            </p:txBody>
          </p:sp>
        </p:grpSp>
        <p:grpSp>
          <p:nvGrpSpPr>
            <p:cNvPr id="145448" name="Group 40"/>
            <p:cNvGrpSpPr>
              <a:grpSpLocks/>
            </p:cNvGrpSpPr>
            <p:nvPr/>
          </p:nvGrpSpPr>
          <p:grpSpPr bwMode="auto">
            <a:xfrm>
              <a:off x="864" y="144"/>
              <a:ext cx="2016" cy="807"/>
              <a:chOff x="864" y="144"/>
              <a:chExt cx="2016" cy="807"/>
            </a:xfrm>
          </p:grpSpPr>
          <p:sp>
            <p:nvSpPr>
              <p:cNvPr id="145449" name="Rectangle 41"/>
              <p:cNvSpPr>
                <a:spLocks noChangeArrowheads="1"/>
              </p:cNvSpPr>
              <p:nvPr/>
            </p:nvSpPr>
            <p:spPr bwMode="auto">
              <a:xfrm>
                <a:off x="1488" y="144"/>
                <a:ext cx="24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200">
                    <a:latin typeface="宋体" charset="-122"/>
                  </a:rPr>
                  <a:t>E</a:t>
                </a:r>
              </a:p>
            </p:txBody>
          </p:sp>
          <p:sp>
            <p:nvSpPr>
              <p:cNvPr id="145450" name="Line 42"/>
              <p:cNvSpPr>
                <a:spLocks noChangeShapeType="1"/>
              </p:cNvSpPr>
              <p:nvPr/>
            </p:nvSpPr>
            <p:spPr bwMode="auto">
              <a:xfrm flipH="1">
                <a:off x="864" y="451"/>
                <a:ext cx="720" cy="255"/>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51" name="Line 43"/>
              <p:cNvSpPr>
                <a:spLocks noChangeShapeType="1"/>
              </p:cNvSpPr>
              <p:nvPr/>
            </p:nvSpPr>
            <p:spPr bwMode="auto">
              <a:xfrm>
                <a:off x="1584" y="451"/>
                <a:ext cx="0" cy="227"/>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52" name="Line 44"/>
              <p:cNvSpPr>
                <a:spLocks noChangeShapeType="1"/>
              </p:cNvSpPr>
              <p:nvPr/>
            </p:nvSpPr>
            <p:spPr bwMode="auto">
              <a:xfrm>
                <a:off x="1584" y="451"/>
                <a:ext cx="1296" cy="209"/>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53" name="Rectangle 45"/>
              <p:cNvSpPr>
                <a:spLocks noChangeArrowheads="1"/>
              </p:cNvSpPr>
              <p:nvPr/>
            </p:nvSpPr>
            <p:spPr bwMode="auto">
              <a:xfrm>
                <a:off x="1200" y="586"/>
                <a:ext cx="76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3200">
                    <a:solidFill>
                      <a:srgbClr val="009900"/>
                    </a:solidFill>
                    <a:latin typeface="宋体" charset="-122"/>
                  </a:rPr>
                  <a:t>or </a:t>
                </a:r>
              </a:p>
            </p:txBody>
          </p:sp>
        </p:grpSp>
      </p:grpSp>
      <p:sp>
        <p:nvSpPr>
          <p:cNvPr id="145454" name="Oval 46"/>
          <p:cNvSpPr>
            <a:spLocks noChangeArrowheads="1"/>
          </p:cNvSpPr>
          <p:nvPr/>
        </p:nvSpPr>
        <p:spPr bwMode="auto">
          <a:xfrm>
            <a:off x="381000" y="1752600"/>
            <a:ext cx="1981200" cy="457200"/>
          </a:xfrm>
          <a:prstGeom prst="ellipse">
            <a:avLst/>
          </a:prstGeom>
          <a:noFill/>
          <a:ln w="381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b="0"/>
          </a:p>
        </p:txBody>
      </p:sp>
      <p:sp>
        <p:nvSpPr>
          <p:cNvPr id="145455" name="Rectangle 47"/>
          <p:cNvSpPr>
            <a:spLocks noChangeArrowheads="1"/>
          </p:cNvSpPr>
          <p:nvPr/>
        </p:nvSpPr>
        <p:spPr bwMode="auto">
          <a:xfrm>
            <a:off x="152400" y="3429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sz="2800">
                <a:solidFill>
                  <a:srgbClr val="0000FF"/>
                </a:solidFill>
                <a:latin typeface="宋体" charset="-122"/>
              </a:rPr>
              <a:t>(1)sub5 T1</a:t>
            </a:r>
          </a:p>
        </p:txBody>
      </p:sp>
      <p:sp>
        <p:nvSpPr>
          <p:cNvPr id="145456" name="Rectangle 48"/>
          <p:cNvSpPr>
            <a:spLocks noChangeArrowheads="1"/>
          </p:cNvSpPr>
          <p:nvPr/>
        </p:nvSpPr>
        <p:spPr bwMode="auto">
          <a:xfrm>
            <a:off x="152400" y="3886200"/>
            <a:ext cx="2667000" cy="197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80000"/>
              </a:lnSpc>
              <a:spcBef>
                <a:spcPct val="10000"/>
              </a:spcBef>
              <a:buClr>
                <a:schemeClr val="tx2"/>
              </a:buClr>
              <a:buSzPct val="75000"/>
              <a:buFont typeface="Monotype Sorts" pitchFamily="2" charset="2"/>
              <a:buNone/>
            </a:pPr>
            <a:r>
              <a:rPr kumimoji="1" lang="en-US" altLang="zh-CN" sz="2800">
                <a:latin typeface="宋体" charset="-122"/>
              </a:rPr>
              <a:t>100 if a&lt;b </a:t>
            </a:r>
          </a:p>
          <a:p>
            <a:pPr eaLnBrk="0" hangingPunct="0">
              <a:lnSpc>
                <a:spcPct val="80000"/>
              </a:lnSpc>
              <a:spcBef>
                <a:spcPct val="10000"/>
              </a:spcBef>
              <a:buClr>
                <a:schemeClr val="tx2"/>
              </a:buClr>
              <a:buSzPct val="75000"/>
              <a:buFont typeface="Monotype Sorts" pitchFamily="2" charset="2"/>
              <a:buNone/>
            </a:pPr>
            <a:r>
              <a:rPr kumimoji="1" lang="en-US" altLang="zh-CN" sz="2800">
                <a:latin typeface="宋体" charset="-122"/>
              </a:rPr>
              <a:t>     goto 103</a:t>
            </a:r>
          </a:p>
          <a:p>
            <a:pPr eaLnBrk="0" hangingPunct="0">
              <a:lnSpc>
                <a:spcPct val="80000"/>
              </a:lnSpc>
              <a:spcBef>
                <a:spcPct val="10000"/>
              </a:spcBef>
              <a:buClr>
                <a:schemeClr val="tx2"/>
              </a:buClr>
              <a:buSzPct val="75000"/>
              <a:buFont typeface="Monotype Sorts" pitchFamily="2" charset="2"/>
              <a:buNone/>
            </a:pPr>
            <a:r>
              <a:rPr kumimoji="1" lang="en-US" altLang="zh-CN" sz="2800">
                <a:latin typeface="宋体" charset="-122"/>
              </a:rPr>
              <a:t>101 T1:=0</a:t>
            </a:r>
          </a:p>
          <a:p>
            <a:pPr eaLnBrk="0" hangingPunct="0">
              <a:lnSpc>
                <a:spcPct val="80000"/>
              </a:lnSpc>
              <a:spcBef>
                <a:spcPct val="10000"/>
              </a:spcBef>
              <a:buClr>
                <a:schemeClr val="tx2"/>
              </a:buClr>
              <a:buSzPct val="75000"/>
              <a:buFont typeface="Monotype Sorts" pitchFamily="2" charset="2"/>
              <a:buNone/>
            </a:pPr>
            <a:r>
              <a:rPr kumimoji="1" lang="en-US" altLang="zh-CN" sz="2800">
                <a:latin typeface="宋体" charset="-122"/>
              </a:rPr>
              <a:t>102 goto 104</a:t>
            </a:r>
          </a:p>
          <a:p>
            <a:pPr eaLnBrk="0" hangingPunct="0">
              <a:lnSpc>
                <a:spcPct val="80000"/>
              </a:lnSpc>
              <a:spcBef>
                <a:spcPct val="10000"/>
              </a:spcBef>
              <a:buClr>
                <a:schemeClr val="tx2"/>
              </a:buClr>
              <a:buSzPct val="75000"/>
              <a:buFont typeface="Monotype Sorts" pitchFamily="2" charset="2"/>
              <a:buNone/>
            </a:pPr>
            <a:r>
              <a:rPr kumimoji="1" lang="en-US" altLang="zh-CN" sz="2800">
                <a:latin typeface="宋体" charset="-122"/>
              </a:rPr>
              <a:t>103 T1:=1</a:t>
            </a:r>
          </a:p>
        </p:txBody>
      </p:sp>
      <p:sp>
        <p:nvSpPr>
          <p:cNvPr id="145457" name="Oval 49"/>
          <p:cNvSpPr>
            <a:spLocks noChangeArrowheads="1"/>
          </p:cNvSpPr>
          <p:nvPr/>
        </p:nvSpPr>
        <p:spPr bwMode="auto">
          <a:xfrm>
            <a:off x="2743200" y="2514600"/>
            <a:ext cx="1981200" cy="457200"/>
          </a:xfrm>
          <a:prstGeom prst="ellipse">
            <a:avLst/>
          </a:prstGeom>
          <a:noFill/>
          <a:ln w="381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58" name="Rectangle 50"/>
          <p:cNvSpPr>
            <a:spLocks noChangeArrowheads="1"/>
          </p:cNvSpPr>
          <p:nvPr/>
        </p:nvSpPr>
        <p:spPr bwMode="auto">
          <a:xfrm>
            <a:off x="2514600" y="3443288"/>
            <a:ext cx="2286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sz="2800">
                <a:solidFill>
                  <a:srgbClr val="0000FF"/>
                </a:solidFill>
                <a:latin typeface="宋体" charset="-122"/>
              </a:rPr>
              <a:t>(2)sub5 T2</a:t>
            </a:r>
          </a:p>
        </p:txBody>
      </p:sp>
      <p:sp>
        <p:nvSpPr>
          <p:cNvPr id="145459" name="Rectangle 51"/>
          <p:cNvSpPr>
            <a:spLocks noChangeArrowheads="1"/>
          </p:cNvSpPr>
          <p:nvPr/>
        </p:nvSpPr>
        <p:spPr bwMode="auto">
          <a:xfrm>
            <a:off x="2590800" y="3886200"/>
            <a:ext cx="2743200" cy="197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80000"/>
              </a:lnSpc>
              <a:spcBef>
                <a:spcPct val="10000"/>
              </a:spcBef>
              <a:buClr>
                <a:schemeClr val="tx2"/>
              </a:buClr>
              <a:buSzPct val="75000"/>
              <a:buFont typeface="Monotype Sorts" pitchFamily="2" charset="2"/>
              <a:buNone/>
            </a:pPr>
            <a:r>
              <a:rPr kumimoji="1" lang="en-US" altLang="zh-CN" sz="2800">
                <a:latin typeface="宋体" charset="-122"/>
              </a:rPr>
              <a:t>104 if c&lt;d </a:t>
            </a:r>
          </a:p>
          <a:p>
            <a:pPr eaLnBrk="0" hangingPunct="0">
              <a:lnSpc>
                <a:spcPct val="80000"/>
              </a:lnSpc>
              <a:spcBef>
                <a:spcPct val="10000"/>
              </a:spcBef>
              <a:buClr>
                <a:schemeClr val="tx2"/>
              </a:buClr>
              <a:buSzPct val="75000"/>
              <a:buFont typeface="Monotype Sorts" pitchFamily="2" charset="2"/>
              <a:buNone/>
            </a:pPr>
            <a:r>
              <a:rPr kumimoji="1" lang="en-US" altLang="zh-CN" sz="2800">
                <a:latin typeface="宋体" charset="-122"/>
              </a:rPr>
              <a:t>     goto 107</a:t>
            </a:r>
          </a:p>
          <a:p>
            <a:pPr eaLnBrk="0" hangingPunct="0">
              <a:lnSpc>
                <a:spcPct val="80000"/>
              </a:lnSpc>
              <a:spcBef>
                <a:spcPct val="10000"/>
              </a:spcBef>
              <a:buClr>
                <a:schemeClr val="tx2"/>
              </a:buClr>
              <a:buSzPct val="75000"/>
              <a:buFont typeface="Monotype Sorts" pitchFamily="2" charset="2"/>
              <a:buNone/>
            </a:pPr>
            <a:r>
              <a:rPr kumimoji="1" lang="en-US" altLang="zh-CN" sz="2800">
                <a:latin typeface="宋体" charset="-122"/>
              </a:rPr>
              <a:t>105 T2:=0</a:t>
            </a:r>
          </a:p>
          <a:p>
            <a:pPr eaLnBrk="0" hangingPunct="0">
              <a:lnSpc>
                <a:spcPct val="80000"/>
              </a:lnSpc>
              <a:spcBef>
                <a:spcPct val="10000"/>
              </a:spcBef>
              <a:buClr>
                <a:schemeClr val="tx2"/>
              </a:buClr>
              <a:buSzPct val="75000"/>
              <a:buFont typeface="Monotype Sorts" pitchFamily="2" charset="2"/>
              <a:buNone/>
            </a:pPr>
            <a:r>
              <a:rPr kumimoji="1" lang="en-US" altLang="zh-CN" sz="2800">
                <a:latin typeface="宋体" charset="-122"/>
              </a:rPr>
              <a:t>106 goto 108</a:t>
            </a:r>
          </a:p>
          <a:p>
            <a:pPr eaLnBrk="0" hangingPunct="0">
              <a:lnSpc>
                <a:spcPct val="80000"/>
              </a:lnSpc>
              <a:spcBef>
                <a:spcPct val="10000"/>
              </a:spcBef>
              <a:buClr>
                <a:schemeClr val="tx2"/>
              </a:buClr>
              <a:buSzPct val="75000"/>
              <a:buFont typeface="Monotype Sorts" pitchFamily="2" charset="2"/>
              <a:buNone/>
            </a:pPr>
            <a:r>
              <a:rPr kumimoji="1" lang="en-US" altLang="zh-CN" sz="2800">
                <a:latin typeface="宋体" charset="-122"/>
              </a:rPr>
              <a:t>107 T2:=1</a:t>
            </a:r>
          </a:p>
        </p:txBody>
      </p:sp>
      <p:sp>
        <p:nvSpPr>
          <p:cNvPr id="145460" name="Oval 52"/>
          <p:cNvSpPr>
            <a:spLocks noChangeArrowheads="1"/>
          </p:cNvSpPr>
          <p:nvPr/>
        </p:nvSpPr>
        <p:spPr bwMode="auto">
          <a:xfrm>
            <a:off x="5334000" y="2438400"/>
            <a:ext cx="1981200" cy="457200"/>
          </a:xfrm>
          <a:prstGeom prst="ellipse">
            <a:avLst/>
          </a:prstGeom>
          <a:noFill/>
          <a:ln w="381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61" name="Rectangle 53"/>
          <p:cNvSpPr>
            <a:spLocks noChangeArrowheads="1"/>
          </p:cNvSpPr>
          <p:nvPr/>
        </p:nvSpPr>
        <p:spPr bwMode="auto">
          <a:xfrm>
            <a:off x="5105400" y="3429000"/>
            <a:ext cx="2438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sz="2800">
                <a:solidFill>
                  <a:srgbClr val="0000FF"/>
                </a:solidFill>
                <a:latin typeface="宋体" charset="-122"/>
              </a:rPr>
              <a:t>(3)sub5 T3</a:t>
            </a:r>
          </a:p>
        </p:txBody>
      </p:sp>
      <p:sp>
        <p:nvSpPr>
          <p:cNvPr id="145462" name="Rectangle 54"/>
          <p:cNvSpPr>
            <a:spLocks noChangeArrowheads="1"/>
          </p:cNvSpPr>
          <p:nvPr/>
        </p:nvSpPr>
        <p:spPr bwMode="auto">
          <a:xfrm>
            <a:off x="5181600" y="3871913"/>
            <a:ext cx="3733800" cy="1585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80000"/>
              </a:lnSpc>
              <a:spcBef>
                <a:spcPct val="10000"/>
              </a:spcBef>
              <a:buClr>
                <a:schemeClr val="tx2"/>
              </a:buClr>
              <a:buSzPct val="75000"/>
              <a:buFont typeface="Monotype Sorts" pitchFamily="2" charset="2"/>
              <a:buNone/>
            </a:pPr>
            <a:r>
              <a:rPr kumimoji="1" lang="en-US" altLang="zh-CN" sz="2800">
                <a:latin typeface="宋体" charset="-122"/>
              </a:rPr>
              <a:t>108 if e&lt;f goto 111</a:t>
            </a:r>
          </a:p>
          <a:p>
            <a:pPr eaLnBrk="0" hangingPunct="0">
              <a:lnSpc>
                <a:spcPct val="80000"/>
              </a:lnSpc>
              <a:spcBef>
                <a:spcPct val="10000"/>
              </a:spcBef>
              <a:buClr>
                <a:schemeClr val="tx2"/>
              </a:buClr>
              <a:buSzPct val="75000"/>
              <a:buFont typeface="Monotype Sorts" pitchFamily="2" charset="2"/>
              <a:buNone/>
            </a:pPr>
            <a:r>
              <a:rPr kumimoji="1" lang="en-US" altLang="zh-CN" sz="2800">
                <a:latin typeface="宋体" charset="-122"/>
              </a:rPr>
              <a:t>109 T3:=0</a:t>
            </a:r>
          </a:p>
          <a:p>
            <a:pPr eaLnBrk="0" hangingPunct="0">
              <a:lnSpc>
                <a:spcPct val="80000"/>
              </a:lnSpc>
              <a:spcBef>
                <a:spcPct val="10000"/>
              </a:spcBef>
              <a:buClr>
                <a:schemeClr val="tx2"/>
              </a:buClr>
              <a:buSzPct val="75000"/>
              <a:buFont typeface="Monotype Sorts" pitchFamily="2" charset="2"/>
              <a:buNone/>
            </a:pPr>
            <a:r>
              <a:rPr kumimoji="1" lang="en-US" altLang="zh-CN" sz="2800">
                <a:latin typeface="宋体" charset="-122"/>
              </a:rPr>
              <a:t>110 goto 112</a:t>
            </a:r>
          </a:p>
          <a:p>
            <a:pPr eaLnBrk="0" hangingPunct="0">
              <a:lnSpc>
                <a:spcPct val="80000"/>
              </a:lnSpc>
              <a:spcBef>
                <a:spcPct val="10000"/>
              </a:spcBef>
              <a:buClr>
                <a:schemeClr val="tx2"/>
              </a:buClr>
              <a:buSzPct val="75000"/>
              <a:buFont typeface="Monotype Sorts" pitchFamily="2" charset="2"/>
              <a:buNone/>
            </a:pPr>
            <a:r>
              <a:rPr kumimoji="1" lang="en-US" altLang="zh-CN" sz="2800">
                <a:latin typeface="宋体" charset="-122"/>
              </a:rPr>
              <a:t>111 T3:=1</a:t>
            </a:r>
          </a:p>
        </p:txBody>
      </p:sp>
      <p:sp>
        <p:nvSpPr>
          <p:cNvPr id="145463" name="Oval 55"/>
          <p:cNvSpPr>
            <a:spLocks noChangeArrowheads="1"/>
          </p:cNvSpPr>
          <p:nvPr/>
        </p:nvSpPr>
        <p:spPr bwMode="auto">
          <a:xfrm>
            <a:off x="3810000" y="1676400"/>
            <a:ext cx="2286000" cy="457200"/>
          </a:xfrm>
          <a:prstGeom prst="ellipse">
            <a:avLst/>
          </a:prstGeom>
          <a:noFill/>
          <a:ln w="381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64" name="Rectangle 56"/>
          <p:cNvSpPr>
            <a:spLocks noChangeArrowheads="1"/>
          </p:cNvSpPr>
          <p:nvPr/>
        </p:nvSpPr>
        <p:spPr bwMode="auto">
          <a:xfrm>
            <a:off x="4419600" y="5410200"/>
            <a:ext cx="1524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sz="2800">
                <a:solidFill>
                  <a:srgbClr val="0000FF"/>
                </a:solidFill>
                <a:latin typeface="宋体" charset="-122"/>
              </a:rPr>
              <a:t>(4)sub2</a:t>
            </a:r>
          </a:p>
        </p:txBody>
      </p:sp>
      <p:sp>
        <p:nvSpPr>
          <p:cNvPr id="145465" name="Rectangle 57"/>
          <p:cNvSpPr>
            <a:spLocks noChangeArrowheads="1"/>
          </p:cNvSpPr>
          <p:nvPr/>
        </p:nvSpPr>
        <p:spPr bwMode="auto">
          <a:xfrm>
            <a:off x="5791200" y="5472113"/>
            <a:ext cx="3276600"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80000"/>
              </a:lnSpc>
              <a:spcBef>
                <a:spcPct val="10000"/>
              </a:spcBef>
              <a:buClr>
                <a:schemeClr val="tx2"/>
              </a:buClr>
              <a:buSzPct val="75000"/>
              <a:buFont typeface="Monotype Sorts" pitchFamily="2" charset="2"/>
              <a:buNone/>
            </a:pPr>
            <a:r>
              <a:rPr kumimoji="1" lang="en-US" altLang="zh-CN" sz="2800">
                <a:latin typeface="宋体" charset="-122"/>
              </a:rPr>
              <a:t>112 </a:t>
            </a:r>
            <a:r>
              <a:rPr kumimoji="1" lang="en-US" altLang="zh-CN" sz="2800">
                <a:solidFill>
                  <a:srgbClr val="0000FF"/>
                </a:solidFill>
                <a:latin typeface="宋体" charset="-122"/>
              </a:rPr>
              <a:t>T4</a:t>
            </a:r>
            <a:r>
              <a:rPr kumimoji="1" lang="en-US" altLang="zh-CN" sz="2800">
                <a:latin typeface="宋体" charset="-122"/>
              </a:rPr>
              <a:t>:=T2 and T3</a:t>
            </a:r>
          </a:p>
        </p:txBody>
      </p:sp>
      <p:sp>
        <p:nvSpPr>
          <p:cNvPr id="145466" name="Oval 58"/>
          <p:cNvSpPr>
            <a:spLocks noChangeArrowheads="1"/>
          </p:cNvSpPr>
          <p:nvPr/>
        </p:nvSpPr>
        <p:spPr bwMode="auto">
          <a:xfrm>
            <a:off x="1676400" y="990600"/>
            <a:ext cx="2286000" cy="457200"/>
          </a:xfrm>
          <a:prstGeom prst="ellipse">
            <a:avLst/>
          </a:prstGeom>
          <a:noFill/>
          <a:ln w="381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b="0"/>
          </a:p>
        </p:txBody>
      </p:sp>
      <p:sp>
        <p:nvSpPr>
          <p:cNvPr id="145467" name="Rectangle 59"/>
          <p:cNvSpPr>
            <a:spLocks noChangeArrowheads="1"/>
          </p:cNvSpPr>
          <p:nvPr/>
        </p:nvSpPr>
        <p:spPr bwMode="auto">
          <a:xfrm>
            <a:off x="4419600" y="5791200"/>
            <a:ext cx="1524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sz="2800">
                <a:solidFill>
                  <a:srgbClr val="0000FF"/>
                </a:solidFill>
                <a:latin typeface="宋体" charset="-122"/>
              </a:rPr>
              <a:t>(5)sub1</a:t>
            </a:r>
          </a:p>
        </p:txBody>
      </p:sp>
      <p:sp>
        <p:nvSpPr>
          <p:cNvPr id="145468" name="Rectangle 60"/>
          <p:cNvSpPr>
            <a:spLocks noChangeArrowheads="1"/>
          </p:cNvSpPr>
          <p:nvPr/>
        </p:nvSpPr>
        <p:spPr bwMode="auto">
          <a:xfrm>
            <a:off x="5791200" y="5867400"/>
            <a:ext cx="3276600" cy="43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80000"/>
              </a:lnSpc>
              <a:spcBef>
                <a:spcPct val="10000"/>
              </a:spcBef>
              <a:buClr>
                <a:schemeClr val="tx2"/>
              </a:buClr>
              <a:buSzPct val="75000"/>
              <a:buFont typeface="Monotype Sorts" pitchFamily="2" charset="2"/>
              <a:buNone/>
            </a:pPr>
            <a:r>
              <a:rPr kumimoji="1" lang="en-US" altLang="zh-CN" sz="2800">
                <a:latin typeface="宋体" charset="-122"/>
              </a:rPr>
              <a:t>113 </a:t>
            </a:r>
            <a:r>
              <a:rPr kumimoji="1" lang="en-US" altLang="zh-CN" sz="2800">
                <a:solidFill>
                  <a:srgbClr val="0000FF"/>
                </a:solidFill>
                <a:latin typeface="宋体" charset="-122"/>
              </a:rPr>
              <a:t>T5</a:t>
            </a:r>
            <a:r>
              <a:rPr kumimoji="1" lang="en-US" altLang="zh-CN" sz="2800">
                <a:latin typeface="宋体" charset="-122"/>
              </a:rPr>
              <a:t>:=T1 or T4</a:t>
            </a:r>
          </a:p>
        </p:txBody>
      </p:sp>
      <p:sp>
        <p:nvSpPr>
          <p:cNvPr id="2" name="灯片编号占位符 1">
            <a:extLst>
              <a:ext uri="{FF2B5EF4-FFF2-40B4-BE49-F238E27FC236}">
                <a16:creationId xmlns:a16="http://schemas.microsoft.com/office/drawing/2014/main" id="{7DD5E2C6-B6E4-423C-B1E0-E538DD6D49FB}"/>
              </a:ext>
            </a:extLst>
          </p:cNvPr>
          <p:cNvSpPr>
            <a:spLocks noGrp="1"/>
          </p:cNvSpPr>
          <p:nvPr>
            <p:ph type="sldNum" sz="quarter" idx="12"/>
          </p:nvPr>
        </p:nvSpPr>
        <p:spPr/>
        <p:txBody>
          <a:bodyPr/>
          <a:lstStyle/>
          <a:p>
            <a:fld id="{DBBC0EF6-B603-432C-9C67-7FF4B1EAAA36}" type="slidenum">
              <a:rPr lang="en-US" altLang="zh-CN" smtClean="0">
                <a:solidFill>
                  <a:srgbClr val="000000"/>
                </a:solidFill>
              </a:rPr>
              <a:pPr/>
              <a:t>59</a:t>
            </a:fld>
            <a:endParaRPr lang="en-US" altLang="zh-CN">
              <a:solidFill>
                <a:srgbClr val="000000"/>
              </a:solidFill>
            </a:endParaRPr>
          </a:p>
        </p:txBody>
      </p:sp>
    </p:spTree>
    <p:extLst>
      <p:ext uri="{BB962C8B-B14F-4D97-AF65-F5344CB8AC3E}">
        <p14:creationId xmlns:p14="http://schemas.microsoft.com/office/powerpoint/2010/main" val="27721895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5417"/>
                                        </p:tgtEl>
                                        <p:attrNameLst>
                                          <p:attrName>style.visibility</p:attrName>
                                        </p:attrNameLst>
                                      </p:cBhvr>
                                      <p:to>
                                        <p:strVal val="visible"/>
                                      </p:to>
                                    </p:set>
                                    <p:animEffect transition="in" filter="blinds(horizontal)">
                                      <p:cBhvr>
                                        <p:cTn id="7" dur="500"/>
                                        <p:tgtEl>
                                          <p:spTgt spid="1454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145454"/>
                                        </p:tgtEl>
                                        <p:attrNameLst>
                                          <p:attrName>style.visibility</p:attrName>
                                        </p:attrNameLst>
                                      </p:cBhvr>
                                      <p:to>
                                        <p:strVal val="visible"/>
                                      </p:to>
                                    </p:set>
                                    <p:animEffect transition="in" filter="strips(upRight)">
                                      <p:cBhvr>
                                        <p:cTn id="12" dur="500"/>
                                        <p:tgtEl>
                                          <p:spTgt spid="1454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45455">
                                            <p:txEl>
                                              <p:pRg st="0" end="0"/>
                                            </p:txEl>
                                          </p:spTgt>
                                        </p:tgtEl>
                                        <p:attrNameLst>
                                          <p:attrName>style.visibility</p:attrName>
                                        </p:attrNameLst>
                                      </p:cBhvr>
                                      <p:to>
                                        <p:strVal val="visible"/>
                                      </p:to>
                                    </p:set>
                                    <p:animEffect transition="in" filter="slide(fromBottom)">
                                      <p:cBhvr>
                                        <p:cTn id="17" dur="500"/>
                                        <p:tgtEl>
                                          <p:spTgt spid="14545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45456">
                                            <p:txEl>
                                              <p:pRg st="0" end="0"/>
                                            </p:txEl>
                                          </p:spTgt>
                                        </p:tgtEl>
                                        <p:attrNameLst>
                                          <p:attrName>style.visibility</p:attrName>
                                        </p:attrNameLst>
                                      </p:cBhvr>
                                      <p:to>
                                        <p:strVal val="visible"/>
                                      </p:to>
                                    </p:set>
                                    <p:animEffect transition="in" filter="slide(fromBottom)">
                                      <p:cBhvr>
                                        <p:cTn id="22" dur="500"/>
                                        <p:tgtEl>
                                          <p:spTgt spid="145456">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45456">
                                            <p:txEl>
                                              <p:pRg st="1" end="1"/>
                                            </p:txEl>
                                          </p:spTgt>
                                        </p:tgtEl>
                                        <p:attrNameLst>
                                          <p:attrName>style.visibility</p:attrName>
                                        </p:attrNameLst>
                                      </p:cBhvr>
                                      <p:to>
                                        <p:strVal val="visible"/>
                                      </p:to>
                                    </p:set>
                                    <p:animEffect transition="in" filter="slide(fromBottom)">
                                      <p:cBhvr>
                                        <p:cTn id="27" dur="500"/>
                                        <p:tgtEl>
                                          <p:spTgt spid="145456">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45456">
                                            <p:txEl>
                                              <p:pRg st="2" end="2"/>
                                            </p:txEl>
                                          </p:spTgt>
                                        </p:tgtEl>
                                        <p:attrNameLst>
                                          <p:attrName>style.visibility</p:attrName>
                                        </p:attrNameLst>
                                      </p:cBhvr>
                                      <p:to>
                                        <p:strVal val="visible"/>
                                      </p:to>
                                    </p:set>
                                    <p:animEffect transition="in" filter="slide(fromBottom)">
                                      <p:cBhvr>
                                        <p:cTn id="32" dur="500"/>
                                        <p:tgtEl>
                                          <p:spTgt spid="145456">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145456">
                                            <p:txEl>
                                              <p:pRg st="3" end="3"/>
                                            </p:txEl>
                                          </p:spTgt>
                                        </p:tgtEl>
                                        <p:attrNameLst>
                                          <p:attrName>style.visibility</p:attrName>
                                        </p:attrNameLst>
                                      </p:cBhvr>
                                      <p:to>
                                        <p:strVal val="visible"/>
                                      </p:to>
                                    </p:set>
                                    <p:animEffect transition="in" filter="slide(fromBottom)">
                                      <p:cBhvr>
                                        <p:cTn id="37" dur="500"/>
                                        <p:tgtEl>
                                          <p:spTgt spid="145456">
                                            <p:txEl>
                                              <p:pRg st="3" end="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145456">
                                            <p:txEl>
                                              <p:pRg st="4" end="4"/>
                                            </p:txEl>
                                          </p:spTgt>
                                        </p:tgtEl>
                                        <p:attrNameLst>
                                          <p:attrName>style.visibility</p:attrName>
                                        </p:attrNameLst>
                                      </p:cBhvr>
                                      <p:to>
                                        <p:strVal val="visible"/>
                                      </p:to>
                                    </p:set>
                                    <p:animEffect transition="in" filter="slide(fromBottom)">
                                      <p:cBhvr>
                                        <p:cTn id="42" dur="500"/>
                                        <p:tgtEl>
                                          <p:spTgt spid="145456">
                                            <p:txEl>
                                              <p:pRg st="4" end="4"/>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3" fill="hold" grpId="0" nodeType="clickEffect">
                                  <p:stCondLst>
                                    <p:cond delay="0"/>
                                  </p:stCondLst>
                                  <p:childTnLst>
                                    <p:set>
                                      <p:cBhvr>
                                        <p:cTn id="46" dur="1" fill="hold">
                                          <p:stCondLst>
                                            <p:cond delay="0"/>
                                          </p:stCondLst>
                                        </p:cTn>
                                        <p:tgtEl>
                                          <p:spTgt spid="145457"/>
                                        </p:tgtEl>
                                        <p:attrNameLst>
                                          <p:attrName>style.visibility</p:attrName>
                                        </p:attrNameLst>
                                      </p:cBhvr>
                                      <p:to>
                                        <p:strVal val="visible"/>
                                      </p:to>
                                    </p:set>
                                    <p:animEffect transition="in" filter="strips(upRight)">
                                      <p:cBhvr>
                                        <p:cTn id="47" dur="500"/>
                                        <p:tgtEl>
                                          <p:spTgt spid="14545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145458">
                                            <p:txEl>
                                              <p:pRg st="0" end="0"/>
                                            </p:txEl>
                                          </p:spTgt>
                                        </p:tgtEl>
                                        <p:attrNameLst>
                                          <p:attrName>style.visibility</p:attrName>
                                        </p:attrNameLst>
                                      </p:cBhvr>
                                      <p:to>
                                        <p:strVal val="visible"/>
                                      </p:to>
                                    </p:set>
                                    <p:animEffect transition="in" filter="slide(fromBottom)">
                                      <p:cBhvr>
                                        <p:cTn id="52" dur="500"/>
                                        <p:tgtEl>
                                          <p:spTgt spid="145458">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145459">
                                            <p:txEl>
                                              <p:pRg st="0" end="0"/>
                                            </p:txEl>
                                          </p:spTgt>
                                        </p:tgtEl>
                                        <p:attrNameLst>
                                          <p:attrName>style.visibility</p:attrName>
                                        </p:attrNameLst>
                                      </p:cBhvr>
                                      <p:to>
                                        <p:strVal val="visible"/>
                                      </p:to>
                                    </p:set>
                                    <p:animEffect transition="in" filter="slide(fromBottom)">
                                      <p:cBhvr>
                                        <p:cTn id="57" dur="500"/>
                                        <p:tgtEl>
                                          <p:spTgt spid="145459">
                                            <p:txEl>
                                              <p:pRg st="0" end="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4" fill="hold" grpId="0" nodeType="clickEffect">
                                  <p:stCondLst>
                                    <p:cond delay="0"/>
                                  </p:stCondLst>
                                  <p:childTnLst>
                                    <p:set>
                                      <p:cBhvr>
                                        <p:cTn id="61" dur="1" fill="hold">
                                          <p:stCondLst>
                                            <p:cond delay="0"/>
                                          </p:stCondLst>
                                        </p:cTn>
                                        <p:tgtEl>
                                          <p:spTgt spid="145459">
                                            <p:txEl>
                                              <p:pRg st="1" end="1"/>
                                            </p:txEl>
                                          </p:spTgt>
                                        </p:tgtEl>
                                        <p:attrNameLst>
                                          <p:attrName>style.visibility</p:attrName>
                                        </p:attrNameLst>
                                      </p:cBhvr>
                                      <p:to>
                                        <p:strVal val="visible"/>
                                      </p:to>
                                    </p:set>
                                    <p:animEffect transition="in" filter="slide(fromBottom)">
                                      <p:cBhvr>
                                        <p:cTn id="62" dur="500"/>
                                        <p:tgtEl>
                                          <p:spTgt spid="145459">
                                            <p:txEl>
                                              <p:pRg st="1" end="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145459">
                                            <p:txEl>
                                              <p:pRg st="2" end="2"/>
                                            </p:txEl>
                                          </p:spTgt>
                                        </p:tgtEl>
                                        <p:attrNameLst>
                                          <p:attrName>style.visibility</p:attrName>
                                        </p:attrNameLst>
                                      </p:cBhvr>
                                      <p:to>
                                        <p:strVal val="visible"/>
                                      </p:to>
                                    </p:set>
                                    <p:animEffect transition="in" filter="slide(fromBottom)">
                                      <p:cBhvr>
                                        <p:cTn id="67" dur="500"/>
                                        <p:tgtEl>
                                          <p:spTgt spid="145459">
                                            <p:txEl>
                                              <p:pRg st="2" end="2"/>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2" presetClass="entr" presetSubtype="4" fill="hold" grpId="0" nodeType="clickEffect">
                                  <p:stCondLst>
                                    <p:cond delay="0"/>
                                  </p:stCondLst>
                                  <p:childTnLst>
                                    <p:set>
                                      <p:cBhvr>
                                        <p:cTn id="71" dur="1" fill="hold">
                                          <p:stCondLst>
                                            <p:cond delay="0"/>
                                          </p:stCondLst>
                                        </p:cTn>
                                        <p:tgtEl>
                                          <p:spTgt spid="145459">
                                            <p:txEl>
                                              <p:pRg st="3" end="3"/>
                                            </p:txEl>
                                          </p:spTgt>
                                        </p:tgtEl>
                                        <p:attrNameLst>
                                          <p:attrName>style.visibility</p:attrName>
                                        </p:attrNameLst>
                                      </p:cBhvr>
                                      <p:to>
                                        <p:strVal val="visible"/>
                                      </p:to>
                                    </p:set>
                                    <p:animEffect transition="in" filter="slide(fromBottom)">
                                      <p:cBhvr>
                                        <p:cTn id="72" dur="500"/>
                                        <p:tgtEl>
                                          <p:spTgt spid="145459">
                                            <p:txEl>
                                              <p:pRg st="3" end="3"/>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2" presetClass="entr" presetSubtype="4" fill="hold" grpId="0" nodeType="clickEffect">
                                  <p:stCondLst>
                                    <p:cond delay="0"/>
                                  </p:stCondLst>
                                  <p:childTnLst>
                                    <p:set>
                                      <p:cBhvr>
                                        <p:cTn id="76" dur="1" fill="hold">
                                          <p:stCondLst>
                                            <p:cond delay="0"/>
                                          </p:stCondLst>
                                        </p:cTn>
                                        <p:tgtEl>
                                          <p:spTgt spid="145459">
                                            <p:txEl>
                                              <p:pRg st="4" end="4"/>
                                            </p:txEl>
                                          </p:spTgt>
                                        </p:tgtEl>
                                        <p:attrNameLst>
                                          <p:attrName>style.visibility</p:attrName>
                                        </p:attrNameLst>
                                      </p:cBhvr>
                                      <p:to>
                                        <p:strVal val="visible"/>
                                      </p:to>
                                    </p:set>
                                    <p:animEffect transition="in" filter="slide(fromBottom)">
                                      <p:cBhvr>
                                        <p:cTn id="77" dur="500"/>
                                        <p:tgtEl>
                                          <p:spTgt spid="145459">
                                            <p:txEl>
                                              <p:pRg st="4" end="4"/>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8" presetClass="entr" presetSubtype="3" fill="hold" grpId="0" nodeType="clickEffect">
                                  <p:stCondLst>
                                    <p:cond delay="0"/>
                                  </p:stCondLst>
                                  <p:childTnLst>
                                    <p:set>
                                      <p:cBhvr>
                                        <p:cTn id="81" dur="1" fill="hold">
                                          <p:stCondLst>
                                            <p:cond delay="0"/>
                                          </p:stCondLst>
                                        </p:cTn>
                                        <p:tgtEl>
                                          <p:spTgt spid="145460"/>
                                        </p:tgtEl>
                                        <p:attrNameLst>
                                          <p:attrName>style.visibility</p:attrName>
                                        </p:attrNameLst>
                                      </p:cBhvr>
                                      <p:to>
                                        <p:strVal val="visible"/>
                                      </p:to>
                                    </p:set>
                                    <p:animEffect transition="in" filter="strips(upRight)">
                                      <p:cBhvr>
                                        <p:cTn id="82" dur="500"/>
                                        <p:tgtEl>
                                          <p:spTgt spid="145460"/>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2" presetClass="entr" presetSubtype="4" fill="hold" grpId="0" nodeType="clickEffect">
                                  <p:stCondLst>
                                    <p:cond delay="0"/>
                                  </p:stCondLst>
                                  <p:childTnLst>
                                    <p:set>
                                      <p:cBhvr>
                                        <p:cTn id="86" dur="1" fill="hold">
                                          <p:stCondLst>
                                            <p:cond delay="0"/>
                                          </p:stCondLst>
                                        </p:cTn>
                                        <p:tgtEl>
                                          <p:spTgt spid="145461">
                                            <p:txEl>
                                              <p:pRg st="0" end="0"/>
                                            </p:txEl>
                                          </p:spTgt>
                                        </p:tgtEl>
                                        <p:attrNameLst>
                                          <p:attrName>style.visibility</p:attrName>
                                        </p:attrNameLst>
                                      </p:cBhvr>
                                      <p:to>
                                        <p:strVal val="visible"/>
                                      </p:to>
                                    </p:set>
                                    <p:animEffect transition="in" filter="slide(fromBottom)">
                                      <p:cBhvr>
                                        <p:cTn id="87" dur="500"/>
                                        <p:tgtEl>
                                          <p:spTgt spid="145461">
                                            <p:txEl>
                                              <p:pRg st="0" end="0"/>
                                            </p:txEl>
                                          </p:spTgt>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2" presetClass="entr" presetSubtype="4" fill="hold" grpId="0" nodeType="clickEffect">
                                  <p:stCondLst>
                                    <p:cond delay="0"/>
                                  </p:stCondLst>
                                  <p:childTnLst>
                                    <p:set>
                                      <p:cBhvr>
                                        <p:cTn id="91" dur="1" fill="hold">
                                          <p:stCondLst>
                                            <p:cond delay="0"/>
                                          </p:stCondLst>
                                        </p:cTn>
                                        <p:tgtEl>
                                          <p:spTgt spid="145462">
                                            <p:txEl>
                                              <p:pRg st="0" end="0"/>
                                            </p:txEl>
                                          </p:spTgt>
                                        </p:tgtEl>
                                        <p:attrNameLst>
                                          <p:attrName>style.visibility</p:attrName>
                                        </p:attrNameLst>
                                      </p:cBhvr>
                                      <p:to>
                                        <p:strVal val="visible"/>
                                      </p:to>
                                    </p:set>
                                    <p:animEffect transition="in" filter="slide(fromBottom)">
                                      <p:cBhvr>
                                        <p:cTn id="92" dur="500"/>
                                        <p:tgtEl>
                                          <p:spTgt spid="145462">
                                            <p:txEl>
                                              <p:pRg st="0" end="0"/>
                                            </p:txEl>
                                          </p:spTgt>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2" presetClass="entr" presetSubtype="4" fill="hold" grpId="0" nodeType="clickEffect">
                                  <p:stCondLst>
                                    <p:cond delay="0"/>
                                  </p:stCondLst>
                                  <p:childTnLst>
                                    <p:set>
                                      <p:cBhvr>
                                        <p:cTn id="96" dur="1" fill="hold">
                                          <p:stCondLst>
                                            <p:cond delay="0"/>
                                          </p:stCondLst>
                                        </p:cTn>
                                        <p:tgtEl>
                                          <p:spTgt spid="145462">
                                            <p:txEl>
                                              <p:pRg st="1" end="1"/>
                                            </p:txEl>
                                          </p:spTgt>
                                        </p:tgtEl>
                                        <p:attrNameLst>
                                          <p:attrName>style.visibility</p:attrName>
                                        </p:attrNameLst>
                                      </p:cBhvr>
                                      <p:to>
                                        <p:strVal val="visible"/>
                                      </p:to>
                                    </p:set>
                                    <p:animEffect transition="in" filter="slide(fromBottom)">
                                      <p:cBhvr>
                                        <p:cTn id="97" dur="500"/>
                                        <p:tgtEl>
                                          <p:spTgt spid="145462">
                                            <p:txEl>
                                              <p:pRg st="1" end="1"/>
                                            </p:txEl>
                                          </p:spTgt>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2" presetClass="entr" presetSubtype="4" fill="hold" grpId="0" nodeType="clickEffect">
                                  <p:stCondLst>
                                    <p:cond delay="0"/>
                                  </p:stCondLst>
                                  <p:childTnLst>
                                    <p:set>
                                      <p:cBhvr>
                                        <p:cTn id="101" dur="1" fill="hold">
                                          <p:stCondLst>
                                            <p:cond delay="0"/>
                                          </p:stCondLst>
                                        </p:cTn>
                                        <p:tgtEl>
                                          <p:spTgt spid="145462">
                                            <p:txEl>
                                              <p:pRg st="2" end="2"/>
                                            </p:txEl>
                                          </p:spTgt>
                                        </p:tgtEl>
                                        <p:attrNameLst>
                                          <p:attrName>style.visibility</p:attrName>
                                        </p:attrNameLst>
                                      </p:cBhvr>
                                      <p:to>
                                        <p:strVal val="visible"/>
                                      </p:to>
                                    </p:set>
                                    <p:animEffect transition="in" filter="slide(fromBottom)">
                                      <p:cBhvr>
                                        <p:cTn id="102" dur="500"/>
                                        <p:tgtEl>
                                          <p:spTgt spid="145462">
                                            <p:txEl>
                                              <p:pRg st="2" end="2"/>
                                            </p:txEl>
                                          </p:spTgt>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2" presetClass="entr" presetSubtype="4" fill="hold" grpId="0" nodeType="clickEffect">
                                  <p:stCondLst>
                                    <p:cond delay="0"/>
                                  </p:stCondLst>
                                  <p:childTnLst>
                                    <p:set>
                                      <p:cBhvr>
                                        <p:cTn id="106" dur="1" fill="hold">
                                          <p:stCondLst>
                                            <p:cond delay="0"/>
                                          </p:stCondLst>
                                        </p:cTn>
                                        <p:tgtEl>
                                          <p:spTgt spid="145462">
                                            <p:txEl>
                                              <p:pRg st="3" end="3"/>
                                            </p:txEl>
                                          </p:spTgt>
                                        </p:tgtEl>
                                        <p:attrNameLst>
                                          <p:attrName>style.visibility</p:attrName>
                                        </p:attrNameLst>
                                      </p:cBhvr>
                                      <p:to>
                                        <p:strVal val="visible"/>
                                      </p:to>
                                    </p:set>
                                    <p:animEffect transition="in" filter="slide(fromBottom)">
                                      <p:cBhvr>
                                        <p:cTn id="107" dur="500"/>
                                        <p:tgtEl>
                                          <p:spTgt spid="145462">
                                            <p:txEl>
                                              <p:pRg st="3" end="3"/>
                                            </p:txEl>
                                          </p:spTgt>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8" presetClass="entr" presetSubtype="3" fill="hold" grpId="0" nodeType="clickEffect">
                                  <p:stCondLst>
                                    <p:cond delay="0"/>
                                  </p:stCondLst>
                                  <p:childTnLst>
                                    <p:set>
                                      <p:cBhvr>
                                        <p:cTn id="111" dur="1" fill="hold">
                                          <p:stCondLst>
                                            <p:cond delay="0"/>
                                          </p:stCondLst>
                                        </p:cTn>
                                        <p:tgtEl>
                                          <p:spTgt spid="145463"/>
                                        </p:tgtEl>
                                        <p:attrNameLst>
                                          <p:attrName>style.visibility</p:attrName>
                                        </p:attrNameLst>
                                      </p:cBhvr>
                                      <p:to>
                                        <p:strVal val="visible"/>
                                      </p:to>
                                    </p:set>
                                    <p:animEffect transition="in" filter="strips(upRight)">
                                      <p:cBhvr>
                                        <p:cTn id="112" dur="500"/>
                                        <p:tgtEl>
                                          <p:spTgt spid="145463"/>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2" presetClass="entr" presetSubtype="4" fill="hold" grpId="0" nodeType="clickEffect">
                                  <p:stCondLst>
                                    <p:cond delay="0"/>
                                  </p:stCondLst>
                                  <p:childTnLst>
                                    <p:set>
                                      <p:cBhvr>
                                        <p:cTn id="116" dur="1" fill="hold">
                                          <p:stCondLst>
                                            <p:cond delay="0"/>
                                          </p:stCondLst>
                                        </p:cTn>
                                        <p:tgtEl>
                                          <p:spTgt spid="145464">
                                            <p:txEl>
                                              <p:pRg st="0" end="0"/>
                                            </p:txEl>
                                          </p:spTgt>
                                        </p:tgtEl>
                                        <p:attrNameLst>
                                          <p:attrName>style.visibility</p:attrName>
                                        </p:attrNameLst>
                                      </p:cBhvr>
                                      <p:to>
                                        <p:strVal val="visible"/>
                                      </p:to>
                                    </p:set>
                                    <p:animEffect transition="in" filter="slide(fromBottom)">
                                      <p:cBhvr>
                                        <p:cTn id="117" dur="500"/>
                                        <p:tgtEl>
                                          <p:spTgt spid="145464">
                                            <p:txEl>
                                              <p:pRg st="0" end="0"/>
                                            </p:txEl>
                                          </p:spTgt>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2" presetClass="entr" presetSubtype="4" fill="hold" grpId="0" nodeType="clickEffect">
                                  <p:stCondLst>
                                    <p:cond delay="0"/>
                                  </p:stCondLst>
                                  <p:childTnLst>
                                    <p:set>
                                      <p:cBhvr>
                                        <p:cTn id="121" dur="1" fill="hold">
                                          <p:stCondLst>
                                            <p:cond delay="0"/>
                                          </p:stCondLst>
                                        </p:cTn>
                                        <p:tgtEl>
                                          <p:spTgt spid="145465">
                                            <p:txEl>
                                              <p:pRg st="0" end="0"/>
                                            </p:txEl>
                                          </p:spTgt>
                                        </p:tgtEl>
                                        <p:attrNameLst>
                                          <p:attrName>style.visibility</p:attrName>
                                        </p:attrNameLst>
                                      </p:cBhvr>
                                      <p:to>
                                        <p:strVal val="visible"/>
                                      </p:to>
                                    </p:set>
                                    <p:animEffect transition="in" filter="slide(fromBottom)">
                                      <p:cBhvr>
                                        <p:cTn id="122" dur="500"/>
                                        <p:tgtEl>
                                          <p:spTgt spid="145465">
                                            <p:txEl>
                                              <p:pRg st="0" end="0"/>
                                            </p:txEl>
                                          </p:spTgt>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8" presetClass="entr" presetSubtype="3" fill="hold" grpId="0" nodeType="clickEffect">
                                  <p:stCondLst>
                                    <p:cond delay="0"/>
                                  </p:stCondLst>
                                  <p:childTnLst>
                                    <p:set>
                                      <p:cBhvr>
                                        <p:cTn id="126" dur="1" fill="hold">
                                          <p:stCondLst>
                                            <p:cond delay="0"/>
                                          </p:stCondLst>
                                        </p:cTn>
                                        <p:tgtEl>
                                          <p:spTgt spid="145466"/>
                                        </p:tgtEl>
                                        <p:attrNameLst>
                                          <p:attrName>style.visibility</p:attrName>
                                        </p:attrNameLst>
                                      </p:cBhvr>
                                      <p:to>
                                        <p:strVal val="visible"/>
                                      </p:to>
                                    </p:set>
                                    <p:animEffect transition="in" filter="strips(upRight)">
                                      <p:cBhvr>
                                        <p:cTn id="127" dur="500"/>
                                        <p:tgtEl>
                                          <p:spTgt spid="145466"/>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2" presetClass="entr" presetSubtype="4" fill="hold" grpId="0" nodeType="clickEffect">
                                  <p:stCondLst>
                                    <p:cond delay="0"/>
                                  </p:stCondLst>
                                  <p:childTnLst>
                                    <p:set>
                                      <p:cBhvr>
                                        <p:cTn id="131" dur="1" fill="hold">
                                          <p:stCondLst>
                                            <p:cond delay="0"/>
                                          </p:stCondLst>
                                        </p:cTn>
                                        <p:tgtEl>
                                          <p:spTgt spid="145467">
                                            <p:txEl>
                                              <p:pRg st="0" end="0"/>
                                            </p:txEl>
                                          </p:spTgt>
                                        </p:tgtEl>
                                        <p:attrNameLst>
                                          <p:attrName>style.visibility</p:attrName>
                                        </p:attrNameLst>
                                      </p:cBhvr>
                                      <p:to>
                                        <p:strVal val="visible"/>
                                      </p:to>
                                    </p:set>
                                    <p:animEffect transition="in" filter="slide(fromBottom)">
                                      <p:cBhvr>
                                        <p:cTn id="132" dur="500"/>
                                        <p:tgtEl>
                                          <p:spTgt spid="145467">
                                            <p:txEl>
                                              <p:pRg st="0" end="0"/>
                                            </p:txEl>
                                          </p:spTgt>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2" presetClass="entr" presetSubtype="4" fill="hold" grpId="0" nodeType="clickEffect">
                                  <p:stCondLst>
                                    <p:cond delay="0"/>
                                  </p:stCondLst>
                                  <p:childTnLst>
                                    <p:set>
                                      <p:cBhvr>
                                        <p:cTn id="136" dur="1" fill="hold">
                                          <p:stCondLst>
                                            <p:cond delay="0"/>
                                          </p:stCondLst>
                                        </p:cTn>
                                        <p:tgtEl>
                                          <p:spTgt spid="145468">
                                            <p:txEl>
                                              <p:pRg st="0" end="0"/>
                                            </p:txEl>
                                          </p:spTgt>
                                        </p:tgtEl>
                                        <p:attrNameLst>
                                          <p:attrName>style.visibility</p:attrName>
                                        </p:attrNameLst>
                                      </p:cBhvr>
                                      <p:to>
                                        <p:strVal val="visible"/>
                                      </p:to>
                                    </p:set>
                                    <p:animEffect transition="in" filter="slide(fromBottom)">
                                      <p:cBhvr>
                                        <p:cTn id="137" dur="500"/>
                                        <p:tgtEl>
                                          <p:spTgt spid="14546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54" grpId="0" animBg="1"/>
      <p:bldP spid="145455" grpId="0" build="p" autoUpdateAnimBg="0"/>
      <p:bldP spid="145456" grpId="0" build="p" autoUpdateAnimBg="0"/>
      <p:bldP spid="145457" grpId="0" animBg="1"/>
      <p:bldP spid="145458" grpId="0" build="p" autoUpdateAnimBg="0"/>
      <p:bldP spid="145459" grpId="0" build="p" autoUpdateAnimBg="0"/>
      <p:bldP spid="145460" grpId="0" animBg="1"/>
      <p:bldP spid="145461" grpId="0" build="p" autoUpdateAnimBg="0"/>
      <p:bldP spid="145462" grpId="0" build="p" autoUpdateAnimBg="0"/>
      <p:bldP spid="145463" grpId="0" animBg="1"/>
      <p:bldP spid="145464" grpId="0" build="p" autoUpdateAnimBg="0"/>
      <p:bldP spid="145465" grpId="0" build="p" autoUpdateAnimBg="0"/>
      <p:bldP spid="145466" grpId="0" animBg="1"/>
      <p:bldP spid="145467" grpId="0" build="p" autoUpdateAnimBg="0"/>
      <p:bldP spid="145468" grpId="0" build="p"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228600" y="152400"/>
            <a:ext cx="8763000" cy="685800"/>
          </a:xfrm>
        </p:spPr>
        <p:txBody>
          <a:bodyPr/>
          <a:lstStyle/>
          <a:p>
            <a:r>
              <a:rPr lang="zh-CN" altLang="en-US" sz="3600" dirty="0">
                <a:latin typeface="宋体" charset="-122"/>
              </a:rPr>
              <a:t>把</a:t>
            </a:r>
            <a:r>
              <a:rPr lang="en-US" altLang="zh-CN" sz="3600" dirty="0">
                <a:solidFill>
                  <a:srgbClr val="009900"/>
                </a:solidFill>
                <a:latin typeface="宋体" charset="-122"/>
              </a:rPr>
              <a:t>a&gt;b and c&gt;d</a:t>
            </a:r>
            <a:r>
              <a:rPr lang="zh-CN" altLang="en-US" sz="3600" dirty="0">
                <a:latin typeface="宋体" charset="-122"/>
              </a:rPr>
              <a:t>翻译成三地址代码</a:t>
            </a:r>
          </a:p>
        </p:txBody>
      </p:sp>
      <p:grpSp>
        <p:nvGrpSpPr>
          <p:cNvPr id="146441" name="Group 9"/>
          <p:cNvGrpSpPr>
            <a:grpSpLocks/>
          </p:cNvGrpSpPr>
          <p:nvPr/>
        </p:nvGrpSpPr>
        <p:grpSpPr bwMode="auto">
          <a:xfrm>
            <a:off x="685800" y="609600"/>
            <a:ext cx="5194300" cy="2563813"/>
            <a:chOff x="144" y="576"/>
            <a:chExt cx="3272" cy="1615"/>
          </a:xfrm>
        </p:grpSpPr>
        <p:grpSp>
          <p:nvGrpSpPr>
            <p:cNvPr id="146442" name="Group 10"/>
            <p:cNvGrpSpPr>
              <a:grpSpLocks/>
            </p:cNvGrpSpPr>
            <p:nvPr/>
          </p:nvGrpSpPr>
          <p:grpSpPr bwMode="auto">
            <a:xfrm>
              <a:off x="144" y="1045"/>
              <a:ext cx="1614" cy="1132"/>
              <a:chOff x="144" y="1045"/>
              <a:chExt cx="1614" cy="1132"/>
            </a:xfrm>
          </p:grpSpPr>
          <p:sp>
            <p:nvSpPr>
              <p:cNvPr id="146443" name="Rectangle 11"/>
              <p:cNvSpPr>
                <a:spLocks noChangeArrowheads="1"/>
              </p:cNvSpPr>
              <p:nvPr/>
            </p:nvSpPr>
            <p:spPr bwMode="auto">
              <a:xfrm>
                <a:off x="876" y="1045"/>
                <a:ext cx="24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200">
                    <a:latin typeface="宋体" charset="-122"/>
                  </a:rPr>
                  <a:t>E</a:t>
                </a:r>
              </a:p>
            </p:txBody>
          </p:sp>
          <p:sp>
            <p:nvSpPr>
              <p:cNvPr id="146444" name="Line 12"/>
              <p:cNvSpPr>
                <a:spLocks noChangeShapeType="1"/>
              </p:cNvSpPr>
              <p:nvPr/>
            </p:nvSpPr>
            <p:spPr bwMode="auto">
              <a:xfrm flipH="1">
                <a:off x="403" y="1352"/>
                <a:ext cx="561" cy="232"/>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45" name="Line 13"/>
              <p:cNvSpPr>
                <a:spLocks noChangeShapeType="1"/>
              </p:cNvSpPr>
              <p:nvPr/>
            </p:nvSpPr>
            <p:spPr bwMode="auto">
              <a:xfrm>
                <a:off x="964" y="1352"/>
                <a:ext cx="0" cy="27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46" name="Line 14"/>
              <p:cNvSpPr>
                <a:spLocks noChangeShapeType="1"/>
              </p:cNvSpPr>
              <p:nvPr/>
            </p:nvSpPr>
            <p:spPr bwMode="auto">
              <a:xfrm>
                <a:off x="964" y="1352"/>
                <a:ext cx="624" cy="232"/>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47" name="Rectangle 15"/>
              <p:cNvSpPr>
                <a:spLocks noChangeArrowheads="1"/>
              </p:cNvSpPr>
              <p:nvPr/>
            </p:nvSpPr>
            <p:spPr bwMode="auto">
              <a:xfrm>
                <a:off x="144" y="1505"/>
                <a:ext cx="486"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3200">
                    <a:solidFill>
                      <a:srgbClr val="009900"/>
                    </a:solidFill>
                    <a:latin typeface="宋体" charset="-122"/>
                  </a:rPr>
                  <a:t>id</a:t>
                </a:r>
              </a:p>
              <a:p>
                <a:pPr algn="ctr" eaLnBrk="0" hangingPunct="0"/>
                <a:r>
                  <a:rPr kumimoji="1" lang="en-US" altLang="zh-CN" sz="3200">
                    <a:solidFill>
                      <a:srgbClr val="009900"/>
                    </a:solidFill>
                    <a:latin typeface="宋体" charset="-122"/>
                  </a:rPr>
                  <a:t>a</a:t>
                </a:r>
              </a:p>
            </p:txBody>
          </p:sp>
          <p:sp>
            <p:nvSpPr>
              <p:cNvPr id="146448" name="Rectangle 16"/>
              <p:cNvSpPr>
                <a:spLocks noChangeArrowheads="1"/>
              </p:cNvSpPr>
              <p:nvPr/>
            </p:nvSpPr>
            <p:spPr bwMode="auto">
              <a:xfrm>
                <a:off x="456" y="1505"/>
                <a:ext cx="988"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3200">
                    <a:solidFill>
                      <a:srgbClr val="009900"/>
                    </a:solidFill>
                    <a:latin typeface="宋体" charset="-122"/>
                  </a:rPr>
                  <a:t>relop</a:t>
                </a:r>
              </a:p>
              <a:p>
                <a:pPr algn="ctr" eaLnBrk="0" hangingPunct="0"/>
                <a:r>
                  <a:rPr kumimoji="1" lang="en-US" altLang="zh-CN" sz="3200">
                    <a:solidFill>
                      <a:srgbClr val="009900"/>
                    </a:solidFill>
                    <a:latin typeface="宋体" charset="-122"/>
                  </a:rPr>
                  <a:t>&gt;</a:t>
                </a:r>
              </a:p>
            </p:txBody>
          </p:sp>
          <p:sp>
            <p:nvSpPr>
              <p:cNvPr id="146449" name="Rectangle 17"/>
              <p:cNvSpPr>
                <a:spLocks noChangeArrowheads="1"/>
              </p:cNvSpPr>
              <p:nvPr/>
            </p:nvSpPr>
            <p:spPr bwMode="auto">
              <a:xfrm>
                <a:off x="1384" y="1505"/>
                <a:ext cx="374"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200">
                    <a:solidFill>
                      <a:srgbClr val="009900"/>
                    </a:solidFill>
                    <a:latin typeface="宋体" charset="-122"/>
                  </a:rPr>
                  <a:t>id</a:t>
                </a:r>
              </a:p>
              <a:p>
                <a:pPr algn="ctr" eaLnBrk="0" hangingPunct="0"/>
                <a:r>
                  <a:rPr kumimoji="1" lang="en-US" altLang="zh-CN" sz="3200">
                    <a:solidFill>
                      <a:srgbClr val="009900"/>
                    </a:solidFill>
                    <a:latin typeface="宋体" charset="-122"/>
                  </a:rPr>
                  <a:t>b</a:t>
                </a:r>
              </a:p>
            </p:txBody>
          </p:sp>
        </p:grpSp>
        <p:grpSp>
          <p:nvGrpSpPr>
            <p:cNvPr id="146450" name="Group 18"/>
            <p:cNvGrpSpPr>
              <a:grpSpLocks/>
            </p:cNvGrpSpPr>
            <p:nvPr/>
          </p:nvGrpSpPr>
          <p:grpSpPr bwMode="auto">
            <a:xfrm>
              <a:off x="1680" y="1040"/>
              <a:ext cx="1736" cy="1151"/>
              <a:chOff x="1680" y="1040"/>
              <a:chExt cx="1736" cy="1151"/>
            </a:xfrm>
          </p:grpSpPr>
          <p:sp>
            <p:nvSpPr>
              <p:cNvPr id="146451" name="Rectangle 19"/>
              <p:cNvSpPr>
                <a:spLocks noChangeArrowheads="1"/>
              </p:cNvSpPr>
              <p:nvPr/>
            </p:nvSpPr>
            <p:spPr bwMode="auto">
              <a:xfrm>
                <a:off x="2515" y="1040"/>
                <a:ext cx="24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200">
                    <a:latin typeface="宋体" charset="-122"/>
                  </a:rPr>
                  <a:t>E</a:t>
                </a:r>
              </a:p>
            </p:txBody>
          </p:sp>
          <p:sp>
            <p:nvSpPr>
              <p:cNvPr id="146452" name="Line 20"/>
              <p:cNvSpPr>
                <a:spLocks noChangeShapeType="1"/>
              </p:cNvSpPr>
              <p:nvPr/>
            </p:nvSpPr>
            <p:spPr bwMode="auto">
              <a:xfrm flipH="1">
                <a:off x="1991" y="1347"/>
                <a:ext cx="609" cy="232"/>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53" name="Line 21"/>
              <p:cNvSpPr>
                <a:spLocks noChangeShapeType="1"/>
              </p:cNvSpPr>
              <p:nvPr/>
            </p:nvSpPr>
            <p:spPr bwMode="auto">
              <a:xfrm>
                <a:off x="2600" y="1347"/>
                <a:ext cx="0" cy="251"/>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54" name="Line 22"/>
              <p:cNvSpPr>
                <a:spLocks noChangeShapeType="1"/>
              </p:cNvSpPr>
              <p:nvPr/>
            </p:nvSpPr>
            <p:spPr bwMode="auto">
              <a:xfrm>
                <a:off x="2600" y="1347"/>
                <a:ext cx="677" cy="232"/>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55" name="Rectangle 23"/>
              <p:cNvSpPr>
                <a:spLocks noChangeArrowheads="1"/>
              </p:cNvSpPr>
              <p:nvPr/>
            </p:nvSpPr>
            <p:spPr bwMode="auto">
              <a:xfrm>
                <a:off x="1680" y="1500"/>
                <a:ext cx="527"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3200">
                    <a:solidFill>
                      <a:srgbClr val="009900"/>
                    </a:solidFill>
                    <a:latin typeface="宋体" charset="-122"/>
                  </a:rPr>
                  <a:t>id</a:t>
                </a:r>
              </a:p>
              <a:p>
                <a:pPr algn="ctr" eaLnBrk="0" hangingPunct="0"/>
                <a:r>
                  <a:rPr kumimoji="1" lang="en-US" altLang="zh-CN" sz="3200">
                    <a:solidFill>
                      <a:srgbClr val="009900"/>
                    </a:solidFill>
                    <a:latin typeface="宋体" charset="-122"/>
                  </a:rPr>
                  <a:t>c</a:t>
                </a:r>
              </a:p>
            </p:txBody>
          </p:sp>
          <p:sp>
            <p:nvSpPr>
              <p:cNvPr id="146456" name="Rectangle 24"/>
              <p:cNvSpPr>
                <a:spLocks noChangeArrowheads="1"/>
              </p:cNvSpPr>
              <p:nvPr/>
            </p:nvSpPr>
            <p:spPr bwMode="auto">
              <a:xfrm>
                <a:off x="2036" y="1518"/>
                <a:ext cx="1074" cy="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3200">
                    <a:solidFill>
                      <a:srgbClr val="009900"/>
                    </a:solidFill>
                    <a:latin typeface="宋体" charset="-122"/>
                  </a:rPr>
                  <a:t>relop</a:t>
                </a:r>
              </a:p>
              <a:p>
                <a:pPr algn="ctr" eaLnBrk="0" hangingPunct="0"/>
                <a:r>
                  <a:rPr kumimoji="1" lang="en-US" altLang="zh-CN" sz="3200">
                    <a:solidFill>
                      <a:srgbClr val="009900"/>
                    </a:solidFill>
                    <a:latin typeface="宋体" charset="-122"/>
                  </a:rPr>
                  <a:t>&gt;</a:t>
                </a:r>
              </a:p>
            </p:txBody>
          </p:sp>
          <p:sp>
            <p:nvSpPr>
              <p:cNvPr id="146457" name="Rectangle 25"/>
              <p:cNvSpPr>
                <a:spLocks noChangeArrowheads="1"/>
              </p:cNvSpPr>
              <p:nvPr/>
            </p:nvSpPr>
            <p:spPr bwMode="auto">
              <a:xfrm>
                <a:off x="3042" y="1501"/>
                <a:ext cx="374"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200">
                    <a:solidFill>
                      <a:srgbClr val="009900"/>
                    </a:solidFill>
                    <a:latin typeface="宋体" charset="-122"/>
                  </a:rPr>
                  <a:t>id</a:t>
                </a:r>
              </a:p>
              <a:p>
                <a:pPr algn="ctr" eaLnBrk="0" hangingPunct="0"/>
                <a:r>
                  <a:rPr kumimoji="1" lang="en-US" altLang="zh-CN" sz="3200">
                    <a:solidFill>
                      <a:srgbClr val="009900"/>
                    </a:solidFill>
                    <a:latin typeface="宋体" charset="-122"/>
                  </a:rPr>
                  <a:t>d</a:t>
                </a:r>
              </a:p>
            </p:txBody>
          </p:sp>
        </p:grpSp>
        <p:grpSp>
          <p:nvGrpSpPr>
            <p:cNvPr id="146458" name="Group 26"/>
            <p:cNvGrpSpPr>
              <a:grpSpLocks/>
            </p:cNvGrpSpPr>
            <p:nvPr/>
          </p:nvGrpSpPr>
          <p:grpSpPr bwMode="auto">
            <a:xfrm>
              <a:off x="1000" y="576"/>
              <a:ext cx="1536" cy="807"/>
              <a:chOff x="1000" y="576"/>
              <a:chExt cx="1536" cy="807"/>
            </a:xfrm>
          </p:grpSpPr>
          <p:sp>
            <p:nvSpPr>
              <p:cNvPr id="146459" name="Rectangle 27"/>
              <p:cNvSpPr>
                <a:spLocks noChangeArrowheads="1"/>
              </p:cNvSpPr>
              <p:nvPr/>
            </p:nvSpPr>
            <p:spPr bwMode="auto">
              <a:xfrm>
                <a:off x="1624" y="576"/>
                <a:ext cx="24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200">
                    <a:latin typeface="宋体" charset="-122"/>
                  </a:rPr>
                  <a:t>E</a:t>
                </a:r>
              </a:p>
            </p:txBody>
          </p:sp>
          <p:sp>
            <p:nvSpPr>
              <p:cNvPr id="146460" name="Line 28"/>
              <p:cNvSpPr>
                <a:spLocks noChangeShapeType="1"/>
              </p:cNvSpPr>
              <p:nvPr/>
            </p:nvSpPr>
            <p:spPr bwMode="auto">
              <a:xfrm flipH="1">
                <a:off x="1000" y="883"/>
                <a:ext cx="720" cy="255"/>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61" name="Line 29"/>
              <p:cNvSpPr>
                <a:spLocks noChangeShapeType="1"/>
              </p:cNvSpPr>
              <p:nvPr/>
            </p:nvSpPr>
            <p:spPr bwMode="auto">
              <a:xfrm>
                <a:off x="1720" y="883"/>
                <a:ext cx="0" cy="227"/>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62" name="Line 30"/>
              <p:cNvSpPr>
                <a:spLocks noChangeShapeType="1"/>
              </p:cNvSpPr>
              <p:nvPr/>
            </p:nvSpPr>
            <p:spPr bwMode="auto">
              <a:xfrm>
                <a:off x="1720" y="883"/>
                <a:ext cx="816" cy="255"/>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63" name="Rectangle 31"/>
              <p:cNvSpPr>
                <a:spLocks noChangeArrowheads="1"/>
              </p:cNvSpPr>
              <p:nvPr/>
            </p:nvSpPr>
            <p:spPr bwMode="auto">
              <a:xfrm>
                <a:off x="1336" y="1018"/>
                <a:ext cx="76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3200">
                    <a:latin typeface="宋体" charset="-122"/>
                  </a:rPr>
                  <a:t>and</a:t>
                </a:r>
              </a:p>
            </p:txBody>
          </p:sp>
        </p:grpSp>
      </p:grpSp>
      <p:sp>
        <p:nvSpPr>
          <p:cNvPr id="146464" name="Oval 32"/>
          <p:cNvSpPr>
            <a:spLocks noChangeArrowheads="1"/>
          </p:cNvSpPr>
          <p:nvPr/>
        </p:nvSpPr>
        <p:spPr bwMode="auto">
          <a:xfrm>
            <a:off x="1066800" y="1981200"/>
            <a:ext cx="1981200" cy="457200"/>
          </a:xfrm>
          <a:prstGeom prst="ellipse">
            <a:avLst/>
          </a:prstGeom>
          <a:noFill/>
          <a:ln w="381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65" name="Rectangle 33"/>
          <p:cNvSpPr>
            <a:spLocks noChangeArrowheads="1"/>
          </p:cNvSpPr>
          <p:nvPr/>
        </p:nvSpPr>
        <p:spPr bwMode="auto">
          <a:xfrm>
            <a:off x="609600" y="3138488"/>
            <a:ext cx="2057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sz="2800">
                <a:solidFill>
                  <a:schemeClr val="hlink"/>
                </a:solidFill>
                <a:latin typeface="宋体" charset="-122"/>
              </a:rPr>
              <a:t>(1)sub5 T1</a:t>
            </a:r>
          </a:p>
        </p:txBody>
      </p:sp>
      <p:sp>
        <p:nvSpPr>
          <p:cNvPr id="146466" name="Rectangle 34"/>
          <p:cNvSpPr>
            <a:spLocks noChangeArrowheads="1"/>
          </p:cNvSpPr>
          <p:nvPr/>
        </p:nvSpPr>
        <p:spPr bwMode="auto">
          <a:xfrm>
            <a:off x="609600" y="3600450"/>
            <a:ext cx="3733800" cy="188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100 if a&gt;b goto 103</a:t>
            </a:r>
          </a:p>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101 T1:=0</a:t>
            </a:r>
          </a:p>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102 goto 104</a:t>
            </a:r>
          </a:p>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103 T1:=1</a:t>
            </a:r>
          </a:p>
        </p:txBody>
      </p:sp>
      <p:sp>
        <p:nvSpPr>
          <p:cNvPr id="146467" name="Oval 35"/>
          <p:cNvSpPr>
            <a:spLocks noChangeArrowheads="1"/>
          </p:cNvSpPr>
          <p:nvPr/>
        </p:nvSpPr>
        <p:spPr bwMode="auto">
          <a:xfrm>
            <a:off x="3657600" y="1905000"/>
            <a:ext cx="1981200" cy="457200"/>
          </a:xfrm>
          <a:prstGeom prst="ellipse">
            <a:avLst/>
          </a:prstGeom>
          <a:noFill/>
          <a:ln w="381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68" name="Rectangle 36"/>
          <p:cNvSpPr>
            <a:spLocks noChangeArrowheads="1"/>
          </p:cNvSpPr>
          <p:nvPr/>
        </p:nvSpPr>
        <p:spPr bwMode="auto">
          <a:xfrm>
            <a:off x="4495800" y="3214688"/>
            <a:ext cx="2057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sz="2800">
                <a:solidFill>
                  <a:schemeClr val="hlink"/>
                </a:solidFill>
                <a:latin typeface="宋体" charset="-122"/>
              </a:rPr>
              <a:t>(2)sub5 T2</a:t>
            </a:r>
          </a:p>
        </p:txBody>
      </p:sp>
      <p:sp>
        <p:nvSpPr>
          <p:cNvPr id="146469" name="Rectangle 37"/>
          <p:cNvSpPr>
            <a:spLocks noChangeArrowheads="1"/>
          </p:cNvSpPr>
          <p:nvPr/>
        </p:nvSpPr>
        <p:spPr bwMode="auto">
          <a:xfrm>
            <a:off x="4495800" y="3676650"/>
            <a:ext cx="3657600" cy="188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104 if c&gt;d goto 107</a:t>
            </a:r>
          </a:p>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105 T2:=0</a:t>
            </a:r>
          </a:p>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106 goto 108</a:t>
            </a:r>
          </a:p>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107 T2:=1</a:t>
            </a:r>
          </a:p>
        </p:txBody>
      </p:sp>
      <p:sp>
        <p:nvSpPr>
          <p:cNvPr id="146470" name="Oval 38"/>
          <p:cNvSpPr>
            <a:spLocks noChangeArrowheads="1"/>
          </p:cNvSpPr>
          <p:nvPr/>
        </p:nvSpPr>
        <p:spPr bwMode="auto">
          <a:xfrm>
            <a:off x="2209800" y="1143000"/>
            <a:ext cx="1981200" cy="457200"/>
          </a:xfrm>
          <a:prstGeom prst="ellipse">
            <a:avLst/>
          </a:prstGeom>
          <a:noFill/>
          <a:ln w="381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71" name="Rectangle 39"/>
          <p:cNvSpPr>
            <a:spLocks noChangeArrowheads="1"/>
          </p:cNvSpPr>
          <p:nvPr/>
        </p:nvSpPr>
        <p:spPr bwMode="auto">
          <a:xfrm>
            <a:off x="3048000" y="5424488"/>
            <a:ext cx="1676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sz="2800">
                <a:solidFill>
                  <a:schemeClr val="hlink"/>
                </a:solidFill>
                <a:latin typeface="宋体" charset="-122"/>
              </a:rPr>
              <a:t>(3)sub2</a:t>
            </a:r>
          </a:p>
        </p:txBody>
      </p:sp>
      <p:sp>
        <p:nvSpPr>
          <p:cNvPr id="146472" name="Rectangle 40"/>
          <p:cNvSpPr>
            <a:spLocks noChangeArrowheads="1"/>
          </p:cNvSpPr>
          <p:nvPr/>
        </p:nvSpPr>
        <p:spPr bwMode="auto">
          <a:xfrm>
            <a:off x="4495800" y="5424488"/>
            <a:ext cx="3432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20000"/>
              </a:spcBef>
              <a:buClr>
                <a:schemeClr val="tx2"/>
              </a:buClr>
              <a:buSzPct val="75000"/>
              <a:buFont typeface="Monotype Sorts" pitchFamily="2" charset="2"/>
              <a:buNone/>
            </a:pPr>
            <a:r>
              <a:rPr kumimoji="1" lang="en-US" altLang="zh-CN" sz="2800">
                <a:latin typeface="宋体" charset="-122"/>
              </a:rPr>
              <a:t>108 </a:t>
            </a:r>
            <a:r>
              <a:rPr kumimoji="1" lang="en-US" altLang="zh-CN" sz="2800">
                <a:solidFill>
                  <a:srgbClr val="0000FF"/>
                </a:solidFill>
                <a:latin typeface="宋体" charset="-122"/>
              </a:rPr>
              <a:t>T3</a:t>
            </a:r>
            <a:r>
              <a:rPr kumimoji="1" lang="en-US" altLang="zh-CN" sz="2800">
                <a:latin typeface="宋体" charset="-122"/>
              </a:rPr>
              <a:t>:=T1 and T2</a:t>
            </a:r>
          </a:p>
        </p:txBody>
      </p:sp>
      <p:sp>
        <p:nvSpPr>
          <p:cNvPr id="146473" name="Rectangle 41"/>
          <p:cNvSpPr>
            <a:spLocks noChangeArrowheads="1"/>
          </p:cNvSpPr>
          <p:nvPr/>
        </p:nvSpPr>
        <p:spPr bwMode="auto">
          <a:xfrm>
            <a:off x="6705600" y="1066800"/>
            <a:ext cx="1371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3200">
                <a:solidFill>
                  <a:srgbClr val="9900CC"/>
                </a:solidFill>
                <a:latin typeface="宋体" charset="-122"/>
              </a:rPr>
              <a:t>BEGIN</a:t>
            </a:r>
          </a:p>
        </p:txBody>
      </p:sp>
      <p:sp>
        <p:nvSpPr>
          <p:cNvPr id="2" name="灯片编号占位符 1">
            <a:extLst>
              <a:ext uri="{FF2B5EF4-FFF2-40B4-BE49-F238E27FC236}">
                <a16:creationId xmlns:a16="http://schemas.microsoft.com/office/drawing/2014/main" id="{F6EAD3A6-55C6-4864-B3BC-00FC775618BD}"/>
              </a:ext>
            </a:extLst>
          </p:cNvPr>
          <p:cNvSpPr>
            <a:spLocks noGrp="1"/>
          </p:cNvSpPr>
          <p:nvPr>
            <p:ph type="sldNum" sz="quarter" idx="12"/>
          </p:nvPr>
        </p:nvSpPr>
        <p:spPr/>
        <p:txBody>
          <a:bodyPr/>
          <a:lstStyle/>
          <a:p>
            <a:fld id="{DBBC0EF6-B603-432C-9C67-7FF4B1EAAA36}" type="slidenum">
              <a:rPr lang="en-US" altLang="zh-CN" smtClean="0">
                <a:solidFill>
                  <a:srgbClr val="000000"/>
                </a:solidFill>
              </a:rPr>
              <a:pPr/>
              <a:t>60</a:t>
            </a:fld>
            <a:endParaRPr lang="en-US" altLang="zh-CN">
              <a:solidFill>
                <a:srgbClr val="000000"/>
              </a:solidFill>
            </a:endParaRPr>
          </a:p>
        </p:txBody>
      </p:sp>
    </p:spTree>
    <p:extLst>
      <p:ext uri="{BB962C8B-B14F-4D97-AF65-F5344CB8AC3E}">
        <p14:creationId xmlns:p14="http://schemas.microsoft.com/office/powerpoint/2010/main" val="2019606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6441"/>
                                        </p:tgtEl>
                                        <p:attrNameLst>
                                          <p:attrName>style.visibility</p:attrName>
                                        </p:attrNameLst>
                                      </p:cBhvr>
                                      <p:to>
                                        <p:strVal val="visible"/>
                                      </p:to>
                                    </p:set>
                                    <p:animEffect transition="in" filter="blinds(horizontal)">
                                      <p:cBhvr>
                                        <p:cTn id="7" dur="500"/>
                                        <p:tgtEl>
                                          <p:spTgt spid="1464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9" presetClass="entr" presetSubtype="10" fill="hold" grpId="0" nodeType="clickEffect">
                                  <p:stCondLst>
                                    <p:cond delay="0"/>
                                  </p:stCondLst>
                                  <p:childTnLst>
                                    <p:set>
                                      <p:cBhvr>
                                        <p:cTn id="11" dur="1" fill="hold">
                                          <p:stCondLst>
                                            <p:cond delay="0"/>
                                          </p:stCondLst>
                                        </p:cTn>
                                        <p:tgtEl>
                                          <p:spTgt spid="146473"/>
                                        </p:tgtEl>
                                        <p:attrNameLst>
                                          <p:attrName>style.visibility</p:attrName>
                                        </p:attrNameLst>
                                      </p:cBhvr>
                                      <p:to>
                                        <p:strVal val="visible"/>
                                      </p:to>
                                    </p:set>
                                    <p:anim calcmode="lin" valueType="num">
                                      <p:cBhvr>
                                        <p:cTn id="12" dur="5000" fill="hold"/>
                                        <p:tgtEl>
                                          <p:spTgt spid="146473"/>
                                        </p:tgtEl>
                                        <p:attrNameLst>
                                          <p:attrName>ppt_w</p:attrName>
                                        </p:attrNameLst>
                                      </p:cBhvr>
                                      <p:tavLst>
                                        <p:tav tm="0" fmla="#ppt_w*sin(2.5*pi*$)">
                                          <p:val>
                                            <p:fltVal val="0"/>
                                          </p:val>
                                        </p:tav>
                                        <p:tav tm="100000">
                                          <p:val>
                                            <p:fltVal val="1"/>
                                          </p:val>
                                        </p:tav>
                                      </p:tavLst>
                                    </p:anim>
                                    <p:anim calcmode="lin" valueType="num">
                                      <p:cBhvr>
                                        <p:cTn id="13" dur="5000" fill="hold"/>
                                        <p:tgtEl>
                                          <p:spTgt spid="146473"/>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3" fill="hold" grpId="0" nodeType="clickEffect">
                                  <p:stCondLst>
                                    <p:cond delay="0"/>
                                  </p:stCondLst>
                                  <p:childTnLst>
                                    <p:set>
                                      <p:cBhvr>
                                        <p:cTn id="17" dur="1" fill="hold">
                                          <p:stCondLst>
                                            <p:cond delay="0"/>
                                          </p:stCondLst>
                                        </p:cTn>
                                        <p:tgtEl>
                                          <p:spTgt spid="146464"/>
                                        </p:tgtEl>
                                        <p:attrNameLst>
                                          <p:attrName>style.visibility</p:attrName>
                                        </p:attrNameLst>
                                      </p:cBhvr>
                                      <p:to>
                                        <p:strVal val="visible"/>
                                      </p:to>
                                    </p:set>
                                    <p:animEffect transition="in" filter="strips(upRight)">
                                      <p:cBhvr>
                                        <p:cTn id="18" dur="500"/>
                                        <p:tgtEl>
                                          <p:spTgt spid="14646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146465">
                                            <p:txEl>
                                              <p:pRg st="0" end="0"/>
                                            </p:txEl>
                                          </p:spTgt>
                                        </p:tgtEl>
                                        <p:attrNameLst>
                                          <p:attrName>style.visibility</p:attrName>
                                        </p:attrNameLst>
                                      </p:cBhvr>
                                      <p:to>
                                        <p:strVal val="visible"/>
                                      </p:to>
                                    </p:set>
                                    <p:animEffect transition="in" filter="slide(fromBottom)">
                                      <p:cBhvr>
                                        <p:cTn id="23" dur="500"/>
                                        <p:tgtEl>
                                          <p:spTgt spid="146465">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146466">
                                            <p:txEl>
                                              <p:pRg st="0" end="0"/>
                                            </p:txEl>
                                          </p:spTgt>
                                        </p:tgtEl>
                                        <p:attrNameLst>
                                          <p:attrName>style.visibility</p:attrName>
                                        </p:attrNameLst>
                                      </p:cBhvr>
                                      <p:to>
                                        <p:strVal val="visible"/>
                                      </p:to>
                                    </p:set>
                                    <p:animEffect transition="in" filter="slide(fromBottom)">
                                      <p:cBhvr>
                                        <p:cTn id="28" dur="500"/>
                                        <p:tgtEl>
                                          <p:spTgt spid="146466">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146466">
                                            <p:txEl>
                                              <p:pRg st="1" end="1"/>
                                            </p:txEl>
                                          </p:spTgt>
                                        </p:tgtEl>
                                        <p:attrNameLst>
                                          <p:attrName>style.visibility</p:attrName>
                                        </p:attrNameLst>
                                      </p:cBhvr>
                                      <p:to>
                                        <p:strVal val="visible"/>
                                      </p:to>
                                    </p:set>
                                    <p:animEffect transition="in" filter="slide(fromBottom)">
                                      <p:cBhvr>
                                        <p:cTn id="33" dur="500"/>
                                        <p:tgtEl>
                                          <p:spTgt spid="146466">
                                            <p:txEl>
                                              <p:pRg st="1" end="1"/>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146466">
                                            <p:txEl>
                                              <p:pRg st="2" end="2"/>
                                            </p:txEl>
                                          </p:spTgt>
                                        </p:tgtEl>
                                        <p:attrNameLst>
                                          <p:attrName>style.visibility</p:attrName>
                                        </p:attrNameLst>
                                      </p:cBhvr>
                                      <p:to>
                                        <p:strVal val="visible"/>
                                      </p:to>
                                    </p:set>
                                    <p:animEffect transition="in" filter="slide(fromBottom)">
                                      <p:cBhvr>
                                        <p:cTn id="38" dur="500"/>
                                        <p:tgtEl>
                                          <p:spTgt spid="146466">
                                            <p:txEl>
                                              <p:pRg st="2" end="2"/>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146466">
                                            <p:txEl>
                                              <p:pRg st="3" end="3"/>
                                            </p:txEl>
                                          </p:spTgt>
                                        </p:tgtEl>
                                        <p:attrNameLst>
                                          <p:attrName>style.visibility</p:attrName>
                                        </p:attrNameLst>
                                      </p:cBhvr>
                                      <p:to>
                                        <p:strVal val="visible"/>
                                      </p:to>
                                    </p:set>
                                    <p:animEffect transition="in" filter="slide(fromBottom)">
                                      <p:cBhvr>
                                        <p:cTn id="43" dur="500"/>
                                        <p:tgtEl>
                                          <p:spTgt spid="146466">
                                            <p:txEl>
                                              <p:pRg st="3" end="3"/>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8" presetClass="entr" presetSubtype="3" fill="hold" grpId="0" nodeType="clickEffect">
                                  <p:stCondLst>
                                    <p:cond delay="0"/>
                                  </p:stCondLst>
                                  <p:childTnLst>
                                    <p:set>
                                      <p:cBhvr>
                                        <p:cTn id="47" dur="1" fill="hold">
                                          <p:stCondLst>
                                            <p:cond delay="0"/>
                                          </p:stCondLst>
                                        </p:cTn>
                                        <p:tgtEl>
                                          <p:spTgt spid="146467"/>
                                        </p:tgtEl>
                                        <p:attrNameLst>
                                          <p:attrName>style.visibility</p:attrName>
                                        </p:attrNameLst>
                                      </p:cBhvr>
                                      <p:to>
                                        <p:strVal val="visible"/>
                                      </p:to>
                                    </p:set>
                                    <p:animEffect transition="in" filter="strips(upRight)">
                                      <p:cBhvr>
                                        <p:cTn id="48" dur="500"/>
                                        <p:tgtEl>
                                          <p:spTgt spid="14646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2" presetClass="entr" presetSubtype="4" fill="hold" grpId="0" nodeType="clickEffect">
                                  <p:stCondLst>
                                    <p:cond delay="0"/>
                                  </p:stCondLst>
                                  <p:childTnLst>
                                    <p:set>
                                      <p:cBhvr>
                                        <p:cTn id="52" dur="1" fill="hold">
                                          <p:stCondLst>
                                            <p:cond delay="0"/>
                                          </p:stCondLst>
                                        </p:cTn>
                                        <p:tgtEl>
                                          <p:spTgt spid="146468">
                                            <p:txEl>
                                              <p:pRg st="0" end="0"/>
                                            </p:txEl>
                                          </p:spTgt>
                                        </p:tgtEl>
                                        <p:attrNameLst>
                                          <p:attrName>style.visibility</p:attrName>
                                        </p:attrNameLst>
                                      </p:cBhvr>
                                      <p:to>
                                        <p:strVal val="visible"/>
                                      </p:to>
                                    </p:set>
                                    <p:animEffect transition="in" filter="slide(fromBottom)">
                                      <p:cBhvr>
                                        <p:cTn id="53" dur="500"/>
                                        <p:tgtEl>
                                          <p:spTgt spid="146468">
                                            <p:txEl>
                                              <p:pRg st="0" end="0"/>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2" presetClass="entr" presetSubtype="4" fill="hold" grpId="0" nodeType="clickEffect">
                                  <p:stCondLst>
                                    <p:cond delay="0"/>
                                  </p:stCondLst>
                                  <p:childTnLst>
                                    <p:set>
                                      <p:cBhvr>
                                        <p:cTn id="57" dur="1" fill="hold">
                                          <p:stCondLst>
                                            <p:cond delay="0"/>
                                          </p:stCondLst>
                                        </p:cTn>
                                        <p:tgtEl>
                                          <p:spTgt spid="146469">
                                            <p:txEl>
                                              <p:pRg st="0" end="0"/>
                                            </p:txEl>
                                          </p:spTgt>
                                        </p:tgtEl>
                                        <p:attrNameLst>
                                          <p:attrName>style.visibility</p:attrName>
                                        </p:attrNameLst>
                                      </p:cBhvr>
                                      <p:to>
                                        <p:strVal val="visible"/>
                                      </p:to>
                                    </p:set>
                                    <p:animEffect transition="in" filter="slide(fromBottom)">
                                      <p:cBhvr>
                                        <p:cTn id="58" dur="500"/>
                                        <p:tgtEl>
                                          <p:spTgt spid="146469">
                                            <p:txEl>
                                              <p:pRg st="0" end="0"/>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2" presetClass="entr" presetSubtype="4" fill="hold" grpId="0" nodeType="clickEffect">
                                  <p:stCondLst>
                                    <p:cond delay="0"/>
                                  </p:stCondLst>
                                  <p:childTnLst>
                                    <p:set>
                                      <p:cBhvr>
                                        <p:cTn id="62" dur="1" fill="hold">
                                          <p:stCondLst>
                                            <p:cond delay="0"/>
                                          </p:stCondLst>
                                        </p:cTn>
                                        <p:tgtEl>
                                          <p:spTgt spid="146469">
                                            <p:txEl>
                                              <p:pRg st="1" end="1"/>
                                            </p:txEl>
                                          </p:spTgt>
                                        </p:tgtEl>
                                        <p:attrNameLst>
                                          <p:attrName>style.visibility</p:attrName>
                                        </p:attrNameLst>
                                      </p:cBhvr>
                                      <p:to>
                                        <p:strVal val="visible"/>
                                      </p:to>
                                    </p:set>
                                    <p:animEffect transition="in" filter="slide(fromBottom)">
                                      <p:cBhvr>
                                        <p:cTn id="63" dur="500"/>
                                        <p:tgtEl>
                                          <p:spTgt spid="146469">
                                            <p:txEl>
                                              <p:pRg st="1" end="1"/>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2" presetClass="entr" presetSubtype="4" fill="hold" grpId="0" nodeType="clickEffect">
                                  <p:stCondLst>
                                    <p:cond delay="0"/>
                                  </p:stCondLst>
                                  <p:childTnLst>
                                    <p:set>
                                      <p:cBhvr>
                                        <p:cTn id="67" dur="1" fill="hold">
                                          <p:stCondLst>
                                            <p:cond delay="0"/>
                                          </p:stCondLst>
                                        </p:cTn>
                                        <p:tgtEl>
                                          <p:spTgt spid="146469">
                                            <p:txEl>
                                              <p:pRg st="2" end="2"/>
                                            </p:txEl>
                                          </p:spTgt>
                                        </p:tgtEl>
                                        <p:attrNameLst>
                                          <p:attrName>style.visibility</p:attrName>
                                        </p:attrNameLst>
                                      </p:cBhvr>
                                      <p:to>
                                        <p:strVal val="visible"/>
                                      </p:to>
                                    </p:set>
                                    <p:animEffect transition="in" filter="slide(fromBottom)">
                                      <p:cBhvr>
                                        <p:cTn id="68" dur="500"/>
                                        <p:tgtEl>
                                          <p:spTgt spid="146469">
                                            <p:txEl>
                                              <p:pRg st="2" end="2"/>
                                            </p:txEl>
                                          </p:spTgt>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2" presetClass="entr" presetSubtype="4" fill="hold" grpId="0" nodeType="clickEffect">
                                  <p:stCondLst>
                                    <p:cond delay="0"/>
                                  </p:stCondLst>
                                  <p:childTnLst>
                                    <p:set>
                                      <p:cBhvr>
                                        <p:cTn id="72" dur="1" fill="hold">
                                          <p:stCondLst>
                                            <p:cond delay="0"/>
                                          </p:stCondLst>
                                        </p:cTn>
                                        <p:tgtEl>
                                          <p:spTgt spid="146469">
                                            <p:txEl>
                                              <p:pRg st="3" end="3"/>
                                            </p:txEl>
                                          </p:spTgt>
                                        </p:tgtEl>
                                        <p:attrNameLst>
                                          <p:attrName>style.visibility</p:attrName>
                                        </p:attrNameLst>
                                      </p:cBhvr>
                                      <p:to>
                                        <p:strVal val="visible"/>
                                      </p:to>
                                    </p:set>
                                    <p:animEffect transition="in" filter="slide(fromBottom)">
                                      <p:cBhvr>
                                        <p:cTn id="73" dur="500"/>
                                        <p:tgtEl>
                                          <p:spTgt spid="146469">
                                            <p:txEl>
                                              <p:pRg st="3" end="3"/>
                                            </p:txEl>
                                          </p:spTgt>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8" presetClass="entr" presetSubtype="3" fill="hold" grpId="0" nodeType="clickEffect">
                                  <p:stCondLst>
                                    <p:cond delay="0"/>
                                  </p:stCondLst>
                                  <p:childTnLst>
                                    <p:set>
                                      <p:cBhvr>
                                        <p:cTn id="77" dur="1" fill="hold">
                                          <p:stCondLst>
                                            <p:cond delay="0"/>
                                          </p:stCondLst>
                                        </p:cTn>
                                        <p:tgtEl>
                                          <p:spTgt spid="146470"/>
                                        </p:tgtEl>
                                        <p:attrNameLst>
                                          <p:attrName>style.visibility</p:attrName>
                                        </p:attrNameLst>
                                      </p:cBhvr>
                                      <p:to>
                                        <p:strVal val="visible"/>
                                      </p:to>
                                    </p:set>
                                    <p:animEffect transition="in" filter="strips(upRight)">
                                      <p:cBhvr>
                                        <p:cTn id="78" dur="500"/>
                                        <p:tgtEl>
                                          <p:spTgt spid="146470"/>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2" presetClass="entr" presetSubtype="4" fill="hold" grpId="0" nodeType="clickEffect">
                                  <p:stCondLst>
                                    <p:cond delay="0"/>
                                  </p:stCondLst>
                                  <p:childTnLst>
                                    <p:set>
                                      <p:cBhvr>
                                        <p:cTn id="82" dur="1" fill="hold">
                                          <p:stCondLst>
                                            <p:cond delay="0"/>
                                          </p:stCondLst>
                                        </p:cTn>
                                        <p:tgtEl>
                                          <p:spTgt spid="146471">
                                            <p:txEl>
                                              <p:pRg st="0" end="0"/>
                                            </p:txEl>
                                          </p:spTgt>
                                        </p:tgtEl>
                                        <p:attrNameLst>
                                          <p:attrName>style.visibility</p:attrName>
                                        </p:attrNameLst>
                                      </p:cBhvr>
                                      <p:to>
                                        <p:strVal val="visible"/>
                                      </p:to>
                                    </p:set>
                                    <p:animEffect transition="in" filter="slide(fromBottom)">
                                      <p:cBhvr>
                                        <p:cTn id="83" dur="500"/>
                                        <p:tgtEl>
                                          <p:spTgt spid="146471">
                                            <p:txEl>
                                              <p:pRg st="0" end="0"/>
                                            </p:txEl>
                                          </p:spTgt>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12" presetClass="entr" presetSubtype="4" fill="hold" grpId="0" nodeType="clickEffect">
                                  <p:stCondLst>
                                    <p:cond delay="0"/>
                                  </p:stCondLst>
                                  <p:childTnLst>
                                    <p:set>
                                      <p:cBhvr>
                                        <p:cTn id="87" dur="1" fill="hold">
                                          <p:stCondLst>
                                            <p:cond delay="0"/>
                                          </p:stCondLst>
                                        </p:cTn>
                                        <p:tgtEl>
                                          <p:spTgt spid="146472">
                                            <p:txEl>
                                              <p:pRg st="0" end="0"/>
                                            </p:txEl>
                                          </p:spTgt>
                                        </p:tgtEl>
                                        <p:attrNameLst>
                                          <p:attrName>style.visibility</p:attrName>
                                        </p:attrNameLst>
                                      </p:cBhvr>
                                      <p:to>
                                        <p:strVal val="visible"/>
                                      </p:to>
                                    </p:set>
                                    <p:animEffect transition="in" filter="slide(fromBottom)">
                                      <p:cBhvr>
                                        <p:cTn id="88" dur="500"/>
                                        <p:tgtEl>
                                          <p:spTgt spid="14647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64" grpId="0" animBg="1"/>
      <p:bldP spid="146465" grpId="0" build="p" autoUpdateAnimBg="0"/>
      <p:bldP spid="146466" grpId="0" build="p" autoUpdateAnimBg="0"/>
      <p:bldP spid="146467" grpId="0" animBg="1"/>
      <p:bldP spid="146468" grpId="0" build="p" autoUpdateAnimBg="0"/>
      <p:bldP spid="146469" grpId="0" build="p" autoUpdateAnimBg="0"/>
      <p:bldP spid="146470" grpId="0" animBg="1"/>
      <p:bldP spid="146471" grpId="0" build="p" autoUpdateAnimBg="0"/>
      <p:bldP spid="146472" grpId="0" build="p" autoUpdateAnimBg="0"/>
      <p:bldP spid="146473"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文本占位符 6"/>
          <p:cNvSpPr>
            <a:spLocks noGrp="1"/>
          </p:cNvSpPr>
          <p:nvPr>
            <p:ph type="body" idx="1"/>
          </p:nvPr>
        </p:nvSpPr>
        <p:spPr/>
        <p:txBody>
          <a:bodyPr/>
          <a:lstStyle/>
          <a:p>
            <a:r>
              <a:rPr lang="en-US" altLang="zh-CN" dirty="0" err="1"/>
              <a:t>if_then</a:t>
            </a:r>
            <a:r>
              <a:rPr lang="zh-CN" altLang="en-US" dirty="0"/>
              <a:t>语句</a:t>
            </a:r>
          </a:p>
        </p:txBody>
      </p:sp>
      <p:sp>
        <p:nvSpPr>
          <p:cNvPr id="5" name="灯片编号占位符 4"/>
          <p:cNvSpPr>
            <a:spLocks noGrp="1"/>
          </p:cNvSpPr>
          <p:nvPr>
            <p:ph type="sldNum" sz="quarter" idx="4"/>
          </p:nvPr>
        </p:nvSpPr>
        <p:spPr/>
        <p:txBody>
          <a:bodyPr/>
          <a:lstStyle/>
          <a:p>
            <a:fld id="{DBBC0EF6-B603-432C-9C67-7FF4B1EAAA36}" type="slidenum">
              <a:rPr lang="en-US" altLang="zh-CN" smtClean="0">
                <a:solidFill>
                  <a:srgbClr val="000000"/>
                </a:solidFill>
              </a:rPr>
              <a:pPr/>
              <a:t>61</a:t>
            </a:fld>
            <a:endParaRPr lang="en-US" altLang="zh-CN">
              <a:solidFill>
                <a:srgbClr val="000000"/>
              </a:solidFill>
            </a:endParaRPr>
          </a:p>
        </p:txBody>
      </p:sp>
      <p:sp>
        <p:nvSpPr>
          <p:cNvPr id="6" name="标题 5"/>
          <p:cNvSpPr>
            <a:spLocks noGrp="1"/>
          </p:cNvSpPr>
          <p:nvPr>
            <p:ph type="title"/>
          </p:nvPr>
        </p:nvSpPr>
        <p:spPr/>
        <p:txBody>
          <a:bodyPr/>
          <a:lstStyle/>
          <a:p>
            <a:r>
              <a:rPr lang="zh-CN" altLang="en-US" dirty="0"/>
              <a:t>四、中间代码生成                   </a:t>
            </a:r>
            <a:r>
              <a:rPr lang="zh-CN" altLang="en-US" dirty="0">
                <a:solidFill>
                  <a:srgbClr val="FF0000"/>
                </a:solidFill>
              </a:rPr>
              <a:t>控制语句</a:t>
            </a:r>
          </a:p>
        </p:txBody>
      </p:sp>
      <p:sp>
        <p:nvSpPr>
          <p:cNvPr id="8" name="Rectangle 11"/>
          <p:cNvSpPr txBox="1">
            <a:spLocks noChangeArrowheads="1"/>
          </p:cNvSpPr>
          <p:nvPr/>
        </p:nvSpPr>
        <p:spPr>
          <a:xfrm>
            <a:off x="76200" y="1780140"/>
            <a:ext cx="4572000" cy="1371600"/>
          </a:xfrm>
          <a:prstGeom prst="rect">
            <a:avLst/>
          </a:prstGeom>
          <a:noFill/>
          <a:ln/>
        </p:spPr>
        <p:txBody>
          <a:bodyPr vert="horz" lIns="92075" tIns="46038" rIns="92075" bIns="46038" rtlCol="0">
            <a:normAutofit/>
          </a:bodyPr>
          <a:lst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a:solidFill>
                  <a:srgbClr val="0206AD"/>
                </a:solidFill>
                <a:uFillTx/>
                <a:latin typeface="Times New Roman" panose="02020603050405020304" charset="0"/>
                <a:ea typeface="黑体" panose="02010609060101010101" charset="-122"/>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a:solidFill>
                  <a:srgbClr val="0066FF"/>
                </a:solidFill>
                <a:uFillTx/>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a:solidFill>
                  <a:srgbClr val="0206AD"/>
                </a:solidFill>
                <a:uFillTx/>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buClr>
                <a:srgbClr val="0000FF"/>
              </a:buClr>
              <a:buFont typeface="Wingdings" pitchFamily="2" charset="2"/>
              <a:buBlip>
                <a:blip r:embed="rId2"/>
              </a:buBlip>
            </a:pPr>
            <a:r>
              <a:rPr lang="zh-CN" altLang="en-US" sz="2800">
                <a:latin typeface="宋体" charset="-122"/>
              </a:rPr>
              <a:t>语法 </a:t>
            </a:r>
            <a:r>
              <a:rPr lang="en-US" altLang="zh-CN" sz="2800">
                <a:latin typeface="宋体" charset="-122"/>
              </a:rPr>
              <a:t>S→if E then S1 </a:t>
            </a:r>
          </a:p>
          <a:p>
            <a:pPr>
              <a:spcBef>
                <a:spcPct val="0"/>
              </a:spcBef>
              <a:buClr>
                <a:srgbClr val="0000FF"/>
              </a:buClr>
              <a:buFont typeface="Wingdings" pitchFamily="2" charset="2"/>
              <a:buBlip>
                <a:blip r:embed="rId2"/>
              </a:buBlip>
            </a:pPr>
            <a:r>
              <a:rPr lang="zh-CN" altLang="en-US" sz="2800">
                <a:latin typeface="宋体" charset="-122"/>
              </a:rPr>
              <a:t>语义 如果</a:t>
            </a:r>
            <a:r>
              <a:rPr lang="en-US" altLang="zh-CN" sz="2800">
                <a:latin typeface="宋体" charset="-122"/>
              </a:rPr>
              <a:t>E</a:t>
            </a:r>
            <a:r>
              <a:rPr lang="zh-CN" altLang="en-US" sz="2800">
                <a:latin typeface="宋体" charset="-122"/>
              </a:rPr>
              <a:t>的值为</a:t>
            </a:r>
            <a:r>
              <a:rPr lang="en-US" altLang="zh-CN" sz="2800">
                <a:latin typeface="宋体" charset="-122"/>
              </a:rPr>
              <a:t>true</a:t>
            </a:r>
            <a:r>
              <a:rPr lang="zh-CN" altLang="en-US" sz="2800">
                <a:latin typeface="宋体" charset="-122"/>
              </a:rPr>
              <a:t>，       那么执行</a:t>
            </a:r>
            <a:r>
              <a:rPr lang="en-US" altLang="zh-CN" sz="2800">
                <a:latin typeface="宋体" charset="-122"/>
              </a:rPr>
              <a:t>S1</a:t>
            </a:r>
            <a:endParaRPr lang="en-US" altLang="zh-CN" sz="2800" dirty="0">
              <a:latin typeface="宋体" charset="-122"/>
            </a:endParaRPr>
          </a:p>
        </p:txBody>
      </p:sp>
      <p:sp>
        <p:nvSpPr>
          <p:cNvPr id="9" name="Rectangle 12"/>
          <p:cNvSpPr>
            <a:spLocks noChangeArrowheads="1"/>
          </p:cNvSpPr>
          <p:nvPr/>
        </p:nvSpPr>
        <p:spPr bwMode="auto">
          <a:xfrm>
            <a:off x="4572000" y="1780140"/>
            <a:ext cx="44958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20000"/>
              </a:spcBef>
              <a:buClr>
                <a:srgbClr val="0000FF"/>
              </a:buClr>
              <a:buFont typeface="Wingdings" pitchFamily="2" charset="2"/>
              <a:buBlip>
                <a:blip r:embed="rId2"/>
              </a:buBlip>
            </a:pPr>
            <a:r>
              <a:rPr kumimoji="1" lang="zh-CN" altLang="en-US" sz="2800">
                <a:latin typeface="宋体" charset="-122"/>
              </a:rPr>
              <a:t>举例</a:t>
            </a:r>
          </a:p>
          <a:p>
            <a:pPr eaLnBrk="0" hangingPunct="0">
              <a:lnSpc>
                <a:spcPct val="90000"/>
              </a:lnSpc>
              <a:spcBef>
                <a:spcPct val="20000"/>
              </a:spcBef>
              <a:buClr>
                <a:schemeClr val="tx2"/>
              </a:buClr>
              <a:buSzPct val="75000"/>
              <a:buFont typeface="Monotype Sorts" pitchFamily="2" charset="2"/>
              <a:buNone/>
            </a:pPr>
            <a:r>
              <a:rPr kumimoji="1" lang="zh-CN" altLang="en-US" sz="2800">
                <a:latin typeface="宋体" charset="-122"/>
              </a:rPr>
              <a:t>  </a:t>
            </a:r>
            <a:r>
              <a:rPr kumimoji="1" lang="en-US" altLang="zh-CN" sz="2800">
                <a:latin typeface="宋体" charset="-122"/>
              </a:rPr>
              <a:t>if c&lt;d then a:=b+2</a:t>
            </a:r>
          </a:p>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 </a:t>
            </a:r>
            <a:r>
              <a:rPr kumimoji="1" lang="zh-CN" altLang="en-US" sz="2800">
                <a:latin typeface="宋体" charset="-122"/>
              </a:rPr>
              <a:t>翻译成四元式序列为： </a:t>
            </a:r>
          </a:p>
        </p:txBody>
      </p:sp>
      <p:grpSp>
        <p:nvGrpSpPr>
          <p:cNvPr id="10" name="Group 13"/>
          <p:cNvGrpSpPr>
            <a:grpSpLocks/>
          </p:cNvGrpSpPr>
          <p:nvPr/>
        </p:nvGrpSpPr>
        <p:grpSpPr bwMode="auto">
          <a:xfrm>
            <a:off x="-76200" y="3359703"/>
            <a:ext cx="4343400" cy="2916237"/>
            <a:chOff x="-48" y="1427"/>
            <a:chExt cx="2736" cy="1837"/>
          </a:xfrm>
        </p:grpSpPr>
        <p:sp>
          <p:nvSpPr>
            <p:cNvPr id="11" name="Rectangle 14"/>
            <p:cNvSpPr>
              <a:spLocks noChangeArrowheads="1"/>
            </p:cNvSpPr>
            <p:nvPr/>
          </p:nvSpPr>
          <p:spPr bwMode="auto">
            <a:xfrm>
              <a:off x="757" y="1427"/>
              <a:ext cx="875" cy="781"/>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a:latin typeface="Times New Roman" pitchFamily="18" charset="0"/>
                </a:rPr>
                <a:t>E.code</a:t>
              </a:r>
            </a:p>
          </p:txBody>
        </p:sp>
        <p:sp>
          <p:nvSpPr>
            <p:cNvPr id="12" name="Rectangle 15"/>
            <p:cNvSpPr>
              <a:spLocks noChangeArrowheads="1"/>
            </p:cNvSpPr>
            <p:nvPr/>
          </p:nvSpPr>
          <p:spPr bwMode="auto">
            <a:xfrm>
              <a:off x="757" y="2208"/>
              <a:ext cx="875" cy="576"/>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a:latin typeface="Times New Roman" pitchFamily="18" charset="0"/>
                </a:rPr>
                <a:t>S1.code</a:t>
              </a:r>
            </a:p>
          </p:txBody>
        </p:sp>
        <p:sp>
          <p:nvSpPr>
            <p:cNvPr id="13" name="Text Box 16"/>
            <p:cNvSpPr txBox="1">
              <a:spLocks noChangeArrowheads="1"/>
            </p:cNvSpPr>
            <p:nvPr/>
          </p:nvSpPr>
          <p:spPr bwMode="auto">
            <a:xfrm>
              <a:off x="0" y="2169"/>
              <a:ext cx="799" cy="32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a:latin typeface="Times New Roman" pitchFamily="18" charset="0"/>
                </a:rPr>
                <a:t>E.true:</a:t>
              </a:r>
            </a:p>
          </p:txBody>
        </p:sp>
        <p:sp>
          <p:nvSpPr>
            <p:cNvPr id="14" name="Text Box 17"/>
            <p:cNvSpPr txBox="1">
              <a:spLocks noChangeArrowheads="1"/>
            </p:cNvSpPr>
            <p:nvPr/>
          </p:nvSpPr>
          <p:spPr bwMode="auto">
            <a:xfrm>
              <a:off x="-48" y="2697"/>
              <a:ext cx="799" cy="32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a:latin typeface="Times New Roman" pitchFamily="18" charset="0"/>
                </a:rPr>
                <a:t>E.false:</a:t>
              </a:r>
            </a:p>
          </p:txBody>
        </p:sp>
        <p:sp>
          <p:nvSpPr>
            <p:cNvPr id="15" name="Rectangle 18"/>
            <p:cNvSpPr>
              <a:spLocks noChangeArrowheads="1"/>
            </p:cNvSpPr>
            <p:nvPr/>
          </p:nvSpPr>
          <p:spPr bwMode="auto">
            <a:xfrm>
              <a:off x="757" y="2784"/>
              <a:ext cx="875" cy="480"/>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a:latin typeface="Times New Roman" pitchFamily="18" charset="0"/>
                </a:rPr>
                <a:t>...</a:t>
              </a:r>
            </a:p>
          </p:txBody>
        </p:sp>
        <p:sp>
          <p:nvSpPr>
            <p:cNvPr id="16" name="Text Box 19"/>
            <p:cNvSpPr txBox="1">
              <a:spLocks noChangeArrowheads="1"/>
            </p:cNvSpPr>
            <p:nvPr/>
          </p:nvSpPr>
          <p:spPr bwMode="auto">
            <a:xfrm>
              <a:off x="1632" y="1536"/>
              <a:ext cx="1056"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pPr>
              <a:r>
                <a:rPr kumimoji="1" lang="en-US" altLang="zh-CN" sz="2800">
                  <a:latin typeface="Times New Roman" pitchFamily="18" charset="0"/>
                </a:rPr>
                <a:t>to E.true</a:t>
              </a:r>
            </a:p>
          </p:txBody>
        </p:sp>
        <p:sp>
          <p:nvSpPr>
            <p:cNvPr id="17" name="Text Box 20"/>
            <p:cNvSpPr txBox="1">
              <a:spLocks noChangeArrowheads="1"/>
            </p:cNvSpPr>
            <p:nvPr/>
          </p:nvSpPr>
          <p:spPr bwMode="auto">
            <a:xfrm>
              <a:off x="1632" y="1908"/>
              <a:ext cx="1056"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pPr>
              <a:r>
                <a:rPr kumimoji="1" lang="en-US" altLang="zh-CN" sz="2800">
                  <a:latin typeface="Times New Roman" pitchFamily="18" charset="0"/>
                </a:rPr>
                <a:t>to E.false</a:t>
              </a:r>
            </a:p>
          </p:txBody>
        </p:sp>
        <p:sp>
          <p:nvSpPr>
            <p:cNvPr id="18" name="Line 21"/>
            <p:cNvSpPr>
              <a:spLocks noChangeShapeType="1"/>
            </p:cNvSpPr>
            <p:nvPr/>
          </p:nvSpPr>
          <p:spPr bwMode="auto">
            <a:xfrm>
              <a:off x="1536" y="1551"/>
              <a:ext cx="363" cy="0"/>
            </a:xfrm>
            <a:prstGeom prst="line">
              <a:avLst/>
            </a:prstGeom>
            <a:noFill/>
            <a:ln w="3810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22"/>
            <p:cNvSpPr>
              <a:spLocks noChangeShapeType="1"/>
            </p:cNvSpPr>
            <p:nvPr/>
          </p:nvSpPr>
          <p:spPr bwMode="auto">
            <a:xfrm>
              <a:off x="1536" y="1920"/>
              <a:ext cx="363" cy="0"/>
            </a:xfrm>
            <a:prstGeom prst="line">
              <a:avLst/>
            </a:prstGeom>
            <a:noFill/>
            <a:ln w="3810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 name="Rectangle 24"/>
          <p:cNvSpPr>
            <a:spLocks noChangeArrowheads="1"/>
          </p:cNvSpPr>
          <p:nvPr/>
        </p:nvSpPr>
        <p:spPr bwMode="auto">
          <a:xfrm>
            <a:off x="4953000" y="3532740"/>
            <a:ext cx="3276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100 (j&lt;,c,d,   0)</a:t>
            </a:r>
          </a:p>
        </p:txBody>
      </p:sp>
      <p:grpSp>
        <p:nvGrpSpPr>
          <p:cNvPr id="21" name="Group 25"/>
          <p:cNvGrpSpPr>
            <a:grpSpLocks/>
          </p:cNvGrpSpPr>
          <p:nvPr/>
        </p:nvGrpSpPr>
        <p:grpSpPr bwMode="auto">
          <a:xfrm>
            <a:off x="7847013" y="3304140"/>
            <a:ext cx="534987" cy="228600"/>
            <a:chOff x="2976" y="624"/>
            <a:chExt cx="768" cy="144"/>
          </a:xfrm>
        </p:grpSpPr>
        <p:sp>
          <p:nvSpPr>
            <p:cNvPr id="22" name="Line 26"/>
            <p:cNvSpPr>
              <a:spLocks noChangeShapeType="1"/>
            </p:cNvSpPr>
            <p:nvPr/>
          </p:nvSpPr>
          <p:spPr bwMode="auto">
            <a:xfrm flipV="1">
              <a:off x="2976" y="624"/>
              <a:ext cx="0" cy="144"/>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27"/>
            <p:cNvSpPr>
              <a:spLocks noChangeShapeType="1"/>
            </p:cNvSpPr>
            <p:nvPr/>
          </p:nvSpPr>
          <p:spPr bwMode="auto">
            <a:xfrm>
              <a:off x="2976" y="624"/>
              <a:ext cx="768" cy="0"/>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4" name="Rectangle 28"/>
          <p:cNvSpPr>
            <a:spLocks noChangeArrowheads="1"/>
          </p:cNvSpPr>
          <p:nvPr/>
        </p:nvSpPr>
        <p:spPr bwMode="auto">
          <a:xfrm>
            <a:off x="7924800" y="3242228"/>
            <a:ext cx="12303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Times New Roman" pitchFamily="18" charset="0"/>
              </a:rPr>
              <a:t> E.true</a:t>
            </a:r>
          </a:p>
        </p:txBody>
      </p:sp>
      <p:sp>
        <p:nvSpPr>
          <p:cNvPr id="25" name="Rectangle 29"/>
          <p:cNvSpPr>
            <a:spLocks noChangeArrowheads="1"/>
          </p:cNvSpPr>
          <p:nvPr/>
        </p:nvSpPr>
        <p:spPr bwMode="auto">
          <a:xfrm>
            <a:off x="4953000" y="4066140"/>
            <a:ext cx="3276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101 (j,_,_,    0)</a:t>
            </a:r>
          </a:p>
        </p:txBody>
      </p:sp>
      <p:grpSp>
        <p:nvGrpSpPr>
          <p:cNvPr id="26" name="Group 30"/>
          <p:cNvGrpSpPr>
            <a:grpSpLocks/>
          </p:cNvGrpSpPr>
          <p:nvPr/>
        </p:nvGrpSpPr>
        <p:grpSpPr bwMode="auto">
          <a:xfrm>
            <a:off x="7861300" y="3989940"/>
            <a:ext cx="534988" cy="228600"/>
            <a:chOff x="2976" y="624"/>
            <a:chExt cx="768" cy="144"/>
          </a:xfrm>
        </p:grpSpPr>
        <p:sp>
          <p:nvSpPr>
            <p:cNvPr id="27" name="Line 31"/>
            <p:cNvSpPr>
              <a:spLocks noChangeShapeType="1"/>
            </p:cNvSpPr>
            <p:nvPr/>
          </p:nvSpPr>
          <p:spPr bwMode="auto">
            <a:xfrm flipV="1">
              <a:off x="2976" y="624"/>
              <a:ext cx="0" cy="144"/>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32"/>
            <p:cNvSpPr>
              <a:spLocks noChangeShapeType="1"/>
            </p:cNvSpPr>
            <p:nvPr/>
          </p:nvSpPr>
          <p:spPr bwMode="auto">
            <a:xfrm>
              <a:off x="2976" y="624"/>
              <a:ext cx="768" cy="0"/>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9" name="Rectangle 33"/>
          <p:cNvSpPr>
            <a:spLocks noChangeArrowheads="1"/>
          </p:cNvSpPr>
          <p:nvPr/>
        </p:nvSpPr>
        <p:spPr bwMode="auto">
          <a:xfrm>
            <a:off x="7848600" y="3928028"/>
            <a:ext cx="1289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Times New Roman" pitchFamily="18" charset="0"/>
              </a:rPr>
              <a:t> E.false</a:t>
            </a:r>
          </a:p>
        </p:txBody>
      </p:sp>
      <p:sp>
        <p:nvSpPr>
          <p:cNvPr id="30" name="Rectangle 34"/>
          <p:cNvSpPr>
            <a:spLocks noChangeArrowheads="1"/>
          </p:cNvSpPr>
          <p:nvPr/>
        </p:nvSpPr>
        <p:spPr bwMode="auto">
          <a:xfrm>
            <a:off x="4032250" y="3685140"/>
            <a:ext cx="692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200">
                <a:latin typeface="Times New Roman" pitchFamily="18" charset="0"/>
              </a:rPr>
              <a:t>E.f</a:t>
            </a:r>
          </a:p>
        </p:txBody>
      </p:sp>
      <p:sp>
        <p:nvSpPr>
          <p:cNvPr id="31" name="Line 35"/>
          <p:cNvSpPr>
            <a:spLocks noChangeShapeType="1"/>
          </p:cNvSpPr>
          <p:nvPr/>
        </p:nvSpPr>
        <p:spPr bwMode="auto">
          <a:xfrm rot="1373928">
            <a:off x="4651375" y="3486703"/>
            <a:ext cx="381000" cy="47625"/>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Rectangle 36"/>
          <p:cNvSpPr>
            <a:spLocks noChangeArrowheads="1"/>
          </p:cNvSpPr>
          <p:nvPr/>
        </p:nvSpPr>
        <p:spPr bwMode="auto">
          <a:xfrm>
            <a:off x="4032250" y="2999340"/>
            <a:ext cx="692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200">
                <a:latin typeface="Times New Roman" pitchFamily="18" charset="0"/>
              </a:rPr>
              <a:t>E.t</a:t>
            </a:r>
          </a:p>
        </p:txBody>
      </p:sp>
      <p:sp>
        <p:nvSpPr>
          <p:cNvPr id="33" name="Line 37"/>
          <p:cNvSpPr>
            <a:spLocks noChangeShapeType="1"/>
          </p:cNvSpPr>
          <p:nvPr/>
        </p:nvSpPr>
        <p:spPr bwMode="auto">
          <a:xfrm rot="1373928">
            <a:off x="4648200" y="4170915"/>
            <a:ext cx="381000" cy="47625"/>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Rectangle 38"/>
          <p:cNvSpPr>
            <a:spLocks noChangeArrowheads="1"/>
          </p:cNvSpPr>
          <p:nvPr/>
        </p:nvSpPr>
        <p:spPr bwMode="auto">
          <a:xfrm>
            <a:off x="4953000" y="4675740"/>
            <a:ext cx="32766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102 (+,b,2,T1)</a:t>
            </a:r>
          </a:p>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103 (:=,T1,_,a)</a:t>
            </a:r>
          </a:p>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104</a:t>
            </a:r>
          </a:p>
        </p:txBody>
      </p:sp>
      <p:sp>
        <p:nvSpPr>
          <p:cNvPr id="35" name="Line 39"/>
          <p:cNvSpPr>
            <a:spLocks noChangeShapeType="1"/>
          </p:cNvSpPr>
          <p:nvPr/>
        </p:nvSpPr>
        <p:spPr bwMode="auto">
          <a:xfrm>
            <a:off x="4572000" y="4904340"/>
            <a:ext cx="381000" cy="0"/>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Rectangle 40"/>
          <p:cNvSpPr>
            <a:spLocks noChangeArrowheads="1"/>
          </p:cNvSpPr>
          <p:nvPr/>
        </p:nvSpPr>
        <p:spPr bwMode="auto">
          <a:xfrm>
            <a:off x="3646488" y="4766228"/>
            <a:ext cx="12303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Times New Roman" pitchFamily="18" charset="0"/>
              </a:rPr>
              <a:t> E.true</a:t>
            </a:r>
          </a:p>
        </p:txBody>
      </p:sp>
      <p:sp>
        <p:nvSpPr>
          <p:cNvPr id="37" name="Line 41"/>
          <p:cNvSpPr>
            <a:spLocks noChangeShapeType="1"/>
          </p:cNvSpPr>
          <p:nvPr/>
        </p:nvSpPr>
        <p:spPr bwMode="auto">
          <a:xfrm>
            <a:off x="4572000" y="5818740"/>
            <a:ext cx="381000" cy="0"/>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Rectangle 42"/>
          <p:cNvSpPr>
            <a:spLocks noChangeArrowheads="1"/>
          </p:cNvSpPr>
          <p:nvPr/>
        </p:nvSpPr>
        <p:spPr bwMode="auto">
          <a:xfrm>
            <a:off x="3657600" y="5742540"/>
            <a:ext cx="1289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Times New Roman" pitchFamily="18" charset="0"/>
              </a:rPr>
              <a:t> E.false</a:t>
            </a:r>
          </a:p>
        </p:txBody>
      </p:sp>
      <p:sp>
        <p:nvSpPr>
          <p:cNvPr id="39" name="Line 43"/>
          <p:cNvSpPr>
            <a:spLocks noChangeShapeType="1"/>
          </p:cNvSpPr>
          <p:nvPr/>
        </p:nvSpPr>
        <p:spPr bwMode="auto">
          <a:xfrm>
            <a:off x="7696200" y="3685140"/>
            <a:ext cx="304800" cy="152400"/>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Rectangle 44"/>
          <p:cNvSpPr>
            <a:spLocks noChangeArrowheads="1"/>
          </p:cNvSpPr>
          <p:nvPr/>
        </p:nvSpPr>
        <p:spPr bwMode="auto">
          <a:xfrm>
            <a:off x="7050088" y="3532740"/>
            <a:ext cx="7223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宋体" charset="-122"/>
              </a:rPr>
              <a:t>102</a:t>
            </a:r>
          </a:p>
        </p:txBody>
      </p:sp>
      <p:sp>
        <p:nvSpPr>
          <p:cNvPr id="41" name="Line 45"/>
          <p:cNvSpPr>
            <a:spLocks noChangeShapeType="1"/>
          </p:cNvSpPr>
          <p:nvPr/>
        </p:nvSpPr>
        <p:spPr bwMode="auto">
          <a:xfrm>
            <a:off x="7696200" y="4218540"/>
            <a:ext cx="304800" cy="152400"/>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Rectangle 46"/>
          <p:cNvSpPr>
            <a:spLocks noChangeArrowheads="1"/>
          </p:cNvSpPr>
          <p:nvPr/>
        </p:nvSpPr>
        <p:spPr bwMode="auto">
          <a:xfrm>
            <a:off x="7010400" y="4066140"/>
            <a:ext cx="7223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宋体" charset="-122"/>
              </a:rPr>
              <a:t>104</a:t>
            </a:r>
          </a:p>
        </p:txBody>
      </p:sp>
      <p:sp>
        <p:nvSpPr>
          <p:cNvPr id="43" name="Line 47"/>
          <p:cNvSpPr>
            <a:spLocks noChangeShapeType="1"/>
          </p:cNvSpPr>
          <p:nvPr/>
        </p:nvSpPr>
        <p:spPr bwMode="auto">
          <a:xfrm>
            <a:off x="5562600" y="2694540"/>
            <a:ext cx="609600" cy="0"/>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48"/>
          <p:cNvSpPr>
            <a:spLocks noChangeShapeType="1"/>
          </p:cNvSpPr>
          <p:nvPr/>
        </p:nvSpPr>
        <p:spPr bwMode="auto">
          <a:xfrm>
            <a:off x="7239000" y="2694540"/>
            <a:ext cx="990600" cy="0"/>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697847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slide(fromBottom)">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slide(fromBottom)">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slide(fromBottom)">
                                      <p:cBhvr>
                                        <p:cTn id="17" dur="500"/>
                                        <p:tgtEl>
                                          <p:spTgt spid="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9">
                                            <p:txEl>
                                              <p:pRg st="1" end="1"/>
                                            </p:txEl>
                                          </p:spTgt>
                                        </p:tgtEl>
                                        <p:attrNameLst>
                                          <p:attrName>style.visibility</p:attrName>
                                        </p:attrNameLst>
                                      </p:cBhvr>
                                      <p:to>
                                        <p:strVal val="visible"/>
                                      </p:to>
                                    </p:set>
                                    <p:animEffect transition="in" filter="slide(fromBottom)">
                                      <p:cBhvr>
                                        <p:cTn id="22" dur="500"/>
                                        <p:tgtEl>
                                          <p:spTgt spid="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9">
                                            <p:txEl>
                                              <p:pRg st="2" end="2"/>
                                            </p:txEl>
                                          </p:spTgt>
                                        </p:tgtEl>
                                        <p:attrNameLst>
                                          <p:attrName>style.visibility</p:attrName>
                                        </p:attrNameLst>
                                      </p:cBhvr>
                                      <p:to>
                                        <p:strVal val="visible"/>
                                      </p:to>
                                    </p:set>
                                    <p:animEffect transition="in" filter="slide(fromBottom)">
                                      <p:cBhvr>
                                        <p:cTn id="27" dur="500"/>
                                        <p:tgtEl>
                                          <p:spTgt spid="9">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ox(i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grpId="0" nodeType="click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barn(outVertical)">
                                      <p:cBhvr>
                                        <p:cTn id="37" dur="500"/>
                                        <p:tgtEl>
                                          <p:spTgt spid="43"/>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20">
                                            <p:txEl>
                                              <p:pRg st="0" end="0"/>
                                            </p:txEl>
                                          </p:spTgt>
                                        </p:tgtEl>
                                        <p:attrNameLst>
                                          <p:attrName>style.visibility</p:attrName>
                                        </p:attrNameLst>
                                      </p:cBhvr>
                                      <p:to>
                                        <p:strVal val="visible"/>
                                      </p:to>
                                    </p:set>
                                    <p:animEffect transition="in" filter="slide(fromBottom)">
                                      <p:cBhvr>
                                        <p:cTn id="42" dur="500"/>
                                        <p:tgtEl>
                                          <p:spTgt spid="20">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25">
                                            <p:txEl>
                                              <p:pRg st="0" end="0"/>
                                            </p:txEl>
                                          </p:spTgt>
                                        </p:tgtEl>
                                        <p:attrNameLst>
                                          <p:attrName>style.visibility</p:attrName>
                                        </p:attrNameLst>
                                      </p:cBhvr>
                                      <p:to>
                                        <p:strVal val="visible"/>
                                      </p:to>
                                    </p:set>
                                    <p:animEffect transition="in" filter="slide(fromBottom)">
                                      <p:cBhvr>
                                        <p:cTn id="47" dur="500"/>
                                        <p:tgtEl>
                                          <p:spTgt spid="2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3"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strips(upRight)">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24">
                                            <p:txEl>
                                              <p:pRg st="0" end="0"/>
                                            </p:txEl>
                                          </p:spTgt>
                                        </p:tgtEl>
                                        <p:attrNameLst>
                                          <p:attrName>style.visibility</p:attrName>
                                        </p:attrNameLst>
                                      </p:cBhvr>
                                      <p:to>
                                        <p:strVal val="visible"/>
                                      </p:to>
                                    </p:set>
                                    <p:animEffect transition="in" filter="slide(fromBottom)">
                                      <p:cBhvr>
                                        <p:cTn id="57" dur="500"/>
                                        <p:tgtEl>
                                          <p:spTgt spid="24">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3" fill="hold"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strips(upRight)">
                                      <p:cBhvr>
                                        <p:cTn id="62" dur="500"/>
                                        <p:tgtEl>
                                          <p:spTgt spid="26"/>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29">
                                            <p:txEl>
                                              <p:pRg st="0" end="0"/>
                                            </p:txEl>
                                          </p:spTgt>
                                        </p:tgtEl>
                                        <p:attrNameLst>
                                          <p:attrName>style.visibility</p:attrName>
                                        </p:attrNameLst>
                                      </p:cBhvr>
                                      <p:to>
                                        <p:strVal val="visible"/>
                                      </p:to>
                                    </p:set>
                                    <p:animEffect transition="in" filter="slide(fromBottom)">
                                      <p:cBhvr>
                                        <p:cTn id="67" dur="500"/>
                                        <p:tgtEl>
                                          <p:spTgt spid="29">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6" fill="hold" grpId="0" nodeType="click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strips(downRight)">
                                      <p:cBhvr>
                                        <p:cTn id="72" dur="500"/>
                                        <p:tgtEl>
                                          <p:spTgt spid="31"/>
                                        </p:tgtEl>
                                      </p:cBhvr>
                                    </p:animEffect>
                                  </p:childTnLst>
                                </p:cTn>
                              </p:par>
                            </p:childTnLst>
                          </p:cTn>
                        </p:par>
                      </p:childTnLst>
                    </p:cTn>
                  </p:par>
                  <p:par>
                    <p:cTn id="73" fill="hold">
                      <p:stCondLst>
                        <p:cond delay="indefinite"/>
                      </p:stCondLst>
                      <p:childTnLst>
                        <p:par>
                          <p:cTn id="74" fill="hold">
                            <p:stCondLst>
                              <p:cond delay="0"/>
                            </p:stCondLst>
                            <p:childTnLst>
                              <p:par>
                                <p:cTn id="75" presetID="18" presetClass="entr" presetSubtype="6" fill="hold" grpId="0" nodeType="click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strips(downRight)">
                                      <p:cBhvr>
                                        <p:cTn id="77" dur="500"/>
                                        <p:tgtEl>
                                          <p:spTgt spid="32"/>
                                        </p:tgtEl>
                                      </p:cBhvr>
                                    </p:animEffect>
                                  </p:childTnLst>
                                </p:cTn>
                              </p:par>
                            </p:childTnLst>
                          </p:cTn>
                        </p:par>
                      </p:childTnLst>
                    </p:cTn>
                  </p:par>
                  <p:par>
                    <p:cTn id="78" fill="hold">
                      <p:stCondLst>
                        <p:cond delay="indefinite"/>
                      </p:stCondLst>
                      <p:childTnLst>
                        <p:par>
                          <p:cTn id="79" fill="hold">
                            <p:stCondLst>
                              <p:cond delay="0"/>
                            </p:stCondLst>
                            <p:childTnLst>
                              <p:par>
                                <p:cTn id="80" presetID="18" presetClass="entr" presetSubtype="6" fill="hold" grpId="0" nodeType="click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strips(downRight)">
                                      <p:cBhvr>
                                        <p:cTn id="82" dur="500"/>
                                        <p:tgtEl>
                                          <p:spTgt spid="33"/>
                                        </p:tgtEl>
                                      </p:cBhvr>
                                    </p:animEffect>
                                  </p:childTnLst>
                                </p:cTn>
                              </p:par>
                            </p:childTnLst>
                          </p:cTn>
                        </p:par>
                      </p:childTnLst>
                    </p:cTn>
                  </p:par>
                  <p:par>
                    <p:cTn id="83" fill="hold">
                      <p:stCondLst>
                        <p:cond delay="indefinite"/>
                      </p:stCondLst>
                      <p:childTnLst>
                        <p:par>
                          <p:cTn id="84" fill="hold">
                            <p:stCondLst>
                              <p:cond delay="0"/>
                            </p:stCondLst>
                            <p:childTnLst>
                              <p:par>
                                <p:cTn id="85" presetID="18" presetClass="entr" presetSubtype="6" fill="hold" grpId="0" nodeType="click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strips(downRight)">
                                      <p:cBhvr>
                                        <p:cTn id="87" dur="500"/>
                                        <p:tgtEl>
                                          <p:spTgt spid="30"/>
                                        </p:tgtEl>
                                      </p:cBhvr>
                                    </p:animEffect>
                                  </p:childTnLst>
                                </p:cTn>
                              </p:par>
                            </p:childTnLst>
                          </p:cTn>
                        </p:par>
                      </p:childTnLst>
                    </p:cTn>
                  </p:par>
                  <p:par>
                    <p:cTn id="88" fill="hold">
                      <p:stCondLst>
                        <p:cond delay="indefinite"/>
                      </p:stCondLst>
                      <p:childTnLst>
                        <p:par>
                          <p:cTn id="89" fill="hold">
                            <p:stCondLst>
                              <p:cond delay="0"/>
                            </p:stCondLst>
                            <p:childTnLst>
                              <p:par>
                                <p:cTn id="90" presetID="16" presetClass="entr" presetSubtype="37" fill="hold" grpId="0" nodeType="clickEffect">
                                  <p:stCondLst>
                                    <p:cond delay="0"/>
                                  </p:stCondLst>
                                  <p:childTnLst>
                                    <p:set>
                                      <p:cBhvr>
                                        <p:cTn id="91" dur="1" fill="hold">
                                          <p:stCondLst>
                                            <p:cond delay="0"/>
                                          </p:stCondLst>
                                        </p:cTn>
                                        <p:tgtEl>
                                          <p:spTgt spid="44"/>
                                        </p:tgtEl>
                                        <p:attrNameLst>
                                          <p:attrName>style.visibility</p:attrName>
                                        </p:attrNameLst>
                                      </p:cBhvr>
                                      <p:to>
                                        <p:strVal val="visible"/>
                                      </p:to>
                                    </p:set>
                                    <p:animEffect transition="in" filter="barn(outVertical)">
                                      <p:cBhvr>
                                        <p:cTn id="92" dur="500"/>
                                        <p:tgtEl>
                                          <p:spTgt spid="44"/>
                                        </p:tgtEl>
                                      </p:cBhvr>
                                    </p:animEffect>
                                  </p:childTnLst>
                                </p:cTn>
                              </p:par>
                            </p:childTnLst>
                          </p:cTn>
                        </p:par>
                      </p:childTnLst>
                    </p:cTn>
                  </p:par>
                  <p:par>
                    <p:cTn id="93" fill="hold">
                      <p:stCondLst>
                        <p:cond delay="indefinite"/>
                      </p:stCondLst>
                      <p:childTnLst>
                        <p:par>
                          <p:cTn id="94" fill="hold">
                            <p:stCondLst>
                              <p:cond delay="0"/>
                            </p:stCondLst>
                            <p:childTnLst>
                              <p:par>
                                <p:cTn id="95" presetID="12" presetClass="entr" presetSubtype="4" fill="hold" grpId="0" nodeType="clickEffect">
                                  <p:stCondLst>
                                    <p:cond delay="0"/>
                                  </p:stCondLst>
                                  <p:childTnLst>
                                    <p:set>
                                      <p:cBhvr>
                                        <p:cTn id="96" dur="1" fill="hold">
                                          <p:stCondLst>
                                            <p:cond delay="0"/>
                                          </p:stCondLst>
                                        </p:cTn>
                                        <p:tgtEl>
                                          <p:spTgt spid="34">
                                            <p:txEl>
                                              <p:pRg st="0" end="0"/>
                                            </p:txEl>
                                          </p:spTgt>
                                        </p:tgtEl>
                                        <p:attrNameLst>
                                          <p:attrName>style.visibility</p:attrName>
                                        </p:attrNameLst>
                                      </p:cBhvr>
                                      <p:to>
                                        <p:strVal val="visible"/>
                                      </p:to>
                                    </p:set>
                                    <p:animEffect transition="in" filter="slide(fromBottom)">
                                      <p:cBhvr>
                                        <p:cTn id="97" dur="500"/>
                                        <p:tgtEl>
                                          <p:spTgt spid="34">
                                            <p:txEl>
                                              <p:pRg st="0" end="0"/>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2" presetClass="entr" presetSubtype="4" fill="hold" grpId="0" nodeType="clickEffect">
                                  <p:stCondLst>
                                    <p:cond delay="0"/>
                                  </p:stCondLst>
                                  <p:childTnLst>
                                    <p:set>
                                      <p:cBhvr>
                                        <p:cTn id="101" dur="1" fill="hold">
                                          <p:stCondLst>
                                            <p:cond delay="0"/>
                                          </p:stCondLst>
                                        </p:cTn>
                                        <p:tgtEl>
                                          <p:spTgt spid="34">
                                            <p:txEl>
                                              <p:pRg st="1" end="1"/>
                                            </p:txEl>
                                          </p:spTgt>
                                        </p:tgtEl>
                                        <p:attrNameLst>
                                          <p:attrName>style.visibility</p:attrName>
                                        </p:attrNameLst>
                                      </p:cBhvr>
                                      <p:to>
                                        <p:strVal val="visible"/>
                                      </p:to>
                                    </p:set>
                                    <p:animEffect transition="in" filter="slide(fromBottom)">
                                      <p:cBhvr>
                                        <p:cTn id="102" dur="500"/>
                                        <p:tgtEl>
                                          <p:spTgt spid="34">
                                            <p:txEl>
                                              <p:pRg st="1" end="1"/>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2" presetClass="entr" presetSubtype="4" fill="hold" grpId="0" nodeType="clickEffect">
                                  <p:stCondLst>
                                    <p:cond delay="0"/>
                                  </p:stCondLst>
                                  <p:childTnLst>
                                    <p:set>
                                      <p:cBhvr>
                                        <p:cTn id="106" dur="1" fill="hold">
                                          <p:stCondLst>
                                            <p:cond delay="0"/>
                                          </p:stCondLst>
                                        </p:cTn>
                                        <p:tgtEl>
                                          <p:spTgt spid="34">
                                            <p:txEl>
                                              <p:pRg st="2" end="2"/>
                                            </p:txEl>
                                          </p:spTgt>
                                        </p:tgtEl>
                                        <p:attrNameLst>
                                          <p:attrName>style.visibility</p:attrName>
                                        </p:attrNameLst>
                                      </p:cBhvr>
                                      <p:to>
                                        <p:strVal val="visible"/>
                                      </p:to>
                                    </p:set>
                                    <p:animEffect transition="in" filter="slide(fromBottom)">
                                      <p:cBhvr>
                                        <p:cTn id="107" dur="500"/>
                                        <p:tgtEl>
                                          <p:spTgt spid="34">
                                            <p:txEl>
                                              <p:pRg st="2" end="2"/>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7" presetClass="entr" presetSubtype="8" fill="hold" grpId="0" nodeType="clickEffect">
                                  <p:stCondLst>
                                    <p:cond delay="0"/>
                                  </p:stCondLst>
                                  <p:childTnLst>
                                    <p:set>
                                      <p:cBhvr>
                                        <p:cTn id="111" dur="1" fill="hold">
                                          <p:stCondLst>
                                            <p:cond delay="0"/>
                                          </p:stCondLst>
                                        </p:cTn>
                                        <p:tgtEl>
                                          <p:spTgt spid="35"/>
                                        </p:tgtEl>
                                        <p:attrNameLst>
                                          <p:attrName>style.visibility</p:attrName>
                                        </p:attrNameLst>
                                      </p:cBhvr>
                                      <p:to>
                                        <p:strVal val="visible"/>
                                      </p:to>
                                    </p:set>
                                    <p:anim calcmode="lin" valueType="num">
                                      <p:cBhvr>
                                        <p:cTn id="112" dur="500" fill="hold"/>
                                        <p:tgtEl>
                                          <p:spTgt spid="35"/>
                                        </p:tgtEl>
                                        <p:attrNameLst>
                                          <p:attrName>ppt_x</p:attrName>
                                        </p:attrNameLst>
                                      </p:cBhvr>
                                      <p:tavLst>
                                        <p:tav tm="0">
                                          <p:val>
                                            <p:strVal val="#ppt_x-#ppt_w/2"/>
                                          </p:val>
                                        </p:tav>
                                        <p:tav tm="100000">
                                          <p:val>
                                            <p:strVal val="#ppt_x"/>
                                          </p:val>
                                        </p:tav>
                                      </p:tavLst>
                                    </p:anim>
                                    <p:anim calcmode="lin" valueType="num">
                                      <p:cBhvr>
                                        <p:cTn id="113" dur="500" fill="hold"/>
                                        <p:tgtEl>
                                          <p:spTgt spid="35"/>
                                        </p:tgtEl>
                                        <p:attrNameLst>
                                          <p:attrName>ppt_y</p:attrName>
                                        </p:attrNameLst>
                                      </p:cBhvr>
                                      <p:tavLst>
                                        <p:tav tm="0">
                                          <p:val>
                                            <p:strVal val="#ppt_y"/>
                                          </p:val>
                                        </p:tav>
                                        <p:tav tm="100000">
                                          <p:val>
                                            <p:strVal val="#ppt_y"/>
                                          </p:val>
                                        </p:tav>
                                      </p:tavLst>
                                    </p:anim>
                                    <p:anim calcmode="lin" valueType="num">
                                      <p:cBhvr>
                                        <p:cTn id="114" dur="500" fill="hold"/>
                                        <p:tgtEl>
                                          <p:spTgt spid="35"/>
                                        </p:tgtEl>
                                        <p:attrNameLst>
                                          <p:attrName>ppt_w</p:attrName>
                                        </p:attrNameLst>
                                      </p:cBhvr>
                                      <p:tavLst>
                                        <p:tav tm="0">
                                          <p:val>
                                            <p:fltVal val="0"/>
                                          </p:val>
                                        </p:tav>
                                        <p:tav tm="100000">
                                          <p:val>
                                            <p:strVal val="#ppt_w"/>
                                          </p:val>
                                        </p:tav>
                                      </p:tavLst>
                                    </p:anim>
                                    <p:anim calcmode="lin" valueType="num">
                                      <p:cBhvr>
                                        <p:cTn id="115" dur="500" fill="hold"/>
                                        <p:tgtEl>
                                          <p:spTgt spid="35"/>
                                        </p:tgtEl>
                                        <p:attrNameLst>
                                          <p:attrName>ppt_h</p:attrName>
                                        </p:attrNameLst>
                                      </p:cBhvr>
                                      <p:tavLst>
                                        <p:tav tm="0">
                                          <p:val>
                                            <p:strVal val="#ppt_h"/>
                                          </p:val>
                                        </p:tav>
                                        <p:tav tm="100000">
                                          <p:val>
                                            <p:strVal val="#ppt_h"/>
                                          </p:val>
                                        </p:tav>
                                      </p:tavLst>
                                    </p:anim>
                                  </p:childTnLst>
                                </p:cTn>
                              </p:par>
                            </p:childTnLst>
                          </p:cTn>
                        </p:par>
                      </p:childTnLst>
                    </p:cTn>
                  </p:par>
                  <p:par>
                    <p:cTn id="116" fill="hold">
                      <p:stCondLst>
                        <p:cond delay="indefinite"/>
                      </p:stCondLst>
                      <p:childTnLst>
                        <p:par>
                          <p:cTn id="117" fill="hold">
                            <p:stCondLst>
                              <p:cond delay="0"/>
                            </p:stCondLst>
                            <p:childTnLst>
                              <p:par>
                                <p:cTn id="118" presetID="12" presetClass="entr" presetSubtype="4" fill="hold" grpId="0" nodeType="clickEffect">
                                  <p:stCondLst>
                                    <p:cond delay="0"/>
                                  </p:stCondLst>
                                  <p:childTnLst>
                                    <p:set>
                                      <p:cBhvr>
                                        <p:cTn id="119" dur="1" fill="hold">
                                          <p:stCondLst>
                                            <p:cond delay="0"/>
                                          </p:stCondLst>
                                        </p:cTn>
                                        <p:tgtEl>
                                          <p:spTgt spid="36">
                                            <p:txEl>
                                              <p:pRg st="0" end="0"/>
                                            </p:txEl>
                                          </p:spTgt>
                                        </p:tgtEl>
                                        <p:attrNameLst>
                                          <p:attrName>style.visibility</p:attrName>
                                        </p:attrNameLst>
                                      </p:cBhvr>
                                      <p:to>
                                        <p:strVal val="visible"/>
                                      </p:to>
                                    </p:set>
                                    <p:animEffect transition="in" filter="slide(fromBottom)">
                                      <p:cBhvr>
                                        <p:cTn id="120" dur="500"/>
                                        <p:tgtEl>
                                          <p:spTgt spid="36">
                                            <p:txEl>
                                              <p:pRg st="0" end="0"/>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17" presetClass="entr" presetSubtype="8" fill="hold" grpId="0" nodeType="clickEffect">
                                  <p:stCondLst>
                                    <p:cond delay="0"/>
                                  </p:stCondLst>
                                  <p:childTnLst>
                                    <p:set>
                                      <p:cBhvr>
                                        <p:cTn id="124" dur="1" fill="hold">
                                          <p:stCondLst>
                                            <p:cond delay="0"/>
                                          </p:stCondLst>
                                        </p:cTn>
                                        <p:tgtEl>
                                          <p:spTgt spid="37"/>
                                        </p:tgtEl>
                                        <p:attrNameLst>
                                          <p:attrName>style.visibility</p:attrName>
                                        </p:attrNameLst>
                                      </p:cBhvr>
                                      <p:to>
                                        <p:strVal val="visible"/>
                                      </p:to>
                                    </p:set>
                                    <p:anim calcmode="lin" valueType="num">
                                      <p:cBhvr>
                                        <p:cTn id="125" dur="500" fill="hold"/>
                                        <p:tgtEl>
                                          <p:spTgt spid="37"/>
                                        </p:tgtEl>
                                        <p:attrNameLst>
                                          <p:attrName>ppt_x</p:attrName>
                                        </p:attrNameLst>
                                      </p:cBhvr>
                                      <p:tavLst>
                                        <p:tav tm="0">
                                          <p:val>
                                            <p:strVal val="#ppt_x-#ppt_w/2"/>
                                          </p:val>
                                        </p:tav>
                                        <p:tav tm="100000">
                                          <p:val>
                                            <p:strVal val="#ppt_x"/>
                                          </p:val>
                                        </p:tav>
                                      </p:tavLst>
                                    </p:anim>
                                    <p:anim calcmode="lin" valueType="num">
                                      <p:cBhvr>
                                        <p:cTn id="126" dur="500" fill="hold"/>
                                        <p:tgtEl>
                                          <p:spTgt spid="37"/>
                                        </p:tgtEl>
                                        <p:attrNameLst>
                                          <p:attrName>ppt_y</p:attrName>
                                        </p:attrNameLst>
                                      </p:cBhvr>
                                      <p:tavLst>
                                        <p:tav tm="0">
                                          <p:val>
                                            <p:strVal val="#ppt_y"/>
                                          </p:val>
                                        </p:tav>
                                        <p:tav tm="100000">
                                          <p:val>
                                            <p:strVal val="#ppt_y"/>
                                          </p:val>
                                        </p:tav>
                                      </p:tavLst>
                                    </p:anim>
                                    <p:anim calcmode="lin" valueType="num">
                                      <p:cBhvr>
                                        <p:cTn id="127" dur="500" fill="hold"/>
                                        <p:tgtEl>
                                          <p:spTgt spid="37"/>
                                        </p:tgtEl>
                                        <p:attrNameLst>
                                          <p:attrName>ppt_w</p:attrName>
                                        </p:attrNameLst>
                                      </p:cBhvr>
                                      <p:tavLst>
                                        <p:tav tm="0">
                                          <p:val>
                                            <p:fltVal val="0"/>
                                          </p:val>
                                        </p:tav>
                                        <p:tav tm="100000">
                                          <p:val>
                                            <p:strVal val="#ppt_w"/>
                                          </p:val>
                                        </p:tav>
                                      </p:tavLst>
                                    </p:anim>
                                    <p:anim calcmode="lin" valueType="num">
                                      <p:cBhvr>
                                        <p:cTn id="128" dur="500" fill="hold"/>
                                        <p:tgtEl>
                                          <p:spTgt spid="37"/>
                                        </p:tgtEl>
                                        <p:attrNameLst>
                                          <p:attrName>ppt_h</p:attrName>
                                        </p:attrNameLst>
                                      </p:cBhvr>
                                      <p:tavLst>
                                        <p:tav tm="0">
                                          <p:val>
                                            <p:strVal val="#ppt_h"/>
                                          </p:val>
                                        </p:tav>
                                        <p:tav tm="100000">
                                          <p:val>
                                            <p:strVal val="#ppt_h"/>
                                          </p:val>
                                        </p:tav>
                                      </p:tavLst>
                                    </p:anim>
                                  </p:childTnLst>
                                </p:cTn>
                              </p:par>
                            </p:childTnLst>
                          </p:cTn>
                        </p:par>
                      </p:childTnLst>
                    </p:cTn>
                  </p:par>
                  <p:par>
                    <p:cTn id="129" fill="hold">
                      <p:stCondLst>
                        <p:cond delay="indefinite"/>
                      </p:stCondLst>
                      <p:childTnLst>
                        <p:par>
                          <p:cTn id="130" fill="hold">
                            <p:stCondLst>
                              <p:cond delay="0"/>
                            </p:stCondLst>
                            <p:childTnLst>
                              <p:par>
                                <p:cTn id="131" presetID="12" presetClass="entr" presetSubtype="4" fill="hold" grpId="0" nodeType="clickEffect">
                                  <p:stCondLst>
                                    <p:cond delay="0"/>
                                  </p:stCondLst>
                                  <p:childTnLst>
                                    <p:set>
                                      <p:cBhvr>
                                        <p:cTn id="132" dur="1" fill="hold">
                                          <p:stCondLst>
                                            <p:cond delay="0"/>
                                          </p:stCondLst>
                                        </p:cTn>
                                        <p:tgtEl>
                                          <p:spTgt spid="38">
                                            <p:txEl>
                                              <p:pRg st="0" end="0"/>
                                            </p:txEl>
                                          </p:spTgt>
                                        </p:tgtEl>
                                        <p:attrNameLst>
                                          <p:attrName>style.visibility</p:attrName>
                                        </p:attrNameLst>
                                      </p:cBhvr>
                                      <p:to>
                                        <p:strVal val="visible"/>
                                      </p:to>
                                    </p:set>
                                    <p:animEffect transition="in" filter="slide(fromBottom)">
                                      <p:cBhvr>
                                        <p:cTn id="133" dur="500"/>
                                        <p:tgtEl>
                                          <p:spTgt spid="38">
                                            <p:txEl>
                                              <p:pRg st="0" end="0"/>
                                            </p:txEl>
                                          </p:spTgt>
                                        </p:tgtEl>
                                      </p:cBhvr>
                                    </p:animEffect>
                                  </p:childTnLst>
                                </p:cTn>
                              </p:par>
                            </p:childTnLst>
                          </p:cTn>
                        </p:par>
                      </p:childTnLst>
                    </p:cTn>
                  </p:par>
                  <p:par>
                    <p:cTn id="134" fill="hold">
                      <p:stCondLst>
                        <p:cond delay="indefinite"/>
                      </p:stCondLst>
                      <p:childTnLst>
                        <p:par>
                          <p:cTn id="135" fill="hold">
                            <p:stCondLst>
                              <p:cond delay="0"/>
                            </p:stCondLst>
                            <p:childTnLst>
                              <p:par>
                                <p:cTn id="136" presetID="17" presetClass="entr" presetSubtype="1" fill="hold" grpId="0" nodeType="clickEffect">
                                  <p:stCondLst>
                                    <p:cond delay="0"/>
                                  </p:stCondLst>
                                  <p:childTnLst>
                                    <p:set>
                                      <p:cBhvr>
                                        <p:cTn id="137" dur="1" fill="hold">
                                          <p:stCondLst>
                                            <p:cond delay="0"/>
                                          </p:stCondLst>
                                        </p:cTn>
                                        <p:tgtEl>
                                          <p:spTgt spid="39"/>
                                        </p:tgtEl>
                                        <p:attrNameLst>
                                          <p:attrName>style.visibility</p:attrName>
                                        </p:attrNameLst>
                                      </p:cBhvr>
                                      <p:to>
                                        <p:strVal val="visible"/>
                                      </p:to>
                                    </p:set>
                                    <p:anim calcmode="lin" valueType="num">
                                      <p:cBhvr>
                                        <p:cTn id="138" dur="500" fill="hold"/>
                                        <p:tgtEl>
                                          <p:spTgt spid="39"/>
                                        </p:tgtEl>
                                        <p:attrNameLst>
                                          <p:attrName>ppt_x</p:attrName>
                                        </p:attrNameLst>
                                      </p:cBhvr>
                                      <p:tavLst>
                                        <p:tav tm="0">
                                          <p:val>
                                            <p:strVal val="#ppt_x"/>
                                          </p:val>
                                        </p:tav>
                                        <p:tav tm="100000">
                                          <p:val>
                                            <p:strVal val="#ppt_x"/>
                                          </p:val>
                                        </p:tav>
                                      </p:tavLst>
                                    </p:anim>
                                    <p:anim calcmode="lin" valueType="num">
                                      <p:cBhvr>
                                        <p:cTn id="139" dur="500" fill="hold"/>
                                        <p:tgtEl>
                                          <p:spTgt spid="39"/>
                                        </p:tgtEl>
                                        <p:attrNameLst>
                                          <p:attrName>ppt_y</p:attrName>
                                        </p:attrNameLst>
                                      </p:cBhvr>
                                      <p:tavLst>
                                        <p:tav tm="0">
                                          <p:val>
                                            <p:strVal val="#ppt_y-#ppt_h/2"/>
                                          </p:val>
                                        </p:tav>
                                        <p:tav tm="100000">
                                          <p:val>
                                            <p:strVal val="#ppt_y"/>
                                          </p:val>
                                        </p:tav>
                                      </p:tavLst>
                                    </p:anim>
                                    <p:anim calcmode="lin" valueType="num">
                                      <p:cBhvr>
                                        <p:cTn id="140" dur="500" fill="hold"/>
                                        <p:tgtEl>
                                          <p:spTgt spid="39"/>
                                        </p:tgtEl>
                                        <p:attrNameLst>
                                          <p:attrName>ppt_w</p:attrName>
                                        </p:attrNameLst>
                                      </p:cBhvr>
                                      <p:tavLst>
                                        <p:tav tm="0">
                                          <p:val>
                                            <p:strVal val="#ppt_w"/>
                                          </p:val>
                                        </p:tav>
                                        <p:tav tm="100000">
                                          <p:val>
                                            <p:strVal val="#ppt_w"/>
                                          </p:val>
                                        </p:tav>
                                      </p:tavLst>
                                    </p:anim>
                                    <p:anim calcmode="lin" valueType="num">
                                      <p:cBhvr>
                                        <p:cTn id="141" dur="500" fill="hold"/>
                                        <p:tgtEl>
                                          <p:spTgt spid="39"/>
                                        </p:tgtEl>
                                        <p:attrNameLst>
                                          <p:attrName>ppt_h</p:attrName>
                                        </p:attrNameLst>
                                      </p:cBhvr>
                                      <p:tavLst>
                                        <p:tav tm="0">
                                          <p:val>
                                            <p:fltVal val="0"/>
                                          </p:val>
                                        </p:tav>
                                        <p:tav tm="100000">
                                          <p:val>
                                            <p:strVal val="#ppt_h"/>
                                          </p:val>
                                        </p:tav>
                                      </p:tavLst>
                                    </p:anim>
                                  </p:childTnLst>
                                </p:cTn>
                              </p:par>
                            </p:childTnLst>
                          </p:cTn>
                        </p:par>
                      </p:childTnLst>
                    </p:cTn>
                  </p:par>
                  <p:par>
                    <p:cTn id="142" fill="hold">
                      <p:stCondLst>
                        <p:cond delay="indefinite"/>
                      </p:stCondLst>
                      <p:childTnLst>
                        <p:par>
                          <p:cTn id="143" fill="hold">
                            <p:stCondLst>
                              <p:cond delay="0"/>
                            </p:stCondLst>
                            <p:childTnLst>
                              <p:par>
                                <p:cTn id="144" presetID="12" presetClass="entr" presetSubtype="4" fill="hold" grpId="0" nodeType="clickEffect">
                                  <p:stCondLst>
                                    <p:cond delay="0"/>
                                  </p:stCondLst>
                                  <p:childTnLst>
                                    <p:set>
                                      <p:cBhvr>
                                        <p:cTn id="145" dur="1" fill="hold">
                                          <p:stCondLst>
                                            <p:cond delay="0"/>
                                          </p:stCondLst>
                                        </p:cTn>
                                        <p:tgtEl>
                                          <p:spTgt spid="40">
                                            <p:txEl>
                                              <p:pRg st="0" end="0"/>
                                            </p:txEl>
                                          </p:spTgt>
                                        </p:tgtEl>
                                        <p:attrNameLst>
                                          <p:attrName>style.visibility</p:attrName>
                                        </p:attrNameLst>
                                      </p:cBhvr>
                                      <p:to>
                                        <p:strVal val="visible"/>
                                      </p:to>
                                    </p:set>
                                    <p:animEffect transition="in" filter="slide(fromBottom)">
                                      <p:cBhvr>
                                        <p:cTn id="146" dur="500"/>
                                        <p:tgtEl>
                                          <p:spTgt spid="40">
                                            <p:txEl>
                                              <p:pRg st="0" end="0"/>
                                            </p:txEl>
                                          </p:spTgt>
                                        </p:tgtEl>
                                      </p:cBhvr>
                                    </p:animEffect>
                                  </p:childTnLst>
                                </p:cTn>
                              </p:par>
                            </p:childTnLst>
                          </p:cTn>
                        </p:par>
                      </p:childTnLst>
                    </p:cTn>
                  </p:par>
                  <p:par>
                    <p:cTn id="147" fill="hold">
                      <p:stCondLst>
                        <p:cond delay="indefinite"/>
                      </p:stCondLst>
                      <p:childTnLst>
                        <p:par>
                          <p:cTn id="148" fill="hold">
                            <p:stCondLst>
                              <p:cond delay="0"/>
                            </p:stCondLst>
                            <p:childTnLst>
                              <p:par>
                                <p:cTn id="149" presetID="17" presetClass="entr" presetSubtype="1" fill="hold" grpId="0" nodeType="clickEffect">
                                  <p:stCondLst>
                                    <p:cond delay="0"/>
                                  </p:stCondLst>
                                  <p:childTnLst>
                                    <p:set>
                                      <p:cBhvr>
                                        <p:cTn id="150" dur="1" fill="hold">
                                          <p:stCondLst>
                                            <p:cond delay="0"/>
                                          </p:stCondLst>
                                        </p:cTn>
                                        <p:tgtEl>
                                          <p:spTgt spid="41"/>
                                        </p:tgtEl>
                                        <p:attrNameLst>
                                          <p:attrName>style.visibility</p:attrName>
                                        </p:attrNameLst>
                                      </p:cBhvr>
                                      <p:to>
                                        <p:strVal val="visible"/>
                                      </p:to>
                                    </p:set>
                                    <p:anim calcmode="lin" valueType="num">
                                      <p:cBhvr>
                                        <p:cTn id="151" dur="500" fill="hold"/>
                                        <p:tgtEl>
                                          <p:spTgt spid="41"/>
                                        </p:tgtEl>
                                        <p:attrNameLst>
                                          <p:attrName>ppt_x</p:attrName>
                                        </p:attrNameLst>
                                      </p:cBhvr>
                                      <p:tavLst>
                                        <p:tav tm="0">
                                          <p:val>
                                            <p:strVal val="#ppt_x"/>
                                          </p:val>
                                        </p:tav>
                                        <p:tav tm="100000">
                                          <p:val>
                                            <p:strVal val="#ppt_x"/>
                                          </p:val>
                                        </p:tav>
                                      </p:tavLst>
                                    </p:anim>
                                    <p:anim calcmode="lin" valueType="num">
                                      <p:cBhvr>
                                        <p:cTn id="152" dur="500" fill="hold"/>
                                        <p:tgtEl>
                                          <p:spTgt spid="41"/>
                                        </p:tgtEl>
                                        <p:attrNameLst>
                                          <p:attrName>ppt_y</p:attrName>
                                        </p:attrNameLst>
                                      </p:cBhvr>
                                      <p:tavLst>
                                        <p:tav tm="0">
                                          <p:val>
                                            <p:strVal val="#ppt_y-#ppt_h/2"/>
                                          </p:val>
                                        </p:tav>
                                        <p:tav tm="100000">
                                          <p:val>
                                            <p:strVal val="#ppt_y"/>
                                          </p:val>
                                        </p:tav>
                                      </p:tavLst>
                                    </p:anim>
                                    <p:anim calcmode="lin" valueType="num">
                                      <p:cBhvr>
                                        <p:cTn id="153" dur="500" fill="hold"/>
                                        <p:tgtEl>
                                          <p:spTgt spid="41"/>
                                        </p:tgtEl>
                                        <p:attrNameLst>
                                          <p:attrName>ppt_w</p:attrName>
                                        </p:attrNameLst>
                                      </p:cBhvr>
                                      <p:tavLst>
                                        <p:tav tm="0">
                                          <p:val>
                                            <p:strVal val="#ppt_w"/>
                                          </p:val>
                                        </p:tav>
                                        <p:tav tm="100000">
                                          <p:val>
                                            <p:strVal val="#ppt_w"/>
                                          </p:val>
                                        </p:tav>
                                      </p:tavLst>
                                    </p:anim>
                                    <p:anim calcmode="lin" valueType="num">
                                      <p:cBhvr>
                                        <p:cTn id="154" dur="500" fill="hold"/>
                                        <p:tgtEl>
                                          <p:spTgt spid="41"/>
                                        </p:tgtEl>
                                        <p:attrNameLst>
                                          <p:attrName>ppt_h</p:attrName>
                                        </p:attrNameLst>
                                      </p:cBhvr>
                                      <p:tavLst>
                                        <p:tav tm="0">
                                          <p:val>
                                            <p:fltVal val="0"/>
                                          </p:val>
                                        </p:tav>
                                        <p:tav tm="100000">
                                          <p:val>
                                            <p:strVal val="#ppt_h"/>
                                          </p:val>
                                        </p:tav>
                                      </p:tavLst>
                                    </p:anim>
                                  </p:childTnLst>
                                </p:cTn>
                              </p:par>
                            </p:childTnLst>
                          </p:cTn>
                        </p:par>
                      </p:childTnLst>
                    </p:cTn>
                  </p:par>
                  <p:par>
                    <p:cTn id="155" fill="hold">
                      <p:stCondLst>
                        <p:cond delay="indefinite"/>
                      </p:stCondLst>
                      <p:childTnLst>
                        <p:par>
                          <p:cTn id="156" fill="hold">
                            <p:stCondLst>
                              <p:cond delay="0"/>
                            </p:stCondLst>
                            <p:childTnLst>
                              <p:par>
                                <p:cTn id="157" presetID="12" presetClass="entr" presetSubtype="4" fill="hold" grpId="0" nodeType="clickEffect">
                                  <p:stCondLst>
                                    <p:cond delay="0"/>
                                  </p:stCondLst>
                                  <p:childTnLst>
                                    <p:set>
                                      <p:cBhvr>
                                        <p:cTn id="158" dur="1" fill="hold">
                                          <p:stCondLst>
                                            <p:cond delay="0"/>
                                          </p:stCondLst>
                                        </p:cTn>
                                        <p:tgtEl>
                                          <p:spTgt spid="42">
                                            <p:txEl>
                                              <p:pRg st="0" end="0"/>
                                            </p:txEl>
                                          </p:spTgt>
                                        </p:tgtEl>
                                        <p:attrNameLst>
                                          <p:attrName>style.visibility</p:attrName>
                                        </p:attrNameLst>
                                      </p:cBhvr>
                                      <p:to>
                                        <p:strVal val="visible"/>
                                      </p:to>
                                    </p:set>
                                    <p:animEffect transition="in" filter="slide(fromBottom)">
                                      <p:cBhvr>
                                        <p:cTn id="159" dur="500"/>
                                        <p:tgtEl>
                                          <p:spTgt spid="4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utoUpdateAnimBg="0"/>
      <p:bldP spid="9" grpId="0" build="p" autoUpdateAnimBg="0"/>
      <p:bldP spid="20" grpId="0" build="p" autoUpdateAnimBg="0"/>
      <p:bldP spid="24" grpId="0" build="p" autoUpdateAnimBg="0"/>
      <p:bldP spid="25" grpId="0" build="p" autoUpdateAnimBg="0"/>
      <p:bldP spid="29" grpId="0" build="p" autoUpdateAnimBg="0"/>
      <p:bldP spid="30" grpId="0" autoUpdateAnimBg="0"/>
      <p:bldP spid="31" grpId="0" animBg="1"/>
      <p:bldP spid="32" grpId="0" autoUpdateAnimBg="0"/>
      <p:bldP spid="33" grpId="0" animBg="1"/>
      <p:bldP spid="34" grpId="0" build="p" autoUpdateAnimBg="0"/>
      <p:bldP spid="35" grpId="0" animBg="1"/>
      <p:bldP spid="36" grpId="0" build="p" autoUpdateAnimBg="0"/>
      <p:bldP spid="37" grpId="0" animBg="1"/>
      <p:bldP spid="38" grpId="0" build="p" autoUpdateAnimBg="0"/>
      <p:bldP spid="39" grpId="0" animBg="1"/>
      <p:bldP spid="40" grpId="0" build="p" autoUpdateAnimBg="0"/>
      <p:bldP spid="41" grpId="0" animBg="1"/>
      <p:bldP spid="42" grpId="0" build="p" autoUpdateAnimBg="0"/>
      <p:bldP spid="43" grpId="0" animBg="1"/>
      <p:bldP spid="44" grpId="0" animBg="1"/>
    </p:bld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控制流语句的属性文法</a:t>
            </a:r>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控制语句</a:t>
            </a:r>
            <a:endParaRPr lang="zh-CN" altLang="en-US" dirty="0"/>
          </a:p>
        </p:txBody>
      </p:sp>
      <p:sp>
        <p:nvSpPr>
          <p:cNvPr id="4" name="Rectangle 10"/>
          <p:cNvSpPr>
            <a:spLocks noChangeArrowheads="1"/>
          </p:cNvSpPr>
          <p:nvPr/>
        </p:nvSpPr>
        <p:spPr bwMode="auto">
          <a:xfrm>
            <a:off x="381000" y="1547192"/>
            <a:ext cx="3048000" cy="698500"/>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3200">
                <a:solidFill>
                  <a:srgbClr val="0206AD"/>
                </a:solidFill>
                <a:effectLst>
                  <a:outerShdw blurRad="38100" dist="38100" dir="2700000" algn="tl">
                    <a:srgbClr val="C0C0C0"/>
                  </a:outerShdw>
                </a:effectLst>
                <a:latin typeface="宋体" charset="-122"/>
              </a:rPr>
              <a:t>产生式</a:t>
            </a:r>
          </a:p>
        </p:txBody>
      </p:sp>
      <p:sp>
        <p:nvSpPr>
          <p:cNvPr id="5" name="Rectangle 11"/>
          <p:cNvSpPr>
            <a:spLocks noChangeArrowheads="1"/>
          </p:cNvSpPr>
          <p:nvPr/>
        </p:nvSpPr>
        <p:spPr bwMode="auto">
          <a:xfrm>
            <a:off x="3429000" y="1547192"/>
            <a:ext cx="5334000" cy="685800"/>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3200">
                <a:solidFill>
                  <a:srgbClr val="0206AD"/>
                </a:solidFill>
                <a:effectLst>
                  <a:outerShdw blurRad="38100" dist="38100" dir="2700000" algn="tl">
                    <a:srgbClr val="C0C0C0"/>
                  </a:outerShdw>
                </a:effectLst>
                <a:latin typeface="宋体" charset="-122"/>
              </a:rPr>
              <a:t>语义规则</a:t>
            </a:r>
          </a:p>
        </p:txBody>
      </p:sp>
      <p:sp>
        <p:nvSpPr>
          <p:cNvPr id="6" name="Rectangle 12"/>
          <p:cNvSpPr>
            <a:spLocks noChangeArrowheads="1"/>
          </p:cNvSpPr>
          <p:nvPr/>
        </p:nvSpPr>
        <p:spPr bwMode="auto">
          <a:xfrm>
            <a:off x="381000" y="2232992"/>
            <a:ext cx="3048000" cy="4495800"/>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3200">
                <a:solidFill>
                  <a:srgbClr val="0206AD"/>
                </a:solidFill>
                <a:effectLst>
                  <a:outerShdw blurRad="38100" dist="38100" dir="2700000" algn="tl">
                    <a:srgbClr val="C0C0C0"/>
                  </a:outerShdw>
                </a:effectLst>
                <a:latin typeface="宋体" charset="-122"/>
              </a:rPr>
              <a:t>S→if E then S1</a:t>
            </a:r>
          </a:p>
          <a:p>
            <a:pPr algn="ctr"/>
            <a:r>
              <a:rPr kumimoji="1" lang="en-US" altLang="zh-CN" sz="3200">
                <a:solidFill>
                  <a:srgbClr val="0206AD"/>
                </a:solidFill>
                <a:effectLst>
                  <a:outerShdw blurRad="38100" dist="38100" dir="2700000" algn="tl">
                    <a:srgbClr val="C0C0C0"/>
                  </a:outerShdw>
                </a:effectLst>
                <a:latin typeface="宋体" charset="-122"/>
              </a:rPr>
              <a:t>else S2</a:t>
            </a:r>
          </a:p>
        </p:txBody>
      </p:sp>
      <p:sp>
        <p:nvSpPr>
          <p:cNvPr id="7" name="Rectangle 13"/>
          <p:cNvSpPr>
            <a:spLocks noChangeArrowheads="1"/>
          </p:cNvSpPr>
          <p:nvPr/>
        </p:nvSpPr>
        <p:spPr bwMode="auto">
          <a:xfrm>
            <a:off x="3429000" y="2232992"/>
            <a:ext cx="5334000" cy="4495800"/>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3200">
                <a:solidFill>
                  <a:srgbClr val="0206AD"/>
                </a:solidFill>
                <a:effectLst>
                  <a:outerShdw blurRad="38100" dist="38100" dir="2700000" algn="tl">
                    <a:srgbClr val="C0C0C0"/>
                  </a:outerShdw>
                </a:effectLst>
                <a:latin typeface="宋体" charset="-122"/>
              </a:rPr>
              <a:t> E.true:=newlabel;</a:t>
            </a:r>
          </a:p>
          <a:p>
            <a:r>
              <a:rPr kumimoji="1" lang="en-US" altLang="zh-CN" sz="3200">
                <a:solidFill>
                  <a:srgbClr val="0206AD"/>
                </a:solidFill>
                <a:effectLst>
                  <a:outerShdw blurRad="38100" dist="38100" dir="2700000" algn="tl">
                    <a:srgbClr val="C0C0C0"/>
                  </a:outerShdw>
                </a:effectLst>
                <a:latin typeface="宋体" charset="-122"/>
              </a:rPr>
              <a:t> E.false:=newlabel;</a:t>
            </a:r>
          </a:p>
          <a:p>
            <a:r>
              <a:rPr kumimoji="1" lang="en-US" altLang="zh-CN" sz="3200">
                <a:solidFill>
                  <a:srgbClr val="0206AD"/>
                </a:solidFill>
                <a:effectLst>
                  <a:outerShdw blurRad="38100" dist="38100" dir="2700000" algn="tl">
                    <a:srgbClr val="C0C0C0"/>
                  </a:outerShdw>
                </a:effectLst>
                <a:latin typeface="宋体" charset="-122"/>
              </a:rPr>
              <a:t> S1.next:=S.next;</a:t>
            </a:r>
          </a:p>
          <a:p>
            <a:r>
              <a:rPr kumimoji="1" lang="en-US" altLang="zh-CN" sz="3200">
                <a:solidFill>
                  <a:srgbClr val="0206AD"/>
                </a:solidFill>
                <a:effectLst>
                  <a:outerShdw blurRad="38100" dist="38100" dir="2700000" algn="tl">
                    <a:srgbClr val="C0C0C0"/>
                  </a:outerShdw>
                </a:effectLst>
                <a:latin typeface="宋体" charset="-122"/>
              </a:rPr>
              <a:t> S2.next:=S.next;</a:t>
            </a:r>
          </a:p>
          <a:p>
            <a:r>
              <a:rPr kumimoji="1" lang="en-US" altLang="zh-CN" sz="3200">
                <a:solidFill>
                  <a:srgbClr val="0206AD"/>
                </a:solidFill>
                <a:effectLst>
                  <a:outerShdw blurRad="38100" dist="38100" dir="2700000" algn="tl">
                    <a:srgbClr val="C0C0C0"/>
                  </a:outerShdw>
                </a:effectLst>
                <a:latin typeface="宋体" charset="-122"/>
              </a:rPr>
              <a:t> S.code:=E.code||</a:t>
            </a:r>
          </a:p>
          <a:p>
            <a:r>
              <a:rPr kumimoji="1" lang="en-US" altLang="zh-CN" sz="3200">
                <a:solidFill>
                  <a:srgbClr val="0206AD"/>
                </a:solidFill>
                <a:effectLst>
                  <a:outerShdw blurRad="38100" dist="38100" dir="2700000" algn="tl">
                    <a:srgbClr val="C0C0C0"/>
                  </a:outerShdw>
                </a:effectLst>
                <a:latin typeface="宋体" charset="-122"/>
              </a:rPr>
              <a:t>  gen(E.true</a:t>
            </a:r>
            <a:r>
              <a:rPr kumimoji="1" lang="en-US" altLang="zh-CN" sz="3200">
                <a:solidFill>
                  <a:srgbClr val="0206AD"/>
                </a:solidFill>
                <a:effectLst>
                  <a:outerShdw blurRad="38100" dist="38100" dir="2700000" algn="tl">
                    <a:srgbClr val="C0C0C0"/>
                  </a:outerShdw>
                </a:effectLst>
                <a:latin typeface="Times New Roman"/>
              </a:rPr>
              <a:t>’</a:t>
            </a:r>
            <a:r>
              <a:rPr kumimoji="1" lang="en-US" altLang="zh-CN" sz="3200">
                <a:solidFill>
                  <a:srgbClr val="0206AD"/>
                </a:solidFill>
                <a:effectLst>
                  <a:outerShdw blurRad="38100" dist="38100" dir="2700000" algn="tl">
                    <a:srgbClr val="C0C0C0"/>
                  </a:outerShdw>
                </a:effectLst>
                <a:latin typeface="宋体" charset="-122"/>
              </a:rPr>
              <a:t>:</a:t>
            </a:r>
            <a:r>
              <a:rPr kumimoji="1" lang="en-US" altLang="zh-CN" sz="3200">
                <a:solidFill>
                  <a:srgbClr val="0206AD"/>
                </a:solidFill>
                <a:effectLst>
                  <a:outerShdw blurRad="38100" dist="38100" dir="2700000" algn="tl">
                    <a:srgbClr val="C0C0C0"/>
                  </a:outerShdw>
                </a:effectLst>
                <a:latin typeface="Times New Roman"/>
              </a:rPr>
              <a:t>’</a:t>
            </a:r>
            <a:r>
              <a:rPr kumimoji="1" lang="en-US" altLang="zh-CN" sz="3200">
                <a:solidFill>
                  <a:srgbClr val="0206AD"/>
                </a:solidFill>
                <a:effectLst>
                  <a:outerShdw blurRad="38100" dist="38100" dir="2700000" algn="tl">
                    <a:srgbClr val="C0C0C0"/>
                  </a:outerShdw>
                </a:effectLst>
                <a:latin typeface="宋体" charset="-122"/>
              </a:rPr>
              <a:t>)||S1.code</a:t>
            </a:r>
          </a:p>
          <a:p>
            <a:r>
              <a:rPr kumimoji="1" lang="en-US" altLang="zh-CN" sz="3200">
                <a:solidFill>
                  <a:srgbClr val="0206AD"/>
                </a:solidFill>
                <a:effectLst>
                  <a:outerShdw blurRad="38100" dist="38100" dir="2700000" algn="tl">
                    <a:srgbClr val="C0C0C0"/>
                  </a:outerShdw>
                </a:effectLst>
                <a:latin typeface="宋体" charset="-122"/>
              </a:rPr>
              <a:t>  gen(</a:t>
            </a:r>
            <a:r>
              <a:rPr kumimoji="1" lang="en-US" altLang="zh-CN" sz="3200">
                <a:solidFill>
                  <a:srgbClr val="0206AD"/>
                </a:solidFill>
                <a:effectLst>
                  <a:outerShdw blurRad="38100" dist="38100" dir="2700000" algn="tl">
                    <a:srgbClr val="C0C0C0"/>
                  </a:outerShdw>
                </a:effectLst>
                <a:latin typeface="Times New Roman"/>
              </a:rPr>
              <a:t>‘</a:t>
            </a:r>
            <a:r>
              <a:rPr kumimoji="1" lang="en-US" altLang="zh-CN" sz="3200">
                <a:solidFill>
                  <a:srgbClr val="0206AD"/>
                </a:solidFill>
                <a:effectLst>
                  <a:outerShdw blurRad="38100" dist="38100" dir="2700000" algn="tl">
                    <a:srgbClr val="C0C0C0"/>
                  </a:outerShdw>
                </a:effectLst>
                <a:latin typeface="宋体" charset="-122"/>
              </a:rPr>
              <a:t>goto</a:t>
            </a:r>
            <a:r>
              <a:rPr kumimoji="1" lang="en-US" altLang="zh-CN" sz="3200">
                <a:solidFill>
                  <a:srgbClr val="0206AD"/>
                </a:solidFill>
                <a:effectLst>
                  <a:outerShdw blurRad="38100" dist="38100" dir="2700000" algn="tl">
                    <a:srgbClr val="C0C0C0"/>
                  </a:outerShdw>
                </a:effectLst>
                <a:latin typeface="Times New Roman"/>
              </a:rPr>
              <a:t>’</a:t>
            </a:r>
            <a:r>
              <a:rPr kumimoji="1" lang="en-US" altLang="zh-CN" sz="3200">
                <a:solidFill>
                  <a:srgbClr val="0206AD"/>
                </a:solidFill>
                <a:effectLst>
                  <a:outerShdw blurRad="38100" dist="38100" dir="2700000" algn="tl">
                    <a:srgbClr val="C0C0C0"/>
                  </a:outerShdw>
                </a:effectLst>
                <a:latin typeface="宋体" charset="-122"/>
              </a:rPr>
              <a:t> S.next)||</a:t>
            </a:r>
          </a:p>
          <a:p>
            <a:r>
              <a:rPr kumimoji="1" lang="en-US" altLang="zh-CN" sz="3200">
                <a:solidFill>
                  <a:srgbClr val="0206AD"/>
                </a:solidFill>
                <a:effectLst>
                  <a:outerShdw blurRad="38100" dist="38100" dir="2700000" algn="tl">
                    <a:srgbClr val="C0C0C0"/>
                  </a:outerShdw>
                </a:effectLst>
                <a:latin typeface="宋体" charset="-122"/>
              </a:rPr>
              <a:t>  gen(E.false</a:t>
            </a:r>
            <a:r>
              <a:rPr kumimoji="1" lang="en-US" altLang="zh-CN" sz="3200">
                <a:solidFill>
                  <a:srgbClr val="0206AD"/>
                </a:solidFill>
                <a:effectLst>
                  <a:outerShdw blurRad="38100" dist="38100" dir="2700000" algn="tl">
                    <a:srgbClr val="C0C0C0"/>
                  </a:outerShdw>
                </a:effectLst>
                <a:latin typeface="Times New Roman"/>
              </a:rPr>
              <a:t>’</a:t>
            </a:r>
            <a:r>
              <a:rPr kumimoji="1" lang="en-US" altLang="zh-CN" sz="3200">
                <a:solidFill>
                  <a:srgbClr val="0206AD"/>
                </a:solidFill>
                <a:effectLst>
                  <a:outerShdw blurRad="38100" dist="38100" dir="2700000" algn="tl">
                    <a:srgbClr val="C0C0C0"/>
                  </a:outerShdw>
                </a:effectLst>
                <a:latin typeface="宋体" charset="-122"/>
              </a:rPr>
              <a:t>:</a:t>
            </a:r>
            <a:r>
              <a:rPr kumimoji="1" lang="en-US" altLang="zh-CN" sz="3200">
                <a:solidFill>
                  <a:srgbClr val="0206AD"/>
                </a:solidFill>
                <a:effectLst>
                  <a:outerShdw blurRad="38100" dist="38100" dir="2700000" algn="tl">
                    <a:srgbClr val="C0C0C0"/>
                  </a:outerShdw>
                </a:effectLst>
                <a:latin typeface="Times New Roman"/>
              </a:rPr>
              <a:t>’</a:t>
            </a:r>
            <a:r>
              <a:rPr kumimoji="1" lang="en-US" altLang="zh-CN" sz="3200">
                <a:solidFill>
                  <a:srgbClr val="0206AD"/>
                </a:solidFill>
                <a:effectLst>
                  <a:outerShdw blurRad="38100" dist="38100" dir="2700000" algn="tl">
                    <a:srgbClr val="C0C0C0"/>
                  </a:outerShdw>
                </a:effectLst>
                <a:latin typeface="宋体" charset="-122"/>
              </a:rPr>
              <a:t>)||S2.code</a:t>
            </a:r>
          </a:p>
        </p:txBody>
      </p:sp>
      <p:sp>
        <p:nvSpPr>
          <p:cNvPr id="8" name="灯片编号占位符 7">
            <a:extLst>
              <a:ext uri="{FF2B5EF4-FFF2-40B4-BE49-F238E27FC236}">
                <a16:creationId xmlns:a16="http://schemas.microsoft.com/office/drawing/2014/main" id="{7F8CE7B1-15DC-4A5C-84BC-4F9723CBE9C7}"/>
              </a:ext>
            </a:extLst>
          </p:cNvPr>
          <p:cNvSpPr>
            <a:spLocks noGrp="1"/>
          </p:cNvSpPr>
          <p:nvPr>
            <p:ph type="sldNum" sz="quarter" idx="4"/>
          </p:nvPr>
        </p:nvSpPr>
        <p:spPr/>
        <p:txBody>
          <a:bodyPr/>
          <a:lstStyle/>
          <a:p>
            <a:fld id="{565CE74E-AB26-4998-AD42-012C4C1AD076}" type="slidenum">
              <a:rPr lang="zh-CN" altLang="en-US" smtClean="0"/>
              <a:pPr/>
              <a:t>62</a:t>
            </a:fld>
            <a:endParaRPr lang="zh-CN" altLang="en-US"/>
          </a:p>
        </p:txBody>
      </p:sp>
    </p:spTree>
    <p:extLst>
      <p:ext uri="{BB962C8B-B14F-4D97-AF65-F5344CB8AC3E}">
        <p14:creationId xmlns:p14="http://schemas.microsoft.com/office/powerpoint/2010/main" val="59591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控制流语句属性文法</a:t>
            </a:r>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控制语句</a:t>
            </a:r>
            <a:endParaRPr lang="zh-CN" altLang="en-US" dirty="0"/>
          </a:p>
        </p:txBody>
      </p:sp>
      <p:sp>
        <p:nvSpPr>
          <p:cNvPr id="8" name="Rectangle 10"/>
          <p:cNvSpPr>
            <a:spLocks noChangeArrowheads="1"/>
          </p:cNvSpPr>
          <p:nvPr/>
        </p:nvSpPr>
        <p:spPr bwMode="auto">
          <a:xfrm>
            <a:off x="457200" y="1507435"/>
            <a:ext cx="2819400" cy="698500"/>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3200">
                <a:solidFill>
                  <a:srgbClr val="0206AD"/>
                </a:solidFill>
                <a:effectLst>
                  <a:outerShdw blurRad="38100" dist="38100" dir="2700000" algn="tl">
                    <a:srgbClr val="C0C0C0"/>
                  </a:outerShdw>
                </a:effectLst>
                <a:latin typeface="宋体" charset="-122"/>
              </a:rPr>
              <a:t>产生式</a:t>
            </a:r>
          </a:p>
        </p:txBody>
      </p:sp>
      <p:sp>
        <p:nvSpPr>
          <p:cNvPr id="9" name="Rectangle 11"/>
          <p:cNvSpPr>
            <a:spLocks noChangeArrowheads="1"/>
          </p:cNvSpPr>
          <p:nvPr/>
        </p:nvSpPr>
        <p:spPr bwMode="auto">
          <a:xfrm>
            <a:off x="3276600" y="1507435"/>
            <a:ext cx="5410200" cy="685800"/>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3200">
                <a:solidFill>
                  <a:srgbClr val="0206AD"/>
                </a:solidFill>
                <a:effectLst>
                  <a:outerShdw blurRad="38100" dist="38100" dir="2700000" algn="tl">
                    <a:srgbClr val="C0C0C0"/>
                  </a:outerShdw>
                </a:effectLst>
                <a:latin typeface="宋体" charset="-122"/>
              </a:rPr>
              <a:t>语义规则</a:t>
            </a:r>
          </a:p>
        </p:txBody>
      </p:sp>
      <p:sp>
        <p:nvSpPr>
          <p:cNvPr id="10" name="Rectangle 12"/>
          <p:cNvSpPr>
            <a:spLocks noChangeArrowheads="1"/>
          </p:cNvSpPr>
          <p:nvPr/>
        </p:nvSpPr>
        <p:spPr bwMode="auto">
          <a:xfrm>
            <a:off x="457200" y="2193235"/>
            <a:ext cx="2819400" cy="4495800"/>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3200">
                <a:solidFill>
                  <a:srgbClr val="0206AD"/>
                </a:solidFill>
                <a:effectLst>
                  <a:outerShdw blurRad="38100" dist="38100" dir="2700000" algn="tl">
                    <a:srgbClr val="C0C0C0"/>
                  </a:outerShdw>
                </a:effectLst>
                <a:latin typeface="宋体" charset="-122"/>
              </a:rPr>
              <a:t>S→while E </a:t>
            </a:r>
          </a:p>
          <a:p>
            <a:pPr algn="ctr"/>
            <a:r>
              <a:rPr kumimoji="1" lang="en-US" altLang="zh-CN" sz="3200">
                <a:solidFill>
                  <a:srgbClr val="0206AD"/>
                </a:solidFill>
                <a:effectLst>
                  <a:outerShdw blurRad="38100" dist="38100" dir="2700000" algn="tl">
                    <a:srgbClr val="C0C0C0"/>
                  </a:outerShdw>
                </a:effectLst>
                <a:latin typeface="宋体" charset="-122"/>
              </a:rPr>
              <a:t>do S1</a:t>
            </a:r>
          </a:p>
        </p:txBody>
      </p:sp>
      <p:sp>
        <p:nvSpPr>
          <p:cNvPr id="11" name="Rectangle 13"/>
          <p:cNvSpPr>
            <a:spLocks noChangeArrowheads="1"/>
          </p:cNvSpPr>
          <p:nvPr/>
        </p:nvSpPr>
        <p:spPr bwMode="auto">
          <a:xfrm>
            <a:off x="3276600" y="2193235"/>
            <a:ext cx="5410200" cy="4495800"/>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3200">
                <a:solidFill>
                  <a:srgbClr val="0206AD"/>
                </a:solidFill>
                <a:effectLst>
                  <a:outerShdw blurRad="38100" dist="38100" dir="2700000" algn="tl">
                    <a:srgbClr val="C0C0C0"/>
                  </a:outerShdw>
                </a:effectLst>
                <a:latin typeface="宋体" charset="-122"/>
              </a:rPr>
              <a:t>S.begin:=newlabel;       </a:t>
            </a:r>
          </a:p>
          <a:p>
            <a:r>
              <a:rPr kumimoji="1" lang="en-US" altLang="zh-CN" sz="3200">
                <a:solidFill>
                  <a:srgbClr val="0206AD"/>
                </a:solidFill>
                <a:effectLst>
                  <a:outerShdw blurRad="38100" dist="38100" dir="2700000" algn="tl">
                    <a:srgbClr val="C0C0C0"/>
                  </a:outerShdw>
                </a:effectLst>
                <a:latin typeface="宋体" charset="-122"/>
              </a:rPr>
              <a:t>E.true:=newlabel;        </a:t>
            </a:r>
          </a:p>
          <a:p>
            <a:r>
              <a:rPr kumimoji="1" lang="en-US" altLang="zh-CN" sz="3200">
                <a:solidFill>
                  <a:srgbClr val="0206AD"/>
                </a:solidFill>
                <a:effectLst>
                  <a:outerShdw blurRad="38100" dist="38100" dir="2700000" algn="tl">
                    <a:srgbClr val="C0C0C0"/>
                  </a:outerShdw>
                </a:effectLst>
                <a:latin typeface="宋体" charset="-122"/>
              </a:rPr>
              <a:t>E.false:= S.next;        </a:t>
            </a:r>
          </a:p>
          <a:p>
            <a:r>
              <a:rPr kumimoji="1" lang="en-US" altLang="zh-CN" sz="3200">
                <a:solidFill>
                  <a:srgbClr val="0206AD"/>
                </a:solidFill>
                <a:effectLst>
                  <a:outerShdw blurRad="38100" dist="38100" dir="2700000" algn="tl">
                    <a:srgbClr val="C0C0C0"/>
                  </a:outerShdw>
                </a:effectLst>
                <a:latin typeface="宋体" charset="-122"/>
              </a:rPr>
              <a:t>S1.next:=S.begin;        </a:t>
            </a:r>
          </a:p>
          <a:p>
            <a:r>
              <a:rPr kumimoji="1" lang="en-US" altLang="zh-CN" sz="3200">
                <a:solidFill>
                  <a:srgbClr val="0206AD"/>
                </a:solidFill>
                <a:effectLst>
                  <a:outerShdw blurRad="38100" dist="38100" dir="2700000" algn="tl">
                    <a:srgbClr val="C0C0C0"/>
                  </a:outerShdw>
                </a:effectLst>
                <a:latin typeface="宋体" charset="-122"/>
              </a:rPr>
              <a:t>S.code:=gen(S.begin</a:t>
            </a:r>
            <a:r>
              <a:rPr kumimoji="1" lang="en-US" altLang="zh-CN" sz="3200">
                <a:solidFill>
                  <a:srgbClr val="0206AD"/>
                </a:solidFill>
                <a:effectLst>
                  <a:outerShdw blurRad="38100" dist="38100" dir="2700000" algn="tl">
                    <a:srgbClr val="C0C0C0"/>
                  </a:outerShdw>
                </a:effectLst>
                <a:latin typeface="Times New Roman"/>
              </a:rPr>
              <a:t>’</a:t>
            </a:r>
            <a:r>
              <a:rPr kumimoji="1" lang="en-US" altLang="zh-CN" sz="3200">
                <a:solidFill>
                  <a:srgbClr val="0206AD"/>
                </a:solidFill>
                <a:effectLst>
                  <a:outerShdw blurRad="38100" dist="38100" dir="2700000" algn="tl">
                    <a:srgbClr val="C0C0C0"/>
                  </a:outerShdw>
                </a:effectLst>
                <a:latin typeface="宋体" charset="-122"/>
              </a:rPr>
              <a:t>:</a:t>
            </a:r>
            <a:r>
              <a:rPr kumimoji="1" lang="en-US" altLang="zh-CN" sz="3200">
                <a:solidFill>
                  <a:srgbClr val="0206AD"/>
                </a:solidFill>
                <a:effectLst>
                  <a:outerShdw blurRad="38100" dist="38100" dir="2700000" algn="tl">
                    <a:srgbClr val="C0C0C0"/>
                  </a:outerShdw>
                </a:effectLst>
                <a:latin typeface="Times New Roman"/>
              </a:rPr>
              <a:t>’</a:t>
            </a:r>
            <a:r>
              <a:rPr kumimoji="1" lang="en-US" altLang="zh-CN" sz="3200">
                <a:solidFill>
                  <a:srgbClr val="0206AD"/>
                </a:solidFill>
                <a:effectLst>
                  <a:outerShdw blurRad="38100" dist="38100" dir="2700000" algn="tl">
                    <a:srgbClr val="C0C0C0"/>
                  </a:outerShdw>
                </a:effectLst>
                <a:latin typeface="宋体" charset="-122"/>
              </a:rPr>
              <a:t>)||</a:t>
            </a:r>
          </a:p>
          <a:p>
            <a:r>
              <a:rPr kumimoji="1" lang="en-US" altLang="zh-CN" sz="3200">
                <a:solidFill>
                  <a:srgbClr val="0206AD"/>
                </a:solidFill>
                <a:effectLst>
                  <a:outerShdw blurRad="38100" dist="38100" dir="2700000" algn="tl">
                    <a:srgbClr val="C0C0C0"/>
                  </a:outerShdw>
                </a:effectLst>
                <a:latin typeface="宋体" charset="-122"/>
              </a:rPr>
              <a:t>        E.code||</a:t>
            </a:r>
          </a:p>
          <a:p>
            <a:r>
              <a:rPr kumimoji="1" lang="en-US" altLang="zh-CN" sz="3200">
                <a:solidFill>
                  <a:srgbClr val="0206AD"/>
                </a:solidFill>
                <a:effectLst>
                  <a:outerShdw blurRad="38100" dist="38100" dir="2700000" algn="tl">
                    <a:srgbClr val="C0C0C0"/>
                  </a:outerShdw>
                </a:effectLst>
                <a:latin typeface="宋体" charset="-122"/>
              </a:rPr>
              <a:t>        gen(E.true</a:t>
            </a:r>
            <a:r>
              <a:rPr kumimoji="1" lang="en-US" altLang="zh-CN" sz="3200">
                <a:solidFill>
                  <a:srgbClr val="0206AD"/>
                </a:solidFill>
                <a:effectLst>
                  <a:outerShdw blurRad="38100" dist="38100" dir="2700000" algn="tl">
                    <a:srgbClr val="C0C0C0"/>
                  </a:outerShdw>
                </a:effectLst>
                <a:latin typeface="Times New Roman"/>
              </a:rPr>
              <a:t>’</a:t>
            </a:r>
            <a:r>
              <a:rPr kumimoji="1" lang="en-US" altLang="zh-CN" sz="3200">
                <a:solidFill>
                  <a:srgbClr val="0206AD"/>
                </a:solidFill>
                <a:effectLst>
                  <a:outerShdw blurRad="38100" dist="38100" dir="2700000" algn="tl">
                    <a:srgbClr val="C0C0C0"/>
                  </a:outerShdw>
                </a:effectLst>
                <a:latin typeface="宋体" charset="-122"/>
              </a:rPr>
              <a:t>:</a:t>
            </a:r>
            <a:r>
              <a:rPr kumimoji="1" lang="en-US" altLang="zh-CN" sz="3200">
                <a:solidFill>
                  <a:srgbClr val="0206AD"/>
                </a:solidFill>
                <a:effectLst>
                  <a:outerShdw blurRad="38100" dist="38100" dir="2700000" algn="tl">
                    <a:srgbClr val="C0C0C0"/>
                  </a:outerShdw>
                </a:effectLst>
                <a:latin typeface="Times New Roman"/>
              </a:rPr>
              <a:t>’</a:t>
            </a:r>
            <a:r>
              <a:rPr kumimoji="1" lang="en-US" altLang="zh-CN" sz="3200">
                <a:solidFill>
                  <a:srgbClr val="0206AD"/>
                </a:solidFill>
                <a:effectLst>
                  <a:outerShdw blurRad="38100" dist="38100" dir="2700000" algn="tl">
                    <a:srgbClr val="C0C0C0"/>
                  </a:outerShdw>
                </a:effectLst>
                <a:latin typeface="宋体" charset="-122"/>
              </a:rPr>
              <a:t>)||</a:t>
            </a:r>
          </a:p>
          <a:p>
            <a:r>
              <a:rPr kumimoji="1" lang="en-US" altLang="zh-CN" sz="3200">
                <a:solidFill>
                  <a:srgbClr val="0206AD"/>
                </a:solidFill>
                <a:effectLst>
                  <a:outerShdw blurRad="38100" dist="38100" dir="2700000" algn="tl">
                    <a:srgbClr val="C0C0C0"/>
                  </a:outerShdw>
                </a:effectLst>
                <a:latin typeface="宋体" charset="-122"/>
              </a:rPr>
              <a:t>        S1.code||</a:t>
            </a:r>
          </a:p>
          <a:p>
            <a:r>
              <a:rPr kumimoji="1" lang="en-US" altLang="zh-CN" sz="3200">
                <a:solidFill>
                  <a:srgbClr val="0206AD"/>
                </a:solidFill>
                <a:effectLst>
                  <a:outerShdw blurRad="38100" dist="38100" dir="2700000" algn="tl">
                    <a:srgbClr val="C0C0C0"/>
                  </a:outerShdw>
                </a:effectLst>
                <a:latin typeface="宋体" charset="-122"/>
              </a:rPr>
              <a:t>        gen(</a:t>
            </a:r>
            <a:r>
              <a:rPr kumimoji="1" lang="en-US" altLang="zh-CN" sz="3200">
                <a:solidFill>
                  <a:srgbClr val="0206AD"/>
                </a:solidFill>
                <a:effectLst>
                  <a:outerShdw blurRad="38100" dist="38100" dir="2700000" algn="tl">
                    <a:srgbClr val="C0C0C0"/>
                  </a:outerShdw>
                </a:effectLst>
                <a:latin typeface="Times New Roman"/>
              </a:rPr>
              <a:t>‘</a:t>
            </a:r>
            <a:r>
              <a:rPr kumimoji="1" lang="en-US" altLang="zh-CN" sz="3200">
                <a:solidFill>
                  <a:srgbClr val="0206AD"/>
                </a:solidFill>
                <a:effectLst>
                  <a:outerShdw blurRad="38100" dist="38100" dir="2700000" algn="tl">
                    <a:srgbClr val="C0C0C0"/>
                  </a:outerShdw>
                </a:effectLst>
                <a:latin typeface="宋体" charset="-122"/>
              </a:rPr>
              <a:t>goto</a:t>
            </a:r>
            <a:r>
              <a:rPr kumimoji="1" lang="en-US" altLang="zh-CN" sz="3200">
                <a:solidFill>
                  <a:srgbClr val="0206AD"/>
                </a:solidFill>
                <a:effectLst>
                  <a:outerShdw blurRad="38100" dist="38100" dir="2700000" algn="tl">
                    <a:srgbClr val="C0C0C0"/>
                  </a:outerShdw>
                </a:effectLst>
                <a:latin typeface="Times New Roman"/>
              </a:rPr>
              <a:t>’</a:t>
            </a:r>
            <a:r>
              <a:rPr kumimoji="1" lang="en-US" altLang="zh-CN" sz="3200">
                <a:solidFill>
                  <a:srgbClr val="0206AD"/>
                </a:solidFill>
                <a:effectLst>
                  <a:outerShdw blurRad="38100" dist="38100" dir="2700000" algn="tl">
                    <a:srgbClr val="C0C0C0"/>
                  </a:outerShdw>
                </a:effectLst>
                <a:latin typeface="宋体" charset="-122"/>
              </a:rPr>
              <a:t>S.begin)</a:t>
            </a:r>
          </a:p>
        </p:txBody>
      </p:sp>
      <p:sp>
        <p:nvSpPr>
          <p:cNvPr id="4" name="灯片编号占位符 3">
            <a:extLst>
              <a:ext uri="{FF2B5EF4-FFF2-40B4-BE49-F238E27FC236}">
                <a16:creationId xmlns:a16="http://schemas.microsoft.com/office/drawing/2014/main" id="{A3DDC87F-F963-4216-8B7A-302729DE7BAE}"/>
              </a:ext>
            </a:extLst>
          </p:cNvPr>
          <p:cNvSpPr>
            <a:spLocks noGrp="1"/>
          </p:cNvSpPr>
          <p:nvPr>
            <p:ph type="sldNum" sz="quarter" idx="4"/>
          </p:nvPr>
        </p:nvSpPr>
        <p:spPr/>
        <p:txBody>
          <a:bodyPr/>
          <a:lstStyle/>
          <a:p>
            <a:fld id="{565CE74E-AB26-4998-AD42-012C4C1AD076}" type="slidenum">
              <a:rPr lang="zh-CN" altLang="en-US" smtClean="0"/>
              <a:pPr/>
              <a:t>63</a:t>
            </a:fld>
            <a:endParaRPr lang="zh-CN" altLang="en-US"/>
          </a:p>
        </p:txBody>
      </p:sp>
    </p:spTree>
    <p:extLst>
      <p:ext uri="{BB962C8B-B14F-4D97-AF65-F5344CB8AC3E}">
        <p14:creationId xmlns:p14="http://schemas.microsoft.com/office/powerpoint/2010/main" val="36322666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控制流语句的文法</a:t>
            </a:r>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控制语句</a:t>
            </a:r>
            <a:endParaRPr lang="zh-CN" altLang="en-US" dirty="0"/>
          </a:p>
        </p:txBody>
      </p:sp>
      <p:sp>
        <p:nvSpPr>
          <p:cNvPr id="4" name="Text Box 10"/>
          <p:cNvSpPr txBox="1">
            <a:spLocks noChangeArrowheads="1"/>
          </p:cNvSpPr>
          <p:nvPr/>
        </p:nvSpPr>
        <p:spPr bwMode="auto">
          <a:xfrm>
            <a:off x="304800" y="1665150"/>
            <a:ext cx="8839200" cy="43273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20000"/>
              </a:spcBef>
            </a:pPr>
            <a:r>
              <a:rPr kumimoji="1" lang="en-US" altLang="zh-CN" sz="3200" b="1" dirty="0">
                <a:solidFill>
                  <a:srgbClr val="0206AD"/>
                </a:solidFill>
                <a:latin typeface="宋体" charset="-122"/>
              </a:rPr>
              <a:t>(1)</a:t>
            </a:r>
            <a:r>
              <a:rPr kumimoji="1" lang="en-US" altLang="zh-CN" sz="3200" b="1" dirty="0" err="1">
                <a:solidFill>
                  <a:srgbClr val="0206AD"/>
                </a:solidFill>
                <a:latin typeface="宋体" charset="-122"/>
              </a:rPr>
              <a:t>S→if</a:t>
            </a:r>
            <a:r>
              <a:rPr kumimoji="1" lang="en-US" altLang="zh-CN" sz="3200" b="1" dirty="0">
                <a:solidFill>
                  <a:srgbClr val="0206AD"/>
                </a:solidFill>
                <a:latin typeface="宋体" charset="-122"/>
              </a:rPr>
              <a:t> E then S    </a:t>
            </a:r>
            <a:r>
              <a:rPr kumimoji="1" lang="en-US" altLang="zh-CN" sz="3200" b="1" dirty="0" err="1">
                <a:solidFill>
                  <a:srgbClr val="0206AD"/>
                </a:solidFill>
                <a:latin typeface="宋体" charset="-122"/>
              </a:rPr>
              <a:t>if_then</a:t>
            </a:r>
            <a:r>
              <a:rPr kumimoji="1" lang="zh-CN" altLang="en-US" sz="3200" b="1" dirty="0">
                <a:solidFill>
                  <a:srgbClr val="0206AD"/>
                </a:solidFill>
                <a:latin typeface="宋体" charset="-122"/>
              </a:rPr>
              <a:t>语句</a:t>
            </a:r>
          </a:p>
          <a:p>
            <a:pPr>
              <a:lnSpc>
                <a:spcPct val="90000"/>
              </a:lnSpc>
              <a:spcBef>
                <a:spcPct val="20000"/>
              </a:spcBef>
            </a:pPr>
            <a:r>
              <a:rPr kumimoji="1" lang="en-US" altLang="zh-CN" sz="3200" b="1" dirty="0">
                <a:solidFill>
                  <a:srgbClr val="0206AD"/>
                </a:solidFill>
                <a:latin typeface="宋体" charset="-122"/>
              </a:rPr>
              <a:t>(2)   |if E then S else S </a:t>
            </a:r>
            <a:r>
              <a:rPr kumimoji="1" lang="en-US" altLang="zh-CN" sz="3200" b="1" dirty="0" err="1">
                <a:solidFill>
                  <a:srgbClr val="0206AD"/>
                </a:solidFill>
                <a:latin typeface="宋体" charset="-122"/>
              </a:rPr>
              <a:t>if_then_else</a:t>
            </a:r>
            <a:r>
              <a:rPr kumimoji="1" lang="zh-CN" altLang="en-US" sz="3200" b="1" dirty="0">
                <a:solidFill>
                  <a:srgbClr val="0206AD"/>
                </a:solidFill>
                <a:latin typeface="宋体" charset="-122"/>
              </a:rPr>
              <a:t>语句</a:t>
            </a:r>
          </a:p>
          <a:p>
            <a:pPr>
              <a:lnSpc>
                <a:spcPct val="90000"/>
              </a:lnSpc>
              <a:spcBef>
                <a:spcPct val="20000"/>
              </a:spcBef>
            </a:pPr>
            <a:r>
              <a:rPr kumimoji="1" lang="en-US" altLang="zh-CN" sz="3200" b="1" dirty="0">
                <a:solidFill>
                  <a:srgbClr val="0206AD"/>
                </a:solidFill>
                <a:latin typeface="宋体" charset="-122"/>
              </a:rPr>
              <a:t>(3)   |while E do S  while</a:t>
            </a:r>
            <a:r>
              <a:rPr kumimoji="1" lang="zh-CN" altLang="en-US" sz="3200" b="1" dirty="0">
                <a:solidFill>
                  <a:srgbClr val="0206AD"/>
                </a:solidFill>
                <a:latin typeface="宋体" charset="-122"/>
              </a:rPr>
              <a:t>语句</a:t>
            </a:r>
          </a:p>
          <a:p>
            <a:pPr>
              <a:lnSpc>
                <a:spcPct val="90000"/>
              </a:lnSpc>
              <a:spcBef>
                <a:spcPct val="20000"/>
              </a:spcBef>
            </a:pPr>
            <a:r>
              <a:rPr kumimoji="1" lang="en-US" altLang="zh-CN" sz="3200" b="1" dirty="0">
                <a:solidFill>
                  <a:srgbClr val="0206AD"/>
                </a:solidFill>
                <a:latin typeface="宋体" charset="-122"/>
              </a:rPr>
              <a:t>(4)   |begin L end   </a:t>
            </a:r>
            <a:r>
              <a:rPr kumimoji="1" lang="zh-CN" altLang="en-US" sz="3200" b="1" dirty="0">
                <a:solidFill>
                  <a:srgbClr val="0206AD"/>
                </a:solidFill>
                <a:latin typeface="宋体" charset="-122"/>
              </a:rPr>
              <a:t>复合语句</a:t>
            </a:r>
          </a:p>
          <a:p>
            <a:pPr>
              <a:lnSpc>
                <a:spcPct val="90000"/>
              </a:lnSpc>
              <a:spcBef>
                <a:spcPct val="20000"/>
              </a:spcBef>
            </a:pPr>
            <a:r>
              <a:rPr kumimoji="1" lang="en-US" altLang="zh-CN" sz="3200" b="1" dirty="0">
                <a:solidFill>
                  <a:srgbClr val="0206AD"/>
                </a:solidFill>
                <a:latin typeface="宋体" charset="-122"/>
              </a:rPr>
              <a:t>(5)   |A   </a:t>
            </a:r>
            <a:r>
              <a:rPr kumimoji="1" lang="zh-CN" altLang="en-US" sz="3200" b="1" dirty="0">
                <a:solidFill>
                  <a:srgbClr val="0206AD"/>
                </a:solidFill>
                <a:latin typeface="宋体" charset="-122"/>
              </a:rPr>
              <a:t>赋值语句</a:t>
            </a:r>
          </a:p>
          <a:p>
            <a:pPr>
              <a:lnSpc>
                <a:spcPct val="90000"/>
              </a:lnSpc>
              <a:spcBef>
                <a:spcPct val="20000"/>
              </a:spcBef>
            </a:pPr>
            <a:r>
              <a:rPr kumimoji="1" lang="en-US" altLang="zh-CN" sz="3200" b="1" dirty="0">
                <a:solidFill>
                  <a:srgbClr val="0206AD"/>
                </a:solidFill>
                <a:latin typeface="宋体" charset="-122"/>
              </a:rPr>
              <a:t>(6)L→L</a:t>
            </a:r>
            <a:r>
              <a:rPr kumimoji="1" lang="zh-CN" altLang="en-US" sz="3200" b="1" dirty="0">
                <a:solidFill>
                  <a:srgbClr val="0206AD"/>
                </a:solidFill>
                <a:latin typeface="宋体" charset="-122"/>
              </a:rPr>
              <a:t>；</a:t>
            </a:r>
            <a:r>
              <a:rPr kumimoji="1" lang="en-US" altLang="zh-CN" sz="3200" b="1" dirty="0">
                <a:solidFill>
                  <a:srgbClr val="0206AD"/>
                </a:solidFill>
                <a:latin typeface="宋体" charset="-122"/>
              </a:rPr>
              <a:t>S </a:t>
            </a:r>
            <a:r>
              <a:rPr kumimoji="1" lang="zh-CN" altLang="en-US" sz="3200" b="1" dirty="0">
                <a:solidFill>
                  <a:srgbClr val="0206AD"/>
                </a:solidFill>
                <a:latin typeface="宋体" charset="-122"/>
              </a:rPr>
              <a:t>语句序列   </a:t>
            </a:r>
          </a:p>
          <a:p>
            <a:pPr>
              <a:lnSpc>
                <a:spcPct val="90000"/>
              </a:lnSpc>
              <a:spcBef>
                <a:spcPct val="20000"/>
              </a:spcBef>
            </a:pPr>
            <a:r>
              <a:rPr kumimoji="1" lang="en-US" altLang="zh-CN" sz="3200" b="1" dirty="0">
                <a:solidFill>
                  <a:srgbClr val="0206AD"/>
                </a:solidFill>
                <a:latin typeface="宋体" charset="-122"/>
              </a:rPr>
              <a:t>(7)   |S   </a:t>
            </a:r>
            <a:r>
              <a:rPr kumimoji="1" lang="zh-CN" altLang="en-US" sz="3200" b="1" dirty="0">
                <a:solidFill>
                  <a:srgbClr val="0206AD"/>
                </a:solidFill>
                <a:latin typeface="宋体" charset="-122"/>
              </a:rPr>
              <a:t>一条语句</a:t>
            </a:r>
          </a:p>
          <a:p>
            <a:pPr>
              <a:lnSpc>
                <a:spcPct val="90000"/>
              </a:lnSpc>
              <a:spcBef>
                <a:spcPct val="20000"/>
              </a:spcBef>
            </a:pPr>
            <a:r>
              <a:rPr kumimoji="1" lang="zh-CN" altLang="en-US" sz="3200" b="1" dirty="0">
                <a:solidFill>
                  <a:srgbClr val="0206AD"/>
                </a:solidFill>
                <a:latin typeface="宋体" charset="-122"/>
              </a:rPr>
              <a:t>  </a:t>
            </a:r>
            <a:r>
              <a:rPr kumimoji="1" lang="en-US" altLang="zh-CN" sz="3200" b="1" dirty="0">
                <a:solidFill>
                  <a:srgbClr val="0206AD"/>
                </a:solidFill>
                <a:latin typeface="宋体" charset="-122"/>
              </a:rPr>
              <a:t>E</a:t>
            </a:r>
            <a:r>
              <a:rPr kumimoji="1" lang="zh-CN" altLang="en-US" sz="3200" b="1" dirty="0">
                <a:solidFill>
                  <a:srgbClr val="0206AD"/>
                </a:solidFill>
                <a:latin typeface="宋体" charset="-122"/>
              </a:rPr>
              <a:t>为一个布尔表达式</a:t>
            </a:r>
          </a:p>
        </p:txBody>
      </p:sp>
      <p:sp>
        <p:nvSpPr>
          <p:cNvPr id="5" name="灯片编号占位符 4">
            <a:extLst>
              <a:ext uri="{FF2B5EF4-FFF2-40B4-BE49-F238E27FC236}">
                <a16:creationId xmlns:a16="http://schemas.microsoft.com/office/drawing/2014/main" id="{1091E009-DA2E-4412-B056-23B7B005CC51}"/>
              </a:ext>
            </a:extLst>
          </p:cNvPr>
          <p:cNvSpPr>
            <a:spLocks noGrp="1"/>
          </p:cNvSpPr>
          <p:nvPr>
            <p:ph type="sldNum" sz="quarter" idx="4"/>
          </p:nvPr>
        </p:nvSpPr>
        <p:spPr/>
        <p:txBody>
          <a:bodyPr/>
          <a:lstStyle/>
          <a:p>
            <a:fld id="{565CE74E-AB26-4998-AD42-012C4C1AD076}" type="slidenum">
              <a:rPr lang="zh-CN" altLang="en-US" smtClean="0"/>
              <a:pPr/>
              <a:t>64</a:t>
            </a:fld>
            <a:endParaRPr lang="zh-CN" altLang="en-US"/>
          </a:p>
        </p:txBody>
      </p:sp>
    </p:spTree>
    <p:extLst>
      <p:ext uri="{BB962C8B-B14F-4D97-AF65-F5344CB8AC3E}">
        <p14:creationId xmlns:p14="http://schemas.microsoft.com/office/powerpoint/2010/main" val="3734997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Bottom)">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slide(fromBottom)">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slide(fromBottom)">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slide(fromBottom)">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slide(fromBottom)">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slide(fromBottom)">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slide(fromBottom)">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slide(fromBottom)">
                                      <p:cBhvr>
                                        <p:cTn id="42"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控制语句</a:t>
            </a:r>
            <a:endParaRPr lang="zh-CN" altLang="en-US" dirty="0"/>
          </a:p>
        </p:txBody>
      </p:sp>
      <p:sp>
        <p:nvSpPr>
          <p:cNvPr id="4" name="Rectangle 7"/>
          <p:cNvSpPr>
            <a:spLocks noGrp="1" noChangeArrowheads="1"/>
          </p:cNvSpPr>
          <p:nvPr>
            <p:ph type="body" idx="1"/>
          </p:nvPr>
        </p:nvSpPr>
        <p:spPr>
          <a:noFill/>
          <a:ln/>
        </p:spPr>
        <p:txBody>
          <a:bodyPr lIns="92075" tIns="46038" rIns="92075" bIns="46038"/>
          <a:lstStyle/>
          <a:p>
            <a:r>
              <a:rPr lang="zh-CN" altLang="en-US" dirty="0">
                <a:solidFill>
                  <a:srgbClr val="FF0000"/>
                </a:solidFill>
                <a:latin typeface="宋体" charset="-122"/>
              </a:rPr>
              <a:t>翻译模式中的属性和函数设置</a:t>
            </a:r>
            <a:endParaRPr lang="en-US" altLang="zh-CN" b="1" dirty="0">
              <a:solidFill>
                <a:srgbClr val="FF0000"/>
              </a:solidFill>
              <a:latin typeface="宋体" charset="-122"/>
            </a:endParaRPr>
          </a:p>
          <a:p>
            <a:pPr>
              <a:lnSpc>
                <a:spcPct val="90000"/>
              </a:lnSpc>
            </a:pPr>
            <a:r>
              <a:rPr lang="en-US" altLang="zh-CN" b="1" dirty="0" err="1">
                <a:latin typeface="宋体" charset="-122"/>
              </a:rPr>
              <a:t>S→if</a:t>
            </a:r>
            <a:r>
              <a:rPr lang="en-US" altLang="zh-CN" b="1" dirty="0">
                <a:latin typeface="宋体" charset="-122"/>
              </a:rPr>
              <a:t> E then M1 S1 N else M2 S2 </a:t>
            </a:r>
          </a:p>
          <a:p>
            <a:pPr lvl="1">
              <a:lnSpc>
                <a:spcPct val="90000"/>
              </a:lnSpc>
            </a:pPr>
            <a:r>
              <a:rPr lang="en-US" altLang="zh-CN" b="1" dirty="0" err="1">
                <a:latin typeface="宋体" charset="-122"/>
              </a:rPr>
              <a:t>E.truelist</a:t>
            </a:r>
            <a:r>
              <a:rPr lang="en-US" altLang="zh-CN" b="1" dirty="0">
                <a:latin typeface="宋体" charset="-122"/>
              </a:rPr>
              <a:t>  </a:t>
            </a:r>
            <a:r>
              <a:rPr lang="zh-CN" altLang="en-US" b="1" dirty="0">
                <a:latin typeface="宋体" charset="-122"/>
              </a:rPr>
              <a:t>需回填</a:t>
            </a:r>
            <a:r>
              <a:rPr lang="en-US" altLang="zh-CN" b="1" dirty="0" err="1">
                <a:latin typeface="宋体" charset="-122"/>
              </a:rPr>
              <a:t>E.true</a:t>
            </a:r>
            <a:r>
              <a:rPr lang="zh-CN" altLang="en-US" b="1" dirty="0">
                <a:latin typeface="宋体" charset="-122"/>
              </a:rPr>
              <a:t>的链 </a:t>
            </a:r>
          </a:p>
          <a:p>
            <a:pPr lvl="1">
              <a:lnSpc>
                <a:spcPct val="90000"/>
              </a:lnSpc>
            </a:pPr>
            <a:r>
              <a:rPr lang="en-US" altLang="zh-CN" b="1" dirty="0" err="1">
                <a:latin typeface="宋体" charset="-122"/>
              </a:rPr>
              <a:t>E.falselist</a:t>
            </a:r>
            <a:r>
              <a:rPr lang="en-US" altLang="zh-CN" b="1" dirty="0">
                <a:latin typeface="宋体" charset="-122"/>
              </a:rPr>
              <a:t> </a:t>
            </a:r>
            <a:r>
              <a:rPr lang="zh-CN" altLang="en-US" b="1" dirty="0">
                <a:latin typeface="宋体" charset="-122"/>
              </a:rPr>
              <a:t>需回填</a:t>
            </a:r>
            <a:r>
              <a:rPr lang="en-US" altLang="zh-CN" b="1" dirty="0" err="1">
                <a:latin typeface="宋体" charset="-122"/>
              </a:rPr>
              <a:t>E.false</a:t>
            </a:r>
            <a:r>
              <a:rPr lang="zh-CN" altLang="en-US" b="1" dirty="0">
                <a:latin typeface="宋体" charset="-122"/>
              </a:rPr>
              <a:t>的链</a:t>
            </a:r>
          </a:p>
          <a:p>
            <a:pPr lvl="1">
              <a:lnSpc>
                <a:spcPct val="90000"/>
              </a:lnSpc>
            </a:pPr>
            <a:r>
              <a:rPr lang="en-US" altLang="zh-CN" b="1" dirty="0" err="1">
                <a:latin typeface="宋体" charset="-122"/>
              </a:rPr>
              <a:t>M.quad</a:t>
            </a:r>
            <a:r>
              <a:rPr lang="en-US" altLang="zh-CN" b="1" dirty="0">
                <a:latin typeface="宋体" charset="-122"/>
              </a:rPr>
              <a:t>      </a:t>
            </a:r>
            <a:r>
              <a:rPr lang="zh-CN" altLang="en-US" b="1" dirty="0">
                <a:latin typeface="宋体" charset="-122"/>
              </a:rPr>
              <a:t>下一条四元式的标号</a:t>
            </a:r>
          </a:p>
          <a:p>
            <a:pPr lvl="1">
              <a:lnSpc>
                <a:spcPct val="90000"/>
              </a:lnSpc>
            </a:pPr>
            <a:r>
              <a:rPr lang="en-US" altLang="zh-CN" b="1" dirty="0" err="1">
                <a:latin typeface="宋体" charset="-122"/>
              </a:rPr>
              <a:t>S.nextlist</a:t>
            </a:r>
            <a:r>
              <a:rPr lang="en-US" altLang="zh-CN" b="1" dirty="0">
                <a:latin typeface="宋体" charset="-122"/>
              </a:rPr>
              <a:t>  </a:t>
            </a:r>
            <a:r>
              <a:rPr lang="zh-CN" altLang="en-US" b="1" dirty="0">
                <a:latin typeface="宋体" charset="-122"/>
              </a:rPr>
              <a:t>需回填</a:t>
            </a:r>
            <a:r>
              <a:rPr lang="en-US" altLang="zh-CN" b="1" dirty="0" err="1">
                <a:latin typeface="宋体" charset="-122"/>
              </a:rPr>
              <a:t>S.next</a:t>
            </a:r>
            <a:r>
              <a:rPr lang="zh-CN" altLang="en-US" b="1" dirty="0">
                <a:latin typeface="宋体" charset="-122"/>
              </a:rPr>
              <a:t>的链</a:t>
            </a:r>
          </a:p>
          <a:p>
            <a:pPr lvl="1">
              <a:lnSpc>
                <a:spcPct val="90000"/>
              </a:lnSpc>
            </a:pPr>
            <a:r>
              <a:rPr lang="en-US" altLang="zh-CN" b="1" dirty="0" err="1">
                <a:latin typeface="宋体" charset="-122"/>
              </a:rPr>
              <a:t>N.nextlist</a:t>
            </a:r>
            <a:r>
              <a:rPr lang="en-US" altLang="zh-CN" b="1" dirty="0">
                <a:latin typeface="宋体" charset="-122"/>
              </a:rPr>
              <a:t>  </a:t>
            </a:r>
            <a:r>
              <a:rPr lang="zh-CN" altLang="en-US" b="1" dirty="0">
                <a:latin typeface="宋体" charset="-122"/>
              </a:rPr>
              <a:t>需回填</a:t>
            </a:r>
            <a:r>
              <a:rPr lang="en-US" altLang="zh-CN" b="1" dirty="0" err="1">
                <a:latin typeface="宋体" charset="-122"/>
              </a:rPr>
              <a:t>S.next</a:t>
            </a:r>
            <a:r>
              <a:rPr lang="zh-CN" altLang="en-US" b="1" dirty="0">
                <a:latin typeface="宋体" charset="-122"/>
              </a:rPr>
              <a:t>的链</a:t>
            </a:r>
          </a:p>
          <a:p>
            <a:pPr>
              <a:lnSpc>
                <a:spcPct val="90000"/>
              </a:lnSpc>
            </a:pPr>
            <a:r>
              <a:rPr lang="en-US" altLang="zh-CN" b="1" dirty="0" err="1">
                <a:latin typeface="宋体" charset="-122"/>
              </a:rPr>
              <a:t>S→begin</a:t>
            </a:r>
            <a:r>
              <a:rPr lang="en-US" altLang="zh-CN" b="1" dirty="0">
                <a:latin typeface="宋体" charset="-122"/>
              </a:rPr>
              <a:t> L end</a:t>
            </a:r>
          </a:p>
          <a:p>
            <a:pPr lvl="1">
              <a:lnSpc>
                <a:spcPct val="90000"/>
              </a:lnSpc>
            </a:pPr>
            <a:r>
              <a:rPr lang="en-US" altLang="zh-CN" b="1" dirty="0" err="1">
                <a:latin typeface="宋体" charset="-122"/>
              </a:rPr>
              <a:t>L.nextlist</a:t>
            </a:r>
            <a:r>
              <a:rPr lang="en-US" altLang="zh-CN" b="1" dirty="0">
                <a:latin typeface="宋体" charset="-122"/>
              </a:rPr>
              <a:t>  </a:t>
            </a:r>
            <a:r>
              <a:rPr lang="zh-CN" altLang="en-US" b="1" dirty="0">
                <a:latin typeface="宋体" charset="-122"/>
              </a:rPr>
              <a:t>需回填</a:t>
            </a:r>
            <a:r>
              <a:rPr lang="en-US" altLang="zh-CN" b="1" dirty="0" err="1">
                <a:latin typeface="宋体" charset="-122"/>
              </a:rPr>
              <a:t>S.next</a:t>
            </a:r>
            <a:r>
              <a:rPr lang="zh-CN" altLang="en-US" b="1" dirty="0">
                <a:latin typeface="宋体" charset="-122"/>
              </a:rPr>
              <a:t>的链</a:t>
            </a:r>
          </a:p>
          <a:p>
            <a:pPr>
              <a:lnSpc>
                <a:spcPct val="90000"/>
              </a:lnSpc>
            </a:pPr>
            <a:r>
              <a:rPr lang="zh-CN" altLang="en-US" b="1" dirty="0">
                <a:latin typeface="宋体" charset="-122"/>
              </a:rPr>
              <a:t>变量和函数</a:t>
            </a:r>
          </a:p>
          <a:p>
            <a:pPr lvl="1">
              <a:lnSpc>
                <a:spcPct val="90000"/>
              </a:lnSpc>
            </a:pPr>
            <a:r>
              <a:rPr lang="en-US" altLang="zh-CN" b="1" dirty="0" err="1">
                <a:latin typeface="宋体" charset="-122"/>
              </a:rPr>
              <a:t>nextquad</a:t>
            </a:r>
            <a:r>
              <a:rPr lang="en-US" altLang="zh-CN" b="1" dirty="0">
                <a:latin typeface="宋体" charset="-122"/>
              </a:rPr>
              <a:t> </a:t>
            </a:r>
            <a:r>
              <a:rPr lang="en-US" altLang="zh-CN" b="1" dirty="0" err="1">
                <a:latin typeface="宋体" charset="-122"/>
              </a:rPr>
              <a:t>makelist</a:t>
            </a:r>
            <a:r>
              <a:rPr lang="en-US" altLang="zh-CN" b="1" dirty="0">
                <a:latin typeface="宋体" charset="-122"/>
              </a:rPr>
              <a:t> merge </a:t>
            </a:r>
            <a:r>
              <a:rPr lang="en-US" altLang="zh-CN" b="1" dirty="0" err="1">
                <a:latin typeface="宋体" charset="-122"/>
              </a:rPr>
              <a:t>backpatch</a:t>
            </a:r>
            <a:endParaRPr lang="en-US" altLang="zh-CN" b="1" dirty="0">
              <a:latin typeface="宋体" charset="-122"/>
            </a:endParaRPr>
          </a:p>
        </p:txBody>
      </p:sp>
      <p:sp>
        <p:nvSpPr>
          <p:cNvPr id="2" name="灯片编号占位符 1">
            <a:extLst>
              <a:ext uri="{FF2B5EF4-FFF2-40B4-BE49-F238E27FC236}">
                <a16:creationId xmlns:a16="http://schemas.microsoft.com/office/drawing/2014/main" id="{07B5AE84-DEEC-4DC0-BA72-FAF7AAD69697}"/>
              </a:ext>
            </a:extLst>
          </p:cNvPr>
          <p:cNvSpPr>
            <a:spLocks noGrp="1"/>
          </p:cNvSpPr>
          <p:nvPr>
            <p:ph type="sldNum" sz="quarter" idx="4"/>
          </p:nvPr>
        </p:nvSpPr>
        <p:spPr/>
        <p:txBody>
          <a:bodyPr/>
          <a:lstStyle/>
          <a:p>
            <a:fld id="{565CE74E-AB26-4998-AD42-012C4C1AD076}" type="slidenum">
              <a:rPr lang="zh-CN" altLang="en-US" smtClean="0"/>
              <a:pPr/>
              <a:t>65</a:t>
            </a:fld>
            <a:endParaRPr lang="zh-CN" altLang="en-US"/>
          </a:p>
        </p:txBody>
      </p:sp>
    </p:spTree>
    <p:extLst>
      <p:ext uri="{BB962C8B-B14F-4D97-AF65-F5344CB8AC3E}">
        <p14:creationId xmlns:p14="http://schemas.microsoft.com/office/powerpoint/2010/main" val="1710186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Bottom)">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slide(fromBottom)">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slide(fromBottom)">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slide(fromBottom)">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slide(fromBottom)">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slide(fromBottom)">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slide(fromBottom)">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slide(fromBottom)">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slide(fromBottom)">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slide(fromBottom)">
                                      <p:cBhvr>
                                        <p:cTn id="52" dur="5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slide(fromBottom)">
                                      <p:cBhvr>
                                        <p:cTn id="57"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en-US" altLang="zh-CN" dirty="0" err="1">
                <a:solidFill>
                  <a:srgbClr val="FF0000"/>
                </a:solidFill>
              </a:rPr>
              <a:t>if_then_else</a:t>
            </a:r>
            <a:endParaRPr lang="zh-CN" altLang="en-US" dirty="0">
              <a:solidFill>
                <a:srgbClr val="FF0000"/>
              </a:solidFill>
            </a:endParaRPr>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控制语句</a:t>
            </a:r>
            <a:endParaRPr lang="zh-CN" altLang="en-US" dirty="0"/>
          </a:p>
        </p:txBody>
      </p:sp>
      <p:sp>
        <p:nvSpPr>
          <p:cNvPr id="4" name="Rectangle 11"/>
          <p:cNvSpPr txBox="1">
            <a:spLocks noChangeArrowheads="1"/>
          </p:cNvSpPr>
          <p:nvPr/>
        </p:nvSpPr>
        <p:spPr>
          <a:xfrm>
            <a:off x="161925" y="1295400"/>
            <a:ext cx="4495800" cy="1828800"/>
          </a:xfrm>
          <a:prstGeom prst="rect">
            <a:avLst/>
          </a:prstGeom>
          <a:noFill/>
          <a:ln/>
        </p:spPr>
        <p:txBody>
          <a:bodyPr vert="horz" lIns="92075" tIns="46038" rIns="92075" bIns="46038" rtlCol="0">
            <a:normAutofit/>
          </a:bodyPr>
          <a:lst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a:solidFill>
                  <a:srgbClr val="0206AD"/>
                </a:solidFill>
                <a:uFillTx/>
                <a:latin typeface="Times New Roman" panose="02020603050405020304" charset="0"/>
                <a:ea typeface="黑体" panose="02010609060101010101" charset="-122"/>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a:solidFill>
                  <a:srgbClr val="0066FF"/>
                </a:solidFill>
                <a:uFillTx/>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a:solidFill>
                  <a:srgbClr val="0206AD"/>
                </a:solidFill>
                <a:uFillTx/>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buClr>
                <a:srgbClr val="0000FF"/>
              </a:buClr>
              <a:buFont typeface="Wingdings" pitchFamily="2" charset="2"/>
              <a:buBlip>
                <a:blip r:embed="rId2"/>
              </a:buBlip>
            </a:pPr>
            <a:r>
              <a:rPr lang="zh-CN" altLang="en-US" sz="2800" dirty="0">
                <a:latin typeface="宋体" charset="-122"/>
              </a:rPr>
              <a:t>语法 </a:t>
            </a:r>
            <a:r>
              <a:rPr lang="en-US" altLang="zh-CN" sz="2800" dirty="0" err="1">
                <a:latin typeface="宋体" charset="-122"/>
              </a:rPr>
              <a:t>S→if</a:t>
            </a:r>
            <a:r>
              <a:rPr lang="en-US" altLang="zh-CN" sz="2800" dirty="0">
                <a:latin typeface="宋体" charset="-122"/>
              </a:rPr>
              <a:t> E then S1 </a:t>
            </a:r>
          </a:p>
          <a:p>
            <a:pPr>
              <a:spcBef>
                <a:spcPct val="0"/>
              </a:spcBef>
              <a:buFontTx/>
              <a:buNone/>
            </a:pPr>
            <a:r>
              <a:rPr lang="en-US" altLang="zh-CN" sz="2800" dirty="0">
                <a:latin typeface="宋体" charset="-122"/>
              </a:rPr>
              <a:t>               else S2 </a:t>
            </a:r>
          </a:p>
          <a:p>
            <a:pPr>
              <a:spcBef>
                <a:spcPct val="0"/>
              </a:spcBef>
              <a:buClr>
                <a:srgbClr val="0000FF"/>
              </a:buClr>
              <a:buFont typeface="Wingdings" pitchFamily="2" charset="2"/>
              <a:buBlip>
                <a:blip r:embed="rId2"/>
              </a:buBlip>
            </a:pPr>
            <a:r>
              <a:rPr lang="zh-CN" altLang="en-US" sz="2800" dirty="0">
                <a:latin typeface="宋体" charset="-122"/>
              </a:rPr>
              <a:t>语义 如果</a:t>
            </a:r>
            <a:r>
              <a:rPr lang="en-US" altLang="zh-CN" sz="2800" dirty="0">
                <a:latin typeface="宋体" charset="-122"/>
              </a:rPr>
              <a:t>E</a:t>
            </a:r>
            <a:r>
              <a:rPr lang="zh-CN" altLang="en-US" sz="2800" dirty="0">
                <a:latin typeface="宋体" charset="-122"/>
              </a:rPr>
              <a:t>的值为</a:t>
            </a:r>
            <a:r>
              <a:rPr lang="en-US" altLang="zh-CN" sz="2800" dirty="0">
                <a:latin typeface="宋体" charset="-122"/>
              </a:rPr>
              <a:t>true</a:t>
            </a:r>
            <a:r>
              <a:rPr lang="zh-CN" altLang="en-US" sz="2800" dirty="0">
                <a:latin typeface="宋体" charset="-122"/>
              </a:rPr>
              <a:t>，那么执行</a:t>
            </a:r>
            <a:r>
              <a:rPr lang="en-US" altLang="zh-CN" sz="2800" dirty="0">
                <a:latin typeface="宋体" charset="-122"/>
              </a:rPr>
              <a:t>S1</a:t>
            </a:r>
            <a:r>
              <a:rPr lang="zh-CN" altLang="en-US" sz="2800" dirty="0">
                <a:latin typeface="宋体" charset="-122"/>
              </a:rPr>
              <a:t>；否则执行</a:t>
            </a:r>
            <a:r>
              <a:rPr lang="en-US" altLang="zh-CN" sz="2800" dirty="0">
                <a:latin typeface="宋体" charset="-122"/>
              </a:rPr>
              <a:t>S2     </a:t>
            </a:r>
          </a:p>
        </p:txBody>
      </p:sp>
      <p:sp>
        <p:nvSpPr>
          <p:cNvPr id="5" name="Rectangle 12"/>
          <p:cNvSpPr>
            <a:spLocks noChangeArrowheads="1"/>
          </p:cNvSpPr>
          <p:nvPr/>
        </p:nvSpPr>
        <p:spPr bwMode="auto">
          <a:xfrm>
            <a:off x="4622800" y="1143000"/>
            <a:ext cx="44958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20000"/>
              </a:spcBef>
              <a:buClr>
                <a:srgbClr val="0000FF"/>
              </a:buClr>
              <a:buFont typeface="Wingdings" pitchFamily="2" charset="2"/>
              <a:buBlip>
                <a:blip r:embed="rId2"/>
              </a:buBlip>
            </a:pPr>
            <a:r>
              <a:rPr kumimoji="1" lang="zh-CN" altLang="en-US" sz="2800">
                <a:latin typeface="宋体" charset="-122"/>
              </a:rPr>
              <a:t>举例</a:t>
            </a:r>
            <a:r>
              <a:rPr kumimoji="1" lang="en-US" altLang="zh-CN" sz="2800">
                <a:latin typeface="宋体" charset="-122"/>
              </a:rPr>
              <a:t>if c&lt;d then x:=y+z</a:t>
            </a:r>
          </a:p>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             else x:=y-z</a:t>
            </a:r>
          </a:p>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 </a:t>
            </a:r>
            <a:r>
              <a:rPr kumimoji="1" lang="zh-CN" altLang="en-US" sz="2800">
                <a:latin typeface="宋体" charset="-122"/>
              </a:rPr>
              <a:t>翻译成四元式序列为： </a:t>
            </a:r>
          </a:p>
        </p:txBody>
      </p:sp>
      <p:sp>
        <p:nvSpPr>
          <p:cNvPr id="6" name="Line 13"/>
          <p:cNvSpPr>
            <a:spLocks noChangeShapeType="1"/>
          </p:cNvSpPr>
          <p:nvPr/>
        </p:nvSpPr>
        <p:spPr bwMode="auto">
          <a:xfrm>
            <a:off x="6299200" y="1600200"/>
            <a:ext cx="609600" cy="0"/>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 name="Group 14"/>
          <p:cNvGrpSpPr>
            <a:grpSpLocks/>
          </p:cNvGrpSpPr>
          <p:nvPr/>
        </p:nvGrpSpPr>
        <p:grpSpPr bwMode="auto">
          <a:xfrm>
            <a:off x="236537" y="2971800"/>
            <a:ext cx="3929063" cy="3435350"/>
            <a:chOff x="21" y="1584"/>
            <a:chExt cx="2475" cy="2164"/>
          </a:xfrm>
        </p:grpSpPr>
        <p:sp>
          <p:nvSpPr>
            <p:cNvPr id="8" name="Rectangle 15"/>
            <p:cNvSpPr>
              <a:spLocks noChangeArrowheads="1"/>
            </p:cNvSpPr>
            <p:nvPr/>
          </p:nvSpPr>
          <p:spPr bwMode="auto">
            <a:xfrm>
              <a:off x="695" y="1584"/>
              <a:ext cx="894" cy="617"/>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latin typeface="Times New Roman" pitchFamily="18" charset="0"/>
                </a:rPr>
                <a:t>E.code</a:t>
              </a:r>
            </a:p>
          </p:txBody>
        </p:sp>
        <p:sp>
          <p:nvSpPr>
            <p:cNvPr id="9" name="Rectangle 16"/>
            <p:cNvSpPr>
              <a:spLocks noChangeArrowheads="1"/>
            </p:cNvSpPr>
            <p:nvPr/>
          </p:nvSpPr>
          <p:spPr bwMode="auto">
            <a:xfrm>
              <a:off x="695" y="2201"/>
              <a:ext cx="894" cy="464"/>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latin typeface="Times New Roman" pitchFamily="18" charset="0"/>
                </a:rPr>
                <a:t>S1.code</a:t>
              </a:r>
            </a:p>
          </p:txBody>
        </p:sp>
        <p:sp>
          <p:nvSpPr>
            <p:cNvPr id="10" name="Text Box 17"/>
            <p:cNvSpPr txBox="1">
              <a:spLocks noChangeArrowheads="1"/>
            </p:cNvSpPr>
            <p:nvPr/>
          </p:nvSpPr>
          <p:spPr bwMode="auto">
            <a:xfrm>
              <a:off x="61" y="2125"/>
              <a:ext cx="669"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itchFamily="18" charset="0"/>
                </a:rPr>
                <a:t>E.true:</a:t>
              </a:r>
            </a:p>
          </p:txBody>
        </p:sp>
        <p:sp>
          <p:nvSpPr>
            <p:cNvPr id="11" name="Rectangle 18"/>
            <p:cNvSpPr>
              <a:spLocks noChangeArrowheads="1"/>
            </p:cNvSpPr>
            <p:nvPr/>
          </p:nvSpPr>
          <p:spPr bwMode="auto">
            <a:xfrm>
              <a:off x="695" y="2975"/>
              <a:ext cx="894" cy="412"/>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latin typeface="Times New Roman" pitchFamily="18" charset="0"/>
                </a:rPr>
                <a:t>S2.code</a:t>
              </a:r>
            </a:p>
          </p:txBody>
        </p:sp>
        <p:sp>
          <p:nvSpPr>
            <p:cNvPr id="12" name="Text Box 19"/>
            <p:cNvSpPr txBox="1">
              <a:spLocks noChangeArrowheads="1"/>
            </p:cNvSpPr>
            <p:nvPr/>
          </p:nvSpPr>
          <p:spPr bwMode="auto">
            <a:xfrm>
              <a:off x="21" y="2893"/>
              <a:ext cx="669"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itchFamily="18" charset="0"/>
                </a:rPr>
                <a:t>E.false:</a:t>
              </a:r>
            </a:p>
          </p:txBody>
        </p:sp>
        <p:sp>
          <p:nvSpPr>
            <p:cNvPr id="13" name="Rectangle 20"/>
            <p:cNvSpPr>
              <a:spLocks noChangeArrowheads="1"/>
            </p:cNvSpPr>
            <p:nvPr/>
          </p:nvSpPr>
          <p:spPr bwMode="auto">
            <a:xfrm>
              <a:off x="695" y="2665"/>
              <a:ext cx="894" cy="310"/>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latin typeface="Times New Roman" pitchFamily="18" charset="0"/>
                </a:rPr>
                <a:t>goto S.next</a:t>
              </a:r>
            </a:p>
          </p:txBody>
        </p:sp>
        <p:sp>
          <p:nvSpPr>
            <p:cNvPr id="14" name="Rectangle 21"/>
            <p:cNvSpPr>
              <a:spLocks noChangeArrowheads="1"/>
            </p:cNvSpPr>
            <p:nvPr/>
          </p:nvSpPr>
          <p:spPr bwMode="auto">
            <a:xfrm>
              <a:off x="695" y="3387"/>
              <a:ext cx="894" cy="361"/>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a:latin typeface="Times New Roman" pitchFamily="18" charset="0"/>
                </a:rPr>
                <a:t>...</a:t>
              </a:r>
            </a:p>
          </p:txBody>
        </p:sp>
        <p:sp>
          <p:nvSpPr>
            <p:cNvPr id="15" name="Text Box 22"/>
            <p:cNvSpPr txBox="1">
              <a:spLocks noChangeArrowheads="1"/>
            </p:cNvSpPr>
            <p:nvPr/>
          </p:nvSpPr>
          <p:spPr bwMode="auto">
            <a:xfrm>
              <a:off x="61" y="3325"/>
              <a:ext cx="669"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itchFamily="18" charset="0"/>
                </a:rPr>
                <a:t>S.next:</a:t>
              </a:r>
            </a:p>
          </p:txBody>
        </p:sp>
        <p:sp>
          <p:nvSpPr>
            <p:cNvPr id="16" name="Text Box 23"/>
            <p:cNvSpPr txBox="1">
              <a:spLocks noChangeArrowheads="1"/>
            </p:cNvSpPr>
            <p:nvPr/>
          </p:nvSpPr>
          <p:spPr bwMode="auto">
            <a:xfrm>
              <a:off x="1612" y="1684"/>
              <a:ext cx="884"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pPr>
              <a:r>
                <a:rPr kumimoji="1" lang="en-US" altLang="zh-CN" sz="2400">
                  <a:latin typeface="Times New Roman" pitchFamily="18" charset="0"/>
                </a:rPr>
                <a:t>to E.true</a:t>
              </a:r>
            </a:p>
          </p:txBody>
        </p:sp>
        <p:sp>
          <p:nvSpPr>
            <p:cNvPr id="17" name="Text Box 24"/>
            <p:cNvSpPr txBox="1">
              <a:spLocks noChangeArrowheads="1"/>
            </p:cNvSpPr>
            <p:nvPr/>
          </p:nvSpPr>
          <p:spPr bwMode="auto">
            <a:xfrm>
              <a:off x="1612" y="2104"/>
              <a:ext cx="884"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pPr>
              <a:r>
                <a:rPr kumimoji="1" lang="en-US" altLang="zh-CN" sz="2400">
                  <a:latin typeface="Times New Roman" pitchFamily="18" charset="0"/>
                </a:rPr>
                <a:t>to E.false</a:t>
              </a:r>
            </a:p>
          </p:txBody>
        </p:sp>
        <p:sp>
          <p:nvSpPr>
            <p:cNvPr id="18" name="Line 25"/>
            <p:cNvSpPr>
              <a:spLocks noChangeShapeType="1"/>
            </p:cNvSpPr>
            <p:nvPr/>
          </p:nvSpPr>
          <p:spPr bwMode="auto">
            <a:xfrm>
              <a:off x="1509" y="1684"/>
              <a:ext cx="304" cy="0"/>
            </a:xfrm>
            <a:prstGeom prst="line">
              <a:avLst/>
            </a:prstGeom>
            <a:noFill/>
            <a:ln w="3810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26"/>
            <p:cNvSpPr>
              <a:spLocks noChangeShapeType="1"/>
            </p:cNvSpPr>
            <p:nvPr/>
          </p:nvSpPr>
          <p:spPr bwMode="auto">
            <a:xfrm>
              <a:off x="1509" y="2098"/>
              <a:ext cx="304" cy="0"/>
            </a:xfrm>
            <a:prstGeom prst="line">
              <a:avLst/>
            </a:prstGeom>
            <a:noFill/>
            <a:ln w="3810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20" name="AutoShape 27"/>
            <p:cNvCxnSpPr>
              <a:cxnSpLocks noChangeShapeType="1"/>
              <a:stCxn id="13" idx="3"/>
              <a:endCxn id="14" idx="3"/>
            </p:cNvCxnSpPr>
            <p:nvPr/>
          </p:nvCxnSpPr>
          <p:spPr bwMode="auto">
            <a:xfrm>
              <a:off x="1601" y="2820"/>
              <a:ext cx="1" cy="748"/>
            </a:xfrm>
            <a:prstGeom prst="bentConnector3">
              <a:avLst>
                <a:gd name="adj1" fmla="val 13200000"/>
              </a:avLst>
            </a:prstGeom>
            <a:noFill/>
            <a:ln w="38100">
              <a:solidFill>
                <a:srgbClr val="FF0066"/>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1" name="Rectangle 28"/>
          <p:cNvSpPr>
            <a:spLocks noChangeArrowheads="1"/>
          </p:cNvSpPr>
          <p:nvPr/>
        </p:nvSpPr>
        <p:spPr bwMode="auto">
          <a:xfrm>
            <a:off x="5156200" y="2895600"/>
            <a:ext cx="3276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100 (j&lt;,c,d,   0)</a:t>
            </a:r>
          </a:p>
        </p:txBody>
      </p:sp>
      <p:sp>
        <p:nvSpPr>
          <p:cNvPr id="22" name="Rectangle 29"/>
          <p:cNvSpPr>
            <a:spLocks noChangeArrowheads="1"/>
          </p:cNvSpPr>
          <p:nvPr/>
        </p:nvSpPr>
        <p:spPr bwMode="auto">
          <a:xfrm>
            <a:off x="5156200" y="3429000"/>
            <a:ext cx="3276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101 (j,_,_,    0)</a:t>
            </a:r>
          </a:p>
        </p:txBody>
      </p:sp>
      <p:grpSp>
        <p:nvGrpSpPr>
          <p:cNvPr id="23" name="Group 30"/>
          <p:cNvGrpSpPr>
            <a:grpSpLocks/>
          </p:cNvGrpSpPr>
          <p:nvPr/>
        </p:nvGrpSpPr>
        <p:grpSpPr bwMode="auto">
          <a:xfrm>
            <a:off x="8050212" y="2667000"/>
            <a:ext cx="534988" cy="228600"/>
            <a:chOff x="2976" y="624"/>
            <a:chExt cx="768" cy="144"/>
          </a:xfrm>
        </p:grpSpPr>
        <p:sp>
          <p:nvSpPr>
            <p:cNvPr id="24" name="Line 31"/>
            <p:cNvSpPr>
              <a:spLocks noChangeShapeType="1"/>
            </p:cNvSpPr>
            <p:nvPr/>
          </p:nvSpPr>
          <p:spPr bwMode="auto">
            <a:xfrm flipV="1">
              <a:off x="2976" y="624"/>
              <a:ext cx="0" cy="144"/>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32"/>
            <p:cNvSpPr>
              <a:spLocks noChangeShapeType="1"/>
            </p:cNvSpPr>
            <p:nvPr/>
          </p:nvSpPr>
          <p:spPr bwMode="auto">
            <a:xfrm>
              <a:off x="2976" y="624"/>
              <a:ext cx="768" cy="0"/>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 name="Rectangle 33"/>
          <p:cNvSpPr>
            <a:spLocks noChangeArrowheads="1"/>
          </p:cNvSpPr>
          <p:nvPr/>
        </p:nvSpPr>
        <p:spPr bwMode="auto">
          <a:xfrm>
            <a:off x="8116887" y="2605088"/>
            <a:ext cx="12303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Times New Roman" pitchFamily="18" charset="0"/>
              </a:rPr>
              <a:t> E.true</a:t>
            </a:r>
          </a:p>
        </p:txBody>
      </p:sp>
      <p:grpSp>
        <p:nvGrpSpPr>
          <p:cNvPr id="27" name="Group 34"/>
          <p:cNvGrpSpPr>
            <a:grpSpLocks/>
          </p:cNvGrpSpPr>
          <p:nvPr/>
        </p:nvGrpSpPr>
        <p:grpSpPr bwMode="auto">
          <a:xfrm>
            <a:off x="8064500" y="3352800"/>
            <a:ext cx="534987" cy="228600"/>
            <a:chOff x="2976" y="624"/>
            <a:chExt cx="768" cy="144"/>
          </a:xfrm>
        </p:grpSpPr>
        <p:sp>
          <p:nvSpPr>
            <p:cNvPr id="28" name="Line 35"/>
            <p:cNvSpPr>
              <a:spLocks noChangeShapeType="1"/>
            </p:cNvSpPr>
            <p:nvPr/>
          </p:nvSpPr>
          <p:spPr bwMode="auto">
            <a:xfrm flipV="1">
              <a:off x="2976" y="624"/>
              <a:ext cx="0" cy="144"/>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36"/>
            <p:cNvSpPr>
              <a:spLocks noChangeShapeType="1"/>
            </p:cNvSpPr>
            <p:nvPr/>
          </p:nvSpPr>
          <p:spPr bwMode="auto">
            <a:xfrm>
              <a:off x="2976" y="624"/>
              <a:ext cx="768" cy="0"/>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0" name="Rectangle 37"/>
          <p:cNvSpPr>
            <a:spLocks noChangeArrowheads="1"/>
          </p:cNvSpPr>
          <p:nvPr/>
        </p:nvSpPr>
        <p:spPr bwMode="auto">
          <a:xfrm>
            <a:off x="8051800" y="3290888"/>
            <a:ext cx="1289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Times New Roman" pitchFamily="18" charset="0"/>
              </a:rPr>
              <a:t> E.false</a:t>
            </a:r>
          </a:p>
        </p:txBody>
      </p:sp>
      <p:sp>
        <p:nvSpPr>
          <p:cNvPr id="31" name="Rectangle 38"/>
          <p:cNvSpPr>
            <a:spLocks noChangeArrowheads="1"/>
          </p:cNvSpPr>
          <p:nvPr/>
        </p:nvSpPr>
        <p:spPr bwMode="auto">
          <a:xfrm>
            <a:off x="4311650" y="3382963"/>
            <a:ext cx="6921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200">
                <a:latin typeface="Times New Roman" pitchFamily="18" charset="0"/>
              </a:rPr>
              <a:t>E.f</a:t>
            </a:r>
          </a:p>
        </p:txBody>
      </p:sp>
      <p:sp>
        <p:nvSpPr>
          <p:cNvPr id="32" name="Line 39"/>
          <p:cNvSpPr>
            <a:spLocks noChangeShapeType="1"/>
          </p:cNvSpPr>
          <p:nvPr/>
        </p:nvSpPr>
        <p:spPr bwMode="auto">
          <a:xfrm rot="1373928">
            <a:off x="4854575" y="3076575"/>
            <a:ext cx="381000" cy="47625"/>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Rectangle 40"/>
          <p:cNvSpPr>
            <a:spLocks noChangeArrowheads="1"/>
          </p:cNvSpPr>
          <p:nvPr/>
        </p:nvSpPr>
        <p:spPr bwMode="auto">
          <a:xfrm>
            <a:off x="4235450" y="2620963"/>
            <a:ext cx="6921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3200">
                <a:latin typeface="Times New Roman" pitchFamily="18" charset="0"/>
              </a:rPr>
              <a:t>E.t</a:t>
            </a:r>
          </a:p>
        </p:txBody>
      </p:sp>
      <p:sp>
        <p:nvSpPr>
          <p:cNvPr id="34" name="Line 41"/>
          <p:cNvSpPr>
            <a:spLocks noChangeShapeType="1"/>
          </p:cNvSpPr>
          <p:nvPr/>
        </p:nvSpPr>
        <p:spPr bwMode="auto">
          <a:xfrm rot="1373928" flipV="1">
            <a:off x="4937125" y="3673475"/>
            <a:ext cx="261937" cy="87313"/>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42"/>
          <p:cNvSpPr>
            <a:spLocks noChangeShapeType="1"/>
          </p:cNvSpPr>
          <p:nvPr/>
        </p:nvSpPr>
        <p:spPr bwMode="auto">
          <a:xfrm>
            <a:off x="7899400" y="1600200"/>
            <a:ext cx="1143000" cy="0"/>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Rectangle 43"/>
          <p:cNvSpPr>
            <a:spLocks noChangeArrowheads="1"/>
          </p:cNvSpPr>
          <p:nvPr/>
        </p:nvSpPr>
        <p:spPr bwMode="auto">
          <a:xfrm>
            <a:off x="5156200" y="3962400"/>
            <a:ext cx="3276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102 (+,y,z,T1)</a:t>
            </a:r>
          </a:p>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103 (:=,T1,_,x)</a:t>
            </a:r>
          </a:p>
        </p:txBody>
      </p:sp>
      <p:sp>
        <p:nvSpPr>
          <p:cNvPr id="37" name="Line 44"/>
          <p:cNvSpPr>
            <a:spLocks noChangeShapeType="1"/>
          </p:cNvSpPr>
          <p:nvPr/>
        </p:nvSpPr>
        <p:spPr bwMode="auto">
          <a:xfrm>
            <a:off x="4775200" y="4267200"/>
            <a:ext cx="381000" cy="0"/>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Rectangle 45"/>
          <p:cNvSpPr>
            <a:spLocks noChangeArrowheads="1"/>
          </p:cNvSpPr>
          <p:nvPr/>
        </p:nvSpPr>
        <p:spPr bwMode="auto">
          <a:xfrm>
            <a:off x="3849687" y="4129088"/>
            <a:ext cx="12303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Times New Roman" pitchFamily="18" charset="0"/>
              </a:rPr>
              <a:t> E.true</a:t>
            </a:r>
          </a:p>
        </p:txBody>
      </p:sp>
      <p:sp>
        <p:nvSpPr>
          <p:cNvPr id="39" name="Line 46"/>
          <p:cNvSpPr>
            <a:spLocks noChangeShapeType="1"/>
          </p:cNvSpPr>
          <p:nvPr/>
        </p:nvSpPr>
        <p:spPr bwMode="auto">
          <a:xfrm>
            <a:off x="7899400" y="3048000"/>
            <a:ext cx="304800" cy="152400"/>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Rectangle 47"/>
          <p:cNvSpPr>
            <a:spLocks noChangeArrowheads="1"/>
          </p:cNvSpPr>
          <p:nvPr/>
        </p:nvSpPr>
        <p:spPr bwMode="auto">
          <a:xfrm>
            <a:off x="7253287" y="2895600"/>
            <a:ext cx="7223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宋体" charset="-122"/>
              </a:rPr>
              <a:t>102</a:t>
            </a:r>
          </a:p>
        </p:txBody>
      </p:sp>
      <p:sp>
        <p:nvSpPr>
          <p:cNvPr id="41" name="Rectangle 48"/>
          <p:cNvSpPr>
            <a:spLocks noChangeArrowheads="1"/>
          </p:cNvSpPr>
          <p:nvPr/>
        </p:nvSpPr>
        <p:spPr bwMode="auto">
          <a:xfrm>
            <a:off x="5156200" y="4876800"/>
            <a:ext cx="3276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104 (j,_,_,    0)</a:t>
            </a:r>
          </a:p>
        </p:txBody>
      </p:sp>
      <p:grpSp>
        <p:nvGrpSpPr>
          <p:cNvPr id="42" name="Group 49"/>
          <p:cNvGrpSpPr>
            <a:grpSpLocks/>
          </p:cNvGrpSpPr>
          <p:nvPr/>
        </p:nvGrpSpPr>
        <p:grpSpPr bwMode="auto">
          <a:xfrm>
            <a:off x="8051800" y="4648200"/>
            <a:ext cx="534987" cy="228600"/>
            <a:chOff x="2976" y="624"/>
            <a:chExt cx="768" cy="144"/>
          </a:xfrm>
        </p:grpSpPr>
        <p:sp>
          <p:nvSpPr>
            <p:cNvPr id="43" name="Line 50"/>
            <p:cNvSpPr>
              <a:spLocks noChangeShapeType="1"/>
            </p:cNvSpPr>
            <p:nvPr/>
          </p:nvSpPr>
          <p:spPr bwMode="auto">
            <a:xfrm flipV="1">
              <a:off x="2976" y="624"/>
              <a:ext cx="0" cy="144"/>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51"/>
            <p:cNvSpPr>
              <a:spLocks noChangeShapeType="1"/>
            </p:cNvSpPr>
            <p:nvPr/>
          </p:nvSpPr>
          <p:spPr bwMode="auto">
            <a:xfrm>
              <a:off x="2976" y="624"/>
              <a:ext cx="768" cy="0"/>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5" name="Rectangle 52"/>
          <p:cNvSpPr>
            <a:spLocks noChangeArrowheads="1"/>
          </p:cNvSpPr>
          <p:nvPr/>
        </p:nvSpPr>
        <p:spPr bwMode="auto">
          <a:xfrm>
            <a:off x="8124825" y="4648200"/>
            <a:ext cx="12128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Times New Roman" pitchFamily="18" charset="0"/>
              </a:rPr>
              <a:t> S.next</a:t>
            </a:r>
          </a:p>
        </p:txBody>
      </p:sp>
      <p:sp>
        <p:nvSpPr>
          <p:cNvPr id="46" name="Rectangle 53"/>
          <p:cNvSpPr>
            <a:spLocks noChangeArrowheads="1"/>
          </p:cNvSpPr>
          <p:nvPr/>
        </p:nvSpPr>
        <p:spPr bwMode="auto">
          <a:xfrm>
            <a:off x="5156200" y="5334000"/>
            <a:ext cx="32766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105 (-,y,z,T2)</a:t>
            </a:r>
          </a:p>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106 (:=,T2,_,x)</a:t>
            </a:r>
          </a:p>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107</a:t>
            </a:r>
          </a:p>
        </p:txBody>
      </p:sp>
      <p:sp>
        <p:nvSpPr>
          <p:cNvPr id="47" name="Line 54"/>
          <p:cNvSpPr>
            <a:spLocks noChangeShapeType="1"/>
          </p:cNvSpPr>
          <p:nvPr/>
        </p:nvSpPr>
        <p:spPr bwMode="auto">
          <a:xfrm>
            <a:off x="4775200" y="5562600"/>
            <a:ext cx="381000" cy="0"/>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Rectangle 55"/>
          <p:cNvSpPr>
            <a:spLocks noChangeArrowheads="1"/>
          </p:cNvSpPr>
          <p:nvPr/>
        </p:nvSpPr>
        <p:spPr bwMode="auto">
          <a:xfrm>
            <a:off x="3867150" y="5500688"/>
            <a:ext cx="1289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Times New Roman" pitchFamily="18" charset="0"/>
              </a:rPr>
              <a:t> E.false</a:t>
            </a:r>
          </a:p>
        </p:txBody>
      </p:sp>
      <p:sp>
        <p:nvSpPr>
          <p:cNvPr id="49" name="Line 56"/>
          <p:cNvSpPr>
            <a:spLocks noChangeShapeType="1"/>
          </p:cNvSpPr>
          <p:nvPr/>
        </p:nvSpPr>
        <p:spPr bwMode="auto">
          <a:xfrm>
            <a:off x="7899400" y="3581400"/>
            <a:ext cx="304800" cy="152400"/>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Rectangle 57"/>
          <p:cNvSpPr>
            <a:spLocks noChangeArrowheads="1"/>
          </p:cNvSpPr>
          <p:nvPr/>
        </p:nvSpPr>
        <p:spPr bwMode="auto">
          <a:xfrm>
            <a:off x="7215187" y="3429000"/>
            <a:ext cx="7604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2800">
                <a:latin typeface="宋体" charset="-122"/>
              </a:rPr>
              <a:t>105</a:t>
            </a:r>
          </a:p>
        </p:txBody>
      </p:sp>
      <p:sp>
        <p:nvSpPr>
          <p:cNvPr id="51" name="Line 58"/>
          <p:cNvSpPr>
            <a:spLocks noChangeShapeType="1"/>
          </p:cNvSpPr>
          <p:nvPr/>
        </p:nvSpPr>
        <p:spPr bwMode="auto">
          <a:xfrm>
            <a:off x="4851400" y="6477000"/>
            <a:ext cx="381000" cy="0"/>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Rectangle 59"/>
          <p:cNvSpPr>
            <a:spLocks noChangeArrowheads="1"/>
          </p:cNvSpPr>
          <p:nvPr/>
        </p:nvSpPr>
        <p:spPr bwMode="auto">
          <a:xfrm>
            <a:off x="3860800" y="6415088"/>
            <a:ext cx="12128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Times New Roman" pitchFamily="18" charset="0"/>
              </a:rPr>
              <a:t> S.next</a:t>
            </a:r>
          </a:p>
        </p:txBody>
      </p:sp>
      <p:sp>
        <p:nvSpPr>
          <p:cNvPr id="53" name="Line 60"/>
          <p:cNvSpPr>
            <a:spLocks noChangeShapeType="1"/>
          </p:cNvSpPr>
          <p:nvPr/>
        </p:nvSpPr>
        <p:spPr bwMode="auto">
          <a:xfrm>
            <a:off x="7899400" y="5029200"/>
            <a:ext cx="304800" cy="152400"/>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Rectangle 61"/>
          <p:cNvSpPr>
            <a:spLocks noChangeArrowheads="1"/>
          </p:cNvSpPr>
          <p:nvPr/>
        </p:nvSpPr>
        <p:spPr bwMode="auto">
          <a:xfrm>
            <a:off x="7213600" y="4891088"/>
            <a:ext cx="7223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宋体" charset="-122"/>
              </a:rPr>
              <a:t>107</a:t>
            </a:r>
          </a:p>
        </p:txBody>
      </p:sp>
      <p:sp>
        <p:nvSpPr>
          <p:cNvPr id="55" name="Line 62"/>
          <p:cNvSpPr>
            <a:spLocks noChangeShapeType="1"/>
          </p:cNvSpPr>
          <p:nvPr/>
        </p:nvSpPr>
        <p:spPr bwMode="auto">
          <a:xfrm>
            <a:off x="7899400" y="2133600"/>
            <a:ext cx="1143000" cy="0"/>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灯片编号占位符 55">
            <a:extLst>
              <a:ext uri="{FF2B5EF4-FFF2-40B4-BE49-F238E27FC236}">
                <a16:creationId xmlns:a16="http://schemas.microsoft.com/office/drawing/2014/main" id="{41785205-514D-4B13-9A5F-2A169E3934FA}"/>
              </a:ext>
            </a:extLst>
          </p:cNvPr>
          <p:cNvSpPr>
            <a:spLocks noGrp="1"/>
          </p:cNvSpPr>
          <p:nvPr>
            <p:ph type="sldNum" sz="quarter" idx="4"/>
          </p:nvPr>
        </p:nvSpPr>
        <p:spPr/>
        <p:txBody>
          <a:bodyPr/>
          <a:lstStyle/>
          <a:p>
            <a:fld id="{565CE74E-AB26-4998-AD42-012C4C1AD076}" type="slidenum">
              <a:rPr lang="zh-CN" altLang="en-US" smtClean="0"/>
              <a:pPr/>
              <a:t>66</a:t>
            </a:fld>
            <a:endParaRPr lang="zh-CN" altLang="en-US"/>
          </a:p>
        </p:txBody>
      </p:sp>
    </p:spTree>
    <p:extLst>
      <p:ext uri="{BB962C8B-B14F-4D97-AF65-F5344CB8AC3E}">
        <p14:creationId xmlns:p14="http://schemas.microsoft.com/office/powerpoint/2010/main" val="290368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Bottom)">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slide(fromBottom)">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slide(fromBottom)">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slide(fromBottom)">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animEffect transition="in" filter="slide(fromBottom)">
                                      <p:cBhvr>
                                        <p:cTn id="27" dur="500"/>
                                        <p:tgtEl>
                                          <p:spTgt spid="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slide(fromBottom)">
                                      <p:cBhvr>
                                        <p:cTn id="32" dur="500"/>
                                        <p:tgtEl>
                                          <p:spTgt spid="5">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ox(in)">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17" presetClass="entr" presetSubtype="8"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500" fill="hold"/>
                                        <p:tgtEl>
                                          <p:spTgt spid="6"/>
                                        </p:tgtEl>
                                        <p:attrNameLst>
                                          <p:attrName>ppt_x</p:attrName>
                                        </p:attrNameLst>
                                      </p:cBhvr>
                                      <p:tavLst>
                                        <p:tav tm="0">
                                          <p:val>
                                            <p:strVal val="#ppt_x-#ppt_w/2"/>
                                          </p:val>
                                        </p:tav>
                                        <p:tav tm="100000">
                                          <p:val>
                                            <p:strVal val="#ppt_x"/>
                                          </p:val>
                                        </p:tav>
                                      </p:tavLst>
                                    </p:anim>
                                    <p:anim calcmode="lin" valueType="num">
                                      <p:cBhvr>
                                        <p:cTn id="43" dur="500" fill="hold"/>
                                        <p:tgtEl>
                                          <p:spTgt spid="6"/>
                                        </p:tgtEl>
                                        <p:attrNameLst>
                                          <p:attrName>ppt_y</p:attrName>
                                        </p:attrNameLst>
                                      </p:cBhvr>
                                      <p:tavLst>
                                        <p:tav tm="0">
                                          <p:val>
                                            <p:strVal val="#ppt_y"/>
                                          </p:val>
                                        </p:tav>
                                        <p:tav tm="100000">
                                          <p:val>
                                            <p:strVal val="#ppt_y"/>
                                          </p:val>
                                        </p:tav>
                                      </p:tavLst>
                                    </p:anim>
                                    <p:anim calcmode="lin" valueType="num">
                                      <p:cBhvr>
                                        <p:cTn id="44" dur="500" fill="hold"/>
                                        <p:tgtEl>
                                          <p:spTgt spid="6"/>
                                        </p:tgtEl>
                                        <p:attrNameLst>
                                          <p:attrName>ppt_w</p:attrName>
                                        </p:attrNameLst>
                                      </p:cBhvr>
                                      <p:tavLst>
                                        <p:tav tm="0">
                                          <p:val>
                                            <p:fltVal val="0"/>
                                          </p:val>
                                        </p:tav>
                                        <p:tav tm="100000">
                                          <p:val>
                                            <p:strVal val="#ppt_w"/>
                                          </p:val>
                                        </p:tav>
                                      </p:tavLst>
                                    </p:anim>
                                    <p:anim calcmode="lin" valueType="num">
                                      <p:cBhvr>
                                        <p:cTn id="45"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12" presetClass="entr" presetSubtype="4" fill="hold" grpId="0" nodeType="clickEffect">
                                  <p:stCondLst>
                                    <p:cond delay="0"/>
                                  </p:stCondLst>
                                  <p:childTnLst>
                                    <p:set>
                                      <p:cBhvr>
                                        <p:cTn id="49" dur="1" fill="hold">
                                          <p:stCondLst>
                                            <p:cond delay="0"/>
                                          </p:stCondLst>
                                        </p:cTn>
                                        <p:tgtEl>
                                          <p:spTgt spid="21">
                                            <p:txEl>
                                              <p:pRg st="0" end="0"/>
                                            </p:txEl>
                                          </p:spTgt>
                                        </p:tgtEl>
                                        <p:attrNameLst>
                                          <p:attrName>style.visibility</p:attrName>
                                        </p:attrNameLst>
                                      </p:cBhvr>
                                      <p:to>
                                        <p:strVal val="visible"/>
                                      </p:to>
                                    </p:set>
                                    <p:animEffect transition="in" filter="slide(fromBottom)">
                                      <p:cBhvr>
                                        <p:cTn id="50" dur="500"/>
                                        <p:tgtEl>
                                          <p:spTgt spid="21">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22">
                                            <p:txEl>
                                              <p:pRg st="0" end="0"/>
                                            </p:txEl>
                                          </p:spTgt>
                                        </p:tgtEl>
                                        <p:attrNameLst>
                                          <p:attrName>style.visibility</p:attrName>
                                        </p:attrNameLst>
                                      </p:cBhvr>
                                      <p:to>
                                        <p:strVal val="visible"/>
                                      </p:to>
                                    </p:set>
                                    <p:animEffect transition="in" filter="slide(fromBottom)">
                                      <p:cBhvr>
                                        <p:cTn id="55" dur="500"/>
                                        <p:tgtEl>
                                          <p:spTgt spid="22">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8" presetClass="entr" presetSubtype="3"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strips(upRight)">
                                      <p:cBhvr>
                                        <p:cTn id="60" dur="500"/>
                                        <p:tgtEl>
                                          <p:spTgt spid="23"/>
                                        </p:tgtEl>
                                      </p:cBhvr>
                                    </p:animEffect>
                                  </p:childTnLst>
                                </p:cTn>
                              </p:par>
                            </p:childTnLst>
                          </p:cTn>
                        </p:par>
                      </p:childTnLst>
                    </p:cTn>
                  </p:par>
                  <p:par>
                    <p:cTn id="61" fill="hold">
                      <p:stCondLst>
                        <p:cond delay="indefinite"/>
                      </p:stCondLst>
                      <p:childTnLst>
                        <p:par>
                          <p:cTn id="62" fill="hold">
                            <p:stCondLst>
                              <p:cond delay="0"/>
                            </p:stCondLst>
                            <p:childTnLst>
                              <p:par>
                                <p:cTn id="63" presetID="12" presetClass="entr" presetSubtype="4" fill="hold" grpId="0" nodeType="clickEffect">
                                  <p:stCondLst>
                                    <p:cond delay="0"/>
                                  </p:stCondLst>
                                  <p:childTnLst>
                                    <p:set>
                                      <p:cBhvr>
                                        <p:cTn id="64" dur="1" fill="hold">
                                          <p:stCondLst>
                                            <p:cond delay="0"/>
                                          </p:stCondLst>
                                        </p:cTn>
                                        <p:tgtEl>
                                          <p:spTgt spid="26">
                                            <p:txEl>
                                              <p:pRg st="0" end="0"/>
                                            </p:txEl>
                                          </p:spTgt>
                                        </p:tgtEl>
                                        <p:attrNameLst>
                                          <p:attrName>style.visibility</p:attrName>
                                        </p:attrNameLst>
                                      </p:cBhvr>
                                      <p:to>
                                        <p:strVal val="visible"/>
                                      </p:to>
                                    </p:set>
                                    <p:animEffect transition="in" filter="slide(fromBottom)">
                                      <p:cBhvr>
                                        <p:cTn id="65" dur="500"/>
                                        <p:tgtEl>
                                          <p:spTgt spid="26">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8" presetClass="entr" presetSubtype="3" fill="hold" nodeType="click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strips(upRight)">
                                      <p:cBhvr>
                                        <p:cTn id="70" dur="50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2" presetClass="entr" presetSubtype="4" fill="hold" grpId="0" nodeType="clickEffect">
                                  <p:stCondLst>
                                    <p:cond delay="0"/>
                                  </p:stCondLst>
                                  <p:childTnLst>
                                    <p:set>
                                      <p:cBhvr>
                                        <p:cTn id="74" dur="1" fill="hold">
                                          <p:stCondLst>
                                            <p:cond delay="0"/>
                                          </p:stCondLst>
                                        </p:cTn>
                                        <p:tgtEl>
                                          <p:spTgt spid="30">
                                            <p:txEl>
                                              <p:pRg st="0" end="0"/>
                                            </p:txEl>
                                          </p:spTgt>
                                        </p:tgtEl>
                                        <p:attrNameLst>
                                          <p:attrName>style.visibility</p:attrName>
                                        </p:attrNameLst>
                                      </p:cBhvr>
                                      <p:to>
                                        <p:strVal val="visible"/>
                                      </p:to>
                                    </p:set>
                                    <p:animEffect transition="in" filter="slide(fromBottom)">
                                      <p:cBhvr>
                                        <p:cTn id="75" dur="500"/>
                                        <p:tgtEl>
                                          <p:spTgt spid="30">
                                            <p:txEl>
                                              <p:pRg st="0" end="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7" presetClass="entr" presetSubtype="8" fill="hold" grpId="0" nodeType="clickEffect">
                                  <p:stCondLst>
                                    <p:cond delay="0"/>
                                  </p:stCondLst>
                                  <p:childTnLst>
                                    <p:set>
                                      <p:cBhvr>
                                        <p:cTn id="79" dur="1" fill="hold">
                                          <p:stCondLst>
                                            <p:cond delay="0"/>
                                          </p:stCondLst>
                                        </p:cTn>
                                        <p:tgtEl>
                                          <p:spTgt spid="32"/>
                                        </p:tgtEl>
                                        <p:attrNameLst>
                                          <p:attrName>style.visibility</p:attrName>
                                        </p:attrNameLst>
                                      </p:cBhvr>
                                      <p:to>
                                        <p:strVal val="visible"/>
                                      </p:to>
                                    </p:set>
                                    <p:anim calcmode="lin" valueType="num">
                                      <p:cBhvr>
                                        <p:cTn id="80" dur="500" fill="hold"/>
                                        <p:tgtEl>
                                          <p:spTgt spid="32"/>
                                        </p:tgtEl>
                                        <p:attrNameLst>
                                          <p:attrName>ppt_x</p:attrName>
                                        </p:attrNameLst>
                                      </p:cBhvr>
                                      <p:tavLst>
                                        <p:tav tm="0">
                                          <p:val>
                                            <p:strVal val="#ppt_x-#ppt_w/2"/>
                                          </p:val>
                                        </p:tav>
                                        <p:tav tm="100000">
                                          <p:val>
                                            <p:strVal val="#ppt_x"/>
                                          </p:val>
                                        </p:tav>
                                      </p:tavLst>
                                    </p:anim>
                                    <p:anim calcmode="lin" valueType="num">
                                      <p:cBhvr>
                                        <p:cTn id="81" dur="500" fill="hold"/>
                                        <p:tgtEl>
                                          <p:spTgt spid="32"/>
                                        </p:tgtEl>
                                        <p:attrNameLst>
                                          <p:attrName>ppt_y</p:attrName>
                                        </p:attrNameLst>
                                      </p:cBhvr>
                                      <p:tavLst>
                                        <p:tav tm="0">
                                          <p:val>
                                            <p:strVal val="#ppt_y"/>
                                          </p:val>
                                        </p:tav>
                                        <p:tav tm="100000">
                                          <p:val>
                                            <p:strVal val="#ppt_y"/>
                                          </p:val>
                                        </p:tav>
                                      </p:tavLst>
                                    </p:anim>
                                    <p:anim calcmode="lin" valueType="num">
                                      <p:cBhvr>
                                        <p:cTn id="82" dur="500" fill="hold"/>
                                        <p:tgtEl>
                                          <p:spTgt spid="32"/>
                                        </p:tgtEl>
                                        <p:attrNameLst>
                                          <p:attrName>ppt_w</p:attrName>
                                        </p:attrNameLst>
                                      </p:cBhvr>
                                      <p:tavLst>
                                        <p:tav tm="0">
                                          <p:val>
                                            <p:fltVal val="0"/>
                                          </p:val>
                                        </p:tav>
                                        <p:tav tm="100000">
                                          <p:val>
                                            <p:strVal val="#ppt_w"/>
                                          </p:val>
                                        </p:tav>
                                      </p:tavLst>
                                    </p:anim>
                                    <p:anim calcmode="lin" valueType="num">
                                      <p:cBhvr>
                                        <p:cTn id="83" dur="500" fill="hold"/>
                                        <p:tgtEl>
                                          <p:spTgt spid="32"/>
                                        </p:tgtEl>
                                        <p:attrNameLst>
                                          <p:attrName>ppt_h</p:attrName>
                                        </p:attrNameLst>
                                      </p:cBhvr>
                                      <p:tavLst>
                                        <p:tav tm="0">
                                          <p:val>
                                            <p:strVal val="#ppt_h"/>
                                          </p:val>
                                        </p:tav>
                                        <p:tav tm="100000">
                                          <p:val>
                                            <p:strVal val="#ppt_h"/>
                                          </p:val>
                                        </p:tav>
                                      </p:tavLst>
                                    </p:anim>
                                  </p:childTnLst>
                                </p:cTn>
                              </p:par>
                            </p:childTnLst>
                          </p:cTn>
                        </p:par>
                      </p:childTnLst>
                    </p:cTn>
                  </p:par>
                  <p:par>
                    <p:cTn id="84" fill="hold">
                      <p:stCondLst>
                        <p:cond delay="indefinite"/>
                      </p:stCondLst>
                      <p:childTnLst>
                        <p:par>
                          <p:cTn id="85" fill="hold">
                            <p:stCondLst>
                              <p:cond delay="0"/>
                            </p:stCondLst>
                            <p:childTnLst>
                              <p:par>
                                <p:cTn id="86" presetID="12" presetClass="entr" presetSubtype="4" fill="hold" grpId="0" nodeType="clickEffect">
                                  <p:stCondLst>
                                    <p:cond delay="0"/>
                                  </p:stCondLst>
                                  <p:childTnLst>
                                    <p:set>
                                      <p:cBhvr>
                                        <p:cTn id="87" dur="1" fill="hold">
                                          <p:stCondLst>
                                            <p:cond delay="0"/>
                                          </p:stCondLst>
                                        </p:cTn>
                                        <p:tgtEl>
                                          <p:spTgt spid="33">
                                            <p:txEl>
                                              <p:pRg st="0" end="0"/>
                                            </p:txEl>
                                          </p:spTgt>
                                        </p:tgtEl>
                                        <p:attrNameLst>
                                          <p:attrName>style.visibility</p:attrName>
                                        </p:attrNameLst>
                                      </p:cBhvr>
                                      <p:to>
                                        <p:strVal val="visible"/>
                                      </p:to>
                                    </p:set>
                                    <p:animEffect transition="in" filter="slide(fromBottom)">
                                      <p:cBhvr>
                                        <p:cTn id="88" dur="500"/>
                                        <p:tgtEl>
                                          <p:spTgt spid="33">
                                            <p:txEl>
                                              <p:pRg st="0" end="0"/>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7" presetClass="entr" presetSubtype="8" fill="hold" grpId="0" nodeType="clickEffect">
                                  <p:stCondLst>
                                    <p:cond delay="0"/>
                                  </p:stCondLst>
                                  <p:childTnLst>
                                    <p:set>
                                      <p:cBhvr>
                                        <p:cTn id="92" dur="1" fill="hold">
                                          <p:stCondLst>
                                            <p:cond delay="0"/>
                                          </p:stCondLst>
                                        </p:cTn>
                                        <p:tgtEl>
                                          <p:spTgt spid="34"/>
                                        </p:tgtEl>
                                        <p:attrNameLst>
                                          <p:attrName>style.visibility</p:attrName>
                                        </p:attrNameLst>
                                      </p:cBhvr>
                                      <p:to>
                                        <p:strVal val="visible"/>
                                      </p:to>
                                    </p:set>
                                    <p:anim calcmode="lin" valueType="num">
                                      <p:cBhvr>
                                        <p:cTn id="93" dur="500" fill="hold"/>
                                        <p:tgtEl>
                                          <p:spTgt spid="34"/>
                                        </p:tgtEl>
                                        <p:attrNameLst>
                                          <p:attrName>ppt_x</p:attrName>
                                        </p:attrNameLst>
                                      </p:cBhvr>
                                      <p:tavLst>
                                        <p:tav tm="0">
                                          <p:val>
                                            <p:strVal val="#ppt_x-#ppt_w/2"/>
                                          </p:val>
                                        </p:tav>
                                        <p:tav tm="100000">
                                          <p:val>
                                            <p:strVal val="#ppt_x"/>
                                          </p:val>
                                        </p:tav>
                                      </p:tavLst>
                                    </p:anim>
                                    <p:anim calcmode="lin" valueType="num">
                                      <p:cBhvr>
                                        <p:cTn id="94" dur="500" fill="hold"/>
                                        <p:tgtEl>
                                          <p:spTgt spid="34"/>
                                        </p:tgtEl>
                                        <p:attrNameLst>
                                          <p:attrName>ppt_y</p:attrName>
                                        </p:attrNameLst>
                                      </p:cBhvr>
                                      <p:tavLst>
                                        <p:tav tm="0">
                                          <p:val>
                                            <p:strVal val="#ppt_y"/>
                                          </p:val>
                                        </p:tav>
                                        <p:tav tm="100000">
                                          <p:val>
                                            <p:strVal val="#ppt_y"/>
                                          </p:val>
                                        </p:tav>
                                      </p:tavLst>
                                    </p:anim>
                                    <p:anim calcmode="lin" valueType="num">
                                      <p:cBhvr>
                                        <p:cTn id="95" dur="500" fill="hold"/>
                                        <p:tgtEl>
                                          <p:spTgt spid="34"/>
                                        </p:tgtEl>
                                        <p:attrNameLst>
                                          <p:attrName>ppt_w</p:attrName>
                                        </p:attrNameLst>
                                      </p:cBhvr>
                                      <p:tavLst>
                                        <p:tav tm="0">
                                          <p:val>
                                            <p:fltVal val="0"/>
                                          </p:val>
                                        </p:tav>
                                        <p:tav tm="100000">
                                          <p:val>
                                            <p:strVal val="#ppt_w"/>
                                          </p:val>
                                        </p:tav>
                                      </p:tavLst>
                                    </p:anim>
                                    <p:anim calcmode="lin" valueType="num">
                                      <p:cBhvr>
                                        <p:cTn id="96" dur="500" fill="hold"/>
                                        <p:tgtEl>
                                          <p:spTgt spid="34"/>
                                        </p:tgtEl>
                                        <p:attrNameLst>
                                          <p:attrName>ppt_h</p:attrName>
                                        </p:attrNameLst>
                                      </p:cBhvr>
                                      <p:tavLst>
                                        <p:tav tm="0">
                                          <p:val>
                                            <p:strVal val="#ppt_h"/>
                                          </p:val>
                                        </p:tav>
                                        <p:tav tm="100000">
                                          <p:val>
                                            <p:strVal val="#ppt_h"/>
                                          </p:val>
                                        </p:tav>
                                      </p:tavLst>
                                    </p:anim>
                                  </p:childTnLst>
                                </p:cTn>
                              </p:par>
                            </p:childTnLst>
                          </p:cTn>
                        </p:par>
                      </p:childTnLst>
                    </p:cTn>
                  </p:par>
                  <p:par>
                    <p:cTn id="97" fill="hold">
                      <p:stCondLst>
                        <p:cond delay="indefinite"/>
                      </p:stCondLst>
                      <p:childTnLst>
                        <p:par>
                          <p:cTn id="98" fill="hold">
                            <p:stCondLst>
                              <p:cond delay="0"/>
                            </p:stCondLst>
                            <p:childTnLst>
                              <p:par>
                                <p:cTn id="99" presetID="12" presetClass="entr" presetSubtype="4" fill="hold" grpId="0" nodeType="clickEffect">
                                  <p:stCondLst>
                                    <p:cond delay="0"/>
                                  </p:stCondLst>
                                  <p:childTnLst>
                                    <p:set>
                                      <p:cBhvr>
                                        <p:cTn id="100" dur="1" fill="hold">
                                          <p:stCondLst>
                                            <p:cond delay="0"/>
                                          </p:stCondLst>
                                        </p:cTn>
                                        <p:tgtEl>
                                          <p:spTgt spid="31">
                                            <p:txEl>
                                              <p:pRg st="0" end="0"/>
                                            </p:txEl>
                                          </p:spTgt>
                                        </p:tgtEl>
                                        <p:attrNameLst>
                                          <p:attrName>style.visibility</p:attrName>
                                        </p:attrNameLst>
                                      </p:cBhvr>
                                      <p:to>
                                        <p:strVal val="visible"/>
                                      </p:to>
                                    </p:set>
                                    <p:animEffect transition="in" filter="slide(fromBottom)">
                                      <p:cBhvr>
                                        <p:cTn id="101" dur="500"/>
                                        <p:tgtEl>
                                          <p:spTgt spid="31">
                                            <p:txEl>
                                              <p:pRg st="0" end="0"/>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17" presetClass="entr" presetSubtype="8" fill="hold" grpId="0" nodeType="clickEffect">
                                  <p:stCondLst>
                                    <p:cond delay="0"/>
                                  </p:stCondLst>
                                  <p:childTnLst>
                                    <p:set>
                                      <p:cBhvr>
                                        <p:cTn id="105" dur="1" fill="hold">
                                          <p:stCondLst>
                                            <p:cond delay="0"/>
                                          </p:stCondLst>
                                        </p:cTn>
                                        <p:tgtEl>
                                          <p:spTgt spid="35"/>
                                        </p:tgtEl>
                                        <p:attrNameLst>
                                          <p:attrName>style.visibility</p:attrName>
                                        </p:attrNameLst>
                                      </p:cBhvr>
                                      <p:to>
                                        <p:strVal val="visible"/>
                                      </p:to>
                                    </p:set>
                                    <p:anim calcmode="lin" valueType="num">
                                      <p:cBhvr>
                                        <p:cTn id="106" dur="500" fill="hold"/>
                                        <p:tgtEl>
                                          <p:spTgt spid="35"/>
                                        </p:tgtEl>
                                        <p:attrNameLst>
                                          <p:attrName>ppt_x</p:attrName>
                                        </p:attrNameLst>
                                      </p:cBhvr>
                                      <p:tavLst>
                                        <p:tav tm="0">
                                          <p:val>
                                            <p:strVal val="#ppt_x-#ppt_w/2"/>
                                          </p:val>
                                        </p:tav>
                                        <p:tav tm="100000">
                                          <p:val>
                                            <p:strVal val="#ppt_x"/>
                                          </p:val>
                                        </p:tav>
                                      </p:tavLst>
                                    </p:anim>
                                    <p:anim calcmode="lin" valueType="num">
                                      <p:cBhvr>
                                        <p:cTn id="107" dur="500" fill="hold"/>
                                        <p:tgtEl>
                                          <p:spTgt spid="35"/>
                                        </p:tgtEl>
                                        <p:attrNameLst>
                                          <p:attrName>ppt_y</p:attrName>
                                        </p:attrNameLst>
                                      </p:cBhvr>
                                      <p:tavLst>
                                        <p:tav tm="0">
                                          <p:val>
                                            <p:strVal val="#ppt_y"/>
                                          </p:val>
                                        </p:tav>
                                        <p:tav tm="100000">
                                          <p:val>
                                            <p:strVal val="#ppt_y"/>
                                          </p:val>
                                        </p:tav>
                                      </p:tavLst>
                                    </p:anim>
                                    <p:anim calcmode="lin" valueType="num">
                                      <p:cBhvr>
                                        <p:cTn id="108" dur="500" fill="hold"/>
                                        <p:tgtEl>
                                          <p:spTgt spid="35"/>
                                        </p:tgtEl>
                                        <p:attrNameLst>
                                          <p:attrName>ppt_w</p:attrName>
                                        </p:attrNameLst>
                                      </p:cBhvr>
                                      <p:tavLst>
                                        <p:tav tm="0">
                                          <p:val>
                                            <p:fltVal val="0"/>
                                          </p:val>
                                        </p:tav>
                                        <p:tav tm="100000">
                                          <p:val>
                                            <p:strVal val="#ppt_w"/>
                                          </p:val>
                                        </p:tav>
                                      </p:tavLst>
                                    </p:anim>
                                    <p:anim calcmode="lin" valueType="num">
                                      <p:cBhvr>
                                        <p:cTn id="109" dur="500" fill="hold"/>
                                        <p:tgtEl>
                                          <p:spTgt spid="35"/>
                                        </p:tgtEl>
                                        <p:attrNameLst>
                                          <p:attrName>ppt_h</p:attrName>
                                        </p:attrNameLst>
                                      </p:cBhvr>
                                      <p:tavLst>
                                        <p:tav tm="0">
                                          <p:val>
                                            <p:strVal val="#ppt_h"/>
                                          </p:val>
                                        </p:tav>
                                        <p:tav tm="100000">
                                          <p:val>
                                            <p:strVal val="#ppt_h"/>
                                          </p:val>
                                        </p:tav>
                                      </p:tavLst>
                                    </p:anim>
                                  </p:childTnLst>
                                </p:cTn>
                              </p:par>
                            </p:childTnLst>
                          </p:cTn>
                        </p:par>
                      </p:childTnLst>
                    </p:cTn>
                  </p:par>
                  <p:par>
                    <p:cTn id="110" fill="hold">
                      <p:stCondLst>
                        <p:cond delay="indefinite"/>
                      </p:stCondLst>
                      <p:childTnLst>
                        <p:par>
                          <p:cTn id="111" fill="hold">
                            <p:stCondLst>
                              <p:cond delay="0"/>
                            </p:stCondLst>
                            <p:childTnLst>
                              <p:par>
                                <p:cTn id="112" presetID="12" presetClass="entr" presetSubtype="4" fill="hold" grpId="0" nodeType="clickEffect">
                                  <p:stCondLst>
                                    <p:cond delay="0"/>
                                  </p:stCondLst>
                                  <p:childTnLst>
                                    <p:set>
                                      <p:cBhvr>
                                        <p:cTn id="113" dur="1" fill="hold">
                                          <p:stCondLst>
                                            <p:cond delay="0"/>
                                          </p:stCondLst>
                                        </p:cTn>
                                        <p:tgtEl>
                                          <p:spTgt spid="36">
                                            <p:txEl>
                                              <p:pRg st="0" end="0"/>
                                            </p:txEl>
                                          </p:spTgt>
                                        </p:tgtEl>
                                        <p:attrNameLst>
                                          <p:attrName>style.visibility</p:attrName>
                                        </p:attrNameLst>
                                      </p:cBhvr>
                                      <p:to>
                                        <p:strVal val="visible"/>
                                      </p:to>
                                    </p:set>
                                    <p:animEffect transition="in" filter="slide(fromBottom)">
                                      <p:cBhvr>
                                        <p:cTn id="114" dur="500"/>
                                        <p:tgtEl>
                                          <p:spTgt spid="36">
                                            <p:txEl>
                                              <p:pRg st="0" end="0"/>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12" presetClass="entr" presetSubtype="4" fill="hold" grpId="0" nodeType="clickEffect">
                                  <p:stCondLst>
                                    <p:cond delay="0"/>
                                  </p:stCondLst>
                                  <p:childTnLst>
                                    <p:set>
                                      <p:cBhvr>
                                        <p:cTn id="118" dur="1" fill="hold">
                                          <p:stCondLst>
                                            <p:cond delay="0"/>
                                          </p:stCondLst>
                                        </p:cTn>
                                        <p:tgtEl>
                                          <p:spTgt spid="36">
                                            <p:txEl>
                                              <p:pRg st="1" end="1"/>
                                            </p:txEl>
                                          </p:spTgt>
                                        </p:tgtEl>
                                        <p:attrNameLst>
                                          <p:attrName>style.visibility</p:attrName>
                                        </p:attrNameLst>
                                      </p:cBhvr>
                                      <p:to>
                                        <p:strVal val="visible"/>
                                      </p:to>
                                    </p:set>
                                    <p:animEffect transition="in" filter="slide(fromBottom)">
                                      <p:cBhvr>
                                        <p:cTn id="119" dur="500"/>
                                        <p:tgtEl>
                                          <p:spTgt spid="36">
                                            <p:txEl>
                                              <p:pRg st="1" end="1"/>
                                            </p:txEl>
                                          </p:spTgt>
                                        </p:tgtEl>
                                      </p:cBhvr>
                                    </p:animEffect>
                                  </p:childTnLst>
                                </p:cTn>
                              </p:par>
                            </p:childTnLst>
                          </p:cTn>
                        </p:par>
                      </p:childTnLst>
                    </p:cTn>
                  </p:par>
                  <p:par>
                    <p:cTn id="120" fill="hold">
                      <p:stCondLst>
                        <p:cond delay="indefinite"/>
                      </p:stCondLst>
                      <p:childTnLst>
                        <p:par>
                          <p:cTn id="121" fill="hold">
                            <p:stCondLst>
                              <p:cond delay="0"/>
                            </p:stCondLst>
                            <p:childTnLst>
                              <p:par>
                                <p:cTn id="122" presetID="17" presetClass="entr" presetSubtype="8" fill="hold" grpId="0" nodeType="clickEffect">
                                  <p:stCondLst>
                                    <p:cond delay="0"/>
                                  </p:stCondLst>
                                  <p:childTnLst>
                                    <p:set>
                                      <p:cBhvr>
                                        <p:cTn id="123" dur="1" fill="hold">
                                          <p:stCondLst>
                                            <p:cond delay="0"/>
                                          </p:stCondLst>
                                        </p:cTn>
                                        <p:tgtEl>
                                          <p:spTgt spid="37"/>
                                        </p:tgtEl>
                                        <p:attrNameLst>
                                          <p:attrName>style.visibility</p:attrName>
                                        </p:attrNameLst>
                                      </p:cBhvr>
                                      <p:to>
                                        <p:strVal val="visible"/>
                                      </p:to>
                                    </p:set>
                                    <p:anim calcmode="lin" valueType="num">
                                      <p:cBhvr>
                                        <p:cTn id="124" dur="500" fill="hold"/>
                                        <p:tgtEl>
                                          <p:spTgt spid="37"/>
                                        </p:tgtEl>
                                        <p:attrNameLst>
                                          <p:attrName>ppt_x</p:attrName>
                                        </p:attrNameLst>
                                      </p:cBhvr>
                                      <p:tavLst>
                                        <p:tav tm="0">
                                          <p:val>
                                            <p:strVal val="#ppt_x-#ppt_w/2"/>
                                          </p:val>
                                        </p:tav>
                                        <p:tav tm="100000">
                                          <p:val>
                                            <p:strVal val="#ppt_x"/>
                                          </p:val>
                                        </p:tav>
                                      </p:tavLst>
                                    </p:anim>
                                    <p:anim calcmode="lin" valueType="num">
                                      <p:cBhvr>
                                        <p:cTn id="125" dur="500" fill="hold"/>
                                        <p:tgtEl>
                                          <p:spTgt spid="37"/>
                                        </p:tgtEl>
                                        <p:attrNameLst>
                                          <p:attrName>ppt_y</p:attrName>
                                        </p:attrNameLst>
                                      </p:cBhvr>
                                      <p:tavLst>
                                        <p:tav tm="0">
                                          <p:val>
                                            <p:strVal val="#ppt_y"/>
                                          </p:val>
                                        </p:tav>
                                        <p:tav tm="100000">
                                          <p:val>
                                            <p:strVal val="#ppt_y"/>
                                          </p:val>
                                        </p:tav>
                                      </p:tavLst>
                                    </p:anim>
                                    <p:anim calcmode="lin" valueType="num">
                                      <p:cBhvr>
                                        <p:cTn id="126" dur="500" fill="hold"/>
                                        <p:tgtEl>
                                          <p:spTgt spid="37"/>
                                        </p:tgtEl>
                                        <p:attrNameLst>
                                          <p:attrName>ppt_w</p:attrName>
                                        </p:attrNameLst>
                                      </p:cBhvr>
                                      <p:tavLst>
                                        <p:tav tm="0">
                                          <p:val>
                                            <p:fltVal val="0"/>
                                          </p:val>
                                        </p:tav>
                                        <p:tav tm="100000">
                                          <p:val>
                                            <p:strVal val="#ppt_w"/>
                                          </p:val>
                                        </p:tav>
                                      </p:tavLst>
                                    </p:anim>
                                    <p:anim calcmode="lin" valueType="num">
                                      <p:cBhvr>
                                        <p:cTn id="127" dur="500" fill="hold"/>
                                        <p:tgtEl>
                                          <p:spTgt spid="37"/>
                                        </p:tgtEl>
                                        <p:attrNameLst>
                                          <p:attrName>ppt_h</p:attrName>
                                        </p:attrNameLst>
                                      </p:cBhvr>
                                      <p:tavLst>
                                        <p:tav tm="0">
                                          <p:val>
                                            <p:strVal val="#ppt_h"/>
                                          </p:val>
                                        </p:tav>
                                        <p:tav tm="100000">
                                          <p:val>
                                            <p:strVal val="#ppt_h"/>
                                          </p:val>
                                        </p:tav>
                                      </p:tavLst>
                                    </p:anim>
                                  </p:childTnLst>
                                </p:cTn>
                              </p:par>
                            </p:childTnLst>
                          </p:cTn>
                        </p:par>
                      </p:childTnLst>
                    </p:cTn>
                  </p:par>
                  <p:par>
                    <p:cTn id="128" fill="hold">
                      <p:stCondLst>
                        <p:cond delay="indefinite"/>
                      </p:stCondLst>
                      <p:childTnLst>
                        <p:par>
                          <p:cTn id="129" fill="hold">
                            <p:stCondLst>
                              <p:cond delay="0"/>
                            </p:stCondLst>
                            <p:childTnLst>
                              <p:par>
                                <p:cTn id="130" presetID="12" presetClass="entr" presetSubtype="4" fill="hold" grpId="0" nodeType="clickEffect">
                                  <p:stCondLst>
                                    <p:cond delay="0"/>
                                  </p:stCondLst>
                                  <p:childTnLst>
                                    <p:set>
                                      <p:cBhvr>
                                        <p:cTn id="131" dur="1" fill="hold">
                                          <p:stCondLst>
                                            <p:cond delay="0"/>
                                          </p:stCondLst>
                                        </p:cTn>
                                        <p:tgtEl>
                                          <p:spTgt spid="38">
                                            <p:txEl>
                                              <p:pRg st="0" end="0"/>
                                            </p:txEl>
                                          </p:spTgt>
                                        </p:tgtEl>
                                        <p:attrNameLst>
                                          <p:attrName>style.visibility</p:attrName>
                                        </p:attrNameLst>
                                      </p:cBhvr>
                                      <p:to>
                                        <p:strVal val="visible"/>
                                      </p:to>
                                    </p:set>
                                    <p:animEffect transition="in" filter="slide(fromBottom)">
                                      <p:cBhvr>
                                        <p:cTn id="132" dur="500"/>
                                        <p:tgtEl>
                                          <p:spTgt spid="38">
                                            <p:txEl>
                                              <p:pRg st="0" end="0"/>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17" presetClass="entr" presetSubtype="8" fill="hold" grpId="0" nodeType="clickEffect">
                                  <p:stCondLst>
                                    <p:cond delay="0"/>
                                  </p:stCondLst>
                                  <p:childTnLst>
                                    <p:set>
                                      <p:cBhvr>
                                        <p:cTn id="136" dur="1" fill="hold">
                                          <p:stCondLst>
                                            <p:cond delay="0"/>
                                          </p:stCondLst>
                                        </p:cTn>
                                        <p:tgtEl>
                                          <p:spTgt spid="39"/>
                                        </p:tgtEl>
                                        <p:attrNameLst>
                                          <p:attrName>style.visibility</p:attrName>
                                        </p:attrNameLst>
                                      </p:cBhvr>
                                      <p:to>
                                        <p:strVal val="visible"/>
                                      </p:to>
                                    </p:set>
                                    <p:anim calcmode="lin" valueType="num">
                                      <p:cBhvr>
                                        <p:cTn id="137" dur="500" fill="hold"/>
                                        <p:tgtEl>
                                          <p:spTgt spid="39"/>
                                        </p:tgtEl>
                                        <p:attrNameLst>
                                          <p:attrName>ppt_x</p:attrName>
                                        </p:attrNameLst>
                                      </p:cBhvr>
                                      <p:tavLst>
                                        <p:tav tm="0">
                                          <p:val>
                                            <p:strVal val="#ppt_x-#ppt_w/2"/>
                                          </p:val>
                                        </p:tav>
                                        <p:tav tm="100000">
                                          <p:val>
                                            <p:strVal val="#ppt_x"/>
                                          </p:val>
                                        </p:tav>
                                      </p:tavLst>
                                    </p:anim>
                                    <p:anim calcmode="lin" valueType="num">
                                      <p:cBhvr>
                                        <p:cTn id="138" dur="500" fill="hold"/>
                                        <p:tgtEl>
                                          <p:spTgt spid="39"/>
                                        </p:tgtEl>
                                        <p:attrNameLst>
                                          <p:attrName>ppt_y</p:attrName>
                                        </p:attrNameLst>
                                      </p:cBhvr>
                                      <p:tavLst>
                                        <p:tav tm="0">
                                          <p:val>
                                            <p:strVal val="#ppt_y"/>
                                          </p:val>
                                        </p:tav>
                                        <p:tav tm="100000">
                                          <p:val>
                                            <p:strVal val="#ppt_y"/>
                                          </p:val>
                                        </p:tav>
                                      </p:tavLst>
                                    </p:anim>
                                    <p:anim calcmode="lin" valueType="num">
                                      <p:cBhvr>
                                        <p:cTn id="139" dur="500" fill="hold"/>
                                        <p:tgtEl>
                                          <p:spTgt spid="39"/>
                                        </p:tgtEl>
                                        <p:attrNameLst>
                                          <p:attrName>ppt_w</p:attrName>
                                        </p:attrNameLst>
                                      </p:cBhvr>
                                      <p:tavLst>
                                        <p:tav tm="0">
                                          <p:val>
                                            <p:fltVal val="0"/>
                                          </p:val>
                                        </p:tav>
                                        <p:tav tm="100000">
                                          <p:val>
                                            <p:strVal val="#ppt_w"/>
                                          </p:val>
                                        </p:tav>
                                      </p:tavLst>
                                    </p:anim>
                                    <p:anim calcmode="lin" valueType="num">
                                      <p:cBhvr>
                                        <p:cTn id="140" dur="500" fill="hold"/>
                                        <p:tgtEl>
                                          <p:spTgt spid="39"/>
                                        </p:tgtEl>
                                        <p:attrNameLst>
                                          <p:attrName>ppt_h</p:attrName>
                                        </p:attrNameLst>
                                      </p:cBhvr>
                                      <p:tavLst>
                                        <p:tav tm="0">
                                          <p:val>
                                            <p:strVal val="#ppt_h"/>
                                          </p:val>
                                        </p:tav>
                                        <p:tav tm="100000">
                                          <p:val>
                                            <p:strVal val="#ppt_h"/>
                                          </p:val>
                                        </p:tav>
                                      </p:tavLst>
                                    </p:anim>
                                  </p:childTnLst>
                                </p:cTn>
                              </p:par>
                            </p:childTnLst>
                          </p:cTn>
                        </p:par>
                      </p:childTnLst>
                    </p:cTn>
                  </p:par>
                  <p:par>
                    <p:cTn id="141" fill="hold">
                      <p:stCondLst>
                        <p:cond delay="indefinite"/>
                      </p:stCondLst>
                      <p:childTnLst>
                        <p:par>
                          <p:cTn id="142" fill="hold">
                            <p:stCondLst>
                              <p:cond delay="0"/>
                            </p:stCondLst>
                            <p:childTnLst>
                              <p:par>
                                <p:cTn id="143" presetID="12" presetClass="entr" presetSubtype="4" fill="hold" grpId="0" nodeType="clickEffect">
                                  <p:stCondLst>
                                    <p:cond delay="0"/>
                                  </p:stCondLst>
                                  <p:childTnLst>
                                    <p:set>
                                      <p:cBhvr>
                                        <p:cTn id="144" dur="1" fill="hold">
                                          <p:stCondLst>
                                            <p:cond delay="0"/>
                                          </p:stCondLst>
                                        </p:cTn>
                                        <p:tgtEl>
                                          <p:spTgt spid="40">
                                            <p:txEl>
                                              <p:pRg st="0" end="0"/>
                                            </p:txEl>
                                          </p:spTgt>
                                        </p:tgtEl>
                                        <p:attrNameLst>
                                          <p:attrName>style.visibility</p:attrName>
                                        </p:attrNameLst>
                                      </p:cBhvr>
                                      <p:to>
                                        <p:strVal val="visible"/>
                                      </p:to>
                                    </p:set>
                                    <p:animEffect transition="in" filter="slide(fromBottom)">
                                      <p:cBhvr>
                                        <p:cTn id="145" dur="500"/>
                                        <p:tgtEl>
                                          <p:spTgt spid="40">
                                            <p:txEl>
                                              <p:pRg st="0" end="0"/>
                                            </p:txEl>
                                          </p:spTgt>
                                        </p:tgtEl>
                                      </p:cBhvr>
                                    </p:animEffect>
                                  </p:childTnLst>
                                </p:cTn>
                              </p:par>
                            </p:childTnLst>
                          </p:cTn>
                        </p:par>
                      </p:childTnLst>
                    </p:cTn>
                  </p:par>
                  <p:par>
                    <p:cTn id="146" fill="hold">
                      <p:stCondLst>
                        <p:cond delay="indefinite"/>
                      </p:stCondLst>
                      <p:childTnLst>
                        <p:par>
                          <p:cTn id="147" fill="hold">
                            <p:stCondLst>
                              <p:cond delay="0"/>
                            </p:stCondLst>
                            <p:childTnLst>
                              <p:par>
                                <p:cTn id="148" presetID="12" presetClass="entr" presetSubtype="4" fill="hold" grpId="0" nodeType="clickEffect">
                                  <p:stCondLst>
                                    <p:cond delay="0"/>
                                  </p:stCondLst>
                                  <p:childTnLst>
                                    <p:set>
                                      <p:cBhvr>
                                        <p:cTn id="149" dur="1" fill="hold">
                                          <p:stCondLst>
                                            <p:cond delay="0"/>
                                          </p:stCondLst>
                                        </p:cTn>
                                        <p:tgtEl>
                                          <p:spTgt spid="41">
                                            <p:txEl>
                                              <p:pRg st="0" end="0"/>
                                            </p:txEl>
                                          </p:spTgt>
                                        </p:tgtEl>
                                        <p:attrNameLst>
                                          <p:attrName>style.visibility</p:attrName>
                                        </p:attrNameLst>
                                      </p:cBhvr>
                                      <p:to>
                                        <p:strVal val="visible"/>
                                      </p:to>
                                    </p:set>
                                    <p:animEffect transition="in" filter="slide(fromBottom)">
                                      <p:cBhvr>
                                        <p:cTn id="150" dur="500"/>
                                        <p:tgtEl>
                                          <p:spTgt spid="41">
                                            <p:txEl>
                                              <p:pRg st="0" end="0"/>
                                            </p:txEl>
                                          </p:spTgt>
                                        </p:tgtEl>
                                      </p:cBhvr>
                                    </p:animEffect>
                                  </p:childTnLst>
                                </p:cTn>
                              </p:par>
                            </p:childTnLst>
                          </p:cTn>
                        </p:par>
                      </p:childTnLst>
                    </p:cTn>
                  </p:par>
                  <p:par>
                    <p:cTn id="151" fill="hold">
                      <p:stCondLst>
                        <p:cond delay="indefinite"/>
                      </p:stCondLst>
                      <p:childTnLst>
                        <p:par>
                          <p:cTn id="152" fill="hold">
                            <p:stCondLst>
                              <p:cond delay="0"/>
                            </p:stCondLst>
                            <p:childTnLst>
                              <p:par>
                                <p:cTn id="153" presetID="18" presetClass="entr" presetSubtype="3" fill="hold" nodeType="clickEffect">
                                  <p:stCondLst>
                                    <p:cond delay="0"/>
                                  </p:stCondLst>
                                  <p:childTnLst>
                                    <p:set>
                                      <p:cBhvr>
                                        <p:cTn id="154" dur="1" fill="hold">
                                          <p:stCondLst>
                                            <p:cond delay="0"/>
                                          </p:stCondLst>
                                        </p:cTn>
                                        <p:tgtEl>
                                          <p:spTgt spid="42"/>
                                        </p:tgtEl>
                                        <p:attrNameLst>
                                          <p:attrName>style.visibility</p:attrName>
                                        </p:attrNameLst>
                                      </p:cBhvr>
                                      <p:to>
                                        <p:strVal val="visible"/>
                                      </p:to>
                                    </p:set>
                                    <p:animEffect transition="in" filter="strips(upRight)">
                                      <p:cBhvr>
                                        <p:cTn id="155" dur="500"/>
                                        <p:tgtEl>
                                          <p:spTgt spid="42"/>
                                        </p:tgtEl>
                                      </p:cBhvr>
                                    </p:animEffect>
                                  </p:childTnLst>
                                </p:cTn>
                              </p:par>
                            </p:childTnLst>
                          </p:cTn>
                        </p:par>
                      </p:childTnLst>
                    </p:cTn>
                  </p:par>
                  <p:par>
                    <p:cTn id="156" fill="hold">
                      <p:stCondLst>
                        <p:cond delay="indefinite"/>
                      </p:stCondLst>
                      <p:childTnLst>
                        <p:par>
                          <p:cTn id="157" fill="hold">
                            <p:stCondLst>
                              <p:cond delay="0"/>
                            </p:stCondLst>
                            <p:childTnLst>
                              <p:par>
                                <p:cTn id="158" presetID="12" presetClass="entr" presetSubtype="4" fill="hold" grpId="0" nodeType="clickEffect">
                                  <p:stCondLst>
                                    <p:cond delay="0"/>
                                  </p:stCondLst>
                                  <p:childTnLst>
                                    <p:set>
                                      <p:cBhvr>
                                        <p:cTn id="159" dur="1" fill="hold">
                                          <p:stCondLst>
                                            <p:cond delay="0"/>
                                          </p:stCondLst>
                                        </p:cTn>
                                        <p:tgtEl>
                                          <p:spTgt spid="45">
                                            <p:txEl>
                                              <p:pRg st="0" end="0"/>
                                            </p:txEl>
                                          </p:spTgt>
                                        </p:tgtEl>
                                        <p:attrNameLst>
                                          <p:attrName>style.visibility</p:attrName>
                                        </p:attrNameLst>
                                      </p:cBhvr>
                                      <p:to>
                                        <p:strVal val="visible"/>
                                      </p:to>
                                    </p:set>
                                    <p:animEffect transition="in" filter="slide(fromBottom)">
                                      <p:cBhvr>
                                        <p:cTn id="160" dur="500"/>
                                        <p:tgtEl>
                                          <p:spTgt spid="45">
                                            <p:txEl>
                                              <p:pRg st="0" end="0"/>
                                            </p:txEl>
                                          </p:spTgt>
                                        </p:tgtEl>
                                      </p:cBhvr>
                                    </p:animEffect>
                                  </p:childTnLst>
                                </p:cTn>
                              </p:par>
                            </p:childTnLst>
                          </p:cTn>
                        </p:par>
                      </p:childTnLst>
                    </p:cTn>
                  </p:par>
                  <p:par>
                    <p:cTn id="161" fill="hold">
                      <p:stCondLst>
                        <p:cond delay="indefinite"/>
                      </p:stCondLst>
                      <p:childTnLst>
                        <p:par>
                          <p:cTn id="162" fill="hold">
                            <p:stCondLst>
                              <p:cond delay="0"/>
                            </p:stCondLst>
                            <p:childTnLst>
                              <p:par>
                                <p:cTn id="163" presetID="17" presetClass="entr" presetSubtype="8" fill="hold" grpId="0" nodeType="clickEffect">
                                  <p:stCondLst>
                                    <p:cond delay="0"/>
                                  </p:stCondLst>
                                  <p:childTnLst>
                                    <p:set>
                                      <p:cBhvr>
                                        <p:cTn id="164" dur="1" fill="hold">
                                          <p:stCondLst>
                                            <p:cond delay="0"/>
                                          </p:stCondLst>
                                        </p:cTn>
                                        <p:tgtEl>
                                          <p:spTgt spid="55"/>
                                        </p:tgtEl>
                                        <p:attrNameLst>
                                          <p:attrName>style.visibility</p:attrName>
                                        </p:attrNameLst>
                                      </p:cBhvr>
                                      <p:to>
                                        <p:strVal val="visible"/>
                                      </p:to>
                                    </p:set>
                                    <p:anim calcmode="lin" valueType="num">
                                      <p:cBhvr>
                                        <p:cTn id="165" dur="500" fill="hold"/>
                                        <p:tgtEl>
                                          <p:spTgt spid="55"/>
                                        </p:tgtEl>
                                        <p:attrNameLst>
                                          <p:attrName>ppt_x</p:attrName>
                                        </p:attrNameLst>
                                      </p:cBhvr>
                                      <p:tavLst>
                                        <p:tav tm="0">
                                          <p:val>
                                            <p:strVal val="#ppt_x-#ppt_w/2"/>
                                          </p:val>
                                        </p:tav>
                                        <p:tav tm="100000">
                                          <p:val>
                                            <p:strVal val="#ppt_x"/>
                                          </p:val>
                                        </p:tav>
                                      </p:tavLst>
                                    </p:anim>
                                    <p:anim calcmode="lin" valueType="num">
                                      <p:cBhvr>
                                        <p:cTn id="166" dur="500" fill="hold"/>
                                        <p:tgtEl>
                                          <p:spTgt spid="55"/>
                                        </p:tgtEl>
                                        <p:attrNameLst>
                                          <p:attrName>ppt_y</p:attrName>
                                        </p:attrNameLst>
                                      </p:cBhvr>
                                      <p:tavLst>
                                        <p:tav tm="0">
                                          <p:val>
                                            <p:strVal val="#ppt_y"/>
                                          </p:val>
                                        </p:tav>
                                        <p:tav tm="100000">
                                          <p:val>
                                            <p:strVal val="#ppt_y"/>
                                          </p:val>
                                        </p:tav>
                                      </p:tavLst>
                                    </p:anim>
                                    <p:anim calcmode="lin" valueType="num">
                                      <p:cBhvr>
                                        <p:cTn id="167" dur="500" fill="hold"/>
                                        <p:tgtEl>
                                          <p:spTgt spid="55"/>
                                        </p:tgtEl>
                                        <p:attrNameLst>
                                          <p:attrName>ppt_w</p:attrName>
                                        </p:attrNameLst>
                                      </p:cBhvr>
                                      <p:tavLst>
                                        <p:tav tm="0">
                                          <p:val>
                                            <p:fltVal val="0"/>
                                          </p:val>
                                        </p:tav>
                                        <p:tav tm="100000">
                                          <p:val>
                                            <p:strVal val="#ppt_w"/>
                                          </p:val>
                                        </p:tav>
                                      </p:tavLst>
                                    </p:anim>
                                    <p:anim calcmode="lin" valueType="num">
                                      <p:cBhvr>
                                        <p:cTn id="168" dur="500" fill="hold"/>
                                        <p:tgtEl>
                                          <p:spTgt spid="55"/>
                                        </p:tgtEl>
                                        <p:attrNameLst>
                                          <p:attrName>ppt_h</p:attrName>
                                        </p:attrNameLst>
                                      </p:cBhvr>
                                      <p:tavLst>
                                        <p:tav tm="0">
                                          <p:val>
                                            <p:strVal val="#ppt_h"/>
                                          </p:val>
                                        </p:tav>
                                        <p:tav tm="100000">
                                          <p:val>
                                            <p:strVal val="#ppt_h"/>
                                          </p:val>
                                        </p:tav>
                                      </p:tavLst>
                                    </p:anim>
                                  </p:childTnLst>
                                </p:cTn>
                              </p:par>
                            </p:childTnLst>
                          </p:cTn>
                        </p:par>
                      </p:childTnLst>
                    </p:cTn>
                  </p:par>
                  <p:par>
                    <p:cTn id="169" fill="hold">
                      <p:stCondLst>
                        <p:cond delay="indefinite"/>
                      </p:stCondLst>
                      <p:childTnLst>
                        <p:par>
                          <p:cTn id="170" fill="hold">
                            <p:stCondLst>
                              <p:cond delay="0"/>
                            </p:stCondLst>
                            <p:childTnLst>
                              <p:par>
                                <p:cTn id="171" presetID="12" presetClass="entr" presetSubtype="4" fill="hold" grpId="0" nodeType="clickEffect">
                                  <p:stCondLst>
                                    <p:cond delay="0"/>
                                  </p:stCondLst>
                                  <p:childTnLst>
                                    <p:set>
                                      <p:cBhvr>
                                        <p:cTn id="172" dur="1" fill="hold">
                                          <p:stCondLst>
                                            <p:cond delay="0"/>
                                          </p:stCondLst>
                                        </p:cTn>
                                        <p:tgtEl>
                                          <p:spTgt spid="46">
                                            <p:txEl>
                                              <p:pRg st="0" end="0"/>
                                            </p:txEl>
                                          </p:spTgt>
                                        </p:tgtEl>
                                        <p:attrNameLst>
                                          <p:attrName>style.visibility</p:attrName>
                                        </p:attrNameLst>
                                      </p:cBhvr>
                                      <p:to>
                                        <p:strVal val="visible"/>
                                      </p:to>
                                    </p:set>
                                    <p:animEffect transition="in" filter="slide(fromBottom)">
                                      <p:cBhvr>
                                        <p:cTn id="173" dur="500"/>
                                        <p:tgtEl>
                                          <p:spTgt spid="46">
                                            <p:txEl>
                                              <p:pRg st="0" end="0"/>
                                            </p:txEl>
                                          </p:spTgt>
                                        </p:tgtEl>
                                      </p:cBhvr>
                                    </p:animEffect>
                                  </p:childTnLst>
                                </p:cTn>
                              </p:par>
                            </p:childTnLst>
                          </p:cTn>
                        </p:par>
                      </p:childTnLst>
                    </p:cTn>
                  </p:par>
                  <p:par>
                    <p:cTn id="174" fill="hold">
                      <p:stCondLst>
                        <p:cond delay="indefinite"/>
                      </p:stCondLst>
                      <p:childTnLst>
                        <p:par>
                          <p:cTn id="175" fill="hold">
                            <p:stCondLst>
                              <p:cond delay="0"/>
                            </p:stCondLst>
                            <p:childTnLst>
                              <p:par>
                                <p:cTn id="176" presetID="12" presetClass="entr" presetSubtype="4" fill="hold" grpId="0" nodeType="clickEffect">
                                  <p:stCondLst>
                                    <p:cond delay="0"/>
                                  </p:stCondLst>
                                  <p:childTnLst>
                                    <p:set>
                                      <p:cBhvr>
                                        <p:cTn id="177" dur="1" fill="hold">
                                          <p:stCondLst>
                                            <p:cond delay="0"/>
                                          </p:stCondLst>
                                        </p:cTn>
                                        <p:tgtEl>
                                          <p:spTgt spid="46">
                                            <p:txEl>
                                              <p:pRg st="1" end="1"/>
                                            </p:txEl>
                                          </p:spTgt>
                                        </p:tgtEl>
                                        <p:attrNameLst>
                                          <p:attrName>style.visibility</p:attrName>
                                        </p:attrNameLst>
                                      </p:cBhvr>
                                      <p:to>
                                        <p:strVal val="visible"/>
                                      </p:to>
                                    </p:set>
                                    <p:animEffect transition="in" filter="slide(fromBottom)">
                                      <p:cBhvr>
                                        <p:cTn id="178" dur="500"/>
                                        <p:tgtEl>
                                          <p:spTgt spid="46">
                                            <p:txEl>
                                              <p:pRg st="1" end="1"/>
                                            </p:txEl>
                                          </p:spTgt>
                                        </p:tgtEl>
                                      </p:cBhvr>
                                    </p:animEffect>
                                  </p:childTnLst>
                                </p:cTn>
                              </p:par>
                            </p:childTnLst>
                          </p:cTn>
                        </p:par>
                      </p:childTnLst>
                    </p:cTn>
                  </p:par>
                  <p:par>
                    <p:cTn id="179" fill="hold">
                      <p:stCondLst>
                        <p:cond delay="indefinite"/>
                      </p:stCondLst>
                      <p:childTnLst>
                        <p:par>
                          <p:cTn id="180" fill="hold">
                            <p:stCondLst>
                              <p:cond delay="0"/>
                            </p:stCondLst>
                            <p:childTnLst>
                              <p:par>
                                <p:cTn id="181" presetID="12" presetClass="entr" presetSubtype="4" fill="hold" grpId="0" nodeType="clickEffect">
                                  <p:stCondLst>
                                    <p:cond delay="0"/>
                                  </p:stCondLst>
                                  <p:childTnLst>
                                    <p:set>
                                      <p:cBhvr>
                                        <p:cTn id="182" dur="1" fill="hold">
                                          <p:stCondLst>
                                            <p:cond delay="0"/>
                                          </p:stCondLst>
                                        </p:cTn>
                                        <p:tgtEl>
                                          <p:spTgt spid="46">
                                            <p:txEl>
                                              <p:pRg st="2" end="2"/>
                                            </p:txEl>
                                          </p:spTgt>
                                        </p:tgtEl>
                                        <p:attrNameLst>
                                          <p:attrName>style.visibility</p:attrName>
                                        </p:attrNameLst>
                                      </p:cBhvr>
                                      <p:to>
                                        <p:strVal val="visible"/>
                                      </p:to>
                                    </p:set>
                                    <p:animEffect transition="in" filter="slide(fromBottom)">
                                      <p:cBhvr>
                                        <p:cTn id="183" dur="500"/>
                                        <p:tgtEl>
                                          <p:spTgt spid="46">
                                            <p:txEl>
                                              <p:pRg st="2" end="2"/>
                                            </p:txEl>
                                          </p:spTgt>
                                        </p:tgtEl>
                                      </p:cBhvr>
                                    </p:animEffect>
                                  </p:childTnLst>
                                </p:cTn>
                              </p:par>
                            </p:childTnLst>
                          </p:cTn>
                        </p:par>
                      </p:childTnLst>
                    </p:cTn>
                  </p:par>
                  <p:par>
                    <p:cTn id="184" fill="hold">
                      <p:stCondLst>
                        <p:cond delay="indefinite"/>
                      </p:stCondLst>
                      <p:childTnLst>
                        <p:par>
                          <p:cTn id="185" fill="hold">
                            <p:stCondLst>
                              <p:cond delay="0"/>
                            </p:stCondLst>
                            <p:childTnLst>
                              <p:par>
                                <p:cTn id="186" presetID="17" presetClass="entr" presetSubtype="8" fill="hold" grpId="0" nodeType="clickEffect">
                                  <p:stCondLst>
                                    <p:cond delay="0"/>
                                  </p:stCondLst>
                                  <p:childTnLst>
                                    <p:set>
                                      <p:cBhvr>
                                        <p:cTn id="187" dur="1" fill="hold">
                                          <p:stCondLst>
                                            <p:cond delay="0"/>
                                          </p:stCondLst>
                                        </p:cTn>
                                        <p:tgtEl>
                                          <p:spTgt spid="47"/>
                                        </p:tgtEl>
                                        <p:attrNameLst>
                                          <p:attrName>style.visibility</p:attrName>
                                        </p:attrNameLst>
                                      </p:cBhvr>
                                      <p:to>
                                        <p:strVal val="visible"/>
                                      </p:to>
                                    </p:set>
                                    <p:anim calcmode="lin" valueType="num">
                                      <p:cBhvr>
                                        <p:cTn id="188" dur="500" fill="hold"/>
                                        <p:tgtEl>
                                          <p:spTgt spid="47"/>
                                        </p:tgtEl>
                                        <p:attrNameLst>
                                          <p:attrName>ppt_x</p:attrName>
                                        </p:attrNameLst>
                                      </p:cBhvr>
                                      <p:tavLst>
                                        <p:tav tm="0">
                                          <p:val>
                                            <p:strVal val="#ppt_x-#ppt_w/2"/>
                                          </p:val>
                                        </p:tav>
                                        <p:tav tm="100000">
                                          <p:val>
                                            <p:strVal val="#ppt_x"/>
                                          </p:val>
                                        </p:tav>
                                      </p:tavLst>
                                    </p:anim>
                                    <p:anim calcmode="lin" valueType="num">
                                      <p:cBhvr>
                                        <p:cTn id="189" dur="500" fill="hold"/>
                                        <p:tgtEl>
                                          <p:spTgt spid="47"/>
                                        </p:tgtEl>
                                        <p:attrNameLst>
                                          <p:attrName>ppt_y</p:attrName>
                                        </p:attrNameLst>
                                      </p:cBhvr>
                                      <p:tavLst>
                                        <p:tav tm="0">
                                          <p:val>
                                            <p:strVal val="#ppt_y"/>
                                          </p:val>
                                        </p:tav>
                                        <p:tav tm="100000">
                                          <p:val>
                                            <p:strVal val="#ppt_y"/>
                                          </p:val>
                                        </p:tav>
                                      </p:tavLst>
                                    </p:anim>
                                    <p:anim calcmode="lin" valueType="num">
                                      <p:cBhvr>
                                        <p:cTn id="190" dur="500" fill="hold"/>
                                        <p:tgtEl>
                                          <p:spTgt spid="47"/>
                                        </p:tgtEl>
                                        <p:attrNameLst>
                                          <p:attrName>ppt_w</p:attrName>
                                        </p:attrNameLst>
                                      </p:cBhvr>
                                      <p:tavLst>
                                        <p:tav tm="0">
                                          <p:val>
                                            <p:fltVal val="0"/>
                                          </p:val>
                                        </p:tav>
                                        <p:tav tm="100000">
                                          <p:val>
                                            <p:strVal val="#ppt_w"/>
                                          </p:val>
                                        </p:tav>
                                      </p:tavLst>
                                    </p:anim>
                                    <p:anim calcmode="lin" valueType="num">
                                      <p:cBhvr>
                                        <p:cTn id="191" dur="500" fill="hold"/>
                                        <p:tgtEl>
                                          <p:spTgt spid="47"/>
                                        </p:tgtEl>
                                        <p:attrNameLst>
                                          <p:attrName>ppt_h</p:attrName>
                                        </p:attrNameLst>
                                      </p:cBhvr>
                                      <p:tavLst>
                                        <p:tav tm="0">
                                          <p:val>
                                            <p:strVal val="#ppt_h"/>
                                          </p:val>
                                        </p:tav>
                                        <p:tav tm="100000">
                                          <p:val>
                                            <p:strVal val="#ppt_h"/>
                                          </p:val>
                                        </p:tav>
                                      </p:tavLst>
                                    </p:anim>
                                  </p:childTnLst>
                                </p:cTn>
                              </p:par>
                            </p:childTnLst>
                          </p:cTn>
                        </p:par>
                      </p:childTnLst>
                    </p:cTn>
                  </p:par>
                  <p:par>
                    <p:cTn id="192" fill="hold">
                      <p:stCondLst>
                        <p:cond delay="indefinite"/>
                      </p:stCondLst>
                      <p:childTnLst>
                        <p:par>
                          <p:cTn id="193" fill="hold">
                            <p:stCondLst>
                              <p:cond delay="0"/>
                            </p:stCondLst>
                            <p:childTnLst>
                              <p:par>
                                <p:cTn id="194" presetID="12" presetClass="entr" presetSubtype="4" fill="hold" grpId="0" nodeType="clickEffect">
                                  <p:stCondLst>
                                    <p:cond delay="0"/>
                                  </p:stCondLst>
                                  <p:childTnLst>
                                    <p:set>
                                      <p:cBhvr>
                                        <p:cTn id="195" dur="1" fill="hold">
                                          <p:stCondLst>
                                            <p:cond delay="0"/>
                                          </p:stCondLst>
                                        </p:cTn>
                                        <p:tgtEl>
                                          <p:spTgt spid="48">
                                            <p:txEl>
                                              <p:pRg st="0" end="0"/>
                                            </p:txEl>
                                          </p:spTgt>
                                        </p:tgtEl>
                                        <p:attrNameLst>
                                          <p:attrName>style.visibility</p:attrName>
                                        </p:attrNameLst>
                                      </p:cBhvr>
                                      <p:to>
                                        <p:strVal val="visible"/>
                                      </p:to>
                                    </p:set>
                                    <p:animEffect transition="in" filter="slide(fromBottom)">
                                      <p:cBhvr>
                                        <p:cTn id="196" dur="500"/>
                                        <p:tgtEl>
                                          <p:spTgt spid="48">
                                            <p:txEl>
                                              <p:pRg st="0" end="0"/>
                                            </p:txEl>
                                          </p:spTgt>
                                        </p:tgtEl>
                                      </p:cBhvr>
                                    </p:animEffect>
                                  </p:childTnLst>
                                </p:cTn>
                              </p:par>
                            </p:childTnLst>
                          </p:cTn>
                        </p:par>
                      </p:childTnLst>
                    </p:cTn>
                  </p:par>
                  <p:par>
                    <p:cTn id="197" fill="hold">
                      <p:stCondLst>
                        <p:cond delay="indefinite"/>
                      </p:stCondLst>
                      <p:childTnLst>
                        <p:par>
                          <p:cTn id="198" fill="hold">
                            <p:stCondLst>
                              <p:cond delay="0"/>
                            </p:stCondLst>
                            <p:childTnLst>
                              <p:par>
                                <p:cTn id="199" presetID="17" presetClass="entr" presetSubtype="8" fill="hold" grpId="0" nodeType="clickEffect">
                                  <p:stCondLst>
                                    <p:cond delay="0"/>
                                  </p:stCondLst>
                                  <p:childTnLst>
                                    <p:set>
                                      <p:cBhvr>
                                        <p:cTn id="200" dur="1" fill="hold">
                                          <p:stCondLst>
                                            <p:cond delay="0"/>
                                          </p:stCondLst>
                                        </p:cTn>
                                        <p:tgtEl>
                                          <p:spTgt spid="49"/>
                                        </p:tgtEl>
                                        <p:attrNameLst>
                                          <p:attrName>style.visibility</p:attrName>
                                        </p:attrNameLst>
                                      </p:cBhvr>
                                      <p:to>
                                        <p:strVal val="visible"/>
                                      </p:to>
                                    </p:set>
                                    <p:anim calcmode="lin" valueType="num">
                                      <p:cBhvr>
                                        <p:cTn id="201" dur="500" fill="hold"/>
                                        <p:tgtEl>
                                          <p:spTgt spid="49"/>
                                        </p:tgtEl>
                                        <p:attrNameLst>
                                          <p:attrName>ppt_x</p:attrName>
                                        </p:attrNameLst>
                                      </p:cBhvr>
                                      <p:tavLst>
                                        <p:tav tm="0">
                                          <p:val>
                                            <p:strVal val="#ppt_x-#ppt_w/2"/>
                                          </p:val>
                                        </p:tav>
                                        <p:tav tm="100000">
                                          <p:val>
                                            <p:strVal val="#ppt_x"/>
                                          </p:val>
                                        </p:tav>
                                      </p:tavLst>
                                    </p:anim>
                                    <p:anim calcmode="lin" valueType="num">
                                      <p:cBhvr>
                                        <p:cTn id="202" dur="500" fill="hold"/>
                                        <p:tgtEl>
                                          <p:spTgt spid="49"/>
                                        </p:tgtEl>
                                        <p:attrNameLst>
                                          <p:attrName>ppt_y</p:attrName>
                                        </p:attrNameLst>
                                      </p:cBhvr>
                                      <p:tavLst>
                                        <p:tav tm="0">
                                          <p:val>
                                            <p:strVal val="#ppt_y"/>
                                          </p:val>
                                        </p:tav>
                                        <p:tav tm="100000">
                                          <p:val>
                                            <p:strVal val="#ppt_y"/>
                                          </p:val>
                                        </p:tav>
                                      </p:tavLst>
                                    </p:anim>
                                    <p:anim calcmode="lin" valueType="num">
                                      <p:cBhvr>
                                        <p:cTn id="203" dur="500" fill="hold"/>
                                        <p:tgtEl>
                                          <p:spTgt spid="49"/>
                                        </p:tgtEl>
                                        <p:attrNameLst>
                                          <p:attrName>ppt_w</p:attrName>
                                        </p:attrNameLst>
                                      </p:cBhvr>
                                      <p:tavLst>
                                        <p:tav tm="0">
                                          <p:val>
                                            <p:fltVal val="0"/>
                                          </p:val>
                                        </p:tav>
                                        <p:tav tm="100000">
                                          <p:val>
                                            <p:strVal val="#ppt_w"/>
                                          </p:val>
                                        </p:tav>
                                      </p:tavLst>
                                    </p:anim>
                                    <p:anim calcmode="lin" valueType="num">
                                      <p:cBhvr>
                                        <p:cTn id="204" dur="500" fill="hold"/>
                                        <p:tgtEl>
                                          <p:spTgt spid="49"/>
                                        </p:tgtEl>
                                        <p:attrNameLst>
                                          <p:attrName>ppt_h</p:attrName>
                                        </p:attrNameLst>
                                      </p:cBhvr>
                                      <p:tavLst>
                                        <p:tav tm="0">
                                          <p:val>
                                            <p:strVal val="#ppt_h"/>
                                          </p:val>
                                        </p:tav>
                                        <p:tav tm="100000">
                                          <p:val>
                                            <p:strVal val="#ppt_h"/>
                                          </p:val>
                                        </p:tav>
                                      </p:tavLst>
                                    </p:anim>
                                  </p:childTnLst>
                                </p:cTn>
                              </p:par>
                            </p:childTnLst>
                          </p:cTn>
                        </p:par>
                      </p:childTnLst>
                    </p:cTn>
                  </p:par>
                  <p:par>
                    <p:cTn id="205" fill="hold">
                      <p:stCondLst>
                        <p:cond delay="indefinite"/>
                      </p:stCondLst>
                      <p:childTnLst>
                        <p:par>
                          <p:cTn id="206" fill="hold">
                            <p:stCondLst>
                              <p:cond delay="0"/>
                            </p:stCondLst>
                            <p:childTnLst>
                              <p:par>
                                <p:cTn id="207" presetID="12" presetClass="entr" presetSubtype="4" fill="hold" grpId="0" nodeType="clickEffect">
                                  <p:stCondLst>
                                    <p:cond delay="0"/>
                                  </p:stCondLst>
                                  <p:childTnLst>
                                    <p:set>
                                      <p:cBhvr>
                                        <p:cTn id="208" dur="1" fill="hold">
                                          <p:stCondLst>
                                            <p:cond delay="0"/>
                                          </p:stCondLst>
                                        </p:cTn>
                                        <p:tgtEl>
                                          <p:spTgt spid="50">
                                            <p:txEl>
                                              <p:pRg st="0" end="0"/>
                                            </p:txEl>
                                          </p:spTgt>
                                        </p:tgtEl>
                                        <p:attrNameLst>
                                          <p:attrName>style.visibility</p:attrName>
                                        </p:attrNameLst>
                                      </p:cBhvr>
                                      <p:to>
                                        <p:strVal val="visible"/>
                                      </p:to>
                                    </p:set>
                                    <p:animEffect transition="in" filter="slide(fromBottom)">
                                      <p:cBhvr>
                                        <p:cTn id="209" dur="500"/>
                                        <p:tgtEl>
                                          <p:spTgt spid="50">
                                            <p:txEl>
                                              <p:pRg st="0" end="0"/>
                                            </p:txEl>
                                          </p:spTgt>
                                        </p:tgtEl>
                                      </p:cBhvr>
                                    </p:animEffect>
                                  </p:childTnLst>
                                </p:cTn>
                              </p:par>
                            </p:childTnLst>
                          </p:cTn>
                        </p:par>
                      </p:childTnLst>
                    </p:cTn>
                  </p:par>
                  <p:par>
                    <p:cTn id="210" fill="hold">
                      <p:stCondLst>
                        <p:cond delay="indefinite"/>
                      </p:stCondLst>
                      <p:childTnLst>
                        <p:par>
                          <p:cTn id="211" fill="hold">
                            <p:stCondLst>
                              <p:cond delay="0"/>
                            </p:stCondLst>
                            <p:childTnLst>
                              <p:par>
                                <p:cTn id="212" presetID="17" presetClass="entr" presetSubtype="8" fill="hold" grpId="0" nodeType="clickEffect">
                                  <p:stCondLst>
                                    <p:cond delay="0"/>
                                  </p:stCondLst>
                                  <p:childTnLst>
                                    <p:set>
                                      <p:cBhvr>
                                        <p:cTn id="213" dur="1" fill="hold">
                                          <p:stCondLst>
                                            <p:cond delay="0"/>
                                          </p:stCondLst>
                                        </p:cTn>
                                        <p:tgtEl>
                                          <p:spTgt spid="51"/>
                                        </p:tgtEl>
                                        <p:attrNameLst>
                                          <p:attrName>style.visibility</p:attrName>
                                        </p:attrNameLst>
                                      </p:cBhvr>
                                      <p:to>
                                        <p:strVal val="visible"/>
                                      </p:to>
                                    </p:set>
                                    <p:anim calcmode="lin" valueType="num">
                                      <p:cBhvr>
                                        <p:cTn id="214" dur="500" fill="hold"/>
                                        <p:tgtEl>
                                          <p:spTgt spid="51"/>
                                        </p:tgtEl>
                                        <p:attrNameLst>
                                          <p:attrName>ppt_x</p:attrName>
                                        </p:attrNameLst>
                                      </p:cBhvr>
                                      <p:tavLst>
                                        <p:tav tm="0">
                                          <p:val>
                                            <p:strVal val="#ppt_x-#ppt_w/2"/>
                                          </p:val>
                                        </p:tav>
                                        <p:tav tm="100000">
                                          <p:val>
                                            <p:strVal val="#ppt_x"/>
                                          </p:val>
                                        </p:tav>
                                      </p:tavLst>
                                    </p:anim>
                                    <p:anim calcmode="lin" valueType="num">
                                      <p:cBhvr>
                                        <p:cTn id="215" dur="500" fill="hold"/>
                                        <p:tgtEl>
                                          <p:spTgt spid="51"/>
                                        </p:tgtEl>
                                        <p:attrNameLst>
                                          <p:attrName>ppt_y</p:attrName>
                                        </p:attrNameLst>
                                      </p:cBhvr>
                                      <p:tavLst>
                                        <p:tav tm="0">
                                          <p:val>
                                            <p:strVal val="#ppt_y"/>
                                          </p:val>
                                        </p:tav>
                                        <p:tav tm="100000">
                                          <p:val>
                                            <p:strVal val="#ppt_y"/>
                                          </p:val>
                                        </p:tav>
                                      </p:tavLst>
                                    </p:anim>
                                    <p:anim calcmode="lin" valueType="num">
                                      <p:cBhvr>
                                        <p:cTn id="216" dur="500" fill="hold"/>
                                        <p:tgtEl>
                                          <p:spTgt spid="51"/>
                                        </p:tgtEl>
                                        <p:attrNameLst>
                                          <p:attrName>ppt_w</p:attrName>
                                        </p:attrNameLst>
                                      </p:cBhvr>
                                      <p:tavLst>
                                        <p:tav tm="0">
                                          <p:val>
                                            <p:fltVal val="0"/>
                                          </p:val>
                                        </p:tav>
                                        <p:tav tm="100000">
                                          <p:val>
                                            <p:strVal val="#ppt_w"/>
                                          </p:val>
                                        </p:tav>
                                      </p:tavLst>
                                    </p:anim>
                                    <p:anim calcmode="lin" valueType="num">
                                      <p:cBhvr>
                                        <p:cTn id="217" dur="500" fill="hold"/>
                                        <p:tgtEl>
                                          <p:spTgt spid="51"/>
                                        </p:tgtEl>
                                        <p:attrNameLst>
                                          <p:attrName>ppt_h</p:attrName>
                                        </p:attrNameLst>
                                      </p:cBhvr>
                                      <p:tavLst>
                                        <p:tav tm="0">
                                          <p:val>
                                            <p:strVal val="#ppt_h"/>
                                          </p:val>
                                        </p:tav>
                                        <p:tav tm="100000">
                                          <p:val>
                                            <p:strVal val="#ppt_h"/>
                                          </p:val>
                                        </p:tav>
                                      </p:tavLst>
                                    </p:anim>
                                  </p:childTnLst>
                                </p:cTn>
                              </p:par>
                            </p:childTnLst>
                          </p:cTn>
                        </p:par>
                      </p:childTnLst>
                    </p:cTn>
                  </p:par>
                  <p:par>
                    <p:cTn id="218" fill="hold">
                      <p:stCondLst>
                        <p:cond delay="indefinite"/>
                      </p:stCondLst>
                      <p:childTnLst>
                        <p:par>
                          <p:cTn id="219" fill="hold">
                            <p:stCondLst>
                              <p:cond delay="0"/>
                            </p:stCondLst>
                            <p:childTnLst>
                              <p:par>
                                <p:cTn id="220" presetID="12" presetClass="entr" presetSubtype="4" fill="hold" grpId="0" nodeType="clickEffect">
                                  <p:stCondLst>
                                    <p:cond delay="0"/>
                                  </p:stCondLst>
                                  <p:childTnLst>
                                    <p:set>
                                      <p:cBhvr>
                                        <p:cTn id="221" dur="1" fill="hold">
                                          <p:stCondLst>
                                            <p:cond delay="0"/>
                                          </p:stCondLst>
                                        </p:cTn>
                                        <p:tgtEl>
                                          <p:spTgt spid="52">
                                            <p:txEl>
                                              <p:pRg st="0" end="0"/>
                                            </p:txEl>
                                          </p:spTgt>
                                        </p:tgtEl>
                                        <p:attrNameLst>
                                          <p:attrName>style.visibility</p:attrName>
                                        </p:attrNameLst>
                                      </p:cBhvr>
                                      <p:to>
                                        <p:strVal val="visible"/>
                                      </p:to>
                                    </p:set>
                                    <p:animEffect transition="in" filter="slide(fromBottom)">
                                      <p:cBhvr>
                                        <p:cTn id="222" dur="500"/>
                                        <p:tgtEl>
                                          <p:spTgt spid="52">
                                            <p:txEl>
                                              <p:pRg st="0" end="0"/>
                                            </p:txEl>
                                          </p:spTgt>
                                        </p:tgtEl>
                                      </p:cBhvr>
                                    </p:animEffect>
                                  </p:childTnLst>
                                </p:cTn>
                              </p:par>
                            </p:childTnLst>
                          </p:cTn>
                        </p:par>
                      </p:childTnLst>
                    </p:cTn>
                  </p:par>
                  <p:par>
                    <p:cTn id="223" fill="hold">
                      <p:stCondLst>
                        <p:cond delay="indefinite"/>
                      </p:stCondLst>
                      <p:childTnLst>
                        <p:par>
                          <p:cTn id="224" fill="hold">
                            <p:stCondLst>
                              <p:cond delay="0"/>
                            </p:stCondLst>
                            <p:childTnLst>
                              <p:par>
                                <p:cTn id="225" presetID="17" presetClass="entr" presetSubtype="8" fill="hold" grpId="0" nodeType="clickEffect">
                                  <p:stCondLst>
                                    <p:cond delay="0"/>
                                  </p:stCondLst>
                                  <p:childTnLst>
                                    <p:set>
                                      <p:cBhvr>
                                        <p:cTn id="226" dur="1" fill="hold">
                                          <p:stCondLst>
                                            <p:cond delay="0"/>
                                          </p:stCondLst>
                                        </p:cTn>
                                        <p:tgtEl>
                                          <p:spTgt spid="53"/>
                                        </p:tgtEl>
                                        <p:attrNameLst>
                                          <p:attrName>style.visibility</p:attrName>
                                        </p:attrNameLst>
                                      </p:cBhvr>
                                      <p:to>
                                        <p:strVal val="visible"/>
                                      </p:to>
                                    </p:set>
                                    <p:anim calcmode="lin" valueType="num">
                                      <p:cBhvr>
                                        <p:cTn id="227" dur="500" fill="hold"/>
                                        <p:tgtEl>
                                          <p:spTgt spid="53"/>
                                        </p:tgtEl>
                                        <p:attrNameLst>
                                          <p:attrName>ppt_x</p:attrName>
                                        </p:attrNameLst>
                                      </p:cBhvr>
                                      <p:tavLst>
                                        <p:tav tm="0">
                                          <p:val>
                                            <p:strVal val="#ppt_x-#ppt_w/2"/>
                                          </p:val>
                                        </p:tav>
                                        <p:tav tm="100000">
                                          <p:val>
                                            <p:strVal val="#ppt_x"/>
                                          </p:val>
                                        </p:tav>
                                      </p:tavLst>
                                    </p:anim>
                                    <p:anim calcmode="lin" valueType="num">
                                      <p:cBhvr>
                                        <p:cTn id="228" dur="500" fill="hold"/>
                                        <p:tgtEl>
                                          <p:spTgt spid="53"/>
                                        </p:tgtEl>
                                        <p:attrNameLst>
                                          <p:attrName>ppt_y</p:attrName>
                                        </p:attrNameLst>
                                      </p:cBhvr>
                                      <p:tavLst>
                                        <p:tav tm="0">
                                          <p:val>
                                            <p:strVal val="#ppt_y"/>
                                          </p:val>
                                        </p:tav>
                                        <p:tav tm="100000">
                                          <p:val>
                                            <p:strVal val="#ppt_y"/>
                                          </p:val>
                                        </p:tav>
                                      </p:tavLst>
                                    </p:anim>
                                    <p:anim calcmode="lin" valueType="num">
                                      <p:cBhvr>
                                        <p:cTn id="229" dur="500" fill="hold"/>
                                        <p:tgtEl>
                                          <p:spTgt spid="53"/>
                                        </p:tgtEl>
                                        <p:attrNameLst>
                                          <p:attrName>ppt_w</p:attrName>
                                        </p:attrNameLst>
                                      </p:cBhvr>
                                      <p:tavLst>
                                        <p:tav tm="0">
                                          <p:val>
                                            <p:fltVal val="0"/>
                                          </p:val>
                                        </p:tav>
                                        <p:tav tm="100000">
                                          <p:val>
                                            <p:strVal val="#ppt_w"/>
                                          </p:val>
                                        </p:tav>
                                      </p:tavLst>
                                    </p:anim>
                                    <p:anim calcmode="lin" valueType="num">
                                      <p:cBhvr>
                                        <p:cTn id="230" dur="500" fill="hold"/>
                                        <p:tgtEl>
                                          <p:spTgt spid="53"/>
                                        </p:tgtEl>
                                        <p:attrNameLst>
                                          <p:attrName>ppt_h</p:attrName>
                                        </p:attrNameLst>
                                      </p:cBhvr>
                                      <p:tavLst>
                                        <p:tav tm="0">
                                          <p:val>
                                            <p:strVal val="#ppt_h"/>
                                          </p:val>
                                        </p:tav>
                                        <p:tav tm="100000">
                                          <p:val>
                                            <p:strVal val="#ppt_h"/>
                                          </p:val>
                                        </p:tav>
                                      </p:tavLst>
                                    </p:anim>
                                  </p:childTnLst>
                                </p:cTn>
                              </p:par>
                            </p:childTnLst>
                          </p:cTn>
                        </p:par>
                      </p:childTnLst>
                    </p:cTn>
                  </p:par>
                  <p:par>
                    <p:cTn id="231" fill="hold">
                      <p:stCondLst>
                        <p:cond delay="indefinite"/>
                      </p:stCondLst>
                      <p:childTnLst>
                        <p:par>
                          <p:cTn id="232" fill="hold">
                            <p:stCondLst>
                              <p:cond delay="0"/>
                            </p:stCondLst>
                            <p:childTnLst>
                              <p:par>
                                <p:cTn id="233" presetID="12" presetClass="entr" presetSubtype="4" fill="hold" grpId="0" nodeType="clickEffect">
                                  <p:stCondLst>
                                    <p:cond delay="0"/>
                                  </p:stCondLst>
                                  <p:childTnLst>
                                    <p:set>
                                      <p:cBhvr>
                                        <p:cTn id="234" dur="1" fill="hold">
                                          <p:stCondLst>
                                            <p:cond delay="0"/>
                                          </p:stCondLst>
                                        </p:cTn>
                                        <p:tgtEl>
                                          <p:spTgt spid="54">
                                            <p:txEl>
                                              <p:pRg st="0" end="0"/>
                                            </p:txEl>
                                          </p:spTgt>
                                        </p:tgtEl>
                                        <p:attrNameLst>
                                          <p:attrName>style.visibility</p:attrName>
                                        </p:attrNameLst>
                                      </p:cBhvr>
                                      <p:to>
                                        <p:strVal val="visible"/>
                                      </p:to>
                                    </p:set>
                                    <p:animEffect transition="in" filter="slide(fromBottom)">
                                      <p:cBhvr>
                                        <p:cTn id="235" dur="500"/>
                                        <p:tgtEl>
                                          <p:spTgt spid="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5" grpId="0" build="p" autoUpdateAnimBg="0"/>
      <p:bldP spid="6" grpId="0" animBg="1"/>
      <p:bldP spid="21" grpId="0" build="p" autoUpdateAnimBg="0"/>
      <p:bldP spid="22" grpId="0" build="p" autoUpdateAnimBg="0"/>
      <p:bldP spid="26" grpId="0" build="p" autoUpdateAnimBg="0"/>
      <p:bldP spid="30" grpId="0" build="p" autoUpdateAnimBg="0"/>
      <p:bldP spid="31" grpId="0" build="p" autoUpdateAnimBg="0"/>
      <p:bldP spid="32" grpId="0" animBg="1"/>
      <p:bldP spid="33" grpId="0" build="p" autoUpdateAnimBg="0"/>
      <p:bldP spid="34" grpId="0" animBg="1"/>
      <p:bldP spid="35" grpId="0" animBg="1"/>
      <p:bldP spid="36" grpId="0" build="p" autoUpdateAnimBg="0"/>
      <p:bldP spid="37" grpId="0" animBg="1"/>
      <p:bldP spid="38" grpId="0" build="p" autoUpdateAnimBg="0"/>
      <p:bldP spid="39" grpId="0" animBg="1"/>
      <p:bldP spid="40" grpId="0" build="p" autoUpdateAnimBg="0"/>
      <p:bldP spid="41" grpId="0" build="p" autoUpdateAnimBg="0"/>
      <p:bldP spid="45" grpId="0" build="p" autoUpdateAnimBg="0"/>
      <p:bldP spid="46" grpId="0" build="p" autoUpdateAnimBg="0"/>
      <p:bldP spid="47" grpId="0" animBg="1"/>
      <p:bldP spid="48" grpId="0" build="p" autoUpdateAnimBg="0"/>
      <p:bldP spid="49" grpId="0" animBg="1"/>
      <p:bldP spid="50" grpId="0" build="p" autoUpdateAnimBg="0"/>
      <p:bldP spid="51" grpId="0" animBg="1"/>
      <p:bldP spid="52" grpId="0" build="p" autoUpdateAnimBg="0"/>
      <p:bldP spid="53" grpId="0" animBg="1"/>
      <p:bldP spid="54" grpId="0" build="p" autoUpdateAnimBg="0"/>
      <p:bldP spid="55" grpId="0" animBg="1"/>
    </p:bld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en-US" altLang="zh-CN" dirty="0" err="1">
                <a:solidFill>
                  <a:srgbClr val="FF0000"/>
                </a:solidFill>
                <a:latin typeface="宋体" charset="-122"/>
              </a:rPr>
              <a:t>while_do</a:t>
            </a:r>
            <a:endParaRPr lang="zh-CN" altLang="en-US" dirty="0">
              <a:solidFill>
                <a:srgbClr val="FF0000"/>
              </a:solidFill>
            </a:endParaRPr>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控制语句</a:t>
            </a:r>
            <a:endParaRPr lang="zh-CN" altLang="en-US" dirty="0"/>
          </a:p>
        </p:txBody>
      </p:sp>
      <p:sp>
        <p:nvSpPr>
          <p:cNvPr id="4" name="Rectangle 11"/>
          <p:cNvSpPr txBox="1">
            <a:spLocks noChangeArrowheads="1"/>
          </p:cNvSpPr>
          <p:nvPr/>
        </p:nvSpPr>
        <p:spPr>
          <a:xfrm>
            <a:off x="289407" y="1424708"/>
            <a:ext cx="4800600" cy="1371600"/>
          </a:xfrm>
          <a:prstGeom prst="rect">
            <a:avLst/>
          </a:prstGeom>
          <a:noFill/>
          <a:ln/>
        </p:spPr>
        <p:txBody>
          <a:bodyPr vert="horz" lIns="92075" tIns="46038" rIns="92075" bIns="46038" rtlCol="0">
            <a:normAutofit/>
          </a:bodyPr>
          <a:lst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a:solidFill>
                  <a:srgbClr val="0206AD"/>
                </a:solidFill>
                <a:uFillTx/>
                <a:latin typeface="Times New Roman" panose="02020603050405020304" charset="0"/>
                <a:ea typeface="黑体" panose="02010609060101010101" charset="-122"/>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a:solidFill>
                  <a:srgbClr val="0066FF"/>
                </a:solidFill>
                <a:uFillTx/>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a:solidFill>
                  <a:srgbClr val="0206AD"/>
                </a:solidFill>
                <a:uFillTx/>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buClr>
                <a:srgbClr val="0000CC"/>
              </a:buClr>
              <a:buFont typeface="Wingdings" pitchFamily="2" charset="2"/>
              <a:buBlip>
                <a:blip r:embed="rId2"/>
              </a:buBlip>
            </a:pPr>
            <a:r>
              <a:rPr lang="zh-CN" altLang="en-US" sz="2800" dirty="0">
                <a:latin typeface="宋体" charset="-122"/>
              </a:rPr>
              <a:t>语法 </a:t>
            </a:r>
            <a:r>
              <a:rPr lang="en-US" altLang="zh-CN" sz="2800" dirty="0" err="1">
                <a:latin typeface="宋体" charset="-122"/>
              </a:rPr>
              <a:t>S→while</a:t>
            </a:r>
            <a:r>
              <a:rPr lang="en-US" altLang="zh-CN" sz="2800" dirty="0">
                <a:latin typeface="宋体" charset="-122"/>
              </a:rPr>
              <a:t> E do S1 </a:t>
            </a:r>
          </a:p>
          <a:p>
            <a:pPr>
              <a:spcBef>
                <a:spcPct val="0"/>
              </a:spcBef>
              <a:buClr>
                <a:srgbClr val="0000CC"/>
              </a:buClr>
              <a:buFont typeface="Wingdings" pitchFamily="2" charset="2"/>
              <a:buBlip>
                <a:blip r:embed="rId2"/>
              </a:buBlip>
            </a:pPr>
            <a:r>
              <a:rPr lang="zh-CN" altLang="en-US" sz="2800" dirty="0">
                <a:latin typeface="宋体" charset="-122"/>
              </a:rPr>
              <a:t>语义 如果</a:t>
            </a:r>
            <a:r>
              <a:rPr lang="en-US" altLang="zh-CN" sz="2800" dirty="0">
                <a:latin typeface="宋体" charset="-122"/>
              </a:rPr>
              <a:t>E</a:t>
            </a:r>
            <a:r>
              <a:rPr lang="zh-CN" altLang="en-US" sz="2800" dirty="0">
                <a:latin typeface="宋体" charset="-122"/>
              </a:rPr>
              <a:t>的值为</a:t>
            </a:r>
            <a:r>
              <a:rPr lang="en-US" altLang="zh-CN" sz="2800" dirty="0">
                <a:latin typeface="宋体" charset="-122"/>
              </a:rPr>
              <a:t>true</a:t>
            </a:r>
            <a:r>
              <a:rPr lang="zh-CN" altLang="en-US" sz="2800" dirty="0">
                <a:latin typeface="宋体" charset="-122"/>
              </a:rPr>
              <a:t>，</a:t>
            </a:r>
          </a:p>
          <a:p>
            <a:pPr>
              <a:spcBef>
                <a:spcPct val="0"/>
              </a:spcBef>
              <a:buFontTx/>
              <a:buNone/>
            </a:pPr>
            <a:r>
              <a:rPr lang="zh-CN" altLang="en-US" sz="2800" dirty="0">
                <a:latin typeface="宋体" charset="-122"/>
              </a:rPr>
              <a:t>那么执行</a:t>
            </a:r>
            <a:r>
              <a:rPr lang="en-US" altLang="zh-CN" sz="2800" dirty="0">
                <a:latin typeface="宋体" charset="-122"/>
              </a:rPr>
              <a:t>S1</a:t>
            </a:r>
            <a:r>
              <a:rPr lang="zh-CN" altLang="en-US" sz="2800" dirty="0">
                <a:latin typeface="宋体" charset="-122"/>
              </a:rPr>
              <a:t>；否则退出循环     </a:t>
            </a:r>
          </a:p>
        </p:txBody>
      </p:sp>
      <p:sp>
        <p:nvSpPr>
          <p:cNvPr id="5" name="Rectangle 12"/>
          <p:cNvSpPr>
            <a:spLocks noChangeArrowheads="1"/>
          </p:cNvSpPr>
          <p:nvPr/>
        </p:nvSpPr>
        <p:spPr bwMode="auto">
          <a:xfrm>
            <a:off x="4937607" y="2034308"/>
            <a:ext cx="42672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20000"/>
              </a:spcBef>
              <a:buClr>
                <a:srgbClr val="0000CC"/>
              </a:buClr>
              <a:buFont typeface="Wingdings" pitchFamily="2" charset="2"/>
              <a:buBlip>
                <a:blip r:embed="rId2"/>
              </a:buBlip>
            </a:pPr>
            <a:r>
              <a:rPr kumimoji="1" lang="zh-CN" altLang="en-US" sz="2800">
                <a:latin typeface="宋体" charset="-122"/>
              </a:rPr>
              <a:t>举例  </a:t>
            </a:r>
          </a:p>
          <a:p>
            <a:pPr eaLnBrk="0" hangingPunct="0">
              <a:lnSpc>
                <a:spcPct val="90000"/>
              </a:lnSpc>
              <a:spcBef>
                <a:spcPct val="20000"/>
              </a:spcBef>
              <a:buClr>
                <a:schemeClr val="tx2"/>
              </a:buClr>
              <a:buSzPct val="75000"/>
              <a:buFont typeface="Monotype Sorts" pitchFamily="2" charset="2"/>
              <a:buNone/>
            </a:pPr>
            <a:r>
              <a:rPr kumimoji="1" lang="zh-CN" altLang="en-US" sz="2800">
                <a:latin typeface="宋体" charset="-122"/>
              </a:rPr>
              <a:t> </a:t>
            </a:r>
            <a:r>
              <a:rPr kumimoji="1" lang="en-US" altLang="zh-CN" sz="2800">
                <a:latin typeface="宋体" charset="-122"/>
              </a:rPr>
              <a:t>while a&lt;b do x:=y+z  </a:t>
            </a:r>
          </a:p>
          <a:p>
            <a:pPr eaLnBrk="0" hangingPunct="0">
              <a:lnSpc>
                <a:spcPct val="90000"/>
              </a:lnSpc>
              <a:spcBef>
                <a:spcPct val="20000"/>
              </a:spcBef>
              <a:buClr>
                <a:schemeClr val="tx2"/>
              </a:buClr>
              <a:buSzPct val="75000"/>
              <a:buFont typeface="Monotype Sorts" pitchFamily="2" charset="2"/>
              <a:buNone/>
            </a:pPr>
            <a:r>
              <a:rPr kumimoji="1" lang="zh-CN" altLang="en-US" sz="2800">
                <a:latin typeface="宋体" charset="-122"/>
              </a:rPr>
              <a:t>翻译成四元式序列为： </a:t>
            </a:r>
          </a:p>
        </p:txBody>
      </p:sp>
      <p:sp>
        <p:nvSpPr>
          <p:cNvPr id="6" name="Line 13"/>
          <p:cNvSpPr>
            <a:spLocks noChangeShapeType="1"/>
          </p:cNvSpPr>
          <p:nvPr/>
        </p:nvSpPr>
        <p:spPr bwMode="auto">
          <a:xfrm>
            <a:off x="6309207" y="2948708"/>
            <a:ext cx="609600" cy="0"/>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 name="Group 14"/>
          <p:cNvGrpSpPr>
            <a:grpSpLocks/>
          </p:cNvGrpSpPr>
          <p:nvPr/>
        </p:nvGrpSpPr>
        <p:grpSpPr bwMode="auto">
          <a:xfrm>
            <a:off x="137007" y="2643908"/>
            <a:ext cx="4570413" cy="3505200"/>
            <a:chOff x="0" y="1200"/>
            <a:chExt cx="2879" cy="2208"/>
          </a:xfrm>
        </p:grpSpPr>
        <p:sp>
          <p:nvSpPr>
            <p:cNvPr id="8" name="Rectangle 15"/>
            <p:cNvSpPr>
              <a:spLocks noChangeArrowheads="1"/>
            </p:cNvSpPr>
            <p:nvPr/>
          </p:nvSpPr>
          <p:spPr bwMode="auto">
            <a:xfrm>
              <a:off x="831" y="1311"/>
              <a:ext cx="969" cy="719"/>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a:latin typeface="Times New Roman" pitchFamily="18" charset="0"/>
                </a:rPr>
                <a:t>E.code</a:t>
              </a:r>
            </a:p>
          </p:txBody>
        </p:sp>
        <p:sp>
          <p:nvSpPr>
            <p:cNvPr id="9" name="Rectangle 16"/>
            <p:cNvSpPr>
              <a:spLocks noChangeArrowheads="1"/>
            </p:cNvSpPr>
            <p:nvPr/>
          </p:nvSpPr>
          <p:spPr bwMode="auto">
            <a:xfrm>
              <a:off x="831" y="2030"/>
              <a:ext cx="969" cy="448"/>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a:latin typeface="Times New Roman" pitchFamily="18" charset="0"/>
                </a:rPr>
                <a:t>S1.code</a:t>
              </a:r>
            </a:p>
          </p:txBody>
        </p:sp>
        <p:sp>
          <p:nvSpPr>
            <p:cNvPr id="10" name="Text Box 17"/>
            <p:cNvSpPr txBox="1">
              <a:spLocks noChangeArrowheads="1"/>
            </p:cNvSpPr>
            <p:nvPr/>
          </p:nvSpPr>
          <p:spPr bwMode="auto">
            <a:xfrm>
              <a:off x="96" y="1942"/>
              <a:ext cx="726" cy="32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a:latin typeface="Times New Roman" pitchFamily="18" charset="0"/>
                </a:rPr>
                <a:t>E.true:</a:t>
              </a:r>
            </a:p>
          </p:txBody>
        </p:sp>
        <p:sp>
          <p:nvSpPr>
            <p:cNvPr id="11" name="Text Box 18"/>
            <p:cNvSpPr txBox="1">
              <a:spLocks noChangeArrowheads="1"/>
            </p:cNvSpPr>
            <p:nvPr/>
          </p:nvSpPr>
          <p:spPr bwMode="auto">
            <a:xfrm>
              <a:off x="48" y="2932"/>
              <a:ext cx="860" cy="32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a:latin typeface="Times New Roman" pitchFamily="18" charset="0"/>
                </a:rPr>
                <a:t>E.false:</a:t>
              </a:r>
            </a:p>
          </p:txBody>
        </p:sp>
        <p:sp>
          <p:nvSpPr>
            <p:cNvPr id="12" name="Rectangle 19"/>
            <p:cNvSpPr>
              <a:spLocks noChangeArrowheads="1"/>
            </p:cNvSpPr>
            <p:nvPr/>
          </p:nvSpPr>
          <p:spPr bwMode="auto">
            <a:xfrm>
              <a:off x="831" y="2478"/>
              <a:ext cx="969" cy="510"/>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a:latin typeface="Times New Roman" pitchFamily="18" charset="0"/>
                </a:rPr>
                <a:t>goto</a:t>
              </a:r>
            </a:p>
            <a:p>
              <a:pPr algn="ctr"/>
              <a:r>
                <a:rPr kumimoji="1" lang="en-US" altLang="zh-CN" sz="2800">
                  <a:latin typeface="Times New Roman" pitchFamily="18" charset="0"/>
                </a:rPr>
                <a:t> S.begin</a:t>
              </a:r>
            </a:p>
          </p:txBody>
        </p:sp>
        <p:sp>
          <p:nvSpPr>
            <p:cNvPr id="13" name="Rectangle 20"/>
            <p:cNvSpPr>
              <a:spLocks noChangeArrowheads="1"/>
            </p:cNvSpPr>
            <p:nvPr/>
          </p:nvSpPr>
          <p:spPr bwMode="auto">
            <a:xfrm>
              <a:off x="829" y="2988"/>
              <a:ext cx="969" cy="420"/>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a:latin typeface="Times New Roman" pitchFamily="18" charset="0"/>
                </a:rPr>
                <a:t>...</a:t>
              </a:r>
            </a:p>
          </p:txBody>
        </p:sp>
        <p:sp>
          <p:nvSpPr>
            <p:cNvPr id="14" name="Text Box 21"/>
            <p:cNvSpPr txBox="1">
              <a:spLocks noChangeArrowheads="1"/>
            </p:cNvSpPr>
            <p:nvPr/>
          </p:nvSpPr>
          <p:spPr bwMode="auto">
            <a:xfrm>
              <a:off x="0" y="1200"/>
              <a:ext cx="912" cy="32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a:latin typeface="Times New Roman" pitchFamily="18" charset="0"/>
                </a:rPr>
                <a:t>S.begin:</a:t>
              </a:r>
            </a:p>
          </p:txBody>
        </p:sp>
        <p:sp>
          <p:nvSpPr>
            <p:cNvPr id="15" name="Text Box 22"/>
            <p:cNvSpPr txBox="1">
              <a:spLocks noChangeArrowheads="1"/>
            </p:cNvSpPr>
            <p:nvPr/>
          </p:nvSpPr>
          <p:spPr bwMode="auto">
            <a:xfrm>
              <a:off x="1776" y="1428"/>
              <a:ext cx="1007"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pPr>
              <a:r>
                <a:rPr kumimoji="1" lang="en-US" altLang="zh-CN" sz="2800">
                  <a:latin typeface="Times New Roman" pitchFamily="18" charset="0"/>
                </a:rPr>
                <a:t>to E.true</a:t>
              </a:r>
            </a:p>
          </p:txBody>
        </p:sp>
        <p:sp>
          <p:nvSpPr>
            <p:cNvPr id="16" name="Text Box 23"/>
            <p:cNvSpPr txBox="1">
              <a:spLocks noChangeArrowheads="1"/>
            </p:cNvSpPr>
            <p:nvPr/>
          </p:nvSpPr>
          <p:spPr bwMode="auto">
            <a:xfrm>
              <a:off x="1776" y="1748"/>
              <a:ext cx="1103"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pPr>
              <a:r>
                <a:rPr kumimoji="1" lang="en-US" altLang="zh-CN" sz="2800">
                  <a:latin typeface="Times New Roman" pitchFamily="18" charset="0"/>
                </a:rPr>
                <a:t>to E.false</a:t>
              </a:r>
            </a:p>
          </p:txBody>
        </p:sp>
        <p:sp>
          <p:nvSpPr>
            <p:cNvPr id="17" name="Line 24"/>
            <p:cNvSpPr>
              <a:spLocks noChangeShapeType="1"/>
            </p:cNvSpPr>
            <p:nvPr/>
          </p:nvSpPr>
          <p:spPr bwMode="auto">
            <a:xfrm>
              <a:off x="1714" y="1428"/>
              <a:ext cx="329" cy="0"/>
            </a:xfrm>
            <a:prstGeom prst="line">
              <a:avLst/>
            </a:prstGeom>
            <a:noFill/>
            <a:ln w="3810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25"/>
            <p:cNvSpPr>
              <a:spLocks noChangeShapeType="1"/>
            </p:cNvSpPr>
            <p:nvPr/>
          </p:nvSpPr>
          <p:spPr bwMode="auto">
            <a:xfrm>
              <a:off x="1714" y="1748"/>
              <a:ext cx="329" cy="0"/>
            </a:xfrm>
            <a:prstGeom prst="line">
              <a:avLst/>
            </a:prstGeom>
            <a:noFill/>
            <a:ln w="3810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19" name="AutoShape 26"/>
            <p:cNvCxnSpPr>
              <a:cxnSpLocks noChangeShapeType="1"/>
            </p:cNvCxnSpPr>
            <p:nvPr/>
          </p:nvCxnSpPr>
          <p:spPr bwMode="auto">
            <a:xfrm rot="10800000" flipH="1">
              <a:off x="816" y="1507"/>
              <a:ext cx="1" cy="1062"/>
            </a:xfrm>
            <a:prstGeom prst="bentConnector3">
              <a:avLst>
                <a:gd name="adj1" fmla="val -75500005"/>
              </a:avLst>
            </a:prstGeom>
            <a:noFill/>
            <a:ln w="38100">
              <a:solidFill>
                <a:srgbClr val="FF0066"/>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0" name="Rectangle 27"/>
          <p:cNvSpPr>
            <a:spLocks noChangeArrowheads="1"/>
          </p:cNvSpPr>
          <p:nvPr/>
        </p:nvSpPr>
        <p:spPr bwMode="auto">
          <a:xfrm>
            <a:off x="7523645" y="4009158"/>
            <a:ext cx="1660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2800">
                <a:latin typeface="宋体" charset="-122"/>
              </a:rPr>
              <a:t> E.true</a:t>
            </a:r>
          </a:p>
        </p:txBody>
      </p:sp>
      <p:sp>
        <p:nvSpPr>
          <p:cNvPr id="21" name="Rectangle 28"/>
          <p:cNvSpPr>
            <a:spLocks noChangeArrowheads="1"/>
          </p:cNvSpPr>
          <p:nvPr/>
        </p:nvSpPr>
        <p:spPr bwMode="auto">
          <a:xfrm>
            <a:off x="7571270" y="4466358"/>
            <a:ext cx="17097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2800">
                <a:latin typeface="宋体" charset="-122"/>
              </a:rPr>
              <a:t> E.false</a:t>
            </a:r>
          </a:p>
        </p:txBody>
      </p:sp>
      <p:sp>
        <p:nvSpPr>
          <p:cNvPr id="22" name="Rectangle 29"/>
          <p:cNvSpPr>
            <a:spLocks noChangeArrowheads="1"/>
          </p:cNvSpPr>
          <p:nvPr/>
        </p:nvSpPr>
        <p:spPr bwMode="auto">
          <a:xfrm>
            <a:off x="4612170" y="4085358"/>
            <a:ext cx="3276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100 (j&lt;,a,b,   0)</a:t>
            </a:r>
          </a:p>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101 (j,_,_,    0)</a:t>
            </a:r>
          </a:p>
        </p:txBody>
      </p:sp>
      <p:grpSp>
        <p:nvGrpSpPr>
          <p:cNvPr id="23" name="Group 30"/>
          <p:cNvGrpSpPr>
            <a:grpSpLocks/>
          </p:cNvGrpSpPr>
          <p:nvPr/>
        </p:nvGrpSpPr>
        <p:grpSpPr bwMode="auto">
          <a:xfrm>
            <a:off x="7507770" y="4085358"/>
            <a:ext cx="534987" cy="228600"/>
            <a:chOff x="2976" y="624"/>
            <a:chExt cx="768" cy="144"/>
          </a:xfrm>
        </p:grpSpPr>
        <p:sp>
          <p:nvSpPr>
            <p:cNvPr id="24" name="Line 31"/>
            <p:cNvSpPr>
              <a:spLocks noChangeShapeType="1"/>
            </p:cNvSpPr>
            <p:nvPr/>
          </p:nvSpPr>
          <p:spPr bwMode="auto">
            <a:xfrm flipV="1">
              <a:off x="2976" y="624"/>
              <a:ext cx="0" cy="144"/>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32"/>
            <p:cNvSpPr>
              <a:spLocks noChangeShapeType="1"/>
            </p:cNvSpPr>
            <p:nvPr/>
          </p:nvSpPr>
          <p:spPr bwMode="auto">
            <a:xfrm>
              <a:off x="2976" y="624"/>
              <a:ext cx="768" cy="0"/>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 name="Group 33"/>
          <p:cNvGrpSpPr>
            <a:grpSpLocks/>
          </p:cNvGrpSpPr>
          <p:nvPr/>
        </p:nvGrpSpPr>
        <p:grpSpPr bwMode="auto">
          <a:xfrm>
            <a:off x="7507770" y="4542558"/>
            <a:ext cx="534987" cy="228600"/>
            <a:chOff x="2976" y="624"/>
            <a:chExt cx="768" cy="144"/>
          </a:xfrm>
        </p:grpSpPr>
        <p:sp>
          <p:nvSpPr>
            <p:cNvPr id="27" name="Line 34"/>
            <p:cNvSpPr>
              <a:spLocks noChangeShapeType="1"/>
            </p:cNvSpPr>
            <p:nvPr/>
          </p:nvSpPr>
          <p:spPr bwMode="auto">
            <a:xfrm flipV="1">
              <a:off x="2976" y="624"/>
              <a:ext cx="0" cy="144"/>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35"/>
            <p:cNvSpPr>
              <a:spLocks noChangeShapeType="1"/>
            </p:cNvSpPr>
            <p:nvPr/>
          </p:nvSpPr>
          <p:spPr bwMode="auto">
            <a:xfrm>
              <a:off x="2976" y="624"/>
              <a:ext cx="768" cy="0"/>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9" name="Line 36"/>
          <p:cNvSpPr>
            <a:spLocks noChangeShapeType="1"/>
          </p:cNvSpPr>
          <p:nvPr/>
        </p:nvSpPr>
        <p:spPr bwMode="auto">
          <a:xfrm>
            <a:off x="4328007" y="4167908"/>
            <a:ext cx="304800" cy="152400"/>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Rectangle 37"/>
          <p:cNvSpPr>
            <a:spLocks noChangeArrowheads="1"/>
          </p:cNvSpPr>
          <p:nvPr/>
        </p:nvSpPr>
        <p:spPr bwMode="auto">
          <a:xfrm>
            <a:off x="3108807" y="3909146"/>
            <a:ext cx="1301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Times New Roman" pitchFamily="18" charset="0"/>
              </a:rPr>
              <a:t>S.begin</a:t>
            </a:r>
          </a:p>
        </p:txBody>
      </p:sp>
      <p:sp>
        <p:nvSpPr>
          <p:cNvPr id="31" name="Line 38"/>
          <p:cNvSpPr>
            <a:spLocks noChangeShapeType="1"/>
          </p:cNvSpPr>
          <p:nvPr/>
        </p:nvSpPr>
        <p:spPr bwMode="auto">
          <a:xfrm flipV="1">
            <a:off x="4251807" y="4396508"/>
            <a:ext cx="381000" cy="152400"/>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Rectangle 39"/>
          <p:cNvSpPr>
            <a:spLocks noChangeArrowheads="1"/>
          </p:cNvSpPr>
          <p:nvPr/>
        </p:nvSpPr>
        <p:spPr bwMode="auto">
          <a:xfrm>
            <a:off x="3566007" y="4244108"/>
            <a:ext cx="914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2800">
                <a:latin typeface="宋体" charset="-122"/>
              </a:rPr>
              <a:t>E.t</a:t>
            </a:r>
          </a:p>
        </p:txBody>
      </p:sp>
      <p:sp>
        <p:nvSpPr>
          <p:cNvPr id="33" name="Line 40"/>
          <p:cNvSpPr>
            <a:spLocks noChangeShapeType="1"/>
          </p:cNvSpPr>
          <p:nvPr/>
        </p:nvSpPr>
        <p:spPr bwMode="auto">
          <a:xfrm>
            <a:off x="4251807" y="4853708"/>
            <a:ext cx="381000" cy="0"/>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Rectangle 41"/>
          <p:cNvSpPr>
            <a:spLocks noChangeArrowheads="1"/>
          </p:cNvSpPr>
          <p:nvPr/>
        </p:nvSpPr>
        <p:spPr bwMode="auto">
          <a:xfrm>
            <a:off x="3532670" y="4548908"/>
            <a:ext cx="7223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宋体" charset="-122"/>
              </a:rPr>
              <a:t>E.f</a:t>
            </a:r>
          </a:p>
        </p:txBody>
      </p:sp>
      <p:sp>
        <p:nvSpPr>
          <p:cNvPr id="35" name="Line 42"/>
          <p:cNvSpPr>
            <a:spLocks noChangeShapeType="1"/>
          </p:cNvSpPr>
          <p:nvPr/>
        </p:nvSpPr>
        <p:spPr bwMode="auto">
          <a:xfrm>
            <a:off x="7528407" y="2948708"/>
            <a:ext cx="1143000" cy="0"/>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Rectangle 43"/>
          <p:cNvSpPr>
            <a:spLocks noChangeArrowheads="1"/>
          </p:cNvSpPr>
          <p:nvPr/>
        </p:nvSpPr>
        <p:spPr bwMode="auto">
          <a:xfrm>
            <a:off x="4632807" y="5006108"/>
            <a:ext cx="3276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102 (+,y,z,T1)</a:t>
            </a:r>
          </a:p>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103 (:=,T1,_,x)</a:t>
            </a:r>
          </a:p>
        </p:txBody>
      </p:sp>
      <p:sp>
        <p:nvSpPr>
          <p:cNvPr id="37" name="Line 44"/>
          <p:cNvSpPr>
            <a:spLocks noChangeShapeType="1"/>
          </p:cNvSpPr>
          <p:nvPr/>
        </p:nvSpPr>
        <p:spPr bwMode="auto">
          <a:xfrm>
            <a:off x="4251807" y="5234708"/>
            <a:ext cx="381000" cy="0"/>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Rectangle 45"/>
          <p:cNvSpPr>
            <a:spLocks noChangeArrowheads="1"/>
          </p:cNvSpPr>
          <p:nvPr/>
        </p:nvSpPr>
        <p:spPr bwMode="auto">
          <a:xfrm>
            <a:off x="2743682" y="4944196"/>
            <a:ext cx="1660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2800">
                <a:latin typeface="宋体" charset="-122"/>
              </a:rPr>
              <a:t> E.true</a:t>
            </a:r>
          </a:p>
        </p:txBody>
      </p:sp>
      <p:sp>
        <p:nvSpPr>
          <p:cNvPr id="39" name="Line 46"/>
          <p:cNvSpPr>
            <a:spLocks noChangeShapeType="1"/>
          </p:cNvSpPr>
          <p:nvPr/>
        </p:nvSpPr>
        <p:spPr bwMode="auto">
          <a:xfrm>
            <a:off x="7299807" y="4244108"/>
            <a:ext cx="304800" cy="152400"/>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Rectangle 47"/>
          <p:cNvSpPr>
            <a:spLocks noChangeArrowheads="1"/>
          </p:cNvSpPr>
          <p:nvPr/>
        </p:nvSpPr>
        <p:spPr bwMode="auto">
          <a:xfrm>
            <a:off x="6688620" y="4091708"/>
            <a:ext cx="7223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宋体" charset="-122"/>
              </a:rPr>
              <a:t>102</a:t>
            </a:r>
          </a:p>
        </p:txBody>
      </p:sp>
      <p:sp>
        <p:nvSpPr>
          <p:cNvPr id="41" name="Rectangle 48"/>
          <p:cNvSpPr>
            <a:spLocks noChangeArrowheads="1"/>
          </p:cNvSpPr>
          <p:nvPr/>
        </p:nvSpPr>
        <p:spPr bwMode="auto">
          <a:xfrm>
            <a:off x="4632807" y="5996708"/>
            <a:ext cx="3276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104 (j,_,_,100)</a:t>
            </a:r>
          </a:p>
        </p:txBody>
      </p:sp>
      <p:grpSp>
        <p:nvGrpSpPr>
          <p:cNvPr id="42" name="Group 49"/>
          <p:cNvGrpSpPr>
            <a:grpSpLocks/>
          </p:cNvGrpSpPr>
          <p:nvPr/>
        </p:nvGrpSpPr>
        <p:grpSpPr bwMode="auto">
          <a:xfrm>
            <a:off x="6993420" y="5920508"/>
            <a:ext cx="534987" cy="228600"/>
            <a:chOff x="2976" y="624"/>
            <a:chExt cx="768" cy="144"/>
          </a:xfrm>
        </p:grpSpPr>
        <p:sp>
          <p:nvSpPr>
            <p:cNvPr id="43" name="Line 50"/>
            <p:cNvSpPr>
              <a:spLocks noChangeShapeType="1"/>
            </p:cNvSpPr>
            <p:nvPr/>
          </p:nvSpPr>
          <p:spPr bwMode="auto">
            <a:xfrm flipV="1">
              <a:off x="2976" y="624"/>
              <a:ext cx="0" cy="144"/>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51"/>
            <p:cNvSpPr>
              <a:spLocks noChangeShapeType="1"/>
            </p:cNvSpPr>
            <p:nvPr/>
          </p:nvSpPr>
          <p:spPr bwMode="auto">
            <a:xfrm>
              <a:off x="2976" y="624"/>
              <a:ext cx="768" cy="0"/>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5" name="Rectangle 52"/>
          <p:cNvSpPr>
            <a:spLocks noChangeArrowheads="1"/>
          </p:cNvSpPr>
          <p:nvPr/>
        </p:nvSpPr>
        <p:spPr bwMode="auto">
          <a:xfrm>
            <a:off x="7528407" y="5629996"/>
            <a:ext cx="1301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Times New Roman" pitchFamily="18" charset="0"/>
              </a:rPr>
              <a:t>S.begin</a:t>
            </a:r>
          </a:p>
        </p:txBody>
      </p:sp>
      <p:sp>
        <p:nvSpPr>
          <p:cNvPr id="46" name="Rectangle 53"/>
          <p:cNvSpPr>
            <a:spLocks noChangeArrowheads="1"/>
          </p:cNvSpPr>
          <p:nvPr/>
        </p:nvSpPr>
        <p:spPr bwMode="auto">
          <a:xfrm>
            <a:off x="4632807" y="6453908"/>
            <a:ext cx="3276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eaLnBrk="0" hangingPunct="0">
              <a:lnSpc>
                <a:spcPct val="90000"/>
              </a:lnSpc>
              <a:spcBef>
                <a:spcPct val="20000"/>
              </a:spcBef>
              <a:buClr>
                <a:schemeClr val="tx2"/>
              </a:buClr>
              <a:buSzPct val="75000"/>
              <a:buFont typeface="Monotype Sorts" pitchFamily="2" charset="2"/>
              <a:buNone/>
            </a:pPr>
            <a:r>
              <a:rPr kumimoji="1" lang="en-US" altLang="zh-CN" sz="2800">
                <a:latin typeface="宋体" charset="-122"/>
              </a:rPr>
              <a:t>105 </a:t>
            </a:r>
          </a:p>
        </p:txBody>
      </p:sp>
      <p:sp>
        <p:nvSpPr>
          <p:cNvPr id="47" name="Line 54"/>
          <p:cNvSpPr>
            <a:spLocks noChangeShapeType="1"/>
          </p:cNvSpPr>
          <p:nvPr/>
        </p:nvSpPr>
        <p:spPr bwMode="auto">
          <a:xfrm>
            <a:off x="4251807" y="6682508"/>
            <a:ext cx="381000" cy="0"/>
          </a:xfrm>
          <a:prstGeom prst="line">
            <a:avLst/>
          </a:prstGeom>
          <a:noFill/>
          <a:ln w="38100">
            <a:solidFill>
              <a:srgbClr val="FF0066"/>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Rectangle 55"/>
          <p:cNvSpPr>
            <a:spLocks noChangeArrowheads="1"/>
          </p:cNvSpPr>
          <p:nvPr/>
        </p:nvSpPr>
        <p:spPr bwMode="auto">
          <a:xfrm>
            <a:off x="2618270" y="6391996"/>
            <a:ext cx="17097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1" lang="en-US" altLang="zh-CN" sz="2800">
                <a:latin typeface="宋体" charset="-122"/>
              </a:rPr>
              <a:t> E.false</a:t>
            </a:r>
          </a:p>
        </p:txBody>
      </p:sp>
      <p:sp>
        <p:nvSpPr>
          <p:cNvPr id="49" name="Line 56"/>
          <p:cNvSpPr>
            <a:spLocks noChangeShapeType="1"/>
          </p:cNvSpPr>
          <p:nvPr/>
        </p:nvSpPr>
        <p:spPr bwMode="auto">
          <a:xfrm>
            <a:off x="7299807" y="4701308"/>
            <a:ext cx="304800" cy="152400"/>
          </a:xfrm>
          <a:prstGeom prst="line">
            <a:avLst/>
          </a:prstGeom>
          <a:noFill/>
          <a:ln w="381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Rectangle 57"/>
          <p:cNvSpPr>
            <a:spLocks noChangeArrowheads="1"/>
          </p:cNvSpPr>
          <p:nvPr/>
        </p:nvSpPr>
        <p:spPr bwMode="auto">
          <a:xfrm>
            <a:off x="6612420" y="4548908"/>
            <a:ext cx="7223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800">
                <a:latin typeface="宋体" charset="-122"/>
              </a:rPr>
              <a:t>105</a:t>
            </a:r>
          </a:p>
        </p:txBody>
      </p:sp>
      <p:sp>
        <p:nvSpPr>
          <p:cNvPr id="51" name="灯片编号占位符 50">
            <a:extLst>
              <a:ext uri="{FF2B5EF4-FFF2-40B4-BE49-F238E27FC236}">
                <a16:creationId xmlns:a16="http://schemas.microsoft.com/office/drawing/2014/main" id="{0CC94209-0B50-40EF-AC4F-55AF1AD88FE6}"/>
              </a:ext>
            </a:extLst>
          </p:cNvPr>
          <p:cNvSpPr>
            <a:spLocks noGrp="1"/>
          </p:cNvSpPr>
          <p:nvPr>
            <p:ph type="sldNum" sz="quarter" idx="4"/>
          </p:nvPr>
        </p:nvSpPr>
        <p:spPr/>
        <p:txBody>
          <a:bodyPr/>
          <a:lstStyle/>
          <a:p>
            <a:fld id="{565CE74E-AB26-4998-AD42-012C4C1AD076}" type="slidenum">
              <a:rPr lang="zh-CN" altLang="en-US" smtClean="0"/>
              <a:pPr/>
              <a:t>67</a:t>
            </a:fld>
            <a:endParaRPr lang="zh-CN" altLang="en-US"/>
          </a:p>
        </p:txBody>
      </p:sp>
    </p:spTree>
    <p:extLst>
      <p:ext uri="{BB962C8B-B14F-4D97-AF65-F5344CB8AC3E}">
        <p14:creationId xmlns:p14="http://schemas.microsoft.com/office/powerpoint/2010/main" val="740069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Bottom)">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slide(fromBottom)">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slide(fromBottom)">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slide(fromBottom)">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animEffect transition="in" filter="slide(fromBottom)">
                                      <p:cBhvr>
                                        <p:cTn id="27" dur="500"/>
                                        <p:tgtEl>
                                          <p:spTgt spid="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slide(fromBottom)">
                                      <p:cBhvr>
                                        <p:cTn id="32" dur="500"/>
                                        <p:tgtEl>
                                          <p:spTgt spid="5">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ox(in)">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37"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arn(outVertical)">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slide(fromBottom)">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3" fill="hold"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strips(upRight)">
                                      <p:cBhvr>
                                        <p:cTn id="52" dur="5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slide(fromBottom)">
                                      <p:cBhvr>
                                        <p:cTn id="57" dur="500"/>
                                        <p:tgtEl>
                                          <p:spTgt spid="20"/>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3" fill="hold"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strips(upRight)">
                                      <p:cBhvr>
                                        <p:cTn id="62" dur="500"/>
                                        <p:tgtEl>
                                          <p:spTgt spid="26"/>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slide(fromBottom)">
                                      <p:cBhvr>
                                        <p:cTn id="67" dur="500"/>
                                        <p:tgtEl>
                                          <p:spTgt spid="21"/>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3"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strips(upRight)">
                                      <p:cBhvr>
                                        <p:cTn id="72" dur="500"/>
                                        <p:tgtEl>
                                          <p:spTgt spid="29"/>
                                        </p:tgtEl>
                                      </p:cBhvr>
                                    </p:animEffect>
                                  </p:childTnLst>
                                </p:cTn>
                              </p:par>
                            </p:childTnLst>
                          </p:cTn>
                        </p:par>
                      </p:childTnLst>
                    </p:cTn>
                  </p:par>
                  <p:par>
                    <p:cTn id="73" fill="hold">
                      <p:stCondLst>
                        <p:cond delay="indefinite"/>
                      </p:stCondLst>
                      <p:childTnLst>
                        <p:par>
                          <p:cTn id="74" fill="hold">
                            <p:stCondLst>
                              <p:cond delay="0"/>
                            </p:stCondLst>
                            <p:childTnLst>
                              <p:par>
                                <p:cTn id="75" presetID="12" presetClass="entr" presetSubtype="4" fill="hold" grpId="0" nodeType="click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slide(fromBottom)">
                                      <p:cBhvr>
                                        <p:cTn id="77" dur="500"/>
                                        <p:tgtEl>
                                          <p:spTgt spid="30"/>
                                        </p:tgtEl>
                                      </p:cBhvr>
                                    </p:animEffect>
                                  </p:childTnLst>
                                </p:cTn>
                              </p:par>
                            </p:childTnLst>
                          </p:cTn>
                        </p:par>
                      </p:childTnLst>
                    </p:cTn>
                  </p:par>
                  <p:par>
                    <p:cTn id="78" fill="hold">
                      <p:stCondLst>
                        <p:cond delay="indefinite"/>
                      </p:stCondLst>
                      <p:childTnLst>
                        <p:par>
                          <p:cTn id="79" fill="hold">
                            <p:stCondLst>
                              <p:cond delay="0"/>
                            </p:stCondLst>
                            <p:childTnLst>
                              <p:par>
                                <p:cTn id="80" presetID="18" presetClass="entr" presetSubtype="3" fill="hold" grpId="0" nodeType="click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strips(upRight)">
                                      <p:cBhvr>
                                        <p:cTn id="82" dur="500"/>
                                        <p:tgtEl>
                                          <p:spTgt spid="31"/>
                                        </p:tgtEl>
                                      </p:cBhvr>
                                    </p:animEffect>
                                  </p:childTnLst>
                                </p:cTn>
                              </p:par>
                            </p:childTnLst>
                          </p:cTn>
                        </p:par>
                      </p:childTnLst>
                    </p:cTn>
                  </p:par>
                  <p:par>
                    <p:cTn id="83" fill="hold">
                      <p:stCondLst>
                        <p:cond delay="indefinite"/>
                      </p:stCondLst>
                      <p:childTnLst>
                        <p:par>
                          <p:cTn id="84" fill="hold">
                            <p:stCondLst>
                              <p:cond delay="0"/>
                            </p:stCondLst>
                            <p:childTnLst>
                              <p:par>
                                <p:cTn id="85" presetID="12" presetClass="entr" presetSubtype="4" fill="hold" grpId="0" nodeType="click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slide(fromBottom)">
                                      <p:cBhvr>
                                        <p:cTn id="87" dur="500"/>
                                        <p:tgtEl>
                                          <p:spTgt spid="32"/>
                                        </p:tgtEl>
                                      </p:cBhvr>
                                    </p:animEffect>
                                  </p:childTnLst>
                                </p:cTn>
                              </p:par>
                            </p:childTnLst>
                          </p:cTn>
                        </p:par>
                      </p:childTnLst>
                    </p:cTn>
                  </p:par>
                  <p:par>
                    <p:cTn id="88" fill="hold">
                      <p:stCondLst>
                        <p:cond delay="indefinite"/>
                      </p:stCondLst>
                      <p:childTnLst>
                        <p:par>
                          <p:cTn id="89" fill="hold">
                            <p:stCondLst>
                              <p:cond delay="0"/>
                            </p:stCondLst>
                            <p:childTnLst>
                              <p:par>
                                <p:cTn id="90" presetID="18" presetClass="entr" presetSubtype="3" fill="hold" grpId="0" nodeType="click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strips(upRight)">
                                      <p:cBhvr>
                                        <p:cTn id="92" dur="500"/>
                                        <p:tgtEl>
                                          <p:spTgt spid="33"/>
                                        </p:tgtEl>
                                      </p:cBhvr>
                                    </p:animEffect>
                                  </p:childTnLst>
                                </p:cTn>
                              </p:par>
                            </p:childTnLst>
                          </p:cTn>
                        </p:par>
                      </p:childTnLst>
                    </p:cTn>
                  </p:par>
                  <p:par>
                    <p:cTn id="93" fill="hold">
                      <p:stCondLst>
                        <p:cond delay="indefinite"/>
                      </p:stCondLst>
                      <p:childTnLst>
                        <p:par>
                          <p:cTn id="94" fill="hold">
                            <p:stCondLst>
                              <p:cond delay="0"/>
                            </p:stCondLst>
                            <p:childTnLst>
                              <p:par>
                                <p:cTn id="95" presetID="12" presetClass="entr" presetSubtype="4" fill="hold" grpId="0" nodeType="click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slide(fromBottom)">
                                      <p:cBhvr>
                                        <p:cTn id="97" dur="500"/>
                                        <p:tgtEl>
                                          <p:spTgt spid="34"/>
                                        </p:tgtEl>
                                      </p:cBhvr>
                                    </p:animEffect>
                                  </p:childTnLst>
                                </p:cTn>
                              </p:par>
                            </p:childTnLst>
                          </p:cTn>
                        </p:par>
                      </p:childTnLst>
                    </p:cTn>
                  </p:par>
                  <p:par>
                    <p:cTn id="98" fill="hold">
                      <p:stCondLst>
                        <p:cond delay="indefinite"/>
                      </p:stCondLst>
                      <p:childTnLst>
                        <p:par>
                          <p:cTn id="99" fill="hold">
                            <p:stCondLst>
                              <p:cond delay="0"/>
                            </p:stCondLst>
                            <p:childTnLst>
                              <p:par>
                                <p:cTn id="100" presetID="18" presetClass="entr" presetSubtype="3" fill="hold" grpId="0" nodeType="click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strips(upRight)">
                                      <p:cBhvr>
                                        <p:cTn id="102" dur="500"/>
                                        <p:tgtEl>
                                          <p:spTgt spid="35"/>
                                        </p:tgtEl>
                                      </p:cBhvr>
                                    </p:animEffect>
                                  </p:childTnLst>
                                </p:cTn>
                              </p:par>
                            </p:childTnLst>
                          </p:cTn>
                        </p:par>
                      </p:childTnLst>
                    </p:cTn>
                  </p:par>
                  <p:par>
                    <p:cTn id="103" fill="hold">
                      <p:stCondLst>
                        <p:cond delay="indefinite"/>
                      </p:stCondLst>
                      <p:childTnLst>
                        <p:par>
                          <p:cTn id="104" fill="hold">
                            <p:stCondLst>
                              <p:cond delay="0"/>
                            </p:stCondLst>
                            <p:childTnLst>
                              <p:par>
                                <p:cTn id="105" presetID="12" presetClass="entr" presetSubtype="4" fill="hold" grpId="0" nodeType="clickEffect">
                                  <p:stCondLst>
                                    <p:cond delay="0"/>
                                  </p:stCondLst>
                                  <p:childTnLst>
                                    <p:set>
                                      <p:cBhvr>
                                        <p:cTn id="106" dur="1" fill="hold">
                                          <p:stCondLst>
                                            <p:cond delay="0"/>
                                          </p:stCondLst>
                                        </p:cTn>
                                        <p:tgtEl>
                                          <p:spTgt spid="36"/>
                                        </p:tgtEl>
                                        <p:attrNameLst>
                                          <p:attrName>style.visibility</p:attrName>
                                        </p:attrNameLst>
                                      </p:cBhvr>
                                      <p:to>
                                        <p:strVal val="visible"/>
                                      </p:to>
                                    </p:set>
                                    <p:animEffect transition="in" filter="slide(fromBottom)">
                                      <p:cBhvr>
                                        <p:cTn id="107" dur="500"/>
                                        <p:tgtEl>
                                          <p:spTgt spid="36"/>
                                        </p:tgtEl>
                                      </p:cBhvr>
                                    </p:animEffect>
                                  </p:childTnLst>
                                </p:cTn>
                              </p:par>
                            </p:childTnLst>
                          </p:cTn>
                        </p:par>
                      </p:childTnLst>
                    </p:cTn>
                  </p:par>
                  <p:par>
                    <p:cTn id="108" fill="hold">
                      <p:stCondLst>
                        <p:cond delay="indefinite"/>
                      </p:stCondLst>
                      <p:childTnLst>
                        <p:par>
                          <p:cTn id="109" fill="hold">
                            <p:stCondLst>
                              <p:cond delay="0"/>
                            </p:stCondLst>
                            <p:childTnLst>
                              <p:par>
                                <p:cTn id="110" presetID="18" presetClass="entr" presetSubtype="3" fill="hold" grpId="0" nodeType="click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strips(upRight)">
                                      <p:cBhvr>
                                        <p:cTn id="112" dur="500"/>
                                        <p:tgtEl>
                                          <p:spTgt spid="37"/>
                                        </p:tgtEl>
                                      </p:cBhvr>
                                    </p:animEffect>
                                  </p:childTnLst>
                                </p:cTn>
                              </p:par>
                            </p:childTnLst>
                          </p:cTn>
                        </p:par>
                      </p:childTnLst>
                    </p:cTn>
                  </p:par>
                  <p:par>
                    <p:cTn id="113" fill="hold">
                      <p:stCondLst>
                        <p:cond delay="indefinite"/>
                      </p:stCondLst>
                      <p:childTnLst>
                        <p:par>
                          <p:cTn id="114" fill="hold">
                            <p:stCondLst>
                              <p:cond delay="0"/>
                            </p:stCondLst>
                            <p:childTnLst>
                              <p:par>
                                <p:cTn id="115" presetID="12" presetClass="entr" presetSubtype="4" fill="hold" grpId="0" nodeType="clickEffect">
                                  <p:stCondLst>
                                    <p:cond delay="0"/>
                                  </p:stCondLst>
                                  <p:childTnLst>
                                    <p:set>
                                      <p:cBhvr>
                                        <p:cTn id="116" dur="1" fill="hold">
                                          <p:stCondLst>
                                            <p:cond delay="0"/>
                                          </p:stCondLst>
                                        </p:cTn>
                                        <p:tgtEl>
                                          <p:spTgt spid="38"/>
                                        </p:tgtEl>
                                        <p:attrNameLst>
                                          <p:attrName>style.visibility</p:attrName>
                                        </p:attrNameLst>
                                      </p:cBhvr>
                                      <p:to>
                                        <p:strVal val="visible"/>
                                      </p:to>
                                    </p:set>
                                    <p:animEffect transition="in" filter="slide(fromBottom)">
                                      <p:cBhvr>
                                        <p:cTn id="117" dur="500"/>
                                        <p:tgtEl>
                                          <p:spTgt spid="38"/>
                                        </p:tgtEl>
                                      </p:cBhvr>
                                    </p:animEffect>
                                  </p:childTnLst>
                                </p:cTn>
                              </p:par>
                            </p:childTnLst>
                          </p:cTn>
                        </p:par>
                      </p:childTnLst>
                    </p:cTn>
                  </p:par>
                  <p:par>
                    <p:cTn id="118" fill="hold">
                      <p:stCondLst>
                        <p:cond delay="indefinite"/>
                      </p:stCondLst>
                      <p:childTnLst>
                        <p:par>
                          <p:cTn id="119" fill="hold">
                            <p:stCondLst>
                              <p:cond delay="0"/>
                            </p:stCondLst>
                            <p:childTnLst>
                              <p:par>
                                <p:cTn id="120" presetID="18" presetClass="entr" presetSubtype="3" fill="hold" grpId="0" nodeType="clickEffect">
                                  <p:stCondLst>
                                    <p:cond delay="0"/>
                                  </p:stCondLst>
                                  <p:childTnLst>
                                    <p:set>
                                      <p:cBhvr>
                                        <p:cTn id="121" dur="1" fill="hold">
                                          <p:stCondLst>
                                            <p:cond delay="0"/>
                                          </p:stCondLst>
                                        </p:cTn>
                                        <p:tgtEl>
                                          <p:spTgt spid="39"/>
                                        </p:tgtEl>
                                        <p:attrNameLst>
                                          <p:attrName>style.visibility</p:attrName>
                                        </p:attrNameLst>
                                      </p:cBhvr>
                                      <p:to>
                                        <p:strVal val="visible"/>
                                      </p:to>
                                    </p:set>
                                    <p:animEffect transition="in" filter="strips(upRight)">
                                      <p:cBhvr>
                                        <p:cTn id="122" dur="500"/>
                                        <p:tgtEl>
                                          <p:spTgt spid="39"/>
                                        </p:tgtEl>
                                      </p:cBhvr>
                                    </p:animEffect>
                                  </p:childTnLst>
                                </p:cTn>
                              </p:par>
                            </p:childTnLst>
                          </p:cTn>
                        </p:par>
                      </p:childTnLst>
                    </p:cTn>
                  </p:par>
                  <p:par>
                    <p:cTn id="123" fill="hold">
                      <p:stCondLst>
                        <p:cond delay="indefinite"/>
                      </p:stCondLst>
                      <p:childTnLst>
                        <p:par>
                          <p:cTn id="124" fill="hold">
                            <p:stCondLst>
                              <p:cond delay="0"/>
                            </p:stCondLst>
                            <p:childTnLst>
                              <p:par>
                                <p:cTn id="125" presetID="12" presetClass="entr" presetSubtype="4" fill="hold" grpId="0" nodeType="clickEffect">
                                  <p:stCondLst>
                                    <p:cond delay="0"/>
                                  </p:stCondLst>
                                  <p:childTnLst>
                                    <p:set>
                                      <p:cBhvr>
                                        <p:cTn id="126" dur="1" fill="hold">
                                          <p:stCondLst>
                                            <p:cond delay="0"/>
                                          </p:stCondLst>
                                        </p:cTn>
                                        <p:tgtEl>
                                          <p:spTgt spid="40"/>
                                        </p:tgtEl>
                                        <p:attrNameLst>
                                          <p:attrName>style.visibility</p:attrName>
                                        </p:attrNameLst>
                                      </p:cBhvr>
                                      <p:to>
                                        <p:strVal val="visible"/>
                                      </p:to>
                                    </p:set>
                                    <p:animEffect transition="in" filter="slide(fromBottom)">
                                      <p:cBhvr>
                                        <p:cTn id="127" dur="500"/>
                                        <p:tgtEl>
                                          <p:spTgt spid="40"/>
                                        </p:tgtEl>
                                      </p:cBhvr>
                                    </p:animEffect>
                                  </p:childTnLst>
                                </p:cTn>
                              </p:par>
                            </p:childTnLst>
                          </p:cTn>
                        </p:par>
                      </p:childTnLst>
                    </p:cTn>
                  </p:par>
                  <p:par>
                    <p:cTn id="128" fill="hold">
                      <p:stCondLst>
                        <p:cond delay="indefinite"/>
                      </p:stCondLst>
                      <p:childTnLst>
                        <p:par>
                          <p:cTn id="129" fill="hold">
                            <p:stCondLst>
                              <p:cond delay="0"/>
                            </p:stCondLst>
                            <p:childTnLst>
                              <p:par>
                                <p:cTn id="130" presetID="12" presetClass="entr" presetSubtype="4" fill="hold" grpId="0" nodeType="clickEffect">
                                  <p:stCondLst>
                                    <p:cond delay="0"/>
                                  </p:stCondLst>
                                  <p:childTnLst>
                                    <p:set>
                                      <p:cBhvr>
                                        <p:cTn id="131" dur="1" fill="hold">
                                          <p:stCondLst>
                                            <p:cond delay="0"/>
                                          </p:stCondLst>
                                        </p:cTn>
                                        <p:tgtEl>
                                          <p:spTgt spid="41"/>
                                        </p:tgtEl>
                                        <p:attrNameLst>
                                          <p:attrName>style.visibility</p:attrName>
                                        </p:attrNameLst>
                                      </p:cBhvr>
                                      <p:to>
                                        <p:strVal val="visible"/>
                                      </p:to>
                                    </p:set>
                                    <p:animEffect transition="in" filter="slide(fromBottom)">
                                      <p:cBhvr>
                                        <p:cTn id="132" dur="500"/>
                                        <p:tgtEl>
                                          <p:spTgt spid="41"/>
                                        </p:tgtEl>
                                      </p:cBhvr>
                                    </p:animEffect>
                                  </p:childTnLst>
                                </p:cTn>
                              </p:par>
                            </p:childTnLst>
                          </p:cTn>
                        </p:par>
                      </p:childTnLst>
                    </p:cTn>
                  </p:par>
                  <p:par>
                    <p:cTn id="133" fill="hold">
                      <p:stCondLst>
                        <p:cond delay="indefinite"/>
                      </p:stCondLst>
                      <p:childTnLst>
                        <p:par>
                          <p:cTn id="134" fill="hold">
                            <p:stCondLst>
                              <p:cond delay="0"/>
                            </p:stCondLst>
                            <p:childTnLst>
                              <p:par>
                                <p:cTn id="135" presetID="18" presetClass="entr" presetSubtype="3" fill="hold" nodeType="clickEffect">
                                  <p:stCondLst>
                                    <p:cond delay="0"/>
                                  </p:stCondLst>
                                  <p:childTnLst>
                                    <p:set>
                                      <p:cBhvr>
                                        <p:cTn id="136" dur="1" fill="hold">
                                          <p:stCondLst>
                                            <p:cond delay="0"/>
                                          </p:stCondLst>
                                        </p:cTn>
                                        <p:tgtEl>
                                          <p:spTgt spid="42"/>
                                        </p:tgtEl>
                                        <p:attrNameLst>
                                          <p:attrName>style.visibility</p:attrName>
                                        </p:attrNameLst>
                                      </p:cBhvr>
                                      <p:to>
                                        <p:strVal val="visible"/>
                                      </p:to>
                                    </p:set>
                                    <p:animEffect transition="in" filter="strips(upRight)">
                                      <p:cBhvr>
                                        <p:cTn id="137" dur="500"/>
                                        <p:tgtEl>
                                          <p:spTgt spid="42"/>
                                        </p:tgtEl>
                                      </p:cBhvr>
                                    </p:animEffect>
                                  </p:childTnLst>
                                </p:cTn>
                              </p:par>
                            </p:childTnLst>
                          </p:cTn>
                        </p:par>
                      </p:childTnLst>
                    </p:cTn>
                  </p:par>
                  <p:par>
                    <p:cTn id="138" fill="hold">
                      <p:stCondLst>
                        <p:cond delay="indefinite"/>
                      </p:stCondLst>
                      <p:childTnLst>
                        <p:par>
                          <p:cTn id="139" fill="hold">
                            <p:stCondLst>
                              <p:cond delay="0"/>
                            </p:stCondLst>
                            <p:childTnLst>
                              <p:par>
                                <p:cTn id="140" presetID="12" presetClass="entr" presetSubtype="4" fill="hold" grpId="0" nodeType="clickEffect">
                                  <p:stCondLst>
                                    <p:cond delay="0"/>
                                  </p:stCondLst>
                                  <p:childTnLst>
                                    <p:set>
                                      <p:cBhvr>
                                        <p:cTn id="141" dur="1" fill="hold">
                                          <p:stCondLst>
                                            <p:cond delay="0"/>
                                          </p:stCondLst>
                                        </p:cTn>
                                        <p:tgtEl>
                                          <p:spTgt spid="45"/>
                                        </p:tgtEl>
                                        <p:attrNameLst>
                                          <p:attrName>style.visibility</p:attrName>
                                        </p:attrNameLst>
                                      </p:cBhvr>
                                      <p:to>
                                        <p:strVal val="visible"/>
                                      </p:to>
                                    </p:set>
                                    <p:animEffect transition="in" filter="slide(fromBottom)">
                                      <p:cBhvr>
                                        <p:cTn id="142" dur="500"/>
                                        <p:tgtEl>
                                          <p:spTgt spid="45"/>
                                        </p:tgtEl>
                                      </p:cBhvr>
                                    </p:animEffect>
                                  </p:childTnLst>
                                </p:cTn>
                              </p:par>
                            </p:childTnLst>
                          </p:cTn>
                        </p:par>
                      </p:childTnLst>
                    </p:cTn>
                  </p:par>
                  <p:par>
                    <p:cTn id="143" fill="hold">
                      <p:stCondLst>
                        <p:cond delay="indefinite"/>
                      </p:stCondLst>
                      <p:childTnLst>
                        <p:par>
                          <p:cTn id="144" fill="hold">
                            <p:stCondLst>
                              <p:cond delay="0"/>
                            </p:stCondLst>
                            <p:childTnLst>
                              <p:par>
                                <p:cTn id="145" presetID="12" presetClass="entr" presetSubtype="4" fill="hold" grpId="0" nodeType="clickEffect">
                                  <p:stCondLst>
                                    <p:cond delay="0"/>
                                  </p:stCondLst>
                                  <p:childTnLst>
                                    <p:set>
                                      <p:cBhvr>
                                        <p:cTn id="146" dur="1" fill="hold">
                                          <p:stCondLst>
                                            <p:cond delay="0"/>
                                          </p:stCondLst>
                                        </p:cTn>
                                        <p:tgtEl>
                                          <p:spTgt spid="46"/>
                                        </p:tgtEl>
                                        <p:attrNameLst>
                                          <p:attrName>style.visibility</p:attrName>
                                        </p:attrNameLst>
                                      </p:cBhvr>
                                      <p:to>
                                        <p:strVal val="visible"/>
                                      </p:to>
                                    </p:set>
                                    <p:animEffect transition="in" filter="slide(fromBottom)">
                                      <p:cBhvr>
                                        <p:cTn id="147" dur="500"/>
                                        <p:tgtEl>
                                          <p:spTgt spid="46"/>
                                        </p:tgtEl>
                                      </p:cBhvr>
                                    </p:animEffect>
                                  </p:childTnLst>
                                </p:cTn>
                              </p:par>
                            </p:childTnLst>
                          </p:cTn>
                        </p:par>
                      </p:childTnLst>
                    </p:cTn>
                  </p:par>
                  <p:par>
                    <p:cTn id="148" fill="hold">
                      <p:stCondLst>
                        <p:cond delay="indefinite"/>
                      </p:stCondLst>
                      <p:childTnLst>
                        <p:par>
                          <p:cTn id="149" fill="hold">
                            <p:stCondLst>
                              <p:cond delay="0"/>
                            </p:stCondLst>
                            <p:childTnLst>
                              <p:par>
                                <p:cTn id="150" presetID="18" presetClass="entr" presetSubtype="3" fill="hold" grpId="0" nodeType="clickEffect">
                                  <p:stCondLst>
                                    <p:cond delay="0"/>
                                  </p:stCondLst>
                                  <p:childTnLst>
                                    <p:set>
                                      <p:cBhvr>
                                        <p:cTn id="151" dur="1" fill="hold">
                                          <p:stCondLst>
                                            <p:cond delay="0"/>
                                          </p:stCondLst>
                                        </p:cTn>
                                        <p:tgtEl>
                                          <p:spTgt spid="47"/>
                                        </p:tgtEl>
                                        <p:attrNameLst>
                                          <p:attrName>style.visibility</p:attrName>
                                        </p:attrNameLst>
                                      </p:cBhvr>
                                      <p:to>
                                        <p:strVal val="visible"/>
                                      </p:to>
                                    </p:set>
                                    <p:animEffect transition="in" filter="strips(upRight)">
                                      <p:cBhvr>
                                        <p:cTn id="152" dur="500"/>
                                        <p:tgtEl>
                                          <p:spTgt spid="47"/>
                                        </p:tgtEl>
                                      </p:cBhvr>
                                    </p:animEffect>
                                  </p:childTnLst>
                                </p:cTn>
                              </p:par>
                            </p:childTnLst>
                          </p:cTn>
                        </p:par>
                      </p:childTnLst>
                    </p:cTn>
                  </p:par>
                  <p:par>
                    <p:cTn id="153" fill="hold">
                      <p:stCondLst>
                        <p:cond delay="indefinite"/>
                      </p:stCondLst>
                      <p:childTnLst>
                        <p:par>
                          <p:cTn id="154" fill="hold">
                            <p:stCondLst>
                              <p:cond delay="0"/>
                            </p:stCondLst>
                            <p:childTnLst>
                              <p:par>
                                <p:cTn id="155" presetID="12" presetClass="entr" presetSubtype="4" fill="hold" grpId="0" nodeType="clickEffect">
                                  <p:stCondLst>
                                    <p:cond delay="0"/>
                                  </p:stCondLst>
                                  <p:childTnLst>
                                    <p:set>
                                      <p:cBhvr>
                                        <p:cTn id="156" dur="1" fill="hold">
                                          <p:stCondLst>
                                            <p:cond delay="0"/>
                                          </p:stCondLst>
                                        </p:cTn>
                                        <p:tgtEl>
                                          <p:spTgt spid="48"/>
                                        </p:tgtEl>
                                        <p:attrNameLst>
                                          <p:attrName>style.visibility</p:attrName>
                                        </p:attrNameLst>
                                      </p:cBhvr>
                                      <p:to>
                                        <p:strVal val="visible"/>
                                      </p:to>
                                    </p:set>
                                    <p:animEffect transition="in" filter="slide(fromBottom)">
                                      <p:cBhvr>
                                        <p:cTn id="157" dur="500"/>
                                        <p:tgtEl>
                                          <p:spTgt spid="48"/>
                                        </p:tgtEl>
                                      </p:cBhvr>
                                    </p:animEffect>
                                  </p:childTnLst>
                                </p:cTn>
                              </p:par>
                            </p:childTnLst>
                          </p:cTn>
                        </p:par>
                      </p:childTnLst>
                    </p:cTn>
                  </p:par>
                  <p:par>
                    <p:cTn id="158" fill="hold">
                      <p:stCondLst>
                        <p:cond delay="indefinite"/>
                      </p:stCondLst>
                      <p:childTnLst>
                        <p:par>
                          <p:cTn id="159" fill="hold">
                            <p:stCondLst>
                              <p:cond delay="0"/>
                            </p:stCondLst>
                            <p:childTnLst>
                              <p:par>
                                <p:cTn id="160" presetID="18" presetClass="entr" presetSubtype="3" fill="hold" grpId="0" nodeType="clickEffect">
                                  <p:stCondLst>
                                    <p:cond delay="0"/>
                                  </p:stCondLst>
                                  <p:childTnLst>
                                    <p:set>
                                      <p:cBhvr>
                                        <p:cTn id="161" dur="1" fill="hold">
                                          <p:stCondLst>
                                            <p:cond delay="0"/>
                                          </p:stCondLst>
                                        </p:cTn>
                                        <p:tgtEl>
                                          <p:spTgt spid="49"/>
                                        </p:tgtEl>
                                        <p:attrNameLst>
                                          <p:attrName>style.visibility</p:attrName>
                                        </p:attrNameLst>
                                      </p:cBhvr>
                                      <p:to>
                                        <p:strVal val="visible"/>
                                      </p:to>
                                    </p:set>
                                    <p:animEffect transition="in" filter="strips(upRight)">
                                      <p:cBhvr>
                                        <p:cTn id="162" dur="500"/>
                                        <p:tgtEl>
                                          <p:spTgt spid="49"/>
                                        </p:tgtEl>
                                      </p:cBhvr>
                                    </p:animEffect>
                                  </p:childTnLst>
                                </p:cTn>
                              </p:par>
                            </p:childTnLst>
                          </p:cTn>
                        </p:par>
                      </p:childTnLst>
                    </p:cTn>
                  </p:par>
                  <p:par>
                    <p:cTn id="163" fill="hold">
                      <p:stCondLst>
                        <p:cond delay="indefinite"/>
                      </p:stCondLst>
                      <p:childTnLst>
                        <p:par>
                          <p:cTn id="164" fill="hold">
                            <p:stCondLst>
                              <p:cond delay="0"/>
                            </p:stCondLst>
                            <p:childTnLst>
                              <p:par>
                                <p:cTn id="165" presetID="12" presetClass="entr" presetSubtype="4" fill="hold" grpId="0" nodeType="clickEffect">
                                  <p:stCondLst>
                                    <p:cond delay="0"/>
                                  </p:stCondLst>
                                  <p:childTnLst>
                                    <p:set>
                                      <p:cBhvr>
                                        <p:cTn id="166" dur="1" fill="hold">
                                          <p:stCondLst>
                                            <p:cond delay="0"/>
                                          </p:stCondLst>
                                        </p:cTn>
                                        <p:tgtEl>
                                          <p:spTgt spid="50"/>
                                        </p:tgtEl>
                                        <p:attrNameLst>
                                          <p:attrName>style.visibility</p:attrName>
                                        </p:attrNameLst>
                                      </p:cBhvr>
                                      <p:to>
                                        <p:strVal val="visible"/>
                                      </p:to>
                                    </p:set>
                                    <p:animEffect transition="in" filter="slide(fromBottom)">
                                      <p:cBhvr>
                                        <p:cTn id="16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5" grpId="0" build="p" autoUpdateAnimBg="0"/>
      <p:bldP spid="6" grpId="0" animBg="1"/>
      <p:bldP spid="20" grpId="0" autoUpdateAnimBg="0"/>
      <p:bldP spid="21" grpId="0" autoUpdateAnimBg="0"/>
      <p:bldP spid="22" grpId="0" autoUpdateAnimBg="0"/>
      <p:bldP spid="29" grpId="0" animBg="1"/>
      <p:bldP spid="30" grpId="0" autoUpdateAnimBg="0"/>
      <p:bldP spid="31" grpId="0" animBg="1"/>
      <p:bldP spid="32" grpId="0" autoUpdateAnimBg="0"/>
      <p:bldP spid="33" grpId="0" animBg="1"/>
      <p:bldP spid="34" grpId="0" autoUpdateAnimBg="0"/>
      <p:bldP spid="35" grpId="0" animBg="1"/>
      <p:bldP spid="36" grpId="0" autoUpdateAnimBg="0"/>
      <p:bldP spid="37" grpId="0" animBg="1"/>
      <p:bldP spid="38" grpId="0" autoUpdateAnimBg="0"/>
      <p:bldP spid="39" grpId="0" animBg="1"/>
      <p:bldP spid="40" grpId="0" autoUpdateAnimBg="0"/>
      <p:bldP spid="41" grpId="0" autoUpdateAnimBg="0"/>
      <p:bldP spid="45" grpId="0" autoUpdateAnimBg="0"/>
      <p:bldP spid="46" grpId="0" autoUpdateAnimBg="0"/>
      <p:bldP spid="47" grpId="0" animBg="1"/>
      <p:bldP spid="48" grpId="0" autoUpdateAnimBg="0"/>
      <p:bldP spid="49" grpId="0" animBg="1"/>
      <p:bldP spid="50"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Autofit/>
          </a:bodyPr>
          <a:lstStyle/>
          <a:p>
            <a:pPr>
              <a:buClrTx/>
              <a:buFont typeface="Symbol" pitchFamily="18" charset="2"/>
              <a:buChar char="-"/>
            </a:pPr>
            <a:r>
              <a:rPr lang="zh-CN" altLang="en-US" dirty="0"/>
              <a:t>代码回填技术</a:t>
            </a:r>
            <a:endParaRPr lang="en-US" altLang="zh-CN" dirty="0"/>
          </a:p>
          <a:p>
            <a:pPr lvl="1">
              <a:buClrTx/>
              <a:buFont typeface="Symbol" pitchFamily="18" charset="2"/>
              <a:buChar char="-"/>
            </a:pPr>
            <a:r>
              <a:rPr lang="zh-CN" altLang="en-US" sz="2400" dirty="0"/>
              <a:t>当</a:t>
            </a:r>
            <a:r>
              <a:rPr lang="zh-CN" altLang="en-US" sz="2400" dirty="0">
                <a:solidFill>
                  <a:srgbClr val="FF0000"/>
                </a:solidFill>
              </a:rPr>
              <a:t>转移语句不能确定目标语句标号</a:t>
            </a:r>
            <a:r>
              <a:rPr lang="zh-CN" altLang="en-US" sz="2400" dirty="0"/>
              <a:t>时，先将目标语句标号的位置用“</a:t>
            </a:r>
            <a:r>
              <a:rPr lang="en-US" altLang="zh-CN" sz="2400" dirty="0"/>
              <a:t>-</a:t>
            </a:r>
            <a:r>
              <a:rPr lang="zh-CN" altLang="en-US" sz="2400" dirty="0"/>
              <a:t>”表示，并将</a:t>
            </a:r>
            <a:r>
              <a:rPr lang="zh-CN" altLang="en-US" sz="2400" dirty="0">
                <a:solidFill>
                  <a:srgbClr val="FF0000"/>
                </a:solidFill>
              </a:rPr>
              <a:t>该转移语句的地址加入到某个链表</a:t>
            </a:r>
            <a:r>
              <a:rPr lang="zh-CN" altLang="en-US" sz="2400" dirty="0"/>
              <a:t>（真链、假链、</a:t>
            </a:r>
            <a:r>
              <a:rPr lang="en-US" altLang="zh-CN" sz="2400" dirty="0"/>
              <a:t>next</a:t>
            </a:r>
            <a:r>
              <a:rPr lang="zh-CN" altLang="en-US" sz="2400" dirty="0"/>
              <a:t>链）中；当</a:t>
            </a:r>
            <a:r>
              <a:rPr lang="zh-CN" altLang="en-US" sz="2400" dirty="0">
                <a:solidFill>
                  <a:srgbClr val="FF0000"/>
                </a:solidFill>
              </a:rPr>
              <a:t>目标语句标号确定时</a:t>
            </a:r>
            <a:r>
              <a:rPr lang="zh-CN" altLang="en-US" sz="2400" dirty="0"/>
              <a:t>，再</a:t>
            </a:r>
            <a:r>
              <a:rPr lang="zh-CN" altLang="en-US" sz="2400" dirty="0">
                <a:solidFill>
                  <a:srgbClr val="FF0000"/>
                </a:solidFill>
              </a:rPr>
              <a:t>将其回填至“</a:t>
            </a:r>
            <a:r>
              <a:rPr lang="en-US" altLang="zh-CN" sz="2400" dirty="0">
                <a:solidFill>
                  <a:srgbClr val="FF0000"/>
                </a:solidFill>
              </a:rPr>
              <a:t>-</a:t>
            </a:r>
            <a:r>
              <a:rPr lang="zh-CN" altLang="en-US" sz="2400" dirty="0">
                <a:solidFill>
                  <a:srgbClr val="FF0000"/>
                </a:solidFill>
              </a:rPr>
              <a:t>”处</a:t>
            </a:r>
            <a:r>
              <a:rPr lang="zh-CN" altLang="en-US" sz="2400" dirty="0"/>
              <a:t>。</a:t>
            </a:r>
            <a:endParaRPr lang="en-US" altLang="zh-CN" sz="2400" dirty="0"/>
          </a:p>
          <a:p>
            <a:pPr lvl="2">
              <a:buFont typeface="Symbol" pitchFamily="18" charset="2"/>
              <a:buChar char="-"/>
            </a:pPr>
            <a:r>
              <a:rPr lang="zh-CN" altLang="en-US" sz="2000" dirty="0">
                <a:sym typeface="Symbol" pitchFamily="18" charset="2"/>
              </a:rPr>
              <a:t>采用 </a:t>
            </a:r>
            <a:r>
              <a:rPr lang="en-US" altLang="zh-CN" sz="2000" dirty="0">
                <a:sym typeface="Symbol" pitchFamily="18" charset="2"/>
              </a:rPr>
              <a:t>S-</a:t>
            </a:r>
            <a:r>
              <a:rPr lang="zh-CN" altLang="en-US" sz="2000" dirty="0">
                <a:sym typeface="Symbol" pitchFamily="18" charset="2"/>
              </a:rPr>
              <a:t>属性文法</a:t>
            </a:r>
            <a:r>
              <a:rPr lang="en-US" altLang="zh-CN" sz="2000" dirty="0">
                <a:sym typeface="Symbol" pitchFamily="18" charset="2"/>
              </a:rPr>
              <a:t>/</a:t>
            </a:r>
            <a:r>
              <a:rPr lang="zh-CN" altLang="en-US" sz="2000" dirty="0">
                <a:sym typeface="Symbol" pitchFamily="18" charset="2"/>
              </a:rPr>
              <a:t>翻译模式</a:t>
            </a:r>
            <a:endParaRPr lang="en-US" altLang="zh-CN" sz="2000" dirty="0">
              <a:sym typeface="Symbol" pitchFamily="18" charset="2"/>
            </a:endParaRPr>
          </a:p>
          <a:p>
            <a:pPr lvl="2">
              <a:buFont typeface="Symbol" pitchFamily="18" charset="2"/>
              <a:buChar char="-"/>
            </a:pPr>
            <a:r>
              <a:rPr lang="zh-CN" altLang="en-US" sz="2000" dirty="0">
                <a:sym typeface="Symbol" pitchFamily="18" charset="2"/>
              </a:rPr>
              <a:t>例如，</a:t>
            </a:r>
            <a:r>
              <a:rPr lang="en-US" altLang="zh-CN" sz="2000" dirty="0">
                <a:sym typeface="Symbol" pitchFamily="18" charset="2"/>
              </a:rPr>
              <a:t>E  E</a:t>
            </a:r>
            <a:r>
              <a:rPr lang="en-US" altLang="zh-CN" sz="2000" baseline="-25000" dirty="0">
                <a:sym typeface="Symbol" pitchFamily="18" charset="2"/>
              </a:rPr>
              <a:t>1</a:t>
            </a:r>
            <a:r>
              <a:rPr lang="en-US" altLang="zh-CN" sz="2000" dirty="0">
                <a:sym typeface="Symbol" pitchFamily="18" charset="2"/>
              </a:rPr>
              <a:t>  M E</a:t>
            </a:r>
            <a:r>
              <a:rPr lang="en-US" altLang="zh-CN" sz="2000" baseline="-25000" dirty="0">
                <a:sym typeface="Symbol" pitchFamily="18" charset="2"/>
              </a:rPr>
              <a:t>2</a:t>
            </a:r>
            <a:r>
              <a:rPr lang="en-US" altLang="zh-CN" sz="2000" dirty="0">
                <a:sym typeface="Symbol" pitchFamily="18" charset="2"/>
              </a:rPr>
              <a:t> </a:t>
            </a:r>
          </a:p>
          <a:p>
            <a:pPr lvl="2">
              <a:buFont typeface="Symbol" pitchFamily="18" charset="2"/>
              <a:buChar char="-"/>
            </a:pPr>
            <a:endParaRPr lang="en-US" altLang="zh-CN" sz="2000" dirty="0">
              <a:sym typeface="Symbol" pitchFamily="18" charset="2"/>
            </a:endParaRPr>
          </a:p>
          <a:p>
            <a:pPr lvl="2">
              <a:buFont typeface="Symbol" pitchFamily="18" charset="2"/>
              <a:buChar char="-"/>
            </a:pPr>
            <a:r>
              <a:rPr lang="zh-CN" altLang="en-US" sz="2000" dirty="0">
                <a:sym typeface="Symbol" pitchFamily="18" charset="2"/>
              </a:rPr>
              <a:t>在产生</a:t>
            </a:r>
            <a:r>
              <a:rPr lang="en-US" altLang="zh-CN" sz="2000" dirty="0">
                <a:sym typeface="Symbol" pitchFamily="18" charset="2"/>
              </a:rPr>
              <a:t>E</a:t>
            </a:r>
            <a:r>
              <a:rPr lang="en-US" altLang="zh-CN" sz="2000" baseline="-25000" dirty="0">
                <a:sym typeface="Symbol" pitchFamily="18" charset="2"/>
              </a:rPr>
              <a:t>1</a:t>
            </a:r>
            <a:r>
              <a:rPr lang="zh-CN" altLang="en-US" sz="2000" dirty="0">
                <a:sym typeface="Symbol" pitchFamily="18" charset="2"/>
              </a:rPr>
              <a:t>部分的代码时，</a:t>
            </a:r>
            <a:r>
              <a:rPr lang="en-US" altLang="zh-CN" sz="2000" dirty="0">
                <a:sym typeface="Symbol" pitchFamily="18" charset="2"/>
              </a:rPr>
              <a:t>E</a:t>
            </a:r>
            <a:r>
              <a:rPr lang="en-US" altLang="zh-CN" sz="2000" baseline="-25000" dirty="0">
                <a:sym typeface="Symbol" pitchFamily="18" charset="2"/>
              </a:rPr>
              <a:t>1</a:t>
            </a:r>
            <a:r>
              <a:rPr lang="zh-CN" altLang="en-US" sz="2000" dirty="0">
                <a:sym typeface="Symbol" pitchFamily="18" charset="2"/>
              </a:rPr>
              <a:t>求值为</a:t>
            </a:r>
            <a:r>
              <a:rPr lang="en-US" altLang="zh-CN" sz="2000" dirty="0">
                <a:sym typeface="Symbol" pitchFamily="18" charset="2"/>
              </a:rPr>
              <a:t>true</a:t>
            </a:r>
            <a:r>
              <a:rPr lang="zh-CN" altLang="en-US" sz="2000" dirty="0">
                <a:sym typeface="Symbol" pitchFamily="18" charset="2"/>
              </a:rPr>
              <a:t>或</a:t>
            </a:r>
            <a:r>
              <a:rPr lang="en-US" altLang="zh-CN" sz="2000" dirty="0">
                <a:sym typeface="Symbol" pitchFamily="18" charset="2"/>
              </a:rPr>
              <a:t>false</a:t>
            </a:r>
            <a:r>
              <a:rPr lang="zh-CN" altLang="en-US" sz="2000" dirty="0">
                <a:sym typeface="Symbol" pitchFamily="18" charset="2"/>
              </a:rPr>
              <a:t>时转移语句的目标语句标号不能确定，故将地址加入到</a:t>
            </a:r>
            <a:r>
              <a:rPr lang="en-US" altLang="zh-CN" sz="2000" dirty="0">
                <a:sym typeface="Symbol" pitchFamily="18" charset="2"/>
              </a:rPr>
              <a:t>E</a:t>
            </a:r>
            <a:r>
              <a:rPr lang="en-US" altLang="zh-CN" sz="2000" baseline="-25000" dirty="0">
                <a:sym typeface="Symbol" pitchFamily="18" charset="2"/>
              </a:rPr>
              <a:t>1</a:t>
            </a:r>
            <a:r>
              <a:rPr lang="en-US" altLang="zh-CN" sz="2000" dirty="0">
                <a:sym typeface="Symbol" pitchFamily="18" charset="2"/>
              </a:rPr>
              <a:t>.truelist</a:t>
            </a:r>
            <a:r>
              <a:rPr lang="zh-CN" altLang="en-US" sz="2000" dirty="0">
                <a:sym typeface="Symbol" pitchFamily="18" charset="2"/>
              </a:rPr>
              <a:t>或</a:t>
            </a:r>
            <a:r>
              <a:rPr lang="en-US" altLang="zh-CN" sz="2000" dirty="0">
                <a:sym typeface="Symbol" pitchFamily="18" charset="2"/>
              </a:rPr>
              <a:t>E</a:t>
            </a:r>
            <a:r>
              <a:rPr lang="en-US" altLang="zh-CN" sz="2000" baseline="-25000" dirty="0">
                <a:sym typeface="Symbol" pitchFamily="18" charset="2"/>
              </a:rPr>
              <a:t>1</a:t>
            </a:r>
            <a:r>
              <a:rPr lang="en-US" altLang="zh-CN" sz="2000" dirty="0">
                <a:sym typeface="Symbol" pitchFamily="18" charset="2"/>
              </a:rPr>
              <a:t>.ralselist</a:t>
            </a:r>
            <a:r>
              <a:rPr lang="zh-CN" altLang="en-US" sz="2000" dirty="0">
                <a:sym typeface="Symbol" pitchFamily="18" charset="2"/>
              </a:rPr>
              <a:t>之中；在处理到</a:t>
            </a:r>
            <a:r>
              <a:rPr lang="en-US" altLang="zh-CN" sz="2000" dirty="0">
                <a:sym typeface="Symbol" pitchFamily="18" charset="2"/>
              </a:rPr>
              <a:t>M</a:t>
            </a:r>
            <a:r>
              <a:rPr lang="zh-CN" altLang="en-US" sz="2000" dirty="0">
                <a:sym typeface="Symbol" pitchFamily="18" charset="2"/>
              </a:rPr>
              <a:t>时，当前得到的综合属性值</a:t>
            </a:r>
            <a:r>
              <a:rPr lang="en-US" altLang="zh-CN" sz="2000" dirty="0" err="1">
                <a:sym typeface="Symbol" pitchFamily="18" charset="2"/>
              </a:rPr>
              <a:t>M.gotostm</a:t>
            </a:r>
            <a:r>
              <a:rPr lang="zh-CN" altLang="en-US" sz="2000" dirty="0">
                <a:sym typeface="Symbol" pitchFamily="18" charset="2"/>
              </a:rPr>
              <a:t>正是</a:t>
            </a:r>
            <a:r>
              <a:rPr lang="en-US" altLang="zh-CN" sz="2000" dirty="0">
                <a:sym typeface="Symbol" pitchFamily="18" charset="2"/>
              </a:rPr>
              <a:t>E</a:t>
            </a:r>
            <a:r>
              <a:rPr lang="en-US" altLang="zh-CN" sz="2000" baseline="-25000" dirty="0">
                <a:sym typeface="Symbol" pitchFamily="18" charset="2"/>
              </a:rPr>
              <a:t>1</a:t>
            </a:r>
            <a:r>
              <a:rPr lang="zh-CN" altLang="en-US" sz="2000" dirty="0">
                <a:sym typeface="Symbol" pitchFamily="18" charset="2"/>
              </a:rPr>
              <a:t>求值为</a:t>
            </a:r>
            <a:r>
              <a:rPr lang="en-US" altLang="zh-CN" sz="2000" dirty="0">
                <a:sym typeface="Symbol" pitchFamily="18" charset="2"/>
              </a:rPr>
              <a:t>false</a:t>
            </a:r>
            <a:r>
              <a:rPr lang="zh-CN" altLang="en-US" sz="2000" dirty="0">
                <a:sym typeface="Symbol" pitchFamily="18" charset="2"/>
              </a:rPr>
              <a:t>时应该转移到的目标语句标号。因此执行语义动作</a:t>
            </a:r>
            <a:r>
              <a:rPr lang="en-US" altLang="zh-CN" sz="2000" dirty="0" err="1">
                <a:sym typeface="Symbol" pitchFamily="18" charset="2"/>
              </a:rPr>
              <a:t>backpatch</a:t>
            </a:r>
            <a:r>
              <a:rPr lang="en-US" altLang="zh-CN" sz="2000" dirty="0">
                <a:sym typeface="Symbol" pitchFamily="18" charset="2"/>
              </a:rPr>
              <a:t>(E</a:t>
            </a:r>
            <a:r>
              <a:rPr lang="en-US" altLang="zh-CN" sz="2000" baseline="-25000" dirty="0">
                <a:sym typeface="Symbol" pitchFamily="18" charset="2"/>
              </a:rPr>
              <a:t>1</a:t>
            </a:r>
            <a:r>
              <a:rPr lang="en-US" altLang="zh-CN" sz="2000" dirty="0">
                <a:sym typeface="Symbol" pitchFamily="18" charset="2"/>
              </a:rPr>
              <a:t>.falselist,M.gotostm)</a:t>
            </a:r>
            <a:r>
              <a:rPr lang="zh-CN" altLang="en-US" sz="2000" dirty="0">
                <a:sym typeface="Symbol" pitchFamily="18" charset="2"/>
              </a:rPr>
              <a:t>将回填至</a:t>
            </a:r>
            <a:r>
              <a:rPr lang="en-US" altLang="zh-CN" sz="2000" dirty="0">
                <a:sym typeface="Symbol" pitchFamily="18" charset="2"/>
              </a:rPr>
              <a:t>E</a:t>
            </a:r>
            <a:r>
              <a:rPr lang="en-US" altLang="zh-CN" sz="2000" baseline="-25000" dirty="0">
                <a:sym typeface="Symbol" pitchFamily="18" charset="2"/>
              </a:rPr>
              <a:t>1</a:t>
            </a:r>
            <a:r>
              <a:rPr lang="en-US" altLang="zh-CN" sz="2000" dirty="0">
                <a:sym typeface="Symbol" pitchFamily="18" charset="2"/>
              </a:rPr>
              <a:t>.falselist</a:t>
            </a:r>
            <a:r>
              <a:rPr lang="zh-CN" altLang="en-US" sz="2000" dirty="0">
                <a:sym typeface="Symbol" pitchFamily="18" charset="2"/>
              </a:rPr>
              <a:t>中的所有转移语句。另外执行将</a:t>
            </a:r>
            <a:r>
              <a:rPr lang="en-US" altLang="zh-CN" sz="2000" dirty="0">
                <a:sym typeface="Symbol" pitchFamily="18" charset="2"/>
              </a:rPr>
              <a:t>E</a:t>
            </a:r>
            <a:r>
              <a:rPr lang="en-US" altLang="zh-CN" sz="2000" baseline="-25000" dirty="0">
                <a:sym typeface="Symbol" pitchFamily="18" charset="2"/>
              </a:rPr>
              <a:t>1</a:t>
            </a:r>
            <a:r>
              <a:rPr lang="en-US" altLang="zh-CN" sz="2000" dirty="0">
                <a:sym typeface="Symbol" pitchFamily="18" charset="2"/>
              </a:rPr>
              <a:t>.truelist</a:t>
            </a:r>
            <a:r>
              <a:rPr lang="zh-CN" altLang="en-US" sz="2000" dirty="0">
                <a:sym typeface="Symbol" pitchFamily="18" charset="2"/>
              </a:rPr>
              <a:t>中的所有转移语句地址合并到</a:t>
            </a:r>
            <a:r>
              <a:rPr lang="en-US" altLang="zh-CN" sz="2000" dirty="0" err="1">
                <a:sym typeface="Symbol" pitchFamily="18" charset="2"/>
              </a:rPr>
              <a:t>E.truelist</a:t>
            </a:r>
            <a:r>
              <a:rPr lang="zh-CN" altLang="en-US" sz="2000" dirty="0">
                <a:sym typeface="Symbol" pitchFamily="18" charset="2"/>
              </a:rPr>
              <a:t>中。</a:t>
            </a:r>
            <a:endParaRPr lang="zh-CN" altLang="en-US" dirty="0"/>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拉链与代码回填</a:t>
            </a:r>
          </a:p>
        </p:txBody>
      </p:sp>
      <p:sp>
        <p:nvSpPr>
          <p:cNvPr id="4" name="灯片编号占位符 3">
            <a:extLst>
              <a:ext uri="{FF2B5EF4-FFF2-40B4-BE49-F238E27FC236}">
                <a16:creationId xmlns:a16="http://schemas.microsoft.com/office/drawing/2014/main" id="{0801A95D-B2D4-4546-A4F4-A7B8BBDDA329}"/>
              </a:ext>
            </a:extLst>
          </p:cNvPr>
          <p:cNvSpPr>
            <a:spLocks noGrp="1"/>
          </p:cNvSpPr>
          <p:nvPr>
            <p:ph type="sldNum" sz="quarter" idx="4"/>
          </p:nvPr>
        </p:nvSpPr>
        <p:spPr/>
        <p:txBody>
          <a:bodyPr/>
          <a:lstStyle/>
          <a:p>
            <a:fld id="{565CE74E-AB26-4998-AD42-012C4C1AD076}" type="slidenum">
              <a:rPr lang="zh-CN" altLang="en-US" smtClean="0"/>
              <a:pPr/>
              <a:t>68</a:t>
            </a:fld>
            <a:endParaRPr lang="zh-CN" altLang="en-US"/>
          </a:p>
        </p:txBody>
      </p:sp>
    </p:spTree>
    <p:extLst>
      <p:ext uri="{BB962C8B-B14F-4D97-AF65-F5344CB8AC3E}">
        <p14:creationId xmlns:p14="http://schemas.microsoft.com/office/powerpoint/2010/main" val="20298102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fontScale="92500" lnSpcReduction="10000"/>
          </a:bodyPr>
          <a:lstStyle/>
          <a:p>
            <a:pPr>
              <a:buClrTx/>
              <a:buFont typeface="Symbol" pitchFamily="18" charset="2"/>
              <a:buChar char="-"/>
            </a:pPr>
            <a:r>
              <a:rPr lang="zh-CN" altLang="en-US" sz="3600" dirty="0">
                <a:solidFill>
                  <a:srgbClr val="990099"/>
                </a:solidFill>
              </a:rPr>
              <a:t>语义属性</a:t>
            </a:r>
          </a:p>
          <a:p>
            <a:pPr>
              <a:buClrTx/>
              <a:buFont typeface="Symbol" pitchFamily="18" charset="2"/>
              <a:buNone/>
            </a:pPr>
            <a:endParaRPr lang="zh-CN" altLang="en-US" sz="1100" dirty="0">
              <a:solidFill>
                <a:srgbClr val="990099"/>
              </a:solidFill>
            </a:endParaRPr>
          </a:p>
          <a:p>
            <a:pPr>
              <a:buClrTx/>
              <a:buFont typeface="Symbol" pitchFamily="18" charset="2"/>
              <a:buNone/>
            </a:pPr>
            <a:r>
              <a:rPr lang="zh-CN" altLang="en-US" i="1" dirty="0">
                <a:solidFill>
                  <a:srgbClr val="800080"/>
                </a:solidFill>
                <a:ea typeface="华文行楷" pitchFamily="2" charset="-122"/>
                <a:sym typeface="Symbol" pitchFamily="18" charset="2"/>
              </a:rPr>
              <a:t>     </a:t>
            </a:r>
            <a:r>
              <a:rPr lang="en-US" altLang="zh-CN" i="1" dirty="0" err="1">
                <a:solidFill>
                  <a:srgbClr val="800080"/>
                </a:solidFill>
                <a:ea typeface="华文行楷" pitchFamily="2" charset="-122"/>
                <a:sym typeface="Symbol" pitchFamily="18" charset="2"/>
              </a:rPr>
              <a:t>E.truelist</a:t>
            </a:r>
            <a:r>
              <a:rPr lang="en-US" altLang="zh-CN" i="1" dirty="0">
                <a:ea typeface="华文行楷" pitchFamily="2" charset="-122"/>
                <a:sym typeface="Symbol" pitchFamily="18" charset="2"/>
              </a:rPr>
              <a:t> </a:t>
            </a:r>
            <a:r>
              <a:rPr lang="en-US" altLang="zh-CN" dirty="0">
                <a:ea typeface="华文行楷" pitchFamily="2" charset="-122"/>
                <a:sym typeface="Symbol" pitchFamily="18" charset="2"/>
              </a:rPr>
              <a:t>:   </a:t>
            </a:r>
            <a:r>
              <a:rPr lang="en-US" altLang="zh-CN" dirty="0">
                <a:sym typeface="Symbol" pitchFamily="18" charset="2"/>
              </a:rPr>
              <a:t>“</a:t>
            </a:r>
            <a:r>
              <a:rPr lang="zh-CN" altLang="en-US" dirty="0">
                <a:sym typeface="Symbol" pitchFamily="18" charset="2"/>
              </a:rPr>
              <a:t>真链”，链表中的元素表示 一系列跳转语句的地址，这些跳转语句的目标标号是体现布尔表达式 </a:t>
            </a:r>
            <a:r>
              <a:rPr lang="en-US" altLang="zh-CN" i="1" dirty="0">
                <a:sym typeface="Symbol" pitchFamily="18" charset="2"/>
              </a:rPr>
              <a:t>E </a:t>
            </a:r>
            <a:r>
              <a:rPr lang="zh-CN" altLang="en-US" dirty="0">
                <a:sym typeface="Symbol" pitchFamily="18" charset="2"/>
              </a:rPr>
              <a:t>为“真”的标号</a:t>
            </a:r>
          </a:p>
          <a:p>
            <a:pPr>
              <a:buClrTx/>
              <a:buFont typeface="Symbol" pitchFamily="18" charset="2"/>
              <a:buNone/>
            </a:pPr>
            <a:endParaRPr lang="zh-CN" altLang="en-US" sz="1100" dirty="0">
              <a:sym typeface="Symbol" pitchFamily="18" charset="2"/>
            </a:endParaRPr>
          </a:p>
          <a:p>
            <a:pPr>
              <a:buClrTx/>
              <a:buFont typeface="Symbol" pitchFamily="18" charset="2"/>
              <a:buNone/>
            </a:pPr>
            <a:r>
              <a:rPr lang="zh-CN" altLang="en-US" dirty="0">
                <a:sym typeface="Symbol" pitchFamily="18" charset="2"/>
              </a:rPr>
              <a:t>     </a:t>
            </a:r>
            <a:r>
              <a:rPr lang="en-US" altLang="zh-CN" i="1" dirty="0">
                <a:solidFill>
                  <a:srgbClr val="800080"/>
                </a:solidFill>
                <a:ea typeface="华文行楷" pitchFamily="2" charset="-122"/>
                <a:sym typeface="Symbol" pitchFamily="18" charset="2"/>
              </a:rPr>
              <a:t>E.</a:t>
            </a:r>
            <a:r>
              <a:rPr lang="en-US" altLang="zh-CN" dirty="0">
                <a:sym typeface="Symbol" pitchFamily="18" charset="2"/>
              </a:rPr>
              <a:t> </a:t>
            </a:r>
            <a:r>
              <a:rPr lang="en-US" altLang="zh-CN" i="1" dirty="0" err="1">
                <a:solidFill>
                  <a:srgbClr val="800080"/>
                </a:solidFill>
                <a:ea typeface="华文行楷" pitchFamily="2" charset="-122"/>
                <a:sym typeface="Symbol" pitchFamily="18" charset="2"/>
              </a:rPr>
              <a:t>falselist</a:t>
            </a:r>
            <a:r>
              <a:rPr lang="en-US" altLang="zh-CN" i="1" dirty="0">
                <a:ea typeface="华文行楷" pitchFamily="2" charset="-122"/>
                <a:sym typeface="Symbol" pitchFamily="18" charset="2"/>
              </a:rPr>
              <a:t> </a:t>
            </a:r>
            <a:r>
              <a:rPr lang="en-US" altLang="zh-CN" dirty="0">
                <a:ea typeface="华文行楷" pitchFamily="2" charset="-122"/>
                <a:sym typeface="Symbol" pitchFamily="18" charset="2"/>
              </a:rPr>
              <a:t>:   </a:t>
            </a:r>
            <a:r>
              <a:rPr lang="en-US" altLang="zh-CN" dirty="0">
                <a:sym typeface="Symbol" pitchFamily="18" charset="2"/>
              </a:rPr>
              <a:t>“</a:t>
            </a:r>
            <a:r>
              <a:rPr lang="zh-CN" altLang="en-US" dirty="0">
                <a:sym typeface="Symbol" pitchFamily="18" charset="2"/>
              </a:rPr>
              <a:t>假链”，链表中的元素表示 一系列跳转语句的地址，这些跳转语句的目标标号是体现布尔表达式 </a:t>
            </a:r>
            <a:r>
              <a:rPr lang="en-US" altLang="zh-CN" i="1" dirty="0">
                <a:sym typeface="Symbol" pitchFamily="18" charset="2"/>
              </a:rPr>
              <a:t>E </a:t>
            </a:r>
            <a:r>
              <a:rPr lang="zh-CN" altLang="en-US" dirty="0">
                <a:sym typeface="Symbol" pitchFamily="18" charset="2"/>
              </a:rPr>
              <a:t>为假的标号</a:t>
            </a:r>
            <a:endParaRPr lang="zh-CN" altLang="en-US" i="1" dirty="0">
              <a:sym typeface="Symbol" pitchFamily="18" charset="2"/>
            </a:endParaRPr>
          </a:p>
          <a:p>
            <a:pPr>
              <a:buClrTx/>
              <a:buFont typeface="Symbol" pitchFamily="18" charset="2"/>
              <a:buNone/>
            </a:pPr>
            <a:endParaRPr lang="zh-CN" altLang="en-US" sz="1100" dirty="0"/>
          </a:p>
          <a:p>
            <a:pPr>
              <a:buClrTx/>
              <a:buFont typeface="Symbol" pitchFamily="18" charset="2"/>
              <a:buNone/>
            </a:pPr>
            <a:r>
              <a:rPr lang="zh-CN" altLang="en-US" i="1" dirty="0">
                <a:solidFill>
                  <a:srgbClr val="800080"/>
                </a:solidFill>
                <a:ea typeface="华文行楷" pitchFamily="2" charset="-122"/>
                <a:sym typeface="Symbol" pitchFamily="18" charset="2"/>
              </a:rPr>
              <a:t>     </a:t>
            </a:r>
            <a:r>
              <a:rPr lang="en-US" altLang="zh-CN" i="1" dirty="0">
                <a:solidFill>
                  <a:srgbClr val="800080"/>
                </a:solidFill>
                <a:ea typeface="华文行楷" pitchFamily="2" charset="-122"/>
                <a:sym typeface="Symbol" pitchFamily="18" charset="2"/>
              </a:rPr>
              <a:t>S. </a:t>
            </a:r>
            <a:r>
              <a:rPr lang="en-US" altLang="zh-CN" i="1" dirty="0" err="1">
                <a:solidFill>
                  <a:srgbClr val="800080"/>
                </a:solidFill>
                <a:ea typeface="华文行楷" pitchFamily="2" charset="-122"/>
                <a:sym typeface="Symbol" pitchFamily="18" charset="2"/>
              </a:rPr>
              <a:t>nextlist</a:t>
            </a:r>
            <a:r>
              <a:rPr lang="en-US" altLang="zh-CN" i="1" dirty="0">
                <a:ea typeface="华文行楷" pitchFamily="2" charset="-122"/>
                <a:sym typeface="Symbol" pitchFamily="18" charset="2"/>
              </a:rPr>
              <a:t> </a:t>
            </a:r>
            <a:r>
              <a:rPr lang="en-US" altLang="zh-CN" dirty="0">
                <a:ea typeface="华文行楷" pitchFamily="2" charset="-122"/>
                <a:sym typeface="Symbol" pitchFamily="18" charset="2"/>
              </a:rPr>
              <a:t>:   </a:t>
            </a:r>
            <a:r>
              <a:rPr lang="en-US" altLang="zh-CN" dirty="0">
                <a:sym typeface="Symbol" pitchFamily="18" charset="2"/>
              </a:rPr>
              <a:t>“</a:t>
            </a:r>
            <a:r>
              <a:rPr lang="en-US" altLang="zh-CN" i="1" dirty="0">
                <a:sym typeface="Symbol" pitchFamily="18" charset="2"/>
              </a:rPr>
              <a:t>next </a:t>
            </a:r>
            <a:r>
              <a:rPr lang="zh-CN" altLang="en-US" dirty="0">
                <a:sym typeface="Symbol" pitchFamily="18" charset="2"/>
              </a:rPr>
              <a:t>链”，链表中的元素表示 一系列跳转语句的地址，这些跳转语句的目标标号是在执行序列中紧跟在 </a:t>
            </a:r>
            <a:r>
              <a:rPr lang="en-US" altLang="zh-CN" i="1" dirty="0">
                <a:sym typeface="Symbol" pitchFamily="18" charset="2"/>
              </a:rPr>
              <a:t>S</a:t>
            </a:r>
            <a:r>
              <a:rPr lang="en-US" altLang="zh-CN" dirty="0">
                <a:sym typeface="Symbol" pitchFamily="18" charset="2"/>
              </a:rPr>
              <a:t> </a:t>
            </a:r>
            <a:r>
              <a:rPr lang="zh-CN" altLang="en-US" dirty="0">
                <a:sym typeface="Symbol" pitchFamily="18" charset="2"/>
              </a:rPr>
              <a:t>之后的下条</a:t>
            </a:r>
            <a:r>
              <a:rPr lang="en-US" altLang="zh-CN" sz="2800" i="1" dirty="0">
                <a:sym typeface="Symbol" pitchFamily="18" charset="2"/>
              </a:rPr>
              <a:t>TAC</a:t>
            </a:r>
            <a:r>
              <a:rPr lang="zh-CN" altLang="en-US" dirty="0">
                <a:sym typeface="Symbol" pitchFamily="18" charset="2"/>
              </a:rPr>
              <a:t>语句的标号</a:t>
            </a:r>
          </a:p>
          <a:p>
            <a:endParaRPr lang="zh-CN" altLang="en-US" dirty="0"/>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拉链与代码回填</a:t>
            </a:r>
            <a:endParaRPr lang="zh-CN" altLang="en-US" dirty="0"/>
          </a:p>
        </p:txBody>
      </p:sp>
      <p:sp>
        <p:nvSpPr>
          <p:cNvPr id="4" name="灯片编号占位符 3">
            <a:extLst>
              <a:ext uri="{FF2B5EF4-FFF2-40B4-BE49-F238E27FC236}">
                <a16:creationId xmlns:a16="http://schemas.microsoft.com/office/drawing/2014/main" id="{82EFE795-532A-48CD-9A51-AE566B891FC4}"/>
              </a:ext>
            </a:extLst>
          </p:cNvPr>
          <p:cNvSpPr>
            <a:spLocks noGrp="1"/>
          </p:cNvSpPr>
          <p:nvPr>
            <p:ph type="sldNum" sz="quarter" idx="4"/>
          </p:nvPr>
        </p:nvSpPr>
        <p:spPr/>
        <p:txBody>
          <a:bodyPr/>
          <a:lstStyle/>
          <a:p>
            <a:fld id="{565CE74E-AB26-4998-AD42-012C4C1AD076}" type="slidenum">
              <a:rPr lang="zh-CN" altLang="en-US" smtClean="0"/>
              <a:pPr/>
              <a:t>69</a:t>
            </a:fld>
            <a:endParaRPr lang="zh-CN" altLang="en-US"/>
          </a:p>
        </p:txBody>
      </p:sp>
    </p:spTree>
    <p:extLst>
      <p:ext uri="{BB962C8B-B14F-4D97-AF65-F5344CB8AC3E}">
        <p14:creationId xmlns:p14="http://schemas.microsoft.com/office/powerpoint/2010/main" val="5892210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fontScale="92500" lnSpcReduction="20000"/>
          </a:bodyPr>
          <a:lstStyle/>
          <a:p>
            <a:pPr>
              <a:buClrTx/>
              <a:buFont typeface="Symbol" pitchFamily="18" charset="2"/>
              <a:buChar char="-"/>
            </a:pPr>
            <a:r>
              <a:rPr lang="zh-CN" altLang="en-US" sz="3600" dirty="0">
                <a:solidFill>
                  <a:srgbClr val="990099"/>
                </a:solidFill>
              </a:rPr>
              <a:t>语义函数</a:t>
            </a:r>
            <a:r>
              <a:rPr lang="en-US" altLang="zh-CN" sz="3600" dirty="0">
                <a:solidFill>
                  <a:srgbClr val="990099"/>
                </a:solidFill>
              </a:rPr>
              <a:t>/</a:t>
            </a:r>
            <a:r>
              <a:rPr lang="zh-CN" altLang="en-US" sz="3600" dirty="0">
                <a:solidFill>
                  <a:srgbClr val="990099"/>
                </a:solidFill>
              </a:rPr>
              <a:t>过程</a:t>
            </a:r>
          </a:p>
          <a:p>
            <a:pPr>
              <a:buClrTx/>
              <a:buFont typeface="Symbol" pitchFamily="18" charset="2"/>
              <a:buNone/>
            </a:pPr>
            <a:endParaRPr lang="zh-CN" altLang="en-US" sz="1100" dirty="0">
              <a:solidFill>
                <a:srgbClr val="990099"/>
              </a:solidFill>
            </a:endParaRPr>
          </a:p>
          <a:p>
            <a:pPr>
              <a:buClrTx/>
              <a:buFont typeface="Symbol" pitchFamily="18" charset="2"/>
              <a:buNone/>
            </a:pPr>
            <a:r>
              <a:rPr lang="zh-CN" altLang="en-US" i="1" dirty="0">
                <a:solidFill>
                  <a:srgbClr val="800080"/>
                </a:solidFill>
                <a:ea typeface="华文行楷" pitchFamily="2" charset="-122"/>
                <a:sym typeface="Symbol" pitchFamily="18" charset="2"/>
              </a:rPr>
              <a:t>     </a:t>
            </a:r>
            <a:r>
              <a:rPr lang="en-US" altLang="zh-CN" i="1" dirty="0" err="1">
                <a:solidFill>
                  <a:srgbClr val="800080"/>
                </a:solidFill>
                <a:ea typeface="华文行楷" pitchFamily="2" charset="-122"/>
                <a:sym typeface="Symbol" pitchFamily="18" charset="2"/>
              </a:rPr>
              <a:t>makelist</a:t>
            </a:r>
            <a:r>
              <a:rPr lang="en-US" altLang="zh-CN" i="1" dirty="0">
                <a:solidFill>
                  <a:srgbClr val="800080"/>
                </a:solidFill>
                <a:ea typeface="华文行楷" pitchFamily="2" charset="-122"/>
                <a:sym typeface="Symbol" pitchFamily="18" charset="2"/>
              </a:rPr>
              <a:t>(</a:t>
            </a:r>
            <a:r>
              <a:rPr lang="en-US" altLang="zh-CN" i="1" dirty="0" err="1">
                <a:solidFill>
                  <a:srgbClr val="800080"/>
                </a:solidFill>
                <a:ea typeface="华文行楷" pitchFamily="2" charset="-122"/>
                <a:sym typeface="Symbol" pitchFamily="18" charset="2"/>
              </a:rPr>
              <a:t>i</a:t>
            </a:r>
            <a:r>
              <a:rPr lang="en-US" altLang="zh-CN" i="1" dirty="0">
                <a:solidFill>
                  <a:srgbClr val="800080"/>
                </a:solidFill>
                <a:ea typeface="华文行楷" pitchFamily="2" charset="-122"/>
                <a:sym typeface="Symbol" pitchFamily="18" charset="2"/>
              </a:rPr>
              <a:t>)</a:t>
            </a:r>
            <a:r>
              <a:rPr lang="en-US" altLang="zh-CN" i="1" dirty="0">
                <a:ea typeface="华文行楷" pitchFamily="2" charset="-122"/>
                <a:sym typeface="Symbol" pitchFamily="18" charset="2"/>
              </a:rPr>
              <a:t> </a:t>
            </a:r>
            <a:r>
              <a:rPr lang="en-US" altLang="zh-CN" dirty="0">
                <a:ea typeface="华文行楷" pitchFamily="2" charset="-122"/>
                <a:sym typeface="Symbol" pitchFamily="18" charset="2"/>
              </a:rPr>
              <a:t>: </a:t>
            </a:r>
            <a:r>
              <a:rPr lang="zh-CN" altLang="en-US" dirty="0">
                <a:sym typeface="Symbol" pitchFamily="18" charset="2"/>
              </a:rPr>
              <a:t>创建只有一个结点 </a:t>
            </a:r>
            <a:r>
              <a:rPr lang="en-US" altLang="zh-CN" i="1" dirty="0" err="1">
                <a:sym typeface="Symbol" pitchFamily="18" charset="2"/>
              </a:rPr>
              <a:t>i</a:t>
            </a:r>
            <a:r>
              <a:rPr lang="en-US" altLang="zh-CN" dirty="0">
                <a:sym typeface="Symbol" pitchFamily="18" charset="2"/>
              </a:rPr>
              <a:t> </a:t>
            </a:r>
            <a:r>
              <a:rPr lang="zh-CN" altLang="en-US" dirty="0">
                <a:sym typeface="Symbol" pitchFamily="18" charset="2"/>
              </a:rPr>
              <a:t>的表，对应存放目标 </a:t>
            </a:r>
            <a:r>
              <a:rPr lang="en-US" altLang="zh-CN" sz="2800" i="1" dirty="0">
                <a:sym typeface="Symbol" pitchFamily="18" charset="2"/>
              </a:rPr>
              <a:t>TAC </a:t>
            </a:r>
            <a:r>
              <a:rPr lang="zh-CN" altLang="en-US" dirty="0">
                <a:sym typeface="Symbol" pitchFamily="18" charset="2"/>
              </a:rPr>
              <a:t>语句数组的一个下标</a:t>
            </a:r>
          </a:p>
          <a:p>
            <a:pPr>
              <a:buClrTx/>
              <a:buFont typeface="Symbol" pitchFamily="18" charset="2"/>
              <a:buNone/>
            </a:pPr>
            <a:endParaRPr lang="zh-CN" altLang="en-US" sz="1100" dirty="0">
              <a:sym typeface="Symbol" pitchFamily="18" charset="2"/>
            </a:endParaRPr>
          </a:p>
          <a:p>
            <a:pPr>
              <a:buClrTx/>
              <a:buFont typeface="Symbol" pitchFamily="18" charset="2"/>
              <a:buNone/>
            </a:pPr>
            <a:r>
              <a:rPr lang="zh-CN" altLang="en-US" dirty="0">
                <a:sym typeface="Symbol" pitchFamily="18" charset="2"/>
              </a:rPr>
              <a:t>     </a:t>
            </a:r>
            <a:r>
              <a:rPr lang="en-US" altLang="zh-CN" i="1" dirty="0">
                <a:solidFill>
                  <a:srgbClr val="800080"/>
                </a:solidFill>
                <a:ea typeface="华文行楷" pitchFamily="2" charset="-122"/>
                <a:sym typeface="Symbol" pitchFamily="18" charset="2"/>
              </a:rPr>
              <a:t>merge(p</a:t>
            </a:r>
            <a:r>
              <a:rPr lang="en-US" altLang="zh-CN" baseline="-25000" dirty="0">
                <a:solidFill>
                  <a:srgbClr val="800080"/>
                </a:solidFill>
                <a:ea typeface="华文行楷" pitchFamily="2" charset="-122"/>
                <a:sym typeface="Symbol" pitchFamily="18" charset="2"/>
              </a:rPr>
              <a:t>1</a:t>
            </a:r>
            <a:r>
              <a:rPr lang="en-US" altLang="zh-CN" i="1" dirty="0">
                <a:solidFill>
                  <a:srgbClr val="800080"/>
                </a:solidFill>
                <a:ea typeface="华文行楷" pitchFamily="2" charset="-122"/>
                <a:sym typeface="Symbol" pitchFamily="18" charset="2"/>
              </a:rPr>
              <a:t>,p</a:t>
            </a:r>
            <a:r>
              <a:rPr lang="en-US" altLang="zh-CN" baseline="-25000" dirty="0">
                <a:solidFill>
                  <a:srgbClr val="800080"/>
                </a:solidFill>
                <a:ea typeface="华文行楷" pitchFamily="2" charset="-122"/>
                <a:sym typeface="Symbol" pitchFamily="18" charset="2"/>
              </a:rPr>
              <a:t>2</a:t>
            </a:r>
            <a:r>
              <a:rPr lang="en-US" altLang="zh-CN" i="1" dirty="0">
                <a:solidFill>
                  <a:srgbClr val="800080"/>
                </a:solidFill>
                <a:ea typeface="华文行楷" pitchFamily="2" charset="-122"/>
                <a:sym typeface="Symbol" pitchFamily="18" charset="2"/>
              </a:rPr>
              <a:t>)</a:t>
            </a:r>
            <a:r>
              <a:rPr lang="en-US" altLang="zh-CN" i="1" dirty="0">
                <a:ea typeface="华文行楷" pitchFamily="2" charset="-122"/>
                <a:sym typeface="Symbol" pitchFamily="18" charset="2"/>
              </a:rPr>
              <a:t> </a:t>
            </a:r>
            <a:r>
              <a:rPr lang="en-US" altLang="zh-CN" dirty="0">
                <a:ea typeface="华文行楷" pitchFamily="2" charset="-122"/>
                <a:sym typeface="Symbol" pitchFamily="18" charset="2"/>
              </a:rPr>
              <a:t>: </a:t>
            </a:r>
            <a:r>
              <a:rPr lang="zh-CN" altLang="en-US" dirty="0">
                <a:sym typeface="Symbol" pitchFamily="18" charset="2"/>
              </a:rPr>
              <a:t>连接两个链表 </a:t>
            </a:r>
            <a:r>
              <a:rPr lang="en-US" altLang="zh-CN" i="1" dirty="0">
                <a:ea typeface="华文行楷" pitchFamily="2" charset="-122"/>
                <a:sym typeface="Symbol" pitchFamily="18" charset="2"/>
              </a:rPr>
              <a:t>p</a:t>
            </a:r>
            <a:r>
              <a:rPr lang="en-US" altLang="zh-CN" baseline="-25000" dirty="0">
                <a:ea typeface="华文行楷" pitchFamily="2" charset="-122"/>
                <a:sym typeface="Symbol" pitchFamily="18" charset="2"/>
              </a:rPr>
              <a:t>1 </a:t>
            </a:r>
            <a:r>
              <a:rPr lang="zh-CN" altLang="en-US" dirty="0">
                <a:sym typeface="Symbol" pitchFamily="18" charset="2"/>
              </a:rPr>
              <a:t>和 </a:t>
            </a:r>
            <a:r>
              <a:rPr lang="en-US" altLang="zh-CN" i="1" dirty="0">
                <a:ea typeface="华文行楷" pitchFamily="2" charset="-122"/>
                <a:sym typeface="Symbol" pitchFamily="18" charset="2"/>
              </a:rPr>
              <a:t>p</a:t>
            </a:r>
            <a:r>
              <a:rPr lang="en-US" altLang="zh-CN" baseline="-25000" dirty="0">
                <a:ea typeface="华文行楷" pitchFamily="2" charset="-122"/>
                <a:sym typeface="Symbol" pitchFamily="18" charset="2"/>
              </a:rPr>
              <a:t>2</a:t>
            </a:r>
            <a:r>
              <a:rPr lang="en-US" altLang="zh-CN" dirty="0">
                <a:sym typeface="Symbol" pitchFamily="18" charset="2"/>
              </a:rPr>
              <a:t> </a:t>
            </a:r>
            <a:r>
              <a:rPr lang="zh-CN" altLang="en-US" dirty="0">
                <a:sym typeface="Symbol" pitchFamily="18" charset="2"/>
              </a:rPr>
              <a:t>，返回结果链表</a:t>
            </a:r>
            <a:endParaRPr lang="en-US" altLang="zh-CN" dirty="0">
              <a:sym typeface="Symbol" pitchFamily="18" charset="2"/>
            </a:endParaRPr>
          </a:p>
          <a:p>
            <a:pPr>
              <a:buClrTx/>
              <a:buFont typeface="Symbol" pitchFamily="18" charset="2"/>
              <a:buNone/>
            </a:pPr>
            <a:r>
              <a:rPr lang="zh-CN" altLang="en-US" sz="1100" dirty="0"/>
              <a:t>。</a:t>
            </a:r>
          </a:p>
          <a:p>
            <a:pPr>
              <a:buClrTx/>
              <a:buFont typeface="Symbol" pitchFamily="18" charset="2"/>
              <a:buNone/>
            </a:pPr>
            <a:r>
              <a:rPr lang="zh-CN" altLang="en-US" i="1" dirty="0">
                <a:solidFill>
                  <a:srgbClr val="800080"/>
                </a:solidFill>
                <a:ea typeface="华文行楷" pitchFamily="2" charset="-122"/>
                <a:sym typeface="Symbol" pitchFamily="18" charset="2"/>
              </a:rPr>
              <a:t>     </a:t>
            </a:r>
            <a:r>
              <a:rPr lang="en-US" altLang="zh-CN" i="1" dirty="0" err="1">
                <a:solidFill>
                  <a:srgbClr val="800080"/>
                </a:solidFill>
                <a:ea typeface="华文行楷" pitchFamily="2" charset="-122"/>
                <a:sym typeface="Symbol" pitchFamily="18" charset="2"/>
              </a:rPr>
              <a:t>backpatch</a:t>
            </a:r>
            <a:r>
              <a:rPr lang="en-US" altLang="zh-CN" i="1" dirty="0">
                <a:solidFill>
                  <a:srgbClr val="800080"/>
                </a:solidFill>
                <a:ea typeface="华文行楷" pitchFamily="2" charset="-122"/>
                <a:sym typeface="Symbol" pitchFamily="18" charset="2"/>
              </a:rPr>
              <a:t>(</a:t>
            </a:r>
            <a:r>
              <a:rPr lang="en-US" altLang="zh-CN" i="1" dirty="0" err="1">
                <a:solidFill>
                  <a:srgbClr val="800080"/>
                </a:solidFill>
                <a:ea typeface="华文行楷" pitchFamily="2" charset="-122"/>
                <a:sym typeface="Symbol" pitchFamily="18" charset="2"/>
              </a:rPr>
              <a:t>p,i</a:t>
            </a:r>
            <a:r>
              <a:rPr lang="en-US" altLang="zh-CN" i="1" dirty="0">
                <a:solidFill>
                  <a:srgbClr val="800080"/>
                </a:solidFill>
                <a:ea typeface="华文行楷" pitchFamily="2" charset="-122"/>
                <a:sym typeface="Symbol" pitchFamily="18" charset="2"/>
              </a:rPr>
              <a:t>)</a:t>
            </a:r>
            <a:r>
              <a:rPr lang="en-US" altLang="zh-CN" i="1" dirty="0">
                <a:ea typeface="华文行楷" pitchFamily="2" charset="-122"/>
                <a:sym typeface="Symbol" pitchFamily="18" charset="2"/>
              </a:rPr>
              <a:t> </a:t>
            </a:r>
            <a:r>
              <a:rPr lang="en-US" altLang="zh-CN" dirty="0">
                <a:ea typeface="华文行楷" pitchFamily="2" charset="-122"/>
                <a:sym typeface="Symbol" pitchFamily="18" charset="2"/>
              </a:rPr>
              <a:t>: </a:t>
            </a:r>
            <a:r>
              <a:rPr lang="zh-CN" altLang="en-US" dirty="0">
                <a:sym typeface="Symbol" pitchFamily="18" charset="2"/>
              </a:rPr>
              <a:t>将链表 </a:t>
            </a:r>
            <a:r>
              <a:rPr lang="en-US" altLang="zh-CN" i="1" dirty="0">
                <a:ea typeface="华文行楷" pitchFamily="2" charset="-122"/>
                <a:sym typeface="Symbol" pitchFamily="18" charset="2"/>
              </a:rPr>
              <a:t>p </a:t>
            </a:r>
            <a:r>
              <a:rPr lang="zh-CN" altLang="en-US" dirty="0">
                <a:sym typeface="Symbol" pitchFamily="18" charset="2"/>
              </a:rPr>
              <a:t>中每个元素所指向的跳转语句的标号置为 </a:t>
            </a:r>
            <a:r>
              <a:rPr lang="en-US" altLang="zh-CN" i="1" dirty="0" err="1">
                <a:sym typeface="Symbol" pitchFamily="18" charset="2"/>
              </a:rPr>
              <a:t>i</a:t>
            </a:r>
            <a:endParaRPr lang="en-US" altLang="zh-CN" i="1" dirty="0">
              <a:sym typeface="Symbol" pitchFamily="18" charset="2"/>
            </a:endParaRPr>
          </a:p>
          <a:p>
            <a:pPr>
              <a:buClrTx/>
              <a:buFont typeface="Symbol" pitchFamily="18" charset="2"/>
              <a:buNone/>
            </a:pPr>
            <a:endParaRPr lang="en-US" altLang="zh-CN" sz="1100" i="1" dirty="0">
              <a:sym typeface="Symbol" pitchFamily="18" charset="2"/>
            </a:endParaRPr>
          </a:p>
          <a:p>
            <a:pPr>
              <a:buClrTx/>
              <a:buFont typeface="Symbol" pitchFamily="18" charset="2"/>
              <a:buNone/>
            </a:pPr>
            <a:r>
              <a:rPr lang="en-US" altLang="zh-CN" i="1" dirty="0">
                <a:solidFill>
                  <a:srgbClr val="800080"/>
                </a:solidFill>
                <a:ea typeface="华文行楷" pitchFamily="2" charset="-122"/>
                <a:sym typeface="Symbol" pitchFamily="18" charset="2"/>
              </a:rPr>
              <a:t>     </a:t>
            </a:r>
            <a:r>
              <a:rPr lang="en-US" altLang="zh-CN" i="1" dirty="0" err="1">
                <a:solidFill>
                  <a:srgbClr val="800080"/>
                </a:solidFill>
                <a:ea typeface="华文行楷" pitchFamily="2" charset="-122"/>
                <a:sym typeface="Symbol" pitchFamily="18" charset="2"/>
              </a:rPr>
              <a:t>nextstm</a:t>
            </a:r>
            <a:r>
              <a:rPr lang="en-US" altLang="zh-CN" i="1" dirty="0">
                <a:ea typeface="华文行楷" pitchFamily="2" charset="-122"/>
                <a:sym typeface="Symbol" pitchFamily="18" charset="2"/>
              </a:rPr>
              <a:t> </a:t>
            </a:r>
            <a:r>
              <a:rPr lang="en-US" altLang="zh-CN" dirty="0">
                <a:ea typeface="华文行楷" pitchFamily="2" charset="-122"/>
                <a:sym typeface="Symbol" pitchFamily="18" charset="2"/>
              </a:rPr>
              <a:t>: </a:t>
            </a:r>
            <a:r>
              <a:rPr lang="zh-CN" altLang="en-US" dirty="0">
                <a:sym typeface="Symbol" pitchFamily="18" charset="2"/>
              </a:rPr>
              <a:t>下一条</a:t>
            </a:r>
            <a:r>
              <a:rPr lang="en-US" altLang="zh-CN" sz="2800" i="1" dirty="0">
                <a:sym typeface="Symbol" pitchFamily="18" charset="2"/>
              </a:rPr>
              <a:t>TAC </a:t>
            </a:r>
            <a:r>
              <a:rPr lang="zh-CN" altLang="en-US" dirty="0">
                <a:sym typeface="Symbol" pitchFamily="18" charset="2"/>
              </a:rPr>
              <a:t>语句的地址</a:t>
            </a:r>
          </a:p>
          <a:p>
            <a:pPr>
              <a:buClrTx/>
              <a:buFont typeface="Symbol" pitchFamily="18" charset="2"/>
              <a:buNone/>
            </a:pPr>
            <a:endParaRPr lang="zh-CN" altLang="en-US" sz="1100" i="1" dirty="0">
              <a:sym typeface="Symbol" pitchFamily="18" charset="2"/>
            </a:endParaRPr>
          </a:p>
          <a:p>
            <a:pPr>
              <a:buClrTx/>
              <a:buFont typeface="Symbol" pitchFamily="18" charset="2"/>
              <a:buNone/>
            </a:pPr>
            <a:r>
              <a:rPr lang="zh-CN" altLang="en-US" i="1" dirty="0">
                <a:solidFill>
                  <a:srgbClr val="800080"/>
                </a:solidFill>
                <a:ea typeface="华文行楷" pitchFamily="2" charset="-122"/>
                <a:sym typeface="Symbol" pitchFamily="18" charset="2"/>
              </a:rPr>
              <a:t>     </a:t>
            </a:r>
            <a:r>
              <a:rPr lang="en-US" altLang="zh-CN" i="1" dirty="0">
                <a:solidFill>
                  <a:srgbClr val="800080"/>
                </a:solidFill>
                <a:ea typeface="华文行楷" pitchFamily="2" charset="-122"/>
                <a:sym typeface="Symbol" pitchFamily="18" charset="2"/>
              </a:rPr>
              <a:t>emit (…)</a:t>
            </a:r>
            <a:r>
              <a:rPr lang="en-US" altLang="zh-CN" i="1" dirty="0">
                <a:ea typeface="华文行楷" pitchFamily="2" charset="-122"/>
                <a:sym typeface="Symbol" pitchFamily="18" charset="2"/>
              </a:rPr>
              <a:t> </a:t>
            </a:r>
            <a:r>
              <a:rPr lang="en-US" altLang="zh-CN" dirty="0">
                <a:ea typeface="华文行楷" pitchFamily="2" charset="-122"/>
                <a:sym typeface="Symbol" pitchFamily="18" charset="2"/>
              </a:rPr>
              <a:t>: </a:t>
            </a:r>
            <a:r>
              <a:rPr lang="zh-CN" altLang="en-US" dirty="0">
                <a:sym typeface="Symbol" pitchFamily="18" charset="2"/>
              </a:rPr>
              <a:t>输出一条</a:t>
            </a:r>
            <a:r>
              <a:rPr lang="en-US" altLang="zh-CN" sz="2800" i="1" dirty="0">
                <a:sym typeface="Symbol" pitchFamily="18" charset="2"/>
              </a:rPr>
              <a:t>TAC </a:t>
            </a:r>
            <a:r>
              <a:rPr lang="zh-CN" altLang="en-US" dirty="0">
                <a:sym typeface="Symbol" pitchFamily="18" charset="2"/>
              </a:rPr>
              <a:t>语句，并使 </a:t>
            </a:r>
            <a:r>
              <a:rPr lang="en-US" altLang="zh-CN" i="1" dirty="0" err="1">
                <a:solidFill>
                  <a:srgbClr val="800080"/>
                </a:solidFill>
                <a:ea typeface="华文行楷" pitchFamily="2" charset="-122"/>
                <a:sym typeface="Symbol" pitchFamily="18" charset="2"/>
              </a:rPr>
              <a:t>nextstm</a:t>
            </a:r>
            <a:r>
              <a:rPr lang="en-US" altLang="zh-CN" i="1" dirty="0">
                <a:solidFill>
                  <a:srgbClr val="800080"/>
                </a:solidFill>
                <a:ea typeface="华文行楷" pitchFamily="2" charset="-122"/>
                <a:sym typeface="Symbol" pitchFamily="18" charset="2"/>
              </a:rPr>
              <a:t> </a:t>
            </a:r>
            <a:r>
              <a:rPr lang="zh-CN" altLang="en-US" dirty="0">
                <a:sym typeface="Symbol" pitchFamily="18" charset="2"/>
              </a:rPr>
              <a:t>加</a:t>
            </a:r>
            <a:r>
              <a:rPr lang="en-US" altLang="zh-CN" dirty="0">
                <a:sym typeface="Symbol" pitchFamily="18" charset="2"/>
              </a:rPr>
              <a:t>1                      </a:t>
            </a:r>
          </a:p>
          <a:p>
            <a:endParaRPr lang="zh-CN" altLang="en-US" dirty="0"/>
          </a:p>
        </p:txBody>
      </p:sp>
      <p:sp>
        <p:nvSpPr>
          <p:cNvPr id="3" name="标题 2"/>
          <p:cNvSpPr>
            <a:spLocks noGrp="1"/>
          </p:cNvSpPr>
          <p:nvPr>
            <p:ph type="title"/>
          </p:nvPr>
        </p:nvSpPr>
        <p:spPr/>
        <p:txBody>
          <a:bodyPr/>
          <a:lstStyle/>
          <a:p>
            <a:r>
              <a:rPr lang="zh-CN" altLang="en-US" dirty="0"/>
              <a:t>四、中间代码生成       </a:t>
            </a:r>
            <a:r>
              <a:rPr lang="zh-CN" altLang="en-US" dirty="0">
                <a:solidFill>
                  <a:srgbClr val="FF0000"/>
                </a:solidFill>
              </a:rPr>
              <a:t>拉链与代码回填</a:t>
            </a:r>
            <a:endParaRPr lang="zh-CN" altLang="en-US" dirty="0"/>
          </a:p>
        </p:txBody>
      </p:sp>
      <p:sp>
        <p:nvSpPr>
          <p:cNvPr id="4" name="灯片编号占位符 3">
            <a:extLst>
              <a:ext uri="{FF2B5EF4-FFF2-40B4-BE49-F238E27FC236}">
                <a16:creationId xmlns:a16="http://schemas.microsoft.com/office/drawing/2014/main" id="{FDDB040F-CC80-41F3-B078-EFF1840CDE82}"/>
              </a:ext>
            </a:extLst>
          </p:cNvPr>
          <p:cNvSpPr>
            <a:spLocks noGrp="1"/>
          </p:cNvSpPr>
          <p:nvPr>
            <p:ph type="sldNum" sz="quarter" idx="4"/>
          </p:nvPr>
        </p:nvSpPr>
        <p:spPr/>
        <p:txBody>
          <a:bodyPr/>
          <a:lstStyle/>
          <a:p>
            <a:fld id="{565CE74E-AB26-4998-AD42-012C4C1AD076}" type="slidenum">
              <a:rPr lang="zh-CN" altLang="en-US" smtClean="0"/>
              <a:pPr/>
              <a:t>70</a:t>
            </a:fld>
            <a:endParaRPr lang="zh-CN" altLang="en-US"/>
          </a:p>
        </p:txBody>
      </p:sp>
    </p:spTree>
    <p:extLst>
      <p:ext uri="{BB962C8B-B14F-4D97-AF65-F5344CB8AC3E}">
        <p14:creationId xmlns:p14="http://schemas.microsoft.com/office/powerpoint/2010/main" val="11246168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三、中间代码生成       </a:t>
            </a:r>
            <a:r>
              <a:rPr lang="zh-CN" altLang="en-US" dirty="0">
                <a:solidFill>
                  <a:srgbClr val="FF0000"/>
                </a:solidFill>
              </a:rPr>
              <a:t>拉链与代码回填</a:t>
            </a:r>
            <a:endParaRPr lang="zh-CN" altLang="en-US" dirty="0"/>
          </a:p>
        </p:txBody>
      </p:sp>
      <p:sp>
        <p:nvSpPr>
          <p:cNvPr id="4" name="Text Box 9"/>
          <p:cNvSpPr txBox="1">
            <a:spLocks noChangeArrowheads="1"/>
          </p:cNvSpPr>
          <p:nvPr/>
        </p:nvSpPr>
        <p:spPr bwMode="auto">
          <a:xfrm>
            <a:off x="450574" y="1916044"/>
            <a:ext cx="8693426" cy="4478149"/>
          </a:xfrm>
          <a:prstGeom prst="rect">
            <a:avLst/>
          </a:prstGeom>
          <a:noFill/>
          <a:ln w="9525">
            <a:noFill/>
            <a:miter lim="800000"/>
            <a:headEnd/>
            <a:tailEnd/>
          </a:ln>
        </p:spPr>
        <p:txBody>
          <a:bodyPr wrap="square">
            <a:spAutoFit/>
          </a:bodyPr>
          <a:lstStyle/>
          <a:p>
            <a:pPr>
              <a:buClrTx/>
              <a:buFont typeface="Wingdings" pitchFamily="2" charset="2"/>
              <a:buNone/>
            </a:pPr>
            <a:r>
              <a:rPr lang="en-US" altLang="zh-CN" sz="2400" i="1" dirty="0">
                <a:latin typeface="Times New Roman" panose="02020603050405020304" pitchFamily="18" charset="0"/>
                <a:cs typeface="Times New Roman" pitchFamily="18" charset="0"/>
                <a:sym typeface="Symbol" pitchFamily="18" charset="2"/>
              </a:rPr>
              <a:t>S </a:t>
            </a:r>
            <a:r>
              <a:rPr lang="en-US" altLang="zh-CN" sz="2400" dirty="0">
                <a:latin typeface="Times New Roman" panose="02020603050405020304" pitchFamily="18" charset="0"/>
                <a:ea typeface="华文行楷" pitchFamily="2" charset="-122"/>
                <a:cs typeface="Times New Roman" pitchFamily="18" charset="0"/>
                <a:sym typeface="Symbol" pitchFamily="18" charset="2"/>
              </a:rPr>
              <a:t> call</a:t>
            </a:r>
            <a:r>
              <a:rPr lang="en-US" altLang="zh-CN" sz="2400" i="1" dirty="0">
                <a:latin typeface="Times New Roman" panose="02020603050405020304" pitchFamily="18" charset="0"/>
                <a:ea typeface="华文行楷" pitchFamily="2" charset="-122"/>
                <a:cs typeface="Times New Roman" pitchFamily="18" charset="0"/>
                <a:sym typeface="Symbol" pitchFamily="18" charset="2"/>
              </a:rPr>
              <a:t>  </a:t>
            </a:r>
            <a:r>
              <a:rPr lang="en-US" altLang="zh-CN" sz="2400" u="sng" dirty="0">
                <a:latin typeface="Times New Roman" panose="02020603050405020304" pitchFamily="18" charset="0"/>
                <a:ea typeface="华文行楷" pitchFamily="2" charset="-122"/>
                <a:cs typeface="Times New Roman" pitchFamily="18" charset="0"/>
                <a:sym typeface="Symbol" pitchFamily="18" charset="2"/>
              </a:rPr>
              <a:t>id</a:t>
            </a:r>
            <a:r>
              <a:rPr lang="en-US" altLang="zh-CN" sz="2400" dirty="0">
                <a:latin typeface="Times New Roman" panose="02020603050405020304" pitchFamily="18" charset="0"/>
                <a:ea typeface="华文行楷" pitchFamily="2" charset="-122"/>
                <a:cs typeface="Times New Roman" pitchFamily="18" charset="0"/>
                <a:sym typeface="Symbol" pitchFamily="18" charset="2"/>
              </a:rPr>
              <a:t>  ( </a:t>
            </a:r>
            <a:r>
              <a:rPr lang="en-US" altLang="zh-CN" sz="2400" i="1" dirty="0">
                <a:latin typeface="Times New Roman" panose="02020603050405020304" pitchFamily="18" charset="0"/>
                <a:ea typeface="华文行楷" pitchFamily="2" charset="-122"/>
                <a:cs typeface="Times New Roman" pitchFamily="18" charset="0"/>
                <a:sym typeface="Symbol" pitchFamily="18" charset="2"/>
              </a:rPr>
              <a:t>A</a:t>
            </a:r>
            <a:r>
              <a:rPr lang="en-US" altLang="zh-CN" sz="2400" dirty="0">
                <a:latin typeface="Times New Roman" panose="02020603050405020304" pitchFamily="18" charset="0"/>
                <a:ea typeface="华文行楷" pitchFamily="2" charset="-122"/>
                <a:cs typeface="Times New Roman" pitchFamily="18" charset="0"/>
                <a:sym typeface="Symbol" pitchFamily="18" charset="2"/>
              </a:rPr>
              <a:t> )</a:t>
            </a:r>
            <a:endParaRPr lang="en-US" altLang="zh-CN" sz="2400" i="1" dirty="0">
              <a:latin typeface="Times New Roman" panose="02020603050405020304" pitchFamily="18" charset="0"/>
              <a:ea typeface="华文行楷" pitchFamily="2" charset="-122"/>
              <a:cs typeface="Times New Roman" pitchFamily="18" charset="0"/>
              <a:sym typeface="Symbol" pitchFamily="18" charset="2"/>
            </a:endParaRPr>
          </a:p>
          <a:p>
            <a:pPr>
              <a:buClrTx/>
              <a:buFont typeface="Wingdings" pitchFamily="2" charset="2"/>
              <a:buNone/>
            </a:pPr>
            <a:r>
              <a:rPr lang="en-US" altLang="zh-CN" sz="2400" dirty="0">
                <a:latin typeface="Times New Roman" panose="02020603050405020304" pitchFamily="18" charset="0"/>
                <a:sym typeface="Symbol" pitchFamily="18" charset="2"/>
              </a:rPr>
              <a:t>        { </a:t>
            </a:r>
            <a:r>
              <a:rPr lang="en-US" altLang="zh-CN" sz="2400" i="1" dirty="0" err="1">
                <a:latin typeface="Times New Roman" panose="02020603050405020304" pitchFamily="18" charset="0"/>
                <a:sym typeface="Symbol" pitchFamily="18" charset="2"/>
              </a:rPr>
              <a:t>S</a:t>
            </a:r>
            <a:r>
              <a:rPr lang="en-US" altLang="zh-CN" sz="2400" dirty="0" err="1">
                <a:latin typeface="Times New Roman" panose="02020603050405020304" pitchFamily="18" charset="0"/>
                <a:sym typeface="Symbol" pitchFamily="18" charset="2"/>
              </a:rPr>
              <a:t>.code</a:t>
            </a:r>
            <a:r>
              <a:rPr lang="en-US" altLang="zh-CN" sz="2400" dirty="0">
                <a:latin typeface="Times New Roman" panose="02020603050405020304" pitchFamily="18" charset="0"/>
                <a:sym typeface="Symbol" pitchFamily="18" charset="2"/>
              </a:rPr>
              <a:t> := </a:t>
            </a:r>
            <a:r>
              <a:rPr lang="en-US" altLang="zh-CN" sz="2400" i="1" dirty="0" err="1">
                <a:latin typeface="Times New Roman" panose="02020603050405020304" pitchFamily="18" charset="0"/>
                <a:sym typeface="Symbol" pitchFamily="18" charset="2"/>
              </a:rPr>
              <a:t>A</a:t>
            </a:r>
            <a:r>
              <a:rPr lang="en-US" altLang="zh-CN" sz="2400" dirty="0" err="1">
                <a:latin typeface="Times New Roman" panose="02020603050405020304" pitchFamily="18" charset="0"/>
                <a:sym typeface="Symbol" pitchFamily="18" charset="2"/>
              </a:rPr>
              <a:t>.code</a:t>
            </a:r>
            <a:r>
              <a:rPr lang="zh-CN" altLang="en-US" sz="2000" dirty="0">
                <a:latin typeface="Times New Roman" panose="02020603050405020304" pitchFamily="18" charset="0"/>
                <a:sym typeface="Symbol" pitchFamily="18" charset="2"/>
              </a:rPr>
              <a:t>； </a:t>
            </a:r>
          </a:p>
          <a:p>
            <a:pPr>
              <a:buClrTx/>
              <a:buFont typeface="Wingdings" pitchFamily="2" charset="2"/>
              <a:buNone/>
            </a:pPr>
            <a:r>
              <a:rPr lang="zh-CN" altLang="en-US" sz="2000" dirty="0">
                <a:latin typeface="Times New Roman" panose="02020603050405020304" pitchFamily="18" charset="0"/>
                <a:sym typeface="Symbol" pitchFamily="18" charset="2"/>
              </a:rPr>
              <a:t>         </a:t>
            </a:r>
            <a:r>
              <a:rPr lang="en-US" altLang="zh-CN" sz="2400" dirty="0">
                <a:latin typeface="Times New Roman" panose="02020603050405020304" pitchFamily="18" charset="0"/>
                <a:sym typeface="Symbol" pitchFamily="18" charset="2"/>
              </a:rPr>
              <a:t>for</a:t>
            </a:r>
            <a:r>
              <a:rPr lang="en-US" altLang="zh-CN" sz="2400" i="1" dirty="0">
                <a:latin typeface="Times New Roman" panose="02020603050405020304" pitchFamily="18" charset="0"/>
                <a:sym typeface="Symbol" pitchFamily="18" charset="2"/>
              </a:rPr>
              <a:t> </a:t>
            </a:r>
            <a:r>
              <a:rPr lang="en-US" altLang="zh-CN" sz="2400" i="1" dirty="0" err="1">
                <a:latin typeface="Times New Roman" panose="02020603050405020304" pitchFamily="18" charset="0"/>
                <a:ea typeface="华文行楷" pitchFamily="2" charset="-122"/>
                <a:sym typeface="Symbol" pitchFamily="18" charset="2"/>
              </a:rPr>
              <a:t>A.arglist</a:t>
            </a:r>
            <a:r>
              <a:rPr lang="en-US" altLang="zh-CN" sz="2400" i="1" dirty="0">
                <a:latin typeface="Times New Roman" panose="02020603050405020304" pitchFamily="18" charset="0"/>
                <a:sym typeface="Symbol" pitchFamily="18" charset="2"/>
              </a:rPr>
              <a:t> </a:t>
            </a:r>
            <a:r>
              <a:rPr lang="zh-CN" altLang="en-US" sz="2400" b="1" dirty="0">
                <a:latin typeface="Times New Roman" panose="02020603050405020304" pitchFamily="18" charset="0"/>
                <a:sym typeface="Symbol" pitchFamily="18" charset="2"/>
              </a:rPr>
              <a:t>中的每一项 </a:t>
            </a:r>
            <a:r>
              <a:rPr lang="en-US" altLang="zh-CN" sz="2400" i="1" dirty="0">
                <a:latin typeface="Times New Roman" panose="02020603050405020304" pitchFamily="18" charset="0"/>
                <a:sym typeface="Symbol" pitchFamily="18" charset="2"/>
              </a:rPr>
              <a:t>p  </a:t>
            </a:r>
            <a:r>
              <a:rPr lang="en-US" altLang="zh-CN" sz="2400" dirty="0">
                <a:latin typeface="Times New Roman" panose="02020603050405020304" pitchFamily="18" charset="0"/>
                <a:sym typeface="Symbol" pitchFamily="18" charset="2"/>
              </a:rPr>
              <a:t>do</a:t>
            </a:r>
          </a:p>
          <a:p>
            <a:pPr>
              <a:buClrTx/>
              <a:buFont typeface="Wingdings" pitchFamily="2" charset="2"/>
              <a:buNone/>
            </a:pPr>
            <a:r>
              <a:rPr lang="en-US" altLang="zh-CN" sz="2400" dirty="0">
                <a:latin typeface="Times New Roman" panose="02020603050405020304" pitchFamily="18" charset="0"/>
                <a:sym typeface="Symbol" pitchFamily="18" charset="2"/>
              </a:rPr>
              <a:t>                 </a:t>
            </a:r>
            <a:r>
              <a:rPr lang="pt-BR" altLang="zh-CN" sz="2400" i="1" dirty="0">
                <a:latin typeface="Times New Roman" panose="02020603050405020304" pitchFamily="18" charset="0"/>
                <a:sym typeface="Symbol" pitchFamily="18" charset="2"/>
              </a:rPr>
              <a:t>S.code </a:t>
            </a:r>
            <a:r>
              <a:rPr lang="pt-BR" altLang="zh-CN" sz="2400" dirty="0">
                <a:latin typeface="Times New Roman" panose="02020603050405020304" pitchFamily="18" charset="0"/>
                <a:sym typeface="Symbol" pitchFamily="18" charset="2"/>
              </a:rPr>
              <a:t>:=</a:t>
            </a:r>
            <a:r>
              <a:rPr lang="pt-BR" altLang="zh-CN" sz="2400" i="1" dirty="0">
                <a:latin typeface="Times New Roman" panose="02020603050405020304" pitchFamily="18" charset="0"/>
                <a:sym typeface="Symbol" pitchFamily="18" charset="2"/>
              </a:rPr>
              <a:t> S.code</a:t>
            </a:r>
            <a:r>
              <a:rPr lang="pt-BR" altLang="zh-CN" sz="2400" dirty="0">
                <a:latin typeface="Times New Roman" panose="02020603050405020304" pitchFamily="18" charset="0"/>
                <a:sym typeface="Symbol" pitchFamily="18" charset="2"/>
              </a:rPr>
              <a:t> </a:t>
            </a:r>
            <a:r>
              <a:rPr lang="pt-BR" altLang="zh-CN" sz="2400" i="1" dirty="0">
                <a:latin typeface="Times New Roman" panose="02020603050405020304" pitchFamily="18" charset="0"/>
                <a:sym typeface="Symbol" pitchFamily="18" charset="2"/>
              </a:rPr>
              <a:t>|| gen</a:t>
            </a:r>
            <a:r>
              <a:rPr lang="pt-BR" altLang="zh-CN" sz="2400" dirty="0">
                <a:latin typeface="Times New Roman" panose="02020603050405020304" pitchFamily="18" charset="0"/>
                <a:sym typeface="Symbol" pitchFamily="18" charset="2"/>
              </a:rPr>
              <a:t>(</a:t>
            </a:r>
            <a:r>
              <a:rPr lang="pt-BR" altLang="zh-CN" sz="2400" i="1" dirty="0">
                <a:latin typeface="Times New Roman" panose="02020603050405020304" pitchFamily="18" charset="0"/>
                <a:sym typeface="Symbol" pitchFamily="18" charset="2"/>
              </a:rPr>
              <a:t>‘</a:t>
            </a:r>
            <a:r>
              <a:rPr lang="pt-BR" altLang="zh-CN" sz="2400" dirty="0">
                <a:latin typeface="Times New Roman" panose="02020603050405020304" pitchFamily="18" charset="0"/>
                <a:sym typeface="Symbol" pitchFamily="18" charset="2"/>
              </a:rPr>
              <a:t>param</a:t>
            </a:r>
            <a:r>
              <a:rPr lang="pt-BR" altLang="zh-CN" sz="2400" i="1" dirty="0">
                <a:latin typeface="Times New Roman" panose="02020603050405020304" pitchFamily="18" charset="0"/>
                <a:sym typeface="Symbol" pitchFamily="18" charset="2"/>
              </a:rPr>
              <a:t>’ p </a:t>
            </a:r>
            <a:r>
              <a:rPr lang="pt-BR" altLang="zh-CN" sz="2400" dirty="0">
                <a:latin typeface="Times New Roman" panose="02020603050405020304" pitchFamily="18" charset="0"/>
                <a:sym typeface="Symbol" pitchFamily="18" charset="2"/>
              </a:rPr>
              <a:t>)</a:t>
            </a:r>
            <a:r>
              <a:rPr lang="zh-CN" altLang="pt-BR" sz="2400" dirty="0">
                <a:latin typeface="Times New Roman" panose="02020603050405020304" pitchFamily="18" charset="0"/>
                <a:sym typeface="Symbol" pitchFamily="18" charset="2"/>
              </a:rPr>
              <a:t>；</a:t>
            </a:r>
            <a:r>
              <a:rPr lang="zh-CN" altLang="pt-BR" sz="2000" dirty="0">
                <a:latin typeface="Times New Roman" panose="02020603050405020304" pitchFamily="18" charset="0"/>
                <a:sym typeface="Symbol" pitchFamily="18" charset="2"/>
              </a:rPr>
              <a:t> </a:t>
            </a:r>
          </a:p>
          <a:p>
            <a:pPr>
              <a:buClrTx/>
              <a:buFont typeface="Wingdings" pitchFamily="2" charset="2"/>
              <a:buNone/>
            </a:pPr>
            <a:r>
              <a:rPr lang="pt-BR" altLang="zh-CN" sz="2000" dirty="0">
                <a:latin typeface="Times New Roman" panose="02020603050405020304" pitchFamily="18" charset="0"/>
                <a:sym typeface="Symbol" pitchFamily="18" charset="2"/>
              </a:rPr>
              <a:t>         </a:t>
            </a:r>
            <a:r>
              <a:rPr lang="en-US" altLang="zh-CN" sz="2400" i="1" dirty="0" err="1">
                <a:latin typeface="Times New Roman" panose="02020603050405020304" pitchFamily="18" charset="0"/>
                <a:sym typeface="Symbol" pitchFamily="18" charset="2"/>
              </a:rPr>
              <a:t>S.code</a:t>
            </a:r>
            <a:r>
              <a:rPr lang="en-US" altLang="zh-CN" sz="2400" i="1" dirty="0">
                <a:latin typeface="Times New Roman" panose="02020603050405020304" pitchFamily="18" charset="0"/>
                <a:sym typeface="Symbol" pitchFamily="18" charset="2"/>
              </a:rPr>
              <a:t> </a:t>
            </a:r>
            <a:r>
              <a:rPr lang="en-US" altLang="zh-CN" sz="2400" dirty="0">
                <a:latin typeface="Times New Roman" panose="02020603050405020304" pitchFamily="18" charset="0"/>
                <a:sym typeface="Symbol" pitchFamily="18" charset="2"/>
              </a:rPr>
              <a:t>:=</a:t>
            </a:r>
            <a:r>
              <a:rPr lang="en-US" altLang="zh-CN" sz="2400" i="1" dirty="0">
                <a:latin typeface="Times New Roman" panose="02020603050405020304" pitchFamily="18" charset="0"/>
                <a:sym typeface="Symbol" pitchFamily="18" charset="2"/>
              </a:rPr>
              <a:t> </a:t>
            </a:r>
            <a:r>
              <a:rPr lang="en-US" altLang="zh-CN" sz="2400" i="1" dirty="0" err="1">
                <a:latin typeface="Times New Roman" panose="02020603050405020304" pitchFamily="18" charset="0"/>
                <a:sym typeface="Symbol" pitchFamily="18" charset="2"/>
              </a:rPr>
              <a:t>S.code</a:t>
            </a:r>
            <a:r>
              <a:rPr lang="en-US" altLang="zh-CN" sz="2400" dirty="0">
                <a:latin typeface="Times New Roman" panose="02020603050405020304" pitchFamily="18" charset="0"/>
                <a:sym typeface="Symbol" pitchFamily="18" charset="2"/>
              </a:rPr>
              <a:t> </a:t>
            </a:r>
            <a:r>
              <a:rPr lang="en-US" altLang="zh-CN" sz="2400" i="1" dirty="0">
                <a:latin typeface="Times New Roman" panose="02020603050405020304" pitchFamily="18" charset="0"/>
                <a:sym typeface="Symbol" pitchFamily="18" charset="2"/>
              </a:rPr>
              <a:t>|| gen </a:t>
            </a:r>
            <a:r>
              <a:rPr lang="en-US" altLang="zh-CN" sz="2400" dirty="0">
                <a:latin typeface="Times New Roman" panose="02020603050405020304" pitchFamily="18" charset="0"/>
                <a:sym typeface="Symbol" pitchFamily="18" charset="2"/>
              </a:rPr>
              <a:t>( ‘call’ </a:t>
            </a:r>
            <a:r>
              <a:rPr lang="en-US" altLang="zh-CN" sz="2400" u="sng" dirty="0" err="1">
                <a:latin typeface="Times New Roman" panose="02020603050405020304" pitchFamily="18" charset="0"/>
                <a:sym typeface="Symbol" pitchFamily="18" charset="2"/>
              </a:rPr>
              <a:t>id</a:t>
            </a:r>
            <a:r>
              <a:rPr lang="en-US" altLang="zh-CN" sz="2400" i="1" dirty="0" err="1">
                <a:latin typeface="Times New Roman" panose="02020603050405020304" pitchFamily="18" charset="0"/>
                <a:sym typeface="Symbol" pitchFamily="18" charset="2"/>
              </a:rPr>
              <a:t>.place</a:t>
            </a:r>
            <a:r>
              <a:rPr lang="en-US" altLang="zh-CN" sz="2400" dirty="0">
                <a:latin typeface="Times New Roman" panose="02020603050405020304" pitchFamily="18" charset="0"/>
                <a:sym typeface="Symbol" pitchFamily="18" charset="2"/>
              </a:rPr>
              <a:t> , </a:t>
            </a:r>
            <a:r>
              <a:rPr lang="en-US" altLang="zh-CN" sz="2400" i="1" dirty="0" err="1">
                <a:latin typeface="Times New Roman" panose="02020603050405020304" pitchFamily="18" charset="0"/>
                <a:sym typeface="Symbol" pitchFamily="18" charset="2"/>
              </a:rPr>
              <a:t>A</a:t>
            </a:r>
            <a:r>
              <a:rPr lang="en-US" altLang="zh-CN" sz="2400" dirty="0" err="1">
                <a:latin typeface="Times New Roman" panose="02020603050405020304" pitchFamily="18" charset="0"/>
                <a:sym typeface="Symbol" pitchFamily="18" charset="2"/>
              </a:rPr>
              <a:t>.</a:t>
            </a:r>
            <a:r>
              <a:rPr lang="en-US" altLang="zh-CN" sz="2400" i="1" dirty="0" err="1">
                <a:latin typeface="Times New Roman" panose="02020603050405020304" pitchFamily="18" charset="0"/>
                <a:sym typeface="Symbol" pitchFamily="18" charset="2"/>
              </a:rPr>
              <a:t>n</a:t>
            </a:r>
            <a:r>
              <a:rPr lang="en-US" altLang="zh-CN" sz="2400" dirty="0">
                <a:latin typeface="Times New Roman" panose="02020603050405020304" pitchFamily="18" charset="0"/>
                <a:sym typeface="Symbol" pitchFamily="18" charset="2"/>
              </a:rPr>
              <a:t> ) </a:t>
            </a:r>
            <a:r>
              <a:rPr lang="en-US" altLang="zh-CN" sz="2400" dirty="0">
                <a:latin typeface="Times New Roman" panose="02020603050405020304" pitchFamily="18" charset="0"/>
                <a:ea typeface="华文行楷" pitchFamily="2" charset="-122"/>
                <a:sym typeface="Symbol" pitchFamily="18" charset="2"/>
              </a:rPr>
              <a:t>}</a:t>
            </a:r>
          </a:p>
          <a:p>
            <a:pPr>
              <a:buClrTx/>
              <a:buFont typeface="Wingdings" pitchFamily="2" charset="2"/>
              <a:buNone/>
            </a:pPr>
            <a:endParaRPr lang="en-US" altLang="zh-CN" sz="1050" dirty="0">
              <a:latin typeface="Times New Roman" panose="02020603050405020304" pitchFamily="18" charset="0"/>
              <a:sym typeface="Symbol" pitchFamily="18" charset="2"/>
            </a:endParaRPr>
          </a:p>
          <a:p>
            <a:pPr>
              <a:buClrTx/>
              <a:buFont typeface="Wingdings" pitchFamily="2" charset="2"/>
              <a:buNone/>
            </a:pPr>
            <a:r>
              <a:rPr lang="en-US" altLang="zh-CN" sz="2400" i="1" dirty="0">
                <a:latin typeface="Times New Roman" panose="02020603050405020304" pitchFamily="18" charset="0"/>
                <a:sym typeface="Symbol" pitchFamily="18" charset="2"/>
              </a:rPr>
              <a:t>A </a:t>
            </a:r>
            <a:r>
              <a:rPr lang="en-US" altLang="zh-CN" sz="2400" dirty="0">
                <a:latin typeface="Times New Roman" panose="02020603050405020304" pitchFamily="18" charset="0"/>
                <a:ea typeface="华文行楷" pitchFamily="2" charset="-122"/>
                <a:sym typeface="Symbol" pitchFamily="18" charset="2"/>
              </a:rPr>
              <a:t></a:t>
            </a:r>
            <a:r>
              <a:rPr lang="en-US" altLang="zh-CN" sz="2400" i="1" dirty="0">
                <a:latin typeface="Times New Roman" panose="02020603050405020304" pitchFamily="18" charset="0"/>
                <a:ea typeface="华文行楷" pitchFamily="2" charset="-122"/>
                <a:sym typeface="Symbol" pitchFamily="18" charset="2"/>
              </a:rPr>
              <a:t> A</a:t>
            </a:r>
            <a:r>
              <a:rPr lang="en-US" altLang="zh-CN" sz="2400" baseline="-25000" dirty="0">
                <a:latin typeface="Times New Roman" panose="02020603050405020304" pitchFamily="18" charset="0"/>
                <a:sym typeface="Symbol" pitchFamily="18" charset="2"/>
              </a:rPr>
              <a:t>1</a:t>
            </a:r>
            <a:r>
              <a:rPr lang="en-US" altLang="zh-CN" sz="2400" i="1" dirty="0">
                <a:latin typeface="Times New Roman" panose="02020603050405020304" pitchFamily="18" charset="0"/>
                <a:ea typeface="华文行楷" pitchFamily="2" charset="-122"/>
                <a:sym typeface="Symbol" pitchFamily="18" charset="2"/>
              </a:rPr>
              <a:t> , E</a:t>
            </a:r>
            <a:endParaRPr lang="en-US" altLang="zh-CN" sz="2400" dirty="0">
              <a:latin typeface="Times New Roman" panose="02020603050405020304" pitchFamily="18" charset="0"/>
              <a:ea typeface="华文行楷" pitchFamily="2" charset="-122"/>
              <a:sym typeface="Symbol" pitchFamily="18" charset="2"/>
            </a:endParaRPr>
          </a:p>
          <a:p>
            <a:pPr>
              <a:buClrTx/>
              <a:buFont typeface="Wingdings" pitchFamily="2" charset="2"/>
              <a:buNone/>
            </a:pPr>
            <a:r>
              <a:rPr lang="en-US" altLang="zh-CN" sz="2400" dirty="0">
                <a:latin typeface="Times New Roman" panose="02020603050405020304" pitchFamily="18" charset="0"/>
                <a:sym typeface="Symbol" pitchFamily="18" charset="2"/>
              </a:rPr>
              <a:t>        {  </a:t>
            </a:r>
            <a:r>
              <a:rPr lang="en-US" altLang="zh-CN" sz="2400" i="1" dirty="0" err="1">
                <a:latin typeface="Times New Roman" panose="02020603050405020304" pitchFamily="18" charset="0"/>
                <a:sym typeface="Symbol" pitchFamily="18" charset="2"/>
              </a:rPr>
              <a:t>A.n</a:t>
            </a:r>
            <a:r>
              <a:rPr lang="en-US" altLang="zh-CN" sz="2400" i="1" dirty="0">
                <a:latin typeface="Times New Roman" panose="02020603050405020304" pitchFamily="18" charset="0"/>
                <a:sym typeface="Symbol" pitchFamily="18" charset="2"/>
              </a:rPr>
              <a:t> := </a:t>
            </a:r>
            <a:r>
              <a:rPr lang="en-US" altLang="zh-CN" sz="2400" i="1" dirty="0">
                <a:latin typeface="Times New Roman" panose="02020603050405020304" pitchFamily="18" charset="0"/>
                <a:ea typeface="华文行楷" pitchFamily="2" charset="-122"/>
                <a:sym typeface="Symbol" pitchFamily="18" charset="2"/>
              </a:rPr>
              <a:t>A</a:t>
            </a:r>
            <a:r>
              <a:rPr lang="en-US" altLang="zh-CN" sz="2400" baseline="-25000" dirty="0">
                <a:latin typeface="Times New Roman" panose="02020603050405020304" pitchFamily="18" charset="0"/>
                <a:sym typeface="Symbol" pitchFamily="18" charset="2"/>
              </a:rPr>
              <a:t>1</a:t>
            </a:r>
            <a:r>
              <a:rPr lang="en-US" altLang="zh-CN" sz="2400" i="1" dirty="0">
                <a:latin typeface="Times New Roman" panose="02020603050405020304" pitchFamily="18" charset="0"/>
                <a:sym typeface="Symbol" pitchFamily="18" charset="2"/>
              </a:rPr>
              <a:t>.n +</a:t>
            </a:r>
            <a:r>
              <a:rPr lang="en-US" altLang="zh-CN" sz="2400" i="1" dirty="0">
                <a:latin typeface="Times New Roman" panose="02020603050405020304" pitchFamily="18" charset="0"/>
                <a:ea typeface="华文行楷" pitchFamily="2" charset="-122"/>
                <a:sym typeface="Symbol" pitchFamily="18" charset="2"/>
              </a:rPr>
              <a:t>1;  </a:t>
            </a:r>
          </a:p>
          <a:p>
            <a:pPr>
              <a:buClrTx/>
              <a:buFont typeface="Wingdings" pitchFamily="2" charset="2"/>
              <a:buNone/>
            </a:pPr>
            <a:r>
              <a:rPr lang="en-US" altLang="zh-CN" sz="2400" i="1" dirty="0">
                <a:latin typeface="Times New Roman" panose="02020603050405020304" pitchFamily="18" charset="0"/>
                <a:ea typeface="华文行楷" pitchFamily="2" charset="-122"/>
                <a:sym typeface="Symbol" pitchFamily="18" charset="2"/>
              </a:rPr>
              <a:t>           </a:t>
            </a:r>
            <a:r>
              <a:rPr lang="en-US" altLang="zh-CN" sz="2400" i="1" dirty="0" err="1">
                <a:latin typeface="Times New Roman" panose="02020603050405020304" pitchFamily="18" charset="0"/>
                <a:ea typeface="华文行楷" pitchFamily="2" charset="-122"/>
                <a:sym typeface="Symbol" pitchFamily="18" charset="2"/>
              </a:rPr>
              <a:t>A.arglist</a:t>
            </a:r>
            <a:r>
              <a:rPr lang="en-US" altLang="zh-CN" sz="2400" i="1" dirty="0">
                <a:latin typeface="Times New Roman" panose="02020603050405020304" pitchFamily="18" charset="0"/>
                <a:ea typeface="华文行楷" pitchFamily="2" charset="-122"/>
                <a:sym typeface="Symbol" pitchFamily="18" charset="2"/>
              </a:rPr>
              <a:t> := append(A</a:t>
            </a:r>
            <a:r>
              <a:rPr lang="en-US" altLang="zh-CN" sz="2400" baseline="-25000" dirty="0">
                <a:latin typeface="Times New Roman" panose="02020603050405020304" pitchFamily="18" charset="0"/>
                <a:sym typeface="Symbol" pitchFamily="18" charset="2"/>
              </a:rPr>
              <a:t>1</a:t>
            </a:r>
            <a:r>
              <a:rPr lang="en-US" altLang="zh-CN" sz="2400" i="1" dirty="0">
                <a:latin typeface="Times New Roman" panose="02020603050405020304" pitchFamily="18" charset="0"/>
                <a:ea typeface="华文行楷" pitchFamily="2" charset="-122"/>
                <a:sym typeface="Symbol" pitchFamily="18" charset="2"/>
              </a:rPr>
              <a:t>.arglist ,</a:t>
            </a:r>
            <a:r>
              <a:rPr lang="en-US" altLang="zh-CN" sz="2400" i="1" dirty="0" err="1">
                <a:latin typeface="Times New Roman" panose="02020603050405020304" pitchFamily="18" charset="0"/>
                <a:ea typeface="华文行楷" pitchFamily="2" charset="-122"/>
                <a:sym typeface="Symbol" pitchFamily="18" charset="2"/>
              </a:rPr>
              <a:t>makelist</a:t>
            </a:r>
            <a:r>
              <a:rPr lang="en-US" altLang="zh-CN" sz="2400" i="1" dirty="0">
                <a:latin typeface="Times New Roman" panose="02020603050405020304" pitchFamily="18" charset="0"/>
                <a:ea typeface="华文行楷" pitchFamily="2" charset="-122"/>
                <a:sym typeface="Symbol" pitchFamily="18" charset="2"/>
              </a:rPr>
              <a:t>(</a:t>
            </a:r>
            <a:r>
              <a:rPr lang="en-US" altLang="zh-CN" sz="2400" i="1" dirty="0" err="1">
                <a:latin typeface="Times New Roman" panose="02020603050405020304" pitchFamily="18" charset="0"/>
                <a:ea typeface="华文行楷" pitchFamily="2" charset="-122"/>
                <a:sym typeface="Symbol" pitchFamily="18" charset="2"/>
              </a:rPr>
              <a:t>E.place</a:t>
            </a:r>
            <a:r>
              <a:rPr lang="en-US" altLang="zh-CN" sz="2400" i="1" dirty="0">
                <a:latin typeface="Times New Roman" panose="02020603050405020304" pitchFamily="18" charset="0"/>
                <a:ea typeface="华文行楷" pitchFamily="2" charset="-122"/>
                <a:sym typeface="Symbol" pitchFamily="18" charset="2"/>
              </a:rPr>
              <a:t>));</a:t>
            </a:r>
          </a:p>
          <a:p>
            <a:pPr>
              <a:buClrTx/>
              <a:buFont typeface="Wingdings" pitchFamily="2" charset="2"/>
              <a:buNone/>
            </a:pPr>
            <a:r>
              <a:rPr lang="pt-BR" altLang="zh-CN" sz="2400" i="1" dirty="0">
                <a:latin typeface="Times New Roman" panose="02020603050405020304" pitchFamily="18" charset="0"/>
                <a:sym typeface="Symbol" pitchFamily="18" charset="2"/>
              </a:rPr>
              <a:t>           A.code := A</a:t>
            </a:r>
            <a:r>
              <a:rPr lang="pt-BR" altLang="zh-CN" sz="2400" baseline="-25000" dirty="0">
                <a:latin typeface="Times New Roman" panose="02020603050405020304" pitchFamily="18" charset="0"/>
                <a:sym typeface="Symbol" pitchFamily="18" charset="2"/>
              </a:rPr>
              <a:t>1</a:t>
            </a:r>
            <a:r>
              <a:rPr lang="pt-BR" altLang="zh-CN" sz="2400" i="1" dirty="0">
                <a:latin typeface="Times New Roman" panose="02020603050405020304" pitchFamily="18" charset="0"/>
                <a:sym typeface="Symbol" pitchFamily="18" charset="2"/>
              </a:rPr>
              <a:t>.code || E.code</a:t>
            </a:r>
            <a:r>
              <a:rPr lang="pt-BR" altLang="zh-CN" sz="2400" dirty="0">
                <a:latin typeface="Times New Roman" panose="02020603050405020304" pitchFamily="18" charset="0"/>
                <a:sym typeface="Symbol" pitchFamily="18" charset="2"/>
              </a:rPr>
              <a:t> </a:t>
            </a:r>
            <a:r>
              <a:rPr lang="en-US" altLang="zh-CN" sz="2400" dirty="0">
                <a:latin typeface="Times New Roman" panose="02020603050405020304" pitchFamily="18" charset="0"/>
                <a:sym typeface="Symbol" pitchFamily="18" charset="2"/>
              </a:rPr>
              <a:t> }</a:t>
            </a:r>
          </a:p>
          <a:p>
            <a:pPr>
              <a:buClrTx/>
              <a:buFont typeface="Wingdings" pitchFamily="2" charset="2"/>
              <a:buNone/>
            </a:pPr>
            <a:endParaRPr lang="en-US" altLang="zh-CN" sz="1050" dirty="0">
              <a:latin typeface="Times New Roman" panose="02020603050405020304" pitchFamily="18" charset="0"/>
              <a:sym typeface="Symbol" pitchFamily="18" charset="2"/>
            </a:endParaRPr>
          </a:p>
          <a:p>
            <a:pPr>
              <a:buClrTx/>
              <a:buFont typeface="Wingdings" pitchFamily="2" charset="2"/>
              <a:buNone/>
            </a:pPr>
            <a:r>
              <a:rPr lang="en-US" altLang="zh-CN" sz="2400" i="1" dirty="0">
                <a:latin typeface="Times New Roman" panose="02020603050405020304" pitchFamily="18" charset="0"/>
                <a:sym typeface="Symbol" pitchFamily="18" charset="2"/>
              </a:rPr>
              <a:t>A </a:t>
            </a:r>
            <a:r>
              <a:rPr lang="en-US" altLang="zh-CN" sz="2400" dirty="0">
                <a:latin typeface="Times New Roman" panose="02020603050405020304" pitchFamily="18" charset="0"/>
                <a:ea typeface="华文行楷" pitchFamily="2" charset="-122"/>
                <a:sym typeface="Symbol" pitchFamily="18" charset="2"/>
              </a:rPr>
              <a:t></a:t>
            </a:r>
            <a:r>
              <a:rPr lang="en-US" altLang="zh-CN" sz="2400" i="1" dirty="0">
                <a:latin typeface="Times New Roman" panose="02020603050405020304" pitchFamily="18" charset="0"/>
                <a:ea typeface="华文行楷" pitchFamily="2" charset="-122"/>
                <a:sym typeface="Symbol" pitchFamily="18" charset="2"/>
              </a:rPr>
              <a:t> </a:t>
            </a:r>
            <a:r>
              <a:rPr lang="en-US" altLang="zh-CN" sz="2400" dirty="0">
                <a:latin typeface="Times New Roman" panose="02020603050405020304" pitchFamily="18" charset="0"/>
                <a:sym typeface="Symbol" pitchFamily="18" charset="2"/>
              </a:rPr>
              <a:t></a:t>
            </a:r>
            <a:r>
              <a:rPr lang="en-US" altLang="zh-CN" sz="2000" dirty="0">
                <a:latin typeface="Times New Roman" panose="02020603050405020304" pitchFamily="18" charset="0"/>
                <a:sym typeface="Symbol" pitchFamily="18" charset="2"/>
              </a:rPr>
              <a:t> </a:t>
            </a:r>
            <a:r>
              <a:rPr lang="en-US" altLang="zh-CN" sz="2400" i="1" dirty="0">
                <a:latin typeface="Times New Roman" panose="02020603050405020304" pitchFamily="18" charset="0"/>
                <a:ea typeface="华文行楷" pitchFamily="2" charset="-122"/>
                <a:sym typeface="Symbol" pitchFamily="18" charset="2"/>
              </a:rPr>
              <a:t> </a:t>
            </a:r>
          </a:p>
          <a:p>
            <a:pPr>
              <a:buClrTx/>
              <a:buNone/>
            </a:pPr>
            <a:r>
              <a:rPr lang="en-US" altLang="zh-CN" sz="2400" dirty="0">
                <a:latin typeface="Times New Roman" panose="02020603050405020304" pitchFamily="18" charset="0"/>
                <a:sym typeface="Symbol" pitchFamily="18" charset="2"/>
              </a:rPr>
              <a:t>       {  </a:t>
            </a:r>
            <a:r>
              <a:rPr lang="en-US" altLang="zh-CN" sz="2400" i="1" dirty="0" err="1">
                <a:latin typeface="Times New Roman" panose="02020603050405020304" pitchFamily="18" charset="0"/>
                <a:sym typeface="Symbol" pitchFamily="18" charset="2"/>
              </a:rPr>
              <a:t>A.n</a:t>
            </a:r>
            <a:r>
              <a:rPr lang="en-US" altLang="zh-CN" sz="2400" i="1" dirty="0">
                <a:latin typeface="Times New Roman" panose="02020603050405020304" pitchFamily="18" charset="0"/>
                <a:sym typeface="Symbol" pitchFamily="18" charset="2"/>
              </a:rPr>
              <a:t> := </a:t>
            </a:r>
            <a:r>
              <a:rPr lang="en-US" altLang="zh-CN" sz="2400" i="1" dirty="0">
                <a:latin typeface="Times New Roman" panose="02020603050405020304" pitchFamily="18" charset="0"/>
                <a:ea typeface="华文行楷" pitchFamily="2" charset="-122"/>
                <a:sym typeface="Symbol" pitchFamily="18" charset="2"/>
              </a:rPr>
              <a:t>0;  </a:t>
            </a:r>
            <a:r>
              <a:rPr lang="en-US" altLang="zh-CN" sz="2400" i="1" dirty="0" err="1">
                <a:latin typeface="Times New Roman" panose="02020603050405020304" pitchFamily="18" charset="0"/>
                <a:ea typeface="华文行楷" pitchFamily="2" charset="-122"/>
                <a:sym typeface="Symbol" pitchFamily="18" charset="2"/>
              </a:rPr>
              <a:t>A.arglist</a:t>
            </a:r>
            <a:r>
              <a:rPr lang="en-US" altLang="zh-CN" sz="2400" i="1" dirty="0">
                <a:latin typeface="Times New Roman" panose="02020603050405020304" pitchFamily="18" charset="0"/>
                <a:ea typeface="华文行楷" pitchFamily="2" charset="-122"/>
                <a:sym typeface="Symbol" pitchFamily="18" charset="2"/>
              </a:rPr>
              <a:t> := </a:t>
            </a:r>
            <a:r>
              <a:rPr lang="fr-FR" altLang="zh-CN" sz="2400" dirty="0">
                <a:latin typeface="Times New Roman" panose="02020603050405020304" pitchFamily="18" charset="0"/>
              </a:rPr>
              <a:t>""</a:t>
            </a:r>
            <a:r>
              <a:rPr lang="zh-CN" altLang="en-US" sz="2400" i="1" dirty="0">
                <a:latin typeface="Times New Roman" panose="02020603050405020304" pitchFamily="18" charset="0"/>
                <a:sym typeface="Symbol" pitchFamily="18" charset="2"/>
              </a:rPr>
              <a:t>；</a:t>
            </a:r>
            <a:r>
              <a:rPr lang="en-US" altLang="zh-CN" sz="2400" i="1" dirty="0" err="1">
                <a:latin typeface="Times New Roman" panose="02020603050405020304" pitchFamily="18" charset="0"/>
                <a:sym typeface="Symbol" pitchFamily="18" charset="2"/>
              </a:rPr>
              <a:t>A.code</a:t>
            </a:r>
            <a:r>
              <a:rPr lang="en-US" altLang="zh-CN" sz="2400" i="1" dirty="0">
                <a:latin typeface="Times New Roman" panose="02020603050405020304" pitchFamily="18" charset="0"/>
                <a:sym typeface="Symbol" pitchFamily="18" charset="2"/>
              </a:rPr>
              <a:t> </a:t>
            </a:r>
            <a:r>
              <a:rPr lang="en-US" altLang="zh-CN" sz="2400" dirty="0">
                <a:latin typeface="Times New Roman" panose="02020603050405020304" pitchFamily="18" charset="0"/>
                <a:sym typeface="Symbol" pitchFamily="18" charset="2"/>
              </a:rPr>
              <a:t>:= </a:t>
            </a:r>
            <a:r>
              <a:rPr lang="fr-FR" altLang="zh-CN" sz="2400" dirty="0">
                <a:latin typeface="Times New Roman" panose="02020603050405020304" pitchFamily="18" charset="0"/>
              </a:rPr>
              <a:t>""</a:t>
            </a:r>
            <a:r>
              <a:rPr lang="en-US" altLang="zh-CN" sz="2400" dirty="0">
                <a:latin typeface="Times New Roman" panose="02020603050405020304" pitchFamily="18" charset="0"/>
                <a:sym typeface="Symbol" pitchFamily="18" charset="2"/>
              </a:rPr>
              <a:t>}</a:t>
            </a:r>
          </a:p>
        </p:txBody>
      </p:sp>
      <p:sp>
        <p:nvSpPr>
          <p:cNvPr id="5" name="Rectangle 10"/>
          <p:cNvSpPr>
            <a:spLocks noGrp="1" noChangeArrowheads="1"/>
          </p:cNvSpPr>
          <p:nvPr>
            <p:ph type="body" idx="1"/>
          </p:nvPr>
        </p:nvSpPr>
        <p:spPr bwMode="auto">
          <a:xfrm>
            <a:off x="375920" y="793750"/>
            <a:ext cx="8361680" cy="1255728"/>
          </a:xfrm>
          <a:prstGeom prst="rect">
            <a:avLst/>
          </a:prstGeom>
          <a:noFill/>
          <a:ln w="9525" cap="rnd">
            <a:solidFill>
              <a:srgbClr val="333399"/>
            </a:solidFill>
            <a:prstDash val="sysDot"/>
            <a:miter lim="800000"/>
            <a:headEnd/>
            <a:tailEnd/>
          </a:ln>
        </p:spPr>
        <p:txBody>
          <a:bodyPr>
            <a:spAutoFit/>
          </a:bodyPr>
          <a:lstStyle/>
          <a:p>
            <a:pPr>
              <a:buFont typeface="Wingdings" pitchFamily="2" charset="2"/>
              <a:buNone/>
            </a:pPr>
            <a:r>
              <a:rPr lang="en-US" altLang="zh-CN" sz="2400" i="1" dirty="0" err="1">
                <a:solidFill>
                  <a:srgbClr val="800080"/>
                </a:solidFill>
                <a:sym typeface="Symbol" pitchFamily="18" charset="2"/>
              </a:rPr>
              <a:t>A.n</a:t>
            </a:r>
            <a:r>
              <a:rPr lang="en-US" altLang="zh-CN" sz="2400" b="1" dirty="0">
                <a:sym typeface="Symbol" pitchFamily="18" charset="2"/>
              </a:rPr>
              <a:t> : </a:t>
            </a:r>
            <a:r>
              <a:rPr lang="zh-CN" altLang="en-US" sz="2400" b="1" dirty="0">
                <a:sym typeface="Symbol" pitchFamily="18" charset="2"/>
              </a:rPr>
              <a:t>参数个数</a:t>
            </a:r>
            <a:r>
              <a:rPr lang="zh-CN" altLang="en-US" sz="3600" dirty="0">
                <a:sym typeface="Symbol" pitchFamily="18" charset="2"/>
              </a:rPr>
              <a:t> ；</a:t>
            </a:r>
            <a:r>
              <a:rPr lang="en-US" altLang="zh-CN" sz="2400" i="1" dirty="0" err="1">
                <a:solidFill>
                  <a:srgbClr val="800080"/>
                </a:solidFill>
                <a:sym typeface="Symbol" pitchFamily="18" charset="2"/>
              </a:rPr>
              <a:t>A.arglist</a:t>
            </a:r>
            <a:r>
              <a:rPr lang="en-US" altLang="zh-CN" sz="2400" b="1" i="1" dirty="0">
                <a:sym typeface="Symbol" pitchFamily="18" charset="2"/>
              </a:rPr>
              <a:t> </a:t>
            </a:r>
            <a:r>
              <a:rPr lang="en-US" altLang="zh-CN" sz="2400" b="1" dirty="0">
                <a:sym typeface="Symbol" pitchFamily="18" charset="2"/>
              </a:rPr>
              <a:t>:</a:t>
            </a:r>
            <a:r>
              <a:rPr lang="zh-CN" altLang="en-US" sz="2400" b="1" dirty="0">
                <a:sym typeface="Symbol" pitchFamily="18" charset="2"/>
              </a:rPr>
              <a:t>实参地址的列表；</a:t>
            </a:r>
            <a:r>
              <a:rPr lang="en-US" altLang="zh-CN" sz="2400" i="1" dirty="0" err="1">
                <a:solidFill>
                  <a:srgbClr val="800080"/>
                </a:solidFill>
                <a:sym typeface="Symbol" pitchFamily="18" charset="2"/>
              </a:rPr>
              <a:t>makelist</a:t>
            </a:r>
            <a:r>
              <a:rPr lang="en-US" altLang="zh-CN" sz="2400" i="1" dirty="0">
                <a:solidFill>
                  <a:srgbClr val="800080"/>
                </a:solidFill>
                <a:sym typeface="Symbol" pitchFamily="18" charset="2"/>
              </a:rPr>
              <a:t> </a:t>
            </a:r>
            <a:r>
              <a:rPr lang="en-US" altLang="zh-CN" sz="2400" b="1" dirty="0">
                <a:sym typeface="Symbol" pitchFamily="18" charset="2"/>
              </a:rPr>
              <a:t>:</a:t>
            </a:r>
            <a:r>
              <a:rPr lang="zh-CN" altLang="en-US" sz="2400" b="1" dirty="0">
                <a:sym typeface="Symbol" pitchFamily="18" charset="2"/>
              </a:rPr>
              <a:t>创建实参地址结点；</a:t>
            </a:r>
            <a:r>
              <a:rPr lang="en-US" altLang="zh-CN" sz="2400" i="1" dirty="0">
                <a:solidFill>
                  <a:srgbClr val="800080"/>
                </a:solidFill>
                <a:sym typeface="Symbol" pitchFamily="18" charset="2"/>
              </a:rPr>
              <a:t>append</a:t>
            </a:r>
            <a:r>
              <a:rPr lang="en-US" altLang="zh-CN" sz="2400" b="1" dirty="0">
                <a:sym typeface="Symbol" pitchFamily="18" charset="2"/>
              </a:rPr>
              <a:t> :</a:t>
            </a:r>
            <a:r>
              <a:rPr lang="zh-CN" altLang="en-US" sz="2400" b="1" dirty="0">
                <a:sym typeface="Symbol" pitchFamily="18" charset="2"/>
              </a:rPr>
              <a:t>在实参表中添加结点；</a:t>
            </a:r>
            <a:r>
              <a:rPr lang="en-US" altLang="zh-CN" sz="2400" i="1" dirty="0">
                <a:solidFill>
                  <a:srgbClr val="800080"/>
                </a:solidFill>
                <a:sym typeface="Symbol" pitchFamily="18" charset="2"/>
              </a:rPr>
              <a:t>gen : </a:t>
            </a:r>
            <a:r>
              <a:rPr lang="zh-CN" altLang="en-US" sz="2400" b="1" dirty="0">
                <a:ea typeface="楷体_GB2312"/>
                <a:sym typeface="Symbol" pitchFamily="18" charset="2"/>
              </a:rPr>
              <a:t>生成一条 </a:t>
            </a:r>
            <a:r>
              <a:rPr lang="en-US" altLang="zh-CN" sz="2400" b="1" dirty="0">
                <a:ea typeface="楷体_GB2312"/>
                <a:sym typeface="Symbol" pitchFamily="18" charset="2"/>
              </a:rPr>
              <a:t>TAC </a:t>
            </a:r>
            <a:r>
              <a:rPr lang="zh-CN" altLang="en-US" sz="2400" b="1" dirty="0">
                <a:ea typeface="楷体_GB2312"/>
                <a:sym typeface="Symbol" pitchFamily="18" charset="2"/>
              </a:rPr>
              <a:t>语句</a:t>
            </a:r>
          </a:p>
        </p:txBody>
      </p:sp>
      <p:sp>
        <p:nvSpPr>
          <p:cNvPr id="2" name="灯片编号占位符 1">
            <a:extLst>
              <a:ext uri="{FF2B5EF4-FFF2-40B4-BE49-F238E27FC236}">
                <a16:creationId xmlns:a16="http://schemas.microsoft.com/office/drawing/2014/main" id="{E12F6A5A-BD25-48CA-9DBD-E4E045A0A35D}"/>
              </a:ext>
            </a:extLst>
          </p:cNvPr>
          <p:cNvSpPr>
            <a:spLocks noGrp="1"/>
          </p:cNvSpPr>
          <p:nvPr>
            <p:ph type="sldNum" sz="quarter" idx="4"/>
          </p:nvPr>
        </p:nvSpPr>
        <p:spPr/>
        <p:txBody>
          <a:bodyPr/>
          <a:lstStyle/>
          <a:p>
            <a:fld id="{565CE74E-AB26-4998-AD42-012C4C1AD076}" type="slidenum">
              <a:rPr lang="zh-CN" altLang="en-US" smtClean="0"/>
              <a:pPr/>
              <a:t>71</a:t>
            </a:fld>
            <a:endParaRPr lang="zh-CN" altLang="en-US"/>
          </a:p>
        </p:txBody>
      </p:sp>
    </p:spTree>
    <p:extLst>
      <p:ext uri="{BB962C8B-B14F-4D97-AF65-F5344CB8AC3E}">
        <p14:creationId xmlns:p14="http://schemas.microsoft.com/office/powerpoint/2010/main" val="35559604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sym typeface="+mn-ea"/>
              </a:rPr>
              <a:t>一、符号表</a:t>
            </a:r>
            <a:endParaRPr lang="en-US" altLang="zh-CN" dirty="0">
              <a:sym typeface="+mn-ea"/>
            </a:endParaRPr>
          </a:p>
          <a:p>
            <a:r>
              <a:rPr lang="zh-CN" altLang="en-US" dirty="0">
                <a:sym typeface="+mn-ea"/>
              </a:rPr>
              <a:t>二、静态语义分析</a:t>
            </a:r>
            <a:endParaRPr lang="zh-CN" altLang="en-US" dirty="0"/>
          </a:p>
          <a:p>
            <a:r>
              <a:rPr lang="zh-CN" altLang="en-US" dirty="0">
                <a:sym typeface="+mn-ea"/>
              </a:rPr>
              <a:t>三、中间代码表示</a:t>
            </a:r>
            <a:endParaRPr lang="en-US" altLang="zh-CN" dirty="0">
              <a:sym typeface="+mn-ea"/>
            </a:endParaRPr>
          </a:p>
          <a:p>
            <a:r>
              <a:rPr lang="zh-CN" altLang="en-US" dirty="0">
                <a:sym typeface="+mn-ea"/>
              </a:rPr>
              <a:t>四、中间代码生成</a:t>
            </a:r>
            <a:endParaRPr lang="zh-CN" altLang="en-US" dirty="0"/>
          </a:p>
          <a:p>
            <a:r>
              <a:rPr lang="zh-CN" altLang="en-US" dirty="0"/>
              <a:t>五、代码优化</a:t>
            </a:r>
            <a:endParaRPr lang="en-US" altLang="zh-CN" dirty="0"/>
          </a:p>
          <a:p>
            <a:r>
              <a:rPr lang="zh-CN" altLang="en-US" dirty="0"/>
              <a:t>六、目标代码生成</a:t>
            </a:r>
            <a:endParaRPr lang="en-US" altLang="zh-CN" dirty="0"/>
          </a:p>
        </p:txBody>
      </p:sp>
      <p:sp>
        <p:nvSpPr>
          <p:cNvPr id="3" name="标题 2"/>
          <p:cNvSpPr>
            <a:spLocks noGrp="1"/>
          </p:cNvSpPr>
          <p:nvPr>
            <p:ph type="title"/>
          </p:nvPr>
        </p:nvSpPr>
        <p:spPr/>
        <p:txBody>
          <a:bodyPr/>
          <a:lstStyle/>
          <a:p>
            <a:r>
              <a:rPr lang="zh-CN" altLang="en-US" dirty="0"/>
              <a:t>教学内容</a:t>
            </a:r>
          </a:p>
        </p:txBody>
      </p:sp>
      <p:sp>
        <p:nvSpPr>
          <p:cNvPr id="4" name="灯片编号占位符 3">
            <a:extLst>
              <a:ext uri="{FF2B5EF4-FFF2-40B4-BE49-F238E27FC236}">
                <a16:creationId xmlns:a16="http://schemas.microsoft.com/office/drawing/2014/main" id="{A45BC5BD-EFD8-4F3C-BEAF-3DF7E1A827FE}"/>
              </a:ext>
            </a:extLst>
          </p:cNvPr>
          <p:cNvSpPr>
            <a:spLocks noGrp="1"/>
          </p:cNvSpPr>
          <p:nvPr>
            <p:ph type="sldNum" sz="quarter" idx="4"/>
          </p:nvPr>
        </p:nvSpPr>
        <p:spPr/>
        <p:txBody>
          <a:bodyPr/>
          <a:lstStyle/>
          <a:p>
            <a:fld id="{565CE74E-AB26-4998-AD42-012C4C1AD076}" type="slidenum">
              <a:rPr lang="zh-CN" altLang="en-US" smtClean="0"/>
              <a:pPr/>
              <a:t>72</a:t>
            </a:fld>
            <a:endParaRPr lang="zh-CN" altLang="en-US"/>
          </a:p>
        </p:txBody>
      </p:sp>
    </p:spTree>
    <p:extLst>
      <p:ext uri="{BB962C8B-B14F-4D97-AF65-F5344CB8AC3E}">
        <p14:creationId xmlns:p14="http://schemas.microsoft.com/office/powerpoint/2010/main" val="15345333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Line 3"/>
          <p:cNvSpPr>
            <a:spLocks noChangeShapeType="1"/>
          </p:cNvSpPr>
          <p:nvPr/>
        </p:nvSpPr>
        <p:spPr bwMode="auto">
          <a:xfrm>
            <a:off x="0" y="1306513"/>
            <a:ext cx="9144000"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n-ea"/>
            </a:endParaRPr>
          </a:p>
        </p:txBody>
      </p:sp>
      <p:pic>
        <p:nvPicPr>
          <p:cNvPr id="9220" name="Picture 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45375" y="596900"/>
            <a:ext cx="811213"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48" name="Rectangle 8"/>
          <p:cNvSpPr>
            <a:spLocks noChangeArrowheads="1"/>
          </p:cNvSpPr>
          <p:nvPr/>
        </p:nvSpPr>
        <p:spPr bwMode="auto">
          <a:xfrm>
            <a:off x="228600" y="2667000"/>
            <a:ext cx="487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pPr>
            <a:r>
              <a:rPr lang="zh-CN" altLang="en-US" b="1">
                <a:solidFill>
                  <a:schemeClr val="accent2"/>
                </a:solidFill>
                <a:latin typeface="+mn-ea"/>
                <a:ea typeface="+mn-ea"/>
              </a:rPr>
              <a:t>原则：</a:t>
            </a:r>
            <a:r>
              <a:rPr lang="zh-CN" altLang="en-US" b="1">
                <a:latin typeface="+mn-ea"/>
                <a:ea typeface="+mn-ea"/>
              </a:rPr>
              <a:t> 不能改变原有</a:t>
            </a:r>
            <a:r>
              <a:rPr lang="zh-CN" altLang="en-US" b="1">
                <a:solidFill>
                  <a:srgbClr val="FF3300"/>
                </a:solidFill>
                <a:latin typeface="+mn-ea"/>
                <a:ea typeface="+mn-ea"/>
              </a:rPr>
              <a:t>程序语义</a:t>
            </a:r>
            <a:r>
              <a:rPr lang="zh-CN" altLang="en-US" b="1">
                <a:latin typeface="+mn-ea"/>
                <a:ea typeface="+mn-ea"/>
              </a:rPr>
              <a:t>  </a:t>
            </a:r>
          </a:p>
        </p:txBody>
      </p:sp>
      <p:sp>
        <p:nvSpPr>
          <p:cNvPr id="9222" name="Rectangle 10"/>
          <p:cNvSpPr>
            <a:spLocks noChangeArrowheads="1"/>
          </p:cNvSpPr>
          <p:nvPr/>
        </p:nvSpPr>
        <p:spPr bwMode="auto">
          <a:xfrm>
            <a:off x="4953000" y="1524000"/>
            <a:ext cx="389722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b="1">
                <a:latin typeface="+mn-ea"/>
                <a:ea typeface="+mn-ea"/>
              </a:rPr>
              <a:t>时间效率（减少运行时间）</a:t>
            </a:r>
          </a:p>
          <a:p>
            <a:pPr algn="l" eaLnBrk="1" hangingPunct="1"/>
            <a:r>
              <a:rPr lang="zh-CN" altLang="en-US" b="1">
                <a:latin typeface="+mn-ea"/>
                <a:ea typeface="+mn-ea"/>
              </a:rPr>
              <a:t>空间效率（减少内存容量）</a:t>
            </a:r>
          </a:p>
        </p:txBody>
      </p:sp>
      <p:sp>
        <p:nvSpPr>
          <p:cNvPr id="9223" name="Rectangle 11"/>
          <p:cNvSpPr>
            <a:spLocks noChangeArrowheads="1"/>
          </p:cNvSpPr>
          <p:nvPr/>
        </p:nvSpPr>
        <p:spPr bwMode="auto">
          <a:xfrm>
            <a:off x="228600" y="167640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pPr>
            <a:r>
              <a:rPr lang="zh-CN" altLang="en-US" b="1" dirty="0">
                <a:solidFill>
                  <a:schemeClr val="accent2"/>
                </a:solidFill>
                <a:latin typeface="+mn-ea"/>
                <a:ea typeface="+mn-ea"/>
              </a:rPr>
              <a:t>目的：</a:t>
            </a:r>
            <a:r>
              <a:rPr lang="zh-CN" altLang="en-US" b="1" dirty="0">
                <a:latin typeface="+mn-ea"/>
                <a:ea typeface="+mn-ea"/>
              </a:rPr>
              <a:t>提高目标代码</a:t>
            </a:r>
            <a:r>
              <a:rPr lang="zh-CN" altLang="en-US" b="1" dirty="0">
                <a:solidFill>
                  <a:srgbClr val="FF3300"/>
                </a:solidFill>
                <a:latin typeface="+mn-ea"/>
                <a:ea typeface="+mn-ea"/>
              </a:rPr>
              <a:t>运行效率</a:t>
            </a:r>
            <a:r>
              <a:rPr lang="zh-CN" altLang="en-US" b="1" dirty="0">
                <a:latin typeface="+mn-ea"/>
                <a:ea typeface="+mn-ea"/>
              </a:rPr>
              <a:t> </a:t>
            </a:r>
          </a:p>
        </p:txBody>
      </p:sp>
      <p:sp>
        <p:nvSpPr>
          <p:cNvPr id="189452" name="Rectangle 12"/>
          <p:cNvSpPr>
            <a:spLocks noChangeArrowheads="1"/>
          </p:cNvSpPr>
          <p:nvPr/>
        </p:nvSpPr>
        <p:spPr bwMode="auto">
          <a:xfrm>
            <a:off x="914400" y="3657600"/>
            <a:ext cx="6858000" cy="94615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buClr>
                <a:srgbClr val="FF3300"/>
              </a:buClr>
              <a:buSzPct val="140000"/>
              <a:buFont typeface="Wingdings" panose="05000000000000000000" pitchFamily="2" charset="2"/>
              <a:buChar char="ü"/>
            </a:pPr>
            <a:r>
              <a:rPr lang="zh-CN" altLang="en-US" sz="2800" b="1">
                <a:solidFill>
                  <a:srgbClr val="000000"/>
                </a:solidFill>
                <a:latin typeface="+mn-ea"/>
                <a:ea typeface="+mn-ea"/>
              </a:rPr>
              <a:t>优化实质上是对代码进行</a:t>
            </a:r>
            <a:r>
              <a:rPr lang="zh-CN" altLang="en-US" sz="2800" b="1">
                <a:solidFill>
                  <a:schemeClr val="accent2"/>
                </a:solidFill>
                <a:latin typeface="+mn-ea"/>
                <a:ea typeface="+mn-ea"/>
              </a:rPr>
              <a:t>等价变换</a:t>
            </a:r>
            <a:r>
              <a:rPr lang="zh-CN" altLang="en-US" sz="2800" b="1">
                <a:solidFill>
                  <a:srgbClr val="000000"/>
                </a:solidFill>
                <a:latin typeface="+mn-ea"/>
                <a:ea typeface="+mn-ea"/>
              </a:rPr>
              <a:t>，变换后</a:t>
            </a:r>
            <a:r>
              <a:rPr lang="zh-CN" altLang="en-US" sz="2800" b="1">
                <a:solidFill>
                  <a:schemeClr val="accent2"/>
                </a:solidFill>
                <a:latin typeface="+mn-ea"/>
                <a:ea typeface="+mn-ea"/>
              </a:rPr>
              <a:t>代码结构不同但运行结果相同</a:t>
            </a:r>
            <a:r>
              <a:rPr lang="zh-CN" altLang="en-US" sz="2800" b="1">
                <a:solidFill>
                  <a:srgbClr val="000000"/>
                </a:solidFill>
                <a:latin typeface="+mn-ea"/>
                <a:ea typeface="+mn-ea"/>
              </a:rPr>
              <a:t>。 </a:t>
            </a:r>
            <a:r>
              <a:rPr lang="zh-CN" altLang="en-US" sz="2800" b="1">
                <a:latin typeface="+mn-ea"/>
                <a:ea typeface="+mn-ea"/>
              </a:rPr>
              <a:t> </a:t>
            </a:r>
          </a:p>
        </p:txBody>
      </p:sp>
      <p:sp>
        <p:nvSpPr>
          <p:cNvPr id="9225" name="AutoShape 13"/>
          <p:cNvSpPr>
            <a:spLocks/>
          </p:cNvSpPr>
          <p:nvPr/>
        </p:nvSpPr>
        <p:spPr bwMode="auto">
          <a:xfrm>
            <a:off x="4419600" y="1447800"/>
            <a:ext cx="457200" cy="914400"/>
          </a:xfrm>
          <a:prstGeom prst="leftBrace">
            <a:avLst>
              <a:gd name="adj1" fmla="val 16667"/>
              <a:gd name="adj2" fmla="val 50000"/>
            </a:avLst>
          </a:prstGeom>
          <a:noFill/>
          <a:ln w="476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latin typeface="+mn-ea"/>
              <a:ea typeface="+mn-ea"/>
            </a:endParaRPr>
          </a:p>
        </p:txBody>
      </p:sp>
      <p:sp>
        <p:nvSpPr>
          <p:cNvPr id="2" name="灯片编号占位符 1">
            <a:extLst>
              <a:ext uri="{FF2B5EF4-FFF2-40B4-BE49-F238E27FC236}">
                <a16:creationId xmlns:a16="http://schemas.microsoft.com/office/drawing/2014/main" id="{34AF8AB5-52AE-42E3-9852-30E4810F1746}"/>
              </a:ext>
            </a:extLst>
          </p:cNvPr>
          <p:cNvSpPr>
            <a:spLocks noGrp="1"/>
          </p:cNvSpPr>
          <p:nvPr>
            <p:ph type="sldNum" sz="quarter" idx="12"/>
          </p:nvPr>
        </p:nvSpPr>
        <p:spPr/>
        <p:txBody>
          <a:bodyPr/>
          <a:lstStyle/>
          <a:p>
            <a:fld id="{565CE74E-AB26-4998-AD42-012C4C1AD076}" type="slidenum">
              <a:rPr lang="zh-CN" altLang="en-US" smtClean="0"/>
              <a:t>73</a:t>
            </a:fld>
            <a:endParaRPr lang="zh-CN" altLang="en-US"/>
          </a:p>
        </p:txBody>
      </p:sp>
    </p:spTree>
    <p:extLst>
      <p:ext uri="{BB962C8B-B14F-4D97-AF65-F5344CB8AC3E}">
        <p14:creationId xmlns:p14="http://schemas.microsoft.com/office/powerpoint/2010/main" val="28398392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9448"/>
                                        </p:tgtEl>
                                        <p:attrNameLst>
                                          <p:attrName>style.visibility</p:attrName>
                                        </p:attrNameLst>
                                      </p:cBhvr>
                                      <p:to>
                                        <p:strVal val="visible"/>
                                      </p:to>
                                    </p:set>
                                    <p:anim calcmode="lin" valueType="num">
                                      <p:cBhvr additive="base">
                                        <p:cTn id="7" dur="500" fill="hold"/>
                                        <p:tgtEl>
                                          <p:spTgt spid="189448"/>
                                        </p:tgtEl>
                                        <p:attrNameLst>
                                          <p:attrName>ppt_x</p:attrName>
                                        </p:attrNameLst>
                                      </p:cBhvr>
                                      <p:tavLst>
                                        <p:tav tm="0">
                                          <p:val>
                                            <p:strVal val="0-#ppt_w/2"/>
                                          </p:val>
                                        </p:tav>
                                        <p:tav tm="100000">
                                          <p:val>
                                            <p:strVal val="#ppt_x"/>
                                          </p:val>
                                        </p:tav>
                                      </p:tavLst>
                                    </p:anim>
                                    <p:anim calcmode="lin" valueType="num">
                                      <p:cBhvr additive="base">
                                        <p:cTn id="8" dur="500" fill="hold"/>
                                        <p:tgtEl>
                                          <p:spTgt spid="18944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9452"/>
                                        </p:tgtEl>
                                        <p:attrNameLst>
                                          <p:attrName>style.visibility</p:attrName>
                                        </p:attrNameLst>
                                      </p:cBhvr>
                                      <p:to>
                                        <p:strVal val="visible"/>
                                      </p:to>
                                    </p:set>
                                    <p:anim calcmode="lin" valueType="num">
                                      <p:cBhvr additive="base">
                                        <p:cTn id="13" dur="500" fill="hold"/>
                                        <p:tgtEl>
                                          <p:spTgt spid="189452"/>
                                        </p:tgtEl>
                                        <p:attrNameLst>
                                          <p:attrName>ppt_x</p:attrName>
                                        </p:attrNameLst>
                                      </p:cBhvr>
                                      <p:tavLst>
                                        <p:tav tm="0">
                                          <p:val>
                                            <p:strVal val="0-#ppt_w/2"/>
                                          </p:val>
                                        </p:tav>
                                        <p:tav tm="100000">
                                          <p:val>
                                            <p:strVal val="#ppt_x"/>
                                          </p:val>
                                        </p:tav>
                                      </p:tavLst>
                                    </p:anim>
                                    <p:anim calcmode="lin" valueType="num">
                                      <p:cBhvr additive="base">
                                        <p:cTn id="14" dur="500" fill="hold"/>
                                        <p:tgtEl>
                                          <p:spTgt spid="1894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8" grpId="0" autoUpdateAnimBg="0"/>
      <p:bldP spid="189452" grpId="0" animBg="1"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a:spLocks noChangeArrowheads="1"/>
          </p:cNvSpPr>
          <p:nvPr/>
        </p:nvSpPr>
        <p:spPr bwMode="auto">
          <a:xfrm>
            <a:off x="0" y="0"/>
            <a:ext cx="3124200" cy="685800"/>
          </a:xfrm>
          <a:prstGeom prst="roundRect">
            <a:avLst>
              <a:gd name="adj" fmla="val 5435"/>
            </a:avLst>
          </a:prstGeom>
          <a:solidFill>
            <a:srgbClr val="CC99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3200" b="1" dirty="0"/>
              <a:t>代码优化分类 </a:t>
            </a:r>
          </a:p>
        </p:txBody>
      </p:sp>
      <p:grpSp>
        <p:nvGrpSpPr>
          <p:cNvPr id="10245" name="Group 17"/>
          <p:cNvGrpSpPr>
            <a:grpSpLocks/>
          </p:cNvGrpSpPr>
          <p:nvPr/>
        </p:nvGrpSpPr>
        <p:grpSpPr bwMode="auto">
          <a:xfrm>
            <a:off x="373625" y="1339645"/>
            <a:ext cx="7696200" cy="457200"/>
            <a:chOff x="528" y="3216"/>
            <a:chExt cx="4505" cy="288"/>
          </a:xfrm>
        </p:grpSpPr>
        <p:sp>
          <p:nvSpPr>
            <p:cNvPr id="190482" name="AutoShape 18"/>
            <p:cNvSpPr>
              <a:spLocks noChangeArrowheads="1"/>
            </p:cNvSpPr>
            <p:nvPr/>
          </p:nvSpPr>
          <p:spPr bwMode="auto">
            <a:xfrm>
              <a:off x="528" y="3264"/>
              <a:ext cx="187" cy="173"/>
            </a:xfrm>
            <a:prstGeom prst="star5">
              <a:avLst/>
            </a:prstGeom>
            <a:solidFill>
              <a:srgbClr val="FF3300"/>
            </a:solidFill>
            <a:ln w="12700">
              <a:solidFill>
                <a:srgbClr val="0037E8"/>
              </a:solidFill>
              <a:miter lim="800000"/>
              <a:headEnd/>
              <a:tailEnd/>
            </a:ln>
            <a:effectLst/>
          </p:spPr>
          <p:txBody>
            <a:bodyPr wrap="none" anchor="ctr"/>
            <a:lstStyle/>
            <a:p>
              <a:pPr>
                <a:defRPr/>
              </a:pPr>
              <a:endParaRPr lang="zh-CN" altLang="en-US"/>
            </a:p>
          </p:txBody>
        </p:sp>
        <p:sp>
          <p:nvSpPr>
            <p:cNvPr id="10250" name="Text Box 19"/>
            <p:cNvSpPr txBox="1">
              <a:spLocks noChangeArrowheads="1"/>
            </p:cNvSpPr>
            <p:nvPr/>
          </p:nvSpPr>
          <p:spPr bwMode="auto">
            <a:xfrm>
              <a:off x="768" y="3216"/>
              <a:ext cx="4265" cy="28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a:r>
                <a:rPr lang="zh-CN" altLang="en-US" b="1">
                  <a:latin typeface="楷体_GB2312" pitchFamily="49" charset="-122"/>
                </a:rPr>
                <a:t>从优化</a:t>
              </a:r>
              <a:r>
                <a:rPr lang="zh-CN" altLang="en-US" b="1">
                  <a:solidFill>
                    <a:srgbClr val="FF3300"/>
                  </a:solidFill>
                  <a:latin typeface="楷体_GB2312" pitchFamily="49" charset="-122"/>
                </a:rPr>
                <a:t>涉及的范围</a:t>
              </a:r>
              <a:endParaRPr lang="zh-CN" altLang="en-US" b="1">
                <a:latin typeface="楷体_GB2312" pitchFamily="49" charset="-122"/>
              </a:endParaRPr>
            </a:p>
          </p:txBody>
        </p:sp>
      </p:grpSp>
      <p:grpSp>
        <p:nvGrpSpPr>
          <p:cNvPr id="5" name="Group 20"/>
          <p:cNvGrpSpPr>
            <a:grpSpLocks/>
          </p:cNvGrpSpPr>
          <p:nvPr/>
        </p:nvGrpSpPr>
        <p:grpSpPr bwMode="auto">
          <a:xfrm>
            <a:off x="830825" y="2025445"/>
            <a:ext cx="7239000" cy="1524000"/>
            <a:chOff x="528" y="864"/>
            <a:chExt cx="4512" cy="960"/>
          </a:xfrm>
        </p:grpSpPr>
        <p:pic>
          <p:nvPicPr>
            <p:cNvPr id="10247" name="Picture 21" descr="kuang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flipH="1" flipV="1">
              <a:off x="528" y="864"/>
              <a:ext cx="4512"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8" name="Text Box 22"/>
            <p:cNvSpPr txBox="1">
              <a:spLocks noChangeArrowheads="1"/>
            </p:cNvSpPr>
            <p:nvPr/>
          </p:nvSpPr>
          <p:spPr bwMode="auto">
            <a:xfrm>
              <a:off x="672" y="960"/>
              <a:ext cx="4128"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pPr>
              <a:r>
                <a:rPr lang="zh-CN" altLang="en-US" sz="2000" b="1">
                  <a:solidFill>
                    <a:srgbClr val="3333FF"/>
                  </a:solidFill>
                  <a:latin typeface="楷体_GB2312" pitchFamily="49" charset="-122"/>
                </a:rPr>
                <a:t>局部优化：</a:t>
              </a:r>
              <a:r>
                <a:rPr lang="zh-CN" altLang="en-US" sz="2000" b="1">
                  <a:latin typeface="楷体_GB2312" pitchFamily="49" charset="-122"/>
                </a:rPr>
                <a:t>在</a:t>
              </a:r>
              <a:r>
                <a:rPr lang="zh-CN" altLang="en-US" sz="2000" b="1">
                  <a:solidFill>
                    <a:srgbClr val="FF3300"/>
                  </a:solidFill>
                  <a:latin typeface="楷体_GB2312" pitchFamily="49" charset="-122"/>
                </a:rPr>
                <a:t>基本块</a:t>
              </a:r>
              <a:r>
                <a:rPr lang="zh-CN" altLang="en-US" sz="2000" b="1">
                  <a:latin typeface="楷体_GB2312" pitchFamily="49" charset="-122"/>
                </a:rPr>
                <a:t>内进行优化。</a:t>
              </a:r>
            </a:p>
            <a:p>
              <a:pPr algn="l" eaLnBrk="1" hangingPunct="1">
                <a:spcBef>
                  <a:spcPct val="50000"/>
                </a:spcBef>
              </a:pPr>
              <a:r>
                <a:rPr lang="zh-CN" altLang="en-US" sz="2000" b="1">
                  <a:solidFill>
                    <a:srgbClr val="3333FF"/>
                  </a:solidFill>
                  <a:latin typeface="楷体_GB2312" pitchFamily="49" charset="-122"/>
                </a:rPr>
                <a:t>循环优化：</a:t>
              </a:r>
              <a:r>
                <a:rPr lang="zh-CN" altLang="en-US" sz="2000" b="1">
                  <a:latin typeface="楷体_GB2312" pitchFamily="49" charset="-122"/>
                </a:rPr>
                <a:t>对</a:t>
              </a:r>
              <a:r>
                <a:rPr lang="zh-CN" altLang="en-US" sz="2000" b="1">
                  <a:solidFill>
                    <a:srgbClr val="FF3300"/>
                  </a:solidFill>
                  <a:latin typeface="楷体_GB2312" pitchFamily="49" charset="-122"/>
                </a:rPr>
                <a:t>循环语句</a:t>
              </a:r>
              <a:r>
                <a:rPr lang="zh-CN" altLang="en-US" sz="2000" b="1">
                  <a:latin typeface="楷体_GB2312" pitchFamily="49" charset="-122"/>
                </a:rPr>
                <a:t>所生成的中间代码进行优化。</a:t>
              </a:r>
            </a:p>
            <a:p>
              <a:pPr algn="l" eaLnBrk="1" hangingPunct="1">
                <a:spcBef>
                  <a:spcPct val="50000"/>
                </a:spcBef>
              </a:pPr>
              <a:r>
                <a:rPr lang="zh-CN" altLang="en-US" sz="2000" b="1">
                  <a:solidFill>
                    <a:srgbClr val="3333FF"/>
                  </a:solidFill>
                  <a:latin typeface="楷体_GB2312" pitchFamily="49" charset="-122"/>
                </a:rPr>
                <a:t>全局优化：</a:t>
              </a:r>
              <a:r>
                <a:rPr lang="zh-CN" altLang="en-US" sz="2000" b="1">
                  <a:latin typeface="楷体_GB2312" pitchFamily="49" charset="-122"/>
                </a:rPr>
                <a:t>跨越多个基本块的</a:t>
              </a:r>
              <a:r>
                <a:rPr lang="zh-CN" altLang="en-US" sz="2000" b="1">
                  <a:solidFill>
                    <a:srgbClr val="FF3300"/>
                  </a:solidFill>
                  <a:latin typeface="楷体_GB2312" pitchFamily="49" charset="-122"/>
                </a:rPr>
                <a:t>全局范围内</a:t>
              </a:r>
              <a:r>
                <a:rPr lang="zh-CN" altLang="en-US" sz="2000" b="1">
                  <a:latin typeface="楷体_GB2312" pitchFamily="49" charset="-122"/>
                </a:rPr>
                <a:t>的优化，复杂。</a:t>
              </a:r>
            </a:p>
          </p:txBody>
        </p:sp>
      </p:grpSp>
      <p:sp>
        <p:nvSpPr>
          <p:cNvPr id="2" name="灯片编号占位符 1">
            <a:extLst>
              <a:ext uri="{FF2B5EF4-FFF2-40B4-BE49-F238E27FC236}">
                <a16:creationId xmlns:a16="http://schemas.microsoft.com/office/drawing/2014/main" id="{B07CF38C-EA34-4EE7-A8C6-2E210C9B2A17}"/>
              </a:ext>
            </a:extLst>
          </p:cNvPr>
          <p:cNvSpPr>
            <a:spLocks noGrp="1"/>
          </p:cNvSpPr>
          <p:nvPr>
            <p:ph type="sldNum" sz="quarter" idx="12"/>
          </p:nvPr>
        </p:nvSpPr>
        <p:spPr/>
        <p:txBody>
          <a:bodyPr/>
          <a:lstStyle/>
          <a:p>
            <a:fld id="{565CE74E-AB26-4998-AD42-012C4C1AD076}" type="slidenum">
              <a:rPr lang="zh-CN" altLang="en-US" smtClean="0"/>
              <a:t>74</a:t>
            </a:fld>
            <a:endParaRPr lang="zh-CN" altLang="en-US"/>
          </a:p>
        </p:txBody>
      </p:sp>
    </p:spTree>
    <p:extLst>
      <p:ext uri="{BB962C8B-B14F-4D97-AF65-F5344CB8AC3E}">
        <p14:creationId xmlns:p14="http://schemas.microsoft.com/office/powerpoint/2010/main" val="29925590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Line 3"/>
          <p:cNvSpPr>
            <a:spLocks noChangeShapeType="1"/>
          </p:cNvSpPr>
          <p:nvPr/>
        </p:nvSpPr>
        <p:spPr bwMode="auto">
          <a:xfrm>
            <a:off x="0" y="1306513"/>
            <a:ext cx="9144000"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1268" name="Picture 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45375" y="596900"/>
            <a:ext cx="811213"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AutoShape 5"/>
          <p:cNvSpPr>
            <a:spLocks noChangeArrowheads="1"/>
          </p:cNvSpPr>
          <p:nvPr/>
        </p:nvSpPr>
        <p:spPr bwMode="auto">
          <a:xfrm>
            <a:off x="609600" y="2438400"/>
            <a:ext cx="7646988" cy="2133600"/>
          </a:xfrm>
          <a:prstGeom prst="roundRect">
            <a:avLst>
              <a:gd name="adj" fmla="val 16667"/>
            </a:avLst>
          </a:prstGeom>
          <a:noFill/>
          <a:ln>
            <a:noFill/>
          </a:ln>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800" b="1" dirty="0">
                <a:solidFill>
                  <a:srgbClr val="FF3300"/>
                </a:solidFill>
                <a:latin typeface="楷体_GB2312" pitchFamily="49" charset="-122"/>
              </a:rPr>
              <a:t>基本块：</a:t>
            </a:r>
            <a:r>
              <a:rPr lang="zh-CN" altLang="en-US" sz="2800" b="1" dirty="0">
                <a:latin typeface="楷体_GB2312" pitchFamily="49" charset="-122"/>
              </a:rPr>
              <a:t>程序中一个</a:t>
            </a:r>
            <a:r>
              <a:rPr lang="zh-CN" altLang="en-US" sz="2800" b="1" dirty="0">
                <a:solidFill>
                  <a:srgbClr val="FF3300"/>
                </a:solidFill>
                <a:latin typeface="楷体_GB2312" pitchFamily="49" charset="-122"/>
              </a:rPr>
              <a:t>顺序执行</a:t>
            </a:r>
            <a:r>
              <a:rPr lang="zh-CN" altLang="en-US" sz="2800" b="1" dirty="0">
                <a:latin typeface="楷体_GB2312" pitchFamily="49" charset="-122"/>
              </a:rPr>
              <a:t>的语句序列，即一个程序段，它只有</a:t>
            </a:r>
            <a:r>
              <a:rPr lang="zh-CN" altLang="en-US" sz="2800" b="1" dirty="0">
                <a:solidFill>
                  <a:srgbClr val="FF3300"/>
                </a:solidFill>
                <a:latin typeface="楷体_GB2312" pitchFamily="49" charset="-122"/>
              </a:rPr>
              <a:t>一个入口</a:t>
            </a:r>
            <a:r>
              <a:rPr lang="zh-CN" altLang="en-US" sz="2800" b="1" dirty="0">
                <a:latin typeface="楷体_GB2312" pitchFamily="49" charset="-122"/>
              </a:rPr>
              <a:t>和</a:t>
            </a:r>
            <a:r>
              <a:rPr lang="zh-CN" altLang="en-US" sz="2800" b="1" dirty="0">
                <a:solidFill>
                  <a:srgbClr val="FF3300"/>
                </a:solidFill>
                <a:latin typeface="楷体_GB2312" pitchFamily="49" charset="-122"/>
              </a:rPr>
              <a:t>一个出口</a:t>
            </a:r>
            <a:r>
              <a:rPr lang="zh-CN" altLang="en-US" sz="2800" b="1" dirty="0">
                <a:latin typeface="楷体_GB2312" pitchFamily="49" charset="-122"/>
              </a:rPr>
              <a:t>，入口是第一条语句，出口是最后一条语句。 </a:t>
            </a:r>
          </a:p>
        </p:txBody>
      </p:sp>
      <p:sp>
        <p:nvSpPr>
          <p:cNvPr id="11270" name="Rectangle 7"/>
          <p:cNvSpPr>
            <a:spLocks noChangeArrowheads="1"/>
          </p:cNvSpPr>
          <p:nvPr/>
        </p:nvSpPr>
        <p:spPr bwMode="auto">
          <a:xfrm>
            <a:off x="685800" y="1447800"/>
            <a:ext cx="6858000" cy="519113"/>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buClr>
                <a:srgbClr val="FF3300"/>
              </a:buClr>
              <a:buSzPct val="140000"/>
              <a:buFont typeface="Wingdings" panose="05000000000000000000" pitchFamily="2" charset="2"/>
              <a:buChar char="ü"/>
            </a:pPr>
            <a:r>
              <a:rPr lang="zh-CN" altLang="en-US" sz="2800" b="1">
                <a:latin typeface="楷体_GB2312" pitchFamily="49" charset="-122"/>
              </a:rPr>
              <a:t>在一个</a:t>
            </a:r>
            <a:r>
              <a:rPr lang="zh-CN" altLang="en-US" sz="2800" b="1">
                <a:solidFill>
                  <a:srgbClr val="FF3300"/>
                </a:solidFill>
                <a:latin typeface="楷体_GB2312" pitchFamily="49" charset="-122"/>
              </a:rPr>
              <a:t>基本块上</a:t>
            </a:r>
            <a:r>
              <a:rPr lang="zh-CN" altLang="en-US" sz="2800" b="1">
                <a:latin typeface="楷体_GB2312" pitchFamily="49" charset="-122"/>
              </a:rPr>
              <a:t>进行的优化</a:t>
            </a:r>
            <a:r>
              <a:rPr lang="zh-CN" altLang="en-US" sz="2800" b="1">
                <a:solidFill>
                  <a:srgbClr val="000000"/>
                </a:solidFill>
              </a:rPr>
              <a:t> </a:t>
            </a:r>
            <a:r>
              <a:rPr lang="zh-CN" altLang="en-US" sz="2800" b="1">
                <a:latin typeface="楷体_GB2312" pitchFamily="49" charset="-122"/>
              </a:rPr>
              <a:t> </a:t>
            </a:r>
          </a:p>
        </p:txBody>
      </p:sp>
      <p:sp>
        <p:nvSpPr>
          <p:cNvPr id="2" name="灯片编号占位符 1">
            <a:extLst>
              <a:ext uri="{FF2B5EF4-FFF2-40B4-BE49-F238E27FC236}">
                <a16:creationId xmlns:a16="http://schemas.microsoft.com/office/drawing/2014/main" id="{D7259A1A-2FB6-4420-8D2A-C0D95904F43C}"/>
              </a:ext>
            </a:extLst>
          </p:cNvPr>
          <p:cNvSpPr>
            <a:spLocks noGrp="1"/>
          </p:cNvSpPr>
          <p:nvPr>
            <p:ph type="sldNum" sz="quarter" idx="12"/>
          </p:nvPr>
        </p:nvSpPr>
        <p:spPr/>
        <p:txBody>
          <a:bodyPr/>
          <a:lstStyle/>
          <a:p>
            <a:fld id="{565CE74E-AB26-4998-AD42-012C4C1AD076}" type="slidenum">
              <a:rPr lang="zh-CN" altLang="en-US" smtClean="0"/>
              <a:t>75</a:t>
            </a:fld>
            <a:endParaRPr lang="zh-CN" altLang="en-US"/>
          </a:p>
        </p:txBody>
      </p:sp>
    </p:spTree>
    <p:extLst>
      <p:ext uri="{BB962C8B-B14F-4D97-AF65-F5344CB8AC3E}">
        <p14:creationId xmlns:p14="http://schemas.microsoft.com/office/powerpoint/2010/main" val="32046850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AutoShape 2"/>
          <p:cNvSpPr>
            <a:spLocks noChangeArrowheads="1"/>
          </p:cNvSpPr>
          <p:nvPr/>
        </p:nvSpPr>
        <p:spPr bwMode="auto">
          <a:xfrm>
            <a:off x="0" y="0"/>
            <a:ext cx="3810000" cy="609600"/>
          </a:xfrm>
          <a:prstGeom prst="roundRect">
            <a:avLst>
              <a:gd name="adj" fmla="val 16667"/>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800" b="1">
                <a:latin typeface="楷体_GB2312" pitchFamily="49" charset="-122"/>
              </a:rPr>
              <a:t>基本块划分方法</a:t>
            </a:r>
          </a:p>
        </p:txBody>
      </p:sp>
      <p:sp>
        <p:nvSpPr>
          <p:cNvPr id="65541" name="Text Box 5"/>
          <p:cNvSpPr txBox="1">
            <a:spLocks noChangeArrowheads="1"/>
          </p:cNvSpPr>
          <p:nvPr/>
        </p:nvSpPr>
        <p:spPr bwMode="auto">
          <a:xfrm>
            <a:off x="304800" y="838200"/>
            <a:ext cx="4267200" cy="54324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pPr>
            <a:r>
              <a:rPr lang="en-US" altLang="zh-CN" sz="2800" b="1" dirty="0">
                <a:latin typeface="楷体_GB2312" pitchFamily="49" charset="-122"/>
              </a:rPr>
              <a:t> </a:t>
            </a:r>
            <a:r>
              <a:rPr lang="zh-CN" altLang="en-US" sz="2800" b="1" dirty="0">
                <a:solidFill>
                  <a:srgbClr val="000000"/>
                </a:solidFill>
                <a:latin typeface="楷体_GB2312" pitchFamily="49" charset="-122"/>
              </a:rPr>
              <a:t>（</a:t>
            </a:r>
            <a:r>
              <a:rPr lang="en-US" altLang="zh-CN" sz="2800" b="1" dirty="0">
                <a:solidFill>
                  <a:srgbClr val="000000"/>
                </a:solidFill>
                <a:latin typeface="楷体_GB2312" pitchFamily="49" charset="-122"/>
              </a:rPr>
              <a:t>1</a:t>
            </a:r>
            <a:r>
              <a:rPr lang="zh-CN" altLang="en-US" sz="2800" b="1" dirty="0">
                <a:solidFill>
                  <a:srgbClr val="000000"/>
                </a:solidFill>
                <a:latin typeface="楷体_GB2312" pitchFamily="49" charset="-122"/>
              </a:rPr>
              <a:t>）确定各个基本块的的入口语句（基本块的第一个语句）</a:t>
            </a:r>
            <a:endParaRPr lang="zh-CN" altLang="en-US" sz="2800" b="1" dirty="0">
              <a:solidFill>
                <a:srgbClr val="3333FF"/>
              </a:solidFill>
              <a:latin typeface="楷体_GB2312" pitchFamily="49" charset="-122"/>
            </a:endParaRPr>
          </a:p>
          <a:p>
            <a:pPr algn="just" eaLnBrk="1" hangingPunct="1">
              <a:spcBef>
                <a:spcPct val="50000"/>
              </a:spcBef>
            </a:pPr>
            <a:r>
              <a:rPr lang="zh-CN" altLang="en-US" sz="2800" b="1" dirty="0">
                <a:solidFill>
                  <a:srgbClr val="000000"/>
                </a:solidFill>
                <a:latin typeface="楷体_GB2312" pitchFamily="49" charset="-122"/>
              </a:rPr>
              <a:t>① 语句序列的</a:t>
            </a:r>
            <a:r>
              <a:rPr lang="zh-CN" altLang="en-US" sz="2800" b="1" dirty="0">
                <a:solidFill>
                  <a:srgbClr val="FF3300"/>
                </a:solidFill>
                <a:latin typeface="楷体_GB2312" pitchFamily="49" charset="-122"/>
              </a:rPr>
              <a:t>第一个语句</a:t>
            </a:r>
            <a:r>
              <a:rPr lang="zh-CN" altLang="en-US" sz="2800" b="1" dirty="0">
                <a:solidFill>
                  <a:srgbClr val="000000"/>
                </a:solidFill>
                <a:latin typeface="楷体_GB2312" pitchFamily="49" charset="-122"/>
              </a:rPr>
              <a:t>是入口语句；</a:t>
            </a:r>
            <a:endParaRPr lang="zh-CN" altLang="en-US" sz="2800" b="1" dirty="0">
              <a:solidFill>
                <a:srgbClr val="3333FF"/>
              </a:solidFill>
              <a:latin typeface="楷体_GB2312" pitchFamily="49" charset="-122"/>
            </a:endParaRPr>
          </a:p>
          <a:p>
            <a:pPr algn="just" eaLnBrk="1" hangingPunct="1">
              <a:spcBef>
                <a:spcPct val="50000"/>
              </a:spcBef>
            </a:pPr>
            <a:r>
              <a:rPr lang="zh-CN" altLang="en-US" sz="2800" b="1" dirty="0">
                <a:solidFill>
                  <a:srgbClr val="000000"/>
                </a:solidFill>
                <a:latin typeface="楷体_GB2312" pitchFamily="49" charset="-122"/>
              </a:rPr>
              <a:t>② 能由</a:t>
            </a:r>
            <a:r>
              <a:rPr lang="zh-CN" altLang="en-US" sz="2800" b="1" dirty="0">
                <a:solidFill>
                  <a:srgbClr val="FF3300"/>
                </a:solidFill>
                <a:latin typeface="楷体_GB2312" pitchFamily="49" charset="-122"/>
              </a:rPr>
              <a:t>条件转移语句或无条件转移语句</a:t>
            </a:r>
            <a:r>
              <a:rPr lang="zh-CN" altLang="en-US" sz="2800" b="1" dirty="0">
                <a:solidFill>
                  <a:srgbClr val="000000"/>
                </a:solidFill>
                <a:latin typeface="楷体_GB2312" pitchFamily="49" charset="-122"/>
              </a:rPr>
              <a:t>转到的语句是入口语句；</a:t>
            </a:r>
            <a:endParaRPr lang="zh-CN" altLang="en-US" sz="2800" b="1" dirty="0">
              <a:solidFill>
                <a:srgbClr val="3333FF"/>
              </a:solidFill>
              <a:latin typeface="楷体_GB2312" pitchFamily="49" charset="-122"/>
            </a:endParaRPr>
          </a:p>
          <a:p>
            <a:pPr algn="just" eaLnBrk="1" hangingPunct="1">
              <a:spcBef>
                <a:spcPct val="50000"/>
              </a:spcBef>
            </a:pPr>
            <a:r>
              <a:rPr lang="zh-CN" altLang="en-US" sz="2800" b="1" dirty="0">
                <a:solidFill>
                  <a:srgbClr val="000000"/>
                </a:solidFill>
                <a:latin typeface="楷体_GB2312" pitchFamily="49" charset="-122"/>
              </a:rPr>
              <a:t>③ </a:t>
            </a:r>
            <a:r>
              <a:rPr lang="zh-CN" altLang="en-US" sz="2800" b="1" dirty="0">
                <a:solidFill>
                  <a:srgbClr val="FF3300"/>
                </a:solidFill>
                <a:latin typeface="楷体_GB2312" pitchFamily="49" charset="-122"/>
              </a:rPr>
              <a:t>紧跟在</a:t>
            </a:r>
            <a:r>
              <a:rPr lang="zh-CN" altLang="en-US" sz="2800" b="1" dirty="0">
                <a:solidFill>
                  <a:srgbClr val="000000"/>
                </a:solidFill>
                <a:latin typeface="楷体_GB2312" pitchFamily="49" charset="-122"/>
              </a:rPr>
              <a:t>条件转移语句或无条件转移语句后面的语句是入口语句。</a:t>
            </a:r>
            <a:endParaRPr lang="zh-CN" altLang="en-US" sz="2800" b="1" dirty="0">
              <a:solidFill>
                <a:srgbClr val="3333FF"/>
              </a:solidFill>
              <a:latin typeface="楷体_GB2312" pitchFamily="49" charset="-122"/>
            </a:endParaRPr>
          </a:p>
        </p:txBody>
      </p:sp>
      <p:graphicFrame>
        <p:nvGraphicFramePr>
          <p:cNvPr id="67661" name="Object 77"/>
          <p:cNvGraphicFramePr>
            <a:graphicFrameLocks/>
          </p:cNvGraphicFramePr>
          <p:nvPr/>
        </p:nvGraphicFramePr>
        <p:xfrm>
          <a:off x="4495800" y="609600"/>
          <a:ext cx="4343400" cy="5486400"/>
        </p:xfrm>
        <a:graphic>
          <a:graphicData uri="http://schemas.openxmlformats.org/presentationml/2006/ole">
            <mc:AlternateContent xmlns:mc="http://schemas.openxmlformats.org/markup-compatibility/2006">
              <mc:Choice xmlns:v="urn:schemas-microsoft-com:vml" Requires="v">
                <p:oleObj spid="_x0000_s7185" r:id="rId4" imgW="2620800" imgH="3134880" progId="Word.Picture.8">
                  <p:embed/>
                </p:oleObj>
              </mc:Choice>
              <mc:Fallback>
                <p:oleObj r:id="rId4" imgW="2620800" imgH="3134880" progId="Word.Picture.8">
                  <p:embed/>
                  <p:pic>
                    <p:nvPicPr>
                      <p:cNvPr id="67661" name="Object 77"/>
                      <p:cNvPicPr>
                        <a:picLocks noChangeArrowheads="1"/>
                      </p:cNvPicPr>
                      <p:nvPr/>
                    </p:nvPicPr>
                    <p:blipFill>
                      <a:blip r:embed="rId5">
                        <a:extLst>
                          <a:ext uri="{28A0092B-C50C-407E-A947-70E740481C1C}">
                            <a14:useLocalDpi xmlns:a14="http://schemas.microsoft.com/office/drawing/2010/main" val="0"/>
                          </a:ext>
                        </a:extLst>
                      </a:blip>
                      <a:srcRect l="27614" t="4709" r="5907" b="11830"/>
                      <a:stretch>
                        <a:fillRect/>
                      </a:stretch>
                    </p:blipFill>
                    <p:spPr bwMode="auto">
                      <a:xfrm>
                        <a:off x="4495800" y="609600"/>
                        <a:ext cx="4343400" cy="548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a:extLst>
              <a:ext uri="{FF2B5EF4-FFF2-40B4-BE49-F238E27FC236}">
                <a16:creationId xmlns:a16="http://schemas.microsoft.com/office/drawing/2014/main" id="{67BECE06-FAC2-481C-87E7-1791996EBA5D}"/>
              </a:ext>
            </a:extLst>
          </p:cNvPr>
          <p:cNvSpPr>
            <a:spLocks noGrp="1"/>
          </p:cNvSpPr>
          <p:nvPr>
            <p:ph type="sldNum" sz="quarter" idx="12"/>
          </p:nvPr>
        </p:nvSpPr>
        <p:spPr/>
        <p:txBody>
          <a:bodyPr/>
          <a:lstStyle/>
          <a:p>
            <a:fld id="{565CE74E-AB26-4998-AD42-012C4C1AD076}" type="slidenum">
              <a:rPr lang="zh-CN" altLang="en-US" smtClean="0"/>
              <a:t>76</a:t>
            </a:fld>
            <a:endParaRPr lang="zh-CN" altLang="en-US"/>
          </a:p>
        </p:txBody>
      </p:sp>
    </p:spTree>
    <p:extLst>
      <p:ext uri="{BB962C8B-B14F-4D97-AF65-F5344CB8AC3E}">
        <p14:creationId xmlns:p14="http://schemas.microsoft.com/office/powerpoint/2010/main" val="6131792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5541">
                                            <p:bg/>
                                          </p:spTgt>
                                        </p:tgtEl>
                                        <p:attrNameLst>
                                          <p:attrName>style.visibility</p:attrName>
                                        </p:attrNameLst>
                                      </p:cBhvr>
                                      <p:to>
                                        <p:strVal val="visible"/>
                                      </p:to>
                                    </p:set>
                                    <p:animEffect transition="in" filter="box(out)">
                                      <p:cBhvr>
                                        <p:cTn id="7" dur="500"/>
                                        <p:tgtEl>
                                          <p:spTgt spid="65541">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65541">
                                            <p:txEl>
                                              <p:pRg st="0" end="0"/>
                                            </p:txEl>
                                          </p:spTgt>
                                        </p:tgtEl>
                                        <p:attrNameLst>
                                          <p:attrName>style.visibility</p:attrName>
                                        </p:attrNameLst>
                                      </p:cBhvr>
                                      <p:to>
                                        <p:strVal val="visible"/>
                                      </p:to>
                                    </p:set>
                                    <p:animEffect transition="in" filter="box(out)">
                                      <p:cBhvr>
                                        <p:cTn id="12" dur="500"/>
                                        <p:tgtEl>
                                          <p:spTgt spid="6554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65541">
                                            <p:txEl>
                                              <p:pRg st="1" end="1"/>
                                            </p:txEl>
                                          </p:spTgt>
                                        </p:tgtEl>
                                        <p:attrNameLst>
                                          <p:attrName>style.visibility</p:attrName>
                                        </p:attrNameLst>
                                      </p:cBhvr>
                                      <p:to>
                                        <p:strVal val="visible"/>
                                      </p:to>
                                    </p:set>
                                    <p:animEffect transition="in" filter="box(out)">
                                      <p:cBhvr>
                                        <p:cTn id="17" dur="500"/>
                                        <p:tgtEl>
                                          <p:spTgt spid="6554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65541">
                                            <p:txEl>
                                              <p:pRg st="2" end="2"/>
                                            </p:txEl>
                                          </p:spTgt>
                                        </p:tgtEl>
                                        <p:attrNameLst>
                                          <p:attrName>style.visibility</p:attrName>
                                        </p:attrNameLst>
                                      </p:cBhvr>
                                      <p:to>
                                        <p:strVal val="visible"/>
                                      </p:to>
                                    </p:set>
                                    <p:animEffect transition="in" filter="box(out)">
                                      <p:cBhvr>
                                        <p:cTn id="22" dur="500"/>
                                        <p:tgtEl>
                                          <p:spTgt spid="65541">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65541">
                                            <p:txEl>
                                              <p:pRg st="3" end="3"/>
                                            </p:txEl>
                                          </p:spTgt>
                                        </p:tgtEl>
                                        <p:attrNameLst>
                                          <p:attrName>style.visibility</p:attrName>
                                        </p:attrNameLst>
                                      </p:cBhvr>
                                      <p:to>
                                        <p:strVal val="visible"/>
                                      </p:to>
                                    </p:set>
                                    <p:animEffect transition="in" filter="box(out)">
                                      <p:cBhvr>
                                        <p:cTn id="27" dur="500"/>
                                        <p:tgtEl>
                                          <p:spTgt spid="65541">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8" fill="hold" nodeType="clickEffect">
                                  <p:stCondLst>
                                    <p:cond delay="0"/>
                                  </p:stCondLst>
                                  <p:childTnLst>
                                    <p:set>
                                      <p:cBhvr>
                                        <p:cTn id="31" dur="1" fill="hold">
                                          <p:stCondLst>
                                            <p:cond delay="0"/>
                                          </p:stCondLst>
                                        </p:cTn>
                                        <p:tgtEl>
                                          <p:spTgt spid="67661"/>
                                        </p:tgtEl>
                                        <p:attrNameLst>
                                          <p:attrName>style.visibility</p:attrName>
                                        </p:attrNameLst>
                                      </p:cBhvr>
                                      <p:to>
                                        <p:strVal val="visible"/>
                                      </p:to>
                                    </p:set>
                                    <p:anim calcmode="lin" valueType="num">
                                      <p:cBhvr additive="base">
                                        <p:cTn id="32" dur="500" fill="hold"/>
                                        <p:tgtEl>
                                          <p:spTgt spid="67661"/>
                                        </p:tgtEl>
                                        <p:attrNameLst>
                                          <p:attrName>ppt_x</p:attrName>
                                        </p:attrNameLst>
                                      </p:cBhvr>
                                      <p:tavLst>
                                        <p:tav tm="0">
                                          <p:val>
                                            <p:strVal val="0-#ppt_w/2"/>
                                          </p:val>
                                        </p:tav>
                                        <p:tav tm="100000">
                                          <p:val>
                                            <p:strVal val="#ppt_x"/>
                                          </p:val>
                                        </p:tav>
                                      </p:tavLst>
                                    </p:anim>
                                    <p:anim calcmode="lin" valueType="num">
                                      <p:cBhvr additive="base">
                                        <p:cTn id="33" dur="500" fill="hold"/>
                                        <p:tgtEl>
                                          <p:spTgt spid="676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1" grpId="0" build="p" animBg="1"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AutoShape 1026"/>
          <p:cNvSpPr>
            <a:spLocks noChangeArrowheads="1"/>
          </p:cNvSpPr>
          <p:nvPr/>
        </p:nvSpPr>
        <p:spPr bwMode="auto">
          <a:xfrm>
            <a:off x="0" y="0"/>
            <a:ext cx="3810000" cy="609600"/>
          </a:xfrm>
          <a:prstGeom prst="roundRect">
            <a:avLst>
              <a:gd name="adj" fmla="val 16667"/>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800" b="1">
                <a:latin typeface="楷体_GB2312" pitchFamily="49" charset="-122"/>
              </a:rPr>
              <a:t>基本块划分方法</a:t>
            </a:r>
          </a:p>
        </p:txBody>
      </p:sp>
      <p:sp>
        <p:nvSpPr>
          <p:cNvPr id="194563" name="Text Box 1027"/>
          <p:cNvSpPr txBox="1">
            <a:spLocks noChangeArrowheads="1"/>
          </p:cNvSpPr>
          <p:nvPr/>
        </p:nvSpPr>
        <p:spPr bwMode="auto">
          <a:xfrm>
            <a:off x="304800" y="838200"/>
            <a:ext cx="8362950" cy="564673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just" eaLnBrk="1" hangingPunct="1">
              <a:spcBef>
                <a:spcPct val="50000"/>
              </a:spcBef>
            </a:pPr>
            <a:r>
              <a:rPr lang="zh-CN" altLang="en-US" sz="2800" b="1" dirty="0">
                <a:solidFill>
                  <a:srgbClr val="000000"/>
                </a:solidFill>
                <a:latin typeface="楷体_GB2312" pitchFamily="49" charset="-122"/>
              </a:rPr>
              <a:t>（</a:t>
            </a:r>
            <a:r>
              <a:rPr lang="en-US" altLang="zh-CN" sz="2800" b="1" dirty="0">
                <a:solidFill>
                  <a:srgbClr val="000000"/>
                </a:solidFill>
                <a:latin typeface="楷体_GB2312" pitchFamily="49" charset="-122"/>
              </a:rPr>
              <a:t>2</a:t>
            </a:r>
            <a:r>
              <a:rPr lang="zh-CN" altLang="en-US" sz="2800" b="1" dirty="0">
                <a:solidFill>
                  <a:srgbClr val="000000"/>
                </a:solidFill>
                <a:latin typeface="楷体_GB2312" pitchFamily="49" charset="-122"/>
              </a:rPr>
              <a:t>）对于每个入口语句，构造其所属的基本块。它是以下三种情况之一：</a:t>
            </a:r>
            <a:endParaRPr lang="zh-CN" altLang="en-US" sz="2800" b="1" dirty="0">
              <a:solidFill>
                <a:srgbClr val="3333FF"/>
              </a:solidFill>
              <a:latin typeface="楷体_GB2312" pitchFamily="49" charset="-122"/>
            </a:endParaRPr>
          </a:p>
          <a:p>
            <a:pPr algn="just" eaLnBrk="1" hangingPunct="1">
              <a:spcBef>
                <a:spcPct val="50000"/>
              </a:spcBef>
            </a:pPr>
            <a:r>
              <a:rPr lang="zh-CN" altLang="en-US" sz="2800" b="1" dirty="0">
                <a:solidFill>
                  <a:srgbClr val="000000"/>
                </a:solidFill>
                <a:latin typeface="楷体_GB2312" pitchFamily="49" charset="-122"/>
              </a:rPr>
              <a:t>① 该入口语句到</a:t>
            </a:r>
            <a:r>
              <a:rPr lang="zh-CN" altLang="en-US" sz="2800" b="1" dirty="0">
                <a:solidFill>
                  <a:srgbClr val="FF3300"/>
                </a:solidFill>
                <a:latin typeface="楷体_GB2312" pitchFamily="49" charset="-122"/>
              </a:rPr>
              <a:t>下一条入口</a:t>
            </a:r>
            <a:r>
              <a:rPr lang="zh-CN" altLang="en-US" sz="2800" b="1" dirty="0">
                <a:solidFill>
                  <a:srgbClr val="000000"/>
                </a:solidFill>
                <a:latin typeface="楷体_GB2312" pitchFamily="49" charset="-122"/>
              </a:rPr>
              <a:t>语句（不包括该入口语句）之间的语句序列；</a:t>
            </a:r>
            <a:endParaRPr lang="zh-CN" altLang="en-US" sz="2800" b="1" dirty="0">
              <a:solidFill>
                <a:srgbClr val="3333FF"/>
              </a:solidFill>
              <a:latin typeface="楷体_GB2312" pitchFamily="49" charset="-122"/>
            </a:endParaRPr>
          </a:p>
          <a:p>
            <a:pPr algn="just" eaLnBrk="1" hangingPunct="1">
              <a:spcBef>
                <a:spcPct val="50000"/>
              </a:spcBef>
            </a:pPr>
            <a:r>
              <a:rPr lang="zh-CN" altLang="en-US" sz="2800" b="1" dirty="0">
                <a:solidFill>
                  <a:srgbClr val="000000"/>
                </a:solidFill>
                <a:latin typeface="楷体_GB2312" pitchFamily="49" charset="-122"/>
              </a:rPr>
              <a:t>② 该入口语句到</a:t>
            </a:r>
            <a:r>
              <a:rPr lang="zh-CN" altLang="en-US" sz="2800" b="1" dirty="0">
                <a:solidFill>
                  <a:srgbClr val="FF3300"/>
                </a:solidFill>
                <a:latin typeface="楷体_GB2312" pitchFamily="49" charset="-122"/>
              </a:rPr>
              <a:t>一条转移语句</a:t>
            </a:r>
            <a:r>
              <a:rPr lang="zh-CN" altLang="en-US" sz="2800" b="1" dirty="0">
                <a:solidFill>
                  <a:srgbClr val="000000"/>
                </a:solidFill>
                <a:latin typeface="楷体_GB2312" pitchFamily="49" charset="-122"/>
              </a:rPr>
              <a:t>（包括该转移语句）之间的语句序列；</a:t>
            </a:r>
            <a:endParaRPr lang="zh-CN" altLang="en-US" sz="2800" b="1" dirty="0">
              <a:solidFill>
                <a:srgbClr val="3333FF"/>
              </a:solidFill>
              <a:latin typeface="楷体_GB2312" pitchFamily="49" charset="-122"/>
            </a:endParaRPr>
          </a:p>
          <a:p>
            <a:pPr algn="just" eaLnBrk="1" hangingPunct="1">
              <a:spcBef>
                <a:spcPct val="50000"/>
              </a:spcBef>
            </a:pPr>
            <a:r>
              <a:rPr lang="zh-CN" altLang="en-US" sz="2800" b="1" dirty="0">
                <a:solidFill>
                  <a:srgbClr val="000000"/>
                </a:solidFill>
                <a:latin typeface="楷体_GB2312" pitchFamily="49" charset="-122"/>
              </a:rPr>
              <a:t>③ 该入口语句到</a:t>
            </a:r>
            <a:r>
              <a:rPr lang="zh-CN" altLang="en-US" sz="2800" b="1" dirty="0">
                <a:solidFill>
                  <a:srgbClr val="FF3300"/>
                </a:solidFill>
                <a:latin typeface="楷体_GB2312" pitchFamily="49" charset="-122"/>
              </a:rPr>
              <a:t>一条停语句</a:t>
            </a:r>
            <a:r>
              <a:rPr lang="zh-CN" altLang="en-US" sz="2800" b="1" dirty="0">
                <a:solidFill>
                  <a:srgbClr val="000000"/>
                </a:solidFill>
                <a:latin typeface="楷体_GB2312" pitchFamily="49" charset="-122"/>
              </a:rPr>
              <a:t>（包括该停语句</a:t>
            </a:r>
            <a:r>
              <a:rPr lang="zh-CN" altLang="en-US" sz="2800" b="1" dirty="0">
                <a:solidFill>
                  <a:srgbClr val="000000"/>
                </a:solidFill>
                <a:ea typeface="宋体" panose="02010600030101010101" pitchFamily="2" charset="-122"/>
              </a:rPr>
              <a:t>）</a:t>
            </a:r>
            <a:r>
              <a:rPr lang="zh-CN" altLang="en-US" sz="2800" b="1" dirty="0">
                <a:solidFill>
                  <a:srgbClr val="000000"/>
                </a:solidFill>
                <a:latin typeface="楷体_GB2312" pitchFamily="49" charset="-122"/>
              </a:rPr>
              <a:t>之间的语句序列；</a:t>
            </a:r>
          </a:p>
          <a:p>
            <a:pPr algn="l" eaLnBrk="1" hangingPunct="1">
              <a:spcBef>
                <a:spcPct val="50000"/>
              </a:spcBef>
            </a:pPr>
            <a:r>
              <a:rPr lang="zh-CN" altLang="en-US" sz="2800" b="1" dirty="0">
                <a:solidFill>
                  <a:srgbClr val="000000"/>
                </a:solidFill>
                <a:latin typeface="楷体_GB2312" pitchFamily="49" charset="-122"/>
              </a:rPr>
              <a:t>（</a:t>
            </a:r>
            <a:r>
              <a:rPr lang="en-US" altLang="zh-CN" sz="2800" b="1" dirty="0">
                <a:solidFill>
                  <a:srgbClr val="000000"/>
                </a:solidFill>
                <a:latin typeface="楷体_GB2312" pitchFamily="49" charset="-122"/>
              </a:rPr>
              <a:t>3</a:t>
            </a:r>
            <a:r>
              <a:rPr lang="zh-CN" altLang="en-US" sz="2800" b="1" dirty="0">
                <a:solidFill>
                  <a:srgbClr val="000000"/>
                </a:solidFill>
                <a:latin typeface="楷体_GB2312" pitchFamily="49" charset="-122"/>
              </a:rPr>
              <a:t>）凡</a:t>
            </a:r>
            <a:r>
              <a:rPr lang="zh-CN" altLang="en-US" sz="2800" b="1" dirty="0">
                <a:solidFill>
                  <a:srgbClr val="FF3300"/>
                </a:solidFill>
                <a:latin typeface="楷体_GB2312" pitchFamily="49" charset="-122"/>
              </a:rPr>
              <a:t>未被纳入</a:t>
            </a:r>
            <a:r>
              <a:rPr lang="zh-CN" altLang="en-US" sz="2800" b="1" dirty="0">
                <a:solidFill>
                  <a:srgbClr val="000000"/>
                </a:solidFill>
                <a:latin typeface="楷体_GB2312" pitchFamily="49" charset="-122"/>
              </a:rPr>
              <a:t>某一基本块的语句，都是程序中控制流程无法到达的语句，从而也是不会被执行到的语句，将其</a:t>
            </a:r>
            <a:r>
              <a:rPr lang="zh-CN" altLang="en-US" sz="2800" b="1" dirty="0">
                <a:solidFill>
                  <a:srgbClr val="FF3300"/>
                </a:solidFill>
                <a:latin typeface="楷体_GB2312" pitchFamily="49" charset="-122"/>
              </a:rPr>
              <a:t>删除</a:t>
            </a:r>
            <a:r>
              <a:rPr lang="zh-CN" altLang="en-US" sz="2800" b="1" dirty="0">
                <a:solidFill>
                  <a:srgbClr val="000000"/>
                </a:solidFill>
                <a:latin typeface="楷体_GB2312" pitchFamily="49" charset="-122"/>
              </a:rPr>
              <a:t>。 </a:t>
            </a:r>
          </a:p>
        </p:txBody>
      </p:sp>
      <p:sp>
        <p:nvSpPr>
          <p:cNvPr id="2" name="灯片编号占位符 1">
            <a:extLst>
              <a:ext uri="{FF2B5EF4-FFF2-40B4-BE49-F238E27FC236}">
                <a16:creationId xmlns:a16="http://schemas.microsoft.com/office/drawing/2014/main" id="{9024CE69-24E8-402A-AE97-BE1DA1649D1C}"/>
              </a:ext>
            </a:extLst>
          </p:cNvPr>
          <p:cNvSpPr>
            <a:spLocks noGrp="1"/>
          </p:cNvSpPr>
          <p:nvPr>
            <p:ph type="sldNum" sz="quarter" idx="12"/>
          </p:nvPr>
        </p:nvSpPr>
        <p:spPr/>
        <p:txBody>
          <a:bodyPr/>
          <a:lstStyle/>
          <a:p>
            <a:fld id="{565CE74E-AB26-4998-AD42-012C4C1AD076}" type="slidenum">
              <a:rPr lang="zh-CN" altLang="en-US" smtClean="0"/>
              <a:t>77</a:t>
            </a:fld>
            <a:endParaRPr lang="zh-CN" altLang="en-US"/>
          </a:p>
        </p:txBody>
      </p:sp>
    </p:spTree>
    <p:extLst>
      <p:ext uri="{BB962C8B-B14F-4D97-AF65-F5344CB8AC3E}">
        <p14:creationId xmlns:p14="http://schemas.microsoft.com/office/powerpoint/2010/main" val="103696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94563">
                                            <p:bg/>
                                          </p:spTgt>
                                        </p:tgtEl>
                                        <p:attrNameLst>
                                          <p:attrName>style.visibility</p:attrName>
                                        </p:attrNameLst>
                                      </p:cBhvr>
                                      <p:to>
                                        <p:strVal val="visible"/>
                                      </p:to>
                                    </p:set>
                                    <p:animEffect transition="in" filter="box(out)">
                                      <p:cBhvr>
                                        <p:cTn id="7" dur="500"/>
                                        <p:tgtEl>
                                          <p:spTgt spid="194563">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94563">
                                            <p:txEl>
                                              <p:pRg st="0" end="0"/>
                                            </p:txEl>
                                          </p:spTgt>
                                        </p:tgtEl>
                                        <p:attrNameLst>
                                          <p:attrName>style.visibility</p:attrName>
                                        </p:attrNameLst>
                                      </p:cBhvr>
                                      <p:to>
                                        <p:strVal val="visible"/>
                                      </p:to>
                                    </p:set>
                                    <p:animEffect transition="in" filter="box(out)">
                                      <p:cBhvr>
                                        <p:cTn id="12" dur="500"/>
                                        <p:tgtEl>
                                          <p:spTgt spid="19456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94563">
                                            <p:txEl>
                                              <p:pRg st="1" end="1"/>
                                            </p:txEl>
                                          </p:spTgt>
                                        </p:tgtEl>
                                        <p:attrNameLst>
                                          <p:attrName>style.visibility</p:attrName>
                                        </p:attrNameLst>
                                      </p:cBhvr>
                                      <p:to>
                                        <p:strVal val="visible"/>
                                      </p:to>
                                    </p:set>
                                    <p:animEffect transition="in" filter="box(out)">
                                      <p:cBhvr>
                                        <p:cTn id="17" dur="500"/>
                                        <p:tgtEl>
                                          <p:spTgt spid="19456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94563">
                                            <p:txEl>
                                              <p:pRg st="2" end="2"/>
                                            </p:txEl>
                                          </p:spTgt>
                                        </p:tgtEl>
                                        <p:attrNameLst>
                                          <p:attrName>style.visibility</p:attrName>
                                        </p:attrNameLst>
                                      </p:cBhvr>
                                      <p:to>
                                        <p:strVal val="visible"/>
                                      </p:to>
                                    </p:set>
                                    <p:animEffect transition="in" filter="box(out)">
                                      <p:cBhvr>
                                        <p:cTn id="22" dur="500"/>
                                        <p:tgtEl>
                                          <p:spTgt spid="19456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94563">
                                            <p:txEl>
                                              <p:pRg st="3" end="3"/>
                                            </p:txEl>
                                          </p:spTgt>
                                        </p:tgtEl>
                                        <p:attrNameLst>
                                          <p:attrName>style.visibility</p:attrName>
                                        </p:attrNameLst>
                                      </p:cBhvr>
                                      <p:to>
                                        <p:strVal val="visible"/>
                                      </p:to>
                                    </p:set>
                                    <p:animEffect transition="in" filter="box(out)">
                                      <p:cBhvr>
                                        <p:cTn id="27" dur="500"/>
                                        <p:tgtEl>
                                          <p:spTgt spid="19456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94563">
                                            <p:txEl>
                                              <p:pRg st="4" end="4"/>
                                            </p:txEl>
                                          </p:spTgt>
                                        </p:tgtEl>
                                        <p:attrNameLst>
                                          <p:attrName>style.visibility</p:attrName>
                                        </p:attrNameLst>
                                      </p:cBhvr>
                                      <p:to>
                                        <p:strVal val="visible"/>
                                      </p:to>
                                    </p:set>
                                    <p:animEffect transition="in" filter="box(out)">
                                      <p:cBhvr>
                                        <p:cTn id="32" dur="500"/>
                                        <p:tgtEl>
                                          <p:spTgt spid="1945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build="p" animBg="1"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ChangeArrowheads="1"/>
          </p:cNvSpPr>
          <p:nvPr/>
        </p:nvSpPr>
        <p:spPr bwMode="auto">
          <a:xfrm>
            <a:off x="228600" y="609600"/>
            <a:ext cx="4038600" cy="45720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20000"/>
              </a:spcBef>
            </a:pPr>
            <a:r>
              <a:rPr lang="en-US" altLang="zh-CN" b="1" dirty="0">
                <a:latin typeface="楷体_GB2312" pitchFamily="49" charset="-122"/>
              </a:rPr>
              <a:t>【</a:t>
            </a:r>
            <a:r>
              <a:rPr lang="zh-CN" altLang="en-US" b="1" dirty="0">
                <a:latin typeface="楷体_GB2312" pitchFamily="49" charset="-122"/>
              </a:rPr>
              <a:t>例</a:t>
            </a:r>
            <a:r>
              <a:rPr lang="en-US" altLang="zh-CN" b="1" dirty="0">
                <a:latin typeface="楷体_GB2312" pitchFamily="49" charset="-122"/>
              </a:rPr>
              <a:t>】</a:t>
            </a:r>
          </a:p>
          <a:p>
            <a:pPr algn="just" eaLnBrk="1" hangingPunct="1">
              <a:spcBef>
                <a:spcPct val="20000"/>
              </a:spcBef>
            </a:pPr>
            <a:r>
              <a:rPr lang="zh-CN" altLang="en-US" b="1" dirty="0">
                <a:solidFill>
                  <a:srgbClr val="000000"/>
                </a:solidFill>
                <a:ea typeface="宋体" panose="02010600030101010101" pitchFamily="2" charset="-122"/>
              </a:rPr>
              <a:t>（</a:t>
            </a:r>
            <a:r>
              <a:rPr lang="en-US" altLang="zh-CN" b="1" dirty="0">
                <a:solidFill>
                  <a:srgbClr val="000000"/>
                </a:solidFill>
                <a:latin typeface="楷体_GB2312" pitchFamily="49" charset="-122"/>
                <a:ea typeface="宋体" panose="02010600030101010101" pitchFamily="2" charset="-122"/>
              </a:rPr>
              <a:t>1</a:t>
            </a:r>
            <a:r>
              <a:rPr lang="zh-CN" altLang="en-US" b="1" dirty="0">
                <a:solidFill>
                  <a:srgbClr val="000000"/>
                </a:solidFill>
                <a:ea typeface="宋体" panose="02010600030101010101" pitchFamily="2" charset="-122"/>
              </a:rPr>
              <a:t>）</a:t>
            </a:r>
            <a:r>
              <a:rPr lang="en-US" altLang="zh-CN" b="1" dirty="0">
                <a:solidFill>
                  <a:srgbClr val="000000"/>
                </a:solidFill>
                <a:latin typeface="楷体_GB2312" pitchFamily="49" charset="-122"/>
                <a:ea typeface="宋体" panose="02010600030101010101" pitchFamily="2" charset="-122"/>
              </a:rPr>
              <a:t>read X</a:t>
            </a:r>
            <a:endParaRPr lang="en-US" altLang="zh-CN" b="1" dirty="0">
              <a:latin typeface="楷体_GB2312" pitchFamily="49" charset="-122"/>
              <a:ea typeface="宋体" panose="02010600030101010101" pitchFamily="2" charset="-122"/>
            </a:endParaRPr>
          </a:p>
          <a:p>
            <a:pPr algn="just" eaLnBrk="1" hangingPunct="1">
              <a:spcBef>
                <a:spcPct val="20000"/>
              </a:spcBef>
            </a:pPr>
            <a:r>
              <a:rPr lang="zh-CN" altLang="en-US" b="1" dirty="0">
                <a:solidFill>
                  <a:srgbClr val="000000"/>
                </a:solidFill>
                <a:ea typeface="宋体" panose="02010600030101010101" pitchFamily="2" charset="-122"/>
              </a:rPr>
              <a:t>（</a:t>
            </a:r>
            <a:r>
              <a:rPr lang="en-US" altLang="zh-CN" b="1" dirty="0">
                <a:solidFill>
                  <a:srgbClr val="000000"/>
                </a:solidFill>
                <a:latin typeface="楷体_GB2312" pitchFamily="49" charset="-122"/>
                <a:ea typeface="宋体" panose="02010600030101010101" pitchFamily="2" charset="-122"/>
              </a:rPr>
              <a:t>2</a:t>
            </a:r>
            <a:r>
              <a:rPr lang="zh-CN" altLang="en-US" b="1" dirty="0">
                <a:solidFill>
                  <a:srgbClr val="000000"/>
                </a:solidFill>
                <a:ea typeface="宋体" panose="02010600030101010101" pitchFamily="2" charset="-122"/>
              </a:rPr>
              <a:t>）</a:t>
            </a:r>
            <a:r>
              <a:rPr lang="en-US" altLang="zh-CN" b="1" dirty="0">
                <a:solidFill>
                  <a:srgbClr val="000000"/>
                </a:solidFill>
                <a:latin typeface="楷体_GB2312" pitchFamily="49" charset="-122"/>
                <a:ea typeface="宋体" panose="02010600030101010101" pitchFamily="2" charset="-122"/>
              </a:rPr>
              <a:t>read Y</a:t>
            </a:r>
            <a:endParaRPr lang="en-US" altLang="zh-CN" b="1" dirty="0">
              <a:latin typeface="楷体_GB2312" pitchFamily="49" charset="-122"/>
              <a:ea typeface="宋体" panose="02010600030101010101" pitchFamily="2" charset="-122"/>
            </a:endParaRPr>
          </a:p>
          <a:p>
            <a:pPr algn="just" eaLnBrk="1" hangingPunct="1">
              <a:spcBef>
                <a:spcPct val="20000"/>
              </a:spcBef>
            </a:pPr>
            <a:r>
              <a:rPr lang="zh-CN" altLang="en-US" b="1" dirty="0">
                <a:solidFill>
                  <a:srgbClr val="000000"/>
                </a:solidFill>
                <a:ea typeface="宋体" panose="02010600030101010101" pitchFamily="2" charset="-122"/>
              </a:rPr>
              <a:t>（</a:t>
            </a:r>
            <a:r>
              <a:rPr lang="en-US" altLang="zh-CN" b="1" dirty="0">
                <a:solidFill>
                  <a:srgbClr val="000000"/>
                </a:solidFill>
                <a:latin typeface="楷体_GB2312" pitchFamily="49" charset="-122"/>
                <a:ea typeface="宋体" panose="02010600030101010101" pitchFamily="2" charset="-122"/>
              </a:rPr>
              <a:t>3</a:t>
            </a:r>
            <a:r>
              <a:rPr lang="zh-CN" altLang="en-US" b="1" dirty="0">
                <a:solidFill>
                  <a:srgbClr val="000000"/>
                </a:solidFill>
                <a:ea typeface="宋体" panose="02010600030101010101" pitchFamily="2" charset="-122"/>
              </a:rPr>
              <a:t>）</a:t>
            </a:r>
            <a:r>
              <a:rPr lang="en-US" altLang="zh-CN" b="1" dirty="0">
                <a:solidFill>
                  <a:srgbClr val="000000"/>
                </a:solidFill>
                <a:latin typeface="楷体_GB2312" pitchFamily="49" charset="-122"/>
                <a:ea typeface="宋体" panose="02010600030101010101" pitchFamily="2" charset="-122"/>
              </a:rPr>
              <a:t>R=X mod Y</a:t>
            </a:r>
            <a:endParaRPr lang="en-US" altLang="zh-CN" b="1" dirty="0">
              <a:latin typeface="楷体_GB2312" pitchFamily="49" charset="-122"/>
              <a:ea typeface="宋体" panose="02010600030101010101" pitchFamily="2" charset="-122"/>
            </a:endParaRPr>
          </a:p>
          <a:p>
            <a:pPr algn="just" eaLnBrk="1" hangingPunct="1">
              <a:spcBef>
                <a:spcPct val="20000"/>
              </a:spcBef>
            </a:pPr>
            <a:r>
              <a:rPr lang="zh-CN" altLang="en-US" b="1" dirty="0">
                <a:solidFill>
                  <a:srgbClr val="FF3300"/>
                </a:solidFill>
                <a:ea typeface="宋体" panose="02010600030101010101" pitchFamily="2" charset="-122"/>
              </a:rPr>
              <a:t>（</a:t>
            </a:r>
            <a:r>
              <a:rPr lang="en-US" altLang="zh-CN" b="1" dirty="0">
                <a:solidFill>
                  <a:srgbClr val="FF3300"/>
                </a:solidFill>
                <a:latin typeface="楷体_GB2312" pitchFamily="49" charset="-122"/>
                <a:ea typeface="宋体" panose="02010600030101010101" pitchFamily="2" charset="-122"/>
              </a:rPr>
              <a:t>4</a:t>
            </a:r>
            <a:r>
              <a:rPr lang="zh-CN" altLang="en-US" b="1" dirty="0">
                <a:solidFill>
                  <a:srgbClr val="FF3300"/>
                </a:solidFill>
                <a:ea typeface="宋体" panose="02010600030101010101" pitchFamily="2" charset="-122"/>
              </a:rPr>
              <a:t>）</a:t>
            </a:r>
            <a:r>
              <a:rPr lang="en-US" altLang="zh-CN" b="1" dirty="0">
                <a:solidFill>
                  <a:srgbClr val="FF3300"/>
                </a:solidFill>
                <a:latin typeface="楷体_GB2312" pitchFamily="49" charset="-122"/>
                <a:ea typeface="宋体" panose="02010600030101010101" pitchFamily="2" charset="-122"/>
              </a:rPr>
              <a:t>if R= =0 </a:t>
            </a:r>
            <a:r>
              <a:rPr lang="en-US" altLang="zh-CN" b="1" dirty="0" err="1">
                <a:solidFill>
                  <a:srgbClr val="FF3300"/>
                </a:solidFill>
                <a:latin typeface="楷体_GB2312" pitchFamily="49" charset="-122"/>
                <a:ea typeface="宋体" panose="02010600030101010101" pitchFamily="2" charset="-122"/>
              </a:rPr>
              <a:t>goto</a:t>
            </a:r>
            <a:r>
              <a:rPr lang="zh-CN" altLang="en-US" b="1" dirty="0">
                <a:solidFill>
                  <a:srgbClr val="FF3300"/>
                </a:solidFill>
                <a:ea typeface="宋体" panose="02010600030101010101" pitchFamily="2" charset="-122"/>
              </a:rPr>
              <a:t>（</a:t>
            </a:r>
            <a:r>
              <a:rPr lang="en-US" altLang="zh-CN" b="1" dirty="0">
                <a:solidFill>
                  <a:srgbClr val="FF3300"/>
                </a:solidFill>
                <a:latin typeface="楷体_GB2312" pitchFamily="49" charset="-122"/>
                <a:ea typeface="宋体" panose="02010600030101010101" pitchFamily="2" charset="-122"/>
              </a:rPr>
              <a:t>8</a:t>
            </a:r>
            <a:r>
              <a:rPr lang="zh-CN" altLang="en-US" b="1" dirty="0">
                <a:solidFill>
                  <a:srgbClr val="FF3300"/>
                </a:solidFill>
                <a:ea typeface="宋体" panose="02010600030101010101" pitchFamily="2" charset="-122"/>
              </a:rPr>
              <a:t>）</a:t>
            </a:r>
            <a:endParaRPr lang="zh-CN" altLang="en-US" b="1" dirty="0">
              <a:solidFill>
                <a:srgbClr val="FF3300"/>
              </a:solidFill>
              <a:latin typeface="楷体_GB2312" pitchFamily="49" charset="-122"/>
              <a:ea typeface="宋体" panose="02010600030101010101" pitchFamily="2" charset="-122"/>
            </a:endParaRPr>
          </a:p>
          <a:p>
            <a:pPr algn="just" eaLnBrk="1" hangingPunct="1">
              <a:spcBef>
                <a:spcPct val="20000"/>
              </a:spcBef>
            </a:pPr>
            <a:r>
              <a:rPr lang="zh-CN" altLang="en-US" b="1" dirty="0">
                <a:solidFill>
                  <a:srgbClr val="000000"/>
                </a:solidFill>
                <a:ea typeface="宋体" panose="02010600030101010101" pitchFamily="2" charset="-122"/>
              </a:rPr>
              <a:t>（</a:t>
            </a:r>
            <a:r>
              <a:rPr lang="en-US" altLang="zh-CN" b="1" dirty="0">
                <a:solidFill>
                  <a:srgbClr val="000000"/>
                </a:solidFill>
                <a:latin typeface="楷体_GB2312" pitchFamily="49" charset="-122"/>
                <a:ea typeface="宋体" panose="02010600030101010101" pitchFamily="2" charset="-122"/>
              </a:rPr>
              <a:t>5</a:t>
            </a:r>
            <a:r>
              <a:rPr lang="zh-CN" altLang="en-US" b="1" dirty="0">
                <a:solidFill>
                  <a:srgbClr val="000000"/>
                </a:solidFill>
                <a:ea typeface="宋体" panose="02010600030101010101" pitchFamily="2" charset="-122"/>
              </a:rPr>
              <a:t>）</a:t>
            </a:r>
            <a:r>
              <a:rPr lang="en-US" altLang="zh-CN" b="1" dirty="0">
                <a:solidFill>
                  <a:srgbClr val="000000"/>
                </a:solidFill>
                <a:latin typeface="楷体_GB2312" pitchFamily="49" charset="-122"/>
                <a:ea typeface="宋体" panose="02010600030101010101" pitchFamily="2" charset="-122"/>
              </a:rPr>
              <a:t>X=Y</a:t>
            </a:r>
            <a:endParaRPr lang="en-US" altLang="zh-CN" b="1" dirty="0">
              <a:latin typeface="楷体_GB2312" pitchFamily="49" charset="-122"/>
              <a:ea typeface="宋体" panose="02010600030101010101" pitchFamily="2" charset="-122"/>
            </a:endParaRPr>
          </a:p>
          <a:p>
            <a:pPr algn="just" eaLnBrk="1" hangingPunct="1">
              <a:spcBef>
                <a:spcPct val="20000"/>
              </a:spcBef>
            </a:pPr>
            <a:r>
              <a:rPr lang="zh-CN" altLang="en-US" b="1" dirty="0">
                <a:solidFill>
                  <a:srgbClr val="000000"/>
                </a:solidFill>
                <a:ea typeface="宋体" panose="02010600030101010101" pitchFamily="2" charset="-122"/>
              </a:rPr>
              <a:t>（</a:t>
            </a:r>
            <a:r>
              <a:rPr lang="en-US" altLang="zh-CN" b="1" dirty="0">
                <a:solidFill>
                  <a:srgbClr val="000000"/>
                </a:solidFill>
                <a:latin typeface="楷体_GB2312" pitchFamily="49" charset="-122"/>
                <a:ea typeface="宋体" panose="02010600030101010101" pitchFamily="2" charset="-122"/>
              </a:rPr>
              <a:t>6</a:t>
            </a:r>
            <a:r>
              <a:rPr lang="zh-CN" altLang="en-US" b="1" dirty="0">
                <a:solidFill>
                  <a:srgbClr val="000000"/>
                </a:solidFill>
                <a:ea typeface="宋体" panose="02010600030101010101" pitchFamily="2" charset="-122"/>
              </a:rPr>
              <a:t>）</a:t>
            </a:r>
            <a:r>
              <a:rPr lang="en-US" altLang="zh-CN" b="1" dirty="0">
                <a:solidFill>
                  <a:srgbClr val="000000"/>
                </a:solidFill>
                <a:latin typeface="楷体_GB2312" pitchFamily="49" charset="-122"/>
                <a:ea typeface="宋体" panose="02010600030101010101" pitchFamily="2" charset="-122"/>
              </a:rPr>
              <a:t>Y=R</a:t>
            </a:r>
            <a:endParaRPr lang="en-US" altLang="zh-CN" b="1" dirty="0">
              <a:latin typeface="楷体_GB2312" pitchFamily="49" charset="-122"/>
              <a:ea typeface="宋体" panose="02010600030101010101" pitchFamily="2" charset="-122"/>
            </a:endParaRPr>
          </a:p>
          <a:p>
            <a:pPr algn="just" eaLnBrk="1" hangingPunct="1">
              <a:spcBef>
                <a:spcPct val="20000"/>
              </a:spcBef>
            </a:pPr>
            <a:r>
              <a:rPr lang="zh-CN" altLang="en-US" b="1" dirty="0">
                <a:solidFill>
                  <a:srgbClr val="FF3300"/>
                </a:solidFill>
                <a:ea typeface="宋体" panose="02010600030101010101" pitchFamily="2" charset="-122"/>
              </a:rPr>
              <a:t>（</a:t>
            </a:r>
            <a:r>
              <a:rPr lang="en-US" altLang="zh-CN" b="1" dirty="0">
                <a:solidFill>
                  <a:srgbClr val="FF3300"/>
                </a:solidFill>
                <a:latin typeface="楷体_GB2312" pitchFamily="49" charset="-122"/>
                <a:ea typeface="宋体" panose="02010600030101010101" pitchFamily="2" charset="-122"/>
              </a:rPr>
              <a:t>7</a:t>
            </a:r>
            <a:r>
              <a:rPr lang="zh-CN" altLang="en-US" b="1" dirty="0">
                <a:solidFill>
                  <a:srgbClr val="FF3300"/>
                </a:solidFill>
                <a:ea typeface="宋体" panose="02010600030101010101" pitchFamily="2" charset="-122"/>
              </a:rPr>
              <a:t>）</a:t>
            </a:r>
            <a:r>
              <a:rPr lang="en-US" altLang="zh-CN" b="1" dirty="0" err="1">
                <a:solidFill>
                  <a:srgbClr val="FF3300"/>
                </a:solidFill>
                <a:latin typeface="楷体_GB2312" pitchFamily="49" charset="-122"/>
                <a:ea typeface="宋体" panose="02010600030101010101" pitchFamily="2" charset="-122"/>
              </a:rPr>
              <a:t>goto</a:t>
            </a:r>
            <a:r>
              <a:rPr lang="zh-CN" altLang="en-US" b="1" dirty="0">
                <a:solidFill>
                  <a:srgbClr val="FF3300"/>
                </a:solidFill>
                <a:ea typeface="宋体" panose="02010600030101010101" pitchFamily="2" charset="-122"/>
              </a:rPr>
              <a:t>（</a:t>
            </a:r>
            <a:r>
              <a:rPr lang="en-US" altLang="zh-CN" b="1" dirty="0">
                <a:solidFill>
                  <a:srgbClr val="FF3300"/>
                </a:solidFill>
                <a:latin typeface="楷体_GB2312" pitchFamily="49" charset="-122"/>
                <a:ea typeface="宋体" panose="02010600030101010101" pitchFamily="2" charset="-122"/>
              </a:rPr>
              <a:t>3</a:t>
            </a:r>
            <a:r>
              <a:rPr lang="zh-CN" altLang="en-US" b="1" dirty="0">
                <a:solidFill>
                  <a:srgbClr val="FF3300"/>
                </a:solidFill>
                <a:ea typeface="宋体" panose="02010600030101010101" pitchFamily="2" charset="-122"/>
              </a:rPr>
              <a:t>）</a:t>
            </a:r>
            <a:endParaRPr lang="zh-CN" altLang="en-US" b="1" dirty="0">
              <a:solidFill>
                <a:srgbClr val="FF3300"/>
              </a:solidFill>
              <a:latin typeface="楷体_GB2312" pitchFamily="49" charset="-122"/>
              <a:ea typeface="宋体" panose="02010600030101010101" pitchFamily="2" charset="-122"/>
            </a:endParaRPr>
          </a:p>
          <a:p>
            <a:pPr algn="just" eaLnBrk="1" hangingPunct="1">
              <a:spcBef>
                <a:spcPct val="20000"/>
              </a:spcBef>
            </a:pPr>
            <a:r>
              <a:rPr lang="zh-CN" altLang="en-US" b="1" dirty="0">
                <a:solidFill>
                  <a:srgbClr val="000000"/>
                </a:solidFill>
                <a:ea typeface="宋体" panose="02010600030101010101" pitchFamily="2" charset="-122"/>
              </a:rPr>
              <a:t>（</a:t>
            </a:r>
            <a:r>
              <a:rPr lang="en-US" altLang="zh-CN" b="1" dirty="0">
                <a:solidFill>
                  <a:srgbClr val="000000"/>
                </a:solidFill>
                <a:latin typeface="楷体_GB2312" pitchFamily="49" charset="-122"/>
                <a:ea typeface="宋体" panose="02010600030101010101" pitchFamily="2" charset="-122"/>
              </a:rPr>
              <a:t>8</a:t>
            </a:r>
            <a:r>
              <a:rPr lang="zh-CN" altLang="en-US" b="1" dirty="0">
                <a:solidFill>
                  <a:srgbClr val="000000"/>
                </a:solidFill>
                <a:ea typeface="宋体" panose="02010600030101010101" pitchFamily="2" charset="-122"/>
              </a:rPr>
              <a:t>）</a:t>
            </a:r>
            <a:r>
              <a:rPr lang="en-US" altLang="zh-CN" b="1" dirty="0">
                <a:solidFill>
                  <a:srgbClr val="000000"/>
                </a:solidFill>
                <a:latin typeface="楷体_GB2312" pitchFamily="49" charset="-122"/>
                <a:ea typeface="宋体" panose="02010600030101010101" pitchFamily="2" charset="-122"/>
              </a:rPr>
              <a:t>write Y</a:t>
            </a:r>
            <a:endParaRPr lang="en-US" altLang="zh-CN" b="1" dirty="0">
              <a:latin typeface="楷体_GB2312" pitchFamily="49" charset="-122"/>
              <a:ea typeface="宋体" panose="02010600030101010101" pitchFamily="2" charset="-122"/>
            </a:endParaRPr>
          </a:p>
          <a:p>
            <a:pPr algn="just" eaLnBrk="1" hangingPunct="1">
              <a:spcBef>
                <a:spcPct val="20000"/>
              </a:spcBef>
            </a:pPr>
            <a:r>
              <a:rPr lang="zh-CN" altLang="en-US" b="1" dirty="0">
                <a:solidFill>
                  <a:srgbClr val="000000"/>
                </a:solidFill>
                <a:ea typeface="宋体" panose="02010600030101010101" pitchFamily="2" charset="-122"/>
              </a:rPr>
              <a:t>（</a:t>
            </a:r>
            <a:r>
              <a:rPr lang="en-US" altLang="zh-CN" b="1" dirty="0">
                <a:solidFill>
                  <a:srgbClr val="000000"/>
                </a:solidFill>
                <a:latin typeface="楷体_GB2312" pitchFamily="49" charset="-122"/>
                <a:ea typeface="宋体" panose="02010600030101010101" pitchFamily="2" charset="-122"/>
              </a:rPr>
              <a:t>9</a:t>
            </a:r>
            <a:r>
              <a:rPr lang="zh-CN" altLang="en-US" b="1" dirty="0">
                <a:solidFill>
                  <a:srgbClr val="000000"/>
                </a:solidFill>
                <a:ea typeface="宋体" panose="02010600030101010101" pitchFamily="2" charset="-122"/>
              </a:rPr>
              <a:t>）</a:t>
            </a:r>
            <a:r>
              <a:rPr lang="en-US" altLang="zh-CN" b="1" dirty="0">
                <a:solidFill>
                  <a:srgbClr val="000000"/>
                </a:solidFill>
                <a:latin typeface="楷体_GB2312" pitchFamily="49" charset="-122"/>
                <a:ea typeface="宋体" panose="02010600030101010101" pitchFamily="2" charset="-122"/>
              </a:rPr>
              <a:t>halt</a:t>
            </a:r>
          </a:p>
        </p:txBody>
      </p:sp>
      <p:sp>
        <p:nvSpPr>
          <p:cNvPr id="2052" name="Rectangle 4"/>
          <p:cNvSpPr>
            <a:spLocks noChangeArrowheads="1"/>
          </p:cNvSpPr>
          <p:nvPr/>
        </p:nvSpPr>
        <p:spPr bwMode="auto">
          <a:xfrm>
            <a:off x="3695700" y="2114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graphicFrame>
        <p:nvGraphicFramePr>
          <p:cNvPr id="195587" name="Object 3"/>
          <p:cNvGraphicFramePr>
            <a:graphicFrameLocks/>
          </p:cNvGraphicFramePr>
          <p:nvPr/>
        </p:nvGraphicFramePr>
        <p:xfrm>
          <a:off x="4495800" y="609600"/>
          <a:ext cx="4343400" cy="5486400"/>
        </p:xfrm>
        <a:graphic>
          <a:graphicData uri="http://schemas.openxmlformats.org/presentationml/2006/ole">
            <mc:AlternateContent xmlns:mc="http://schemas.openxmlformats.org/markup-compatibility/2006">
              <mc:Choice xmlns:v="urn:schemas-microsoft-com:vml" Requires="v">
                <p:oleObj spid="_x0000_s8208" r:id="rId3" imgW="2620800" imgH="3134880" progId="Word.Picture.8">
                  <p:embed/>
                </p:oleObj>
              </mc:Choice>
              <mc:Fallback>
                <p:oleObj r:id="rId3" imgW="2620800" imgH="3134880" progId="Word.Picture.8">
                  <p:embed/>
                  <p:pic>
                    <p:nvPicPr>
                      <p:cNvPr id="195587" name="Object 3"/>
                      <p:cNvPicPr>
                        <a:picLocks noChangeArrowheads="1"/>
                      </p:cNvPicPr>
                      <p:nvPr/>
                    </p:nvPicPr>
                    <p:blipFill>
                      <a:blip r:embed="rId4">
                        <a:extLst>
                          <a:ext uri="{28A0092B-C50C-407E-A947-70E740481C1C}">
                            <a14:useLocalDpi xmlns:a14="http://schemas.microsoft.com/office/drawing/2010/main" val="0"/>
                          </a:ext>
                        </a:extLst>
                      </a:blip>
                      <a:srcRect l="27614" t="4709" r="5907" b="11830"/>
                      <a:stretch>
                        <a:fillRect/>
                      </a:stretch>
                    </p:blipFill>
                    <p:spPr bwMode="auto">
                      <a:xfrm>
                        <a:off x="4495800" y="609600"/>
                        <a:ext cx="4343400" cy="548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a:extLst>
              <a:ext uri="{FF2B5EF4-FFF2-40B4-BE49-F238E27FC236}">
                <a16:creationId xmlns:a16="http://schemas.microsoft.com/office/drawing/2014/main" id="{A2D4D1FC-BBF9-4459-98CE-9822B36E08B6}"/>
              </a:ext>
            </a:extLst>
          </p:cNvPr>
          <p:cNvSpPr>
            <a:spLocks noGrp="1"/>
          </p:cNvSpPr>
          <p:nvPr>
            <p:ph type="sldNum" sz="quarter" idx="12"/>
          </p:nvPr>
        </p:nvSpPr>
        <p:spPr/>
        <p:txBody>
          <a:bodyPr/>
          <a:lstStyle/>
          <a:p>
            <a:fld id="{565CE74E-AB26-4998-AD42-012C4C1AD076}" type="slidenum">
              <a:rPr lang="zh-CN" altLang="en-US" smtClean="0"/>
              <a:t>78</a:t>
            </a:fld>
            <a:endParaRPr lang="zh-CN" altLang="en-US"/>
          </a:p>
        </p:txBody>
      </p:sp>
    </p:spTree>
    <p:extLst>
      <p:ext uri="{BB962C8B-B14F-4D97-AF65-F5344CB8AC3E}">
        <p14:creationId xmlns:p14="http://schemas.microsoft.com/office/powerpoint/2010/main" val="9494394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5587"/>
                                        </p:tgtEl>
                                        <p:attrNameLst>
                                          <p:attrName>style.visibility</p:attrName>
                                        </p:attrNameLst>
                                      </p:cBhvr>
                                      <p:to>
                                        <p:strVal val="visible"/>
                                      </p:to>
                                    </p:set>
                                    <p:anim calcmode="lin" valueType="num">
                                      <p:cBhvr additive="base">
                                        <p:cTn id="7" dur="500" fill="hold"/>
                                        <p:tgtEl>
                                          <p:spTgt spid="195587"/>
                                        </p:tgtEl>
                                        <p:attrNameLst>
                                          <p:attrName>ppt_x</p:attrName>
                                        </p:attrNameLst>
                                      </p:cBhvr>
                                      <p:tavLst>
                                        <p:tav tm="0">
                                          <p:val>
                                            <p:strVal val="0-#ppt_w/2"/>
                                          </p:val>
                                        </p:tav>
                                        <p:tav tm="100000">
                                          <p:val>
                                            <p:strVal val="#ppt_x"/>
                                          </p:val>
                                        </p:tav>
                                      </p:tavLst>
                                    </p:anim>
                                    <p:anim calcmode="lin" valueType="num">
                                      <p:cBhvr additive="base">
                                        <p:cTn id="8" dur="500" fill="hold"/>
                                        <p:tgtEl>
                                          <p:spTgt spid="1955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Group 54"/>
          <p:cNvGrpSpPr>
            <a:grpSpLocks/>
          </p:cNvGrpSpPr>
          <p:nvPr/>
        </p:nvGrpSpPr>
        <p:grpSpPr bwMode="auto">
          <a:xfrm>
            <a:off x="762000" y="1295400"/>
            <a:ext cx="2187575" cy="3568700"/>
            <a:chOff x="576" y="950"/>
            <a:chExt cx="1344" cy="2118"/>
          </a:xfrm>
        </p:grpSpPr>
        <p:grpSp>
          <p:nvGrpSpPr>
            <p:cNvPr id="13329" name="Group 55"/>
            <p:cNvGrpSpPr>
              <a:grpSpLocks/>
            </p:cNvGrpSpPr>
            <p:nvPr/>
          </p:nvGrpSpPr>
          <p:grpSpPr bwMode="auto">
            <a:xfrm>
              <a:off x="576" y="950"/>
              <a:ext cx="1344" cy="2118"/>
              <a:chOff x="576" y="950"/>
              <a:chExt cx="1344" cy="2118"/>
            </a:xfrm>
          </p:grpSpPr>
          <p:grpSp>
            <p:nvGrpSpPr>
              <p:cNvPr id="13331" name="Group 56"/>
              <p:cNvGrpSpPr>
                <a:grpSpLocks/>
              </p:cNvGrpSpPr>
              <p:nvPr/>
            </p:nvGrpSpPr>
            <p:grpSpPr bwMode="auto">
              <a:xfrm>
                <a:off x="806" y="1056"/>
                <a:ext cx="778" cy="1968"/>
                <a:chOff x="806" y="1056"/>
                <a:chExt cx="778" cy="1968"/>
              </a:xfrm>
            </p:grpSpPr>
            <p:sp>
              <p:nvSpPr>
                <p:cNvPr id="13341" name="Line 57"/>
                <p:cNvSpPr>
                  <a:spLocks noChangeShapeType="1"/>
                </p:cNvSpPr>
                <p:nvPr/>
              </p:nvSpPr>
              <p:spPr bwMode="auto">
                <a:xfrm>
                  <a:off x="1200" y="1056"/>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2" name="Freeform 58"/>
                <p:cNvSpPr>
                  <a:spLocks/>
                </p:cNvSpPr>
                <p:nvPr/>
              </p:nvSpPr>
              <p:spPr bwMode="auto">
                <a:xfrm>
                  <a:off x="806" y="1488"/>
                  <a:ext cx="394" cy="309"/>
                </a:xfrm>
                <a:custGeom>
                  <a:avLst/>
                  <a:gdLst>
                    <a:gd name="T0" fmla="*/ 394 w 394"/>
                    <a:gd name="T1" fmla="*/ 0 h 309"/>
                    <a:gd name="T2" fmla="*/ 0 w 394"/>
                    <a:gd name="T3" fmla="*/ 309 h 309"/>
                    <a:gd name="T4" fmla="*/ 0 60000 65536"/>
                    <a:gd name="T5" fmla="*/ 0 60000 65536"/>
                    <a:gd name="T6" fmla="*/ 0 w 394"/>
                    <a:gd name="T7" fmla="*/ 0 h 309"/>
                    <a:gd name="T8" fmla="*/ 394 w 394"/>
                    <a:gd name="T9" fmla="*/ 309 h 309"/>
                  </a:gdLst>
                  <a:ahLst/>
                  <a:cxnLst>
                    <a:cxn ang="T4">
                      <a:pos x="T0" y="T1"/>
                    </a:cxn>
                    <a:cxn ang="T5">
                      <a:pos x="T2" y="T3"/>
                    </a:cxn>
                  </a:cxnLst>
                  <a:rect l="T6" t="T7" r="T8" b="T9"/>
                  <a:pathLst>
                    <a:path w="394" h="309">
                      <a:moveTo>
                        <a:pt x="394" y="0"/>
                      </a:moveTo>
                      <a:lnTo>
                        <a:pt x="0" y="309"/>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13343" name="Line 59"/>
                <p:cNvSpPr>
                  <a:spLocks noChangeShapeType="1"/>
                </p:cNvSpPr>
                <p:nvPr/>
              </p:nvSpPr>
              <p:spPr bwMode="auto">
                <a:xfrm>
                  <a:off x="1200" y="1488"/>
                  <a:ext cx="384"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4" name="Line 60"/>
                <p:cNvSpPr>
                  <a:spLocks noChangeShapeType="1"/>
                </p:cNvSpPr>
                <p:nvPr/>
              </p:nvSpPr>
              <p:spPr bwMode="auto">
                <a:xfrm>
                  <a:off x="816" y="1776"/>
                  <a:ext cx="0"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5" name="Line 61"/>
                <p:cNvSpPr>
                  <a:spLocks noChangeShapeType="1"/>
                </p:cNvSpPr>
                <p:nvPr/>
              </p:nvSpPr>
              <p:spPr bwMode="auto">
                <a:xfrm>
                  <a:off x="1584" y="1776"/>
                  <a:ext cx="0"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6" name="Freeform 62"/>
                <p:cNvSpPr>
                  <a:spLocks/>
                </p:cNvSpPr>
                <p:nvPr/>
              </p:nvSpPr>
              <p:spPr bwMode="auto">
                <a:xfrm>
                  <a:off x="1190" y="2283"/>
                  <a:ext cx="394" cy="309"/>
                </a:xfrm>
                <a:custGeom>
                  <a:avLst/>
                  <a:gdLst>
                    <a:gd name="T0" fmla="*/ 394 w 394"/>
                    <a:gd name="T1" fmla="*/ 0 h 309"/>
                    <a:gd name="T2" fmla="*/ 0 w 394"/>
                    <a:gd name="T3" fmla="*/ 309 h 309"/>
                    <a:gd name="T4" fmla="*/ 0 60000 65536"/>
                    <a:gd name="T5" fmla="*/ 0 60000 65536"/>
                    <a:gd name="T6" fmla="*/ 0 w 394"/>
                    <a:gd name="T7" fmla="*/ 0 h 309"/>
                    <a:gd name="T8" fmla="*/ 394 w 394"/>
                    <a:gd name="T9" fmla="*/ 309 h 309"/>
                  </a:gdLst>
                  <a:ahLst/>
                  <a:cxnLst>
                    <a:cxn ang="T4">
                      <a:pos x="T0" y="T1"/>
                    </a:cxn>
                    <a:cxn ang="T5">
                      <a:pos x="T2" y="T3"/>
                    </a:cxn>
                  </a:cxnLst>
                  <a:rect l="T6" t="T7" r="T8" b="T9"/>
                  <a:pathLst>
                    <a:path w="394" h="309">
                      <a:moveTo>
                        <a:pt x="394" y="0"/>
                      </a:moveTo>
                      <a:lnTo>
                        <a:pt x="0" y="309"/>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13347" name="Line 63"/>
                <p:cNvSpPr>
                  <a:spLocks noChangeShapeType="1"/>
                </p:cNvSpPr>
                <p:nvPr/>
              </p:nvSpPr>
              <p:spPr bwMode="auto">
                <a:xfrm>
                  <a:off x="816" y="2304"/>
                  <a:ext cx="384"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8" name="Line 64"/>
                <p:cNvSpPr>
                  <a:spLocks noChangeShapeType="1"/>
                </p:cNvSpPr>
                <p:nvPr/>
              </p:nvSpPr>
              <p:spPr bwMode="auto">
                <a:xfrm>
                  <a:off x="1200" y="2592"/>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332" name="Text Box 65"/>
              <p:cNvSpPr txBox="1">
                <a:spLocks noChangeArrowheads="1"/>
              </p:cNvSpPr>
              <p:nvPr/>
            </p:nvSpPr>
            <p:spPr bwMode="auto">
              <a:xfrm>
                <a:off x="960" y="950"/>
                <a:ext cx="288"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pPr>
                <a:r>
                  <a:rPr lang="en-US" altLang="zh-CN" sz="2000" b="1"/>
                  <a:t>1</a:t>
                </a:r>
              </a:p>
            </p:txBody>
          </p:sp>
          <p:sp>
            <p:nvSpPr>
              <p:cNvPr id="13333" name="Text Box 66"/>
              <p:cNvSpPr txBox="1">
                <a:spLocks noChangeArrowheads="1"/>
              </p:cNvSpPr>
              <p:nvPr/>
            </p:nvSpPr>
            <p:spPr bwMode="auto">
              <a:xfrm>
                <a:off x="960" y="1334"/>
                <a:ext cx="288"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pPr>
                <a:r>
                  <a:rPr lang="en-US" altLang="zh-CN" sz="2000" b="1"/>
                  <a:t>3</a:t>
                </a:r>
              </a:p>
            </p:txBody>
          </p:sp>
          <p:sp>
            <p:nvSpPr>
              <p:cNvPr id="13334" name="Text Box 67"/>
              <p:cNvSpPr txBox="1">
                <a:spLocks noChangeArrowheads="1"/>
              </p:cNvSpPr>
              <p:nvPr/>
            </p:nvSpPr>
            <p:spPr bwMode="auto">
              <a:xfrm>
                <a:off x="624" y="1670"/>
                <a:ext cx="28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pPr>
                <a:r>
                  <a:rPr lang="en-US" altLang="zh-CN" sz="2000" b="1"/>
                  <a:t>4</a:t>
                </a:r>
              </a:p>
            </p:txBody>
          </p:sp>
          <p:sp>
            <p:nvSpPr>
              <p:cNvPr id="13335" name="Text Box 68"/>
              <p:cNvSpPr txBox="1">
                <a:spLocks noChangeArrowheads="1"/>
              </p:cNvSpPr>
              <p:nvPr/>
            </p:nvSpPr>
            <p:spPr bwMode="auto">
              <a:xfrm>
                <a:off x="576" y="1910"/>
                <a:ext cx="288"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pPr>
                <a:r>
                  <a:rPr lang="en-US" altLang="zh-CN" sz="2000" b="1"/>
                  <a:t>5</a:t>
                </a:r>
              </a:p>
            </p:txBody>
          </p:sp>
          <p:sp>
            <p:nvSpPr>
              <p:cNvPr id="13336" name="Text Box 69"/>
              <p:cNvSpPr txBox="1">
                <a:spLocks noChangeArrowheads="1"/>
              </p:cNvSpPr>
              <p:nvPr/>
            </p:nvSpPr>
            <p:spPr bwMode="auto">
              <a:xfrm>
                <a:off x="624" y="2160"/>
                <a:ext cx="28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pPr>
                <a:r>
                  <a:rPr lang="en-US" altLang="zh-CN" sz="2000" b="1"/>
                  <a:t>6</a:t>
                </a:r>
              </a:p>
            </p:txBody>
          </p:sp>
          <p:sp>
            <p:nvSpPr>
              <p:cNvPr id="13337" name="Text Box 70"/>
              <p:cNvSpPr txBox="1">
                <a:spLocks noChangeArrowheads="1"/>
              </p:cNvSpPr>
              <p:nvPr/>
            </p:nvSpPr>
            <p:spPr bwMode="auto">
              <a:xfrm>
                <a:off x="1200" y="2496"/>
                <a:ext cx="288"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pPr>
                <a:r>
                  <a:rPr lang="en-US" altLang="zh-CN" sz="2000" b="1"/>
                  <a:t>20</a:t>
                </a:r>
              </a:p>
            </p:txBody>
          </p:sp>
          <p:sp>
            <p:nvSpPr>
              <p:cNvPr id="13338" name="Text Box 71"/>
              <p:cNvSpPr txBox="1">
                <a:spLocks noChangeArrowheads="1"/>
              </p:cNvSpPr>
              <p:nvPr/>
            </p:nvSpPr>
            <p:spPr bwMode="auto">
              <a:xfrm>
                <a:off x="1584" y="1680"/>
                <a:ext cx="288"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pPr>
                <a:r>
                  <a:rPr lang="en-US" altLang="zh-CN" sz="2000" b="1"/>
                  <a:t>10</a:t>
                </a:r>
              </a:p>
            </p:txBody>
          </p:sp>
          <p:sp>
            <p:nvSpPr>
              <p:cNvPr id="13339" name="Text Box 72"/>
              <p:cNvSpPr txBox="1">
                <a:spLocks noChangeArrowheads="1"/>
              </p:cNvSpPr>
              <p:nvPr/>
            </p:nvSpPr>
            <p:spPr bwMode="auto">
              <a:xfrm>
                <a:off x="1632" y="2150"/>
                <a:ext cx="288"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pPr>
                <a:r>
                  <a:rPr lang="en-US" altLang="zh-CN" sz="2000" b="1"/>
                  <a:t>11</a:t>
                </a:r>
              </a:p>
            </p:txBody>
          </p:sp>
          <p:sp>
            <p:nvSpPr>
              <p:cNvPr id="13340" name="Text Box 73"/>
              <p:cNvSpPr txBox="1">
                <a:spLocks noChangeArrowheads="1"/>
              </p:cNvSpPr>
              <p:nvPr/>
            </p:nvSpPr>
            <p:spPr bwMode="auto">
              <a:xfrm>
                <a:off x="1200" y="2832"/>
                <a:ext cx="288"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pPr>
                <a:r>
                  <a:rPr lang="en-US" altLang="zh-CN" sz="2000" b="1"/>
                  <a:t>21</a:t>
                </a:r>
              </a:p>
            </p:txBody>
          </p:sp>
        </p:grpSp>
        <p:sp>
          <p:nvSpPr>
            <p:cNvPr id="13330" name="Rectangle 74"/>
            <p:cNvSpPr>
              <a:spLocks noChangeArrowheads="1"/>
            </p:cNvSpPr>
            <p:nvPr/>
          </p:nvSpPr>
          <p:spPr bwMode="auto">
            <a:xfrm>
              <a:off x="675" y="1872"/>
              <a:ext cx="301"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r>
                <a:rPr lang="en-US" altLang="zh-CN" b="1"/>
                <a:t>⊕</a:t>
              </a:r>
            </a:p>
          </p:txBody>
        </p:sp>
      </p:grpSp>
      <p:sp>
        <p:nvSpPr>
          <p:cNvPr id="13315" name="Text Box 90"/>
          <p:cNvSpPr txBox="1">
            <a:spLocks noChangeArrowheads="1"/>
          </p:cNvSpPr>
          <p:nvPr/>
        </p:nvSpPr>
        <p:spPr bwMode="auto">
          <a:xfrm>
            <a:off x="4267200" y="1219200"/>
            <a:ext cx="4267200"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FontTx/>
              <a:buAutoNum type="arabicPeriod"/>
            </a:pPr>
            <a:r>
              <a:rPr lang="en-US" altLang="zh-CN" sz="2000" b="1" dirty="0"/>
              <a:t>FACTOR=2</a:t>
            </a:r>
          </a:p>
          <a:p>
            <a:pPr algn="l" eaLnBrk="1" hangingPunct="1">
              <a:spcBef>
                <a:spcPct val="50000"/>
              </a:spcBef>
              <a:buFontTx/>
              <a:buAutoNum type="arabicPeriod"/>
            </a:pPr>
            <a:r>
              <a:rPr lang="en-US" altLang="zh-CN" sz="2000" b="1" dirty="0"/>
              <a:t>EXP 1=…</a:t>
            </a:r>
          </a:p>
          <a:p>
            <a:pPr algn="l" eaLnBrk="1" hangingPunct="1">
              <a:spcBef>
                <a:spcPct val="50000"/>
              </a:spcBef>
              <a:buFontTx/>
              <a:buAutoNum type="arabicPeriod"/>
            </a:pPr>
            <a:r>
              <a:rPr lang="en-US" altLang="zh-CN" sz="2000" b="1" dirty="0"/>
              <a:t>IF (  )GOTO  10 </a:t>
            </a:r>
          </a:p>
          <a:p>
            <a:pPr algn="l" eaLnBrk="1" hangingPunct="1">
              <a:spcBef>
                <a:spcPct val="50000"/>
              </a:spcBef>
              <a:buFontTx/>
              <a:buAutoNum type="arabicPeriod"/>
            </a:pPr>
            <a:r>
              <a:rPr lang="en-US" altLang="zh-CN" sz="2000" b="1" dirty="0"/>
              <a:t>BASE=2.0</a:t>
            </a:r>
          </a:p>
          <a:p>
            <a:pPr algn="l" eaLnBrk="1" hangingPunct="1">
              <a:spcBef>
                <a:spcPct val="50000"/>
              </a:spcBef>
              <a:buFontTx/>
              <a:buAutoNum type="arabicPeriod"/>
            </a:pPr>
            <a:r>
              <a:rPr lang="en-US" altLang="zh-CN" sz="2000" b="1" dirty="0"/>
              <a:t>FACTOR=FACTOR**2</a:t>
            </a:r>
          </a:p>
          <a:p>
            <a:pPr algn="l" eaLnBrk="1" hangingPunct="1">
              <a:spcBef>
                <a:spcPct val="50000"/>
              </a:spcBef>
              <a:buFontTx/>
              <a:buAutoNum type="arabicPeriod"/>
            </a:pPr>
            <a:r>
              <a:rPr lang="en-US" altLang="zh-CN" sz="2000" b="1" dirty="0"/>
              <a:t>GOTO  20</a:t>
            </a:r>
          </a:p>
          <a:p>
            <a:pPr algn="l" eaLnBrk="1" hangingPunct="1">
              <a:spcBef>
                <a:spcPct val="50000"/>
              </a:spcBef>
            </a:pPr>
            <a:r>
              <a:rPr lang="en-US" altLang="zh-CN" sz="2000" b="1" dirty="0"/>
              <a:t>10.  BASE=…</a:t>
            </a:r>
          </a:p>
          <a:p>
            <a:pPr algn="l" eaLnBrk="1" hangingPunct="1">
              <a:spcBef>
                <a:spcPct val="50000"/>
              </a:spcBef>
            </a:pPr>
            <a:r>
              <a:rPr lang="en-US" altLang="zh-CN" sz="2000" b="1" dirty="0"/>
              <a:t>11.  FACTOR…</a:t>
            </a:r>
          </a:p>
          <a:p>
            <a:pPr algn="l" eaLnBrk="1" hangingPunct="1">
              <a:spcBef>
                <a:spcPct val="50000"/>
              </a:spcBef>
            </a:pPr>
            <a:r>
              <a:rPr lang="en-US" altLang="zh-CN" sz="2000" b="1" dirty="0"/>
              <a:t>20.  Q=</a:t>
            </a:r>
          </a:p>
          <a:p>
            <a:pPr algn="l" eaLnBrk="1" hangingPunct="1">
              <a:spcBef>
                <a:spcPct val="50000"/>
              </a:spcBef>
            </a:pPr>
            <a:r>
              <a:rPr lang="en-US" altLang="zh-CN" sz="2000" b="1" dirty="0"/>
              <a:t>21.  RETURN</a:t>
            </a:r>
          </a:p>
          <a:p>
            <a:pPr algn="l" eaLnBrk="1" hangingPunct="1">
              <a:spcBef>
                <a:spcPct val="50000"/>
              </a:spcBef>
              <a:buFontTx/>
              <a:buAutoNum type="arabicPeriod"/>
            </a:pPr>
            <a:endParaRPr lang="en-US" altLang="zh-CN" sz="2000" b="1" dirty="0"/>
          </a:p>
        </p:txBody>
      </p:sp>
      <p:grpSp>
        <p:nvGrpSpPr>
          <p:cNvPr id="5" name="Group 99"/>
          <p:cNvGrpSpPr>
            <a:grpSpLocks/>
          </p:cNvGrpSpPr>
          <p:nvPr/>
        </p:nvGrpSpPr>
        <p:grpSpPr bwMode="auto">
          <a:xfrm>
            <a:off x="7334250" y="1295400"/>
            <a:ext cx="1123950" cy="990600"/>
            <a:chOff x="4812" y="624"/>
            <a:chExt cx="708" cy="624"/>
          </a:xfrm>
        </p:grpSpPr>
        <p:sp>
          <p:nvSpPr>
            <p:cNvPr id="13327" name="Rectangle 91"/>
            <p:cNvSpPr>
              <a:spLocks noChangeArrowheads="1"/>
            </p:cNvSpPr>
            <p:nvPr/>
          </p:nvSpPr>
          <p:spPr bwMode="auto">
            <a:xfrm>
              <a:off x="4992" y="720"/>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000" b="1">
                  <a:solidFill>
                    <a:srgbClr val="FF3300"/>
                  </a:solidFill>
                </a:rPr>
                <a:t>基本块</a:t>
              </a:r>
            </a:p>
          </p:txBody>
        </p:sp>
        <p:sp>
          <p:nvSpPr>
            <p:cNvPr id="13328" name="AutoShape 95"/>
            <p:cNvSpPr>
              <a:spLocks/>
            </p:cNvSpPr>
            <p:nvPr/>
          </p:nvSpPr>
          <p:spPr bwMode="auto">
            <a:xfrm>
              <a:off x="4812" y="624"/>
              <a:ext cx="96" cy="624"/>
            </a:xfrm>
            <a:prstGeom prst="rightBrace">
              <a:avLst>
                <a:gd name="adj1" fmla="val 541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zh-CN" b="1"/>
            </a:p>
          </p:txBody>
        </p:sp>
      </p:grpSp>
      <p:grpSp>
        <p:nvGrpSpPr>
          <p:cNvPr id="6" name="Group 100"/>
          <p:cNvGrpSpPr>
            <a:grpSpLocks/>
          </p:cNvGrpSpPr>
          <p:nvPr/>
        </p:nvGrpSpPr>
        <p:grpSpPr bwMode="auto">
          <a:xfrm>
            <a:off x="7391400" y="2667000"/>
            <a:ext cx="1143000" cy="1143000"/>
            <a:chOff x="4848" y="1488"/>
            <a:chExt cx="720" cy="720"/>
          </a:xfrm>
        </p:grpSpPr>
        <p:sp>
          <p:nvSpPr>
            <p:cNvPr id="13325" name="Rectangle 92"/>
            <p:cNvSpPr>
              <a:spLocks noChangeArrowheads="1"/>
            </p:cNvSpPr>
            <p:nvPr/>
          </p:nvSpPr>
          <p:spPr bwMode="auto">
            <a:xfrm>
              <a:off x="5040" y="1632"/>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000" b="1">
                  <a:solidFill>
                    <a:srgbClr val="FF3300"/>
                  </a:solidFill>
                </a:rPr>
                <a:t>基本块</a:t>
              </a:r>
            </a:p>
          </p:txBody>
        </p:sp>
        <p:sp>
          <p:nvSpPr>
            <p:cNvPr id="13326" name="AutoShape 96"/>
            <p:cNvSpPr>
              <a:spLocks/>
            </p:cNvSpPr>
            <p:nvPr/>
          </p:nvSpPr>
          <p:spPr bwMode="auto">
            <a:xfrm>
              <a:off x="4848" y="1488"/>
              <a:ext cx="96" cy="720"/>
            </a:xfrm>
            <a:prstGeom prst="rightBrace">
              <a:avLst>
                <a:gd name="adj1" fmla="val 625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grpSp>
      <p:grpSp>
        <p:nvGrpSpPr>
          <p:cNvPr id="7" name="Group 101"/>
          <p:cNvGrpSpPr>
            <a:grpSpLocks/>
          </p:cNvGrpSpPr>
          <p:nvPr/>
        </p:nvGrpSpPr>
        <p:grpSpPr bwMode="auto">
          <a:xfrm>
            <a:off x="7467600" y="4038600"/>
            <a:ext cx="1066800" cy="609600"/>
            <a:chOff x="4896" y="2352"/>
            <a:chExt cx="672" cy="384"/>
          </a:xfrm>
        </p:grpSpPr>
        <p:sp>
          <p:nvSpPr>
            <p:cNvPr id="13323" name="Rectangle 93"/>
            <p:cNvSpPr>
              <a:spLocks noChangeArrowheads="1"/>
            </p:cNvSpPr>
            <p:nvPr/>
          </p:nvSpPr>
          <p:spPr bwMode="auto">
            <a:xfrm>
              <a:off x="5040" y="2352"/>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000" b="1">
                  <a:solidFill>
                    <a:srgbClr val="FF3300"/>
                  </a:solidFill>
                </a:rPr>
                <a:t>基本块</a:t>
              </a:r>
            </a:p>
          </p:txBody>
        </p:sp>
        <p:sp>
          <p:nvSpPr>
            <p:cNvPr id="13324" name="AutoShape 97"/>
            <p:cNvSpPr>
              <a:spLocks/>
            </p:cNvSpPr>
            <p:nvPr/>
          </p:nvSpPr>
          <p:spPr bwMode="auto">
            <a:xfrm>
              <a:off x="4896" y="2400"/>
              <a:ext cx="48" cy="336"/>
            </a:xfrm>
            <a:prstGeom prst="rightBrace">
              <a:avLst>
                <a:gd name="adj1" fmla="val 5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grpSp>
      <p:grpSp>
        <p:nvGrpSpPr>
          <p:cNvPr id="8" name="Group 102"/>
          <p:cNvGrpSpPr>
            <a:grpSpLocks/>
          </p:cNvGrpSpPr>
          <p:nvPr/>
        </p:nvGrpSpPr>
        <p:grpSpPr bwMode="auto">
          <a:xfrm>
            <a:off x="7543800" y="4953000"/>
            <a:ext cx="990600" cy="533400"/>
            <a:chOff x="4944" y="2928"/>
            <a:chExt cx="624" cy="336"/>
          </a:xfrm>
        </p:grpSpPr>
        <p:sp>
          <p:nvSpPr>
            <p:cNvPr id="13321" name="Rectangle 94"/>
            <p:cNvSpPr>
              <a:spLocks noChangeArrowheads="1"/>
            </p:cNvSpPr>
            <p:nvPr/>
          </p:nvSpPr>
          <p:spPr bwMode="auto">
            <a:xfrm>
              <a:off x="5040" y="2928"/>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000" b="1">
                  <a:solidFill>
                    <a:srgbClr val="FF3300"/>
                  </a:solidFill>
                </a:rPr>
                <a:t>基本块</a:t>
              </a:r>
            </a:p>
          </p:txBody>
        </p:sp>
        <p:sp>
          <p:nvSpPr>
            <p:cNvPr id="13322" name="AutoShape 98"/>
            <p:cNvSpPr>
              <a:spLocks/>
            </p:cNvSpPr>
            <p:nvPr/>
          </p:nvSpPr>
          <p:spPr bwMode="auto">
            <a:xfrm>
              <a:off x="4944" y="2928"/>
              <a:ext cx="48" cy="336"/>
            </a:xfrm>
            <a:prstGeom prst="rightBrace">
              <a:avLst>
                <a:gd name="adj1" fmla="val 5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grpSp>
      <p:sp>
        <p:nvSpPr>
          <p:cNvPr id="13320" name="Rectangle 4"/>
          <p:cNvSpPr>
            <a:spLocks noChangeArrowheads="1"/>
          </p:cNvSpPr>
          <p:nvPr/>
        </p:nvSpPr>
        <p:spPr bwMode="auto">
          <a:xfrm>
            <a:off x="304800" y="633413"/>
            <a:ext cx="1255713" cy="519112"/>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r>
              <a:rPr lang="zh-CN" altLang="en-US" sz="2800" b="1">
                <a:solidFill>
                  <a:schemeClr val="accent2"/>
                </a:solidFill>
              </a:rPr>
              <a:t>练习：</a:t>
            </a:r>
          </a:p>
        </p:txBody>
      </p:sp>
      <p:sp>
        <p:nvSpPr>
          <p:cNvPr id="2" name="灯片编号占位符 1">
            <a:extLst>
              <a:ext uri="{FF2B5EF4-FFF2-40B4-BE49-F238E27FC236}">
                <a16:creationId xmlns:a16="http://schemas.microsoft.com/office/drawing/2014/main" id="{D4159090-6C8A-4063-B047-1B00D9986362}"/>
              </a:ext>
            </a:extLst>
          </p:cNvPr>
          <p:cNvSpPr>
            <a:spLocks noGrp="1"/>
          </p:cNvSpPr>
          <p:nvPr>
            <p:ph type="sldNum" sz="quarter" idx="12"/>
          </p:nvPr>
        </p:nvSpPr>
        <p:spPr/>
        <p:txBody>
          <a:bodyPr/>
          <a:lstStyle/>
          <a:p>
            <a:fld id="{565CE74E-AB26-4998-AD42-012C4C1AD076}" type="slidenum">
              <a:rPr lang="zh-CN" altLang="en-US" smtClean="0"/>
              <a:t>79</a:t>
            </a:fld>
            <a:endParaRPr lang="zh-CN" altLang="en-US"/>
          </a:p>
        </p:txBody>
      </p:sp>
    </p:spTree>
    <p:extLst>
      <p:ext uri="{BB962C8B-B14F-4D97-AF65-F5344CB8AC3E}">
        <p14:creationId xmlns:p14="http://schemas.microsoft.com/office/powerpoint/2010/main" val="17800516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AutoShape 2"/>
          <p:cNvSpPr>
            <a:spLocks noChangeArrowheads="1"/>
          </p:cNvSpPr>
          <p:nvPr/>
        </p:nvSpPr>
        <p:spPr bwMode="auto">
          <a:xfrm>
            <a:off x="0" y="0"/>
            <a:ext cx="3810000" cy="609600"/>
          </a:xfrm>
          <a:prstGeom prst="roundRect">
            <a:avLst>
              <a:gd name="adj" fmla="val 16667"/>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800" b="1">
                <a:latin typeface="楷体_GB2312" pitchFamily="49" charset="-122"/>
              </a:rPr>
              <a:t>基本块内的优化方法</a:t>
            </a:r>
          </a:p>
        </p:txBody>
      </p:sp>
      <p:grpSp>
        <p:nvGrpSpPr>
          <p:cNvPr id="2" name="Group 3"/>
          <p:cNvGrpSpPr>
            <a:grpSpLocks/>
          </p:cNvGrpSpPr>
          <p:nvPr/>
        </p:nvGrpSpPr>
        <p:grpSpPr bwMode="auto">
          <a:xfrm>
            <a:off x="457200" y="990600"/>
            <a:ext cx="7696200" cy="457200"/>
            <a:chOff x="528" y="3216"/>
            <a:chExt cx="4505" cy="288"/>
          </a:xfrm>
        </p:grpSpPr>
        <p:sp>
          <p:nvSpPr>
            <p:cNvPr id="196612" name="AutoShape 4"/>
            <p:cNvSpPr>
              <a:spLocks noChangeArrowheads="1"/>
            </p:cNvSpPr>
            <p:nvPr/>
          </p:nvSpPr>
          <p:spPr bwMode="auto">
            <a:xfrm>
              <a:off x="528" y="3264"/>
              <a:ext cx="187" cy="173"/>
            </a:xfrm>
            <a:prstGeom prst="star5">
              <a:avLst/>
            </a:prstGeom>
            <a:solidFill>
              <a:srgbClr val="FF3300"/>
            </a:solidFill>
            <a:ln w="12700">
              <a:solidFill>
                <a:srgbClr val="0037E8"/>
              </a:solidFill>
              <a:miter lim="800000"/>
              <a:headEnd/>
              <a:tailEnd/>
            </a:ln>
            <a:effectLst/>
          </p:spPr>
          <p:txBody>
            <a:bodyPr wrap="none" anchor="ctr"/>
            <a:lstStyle/>
            <a:p>
              <a:pPr>
                <a:defRPr/>
              </a:pPr>
              <a:endParaRPr lang="zh-CN" altLang="en-US"/>
            </a:p>
          </p:txBody>
        </p:sp>
        <p:sp>
          <p:nvSpPr>
            <p:cNvPr id="14352" name="Text Box 5"/>
            <p:cNvSpPr txBox="1">
              <a:spLocks noChangeArrowheads="1"/>
            </p:cNvSpPr>
            <p:nvPr/>
          </p:nvSpPr>
          <p:spPr bwMode="auto">
            <a:xfrm>
              <a:off x="768" y="3216"/>
              <a:ext cx="4265" cy="28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a:r>
                <a:rPr lang="en-US" altLang="zh-CN" b="1">
                  <a:solidFill>
                    <a:srgbClr val="FF3300"/>
                  </a:solidFill>
                  <a:latin typeface="楷体_GB2312" pitchFamily="49" charset="-122"/>
                </a:rPr>
                <a:t>1.</a:t>
              </a:r>
              <a:r>
                <a:rPr lang="zh-CN" altLang="en-US" b="1">
                  <a:solidFill>
                    <a:srgbClr val="FF3300"/>
                  </a:solidFill>
                  <a:latin typeface="楷体_GB2312" pitchFamily="49" charset="-122"/>
                </a:rPr>
                <a:t>合并常量：</a:t>
              </a:r>
              <a:r>
                <a:rPr lang="zh-CN" altLang="en-US" sz="2000" b="1">
                  <a:solidFill>
                    <a:srgbClr val="000000"/>
                  </a:solidFill>
                  <a:latin typeface="楷体_GB2312" pitchFamily="49" charset="-122"/>
                </a:rPr>
                <a:t>编译时就计算表达式中的</a:t>
              </a:r>
              <a:r>
                <a:rPr lang="zh-CN" altLang="en-US" sz="2000" b="1">
                  <a:solidFill>
                    <a:srgbClr val="FF3300"/>
                  </a:solidFill>
                  <a:latin typeface="楷体_GB2312" pitchFamily="49" charset="-122"/>
                </a:rPr>
                <a:t>常量运算</a:t>
              </a:r>
            </a:p>
          </p:txBody>
        </p:sp>
      </p:grpSp>
      <p:sp>
        <p:nvSpPr>
          <p:cNvPr id="196617" name="Rectangle 9"/>
          <p:cNvSpPr>
            <a:spLocks noChangeArrowheads="1"/>
          </p:cNvSpPr>
          <p:nvPr/>
        </p:nvSpPr>
        <p:spPr bwMode="auto">
          <a:xfrm>
            <a:off x="228600" y="1981200"/>
            <a:ext cx="1752600" cy="19050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just" eaLnBrk="1" hangingPunct="1">
              <a:spcBef>
                <a:spcPct val="20000"/>
              </a:spcBef>
            </a:pPr>
            <a:r>
              <a:rPr lang="en-US" altLang="zh-CN" b="1">
                <a:latin typeface="楷体_GB2312" pitchFamily="49" charset="-122"/>
                <a:ea typeface="宋体" panose="02010600030101010101" pitchFamily="2" charset="-122"/>
              </a:rPr>
              <a:t>x=1</a:t>
            </a:r>
          </a:p>
          <a:p>
            <a:pPr algn="just" eaLnBrk="1" hangingPunct="1">
              <a:spcBef>
                <a:spcPct val="20000"/>
              </a:spcBef>
            </a:pPr>
            <a:r>
              <a:rPr lang="en-US" altLang="zh-CN" b="1">
                <a:latin typeface="楷体_GB2312" pitchFamily="49" charset="-122"/>
                <a:ea typeface="宋体" panose="02010600030101010101" pitchFamily="2" charset="-122"/>
              </a:rPr>
              <a:t>a=2*x+1</a:t>
            </a:r>
          </a:p>
          <a:p>
            <a:pPr algn="just" eaLnBrk="1" hangingPunct="1">
              <a:spcBef>
                <a:spcPct val="20000"/>
              </a:spcBef>
            </a:pPr>
            <a:r>
              <a:rPr lang="en-US" altLang="zh-CN" b="1">
                <a:latin typeface="楷体_GB2312" pitchFamily="49" charset="-122"/>
                <a:ea typeface="宋体" panose="02010600030101010101" pitchFamily="2" charset="-122"/>
              </a:rPr>
              <a:t>b=x+10</a:t>
            </a:r>
          </a:p>
          <a:p>
            <a:pPr algn="just" eaLnBrk="1" hangingPunct="1">
              <a:spcBef>
                <a:spcPct val="20000"/>
              </a:spcBef>
            </a:pPr>
            <a:r>
              <a:rPr lang="en-US" altLang="zh-CN" b="1">
                <a:latin typeface="楷体_GB2312" pitchFamily="49" charset="-122"/>
                <a:ea typeface="宋体" panose="02010600030101010101" pitchFamily="2" charset="-122"/>
              </a:rPr>
              <a:t>c=a+b</a:t>
            </a:r>
          </a:p>
        </p:txBody>
      </p:sp>
      <p:grpSp>
        <p:nvGrpSpPr>
          <p:cNvPr id="3" name="Group 18"/>
          <p:cNvGrpSpPr>
            <a:grpSpLocks/>
          </p:cNvGrpSpPr>
          <p:nvPr/>
        </p:nvGrpSpPr>
        <p:grpSpPr bwMode="auto">
          <a:xfrm>
            <a:off x="5257800" y="1905000"/>
            <a:ext cx="3276600" cy="1905000"/>
            <a:chOff x="3312" y="1200"/>
            <a:chExt cx="2064" cy="1200"/>
          </a:xfrm>
        </p:grpSpPr>
        <p:grpSp>
          <p:nvGrpSpPr>
            <p:cNvPr id="14347" name="Group 17"/>
            <p:cNvGrpSpPr>
              <a:grpSpLocks/>
            </p:cNvGrpSpPr>
            <p:nvPr/>
          </p:nvGrpSpPr>
          <p:grpSpPr bwMode="auto">
            <a:xfrm>
              <a:off x="3312" y="1200"/>
              <a:ext cx="2064" cy="1200"/>
              <a:chOff x="3312" y="1200"/>
              <a:chExt cx="2064" cy="1200"/>
            </a:xfrm>
          </p:grpSpPr>
          <p:sp>
            <p:nvSpPr>
              <p:cNvPr id="14349" name="AutoShape 12"/>
              <p:cNvSpPr>
                <a:spLocks noChangeArrowheads="1"/>
              </p:cNvSpPr>
              <p:nvPr/>
            </p:nvSpPr>
            <p:spPr bwMode="auto">
              <a:xfrm>
                <a:off x="3312" y="1728"/>
                <a:ext cx="720" cy="144"/>
              </a:xfrm>
              <a:prstGeom prst="rightArrow">
                <a:avLst>
                  <a:gd name="adj1" fmla="val 50000"/>
                  <a:gd name="adj2" fmla="val 125000"/>
                </a:avLst>
              </a:prstGeom>
              <a:solidFill>
                <a:schemeClr val="accent2"/>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14350" name="Rectangle 13"/>
              <p:cNvSpPr>
                <a:spLocks noChangeArrowheads="1"/>
              </p:cNvSpPr>
              <p:nvPr/>
            </p:nvSpPr>
            <p:spPr bwMode="auto">
              <a:xfrm>
                <a:off x="4080" y="1200"/>
                <a:ext cx="1296" cy="12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just" eaLnBrk="1" hangingPunct="1">
                  <a:spcBef>
                    <a:spcPct val="20000"/>
                  </a:spcBef>
                </a:pP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1</a:t>
                </a: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x=1</a:t>
                </a:r>
              </a:p>
              <a:p>
                <a:pPr algn="just" eaLnBrk="1" hangingPunct="1">
                  <a:spcBef>
                    <a:spcPct val="20000"/>
                  </a:spcBef>
                </a:pP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2</a:t>
                </a: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a= 3</a:t>
                </a:r>
              </a:p>
              <a:p>
                <a:pPr algn="just" eaLnBrk="1" hangingPunct="1">
                  <a:spcBef>
                    <a:spcPct val="20000"/>
                  </a:spcBef>
                </a:pP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3</a:t>
                </a: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b=11</a:t>
                </a:r>
              </a:p>
              <a:p>
                <a:pPr algn="just" eaLnBrk="1" hangingPunct="1">
                  <a:spcBef>
                    <a:spcPct val="20000"/>
                  </a:spcBef>
                </a:pP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4</a:t>
                </a: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c=14</a:t>
                </a:r>
              </a:p>
            </p:txBody>
          </p:sp>
        </p:grpSp>
        <p:sp>
          <p:nvSpPr>
            <p:cNvPr id="14348" name="Text Box 14"/>
            <p:cNvSpPr txBox="1">
              <a:spLocks noChangeArrowheads="1"/>
            </p:cNvSpPr>
            <p:nvPr/>
          </p:nvSpPr>
          <p:spPr bwMode="auto">
            <a:xfrm>
              <a:off x="3312" y="1440"/>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sz="2000" b="1">
                  <a:solidFill>
                    <a:srgbClr val="FF3300"/>
                  </a:solidFill>
                </a:rPr>
                <a:t>合并常量</a:t>
              </a:r>
            </a:p>
          </p:txBody>
        </p:sp>
      </p:grpSp>
      <p:grpSp>
        <p:nvGrpSpPr>
          <p:cNvPr id="5" name="Group 19"/>
          <p:cNvGrpSpPr>
            <a:grpSpLocks/>
          </p:cNvGrpSpPr>
          <p:nvPr/>
        </p:nvGrpSpPr>
        <p:grpSpPr bwMode="auto">
          <a:xfrm>
            <a:off x="1981200" y="1905000"/>
            <a:ext cx="3200400" cy="1905000"/>
            <a:chOff x="1248" y="1200"/>
            <a:chExt cx="2016" cy="1200"/>
          </a:xfrm>
        </p:grpSpPr>
        <p:grpSp>
          <p:nvGrpSpPr>
            <p:cNvPr id="14343" name="Group 16"/>
            <p:cNvGrpSpPr>
              <a:grpSpLocks/>
            </p:cNvGrpSpPr>
            <p:nvPr/>
          </p:nvGrpSpPr>
          <p:grpSpPr bwMode="auto">
            <a:xfrm>
              <a:off x="1248" y="1200"/>
              <a:ext cx="2016" cy="1200"/>
              <a:chOff x="1248" y="1200"/>
              <a:chExt cx="2016" cy="1200"/>
            </a:xfrm>
          </p:grpSpPr>
          <p:sp>
            <p:nvSpPr>
              <p:cNvPr id="14345" name="AutoShape 10"/>
              <p:cNvSpPr>
                <a:spLocks noChangeArrowheads="1"/>
              </p:cNvSpPr>
              <p:nvPr/>
            </p:nvSpPr>
            <p:spPr bwMode="auto">
              <a:xfrm>
                <a:off x="1248" y="1728"/>
                <a:ext cx="720" cy="144"/>
              </a:xfrm>
              <a:prstGeom prst="rightArrow">
                <a:avLst>
                  <a:gd name="adj1" fmla="val 50000"/>
                  <a:gd name="adj2" fmla="val 125000"/>
                </a:avLst>
              </a:prstGeom>
              <a:solidFill>
                <a:schemeClr val="accent2"/>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14346" name="Rectangle 11"/>
              <p:cNvSpPr>
                <a:spLocks noChangeArrowheads="1"/>
              </p:cNvSpPr>
              <p:nvPr/>
            </p:nvSpPr>
            <p:spPr bwMode="auto">
              <a:xfrm>
                <a:off x="2016" y="1200"/>
                <a:ext cx="1248" cy="12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20000"/>
                  </a:spcBef>
                </a:pPr>
                <a:r>
                  <a:rPr lang="zh-CN" altLang="en-US" sz="2000" b="1" dirty="0">
                    <a:ea typeface="宋体" panose="02010600030101010101" pitchFamily="2" charset="-122"/>
                  </a:rPr>
                  <a:t>（</a:t>
                </a:r>
                <a:r>
                  <a:rPr lang="en-US" altLang="zh-CN" sz="2000" b="1" dirty="0">
                    <a:latin typeface="楷体_GB2312" pitchFamily="49" charset="-122"/>
                    <a:ea typeface="宋体" panose="02010600030101010101" pitchFamily="2" charset="-122"/>
                  </a:rPr>
                  <a:t>1</a:t>
                </a:r>
                <a:r>
                  <a:rPr lang="zh-CN" altLang="en-US" sz="2000" b="1" dirty="0">
                    <a:ea typeface="宋体" panose="02010600030101010101" pitchFamily="2" charset="-122"/>
                  </a:rPr>
                  <a:t>）</a:t>
                </a:r>
                <a:r>
                  <a:rPr lang="en-US" altLang="zh-CN" sz="2000" b="1" dirty="0">
                    <a:latin typeface="楷体_GB2312" pitchFamily="49" charset="-122"/>
                    <a:ea typeface="宋体" panose="02010600030101010101" pitchFamily="2" charset="-122"/>
                  </a:rPr>
                  <a:t>x=1</a:t>
                </a:r>
              </a:p>
              <a:p>
                <a:pPr algn="l" eaLnBrk="1" hangingPunct="1">
                  <a:spcBef>
                    <a:spcPct val="20000"/>
                  </a:spcBef>
                </a:pPr>
                <a:r>
                  <a:rPr lang="zh-CN" altLang="en-US" sz="2000" b="1" dirty="0">
                    <a:solidFill>
                      <a:srgbClr val="FF3300"/>
                    </a:solidFill>
                    <a:ea typeface="宋体" panose="02010600030101010101" pitchFamily="2" charset="-122"/>
                  </a:rPr>
                  <a:t>（</a:t>
                </a:r>
                <a:r>
                  <a:rPr lang="en-US" altLang="zh-CN" sz="2000" b="1" dirty="0">
                    <a:solidFill>
                      <a:srgbClr val="FF3300"/>
                    </a:solidFill>
                    <a:latin typeface="楷体_GB2312" pitchFamily="49" charset="-122"/>
                    <a:ea typeface="宋体" panose="02010600030101010101" pitchFamily="2" charset="-122"/>
                  </a:rPr>
                  <a:t>2</a:t>
                </a:r>
                <a:r>
                  <a:rPr lang="zh-CN" altLang="en-US" sz="2000" b="1" dirty="0">
                    <a:solidFill>
                      <a:srgbClr val="FF3300"/>
                    </a:solidFill>
                    <a:ea typeface="宋体" panose="02010600030101010101" pitchFamily="2" charset="-122"/>
                  </a:rPr>
                  <a:t>）</a:t>
                </a:r>
                <a:r>
                  <a:rPr lang="en-US" altLang="zh-CN" sz="2000" b="1" dirty="0">
                    <a:solidFill>
                      <a:srgbClr val="FF3300"/>
                    </a:solidFill>
                    <a:latin typeface="楷体_GB2312" pitchFamily="49" charset="-122"/>
                    <a:ea typeface="宋体" panose="02010600030101010101" pitchFamily="2" charset="-122"/>
                  </a:rPr>
                  <a:t>T</a:t>
                </a:r>
                <a:r>
                  <a:rPr lang="en-US" altLang="zh-CN" sz="2000" b="1" baseline="-30000" dirty="0">
                    <a:solidFill>
                      <a:srgbClr val="FF3300"/>
                    </a:solidFill>
                    <a:latin typeface="楷体_GB2312" pitchFamily="49" charset="-122"/>
                    <a:ea typeface="宋体" panose="02010600030101010101" pitchFamily="2" charset="-122"/>
                  </a:rPr>
                  <a:t>1</a:t>
                </a:r>
                <a:r>
                  <a:rPr lang="en-US" altLang="zh-CN" sz="2000" b="1" dirty="0">
                    <a:solidFill>
                      <a:srgbClr val="FF3300"/>
                    </a:solidFill>
                    <a:latin typeface="楷体_GB2312" pitchFamily="49" charset="-122"/>
                    <a:ea typeface="宋体" panose="02010600030101010101" pitchFamily="2" charset="-122"/>
                  </a:rPr>
                  <a:t>=2*x</a:t>
                </a:r>
              </a:p>
              <a:p>
                <a:pPr algn="l" eaLnBrk="1" hangingPunct="1">
                  <a:spcBef>
                    <a:spcPct val="20000"/>
                  </a:spcBef>
                </a:pPr>
                <a:r>
                  <a:rPr lang="zh-CN" altLang="en-US" sz="2000" b="1" dirty="0">
                    <a:solidFill>
                      <a:srgbClr val="FF3300"/>
                    </a:solidFill>
                    <a:ea typeface="宋体" panose="02010600030101010101" pitchFamily="2" charset="-122"/>
                  </a:rPr>
                  <a:t>（</a:t>
                </a:r>
                <a:r>
                  <a:rPr lang="en-US" altLang="zh-CN" sz="2000" b="1" dirty="0">
                    <a:solidFill>
                      <a:srgbClr val="FF3300"/>
                    </a:solidFill>
                    <a:latin typeface="楷体_GB2312" pitchFamily="49" charset="-122"/>
                    <a:ea typeface="宋体" panose="02010600030101010101" pitchFamily="2" charset="-122"/>
                  </a:rPr>
                  <a:t>3</a:t>
                </a:r>
                <a:r>
                  <a:rPr lang="zh-CN" altLang="en-US" sz="2000" b="1" dirty="0">
                    <a:solidFill>
                      <a:srgbClr val="FF3300"/>
                    </a:solidFill>
                    <a:ea typeface="宋体" panose="02010600030101010101" pitchFamily="2" charset="-122"/>
                  </a:rPr>
                  <a:t>）</a:t>
                </a:r>
                <a:r>
                  <a:rPr lang="en-US" altLang="zh-CN" sz="2000" b="1" dirty="0">
                    <a:solidFill>
                      <a:srgbClr val="FF3300"/>
                    </a:solidFill>
                    <a:latin typeface="楷体_GB2312" pitchFamily="49" charset="-122"/>
                    <a:ea typeface="宋体" panose="02010600030101010101" pitchFamily="2" charset="-122"/>
                  </a:rPr>
                  <a:t>a= T</a:t>
                </a:r>
                <a:r>
                  <a:rPr lang="en-US" altLang="zh-CN" sz="2000" b="1" baseline="-30000" dirty="0">
                    <a:solidFill>
                      <a:srgbClr val="FF3300"/>
                    </a:solidFill>
                    <a:latin typeface="楷体_GB2312" pitchFamily="49" charset="-122"/>
                    <a:ea typeface="宋体" panose="02010600030101010101" pitchFamily="2" charset="-122"/>
                  </a:rPr>
                  <a:t>1</a:t>
                </a:r>
                <a:r>
                  <a:rPr lang="en-US" altLang="zh-CN" sz="2000" b="1" dirty="0">
                    <a:solidFill>
                      <a:srgbClr val="FF3300"/>
                    </a:solidFill>
                    <a:latin typeface="楷体_GB2312" pitchFamily="49" charset="-122"/>
                    <a:ea typeface="宋体" panose="02010600030101010101" pitchFamily="2" charset="-122"/>
                  </a:rPr>
                  <a:t>+1</a:t>
                </a:r>
              </a:p>
              <a:p>
                <a:pPr algn="l" eaLnBrk="1" hangingPunct="1">
                  <a:spcBef>
                    <a:spcPct val="20000"/>
                  </a:spcBef>
                </a:pPr>
                <a:r>
                  <a:rPr lang="zh-CN" altLang="en-US" sz="2000" b="1" dirty="0">
                    <a:ea typeface="宋体" panose="02010600030101010101" pitchFamily="2" charset="-122"/>
                  </a:rPr>
                  <a:t>（</a:t>
                </a:r>
                <a:r>
                  <a:rPr lang="en-US" altLang="zh-CN" sz="2000" b="1" dirty="0">
                    <a:latin typeface="楷体_GB2312" pitchFamily="49" charset="-122"/>
                    <a:ea typeface="宋体" panose="02010600030101010101" pitchFamily="2" charset="-122"/>
                  </a:rPr>
                  <a:t>4</a:t>
                </a:r>
                <a:r>
                  <a:rPr lang="zh-CN" altLang="en-US" sz="2000" b="1" dirty="0">
                    <a:ea typeface="宋体" panose="02010600030101010101" pitchFamily="2" charset="-122"/>
                  </a:rPr>
                  <a:t>）</a:t>
                </a:r>
                <a:r>
                  <a:rPr lang="en-US" altLang="zh-CN" sz="2000" b="1" dirty="0">
                    <a:latin typeface="楷体_GB2312" pitchFamily="49" charset="-122"/>
                    <a:ea typeface="宋体" panose="02010600030101010101" pitchFamily="2" charset="-122"/>
                  </a:rPr>
                  <a:t>b=x+10</a:t>
                </a:r>
              </a:p>
              <a:p>
                <a:pPr algn="l" eaLnBrk="1" hangingPunct="1">
                  <a:spcBef>
                    <a:spcPct val="20000"/>
                  </a:spcBef>
                </a:pPr>
                <a:r>
                  <a:rPr lang="zh-CN" altLang="en-US" sz="2000" b="1" dirty="0">
                    <a:ea typeface="宋体" panose="02010600030101010101" pitchFamily="2" charset="-122"/>
                  </a:rPr>
                  <a:t>（</a:t>
                </a:r>
                <a:r>
                  <a:rPr lang="en-US" altLang="zh-CN" sz="2000" b="1" dirty="0">
                    <a:latin typeface="楷体_GB2312" pitchFamily="49" charset="-122"/>
                    <a:ea typeface="宋体" panose="02010600030101010101" pitchFamily="2" charset="-122"/>
                  </a:rPr>
                  <a:t>5</a:t>
                </a:r>
                <a:r>
                  <a:rPr lang="zh-CN" altLang="en-US" sz="2000" b="1" dirty="0">
                    <a:ea typeface="宋体" panose="02010600030101010101" pitchFamily="2" charset="-122"/>
                  </a:rPr>
                  <a:t>）</a:t>
                </a:r>
                <a:r>
                  <a:rPr lang="en-US" altLang="zh-CN" sz="2000" b="1" dirty="0">
                    <a:latin typeface="楷体_GB2312" pitchFamily="49" charset="-122"/>
                    <a:ea typeface="宋体" panose="02010600030101010101" pitchFamily="2" charset="-122"/>
                  </a:rPr>
                  <a:t>c=</a:t>
                </a:r>
                <a:r>
                  <a:rPr lang="en-US" altLang="zh-CN" sz="2000" b="1" dirty="0" err="1">
                    <a:latin typeface="楷体_GB2312" pitchFamily="49" charset="-122"/>
                    <a:ea typeface="宋体" panose="02010600030101010101" pitchFamily="2" charset="-122"/>
                  </a:rPr>
                  <a:t>a+b</a:t>
                </a:r>
                <a:endParaRPr lang="en-US" altLang="zh-CN" sz="2000" b="1" dirty="0">
                  <a:latin typeface="楷体_GB2312" pitchFamily="49" charset="-122"/>
                  <a:ea typeface="宋体" panose="02010600030101010101" pitchFamily="2" charset="-122"/>
                </a:endParaRPr>
              </a:p>
            </p:txBody>
          </p:sp>
        </p:grpSp>
        <p:sp>
          <p:nvSpPr>
            <p:cNvPr id="14344" name="Text Box 15"/>
            <p:cNvSpPr txBox="1">
              <a:spLocks noChangeArrowheads="1"/>
            </p:cNvSpPr>
            <p:nvPr/>
          </p:nvSpPr>
          <p:spPr bwMode="auto">
            <a:xfrm>
              <a:off x="1296" y="1488"/>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sz="2000" b="1">
                  <a:solidFill>
                    <a:srgbClr val="FF3300"/>
                  </a:solidFill>
                </a:rPr>
                <a:t>四元式</a:t>
              </a:r>
            </a:p>
          </p:txBody>
        </p:sp>
      </p:grpSp>
      <p:sp>
        <p:nvSpPr>
          <p:cNvPr id="4" name="灯片编号占位符 3">
            <a:extLst>
              <a:ext uri="{FF2B5EF4-FFF2-40B4-BE49-F238E27FC236}">
                <a16:creationId xmlns:a16="http://schemas.microsoft.com/office/drawing/2014/main" id="{57955135-3C47-4140-8FEB-51056529341B}"/>
              </a:ext>
            </a:extLst>
          </p:cNvPr>
          <p:cNvSpPr>
            <a:spLocks noGrp="1"/>
          </p:cNvSpPr>
          <p:nvPr>
            <p:ph type="sldNum" sz="quarter" idx="12"/>
          </p:nvPr>
        </p:nvSpPr>
        <p:spPr/>
        <p:txBody>
          <a:bodyPr/>
          <a:lstStyle/>
          <a:p>
            <a:fld id="{565CE74E-AB26-4998-AD42-012C4C1AD076}" type="slidenum">
              <a:rPr lang="zh-CN" altLang="en-US" smtClean="0"/>
              <a:t>80</a:t>
            </a:fld>
            <a:endParaRPr lang="zh-CN" altLang="en-US"/>
          </a:p>
        </p:txBody>
      </p:sp>
    </p:spTree>
    <p:extLst>
      <p:ext uri="{BB962C8B-B14F-4D97-AF65-F5344CB8AC3E}">
        <p14:creationId xmlns:p14="http://schemas.microsoft.com/office/powerpoint/2010/main" val="12208877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6617"/>
                                        </p:tgtEl>
                                        <p:attrNameLst>
                                          <p:attrName>style.visibility</p:attrName>
                                        </p:attrNameLst>
                                      </p:cBhvr>
                                      <p:to>
                                        <p:strVal val="visible"/>
                                      </p:to>
                                    </p:set>
                                    <p:anim calcmode="lin" valueType="num">
                                      <p:cBhvr additive="base">
                                        <p:cTn id="13" dur="500" fill="hold"/>
                                        <p:tgtEl>
                                          <p:spTgt spid="196617"/>
                                        </p:tgtEl>
                                        <p:attrNameLst>
                                          <p:attrName>ppt_x</p:attrName>
                                        </p:attrNameLst>
                                      </p:cBhvr>
                                      <p:tavLst>
                                        <p:tav tm="0">
                                          <p:val>
                                            <p:strVal val="0-#ppt_w/2"/>
                                          </p:val>
                                        </p:tav>
                                        <p:tav tm="100000">
                                          <p:val>
                                            <p:strVal val="#ppt_x"/>
                                          </p:val>
                                        </p:tav>
                                      </p:tavLst>
                                    </p:anim>
                                    <p:anim calcmode="lin" valueType="num">
                                      <p:cBhvr additive="base">
                                        <p:cTn id="14" dur="500" fill="hold"/>
                                        <p:tgtEl>
                                          <p:spTgt spid="19661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0-#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7" grpId="0" animBg="1"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AutoShape 2"/>
          <p:cNvSpPr>
            <a:spLocks noChangeArrowheads="1"/>
          </p:cNvSpPr>
          <p:nvPr/>
        </p:nvSpPr>
        <p:spPr bwMode="auto">
          <a:xfrm>
            <a:off x="0" y="0"/>
            <a:ext cx="3810000" cy="609600"/>
          </a:xfrm>
          <a:prstGeom prst="roundRect">
            <a:avLst>
              <a:gd name="adj" fmla="val 16667"/>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800" b="1">
                <a:latin typeface="楷体_GB2312" pitchFamily="49" charset="-122"/>
              </a:rPr>
              <a:t>基本块内的优化方法</a:t>
            </a:r>
          </a:p>
        </p:txBody>
      </p:sp>
      <p:grpSp>
        <p:nvGrpSpPr>
          <p:cNvPr id="15363" name="Group 3"/>
          <p:cNvGrpSpPr>
            <a:grpSpLocks/>
          </p:cNvGrpSpPr>
          <p:nvPr/>
        </p:nvGrpSpPr>
        <p:grpSpPr bwMode="auto">
          <a:xfrm>
            <a:off x="457200" y="990600"/>
            <a:ext cx="7696200" cy="457200"/>
            <a:chOff x="528" y="3216"/>
            <a:chExt cx="4505" cy="288"/>
          </a:xfrm>
        </p:grpSpPr>
        <p:sp>
          <p:nvSpPr>
            <p:cNvPr id="197636" name="AutoShape 4"/>
            <p:cNvSpPr>
              <a:spLocks noChangeArrowheads="1"/>
            </p:cNvSpPr>
            <p:nvPr/>
          </p:nvSpPr>
          <p:spPr bwMode="auto">
            <a:xfrm>
              <a:off x="528" y="3264"/>
              <a:ext cx="187" cy="173"/>
            </a:xfrm>
            <a:prstGeom prst="star5">
              <a:avLst/>
            </a:prstGeom>
            <a:solidFill>
              <a:srgbClr val="FF3300"/>
            </a:solidFill>
            <a:ln w="12700">
              <a:solidFill>
                <a:srgbClr val="0037E8"/>
              </a:solidFill>
              <a:miter lim="800000"/>
              <a:headEnd/>
              <a:tailEnd/>
            </a:ln>
            <a:effectLst/>
          </p:spPr>
          <p:txBody>
            <a:bodyPr wrap="none" anchor="ctr"/>
            <a:lstStyle/>
            <a:p>
              <a:pPr>
                <a:defRPr/>
              </a:pPr>
              <a:endParaRPr lang="zh-CN" altLang="en-US"/>
            </a:p>
          </p:txBody>
        </p:sp>
        <p:sp>
          <p:nvSpPr>
            <p:cNvPr id="15373" name="Text Box 5"/>
            <p:cNvSpPr txBox="1">
              <a:spLocks noChangeArrowheads="1"/>
            </p:cNvSpPr>
            <p:nvPr/>
          </p:nvSpPr>
          <p:spPr bwMode="auto">
            <a:xfrm>
              <a:off x="768" y="3216"/>
              <a:ext cx="4265" cy="28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a:r>
                <a:rPr lang="en-US" altLang="zh-CN" b="1" dirty="0">
                  <a:solidFill>
                    <a:srgbClr val="FF3300"/>
                  </a:solidFill>
                  <a:latin typeface="楷体_GB2312" pitchFamily="49" charset="-122"/>
                </a:rPr>
                <a:t>2</a:t>
              </a:r>
              <a:r>
                <a:rPr lang="zh-CN" altLang="en-US" b="1" dirty="0">
                  <a:solidFill>
                    <a:srgbClr val="FF3300"/>
                  </a:solidFill>
                  <a:latin typeface="楷体_GB2312" pitchFamily="49" charset="-122"/>
                </a:rPr>
                <a:t>．删除公共子表达式</a:t>
              </a:r>
              <a:r>
                <a:rPr lang="zh-CN" altLang="en-US" sz="2000" b="1" dirty="0">
                  <a:solidFill>
                    <a:srgbClr val="FF3300"/>
                  </a:solidFill>
                  <a:latin typeface="楷体_GB2312" pitchFamily="49" charset="-122"/>
                </a:rPr>
                <a:t> </a:t>
              </a:r>
            </a:p>
          </p:txBody>
        </p:sp>
      </p:grpSp>
      <p:sp>
        <p:nvSpPr>
          <p:cNvPr id="15364" name="Rectangle 6"/>
          <p:cNvSpPr>
            <a:spLocks noChangeArrowheads="1"/>
          </p:cNvSpPr>
          <p:nvPr/>
        </p:nvSpPr>
        <p:spPr bwMode="auto">
          <a:xfrm>
            <a:off x="228600" y="1981200"/>
            <a:ext cx="1752600" cy="19050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just" eaLnBrk="1" hangingPunct="1">
              <a:spcBef>
                <a:spcPct val="20000"/>
              </a:spcBef>
            </a:pPr>
            <a:r>
              <a:rPr lang="en-US" altLang="zh-CN" b="1">
                <a:latin typeface="楷体_GB2312" pitchFamily="49" charset="-122"/>
                <a:ea typeface="宋体" panose="02010600030101010101" pitchFamily="2" charset="-122"/>
              </a:rPr>
              <a:t>x=a*b+c</a:t>
            </a:r>
          </a:p>
          <a:p>
            <a:pPr algn="just" eaLnBrk="1" hangingPunct="1">
              <a:spcBef>
                <a:spcPct val="20000"/>
              </a:spcBef>
            </a:pPr>
            <a:r>
              <a:rPr lang="en-US" altLang="zh-CN" b="1">
                <a:latin typeface="楷体_GB2312" pitchFamily="49" charset="-122"/>
                <a:ea typeface="宋体" panose="02010600030101010101" pitchFamily="2" charset="-122"/>
              </a:rPr>
              <a:t>y=a*b+x</a:t>
            </a:r>
          </a:p>
          <a:p>
            <a:pPr algn="just" eaLnBrk="1" hangingPunct="1">
              <a:spcBef>
                <a:spcPct val="20000"/>
              </a:spcBef>
            </a:pPr>
            <a:r>
              <a:rPr lang="en-US" altLang="zh-CN" b="1">
                <a:latin typeface="楷体_GB2312" pitchFamily="49" charset="-122"/>
                <a:ea typeface="宋体" panose="02010600030101010101" pitchFamily="2" charset="-122"/>
              </a:rPr>
              <a:t>z=a*b+y</a:t>
            </a:r>
          </a:p>
        </p:txBody>
      </p:sp>
      <p:grpSp>
        <p:nvGrpSpPr>
          <p:cNvPr id="15365" name="Group 8"/>
          <p:cNvGrpSpPr>
            <a:grpSpLocks/>
          </p:cNvGrpSpPr>
          <p:nvPr/>
        </p:nvGrpSpPr>
        <p:grpSpPr bwMode="auto">
          <a:xfrm>
            <a:off x="5257800" y="1905000"/>
            <a:ext cx="3276600" cy="1905000"/>
            <a:chOff x="3312" y="1200"/>
            <a:chExt cx="2064" cy="1200"/>
          </a:xfrm>
        </p:grpSpPr>
        <p:sp>
          <p:nvSpPr>
            <p:cNvPr id="15370" name="AutoShape 9"/>
            <p:cNvSpPr>
              <a:spLocks noChangeArrowheads="1"/>
            </p:cNvSpPr>
            <p:nvPr/>
          </p:nvSpPr>
          <p:spPr bwMode="auto">
            <a:xfrm>
              <a:off x="3312" y="1728"/>
              <a:ext cx="720" cy="144"/>
            </a:xfrm>
            <a:prstGeom prst="rightArrow">
              <a:avLst>
                <a:gd name="adj1" fmla="val 50000"/>
                <a:gd name="adj2" fmla="val 125000"/>
              </a:avLst>
            </a:prstGeom>
            <a:solidFill>
              <a:schemeClr val="accent2"/>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15371" name="Rectangle 10"/>
            <p:cNvSpPr>
              <a:spLocks noChangeArrowheads="1"/>
            </p:cNvSpPr>
            <p:nvPr/>
          </p:nvSpPr>
          <p:spPr bwMode="auto">
            <a:xfrm>
              <a:off x="4080" y="1200"/>
              <a:ext cx="1296" cy="12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just" eaLnBrk="1" hangingPunct="1">
                <a:spcBef>
                  <a:spcPct val="20000"/>
                </a:spcBef>
              </a:pP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1</a:t>
              </a: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T</a:t>
              </a:r>
              <a:r>
                <a:rPr lang="en-US" altLang="zh-CN" sz="2000" b="1" baseline="-30000">
                  <a:latin typeface="楷体_GB2312" pitchFamily="49" charset="-122"/>
                  <a:ea typeface="宋体" panose="02010600030101010101" pitchFamily="2" charset="-122"/>
                </a:rPr>
                <a:t>1</a:t>
              </a:r>
              <a:r>
                <a:rPr lang="en-US" altLang="zh-CN" sz="2000" b="1">
                  <a:latin typeface="楷体_GB2312" pitchFamily="49" charset="-122"/>
                  <a:ea typeface="宋体" panose="02010600030101010101" pitchFamily="2" charset="-122"/>
                </a:rPr>
                <a:t>= a*b</a:t>
              </a:r>
            </a:p>
            <a:p>
              <a:pPr algn="just" eaLnBrk="1" hangingPunct="1">
                <a:spcBef>
                  <a:spcPct val="20000"/>
                </a:spcBef>
              </a:pP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2</a:t>
              </a: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x= T</a:t>
              </a:r>
              <a:r>
                <a:rPr lang="en-US" altLang="zh-CN" sz="2000" b="1" baseline="-30000">
                  <a:latin typeface="楷体_GB2312" pitchFamily="49" charset="-122"/>
                  <a:ea typeface="宋体" panose="02010600030101010101" pitchFamily="2" charset="-122"/>
                </a:rPr>
                <a:t>1</a:t>
              </a:r>
              <a:r>
                <a:rPr lang="en-US" altLang="zh-CN" sz="2000" b="1">
                  <a:latin typeface="楷体_GB2312" pitchFamily="49" charset="-122"/>
                  <a:ea typeface="宋体" panose="02010600030101010101" pitchFamily="2" charset="-122"/>
                </a:rPr>
                <a:t>+c</a:t>
              </a:r>
            </a:p>
            <a:p>
              <a:pPr algn="just" eaLnBrk="1" hangingPunct="1">
                <a:spcBef>
                  <a:spcPct val="20000"/>
                </a:spcBef>
              </a:pP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3</a:t>
              </a: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y= T</a:t>
              </a:r>
              <a:r>
                <a:rPr lang="en-US" altLang="zh-CN" sz="2000" b="1" baseline="-30000">
                  <a:latin typeface="楷体_GB2312" pitchFamily="49" charset="-122"/>
                  <a:ea typeface="宋体" panose="02010600030101010101" pitchFamily="2" charset="-122"/>
                </a:rPr>
                <a:t>1</a:t>
              </a:r>
              <a:r>
                <a:rPr lang="en-US" altLang="zh-CN" sz="2000" b="1">
                  <a:latin typeface="楷体_GB2312" pitchFamily="49" charset="-122"/>
                  <a:ea typeface="宋体" panose="02010600030101010101" pitchFamily="2" charset="-122"/>
                </a:rPr>
                <a:t>+x</a:t>
              </a:r>
            </a:p>
            <a:p>
              <a:pPr algn="just" eaLnBrk="1" hangingPunct="1">
                <a:spcBef>
                  <a:spcPct val="20000"/>
                </a:spcBef>
              </a:pP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4</a:t>
              </a: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z=T</a:t>
              </a:r>
              <a:r>
                <a:rPr lang="en-US" altLang="zh-CN" sz="2000" b="1" baseline="-30000">
                  <a:latin typeface="楷体_GB2312" pitchFamily="49" charset="-122"/>
                  <a:ea typeface="宋体" panose="02010600030101010101" pitchFamily="2" charset="-122"/>
                </a:rPr>
                <a:t>1</a:t>
              </a:r>
              <a:r>
                <a:rPr lang="en-US" altLang="zh-CN" sz="2000" b="1">
                  <a:latin typeface="楷体_GB2312" pitchFamily="49" charset="-122"/>
                  <a:ea typeface="宋体" panose="02010600030101010101" pitchFamily="2" charset="-122"/>
                </a:rPr>
                <a:t>+y</a:t>
              </a:r>
            </a:p>
          </p:txBody>
        </p:sp>
      </p:grpSp>
      <p:sp>
        <p:nvSpPr>
          <p:cNvPr id="15366" name="Text Box 11"/>
          <p:cNvSpPr txBox="1">
            <a:spLocks noChangeArrowheads="1"/>
          </p:cNvSpPr>
          <p:nvPr/>
        </p:nvSpPr>
        <p:spPr bwMode="auto">
          <a:xfrm>
            <a:off x="5257800" y="2041525"/>
            <a:ext cx="1219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sz="2000" b="1">
                <a:solidFill>
                  <a:srgbClr val="FF3300"/>
                </a:solidFill>
                <a:latin typeface="楷体_GB2312" pitchFamily="49" charset="-122"/>
              </a:rPr>
              <a:t>删除公共子表达式</a:t>
            </a:r>
          </a:p>
        </p:txBody>
      </p:sp>
      <p:sp>
        <p:nvSpPr>
          <p:cNvPr id="15367" name="AutoShape 14"/>
          <p:cNvSpPr>
            <a:spLocks noChangeArrowheads="1"/>
          </p:cNvSpPr>
          <p:nvPr/>
        </p:nvSpPr>
        <p:spPr bwMode="auto">
          <a:xfrm>
            <a:off x="1981200" y="2743200"/>
            <a:ext cx="1143000" cy="228600"/>
          </a:xfrm>
          <a:prstGeom prst="rightArrow">
            <a:avLst>
              <a:gd name="adj1" fmla="val 50000"/>
              <a:gd name="adj2" fmla="val 125000"/>
            </a:avLst>
          </a:prstGeom>
          <a:solidFill>
            <a:schemeClr val="accent2"/>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15368" name="Rectangle 15"/>
          <p:cNvSpPr>
            <a:spLocks noChangeArrowheads="1"/>
          </p:cNvSpPr>
          <p:nvPr/>
        </p:nvSpPr>
        <p:spPr bwMode="auto">
          <a:xfrm>
            <a:off x="3200400" y="1905000"/>
            <a:ext cx="1981200" cy="23622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just" eaLnBrk="1" hangingPunct="1">
              <a:spcBef>
                <a:spcPct val="20000"/>
              </a:spcBef>
            </a:pP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1</a:t>
            </a:r>
            <a:r>
              <a:rPr lang="zh-CN" altLang="en-US" sz="2000" b="1">
                <a:ea typeface="宋体" panose="02010600030101010101" pitchFamily="2" charset="-122"/>
              </a:rPr>
              <a:t>）</a:t>
            </a:r>
            <a:r>
              <a:rPr lang="en-US" altLang="zh-CN" sz="2000" b="1">
                <a:solidFill>
                  <a:srgbClr val="FF3300"/>
                </a:solidFill>
                <a:latin typeface="楷体_GB2312" pitchFamily="49" charset="-122"/>
                <a:ea typeface="宋体" panose="02010600030101010101" pitchFamily="2" charset="-122"/>
              </a:rPr>
              <a:t>T</a:t>
            </a:r>
            <a:r>
              <a:rPr lang="en-US" altLang="zh-CN" sz="2000" b="1" baseline="-30000">
                <a:solidFill>
                  <a:srgbClr val="FF3300"/>
                </a:solidFill>
                <a:latin typeface="楷体_GB2312" pitchFamily="49" charset="-122"/>
                <a:ea typeface="宋体" panose="02010600030101010101" pitchFamily="2" charset="-122"/>
              </a:rPr>
              <a:t>1</a:t>
            </a:r>
            <a:r>
              <a:rPr lang="en-US" altLang="zh-CN" sz="2000" b="1">
                <a:solidFill>
                  <a:srgbClr val="FF3300"/>
                </a:solidFill>
                <a:latin typeface="楷体_GB2312" pitchFamily="49" charset="-122"/>
                <a:ea typeface="宋体" panose="02010600030101010101" pitchFamily="2" charset="-122"/>
              </a:rPr>
              <a:t>= a*b</a:t>
            </a:r>
          </a:p>
          <a:p>
            <a:pPr algn="just" eaLnBrk="1" hangingPunct="1">
              <a:spcBef>
                <a:spcPct val="20000"/>
              </a:spcBef>
            </a:pP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2</a:t>
            </a: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x=T</a:t>
            </a:r>
            <a:r>
              <a:rPr lang="en-US" altLang="zh-CN" sz="2000" b="1" baseline="-30000">
                <a:latin typeface="楷体_GB2312" pitchFamily="49" charset="-122"/>
                <a:ea typeface="宋体" panose="02010600030101010101" pitchFamily="2" charset="-122"/>
              </a:rPr>
              <a:t>1</a:t>
            </a:r>
            <a:r>
              <a:rPr lang="en-US" altLang="zh-CN" sz="2000" b="1">
                <a:latin typeface="楷体_GB2312" pitchFamily="49" charset="-122"/>
                <a:ea typeface="宋体" panose="02010600030101010101" pitchFamily="2" charset="-122"/>
              </a:rPr>
              <a:t>+c</a:t>
            </a:r>
          </a:p>
          <a:p>
            <a:pPr algn="just" eaLnBrk="1" hangingPunct="1">
              <a:spcBef>
                <a:spcPct val="20000"/>
              </a:spcBef>
            </a:pPr>
            <a:r>
              <a:rPr lang="zh-CN" altLang="en-US" sz="2000" b="1">
                <a:solidFill>
                  <a:srgbClr val="FF3300"/>
                </a:solidFill>
                <a:ea typeface="宋体" panose="02010600030101010101" pitchFamily="2" charset="-122"/>
              </a:rPr>
              <a:t>（</a:t>
            </a:r>
            <a:r>
              <a:rPr lang="en-US" altLang="zh-CN" sz="2000" b="1">
                <a:solidFill>
                  <a:srgbClr val="FF3300"/>
                </a:solidFill>
                <a:latin typeface="楷体_GB2312" pitchFamily="49" charset="-122"/>
                <a:ea typeface="宋体" panose="02010600030101010101" pitchFamily="2" charset="-122"/>
              </a:rPr>
              <a:t>3</a:t>
            </a:r>
            <a:r>
              <a:rPr lang="zh-CN" altLang="en-US" sz="2000" b="1">
                <a:solidFill>
                  <a:srgbClr val="FF3300"/>
                </a:solidFill>
                <a:ea typeface="宋体" panose="02010600030101010101" pitchFamily="2" charset="-122"/>
              </a:rPr>
              <a:t>）</a:t>
            </a:r>
            <a:r>
              <a:rPr lang="en-US" altLang="zh-CN" sz="2000" b="1">
                <a:solidFill>
                  <a:srgbClr val="FF3300"/>
                </a:solidFill>
                <a:latin typeface="楷体_GB2312" pitchFamily="49" charset="-122"/>
                <a:ea typeface="宋体" panose="02010600030101010101" pitchFamily="2" charset="-122"/>
              </a:rPr>
              <a:t>T</a:t>
            </a:r>
            <a:r>
              <a:rPr lang="en-US" altLang="zh-CN" sz="2000" b="1" baseline="-30000">
                <a:solidFill>
                  <a:srgbClr val="FF3300"/>
                </a:solidFill>
                <a:latin typeface="楷体_GB2312" pitchFamily="49" charset="-122"/>
                <a:ea typeface="宋体" panose="02010600030101010101" pitchFamily="2" charset="-122"/>
              </a:rPr>
              <a:t>2</a:t>
            </a:r>
            <a:r>
              <a:rPr lang="en-US" altLang="zh-CN" sz="2000" b="1">
                <a:solidFill>
                  <a:srgbClr val="FF3300"/>
                </a:solidFill>
                <a:latin typeface="楷体_GB2312" pitchFamily="49" charset="-122"/>
                <a:ea typeface="宋体" panose="02010600030101010101" pitchFamily="2" charset="-122"/>
              </a:rPr>
              <a:t>= a*b</a:t>
            </a:r>
          </a:p>
          <a:p>
            <a:pPr algn="just" eaLnBrk="1" hangingPunct="1">
              <a:spcBef>
                <a:spcPct val="20000"/>
              </a:spcBef>
            </a:pP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4</a:t>
            </a: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y=T</a:t>
            </a:r>
            <a:r>
              <a:rPr lang="en-US" altLang="zh-CN" sz="2000" b="1" baseline="-30000">
                <a:latin typeface="楷体_GB2312" pitchFamily="49" charset="-122"/>
                <a:ea typeface="宋体" panose="02010600030101010101" pitchFamily="2" charset="-122"/>
              </a:rPr>
              <a:t>2</a:t>
            </a:r>
            <a:r>
              <a:rPr lang="en-US" altLang="zh-CN" sz="2000" b="1">
                <a:latin typeface="楷体_GB2312" pitchFamily="49" charset="-122"/>
                <a:ea typeface="宋体" panose="02010600030101010101" pitchFamily="2" charset="-122"/>
              </a:rPr>
              <a:t>+x</a:t>
            </a:r>
          </a:p>
          <a:p>
            <a:pPr algn="just" eaLnBrk="1" hangingPunct="1">
              <a:spcBef>
                <a:spcPct val="20000"/>
              </a:spcBef>
            </a:pPr>
            <a:r>
              <a:rPr lang="zh-CN" altLang="en-US" sz="2000" b="1">
                <a:solidFill>
                  <a:srgbClr val="FF3300"/>
                </a:solidFill>
                <a:ea typeface="宋体" panose="02010600030101010101" pitchFamily="2" charset="-122"/>
              </a:rPr>
              <a:t>（</a:t>
            </a:r>
            <a:r>
              <a:rPr lang="en-US" altLang="zh-CN" sz="2000" b="1">
                <a:solidFill>
                  <a:srgbClr val="FF3300"/>
                </a:solidFill>
                <a:latin typeface="楷体_GB2312" pitchFamily="49" charset="-122"/>
                <a:ea typeface="宋体" panose="02010600030101010101" pitchFamily="2" charset="-122"/>
              </a:rPr>
              <a:t>5</a:t>
            </a:r>
            <a:r>
              <a:rPr lang="zh-CN" altLang="en-US" sz="2000" b="1">
                <a:solidFill>
                  <a:srgbClr val="FF3300"/>
                </a:solidFill>
                <a:ea typeface="宋体" panose="02010600030101010101" pitchFamily="2" charset="-122"/>
              </a:rPr>
              <a:t>）</a:t>
            </a:r>
            <a:r>
              <a:rPr lang="en-US" altLang="zh-CN" sz="2000" b="1">
                <a:solidFill>
                  <a:srgbClr val="FF3300"/>
                </a:solidFill>
                <a:latin typeface="楷体_GB2312" pitchFamily="49" charset="-122"/>
                <a:ea typeface="宋体" panose="02010600030101010101" pitchFamily="2" charset="-122"/>
              </a:rPr>
              <a:t>T</a:t>
            </a:r>
            <a:r>
              <a:rPr lang="en-US" altLang="zh-CN" sz="2000" b="1" baseline="-30000">
                <a:solidFill>
                  <a:srgbClr val="FF3300"/>
                </a:solidFill>
                <a:latin typeface="楷体_GB2312" pitchFamily="49" charset="-122"/>
                <a:ea typeface="宋体" panose="02010600030101010101" pitchFamily="2" charset="-122"/>
              </a:rPr>
              <a:t>3</a:t>
            </a:r>
            <a:r>
              <a:rPr lang="en-US" altLang="zh-CN" sz="2000" b="1">
                <a:solidFill>
                  <a:srgbClr val="FF3300"/>
                </a:solidFill>
                <a:latin typeface="楷体_GB2312" pitchFamily="49" charset="-122"/>
                <a:ea typeface="宋体" panose="02010600030101010101" pitchFamily="2" charset="-122"/>
              </a:rPr>
              <a:t>= a*b</a:t>
            </a:r>
          </a:p>
          <a:p>
            <a:pPr algn="just" eaLnBrk="1" hangingPunct="1">
              <a:spcBef>
                <a:spcPct val="20000"/>
              </a:spcBef>
            </a:pP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6</a:t>
            </a: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z=T</a:t>
            </a:r>
            <a:r>
              <a:rPr lang="en-US" altLang="zh-CN" sz="2000" b="1" baseline="-30000">
                <a:latin typeface="楷体_GB2312" pitchFamily="49" charset="-122"/>
                <a:ea typeface="宋体" panose="02010600030101010101" pitchFamily="2" charset="-122"/>
              </a:rPr>
              <a:t>3</a:t>
            </a:r>
            <a:r>
              <a:rPr lang="en-US" altLang="zh-CN" sz="2000" b="1">
                <a:latin typeface="楷体_GB2312" pitchFamily="49" charset="-122"/>
                <a:ea typeface="宋体" panose="02010600030101010101" pitchFamily="2" charset="-122"/>
              </a:rPr>
              <a:t>+y</a:t>
            </a:r>
          </a:p>
        </p:txBody>
      </p:sp>
      <p:sp>
        <p:nvSpPr>
          <p:cNvPr id="15369" name="Text Box 16"/>
          <p:cNvSpPr txBox="1">
            <a:spLocks noChangeArrowheads="1"/>
          </p:cNvSpPr>
          <p:nvPr/>
        </p:nvSpPr>
        <p:spPr bwMode="auto">
          <a:xfrm>
            <a:off x="2057400" y="2362200"/>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sz="2000" b="1">
                <a:solidFill>
                  <a:srgbClr val="FF3300"/>
                </a:solidFill>
              </a:rPr>
              <a:t>四元式</a:t>
            </a:r>
          </a:p>
        </p:txBody>
      </p:sp>
      <p:sp>
        <p:nvSpPr>
          <p:cNvPr id="2" name="灯片编号占位符 1">
            <a:extLst>
              <a:ext uri="{FF2B5EF4-FFF2-40B4-BE49-F238E27FC236}">
                <a16:creationId xmlns:a16="http://schemas.microsoft.com/office/drawing/2014/main" id="{0CA546CC-A9CE-4F09-B6AA-98945834D17A}"/>
              </a:ext>
            </a:extLst>
          </p:cNvPr>
          <p:cNvSpPr>
            <a:spLocks noGrp="1"/>
          </p:cNvSpPr>
          <p:nvPr>
            <p:ph type="sldNum" sz="quarter" idx="12"/>
          </p:nvPr>
        </p:nvSpPr>
        <p:spPr/>
        <p:txBody>
          <a:bodyPr/>
          <a:lstStyle/>
          <a:p>
            <a:fld id="{565CE74E-AB26-4998-AD42-012C4C1AD076}" type="slidenum">
              <a:rPr lang="zh-CN" altLang="en-US" smtClean="0"/>
              <a:t>81</a:t>
            </a:fld>
            <a:endParaRPr lang="zh-CN" altLang="en-US"/>
          </a:p>
        </p:txBody>
      </p:sp>
    </p:spTree>
    <p:extLst>
      <p:ext uri="{BB962C8B-B14F-4D97-AF65-F5344CB8AC3E}">
        <p14:creationId xmlns:p14="http://schemas.microsoft.com/office/powerpoint/2010/main" val="21974229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AutoShape 2"/>
          <p:cNvSpPr>
            <a:spLocks noChangeArrowheads="1"/>
          </p:cNvSpPr>
          <p:nvPr/>
        </p:nvSpPr>
        <p:spPr bwMode="auto">
          <a:xfrm>
            <a:off x="0" y="0"/>
            <a:ext cx="3810000" cy="609600"/>
          </a:xfrm>
          <a:prstGeom prst="roundRect">
            <a:avLst>
              <a:gd name="adj" fmla="val 16667"/>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800" b="1">
                <a:latin typeface="楷体_GB2312" pitchFamily="49" charset="-122"/>
              </a:rPr>
              <a:t>基本块内的优化方法</a:t>
            </a:r>
          </a:p>
        </p:txBody>
      </p:sp>
      <p:grpSp>
        <p:nvGrpSpPr>
          <p:cNvPr id="16387" name="Group 3"/>
          <p:cNvGrpSpPr>
            <a:grpSpLocks/>
          </p:cNvGrpSpPr>
          <p:nvPr/>
        </p:nvGrpSpPr>
        <p:grpSpPr bwMode="auto">
          <a:xfrm>
            <a:off x="457200" y="990600"/>
            <a:ext cx="7696200" cy="457200"/>
            <a:chOff x="528" y="3216"/>
            <a:chExt cx="4505" cy="288"/>
          </a:xfrm>
        </p:grpSpPr>
        <p:sp>
          <p:nvSpPr>
            <p:cNvPr id="198660" name="AutoShape 4"/>
            <p:cNvSpPr>
              <a:spLocks noChangeArrowheads="1"/>
            </p:cNvSpPr>
            <p:nvPr/>
          </p:nvSpPr>
          <p:spPr bwMode="auto">
            <a:xfrm>
              <a:off x="528" y="3264"/>
              <a:ext cx="187" cy="173"/>
            </a:xfrm>
            <a:prstGeom prst="star5">
              <a:avLst/>
            </a:prstGeom>
            <a:solidFill>
              <a:srgbClr val="FF3300"/>
            </a:solidFill>
            <a:ln w="12700">
              <a:solidFill>
                <a:srgbClr val="0037E8"/>
              </a:solidFill>
              <a:miter lim="800000"/>
              <a:headEnd/>
              <a:tailEnd/>
            </a:ln>
            <a:effectLst/>
          </p:spPr>
          <p:txBody>
            <a:bodyPr wrap="none" anchor="ctr"/>
            <a:lstStyle/>
            <a:p>
              <a:pPr>
                <a:defRPr/>
              </a:pPr>
              <a:endParaRPr lang="zh-CN" altLang="en-US"/>
            </a:p>
          </p:txBody>
        </p:sp>
        <p:sp>
          <p:nvSpPr>
            <p:cNvPr id="16392" name="Text Box 5"/>
            <p:cNvSpPr txBox="1">
              <a:spLocks noChangeArrowheads="1"/>
            </p:cNvSpPr>
            <p:nvPr/>
          </p:nvSpPr>
          <p:spPr bwMode="auto">
            <a:xfrm>
              <a:off x="768" y="3216"/>
              <a:ext cx="4265" cy="28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a:r>
                <a:rPr lang="en-US" altLang="zh-CN" b="1">
                  <a:solidFill>
                    <a:srgbClr val="FF3300"/>
                  </a:solidFill>
                  <a:latin typeface="楷体_GB2312" pitchFamily="49" charset="-122"/>
                </a:rPr>
                <a:t>3</a:t>
              </a:r>
              <a:r>
                <a:rPr lang="zh-CN" altLang="en-US" b="1">
                  <a:solidFill>
                    <a:srgbClr val="FF3300"/>
                  </a:solidFill>
                  <a:latin typeface="楷体_GB2312" pitchFamily="49" charset="-122"/>
                </a:rPr>
                <a:t>．删除无用赋值</a:t>
              </a:r>
              <a:r>
                <a:rPr lang="zh-CN" altLang="en-US" sz="2000" b="1">
                  <a:solidFill>
                    <a:srgbClr val="FF3300"/>
                  </a:solidFill>
                  <a:latin typeface="楷体_GB2312" pitchFamily="49" charset="-122"/>
                </a:rPr>
                <a:t> </a:t>
              </a:r>
            </a:p>
          </p:txBody>
        </p:sp>
      </p:grpSp>
      <p:sp>
        <p:nvSpPr>
          <p:cNvPr id="16388" name="AutoShape 8"/>
          <p:cNvSpPr>
            <a:spLocks noChangeArrowheads="1"/>
          </p:cNvSpPr>
          <p:nvPr/>
        </p:nvSpPr>
        <p:spPr bwMode="auto">
          <a:xfrm>
            <a:off x="3733800" y="2514600"/>
            <a:ext cx="1143000" cy="228600"/>
          </a:xfrm>
          <a:prstGeom prst="rightArrow">
            <a:avLst>
              <a:gd name="adj1" fmla="val 50000"/>
              <a:gd name="adj2" fmla="val 125000"/>
            </a:avLst>
          </a:prstGeom>
          <a:solidFill>
            <a:schemeClr val="accent2"/>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16389" name="Rectangle 9"/>
          <p:cNvSpPr>
            <a:spLocks noChangeArrowheads="1"/>
          </p:cNvSpPr>
          <p:nvPr/>
        </p:nvSpPr>
        <p:spPr bwMode="auto">
          <a:xfrm>
            <a:off x="4876800" y="2209800"/>
            <a:ext cx="2057400" cy="8382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just" eaLnBrk="1" hangingPunct="1">
              <a:spcBef>
                <a:spcPct val="20000"/>
              </a:spcBef>
            </a:pP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1</a:t>
            </a: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x=10+a</a:t>
            </a:r>
          </a:p>
          <a:p>
            <a:pPr algn="just" eaLnBrk="1" hangingPunct="1">
              <a:spcBef>
                <a:spcPct val="20000"/>
              </a:spcBef>
            </a:pP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2</a:t>
            </a: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y=x+b</a:t>
            </a:r>
          </a:p>
        </p:txBody>
      </p:sp>
      <p:sp>
        <p:nvSpPr>
          <p:cNvPr id="16390" name="Rectangle 12"/>
          <p:cNvSpPr>
            <a:spLocks noChangeArrowheads="1"/>
          </p:cNvSpPr>
          <p:nvPr/>
        </p:nvSpPr>
        <p:spPr bwMode="auto">
          <a:xfrm>
            <a:off x="1676400" y="1981200"/>
            <a:ext cx="1981200" cy="12192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just" eaLnBrk="1" hangingPunct="1">
              <a:spcBef>
                <a:spcPct val="20000"/>
              </a:spcBef>
            </a:pPr>
            <a:r>
              <a:rPr lang="zh-CN" altLang="en-US" sz="2000" b="1">
                <a:solidFill>
                  <a:srgbClr val="FF3300"/>
                </a:solidFill>
                <a:ea typeface="宋体" panose="02010600030101010101" pitchFamily="2" charset="-122"/>
              </a:rPr>
              <a:t>（</a:t>
            </a:r>
            <a:r>
              <a:rPr lang="en-US" altLang="zh-CN" sz="2000" b="1">
                <a:solidFill>
                  <a:srgbClr val="FF3300"/>
                </a:solidFill>
                <a:latin typeface="楷体_GB2312" pitchFamily="49" charset="-122"/>
                <a:ea typeface="宋体" panose="02010600030101010101" pitchFamily="2" charset="-122"/>
              </a:rPr>
              <a:t>1</a:t>
            </a:r>
            <a:r>
              <a:rPr lang="zh-CN" altLang="en-US" sz="2000" b="1">
                <a:solidFill>
                  <a:srgbClr val="FF3300"/>
                </a:solidFill>
                <a:ea typeface="宋体" panose="02010600030101010101" pitchFamily="2" charset="-122"/>
              </a:rPr>
              <a:t>）</a:t>
            </a:r>
            <a:r>
              <a:rPr lang="en-US" altLang="zh-CN" sz="2000" b="1">
                <a:solidFill>
                  <a:srgbClr val="FF3300"/>
                </a:solidFill>
                <a:latin typeface="楷体_GB2312" pitchFamily="49" charset="-122"/>
                <a:ea typeface="宋体" panose="02010600030101010101" pitchFamily="2" charset="-122"/>
              </a:rPr>
              <a:t>x=1</a:t>
            </a:r>
          </a:p>
          <a:p>
            <a:pPr algn="just" eaLnBrk="1" hangingPunct="1">
              <a:spcBef>
                <a:spcPct val="20000"/>
              </a:spcBef>
            </a:pP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2</a:t>
            </a: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x=10+a</a:t>
            </a:r>
          </a:p>
          <a:p>
            <a:pPr algn="just" eaLnBrk="1" hangingPunct="1">
              <a:spcBef>
                <a:spcPct val="20000"/>
              </a:spcBef>
            </a:pP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3</a:t>
            </a:r>
            <a:r>
              <a:rPr lang="zh-CN" altLang="en-US" sz="2000" b="1">
                <a:ea typeface="宋体" panose="02010600030101010101" pitchFamily="2" charset="-122"/>
              </a:rPr>
              <a:t>）</a:t>
            </a:r>
            <a:r>
              <a:rPr lang="en-US" altLang="zh-CN" sz="2000" b="1">
                <a:latin typeface="楷体_GB2312" pitchFamily="49" charset="-122"/>
                <a:ea typeface="宋体" panose="02010600030101010101" pitchFamily="2" charset="-122"/>
              </a:rPr>
              <a:t>y=x+b</a:t>
            </a:r>
          </a:p>
        </p:txBody>
      </p:sp>
      <p:sp>
        <p:nvSpPr>
          <p:cNvPr id="2" name="灯片编号占位符 1">
            <a:extLst>
              <a:ext uri="{FF2B5EF4-FFF2-40B4-BE49-F238E27FC236}">
                <a16:creationId xmlns:a16="http://schemas.microsoft.com/office/drawing/2014/main" id="{577ADF80-3B49-43BD-804A-464A5710CF60}"/>
              </a:ext>
            </a:extLst>
          </p:cNvPr>
          <p:cNvSpPr>
            <a:spLocks noGrp="1"/>
          </p:cNvSpPr>
          <p:nvPr>
            <p:ph type="sldNum" sz="quarter" idx="12"/>
          </p:nvPr>
        </p:nvSpPr>
        <p:spPr/>
        <p:txBody>
          <a:bodyPr/>
          <a:lstStyle/>
          <a:p>
            <a:fld id="{565CE74E-AB26-4998-AD42-012C4C1AD076}" type="slidenum">
              <a:rPr lang="zh-CN" altLang="en-US" smtClean="0"/>
              <a:t>82</a:t>
            </a:fld>
            <a:endParaRPr lang="zh-CN" altLang="en-US"/>
          </a:p>
        </p:txBody>
      </p:sp>
    </p:spTree>
    <p:extLst>
      <p:ext uri="{BB962C8B-B14F-4D97-AF65-F5344CB8AC3E}">
        <p14:creationId xmlns:p14="http://schemas.microsoft.com/office/powerpoint/2010/main" val="230711917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239713" y="503238"/>
            <a:ext cx="5627687"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a:r>
              <a:rPr lang="zh-CN" altLang="en-US" sz="2800" b="1" dirty="0">
                <a:solidFill>
                  <a:srgbClr val="CC00CC"/>
                </a:solidFill>
                <a:latin typeface="楷体_GB2312" pitchFamily="49" charset="-122"/>
              </a:rPr>
              <a:t>　循环优化</a:t>
            </a:r>
          </a:p>
        </p:txBody>
      </p:sp>
      <p:sp>
        <p:nvSpPr>
          <p:cNvPr id="17411" name="Line 3"/>
          <p:cNvSpPr>
            <a:spLocks noChangeShapeType="1"/>
          </p:cNvSpPr>
          <p:nvPr/>
        </p:nvSpPr>
        <p:spPr bwMode="auto">
          <a:xfrm>
            <a:off x="0" y="1306513"/>
            <a:ext cx="9144000"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7412" name="Picture 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45375" y="596900"/>
            <a:ext cx="811213"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9690" name="AutoShape 10"/>
          <p:cNvSpPr>
            <a:spLocks noChangeArrowheads="1"/>
          </p:cNvSpPr>
          <p:nvPr/>
        </p:nvSpPr>
        <p:spPr bwMode="auto">
          <a:xfrm>
            <a:off x="762000" y="2133600"/>
            <a:ext cx="8146026" cy="1143000"/>
          </a:xfrm>
          <a:prstGeom prst="roundRect">
            <a:avLst>
              <a:gd name="adj" fmla="val 16667"/>
            </a:avLst>
          </a:prstGeom>
          <a:noFill/>
          <a:ln>
            <a:noFill/>
          </a:ln>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800" b="1" dirty="0">
                <a:solidFill>
                  <a:srgbClr val="FF3300"/>
                </a:solidFill>
                <a:latin typeface="Times New Roman MT Extra Bold" charset="0"/>
              </a:rPr>
              <a:t>首结点</a:t>
            </a:r>
            <a:r>
              <a:rPr lang="zh-CN" altLang="en-US" sz="2800" b="1" dirty="0">
                <a:solidFill>
                  <a:srgbClr val="FF3300"/>
                </a:solidFill>
                <a:latin typeface="宋体" panose="02010600030101010101" pitchFamily="2" charset="-122"/>
              </a:rPr>
              <a:t>：</a:t>
            </a:r>
            <a:r>
              <a:rPr lang="zh-CN" altLang="en-US" sz="2800" b="1" dirty="0">
                <a:solidFill>
                  <a:srgbClr val="000000"/>
                </a:solidFill>
                <a:latin typeface="宋体" panose="02010600030101010101" pitchFamily="2" charset="-122"/>
              </a:rPr>
              <a:t>从它开始到有向图中任何结点都有一条通路的结点。</a:t>
            </a:r>
            <a:r>
              <a:rPr lang="zh-CN" altLang="en-US" sz="2800" b="1" dirty="0">
                <a:latin typeface="楷体_GB2312" pitchFamily="49" charset="-122"/>
              </a:rPr>
              <a:t> </a:t>
            </a:r>
          </a:p>
        </p:txBody>
      </p:sp>
      <p:sp>
        <p:nvSpPr>
          <p:cNvPr id="17414" name="Rectangle 11"/>
          <p:cNvSpPr>
            <a:spLocks noChangeArrowheads="1"/>
          </p:cNvSpPr>
          <p:nvPr/>
        </p:nvSpPr>
        <p:spPr bwMode="auto">
          <a:xfrm>
            <a:off x="685800" y="1447800"/>
            <a:ext cx="7162800" cy="519113"/>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buClr>
                <a:srgbClr val="FF3300"/>
              </a:buClr>
              <a:buSzPct val="140000"/>
              <a:buFont typeface="Wingdings" panose="05000000000000000000" pitchFamily="2" charset="2"/>
              <a:buChar char="ü"/>
            </a:pPr>
            <a:r>
              <a:rPr lang="zh-CN" altLang="en-US" sz="2800" b="1" dirty="0">
                <a:solidFill>
                  <a:srgbClr val="000000"/>
                </a:solidFill>
                <a:latin typeface="楷体_GB2312" pitchFamily="49" charset="-122"/>
              </a:rPr>
              <a:t>一个</a:t>
            </a:r>
            <a:r>
              <a:rPr lang="zh-CN" altLang="en-US" sz="2800" b="1" dirty="0">
                <a:solidFill>
                  <a:srgbClr val="FF3300"/>
                </a:solidFill>
                <a:latin typeface="楷体_GB2312" pitchFamily="49" charset="-122"/>
              </a:rPr>
              <a:t>程序流图</a:t>
            </a:r>
            <a:r>
              <a:rPr lang="zh-CN" altLang="en-US" sz="2800" b="1" dirty="0">
                <a:solidFill>
                  <a:srgbClr val="000000"/>
                </a:solidFill>
                <a:latin typeface="楷体_GB2312" pitchFamily="49" charset="-122"/>
              </a:rPr>
              <a:t>是具有唯一首结点的有向图。</a:t>
            </a:r>
            <a:r>
              <a:rPr lang="zh-CN" altLang="en-US" sz="2800" b="1" dirty="0">
                <a:latin typeface="楷体_GB2312" pitchFamily="49" charset="-122"/>
              </a:rPr>
              <a:t> </a:t>
            </a:r>
          </a:p>
        </p:txBody>
      </p:sp>
      <p:sp>
        <p:nvSpPr>
          <p:cNvPr id="199692" name="AutoShape 12"/>
          <p:cNvSpPr>
            <a:spLocks noChangeArrowheads="1"/>
          </p:cNvSpPr>
          <p:nvPr/>
        </p:nvSpPr>
        <p:spPr bwMode="auto">
          <a:xfrm>
            <a:off x="762000" y="3581400"/>
            <a:ext cx="7239000" cy="2362200"/>
          </a:xfrm>
          <a:prstGeom prst="roundRect">
            <a:avLst>
              <a:gd name="adj" fmla="val 16667"/>
            </a:avLst>
          </a:prstGeom>
          <a:noFill/>
          <a:ln>
            <a:noFill/>
          </a:ln>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800" b="1" dirty="0">
                <a:solidFill>
                  <a:srgbClr val="FF3300"/>
                </a:solidFill>
                <a:latin typeface="楷体_GB2312" pitchFamily="49" charset="-122"/>
              </a:rPr>
              <a:t>程序流图（控制流程图或流图 ）</a:t>
            </a:r>
            <a:r>
              <a:rPr lang="zh-CN" altLang="en-US" sz="2800" b="1" dirty="0">
                <a:latin typeface="楷体_GB2312" pitchFamily="49" charset="-122"/>
              </a:rPr>
              <a:t>：</a:t>
            </a:r>
          </a:p>
          <a:p>
            <a:pPr algn="l" eaLnBrk="1" hangingPunct="1"/>
            <a:r>
              <a:rPr lang="zh-CN" altLang="en-US" sz="2800" b="1" dirty="0">
                <a:solidFill>
                  <a:srgbClr val="000000"/>
                </a:solidFill>
                <a:latin typeface="楷体_GB2312" pitchFamily="49" charset="-122"/>
              </a:rPr>
              <a:t>三元组</a:t>
            </a:r>
            <a:r>
              <a:rPr lang="en-US" altLang="zh-CN" sz="2800" b="1" dirty="0">
                <a:solidFill>
                  <a:srgbClr val="000000"/>
                </a:solidFill>
                <a:latin typeface="楷体_GB2312" pitchFamily="49" charset="-122"/>
              </a:rPr>
              <a:t>G=(N</a:t>
            </a:r>
            <a:r>
              <a:rPr lang="zh-CN" altLang="en-US" sz="2800" b="1" dirty="0">
                <a:solidFill>
                  <a:srgbClr val="000000"/>
                </a:solidFill>
                <a:latin typeface="楷体_GB2312" pitchFamily="49" charset="-122"/>
              </a:rPr>
              <a:t>，</a:t>
            </a:r>
            <a:r>
              <a:rPr lang="en-US" altLang="zh-CN" sz="2800" b="1" dirty="0">
                <a:solidFill>
                  <a:srgbClr val="000000"/>
                </a:solidFill>
                <a:latin typeface="楷体_GB2312" pitchFamily="49" charset="-122"/>
              </a:rPr>
              <a:t>E</a:t>
            </a:r>
            <a:r>
              <a:rPr lang="zh-CN" altLang="en-US" sz="2800" b="1" dirty="0">
                <a:solidFill>
                  <a:srgbClr val="000000"/>
                </a:solidFill>
                <a:latin typeface="楷体_GB2312" pitchFamily="49" charset="-122"/>
              </a:rPr>
              <a:t>，</a:t>
            </a:r>
            <a:r>
              <a:rPr lang="en-US" altLang="zh-CN" sz="2800" b="1" dirty="0">
                <a:solidFill>
                  <a:srgbClr val="000000"/>
                </a:solidFill>
                <a:latin typeface="楷体_GB2312" pitchFamily="49" charset="-122"/>
              </a:rPr>
              <a:t>n</a:t>
            </a:r>
            <a:r>
              <a:rPr lang="en-US" altLang="zh-CN" sz="2800" b="1" baseline="-30000" dirty="0">
                <a:solidFill>
                  <a:srgbClr val="000000"/>
                </a:solidFill>
                <a:latin typeface="楷体_GB2312" pitchFamily="49" charset="-122"/>
              </a:rPr>
              <a:t>0</a:t>
            </a:r>
            <a:r>
              <a:rPr lang="en-US" altLang="zh-CN" sz="2800" b="1" dirty="0">
                <a:solidFill>
                  <a:srgbClr val="000000"/>
                </a:solidFill>
                <a:latin typeface="楷体_GB2312" pitchFamily="49" charset="-122"/>
              </a:rPr>
              <a:t>)</a:t>
            </a:r>
          </a:p>
          <a:p>
            <a:pPr algn="l" eaLnBrk="1" hangingPunct="1"/>
            <a:r>
              <a:rPr lang="en-US" altLang="zh-CN" sz="2800" b="1" dirty="0">
                <a:solidFill>
                  <a:srgbClr val="000000"/>
                </a:solidFill>
                <a:latin typeface="楷体_GB2312" pitchFamily="49" charset="-122"/>
              </a:rPr>
              <a:t>N</a:t>
            </a:r>
            <a:r>
              <a:rPr lang="zh-CN" altLang="en-US" sz="2800" b="1" dirty="0">
                <a:solidFill>
                  <a:srgbClr val="000000"/>
                </a:solidFill>
                <a:latin typeface="楷体_GB2312" pitchFamily="49" charset="-122"/>
              </a:rPr>
              <a:t>：结点（基本块）集</a:t>
            </a:r>
          </a:p>
          <a:p>
            <a:pPr algn="l" eaLnBrk="1" hangingPunct="1"/>
            <a:r>
              <a:rPr lang="en-US" altLang="zh-CN" sz="2800" b="1" dirty="0">
                <a:solidFill>
                  <a:srgbClr val="000000"/>
                </a:solidFill>
                <a:latin typeface="楷体_GB2312" pitchFamily="49" charset="-122"/>
              </a:rPr>
              <a:t>E</a:t>
            </a:r>
            <a:r>
              <a:rPr lang="zh-CN" altLang="en-US" sz="2800" b="1" dirty="0">
                <a:solidFill>
                  <a:srgbClr val="000000"/>
                </a:solidFill>
                <a:latin typeface="楷体_GB2312" pitchFamily="49" charset="-122"/>
              </a:rPr>
              <a:t>：边集</a:t>
            </a:r>
          </a:p>
          <a:p>
            <a:pPr algn="l" eaLnBrk="1" hangingPunct="1"/>
            <a:r>
              <a:rPr lang="en-US" altLang="zh-CN" sz="2800" b="1" dirty="0">
                <a:solidFill>
                  <a:srgbClr val="000000"/>
                </a:solidFill>
                <a:latin typeface="楷体_GB2312" pitchFamily="49" charset="-122"/>
              </a:rPr>
              <a:t>n</a:t>
            </a:r>
            <a:r>
              <a:rPr lang="en-US" altLang="zh-CN" sz="2800" b="1" baseline="-30000" dirty="0">
                <a:solidFill>
                  <a:srgbClr val="000000"/>
                </a:solidFill>
                <a:latin typeface="楷体_GB2312" pitchFamily="49" charset="-122"/>
              </a:rPr>
              <a:t>0</a:t>
            </a:r>
            <a:r>
              <a:rPr lang="zh-CN" altLang="en-US" sz="2800" b="1" dirty="0">
                <a:solidFill>
                  <a:srgbClr val="000000"/>
                </a:solidFill>
                <a:latin typeface="楷体_GB2312" pitchFamily="49" charset="-122"/>
              </a:rPr>
              <a:t>：首结点。</a:t>
            </a:r>
            <a:endParaRPr lang="zh-CN" altLang="en-US" sz="2800" b="1" dirty="0">
              <a:latin typeface="楷体_GB2312" pitchFamily="49" charset="-122"/>
            </a:endParaRPr>
          </a:p>
        </p:txBody>
      </p:sp>
      <p:sp>
        <p:nvSpPr>
          <p:cNvPr id="2" name="灯片编号占位符 1">
            <a:extLst>
              <a:ext uri="{FF2B5EF4-FFF2-40B4-BE49-F238E27FC236}">
                <a16:creationId xmlns:a16="http://schemas.microsoft.com/office/drawing/2014/main" id="{1CD299CC-B654-4CCF-B985-6BA71CD7F611}"/>
              </a:ext>
            </a:extLst>
          </p:cNvPr>
          <p:cNvSpPr>
            <a:spLocks noGrp="1"/>
          </p:cNvSpPr>
          <p:nvPr>
            <p:ph type="sldNum" sz="quarter" idx="12"/>
          </p:nvPr>
        </p:nvSpPr>
        <p:spPr/>
        <p:txBody>
          <a:bodyPr/>
          <a:lstStyle/>
          <a:p>
            <a:fld id="{565CE74E-AB26-4998-AD42-012C4C1AD076}" type="slidenum">
              <a:rPr lang="zh-CN" altLang="en-US" smtClean="0"/>
              <a:t>83</a:t>
            </a:fld>
            <a:endParaRPr lang="zh-CN" altLang="en-US"/>
          </a:p>
        </p:txBody>
      </p:sp>
    </p:spTree>
    <p:extLst>
      <p:ext uri="{BB962C8B-B14F-4D97-AF65-F5344CB8AC3E}">
        <p14:creationId xmlns:p14="http://schemas.microsoft.com/office/powerpoint/2010/main" val="4648035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9690"/>
                                        </p:tgtEl>
                                        <p:attrNameLst>
                                          <p:attrName>style.visibility</p:attrName>
                                        </p:attrNameLst>
                                      </p:cBhvr>
                                      <p:to>
                                        <p:strVal val="visible"/>
                                      </p:to>
                                    </p:set>
                                    <p:anim calcmode="lin" valueType="num">
                                      <p:cBhvr additive="base">
                                        <p:cTn id="7" dur="500" fill="hold"/>
                                        <p:tgtEl>
                                          <p:spTgt spid="199690"/>
                                        </p:tgtEl>
                                        <p:attrNameLst>
                                          <p:attrName>ppt_x</p:attrName>
                                        </p:attrNameLst>
                                      </p:cBhvr>
                                      <p:tavLst>
                                        <p:tav tm="0">
                                          <p:val>
                                            <p:strVal val="0-#ppt_w/2"/>
                                          </p:val>
                                        </p:tav>
                                        <p:tav tm="100000">
                                          <p:val>
                                            <p:strVal val="#ppt_x"/>
                                          </p:val>
                                        </p:tav>
                                      </p:tavLst>
                                    </p:anim>
                                    <p:anim calcmode="lin" valueType="num">
                                      <p:cBhvr additive="base">
                                        <p:cTn id="8" dur="500" fill="hold"/>
                                        <p:tgtEl>
                                          <p:spTgt spid="19969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9692"/>
                                        </p:tgtEl>
                                        <p:attrNameLst>
                                          <p:attrName>style.visibility</p:attrName>
                                        </p:attrNameLst>
                                      </p:cBhvr>
                                      <p:to>
                                        <p:strVal val="visible"/>
                                      </p:to>
                                    </p:set>
                                    <p:anim calcmode="lin" valueType="num">
                                      <p:cBhvr additive="base">
                                        <p:cTn id="13" dur="500" fill="hold"/>
                                        <p:tgtEl>
                                          <p:spTgt spid="199692"/>
                                        </p:tgtEl>
                                        <p:attrNameLst>
                                          <p:attrName>ppt_x</p:attrName>
                                        </p:attrNameLst>
                                      </p:cBhvr>
                                      <p:tavLst>
                                        <p:tav tm="0">
                                          <p:val>
                                            <p:strVal val="0-#ppt_w/2"/>
                                          </p:val>
                                        </p:tav>
                                        <p:tav tm="100000">
                                          <p:val>
                                            <p:strVal val="#ppt_x"/>
                                          </p:val>
                                        </p:tav>
                                      </p:tavLst>
                                    </p:anim>
                                    <p:anim calcmode="lin" valueType="num">
                                      <p:cBhvr additive="base">
                                        <p:cTn id="14" dur="500" fill="hold"/>
                                        <p:tgtEl>
                                          <p:spTgt spid="1996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90" grpId="0"/>
      <p:bldP spid="199692"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2"/>
          <p:cNvGraphicFramePr>
            <a:graphicFrameLocks/>
          </p:cNvGraphicFramePr>
          <p:nvPr/>
        </p:nvGraphicFramePr>
        <p:xfrm>
          <a:off x="609600" y="762000"/>
          <a:ext cx="5181600" cy="4800600"/>
        </p:xfrm>
        <a:graphic>
          <a:graphicData uri="http://schemas.openxmlformats.org/presentationml/2006/ole">
            <mc:AlternateContent xmlns:mc="http://schemas.openxmlformats.org/markup-compatibility/2006">
              <mc:Choice xmlns:v="urn:schemas-microsoft-com:vml" Requires="v">
                <p:oleObj spid="_x0000_s9232" name="Picture2" r:id="rId3" imgW="2620800" imgH="3134880" progId="Word.Picture.8">
                  <p:embed/>
                </p:oleObj>
              </mc:Choice>
              <mc:Fallback>
                <p:oleObj name="Picture2" r:id="rId3" imgW="2620800" imgH="3134880" progId="Word.Picture.8">
                  <p:embed/>
                  <p:pic>
                    <p:nvPicPr>
                      <p:cNvPr id="3074" name="Object 2"/>
                      <p:cNvPicPr>
                        <a:picLocks noChangeArrowheads="1"/>
                      </p:cNvPicPr>
                      <p:nvPr/>
                    </p:nvPicPr>
                    <p:blipFill>
                      <a:blip r:embed="rId4">
                        <a:extLst>
                          <a:ext uri="{28A0092B-C50C-407E-A947-70E740481C1C}">
                            <a14:useLocalDpi xmlns:a14="http://schemas.microsoft.com/office/drawing/2010/main" val="0"/>
                          </a:ext>
                        </a:extLst>
                      </a:blip>
                      <a:srcRect l="27614" t="4709" r="5907" b="11830"/>
                      <a:stretch>
                        <a:fillRect/>
                      </a:stretch>
                    </p:blipFill>
                    <p:spPr bwMode="auto">
                      <a:xfrm>
                        <a:off x="609600" y="762000"/>
                        <a:ext cx="5181600" cy="480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5" name="Rectangle 4"/>
          <p:cNvSpPr>
            <a:spLocks noChangeArrowheads="1"/>
          </p:cNvSpPr>
          <p:nvPr/>
        </p:nvSpPr>
        <p:spPr bwMode="auto">
          <a:xfrm>
            <a:off x="2224088" y="2309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076" name="AutoShape 5"/>
          <p:cNvSpPr>
            <a:spLocks noChangeArrowheads="1"/>
          </p:cNvSpPr>
          <p:nvPr/>
        </p:nvSpPr>
        <p:spPr bwMode="auto">
          <a:xfrm>
            <a:off x="6934200" y="3124200"/>
            <a:ext cx="1600200" cy="228600"/>
          </a:xfrm>
          <a:prstGeom prst="rightArrow">
            <a:avLst>
              <a:gd name="adj1" fmla="val 50000"/>
              <a:gd name="adj2" fmla="val 175000"/>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2" name="灯片编号占位符 1">
            <a:extLst>
              <a:ext uri="{FF2B5EF4-FFF2-40B4-BE49-F238E27FC236}">
                <a16:creationId xmlns:a16="http://schemas.microsoft.com/office/drawing/2014/main" id="{40B56886-D65F-41C2-91C9-DF0B4CD4ABC6}"/>
              </a:ext>
            </a:extLst>
          </p:cNvPr>
          <p:cNvSpPr>
            <a:spLocks noGrp="1"/>
          </p:cNvSpPr>
          <p:nvPr>
            <p:ph type="sldNum" sz="quarter" idx="12"/>
          </p:nvPr>
        </p:nvSpPr>
        <p:spPr/>
        <p:txBody>
          <a:bodyPr/>
          <a:lstStyle/>
          <a:p>
            <a:fld id="{565CE74E-AB26-4998-AD42-012C4C1AD076}" type="slidenum">
              <a:rPr lang="zh-CN" altLang="en-US" smtClean="0"/>
              <a:t>84</a:t>
            </a:fld>
            <a:endParaRPr lang="zh-CN" altLang="en-US"/>
          </a:p>
        </p:txBody>
      </p:sp>
    </p:spTree>
    <p:extLst>
      <p:ext uri="{BB962C8B-B14F-4D97-AF65-F5344CB8AC3E}">
        <p14:creationId xmlns:p14="http://schemas.microsoft.com/office/powerpoint/2010/main" val="18518787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ChangeArrowheads="1"/>
          </p:cNvSpPr>
          <p:nvPr/>
        </p:nvSpPr>
        <p:spPr bwMode="auto">
          <a:xfrm>
            <a:off x="2224088" y="2309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graphicFrame>
        <p:nvGraphicFramePr>
          <p:cNvPr id="4098" name="Object 2"/>
          <p:cNvGraphicFramePr>
            <a:graphicFrameLocks noChangeAspect="1"/>
          </p:cNvGraphicFramePr>
          <p:nvPr>
            <p:extLst>
              <p:ext uri="{D42A27DB-BD31-4B8C-83A1-F6EECF244321}">
                <p14:modId xmlns:p14="http://schemas.microsoft.com/office/powerpoint/2010/main" val="1750186447"/>
              </p:ext>
            </p:extLst>
          </p:nvPr>
        </p:nvGraphicFramePr>
        <p:xfrm>
          <a:off x="685800" y="838200"/>
          <a:ext cx="7453313" cy="5105400"/>
        </p:xfrm>
        <a:graphic>
          <a:graphicData uri="http://schemas.openxmlformats.org/presentationml/2006/ole">
            <mc:AlternateContent xmlns:mc="http://schemas.openxmlformats.org/markup-compatibility/2006">
              <mc:Choice xmlns:v="urn:schemas-microsoft-com:vml" Requires="v">
                <p:oleObj spid="_x0000_s10257" name="Picture" r:id="rId3" imgW="4695840" imgH="2239560" progId="Word.Picture.8">
                  <p:embed/>
                </p:oleObj>
              </mc:Choice>
              <mc:Fallback>
                <p:oleObj name="Picture" r:id="rId3" imgW="4695840" imgH="2239560" progId="Word.Picture.8">
                  <p:embed/>
                  <p:pic>
                    <p:nvPicPr>
                      <p:cNvPr id="4098" name="Object 2"/>
                      <p:cNvPicPr>
                        <a:picLocks noChangeAspect="1" noChangeArrowheads="1"/>
                      </p:cNvPicPr>
                      <p:nvPr/>
                    </p:nvPicPr>
                    <p:blipFill>
                      <a:blip r:embed="rId4"/>
                      <a:srcRect b="-84"/>
                      <a:stretch>
                        <a:fillRect/>
                      </a:stretch>
                    </p:blipFill>
                    <p:spPr bwMode="auto">
                      <a:xfrm>
                        <a:off x="685800" y="838200"/>
                        <a:ext cx="7453313" cy="510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a:extLst>
              <a:ext uri="{FF2B5EF4-FFF2-40B4-BE49-F238E27FC236}">
                <a16:creationId xmlns:a16="http://schemas.microsoft.com/office/drawing/2014/main" id="{FDE4B357-2FD0-4E2F-95E1-00B730991FA5}"/>
              </a:ext>
            </a:extLst>
          </p:cNvPr>
          <p:cNvSpPr>
            <a:spLocks noGrp="1"/>
          </p:cNvSpPr>
          <p:nvPr>
            <p:ph type="sldNum" sz="quarter" idx="12"/>
          </p:nvPr>
        </p:nvSpPr>
        <p:spPr/>
        <p:txBody>
          <a:bodyPr/>
          <a:lstStyle/>
          <a:p>
            <a:fld id="{565CE74E-AB26-4998-AD42-012C4C1AD076}" type="slidenum">
              <a:rPr lang="zh-CN" altLang="en-US" smtClean="0"/>
              <a:t>85</a:t>
            </a:fld>
            <a:endParaRPr lang="zh-CN" altLang="en-US"/>
          </a:p>
        </p:txBody>
      </p:sp>
    </p:spTree>
    <p:extLst>
      <p:ext uri="{BB962C8B-B14F-4D97-AF65-F5344CB8AC3E}">
        <p14:creationId xmlns:p14="http://schemas.microsoft.com/office/powerpoint/2010/main" val="105823618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AutoShape 2"/>
          <p:cNvSpPr>
            <a:spLocks noChangeArrowheads="1"/>
          </p:cNvSpPr>
          <p:nvPr/>
        </p:nvSpPr>
        <p:spPr bwMode="auto">
          <a:xfrm>
            <a:off x="0" y="0"/>
            <a:ext cx="8153400" cy="990600"/>
          </a:xfrm>
          <a:prstGeom prst="roundRect">
            <a:avLst>
              <a:gd name="adj" fmla="val 16667"/>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800" b="1" dirty="0">
                <a:latin typeface="楷体_GB2312" pitchFamily="49" charset="-122"/>
              </a:rPr>
              <a:t>循环优化方法（了解，与程序设计结构有关系，</a:t>
            </a:r>
            <a:endParaRPr lang="en-US" altLang="zh-CN" sz="2800" b="1" dirty="0">
              <a:latin typeface="楷体_GB2312" pitchFamily="49" charset="-122"/>
            </a:endParaRPr>
          </a:p>
          <a:p>
            <a:pPr algn="l" eaLnBrk="1" hangingPunct="1"/>
            <a:r>
              <a:rPr lang="zh-CN" altLang="en-US" sz="2800" b="1" dirty="0">
                <a:latin typeface="楷体_GB2312" pitchFamily="49" charset="-122"/>
              </a:rPr>
              <a:t>算法设计部分）</a:t>
            </a:r>
          </a:p>
        </p:txBody>
      </p:sp>
      <p:grpSp>
        <p:nvGrpSpPr>
          <p:cNvPr id="18435" name="Group 3"/>
          <p:cNvGrpSpPr>
            <a:grpSpLocks/>
          </p:cNvGrpSpPr>
          <p:nvPr/>
        </p:nvGrpSpPr>
        <p:grpSpPr bwMode="auto">
          <a:xfrm>
            <a:off x="547744" y="1342103"/>
            <a:ext cx="7605656" cy="1435100"/>
            <a:chOff x="528" y="3264"/>
            <a:chExt cx="4452" cy="904"/>
          </a:xfrm>
        </p:grpSpPr>
        <p:sp>
          <p:nvSpPr>
            <p:cNvPr id="202756" name="AutoShape 4"/>
            <p:cNvSpPr>
              <a:spLocks noChangeArrowheads="1"/>
            </p:cNvSpPr>
            <p:nvPr/>
          </p:nvSpPr>
          <p:spPr bwMode="auto">
            <a:xfrm>
              <a:off x="528" y="3264"/>
              <a:ext cx="187" cy="173"/>
            </a:xfrm>
            <a:prstGeom prst="star5">
              <a:avLst/>
            </a:prstGeom>
            <a:solidFill>
              <a:srgbClr val="FF3300"/>
            </a:solidFill>
            <a:ln w="12700">
              <a:solidFill>
                <a:srgbClr val="0037E8"/>
              </a:solidFill>
              <a:miter lim="800000"/>
              <a:headEnd/>
              <a:tailEnd/>
            </a:ln>
            <a:effectLst/>
          </p:spPr>
          <p:txBody>
            <a:bodyPr wrap="none" anchor="ctr"/>
            <a:lstStyle/>
            <a:p>
              <a:pPr>
                <a:defRPr/>
              </a:pPr>
              <a:endParaRPr lang="zh-CN" altLang="en-US"/>
            </a:p>
          </p:txBody>
        </p:sp>
        <p:sp>
          <p:nvSpPr>
            <p:cNvPr id="18437" name="Text Box 5"/>
            <p:cNvSpPr txBox="1">
              <a:spLocks noChangeArrowheads="1"/>
            </p:cNvSpPr>
            <p:nvPr/>
          </p:nvSpPr>
          <p:spPr bwMode="auto">
            <a:xfrm>
              <a:off x="715" y="3650"/>
              <a:ext cx="4265" cy="51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a:r>
                <a:rPr lang="en-US" altLang="zh-CN" b="1" dirty="0">
                  <a:solidFill>
                    <a:srgbClr val="FF3300"/>
                  </a:solidFill>
                  <a:latin typeface="楷体_GB2312" pitchFamily="49" charset="-122"/>
                </a:rPr>
                <a:t>1</a:t>
              </a:r>
              <a:r>
                <a:rPr lang="zh-CN" altLang="en-US" b="1" dirty="0">
                  <a:solidFill>
                    <a:srgbClr val="FF3300"/>
                  </a:solidFill>
                  <a:latin typeface="楷体_GB2312" pitchFamily="49" charset="-122"/>
                </a:rPr>
                <a:t>．代码外提：</a:t>
              </a:r>
              <a:r>
                <a:rPr lang="zh-CN" altLang="en-US" b="1" dirty="0">
                  <a:solidFill>
                    <a:srgbClr val="000000"/>
                  </a:solidFill>
                  <a:latin typeface="楷体_GB2312" pitchFamily="49" charset="-122"/>
                </a:rPr>
                <a:t>将循环中的</a:t>
              </a:r>
              <a:r>
                <a:rPr lang="zh-CN" altLang="en-US" b="1" dirty="0">
                  <a:solidFill>
                    <a:srgbClr val="FF3300"/>
                  </a:solidFill>
                  <a:latin typeface="楷体_GB2312" pitchFamily="49" charset="-122"/>
                </a:rPr>
                <a:t>不变运算</a:t>
              </a:r>
              <a:r>
                <a:rPr lang="zh-CN" altLang="en-US" b="1" dirty="0">
                  <a:solidFill>
                    <a:srgbClr val="000000"/>
                  </a:solidFill>
                  <a:latin typeface="楷体_GB2312" pitchFamily="49" charset="-122"/>
                </a:rPr>
                <a:t>提到循环前面，不变运算是指其运算结果不受循环影响的表达式。</a:t>
              </a:r>
              <a:r>
                <a:rPr lang="zh-CN" altLang="en-US" b="1" dirty="0">
                  <a:solidFill>
                    <a:srgbClr val="FF3300"/>
                  </a:solidFill>
                  <a:latin typeface="楷体_GB2312" pitchFamily="49" charset="-122"/>
                </a:rPr>
                <a:t> </a:t>
              </a:r>
              <a:r>
                <a:rPr lang="zh-CN" altLang="en-US" sz="2000" b="1" dirty="0">
                  <a:solidFill>
                    <a:srgbClr val="FF3300"/>
                  </a:solidFill>
                  <a:latin typeface="楷体_GB2312" pitchFamily="49" charset="-122"/>
                </a:rPr>
                <a:t> </a:t>
              </a:r>
            </a:p>
          </p:txBody>
        </p:sp>
      </p:grpSp>
      <p:sp>
        <p:nvSpPr>
          <p:cNvPr id="2" name="灯片编号占位符 1">
            <a:extLst>
              <a:ext uri="{FF2B5EF4-FFF2-40B4-BE49-F238E27FC236}">
                <a16:creationId xmlns:a16="http://schemas.microsoft.com/office/drawing/2014/main" id="{C691B99E-9085-452C-A82A-E6634DA86DDA}"/>
              </a:ext>
            </a:extLst>
          </p:cNvPr>
          <p:cNvSpPr>
            <a:spLocks noGrp="1"/>
          </p:cNvSpPr>
          <p:nvPr>
            <p:ph type="sldNum" sz="quarter" idx="12"/>
          </p:nvPr>
        </p:nvSpPr>
        <p:spPr/>
        <p:txBody>
          <a:bodyPr/>
          <a:lstStyle/>
          <a:p>
            <a:fld id="{565CE74E-AB26-4998-AD42-012C4C1AD076}" type="slidenum">
              <a:rPr lang="zh-CN" altLang="en-US" smtClean="0"/>
              <a:t>86</a:t>
            </a:fld>
            <a:endParaRPr lang="zh-CN" altLang="en-US"/>
          </a:p>
        </p:txBody>
      </p:sp>
    </p:spTree>
    <p:extLst>
      <p:ext uri="{BB962C8B-B14F-4D97-AF65-F5344CB8AC3E}">
        <p14:creationId xmlns:p14="http://schemas.microsoft.com/office/powerpoint/2010/main" val="347931412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Group 2"/>
          <p:cNvGrpSpPr>
            <a:grpSpLocks/>
          </p:cNvGrpSpPr>
          <p:nvPr/>
        </p:nvGrpSpPr>
        <p:grpSpPr bwMode="auto">
          <a:xfrm>
            <a:off x="304800" y="838200"/>
            <a:ext cx="7696200" cy="822325"/>
            <a:chOff x="528" y="3216"/>
            <a:chExt cx="4505" cy="518"/>
          </a:xfrm>
        </p:grpSpPr>
        <p:sp>
          <p:nvSpPr>
            <p:cNvPr id="203779" name="AutoShape 3"/>
            <p:cNvSpPr>
              <a:spLocks noChangeArrowheads="1"/>
            </p:cNvSpPr>
            <p:nvPr/>
          </p:nvSpPr>
          <p:spPr bwMode="auto">
            <a:xfrm>
              <a:off x="528" y="3264"/>
              <a:ext cx="187" cy="173"/>
            </a:xfrm>
            <a:prstGeom prst="star5">
              <a:avLst/>
            </a:prstGeom>
            <a:solidFill>
              <a:srgbClr val="FF3300"/>
            </a:solidFill>
            <a:ln w="12700">
              <a:solidFill>
                <a:srgbClr val="0037E8"/>
              </a:solidFill>
              <a:miter lim="800000"/>
              <a:headEnd/>
              <a:tailEnd/>
            </a:ln>
            <a:effectLst/>
          </p:spPr>
          <p:txBody>
            <a:bodyPr wrap="none" anchor="ctr"/>
            <a:lstStyle/>
            <a:p>
              <a:pPr>
                <a:defRPr/>
              </a:pPr>
              <a:endParaRPr lang="zh-CN" altLang="en-US"/>
            </a:p>
          </p:txBody>
        </p:sp>
        <p:sp>
          <p:nvSpPr>
            <p:cNvPr id="19462" name="Text Box 4"/>
            <p:cNvSpPr txBox="1">
              <a:spLocks noChangeArrowheads="1"/>
            </p:cNvSpPr>
            <p:nvPr/>
          </p:nvSpPr>
          <p:spPr bwMode="auto">
            <a:xfrm>
              <a:off x="768" y="3216"/>
              <a:ext cx="4265" cy="51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a:r>
                <a:rPr lang="en-US" altLang="zh-CN" b="1">
                  <a:solidFill>
                    <a:srgbClr val="FF3300"/>
                  </a:solidFill>
                  <a:latin typeface="楷体_GB2312" pitchFamily="49" charset="-122"/>
                </a:rPr>
                <a:t>2</a:t>
              </a:r>
              <a:r>
                <a:rPr lang="zh-CN" altLang="en-US" b="1">
                  <a:solidFill>
                    <a:srgbClr val="FF3300"/>
                  </a:solidFill>
                  <a:latin typeface="楷体_GB2312" pitchFamily="49" charset="-122"/>
                </a:rPr>
                <a:t>．强度削弱：</a:t>
              </a:r>
              <a:r>
                <a:rPr lang="zh-CN" altLang="en-US" b="1">
                  <a:solidFill>
                    <a:srgbClr val="000000"/>
                  </a:solidFill>
                  <a:latin typeface="楷体_GB2312" pitchFamily="49" charset="-122"/>
                </a:rPr>
                <a:t>把程序中执行</a:t>
              </a:r>
              <a:r>
                <a:rPr lang="zh-CN" altLang="en-US" b="1">
                  <a:solidFill>
                    <a:srgbClr val="FF3300"/>
                  </a:solidFill>
                  <a:latin typeface="楷体_GB2312" pitchFamily="49" charset="-122"/>
                </a:rPr>
                <a:t>时间较长</a:t>
              </a:r>
              <a:r>
                <a:rPr lang="zh-CN" altLang="en-US" b="1">
                  <a:solidFill>
                    <a:srgbClr val="000000"/>
                  </a:solidFill>
                  <a:latin typeface="楷体_GB2312" pitchFamily="49" charset="-122"/>
                </a:rPr>
                <a:t>的运算</a:t>
              </a:r>
              <a:r>
                <a:rPr lang="zh-CN" altLang="en-US" b="1">
                  <a:solidFill>
                    <a:srgbClr val="FF3300"/>
                  </a:solidFill>
                  <a:latin typeface="楷体_GB2312" pitchFamily="49" charset="-122"/>
                </a:rPr>
                <a:t>替换</a:t>
              </a:r>
              <a:r>
                <a:rPr lang="zh-CN" altLang="en-US" b="1">
                  <a:solidFill>
                    <a:srgbClr val="000000"/>
                  </a:solidFill>
                  <a:latin typeface="楷体_GB2312" pitchFamily="49" charset="-122"/>
                </a:rPr>
                <a:t>为执行</a:t>
              </a:r>
              <a:r>
                <a:rPr lang="zh-CN" altLang="en-US" b="1">
                  <a:solidFill>
                    <a:srgbClr val="FF3300"/>
                  </a:solidFill>
                  <a:latin typeface="楷体_GB2312" pitchFamily="49" charset="-122"/>
                </a:rPr>
                <a:t>时间较短</a:t>
              </a:r>
              <a:r>
                <a:rPr lang="zh-CN" altLang="en-US" b="1">
                  <a:solidFill>
                    <a:srgbClr val="000000"/>
                  </a:solidFill>
                  <a:latin typeface="楷体_GB2312" pitchFamily="49" charset="-122"/>
                </a:rPr>
                <a:t>的运算 。  </a:t>
              </a:r>
            </a:p>
          </p:txBody>
        </p:sp>
      </p:grpSp>
      <p:sp>
        <p:nvSpPr>
          <p:cNvPr id="19459" name="Text Box 5"/>
          <p:cNvSpPr txBox="1">
            <a:spLocks noChangeArrowheads="1"/>
          </p:cNvSpPr>
          <p:nvPr/>
        </p:nvSpPr>
        <p:spPr bwMode="auto">
          <a:xfrm>
            <a:off x="1981200" y="2057400"/>
            <a:ext cx="4191000" cy="216217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pPr>
            <a:r>
              <a:rPr lang="zh-CN" altLang="en-US" sz="2800" b="1">
                <a:solidFill>
                  <a:srgbClr val="FF0000"/>
                </a:solidFill>
              </a:rPr>
              <a:t>如：</a:t>
            </a:r>
            <a:r>
              <a:rPr lang="en-US" altLang="zh-CN" b="1"/>
              <a:t>x^2            </a:t>
            </a:r>
            <a:r>
              <a:rPr lang="en-US" altLang="zh-CN" b="1">
                <a:sym typeface="Wingdings" panose="05000000000000000000" pitchFamily="2" charset="2"/>
              </a:rPr>
              <a:t></a:t>
            </a:r>
            <a:r>
              <a:rPr lang="en-US" altLang="zh-CN" b="1"/>
              <a:t>  x*x</a:t>
            </a:r>
          </a:p>
          <a:p>
            <a:pPr algn="l" eaLnBrk="1" hangingPunct="1">
              <a:spcBef>
                <a:spcPct val="50000"/>
              </a:spcBef>
            </a:pPr>
            <a:r>
              <a:rPr lang="en-US" altLang="zh-CN" b="1"/>
              <a:t>         x/5</a:t>
            </a:r>
            <a:r>
              <a:rPr lang="zh-CN" altLang="en-US" b="1"/>
              <a:t>　           </a:t>
            </a:r>
            <a:r>
              <a:rPr lang="zh-CN" altLang="en-US" b="1">
                <a:sym typeface="Wingdings" panose="05000000000000000000" pitchFamily="2" charset="2"/>
              </a:rPr>
              <a:t></a:t>
            </a:r>
            <a:r>
              <a:rPr lang="zh-CN" altLang="en-US" b="1"/>
              <a:t>  </a:t>
            </a:r>
            <a:r>
              <a:rPr lang="en-US" altLang="zh-CN" b="1"/>
              <a:t>x*0.2</a:t>
            </a:r>
          </a:p>
          <a:p>
            <a:pPr algn="l" eaLnBrk="1" hangingPunct="1">
              <a:spcBef>
                <a:spcPct val="50000"/>
              </a:spcBef>
            </a:pPr>
            <a:r>
              <a:rPr lang="en-US" altLang="zh-CN" b="1"/>
              <a:t>         x*2 ,x*4      </a:t>
            </a:r>
            <a:r>
              <a:rPr lang="en-US" altLang="zh-CN" b="1">
                <a:sym typeface="Wingdings" panose="05000000000000000000" pitchFamily="2" charset="2"/>
              </a:rPr>
              <a:t></a:t>
            </a:r>
            <a:r>
              <a:rPr lang="en-US" altLang="zh-CN" b="1"/>
              <a:t>  </a:t>
            </a:r>
            <a:r>
              <a:rPr lang="zh-CN" altLang="en-US" b="1"/>
              <a:t>左移运算</a:t>
            </a:r>
          </a:p>
          <a:p>
            <a:pPr algn="l" eaLnBrk="1" hangingPunct="1">
              <a:spcBef>
                <a:spcPct val="50000"/>
              </a:spcBef>
            </a:pPr>
            <a:r>
              <a:rPr lang="zh-CN" altLang="en-US" b="1"/>
              <a:t>         </a:t>
            </a:r>
            <a:r>
              <a:rPr lang="en-US" altLang="zh-CN" b="1"/>
              <a:t>x/2 , x/4 </a:t>
            </a:r>
            <a:r>
              <a:rPr lang="zh-CN" altLang="en-US" b="1"/>
              <a:t>　 </a:t>
            </a:r>
            <a:r>
              <a:rPr lang="zh-CN" altLang="en-US" b="1">
                <a:sym typeface="Wingdings" panose="05000000000000000000" pitchFamily="2" charset="2"/>
              </a:rPr>
              <a:t>右</a:t>
            </a:r>
            <a:r>
              <a:rPr lang="zh-CN" altLang="en-US" b="1"/>
              <a:t>移运算</a:t>
            </a:r>
          </a:p>
        </p:txBody>
      </p:sp>
      <p:sp>
        <p:nvSpPr>
          <p:cNvPr id="19460" name="AutoShape 6"/>
          <p:cNvSpPr>
            <a:spLocks noChangeArrowheads="1"/>
          </p:cNvSpPr>
          <p:nvPr/>
        </p:nvSpPr>
        <p:spPr bwMode="auto">
          <a:xfrm>
            <a:off x="0" y="0"/>
            <a:ext cx="3810000" cy="609600"/>
          </a:xfrm>
          <a:prstGeom prst="roundRect">
            <a:avLst>
              <a:gd name="adj" fmla="val 16667"/>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800" b="1">
                <a:latin typeface="楷体_GB2312" pitchFamily="49" charset="-122"/>
              </a:rPr>
              <a:t>循环优化方法</a:t>
            </a:r>
          </a:p>
        </p:txBody>
      </p:sp>
      <p:sp>
        <p:nvSpPr>
          <p:cNvPr id="2" name="灯片编号占位符 1">
            <a:extLst>
              <a:ext uri="{FF2B5EF4-FFF2-40B4-BE49-F238E27FC236}">
                <a16:creationId xmlns:a16="http://schemas.microsoft.com/office/drawing/2014/main" id="{7CB74642-5D10-497E-A760-C08A39E1A7E1}"/>
              </a:ext>
            </a:extLst>
          </p:cNvPr>
          <p:cNvSpPr>
            <a:spLocks noGrp="1"/>
          </p:cNvSpPr>
          <p:nvPr>
            <p:ph type="sldNum" sz="quarter" idx="12"/>
          </p:nvPr>
        </p:nvSpPr>
        <p:spPr/>
        <p:txBody>
          <a:bodyPr/>
          <a:lstStyle/>
          <a:p>
            <a:fld id="{565CE74E-AB26-4998-AD42-012C4C1AD076}" type="slidenum">
              <a:rPr lang="zh-CN" altLang="en-US" smtClean="0"/>
              <a:t>87</a:t>
            </a:fld>
            <a:endParaRPr lang="zh-CN" altLang="en-US"/>
          </a:p>
        </p:txBody>
      </p:sp>
    </p:spTree>
    <p:extLst>
      <p:ext uri="{BB962C8B-B14F-4D97-AF65-F5344CB8AC3E}">
        <p14:creationId xmlns:p14="http://schemas.microsoft.com/office/powerpoint/2010/main" val="194818748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p:cNvSpPr>
            <a:spLocks noChangeArrowheads="1"/>
          </p:cNvSpPr>
          <p:nvPr/>
        </p:nvSpPr>
        <p:spPr bwMode="auto">
          <a:xfrm>
            <a:off x="0" y="0"/>
            <a:ext cx="3810000" cy="609600"/>
          </a:xfrm>
          <a:prstGeom prst="roundRect">
            <a:avLst>
              <a:gd name="adj" fmla="val 16667"/>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800" b="1">
                <a:latin typeface="楷体_GB2312" pitchFamily="49" charset="-122"/>
              </a:rPr>
              <a:t>循环优化方法</a:t>
            </a:r>
          </a:p>
        </p:txBody>
      </p:sp>
      <p:grpSp>
        <p:nvGrpSpPr>
          <p:cNvPr id="20483" name="Group 3"/>
          <p:cNvGrpSpPr>
            <a:grpSpLocks/>
          </p:cNvGrpSpPr>
          <p:nvPr/>
        </p:nvGrpSpPr>
        <p:grpSpPr bwMode="auto">
          <a:xfrm>
            <a:off x="457200" y="990600"/>
            <a:ext cx="7696200" cy="457200"/>
            <a:chOff x="528" y="3216"/>
            <a:chExt cx="4505" cy="288"/>
          </a:xfrm>
        </p:grpSpPr>
        <p:sp>
          <p:nvSpPr>
            <p:cNvPr id="204804" name="AutoShape 4"/>
            <p:cNvSpPr>
              <a:spLocks noChangeArrowheads="1"/>
            </p:cNvSpPr>
            <p:nvPr/>
          </p:nvSpPr>
          <p:spPr bwMode="auto">
            <a:xfrm>
              <a:off x="528" y="3264"/>
              <a:ext cx="187" cy="173"/>
            </a:xfrm>
            <a:prstGeom prst="star5">
              <a:avLst/>
            </a:prstGeom>
            <a:solidFill>
              <a:srgbClr val="FF3300"/>
            </a:solidFill>
            <a:ln w="12700">
              <a:solidFill>
                <a:srgbClr val="0037E8"/>
              </a:solidFill>
              <a:miter lim="800000"/>
              <a:headEnd/>
              <a:tailEnd/>
            </a:ln>
            <a:effectLst/>
          </p:spPr>
          <p:txBody>
            <a:bodyPr wrap="none" anchor="ctr"/>
            <a:lstStyle/>
            <a:p>
              <a:pPr>
                <a:defRPr/>
              </a:pPr>
              <a:endParaRPr lang="zh-CN" altLang="en-US"/>
            </a:p>
          </p:txBody>
        </p:sp>
        <p:sp>
          <p:nvSpPr>
            <p:cNvPr id="20490" name="Text Box 5"/>
            <p:cNvSpPr txBox="1">
              <a:spLocks noChangeArrowheads="1"/>
            </p:cNvSpPr>
            <p:nvPr/>
          </p:nvSpPr>
          <p:spPr bwMode="auto">
            <a:xfrm>
              <a:off x="768" y="3216"/>
              <a:ext cx="4265" cy="28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a:r>
                <a:rPr lang="en-US" altLang="zh-CN" b="1">
                  <a:solidFill>
                    <a:srgbClr val="FF3300"/>
                  </a:solidFill>
                  <a:latin typeface="楷体_GB2312" pitchFamily="49" charset="-122"/>
                </a:rPr>
                <a:t>3</a:t>
              </a:r>
              <a:r>
                <a:rPr lang="zh-CN" altLang="en-US" b="1">
                  <a:solidFill>
                    <a:srgbClr val="FF3300"/>
                  </a:solidFill>
                  <a:latin typeface="楷体_GB2312" pitchFamily="49" charset="-122"/>
                </a:rPr>
                <a:t>．删除归纳变量</a:t>
              </a:r>
              <a:endParaRPr lang="zh-CN" altLang="en-US" b="1">
                <a:solidFill>
                  <a:srgbClr val="000000"/>
                </a:solidFill>
                <a:latin typeface="楷体_GB2312" pitchFamily="49" charset="-122"/>
              </a:endParaRPr>
            </a:p>
          </p:txBody>
        </p:sp>
      </p:grpSp>
      <p:grpSp>
        <p:nvGrpSpPr>
          <p:cNvPr id="3" name="Group 6"/>
          <p:cNvGrpSpPr>
            <a:grpSpLocks/>
          </p:cNvGrpSpPr>
          <p:nvPr/>
        </p:nvGrpSpPr>
        <p:grpSpPr bwMode="auto">
          <a:xfrm>
            <a:off x="900113" y="4367213"/>
            <a:ext cx="6399212" cy="1006475"/>
            <a:chOff x="960" y="1296"/>
            <a:chExt cx="3641" cy="634"/>
          </a:xfrm>
        </p:grpSpPr>
        <p:sp>
          <p:nvSpPr>
            <p:cNvPr id="20487" name="Rectangle 7"/>
            <p:cNvSpPr>
              <a:spLocks noChangeArrowheads="1"/>
            </p:cNvSpPr>
            <p:nvPr/>
          </p:nvSpPr>
          <p:spPr bwMode="auto">
            <a:xfrm>
              <a:off x="960" y="1488"/>
              <a:ext cx="3168" cy="28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b="1">
                  <a:solidFill>
                    <a:srgbClr val="000000"/>
                  </a:solidFill>
                  <a:latin typeface="楷体_GB2312" pitchFamily="49" charset="-122"/>
                </a:rPr>
                <a:t>一个基本归纳变量一定是归纳变量。 </a:t>
              </a:r>
            </a:p>
          </p:txBody>
        </p:sp>
        <p:sp>
          <p:nvSpPr>
            <p:cNvPr id="20488" name="Rectangle 8"/>
            <p:cNvSpPr>
              <a:spLocks noChangeArrowheads="1"/>
            </p:cNvSpPr>
            <p:nvPr/>
          </p:nvSpPr>
          <p:spPr bwMode="auto">
            <a:xfrm>
              <a:off x="4061" y="1296"/>
              <a:ext cx="540"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eaLnBrk="1" hangingPunct="1"/>
              <a:r>
                <a:rPr lang="en-US" altLang="zh-CN" sz="6000" b="1">
                  <a:solidFill>
                    <a:srgbClr val="FF3300"/>
                  </a:solidFill>
                  <a:latin typeface="楷体_GB2312" pitchFamily="49" charset="-122"/>
                </a:rPr>
                <a:t>√</a:t>
              </a:r>
            </a:p>
          </p:txBody>
        </p:sp>
      </p:grpSp>
      <p:sp>
        <p:nvSpPr>
          <p:cNvPr id="204811" name="Text Box 11"/>
          <p:cNvSpPr txBox="1">
            <a:spLocks noChangeArrowheads="1"/>
          </p:cNvSpPr>
          <p:nvPr/>
        </p:nvSpPr>
        <p:spPr bwMode="auto">
          <a:xfrm>
            <a:off x="381000" y="2182813"/>
            <a:ext cx="8229600" cy="228282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a:buClr>
                <a:srgbClr val="FF3300"/>
              </a:buClr>
              <a:buFont typeface="Wingdings" panose="05000000000000000000" pitchFamily="2" charset="2"/>
              <a:buChar char="Ø"/>
            </a:pPr>
            <a:r>
              <a:rPr lang="zh-CN" altLang="en-US" b="1" dirty="0">
                <a:solidFill>
                  <a:srgbClr val="000000"/>
                </a:solidFill>
                <a:latin typeface="楷体_GB2312" pitchFamily="49" charset="-122"/>
              </a:rPr>
              <a:t>如果循环中变量</a:t>
            </a:r>
            <a:r>
              <a:rPr lang="en-US" altLang="zh-CN" b="1" dirty="0">
                <a:solidFill>
                  <a:srgbClr val="000000"/>
                </a:solidFill>
                <a:latin typeface="楷体_GB2312" pitchFamily="49" charset="-122"/>
              </a:rPr>
              <a:t>I</a:t>
            </a:r>
            <a:r>
              <a:rPr lang="zh-CN" altLang="en-US" b="1" dirty="0">
                <a:solidFill>
                  <a:srgbClr val="000000"/>
                </a:solidFill>
                <a:latin typeface="楷体_GB2312" pitchFamily="49" charset="-122"/>
              </a:rPr>
              <a:t>只有唯一的形如</a:t>
            </a:r>
            <a:r>
              <a:rPr lang="en-US" altLang="zh-CN" b="1" dirty="0">
                <a:solidFill>
                  <a:srgbClr val="000000"/>
                </a:solidFill>
                <a:latin typeface="楷体_GB2312" pitchFamily="49" charset="-122"/>
              </a:rPr>
              <a:t>I=I±C</a:t>
            </a:r>
            <a:r>
              <a:rPr lang="zh-CN" altLang="en-US" b="1" dirty="0">
                <a:solidFill>
                  <a:srgbClr val="000000"/>
                </a:solidFill>
                <a:latin typeface="楷体_GB2312" pitchFamily="49" charset="-122"/>
              </a:rPr>
              <a:t>的赋值，其中</a:t>
            </a:r>
            <a:r>
              <a:rPr lang="en-US" altLang="zh-CN" b="1" dirty="0">
                <a:solidFill>
                  <a:srgbClr val="000000"/>
                </a:solidFill>
                <a:latin typeface="楷体_GB2312" pitchFamily="49" charset="-122"/>
              </a:rPr>
              <a:t>C</a:t>
            </a:r>
            <a:r>
              <a:rPr lang="zh-CN" altLang="en-US" b="1" dirty="0">
                <a:solidFill>
                  <a:srgbClr val="000000"/>
                </a:solidFill>
                <a:latin typeface="楷体_GB2312" pitchFamily="49" charset="-122"/>
              </a:rPr>
              <a:t>为循环不变量，则称</a:t>
            </a:r>
            <a:r>
              <a:rPr lang="en-US" altLang="zh-CN" b="1" dirty="0">
                <a:solidFill>
                  <a:srgbClr val="000000"/>
                </a:solidFill>
                <a:latin typeface="楷体_GB2312" pitchFamily="49" charset="-122"/>
              </a:rPr>
              <a:t>I</a:t>
            </a:r>
            <a:r>
              <a:rPr lang="zh-CN" altLang="en-US" b="1" dirty="0">
                <a:solidFill>
                  <a:srgbClr val="000000"/>
                </a:solidFill>
                <a:latin typeface="楷体_GB2312" pitchFamily="49" charset="-122"/>
              </a:rPr>
              <a:t>为</a:t>
            </a:r>
            <a:r>
              <a:rPr lang="zh-CN" altLang="en-US" b="1" dirty="0">
                <a:solidFill>
                  <a:srgbClr val="FF3300"/>
                </a:solidFill>
                <a:latin typeface="楷体_GB2312" pitchFamily="49" charset="-122"/>
              </a:rPr>
              <a:t>基本归纳变量。</a:t>
            </a:r>
            <a:endParaRPr lang="zh-CN" altLang="en-US" b="1" dirty="0">
              <a:solidFill>
                <a:srgbClr val="000000"/>
              </a:solidFill>
              <a:latin typeface="楷体_GB2312" pitchFamily="49" charset="-122"/>
            </a:endParaRPr>
          </a:p>
          <a:p>
            <a:pPr algn="l">
              <a:buClr>
                <a:srgbClr val="FF3300"/>
              </a:buClr>
              <a:buFont typeface="Wingdings" panose="05000000000000000000" pitchFamily="2" charset="2"/>
              <a:buChar char="Ø"/>
            </a:pPr>
            <a:r>
              <a:rPr lang="zh-CN" altLang="en-US" b="1" dirty="0">
                <a:solidFill>
                  <a:srgbClr val="000000"/>
                </a:solidFill>
                <a:latin typeface="楷体_GB2312" pitchFamily="49" charset="-122"/>
              </a:rPr>
              <a:t>如果</a:t>
            </a:r>
            <a:r>
              <a:rPr lang="en-US" altLang="zh-CN" b="1" dirty="0">
                <a:solidFill>
                  <a:srgbClr val="000000"/>
                </a:solidFill>
                <a:latin typeface="楷体_GB2312" pitchFamily="49" charset="-122"/>
              </a:rPr>
              <a:t>I</a:t>
            </a:r>
            <a:r>
              <a:rPr lang="zh-CN" altLang="en-US" b="1" dirty="0">
                <a:solidFill>
                  <a:srgbClr val="000000"/>
                </a:solidFill>
                <a:latin typeface="楷体_GB2312" pitchFamily="49" charset="-122"/>
              </a:rPr>
              <a:t>为循环中的基本归纳变量，循环中的另一变量</a:t>
            </a:r>
            <a:r>
              <a:rPr lang="en-US" altLang="zh-CN" b="1" dirty="0">
                <a:solidFill>
                  <a:srgbClr val="000000"/>
                </a:solidFill>
                <a:latin typeface="楷体_GB2312" pitchFamily="49" charset="-122"/>
              </a:rPr>
              <a:t>J</a:t>
            </a:r>
            <a:r>
              <a:rPr lang="zh-CN" altLang="en-US" b="1" dirty="0">
                <a:solidFill>
                  <a:srgbClr val="000000"/>
                </a:solidFill>
                <a:latin typeface="楷体_GB2312" pitchFamily="49" charset="-122"/>
              </a:rPr>
              <a:t>可以表示为</a:t>
            </a:r>
            <a:r>
              <a:rPr lang="en-US" altLang="zh-CN" b="1" dirty="0">
                <a:solidFill>
                  <a:srgbClr val="000000"/>
                </a:solidFill>
                <a:latin typeface="楷体_GB2312" pitchFamily="49" charset="-122"/>
              </a:rPr>
              <a:t>I</a:t>
            </a:r>
            <a:r>
              <a:rPr lang="zh-CN" altLang="en-US" b="1" dirty="0">
                <a:solidFill>
                  <a:srgbClr val="000000"/>
                </a:solidFill>
                <a:latin typeface="楷体_GB2312" pitchFamily="49" charset="-122"/>
              </a:rPr>
              <a:t>的线性函数形式：</a:t>
            </a:r>
          </a:p>
          <a:p>
            <a:pPr algn="just"/>
            <a:r>
              <a:rPr lang="en-US" altLang="zh-CN" b="1" dirty="0">
                <a:solidFill>
                  <a:srgbClr val="000000"/>
                </a:solidFill>
                <a:latin typeface="楷体_GB2312" pitchFamily="49" charset="-122"/>
              </a:rPr>
              <a:t>J= C1*I±C2</a:t>
            </a:r>
          </a:p>
          <a:p>
            <a:pPr algn="l"/>
            <a:r>
              <a:rPr lang="en-US" altLang="zh-CN" b="1" dirty="0">
                <a:solidFill>
                  <a:srgbClr val="000000"/>
                </a:solidFill>
                <a:latin typeface="楷体_GB2312" pitchFamily="49" charset="-122"/>
              </a:rPr>
              <a:t>C1</a:t>
            </a:r>
            <a:r>
              <a:rPr lang="zh-CN" altLang="en-US" b="1" dirty="0">
                <a:solidFill>
                  <a:srgbClr val="000000"/>
                </a:solidFill>
                <a:latin typeface="楷体_GB2312" pitchFamily="49" charset="-122"/>
              </a:rPr>
              <a:t>和</a:t>
            </a:r>
            <a:r>
              <a:rPr lang="en-US" altLang="zh-CN" b="1" dirty="0">
                <a:solidFill>
                  <a:srgbClr val="000000"/>
                </a:solidFill>
                <a:latin typeface="楷体_GB2312" pitchFamily="49" charset="-122"/>
              </a:rPr>
              <a:t>C2</a:t>
            </a:r>
            <a:r>
              <a:rPr lang="zh-CN" altLang="en-US" b="1" dirty="0">
                <a:solidFill>
                  <a:srgbClr val="000000"/>
                </a:solidFill>
                <a:latin typeface="楷体_GB2312" pitchFamily="49" charset="-122"/>
              </a:rPr>
              <a:t>是循环不变量，则称</a:t>
            </a:r>
            <a:r>
              <a:rPr lang="en-US" altLang="zh-CN" b="1" dirty="0">
                <a:solidFill>
                  <a:srgbClr val="000000"/>
                </a:solidFill>
                <a:latin typeface="楷体_GB2312" pitchFamily="49" charset="-122"/>
              </a:rPr>
              <a:t>J</a:t>
            </a:r>
            <a:r>
              <a:rPr lang="zh-CN" altLang="en-US" b="1" dirty="0">
                <a:solidFill>
                  <a:srgbClr val="000000"/>
                </a:solidFill>
                <a:latin typeface="楷体_GB2312" pitchFamily="49" charset="-122"/>
              </a:rPr>
              <a:t>为循环中与</a:t>
            </a:r>
            <a:r>
              <a:rPr lang="en-US" altLang="zh-CN" b="1" dirty="0">
                <a:solidFill>
                  <a:srgbClr val="000000"/>
                </a:solidFill>
                <a:latin typeface="楷体_GB2312" pitchFamily="49" charset="-122"/>
              </a:rPr>
              <a:t>I</a:t>
            </a:r>
            <a:r>
              <a:rPr lang="zh-CN" altLang="en-US" b="1" dirty="0">
                <a:solidFill>
                  <a:srgbClr val="000000"/>
                </a:solidFill>
                <a:latin typeface="楷体_GB2312" pitchFamily="49" charset="-122"/>
              </a:rPr>
              <a:t>同族的</a:t>
            </a:r>
            <a:r>
              <a:rPr lang="zh-CN" altLang="en-US" b="1" dirty="0">
                <a:solidFill>
                  <a:srgbClr val="FF3300"/>
                </a:solidFill>
                <a:latin typeface="楷体_GB2312" pitchFamily="49" charset="-122"/>
              </a:rPr>
              <a:t>归纳变量</a:t>
            </a:r>
            <a:r>
              <a:rPr lang="zh-CN" altLang="en-US" b="1" dirty="0">
                <a:solidFill>
                  <a:srgbClr val="000000"/>
                </a:solidFill>
                <a:latin typeface="楷体_GB2312" pitchFamily="49" charset="-122"/>
              </a:rPr>
              <a:t>。 </a:t>
            </a:r>
          </a:p>
        </p:txBody>
      </p:sp>
      <p:sp>
        <p:nvSpPr>
          <p:cNvPr id="209923" name="AutoShape 3"/>
          <p:cNvSpPr>
            <a:spLocks noChangeArrowheads="1"/>
          </p:cNvSpPr>
          <p:nvPr/>
        </p:nvSpPr>
        <p:spPr bwMode="auto">
          <a:xfrm>
            <a:off x="4500563" y="549275"/>
            <a:ext cx="4175125" cy="1439863"/>
          </a:xfrm>
          <a:prstGeom prst="cloudCallout">
            <a:avLst>
              <a:gd name="adj1" fmla="val -78861"/>
              <a:gd name="adj2" fmla="val -1046"/>
            </a:avLst>
          </a:prstGeom>
          <a:solidFill>
            <a:srgbClr val="C7F8A2"/>
          </a:solidFill>
          <a:ln w="41275">
            <a:solidFill>
              <a:srgbClr val="CC99FF"/>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just" eaLnBrk="1" hangingPunct="1"/>
            <a:r>
              <a:rPr lang="zh-CN" altLang="en-US" sz="1800" b="1" dirty="0"/>
              <a:t>当</a:t>
            </a:r>
            <a:r>
              <a:rPr lang="en-US" altLang="zh-CN" sz="1800" b="1" dirty="0"/>
              <a:t>I</a:t>
            </a:r>
            <a:r>
              <a:rPr lang="zh-CN" altLang="en-US" sz="1800" b="1" dirty="0"/>
              <a:t>只用来计算其他归纳变量</a:t>
            </a:r>
            <a:r>
              <a:rPr lang="en-US" altLang="zh-CN" sz="1800" b="1" dirty="0"/>
              <a:t>J</a:t>
            </a:r>
            <a:r>
              <a:rPr lang="zh-CN" altLang="en-US" sz="1800" b="1" dirty="0"/>
              <a:t>控制循环时，可以用</a:t>
            </a:r>
            <a:r>
              <a:rPr lang="en-US" altLang="zh-CN" sz="1800" b="1" dirty="0"/>
              <a:t>J</a:t>
            </a:r>
            <a:r>
              <a:rPr lang="zh-CN" altLang="en-US" sz="1800" b="1" dirty="0"/>
              <a:t>来替换循环控制条件</a:t>
            </a:r>
            <a:r>
              <a:rPr lang="en-US" altLang="zh-CN" sz="1800" b="1" dirty="0"/>
              <a:t>I</a:t>
            </a:r>
            <a:r>
              <a:rPr lang="zh-CN" altLang="en-US" sz="1800" b="1" dirty="0"/>
              <a:t>，并且</a:t>
            </a:r>
            <a:r>
              <a:rPr lang="zh-CN" altLang="en-US" sz="1800" b="1" dirty="0">
                <a:solidFill>
                  <a:srgbClr val="FF3300"/>
                </a:solidFill>
              </a:rPr>
              <a:t>把</a:t>
            </a:r>
            <a:r>
              <a:rPr lang="en-US" altLang="zh-CN" sz="1800" b="1" dirty="0">
                <a:solidFill>
                  <a:srgbClr val="FF3300"/>
                </a:solidFill>
              </a:rPr>
              <a:t>I</a:t>
            </a:r>
            <a:r>
              <a:rPr lang="zh-CN" altLang="en-US" sz="1800" b="1" dirty="0">
                <a:solidFill>
                  <a:srgbClr val="FF3300"/>
                </a:solidFill>
              </a:rPr>
              <a:t>删除</a:t>
            </a:r>
          </a:p>
        </p:txBody>
      </p:sp>
      <p:sp>
        <p:nvSpPr>
          <p:cNvPr id="2" name="灯片编号占位符 1">
            <a:extLst>
              <a:ext uri="{FF2B5EF4-FFF2-40B4-BE49-F238E27FC236}">
                <a16:creationId xmlns:a16="http://schemas.microsoft.com/office/drawing/2014/main" id="{A00506E8-3E3C-422D-90CD-552B229BFEAB}"/>
              </a:ext>
            </a:extLst>
          </p:cNvPr>
          <p:cNvSpPr>
            <a:spLocks noGrp="1"/>
          </p:cNvSpPr>
          <p:nvPr>
            <p:ph type="sldNum" sz="quarter" idx="12"/>
          </p:nvPr>
        </p:nvSpPr>
        <p:spPr/>
        <p:txBody>
          <a:bodyPr/>
          <a:lstStyle/>
          <a:p>
            <a:fld id="{565CE74E-AB26-4998-AD42-012C4C1AD076}" type="slidenum">
              <a:rPr lang="zh-CN" altLang="en-US" smtClean="0"/>
              <a:t>88</a:t>
            </a:fld>
            <a:endParaRPr lang="zh-CN" altLang="en-US"/>
          </a:p>
        </p:txBody>
      </p:sp>
    </p:spTree>
    <p:extLst>
      <p:ext uri="{BB962C8B-B14F-4D97-AF65-F5344CB8AC3E}">
        <p14:creationId xmlns:p14="http://schemas.microsoft.com/office/powerpoint/2010/main" val="16507939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04811">
                                            <p:bg/>
                                          </p:spTgt>
                                        </p:tgtEl>
                                        <p:attrNameLst>
                                          <p:attrName>style.visibility</p:attrName>
                                        </p:attrNameLst>
                                      </p:cBhvr>
                                      <p:to>
                                        <p:strVal val="visible"/>
                                      </p:to>
                                    </p:set>
                                    <p:animEffect transition="in" filter="box(in)">
                                      <p:cBhvr>
                                        <p:cTn id="7" dur="500"/>
                                        <p:tgtEl>
                                          <p:spTgt spid="204811">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04811">
                                            <p:txEl>
                                              <p:pRg st="0" end="0"/>
                                            </p:txEl>
                                          </p:spTgt>
                                        </p:tgtEl>
                                        <p:attrNameLst>
                                          <p:attrName>style.visibility</p:attrName>
                                        </p:attrNameLst>
                                      </p:cBhvr>
                                      <p:to>
                                        <p:strVal val="visible"/>
                                      </p:to>
                                    </p:set>
                                    <p:animEffect transition="in" filter="box(in)">
                                      <p:cBhvr>
                                        <p:cTn id="12" dur="500"/>
                                        <p:tgtEl>
                                          <p:spTgt spid="20481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04811">
                                            <p:txEl>
                                              <p:pRg st="1" end="1"/>
                                            </p:txEl>
                                          </p:spTgt>
                                        </p:tgtEl>
                                        <p:attrNameLst>
                                          <p:attrName>style.visibility</p:attrName>
                                        </p:attrNameLst>
                                      </p:cBhvr>
                                      <p:to>
                                        <p:strVal val="visible"/>
                                      </p:to>
                                    </p:set>
                                    <p:animEffect transition="in" filter="box(in)">
                                      <p:cBhvr>
                                        <p:cTn id="17" dur="500"/>
                                        <p:tgtEl>
                                          <p:spTgt spid="20481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04811">
                                            <p:txEl>
                                              <p:pRg st="2" end="2"/>
                                            </p:txEl>
                                          </p:spTgt>
                                        </p:tgtEl>
                                        <p:attrNameLst>
                                          <p:attrName>style.visibility</p:attrName>
                                        </p:attrNameLst>
                                      </p:cBhvr>
                                      <p:to>
                                        <p:strVal val="visible"/>
                                      </p:to>
                                    </p:set>
                                    <p:animEffect transition="in" filter="box(in)">
                                      <p:cBhvr>
                                        <p:cTn id="22" dur="500"/>
                                        <p:tgtEl>
                                          <p:spTgt spid="204811">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04811">
                                            <p:txEl>
                                              <p:pRg st="3" end="3"/>
                                            </p:txEl>
                                          </p:spTgt>
                                        </p:tgtEl>
                                        <p:attrNameLst>
                                          <p:attrName>style.visibility</p:attrName>
                                        </p:attrNameLst>
                                      </p:cBhvr>
                                      <p:to>
                                        <p:strVal val="visible"/>
                                      </p:to>
                                    </p:set>
                                    <p:animEffect transition="in" filter="box(in)">
                                      <p:cBhvr>
                                        <p:cTn id="27" dur="500"/>
                                        <p:tgtEl>
                                          <p:spTgt spid="204811">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8" presetClass="entr" presetSubtype="16"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diamond(in)">
                                      <p:cBhvr>
                                        <p:cTn id="32" dur="20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09923"/>
                                        </p:tgtEl>
                                        <p:attrNameLst>
                                          <p:attrName>style.visibility</p:attrName>
                                        </p:attrNameLst>
                                      </p:cBhvr>
                                      <p:to>
                                        <p:strVal val="visible"/>
                                      </p:to>
                                    </p:set>
                                    <p:anim calcmode="lin" valueType="num">
                                      <p:cBhvr additive="base">
                                        <p:cTn id="37" dur="500" fill="hold"/>
                                        <p:tgtEl>
                                          <p:spTgt spid="209923"/>
                                        </p:tgtEl>
                                        <p:attrNameLst>
                                          <p:attrName>ppt_x</p:attrName>
                                        </p:attrNameLst>
                                      </p:cBhvr>
                                      <p:tavLst>
                                        <p:tav tm="0">
                                          <p:val>
                                            <p:strVal val="#ppt_x"/>
                                          </p:val>
                                        </p:tav>
                                        <p:tav tm="100000">
                                          <p:val>
                                            <p:strVal val="#ppt_x"/>
                                          </p:val>
                                        </p:tav>
                                      </p:tavLst>
                                    </p:anim>
                                    <p:anim calcmode="lin" valueType="num">
                                      <p:cBhvr additive="base">
                                        <p:cTn id="38" dur="500" fill="hold"/>
                                        <p:tgtEl>
                                          <p:spTgt spid="2099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11" grpId="0" build="p" animBg="1"/>
      <p:bldP spid="209923"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4"/>
          <p:cNvSpPr txBox="1">
            <a:spLocks noChangeArrowheads="1"/>
          </p:cNvSpPr>
          <p:nvPr/>
        </p:nvSpPr>
        <p:spPr bwMode="auto">
          <a:xfrm>
            <a:off x="900113" y="1412875"/>
            <a:ext cx="2879725" cy="1590675"/>
          </a:xfrm>
          <a:prstGeom prst="rect">
            <a:avLst/>
          </a:prstGeom>
          <a:solidFill>
            <a:srgbClr val="FFFFCC"/>
          </a:solidFill>
          <a:ln w="38100">
            <a:solidFill>
              <a:srgbClr val="FF6600"/>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en-US" altLang="zh-CN" b="1">
                <a:solidFill>
                  <a:schemeClr val="accent2"/>
                </a:solidFill>
              </a:rPr>
              <a:t>1.</a:t>
            </a:r>
            <a:r>
              <a:rPr lang="zh-CN" altLang="en-US" b="1">
                <a:solidFill>
                  <a:schemeClr val="accent2"/>
                </a:solidFill>
              </a:rPr>
              <a:t>完整拷贝</a:t>
            </a:r>
            <a:r>
              <a:rPr lang="en-US" altLang="zh-CN" b="1">
                <a:solidFill>
                  <a:schemeClr val="accent2"/>
                </a:solidFill>
              </a:rPr>
              <a:t>; </a:t>
            </a:r>
          </a:p>
          <a:p>
            <a:pPr algn="l" eaLnBrk="1" hangingPunct="1"/>
            <a:r>
              <a:rPr lang="en-US" altLang="zh-CN" b="1">
                <a:solidFill>
                  <a:schemeClr val="accent2"/>
                </a:solidFill>
              </a:rPr>
              <a:t>2.</a:t>
            </a:r>
            <a:r>
              <a:rPr lang="zh-CN" altLang="en-US" b="1">
                <a:solidFill>
                  <a:schemeClr val="accent2"/>
                </a:solidFill>
              </a:rPr>
              <a:t>修改注释</a:t>
            </a:r>
            <a:r>
              <a:rPr lang="en-US" altLang="zh-CN" b="1">
                <a:solidFill>
                  <a:schemeClr val="accent2"/>
                </a:solidFill>
              </a:rPr>
              <a:t>; </a:t>
            </a:r>
          </a:p>
          <a:p>
            <a:pPr algn="l" eaLnBrk="1" hangingPunct="1"/>
            <a:r>
              <a:rPr lang="en-US" altLang="zh-CN" b="1">
                <a:solidFill>
                  <a:schemeClr val="accent2"/>
                </a:solidFill>
              </a:rPr>
              <a:t>3.</a:t>
            </a:r>
            <a:r>
              <a:rPr lang="zh-CN" altLang="en-US" b="1">
                <a:solidFill>
                  <a:schemeClr val="accent2"/>
                </a:solidFill>
              </a:rPr>
              <a:t>重新排版</a:t>
            </a:r>
            <a:r>
              <a:rPr lang="en-US" altLang="zh-CN" b="1">
                <a:solidFill>
                  <a:schemeClr val="accent2"/>
                </a:solidFill>
              </a:rPr>
              <a:t>; </a:t>
            </a:r>
          </a:p>
          <a:p>
            <a:pPr algn="l" eaLnBrk="1" hangingPunct="1"/>
            <a:r>
              <a:rPr lang="en-US" altLang="zh-CN" b="1">
                <a:solidFill>
                  <a:schemeClr val="accent2"/>
                </a:solidFill>
              </a:rPr>
              <a:t>4.</a:t>
            </a:r>
            <a:r>
              <a:rPr lang="zh-CN" altLang="en-US" b="1">
                <a:solidFill>
                  <a:schemeClr val="accent2"/>
                </a:solidFill>
              </a:rPr>
              <a:t>标识符重命名</a:t>
            </a:r>
            <a:r>
              <a:rPr lang="en-US" altLang="zh-CN" b="1">
                <a:solidFill>
                  <a:schemeClr val="accent2"/>
                </a:solidFill>
              </a:rPr>
              <a:t>; </a:t>
            </a:r>
          </a:p>
        </p:txBody>
      </p:sp>
      <p:sp>
        <p:nvSpPr>
          <p:cNvPr id="21507" name="AutoShape 5"/>
          <p:cNvSpPr>
            <a:spLocks noChangeArrowheads="1"/>
          </p:cNvSpPr>
          <p:nvPr/>
        </p:nvSpPr>
        <p:spPr bwMode="auto">
          <a:xfrm>
            <a:off x="0" y="0"/>
            <a:ext cx="7308850" cy="692150"/>
          </a:xfrm>
          <a:prstGeom prst="roundRect">
            <a:avLst>
              <a:gd name="adj" fmla="val 16667"/>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sz="2800" b="1">
                <a:latin typeface="楷体_GB2312" pitchFamily="49" charset="-122"/>
              </a:rPr>
              <a:t>代码优化技术在程序相似性判断中的应用</a:t>
            </a:r>
          </a:p>
        </p:txBody>
      </p:sp>
      <p:sp>
        <p:nvSpPr>
          <p:cNvPr id="21508" name="Text Box 6"/>
          <p:cNvSpPr txBox="1">
            <a:spLocks noChangeArrowheads="1"/>
          </p:cNvSpPr>
          <p:nvPr/>
        </p:nvSpPr>
        <p:spPr bwMode="auto">
          <a:xfrm>
            <a:off x="250825" y="908050"/>
            <a:ext cx="6337300" cy="4572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b="1"/>
              <a:t>根据程序抄袭所付出的努力</a:t>
            </a:r>
            <a:r>
              <a:rPr lang="en-US" altLang="zh-CN" b="1"/>
              <a:t>,</a:t>
            </a:r>
            <a:r>
              <a:rPr lang="zh-CN" altLang="en-US" b="1"/>
              <a:t>从易到难依次为</a:t>
            </a:r>
            <a:r>
              <a:rPr lang="en-US" altLang="zh-CN" b="1"/>
              <a:t>: </a:t>
            </a:r>
          </a:p>
        </p:txBody>
      </p:sp>
      <p:sp>
        <p:nvSpPr>
          <p:cNvPr id="21509" name="AutoShape 7"/>
          <p:cNvSpPr>
            <a:spLocks noChangeArrowheads="1"/>
          </p:cNvSpPr>
          <p:nvPr/>
        </p:nvSpPr>
        <p:spPr bwMode="auto">
          <a:xfrm>
            <a:off x="4500563" y="1412875"/>
            <a:ext cx="4071937" cy="1158875"/>
          </a:xfrm>
          <a:prstGeom prst="cloudCallout">
            <a:avLst>
              <a:gd name="adj1" fmla="val -98190"/>
              <a:gd name="adj2" fmla="val -19537"/>
            </a:avLst>
          </a:prstGeom>
          <a:solidFill>
            <a:srgbClr val="CCFFCC"/>
          </a:solidFill>
          <a:ln w="9525">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b="1"/>
              <a:t>低级的：不影响编译生成的目标代码</a:t>
            </a:r>
          </a:p>
        </p:txBody>
      </p:sp>
      <p:sp>
        <p:nvSpPr>
          <p:cNvPr id="21510" name="Text Box 8"/>
          <p:cNvSpPr txBox="1">
            <a:spLocks noChangeArrowheads="1"/>
          </p:cNvSpPr>
          <p:nvPr/>
        </p:nvSpPr>
        <p:spPr bwMode="auto">
          <a:xfrm>
            <a:off x="902726" y="3068638"/>
            <a:ext cx="4968875" cy="1590675"/>
          </a:xfrm>
          <a:prstGeom prst="rect">
            <a:avLst/>
          </a:prstGeom>
          <a:solidFill>
            <a:srgbClr val="FFFFCC"/>
          </a:solidFill>
          <a:ln w="38100">
            <a:solidFill>
              <a:srgbClr val="993300"/>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en-US" altLang="zh-CN" b="1">
                <a:solidFill>
                  <a:schemeClr val="accent2"/>
                </a:solidFill>
              </a:rPr>
              <a:t>5.</a:t>
            </a:r>
            <a:r>
              <a:rPr lang="zh-CN" altLang="en-US" b="1">
                <a:solidFill>
                  <a:schemeClr val="accent2"/>
                </a:solidFill>
              </a:rPr>
              <a:t>常量替换</a:t>
            </a:r>
            <a:r>
              <a:rPr lang="en-US" altLang="zh-CN" b="1">
                <a:solidFill>
                  <a:schemeClr val="accent2"/>
                </a:solidFill>
              </a:rPr>
              <a:t>; </a:t>
            </a:r>
          </a:p>
          <a:p>
            <a:pPr algn="l" eaLnBrk="1" hangingPunct="1"/>
            <a:r>
              <a:rPr lang="en-US" altLang="zh-CN" b="1">
                <a:solidFill>
                  <a:schemeClr val="accent2"/>
                </a:solidFill>
              </a:rPr>
              <a:t>6.</a:t>
            </a:r>
            <a:r>
              <a:rPr lang="zh-CN" altLang="en-US" b="1">
                <a:solidFill>
                  <a:schemeClr val="accent2"/>
                </a:solidFill>
              </a:rPr>
              <a:t>增加冗余的语句或者变量</a:t>
            </a:r>
            <a:r>
              <a:rPr lang="en-US" altLang="zh-CN" b="1">
                <a:solidFill>
                  <a:schemeClr val="accent2"/>
                </a:solidFill>
              </a:rPr>
              <a:t>; </a:t>
            </a:r>
          </a:p>
          <a:p>
            <a:pPr algn="l" eaLnBrk="1" hangingPunct="1"/>
            <a:r>
              <a:rPr lang="en-US" altLang="zh-CN" b="1">
                <a:solidFill>
                  <a:schemeClr val="accent2"/>
                </a:solidFill>
              </a:rPr>
              <a:t>7.</a:t>
            </a:r>
            <a:r>
              <a:rPr lang="zh-CN" altLang="en-US" b="1">
                <a:solidFill>
                  <a:schemeClr val="accent2"/>
                </a:solidFill>
              </a:rPr>
              <a:t>表达式简单拆分</a:t>
            </a:r>
            <a:r>
              <a:rPr lang="en-US" altLang="zh-CN" b="1">
                <a:solidFill>
                  <a:schemeClr val="accent2"/>
                </a:solidFill>
              </a:rPr>
              <a:t>; </a:t>
            </a:r>
          </a:p>
          <a:p>
            <a:pPr algn="l" eaLnBrk="1" hangingPunct="1"/>
            <a:r>
              <a:rPr lang="en-US" altLang="zh-CN" b="1">
                <a:solidFill>
                  <a:schemeClr val="accent2"/>
                </a:solidFill>
              </a:rPr>
              <a:t>8. </a:t>
            </a:r>
            <a:r>
              <a:rPr lang="zh-CN" altLang="en-US" b="1">
                <a:solidFill>
                  <a:schemeClr val="accent2"/>
                </a:solidFill>
              </a:rPr>
              <a:t>替换控制结构为等价的控制结构</a:t>
            </a:r>
          </a:p>
        </p:txBody>
      </p:sp>
      <p:sp>
        <p:nvSpPr>
          <p:cNvPr id="21511" name="Text Box 10"/>
          <p:cNvSpPr txBox="1">
            <a:spLocks noChangeArrowheads="1"/>
          </p:cNvSpPr>
          <p:nvPr/>
        </p:nvSpPr>
        <p:spPr bwMode="auto">
          <a:xfrm>
            <a:off x="900113" y="4797425"/>
            <a:ext cx="5975350" cy="1225550"/>
          </a:xfrm>
          <a:prstGeom prst="rect">
            <a:avLst/>
          </a:prstGeom>
          <a:solidFill>
            <a:srgbClr val="FFFFCC"/>
          </a:solidFill>
          <a:ln w="38100">
            <a:solidFill>
              <a:srgbClr val="FF6600"/>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en-US" altLang="zh-CN" b="1">
                <a:solidFill>
                  <a:schemeClr val="accent2"/>
                </a:solidFill>
              </a:rPr>
              <a:t>9.</a:t>
            </a:r>
            <a:r>
              <a:rPr lang="zh-CN" altLang="en-US" b="1">
                <a:solidFill>
                  <a:schemeClr val="accent2"/>
                </a:solidFill>
              </a:rPr>
              <a:t>改变表达式中的操作符或者操作数顺序</a:t>
            </a:r>
            <a:r>
              <a:rPr lang="en-US" altLang="zh-CN" b="1">
                <a:solidFill>
                  <a:schemeClr val="accent2"/>
                </a:solidFill>
              </a:rPr>
              <a:t>;</a:t>
            </a:r>
          </a:p>
          <a:p>
            <a:pPr algn="l" eaLnBrk="1" hangingPunct="1"/>
            <a:r>
              <a:rPr lang="en-US" altLang="zh-CN" b="1">
                <a:solidFill>
                  <a:schemeClr val="accent2"/>
                </a:solidFill>
              </a:rPr>
              <a:t>10.</a:t>
            </a:r>
            <a:r>
              <a:rPr lang="zh-CN" altLang="en-US" b="1">
                <a:solidFill>
                  <a:schemeClr val="accent2"/>
                </a:solidFill>
              </a:rPr>
              <a:t>代码块重排序</a:t>
            </a:r>
            <a:r>
              <a:rPr lang="en-US" altLang="zh-CN" b="1">
                <a:solidFill>
                  <a:schemeClr val="accent2"/>
                </a:solidFill>
              </a:rPr>
              <a:t>; </a:t>
            </a:r>
          </a:p>
          <a:p>
            <a:pPr algn="l" eaLnBrk="1" hangingPunct="1"/>
            <a:r>
              <a:rPr lang="en-US" altLang="zh-CN" b="1">
                <a:solidFill>
                  <a:schemeClr val="accent2"/>
                </a:solidFill>
              </a:rPr>
              <a:t>11.</a:t>
            </a:r>
            <a:r>
              <a:rPr lang="zh-CN" altLang="en-US" b="1">
                <a:solidFill>
                  <a:schemeClr val="accent2"/>
                </a:solidFill>
              </a:rPr>
              <a:t>代码块内语句重排序。</a:t>
            </a:r>
          </a:p>
        </p:txBody>
      </p:sp>
      <p:sp>
        <p:nvSpPr>
          <p:cNvPr id="21512" name="AutoShape 11"/>
          <p:cNvSpPr>
            <a:spLocks noChangeArrowheads="1"/>
          </p:cNvSpPr>
          <p:nvPr/>
        </p:nvSpPr>
        <p:spPr bwMode="auto">
          <a:xfrm>
            <a:off x="5867400" y="2997200"/>
            <a:ext cx="3024188" cy="1511300"/>
          </a:xfrm>
          <a:prstGeom prst="cloudCallout">
            <a:avLst>
              <a:gd name="adj1" fmla="val -99134"/>
              <a:gd name="adj2" fmla="val 15755"/>
            </a:avLst>
          </a:prstGeom>
          <a:solidFill>
            <a:srgbClr val="CCFFCC"/>
          </a:solidFill>
          <a:ln w="9525">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b="1"/>
              <a:t>高级的：在编译优化阶段即可消除</a:t>
            </a:r>
            <a:r>
              <a:rPr lang="zh-CN" altLang="en-US"/>
              <a:t> </a:t>
            </a:r>
          </a:p>
        </p:txBody>
      </p:sp>
      <p:sp>
        <p:nvSpPr>
          <p:cNvPr id="21513" name="AutoShape 9"/>
          <p:cNvSpPr>
            <a:spLocks noChangeArrowheads="1"/>
          </p:cNvSpPr>
          <p:nvPr/>
        </p:nvSpPr>
        <p:spPr bwMode="auto">
          <a:xfrm>
            <a:off x="5256213" y="5157788"/>
            <a:ext cx="3887787" cy="1511300"/>
          </a:xfrm>
          <a:prstGeom prst="cloudCallout">
            <a:avLst>
              <a:gd name="adj1" fmla="val -88134"/>
              <a:gd name="adj2" fmla="val -33718"/>
            </a:avLst>
          </a:prstGeom>
          <a:solidFill>
            <a:srgbClr val="CCFFCC"/>
          </a:solidFill>
          <a:ln w="9525">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pPr algn="l" eaLnBrk="1" hangingPunct="1"/>
            <a:r>
              <a:rPr lang="zh-CN" altLang="en-US" b="1"/>
              <a:t>高级的：优化阶段不能消除，借助反汇编技术</a:t>
            </a:r>
            <a:r>
              <a:rPr lang="zh-CN" altLang="en-US"/>
              <a:t> </a:t>
            </a:r>
          </a:p>
        </p:txBody>
      </p:sp>
      <p:sp>
        <p:nvSpPr>
          <p:cNvPr id="2" name="灯片编号占位符 1">
            <a:extLst>
              <a:ext uri="{FF2B5EF4-FFF2-40B4-BE49-F238E27FC236}">
                <a16:creationId xmlns:a16="http://schemas.microsoft.com/office/drawing/2014/main" id="{7BCE22A3-D860-40A3-9C07-C7504703056B}"/>
              </a:ext>
            </a:extLst>
          </p:cNvPr>
          <p:cNvSpPr>
            <a:spLocks noGrp="1"/>
          </p:cNvSpPr>
          <p:nvPr>
            <p:ph type="sldNum" sz="quarter" idx="12"/>
          </p:nvPr>
        </p:nvSpPr>
        <p:spPr/>
        <p:txBody>
          <a:bodyPr/>
          <a:lstStyle/>
          <a:p>
            <a:fld id="{565CE74E-AB26-4998-AD42-012C4C1AD076}" type="slidenum">
              <a:rPr lang="zh-CN" altLang="en-US" smtClean="0"/>
              <a:t>89</a:t>
            </a:fld>
            <a:endParaRPr lang="zh-CN" altLang="en-US"/>
          </a:p>
        </p:txBody>
      </p:sp>
    </p:spTree>
    <p:extLst>
      <p:ext uri="{BB962C8B-B14F-4D97-AF65-F5344CB8AC3E}">
        <p14:creationId xmlns:p14="http://schemas.microsoft.com/office/powerpoint/2010/main" val="30411218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Text Box 2"/>
          <p:cNvSpPr txBox="1">
            <a:spLocks noChangeArrowheads="1"/>
          </p:cNvSpPr>
          <p:nvPr/>
        </p:nvSpPr>
        <p:spPr bwMode="auto">
          <a:xfrm>
            <a:off x="457200" y="1524000"/>
            <a:ext cx="822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latin typeface="楷体_GB2312" pitchFamily="49" charset="-122"/>
              </a:rPr>
              <a:t>目标代码生成就是依次把中间代码翻译成目标代码</a:t>
            </a:r>
            <a:endParaRPr lang="zh-CN" altLang="en-US" sz="2800" b="1"/>
          </a:p>
        </p:txBody>
      </p:sp>
      <p:sp>
        <p:nvSpPr>
          <p:cNvPr id="191491" name="Text Box 3"/>
          <p:cNvSpPr txBox="1">
            <a:spLocks noChangeArrowheads="1"/>
          </p:cNvSpPr>
          <p:nvPr/>
        </p:nvSpPr>
        <p:spPr bwMode="auto">
          <a:xfrm>
            <a:off x="381000" y="2438400"/>
            <a:ext cx="8496300" cy="1614488"/>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accent2"/>
                </a:solidFill>
              </a:rPr>
              <a:t>要实现一个代码生成器，重点应该考虑两个问题：</a:t>
            </a:r>
          </a:p>
          <a:p>
            <a:pPr algn="l"/>
            <a:r>
              <a:rPr lang="en-US" altLang="zh-CN" b="1"/>
              <a:t>1. </a:t>
            </a:r>
            <a:r>
              <a:rPr lang="zh-CN" altLang="en-US" b="1"/>
              <a:t>如何使生成的目标代码</a:t>
            </a:r>
            <a:r>
              <a:rPr lang="zh-CN" altLang="en-US" b="1">
                <a:solidFill>
                  <a:srgbClr val="FF3300"/>
                </a:solidFill>
              </a:rPr>
              <a:t>尽可能的短</a:t>
            </a:r>
          </a:p>
          <a:p>
            <a:pPr algn="l"/>
            <a:r>
              <a:rPr lang="en-US" altLang="zh-CN" b="1"/>
              <a:t>2. </a:t>
            </a:r>
            <a:r>
              <a:rPr lang="zh-CN" altLang="en-US" b="1"/>
              <a:t>如何充分利用计算机的</a:t>
            </a:r>
            <a:r>
              <a:rPr lang="zh-CN" altLang="en-US" b="1">
                <a:solidFill>
                  <a:srgbClr val="FF3300"/>
                </a:solidFill>
              </a:rPr>
              <a:t>寄存器</a:t>
            </a:r>
            <a:r>
              <a:rPr lang="zh-CN" altLang="en-US" b="1"/>
              <a:t>，减少目标代码中访问内存的次数</a:t>
            </a:r>
          </a:p>
        </p:txBody>
      </p:sp>
      <p:sp>
        <p:nvSpPr>
          <p:cNvPr id="4" name="标题 2"/>
          <p:cNvSpPr>
            <a:spLocks noGrp="1"/>
          </p:cNvSpPr>
          <p:nvPr>
            <p:ph type="title"/>
          </p:nvPr>
        </p:nvSpPr>
        <p:spPr>
          <a:xfrm>
            <a:off x="494030" y="69215"/>
            <a:ext cx="7886700" cy="476885"/>
          </a:xfrm>
        </p:spPr>
        <p:txBody>
          <a:bodyPr/>
          <a:lstStyle/>
          <a:p>
            <a:r>
              <a:rPr lang="zh-CN" altLang="en-US" dirty="0"/>
              <a:t>六、目标代码生成</a:t>
            </a:r>
          </a:p>
        </p:txBody>
      </p:sp>
      <p:sp>
        <p:nvSpPr>
          <p:cNvPr id="2" name="灯片编号占位符 1">
            <a:extLst>
              <a:ext uri="{FF2B5EF4-FFF2-40B4-BE49-F238E27FC236}">
                <a16:creationId xmlns:a16="http://schemas.microsoft.com/office/drawing/2014/main" id="{A16C436B-ADEC-4E09-8E99-C532BDA5F761}"/>
              </a:ext>
            </a:extLst>
          </p:cNvPr>
          <p:cNvSpPr>
            <a:spLocks noGrp="1"/>
          </p:cNvSpPr>
          <p:nvPr>
            <p:ph type="sldNum" sz="quarter" idx="4"/>
          </p:nvPr>
        </p:nvSpPr>
        <p:spPr/>
        <p:txBody>
          <a:bodyPr/>
          <a:lstStyle/>
          <a:p>
            <a:fld id="{565CE74E-AB26-4998-AD42-012C4C1AD076}" type="slidenum">
              <a:rPr lang="zh-CN" altLang="en-US" smtClean="0"/>
              <a:pPr/>
              <a:t>90</a:t>
            </a:fld>
            <a:endParaRPr lang="zh-CN" altLang="en-US"/>
          </a:p>
        </p:txBody>
      </p:sp>
    </p:spTree>
    <p:extLst>
      <p:ext uri="{BB962C8B-B14F-4D97-AF65-F5344CB8AC3E}">
        <p14:creationId xmlns:p14="http://schemas.microsoft.com/office/powerpoint/2010/main" val="16848501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1491"/>
                                        </p:tgtEl>
                                        <p:attrNameLst>
                                          <p:attrName>style.visibility</p:attrName>
                                        </p:attrNameLst>
                                      </p:cBhvr>
                                      <p:to>
                                        <p:strVal val="visible"/>
                                      </p:to>
                                    </p:set>
                                    <p:anim calcmode="lin" valueType="num">
                                      <p:cBhvr additive="base">
                                        <p:cTn id="7" dur="500" fill="hold"/>
                                        <p:tgtEl>
                                          <p:spTgt spid="191491"/>
                                        </p:tgtEl>
                                        <p:attrNameLst>
                                          <p:attrName>ppt_x</p:attrName>
                                        </p:attrNameLst>
                                      </p:cBhvr>
                                      <p:tavLst>
                                        <p:tav tm="0">
                                          <p:val>
                                            <p:strVal val="#ppt_x"/>
                                          </p:val>
                                        </p:tav>
                                        <p:tav tm="100000">
                                          <p:val>
                                            <p:strVal val="#ppt_x"/>
                                          </p:val>
                                        </p:tav>
                                      </p:tavLst>
                                    </p:anim>
                                    <p:anim calcmode="lin" valueType="num">
                                      <p:cBhvr additive="base">
                                        <p:cTn id="8" dur="500" fill="hold"/>
                                        <p:tgtEl>
                                          <p:spTgt spid="1914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1" grpId="0" animBg="1"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50" name="Text Box 10"/>
          <p:cNvSpPr txBox="1">
            <a:spLocks noChangeArrowheads="1"/>
          </p:cNvSpPr>
          <p:nvPr/>
        </p:nvSpPr>
        <p:spPr bwMode="auto">
          <a:xfrm>
            <a:off x="323850" y="1773238"/>
            <a:ext cx="8496300" cy="2227262"/>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rgbClr val="FF3300"/>
                </a:solidFill>
              </a:rPr>
              <a:t>目标代码的形式：</a:t>
            </a:r>
          </a:p>
          <a:p>
            <a:pPr algn="l"/>
            <a:r>
              <a:rPr lang="zh-CN" altLang="en-US" sz="2800" b="1"/>
              <a:t>（</a:t>
            </a:r>
            <a:r>
              <a:rPr lang="en-US" altLang="zh-CN" sz="2800" b="1"/>
              <a:t>1</a:t>
            </a:r>
            <a:r>
              <a:rPr lang="zh-CN" altLang="en-US" sz="2800" b="1"/>
              <a:t>）可立即执行的机器语言代码</a:t>
            </a:r>
          </a:p>
          <a:p>
            <a:pPr algn="l"/>
            <a:r>
              <a:rPr lang="zh-CN" altLang="en-US" sz="2800" b="1"/>
              <a:t>（</a:t>
            </a:r>
            <a:r>
              <a:rPr lang="en-US" altLang="zh-CN" sz="2800" b="1"/>
              <a:t>2</a:t>
            </a:r>
            <a:r>
              <a:rPr lang="zh-CN" altLang="en-US" sz="2800" b="1"/>
              <a:t>）待装配的机器语言代码，又称相对目标代码</a:t>
            </a:r>
          </a:p>
          <a:p>
            <a:pPr algn="l"/>
            <a:r>
              <a:rPr lang="zh-CN" altLang="en-US" sz="2800" b="1"/>
              <a:t>（</a:t>
            </a:r>
            <a:r>
              <a:rPr lang="en-US" altLang="zh-CN" sz="2800" b="1"/>
              <a:t>3</a:t>
            </a:r>
            <a:r>
              <a:rPr lang="zh-CN" altLang="en-US" sz="2800" b="1"/>
              <a:t>）汇编语言代码</a:t>
            </a:r>
          </a:p>
          <a:p>
            <a:pPr algn="l"/>
            <a:endParaRPr lang="en-US" altLang="zh-CN" sz="2800" b="1"/>
          </a:p>
        </p:txBody>
      </p:sp>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AAA801F-BC65-4A8D-8FEF-E089586A00A1}"/>
              </a:ext>
            </a:extLst>
          </p:cNvPr>
          <p:cNvSpPr>
            <a:spLocks noGrp="1"/>
          </p:cNvSpPr>
          <p:nvPr>
            <p:ph type="sldNum" sz="quarter" idx="4"/>
          </p:nvPr>
        </p:nvSpPr>
        <p:spPr/>
        <p:txBody>
          <a:bodyPr/>
          <a:lstStyle/>
          <a:p>
            <a:fld id="{565CE74E-AB26-4998-AD42-012C4C1AD076}" type="slidenum">
              <a:rPr lang="zh-CN" altLang="en-US" smtClean="0"/>
              <a:pPr/>
              <a:t>91</a:t>
            </a:fld>
            <a:endParaRPr lang="zh-CN" altLang="en-US"/>
          </a:p>
        </p:txBody>
      </p:sp>
    </p:spTree>
    <p:extLst>
      <p:ext uri="{BB962C8B-B14F-4D97-AF65-F5344CB8AC3E}">
        <p14:creationId xmlns:p14="http://schemas.microsoft.com/office/powerpoint/2010/main" val="126649824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9" name="Text Box 5"/>
          <p:cNvSpPr txBox="1">
            <a:spLocks noChangeArrowheads="1"/>
          </p:cNvSpPr>
          <p:nvPr/>
        </p:nvSpPr>
        <p:spPr bwMode="auto">
          <a:xfrm>
            <a:off x="395288" y="2781300"/>
            <a:ext cx="8382000" cy="2465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dirty="0"/>
              <a:t>op</a:t>
            </a:r>
            <a:r>
              <a:rPr lang="zh-CN" altLang="en-US" b="1" dirty="0"/>
              <a:t>表示运算符</a:t>
            </a:r>
          </a:p>
          <a:p>
            <a:pPr algn="l">
              <a:spcBef>
                <a:spcPct val="50000"/>
              </a:spcBef>
            </a:pPr>
            <a:r>
              <a:rPr lang="en-US" altLang="zh-CN" b="1" dirty="0"/>
              <a:t>op1</a:t>
            </a:r>
            <a:r>
              <a:rPr lang="zh-CN" altLang="en-US" b="1" dirty="0"/>
              <a:t>为第一个操作数，必须为寄存器类型</a:t>
            </a:r>
          </a:p>
          <a:p>
            <a:pPr algn="l">
              <a:spcBef>
                <a:spcPct val="50000"/>
              </a:spcBef>
            </a:pPr>
            <a:r>
              <a:rPr lang="en-US" altLang="zh-CN" b="1" dirty="0"/>
              <a:t>op2</a:t>
            </a:r>
            <a:r>
              <a:rPr lang="zh-CN" altLang="en-US" b="1" dirty="0"/>
              <a:t>为第二个操作数，类型可以是寄存器类型，也可以是内存型的变量类型</a:t>
            </a:r>
          </a:p>
          <a:p>
            <a:pPr algn="l">
              <a:spcBef>
                <a:spcPct val="50000"/>
              </a:spcBef>
            </a:pPr>
            <a:r>
              <a:rPr lang="zh-CN" altLang="en-US" b="1" dirty="0"/>
              <a:t>意义为：将</a:t>
            </a:r>
            <a:r>
              <a:rPr lang="en-US" altLang="zh-CN" b="1" dirty="0"/>
              <a:t>op1</a:t>
            </a:r>
            <a:r>
              <a:rPr lang="zh-CN" altLang="en-US" b="1" dirty="0"/>
              <a:t>与</a:t>
            </a:r>
            <a:r>
              <a:rPr lang="en-US" altLang="zh-CN" b="1" dirty="0"/>
              <a:t>op2</a:t>
            </a:r>
            <a:r>
              <a:rPr lang="zh-CN" altLang="en-US" b="1" dirty="0"/>
              <a:t>进行</a:t>
            </a:r>
            <a:r>
              <a:rPr lang="en-US" altLang="zh-CN" b="1" dirty="0"/>
              <a:t>op</a:t>
            </a:r>
            <a:r>
              <a:rPr lang="zh-CN" altLang="en-US" b="1" dirty="0"/>
              <a:t>运算，运算后的结果再送回</a:t>
            </a:r>
            <a:r>
              <a:rPr lang="en-US" altLang="zh-CN" b="1" dirty="0"/>
              <a:t>op1</a:t>
            </a:r>
            <a:r>
              <a:rPr lang="zh-CN" altLang="en-US" b="1" dirty="0"/>
              <a:t>中</a:t>
            </a:r>
          </a:p>
        </p:txBody>
      </p:sp>
      <p:sp>
        <p:nvSpPr>
          <p:cNvPr id="176131" name="Text Box 3"/>
          <p:cNvSpPr txBox="1">
            <a:spLocks noChangeArrowheads="1"/>
          </p:cNvSpPr>
          <p:nvPr/>
        </p:nvSpPr>
        <p:spPr bwMode="auto">
          <a:xfrm>
            <a:off x="827088" y="908050"/>
            <a:ext cx="7019925" cy="1249363"/>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rgbClr val="FF3300"/>
                </a:solidFill>
              </a:rPr>
              <a:t>虚拟计算机指令系统典型的指令形式如下：</a:t>
            </a:r>
          </a:p>
          <a:p>
            <a:r>
              <a:rPr lang="en-US" altLang="zh-CN" b="1">
                <a:solidFill>
                  <a:srgbClr val="FF00FF"/>
                </a:solidFill>
              </a:rPr>
              <a:t>op op1, op2</a:t>
            </a:r>
          </a:p>
          <a:p>
            <a:pPr algn="l"/>
            <a:endParaRPr lang="en-US" altLang="zh-CN"/>
          </a:p>
        </p:txBody>
      </p:sp>
      <p:sp>
        <p:nvSpPr>
          <p:cNvPr id="2" name="灯片编号占位符 1">
            <a:extLst>
              <a:ext uri="{FF2B5EF4-FFF2-40B4-BE49-F238E27FC236}">
                <a16:creationId xmlns:a16="http://schemas.microsoft.com/office/drawing/2014/main" id="{EBB0AA32-198E-4103-BAD3-C8E57F447EBF}"/>
              </a:ext>
            </a:extLst>
          </p:cNvPr>
          <p:cNvSpPr>
            <a:spLocks noGrp="1"/>
          </p:cNvSpPr>
          <p:nvPr>
            <p:ph type="sldNum" sz="quarter" idx="4"/>
          </p:nvPr>
        </p:nvSpPr>
        <p:spPr/>
        <p:txBody>
          <a:bodyPr/>
          <a:lstStyle/>
          <a:p>
            <a:fld id="{565CE74E-AB26-4998-AD42-012C4C1AD076}" type="slidenum">
              <a:rPr lang="zh-CN" altLang="en-US" smtClean="0"/>
              <a:pPr/>
              <a:t>92</a:t>
            </a:fld>
            <a:endParaRPr lang="zh-CN" altLang="en-US"/>
          </a:p>
        </p:txBody>
      </p:sp>
    </p:spTree>
    <p:extLst>
      <p:ext uri="{BB962C8B-B14F-4D97-AF65-F5344CB8AC3E}">
        <p14:creationId xmlns:p14="http://schemas.microsoft.com/office/powerpoint/2010/main" val="916219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5109">
                                            <p:txEl>
                                              <p:pRg st="0" end="0"/>
                                            </p:txEl>
                                          </p:spTgt>
                                        </p:tgtEl>
                                        <p:attrNameLst>
                                          <p:attrName>style.visibility</p:attrName>
                                        </p:attrNameLst>
                                      </p:cBhvr>
                                      <p:to>
                                        <p:strVal val="visible"/>
                                      </p:to>
                                    </p:set>
                                    <p:anim calcmode="lin" valueType="num">
                                      <p:cBhvr additive="base">
                                        <p:cTn id="7" dur="500" fill="hold"/>
                                        <p:tgtEl>
                                          <p:spTgt spid="17510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510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5109">
                                            <p:txEl>
                                              <p:pRg st="1" end="1"/>
                                            </p:txEl>
                                          </p:spTgt>
                                        </p:tgtEl>
                                        <p:attrNameLst>
                                          <p:attrName>style.visibility</p:attrName>
                                        </p:attrNameLst>
                                      </p:cBhvr>
                                      <p:to>
                                        <p:strVal val="visible"/>
                                      </p:to>
                                    </p:set>
                                    <p:anim calcmode="lin" valueType="num">
                                      <p:cBhvr additive="base">
                                        <p:cTn id="13" dur="500" fill="hold"/>
                                        <p:tgtEl>
                                          <p:spTgt spid="17510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510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5109">
                                            <p:txEl>
                                              <p:pRg st="2" end="2"/>
                                            </p:txEl>
                                          </p:spTgt>
                                        </p:tgtEl>
                                        <p:attrNameLst>
                                          <p:attrName>style.visibility</p:attrName>
                                        </p:attrNameLst>
                                      </p:cBhvr>
                                      <p:to>
                                        <p:strVal val="visible"/>
                                      </p:to>
                                    </p:set>
                                    <p:anim calcmode="lin" valueType="num">
                                      <p:cBhvr additive="base">
                                        <p:cTn id="19" dur="500" fill="hold"/>
                                        <p:tgtEl>
                                          <p:spTgt spid="17510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510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75109">
                                            <p:txEl>
                                              <p:pRg st="3" end="3"/>
                                            </p:txEl>
                                          </p:spTgt>
                                        </p:tgtEl>
                                        <p:attrNameLst>
                                          <p:attrName>style.visibility</p:attrName>
                                        </p:attrNameLst>
                                      </p:cBhvr>
                                      <p:to>
                                        <p:strVal val="visible"/>
                                      </p:to>
                                    </p:set>
                                    <p:anim calcmode="lin" valueType="num">
                                      <p:cBhvr additive="base">
                                        <p:cTn id="25" dur="500" fill="hold"/>
                                        <p:tgtEl>
                                          <p:spTgt spid="17510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510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9" grpId="0" build="p"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ext Box 2"/>
          <p:cNvSpPr txBox="1">
            <a:spLocks noChangeArrowheads="1"/>
          </p:cNvSpPr>
          <p:nvPr/>
        </p:nvSpPr>
        <p:spPr bwMode="auto">
          <a:xfrm>
            <a:off x="395288" y="1196975"/>
            <a:ext cx="8382000" cy="2647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例：四元式</a:t>
            </a:r>
            <a:r>
              <a:rPr lang="en-US" altLang="zh-CN" b="1">
                <a:solidFill>
                  <a:srgbClr val="FF3300"/>
                </a:solidFill>
              </a:rPr>
              <a:t>T=a+b</a:t>
            </a:r>
            <a:r>
              <a:rPr lang="zh-CN" altLang="en-US" b="1"/>
              <a:t>翻译成目标代码，需要如下三条指令</a:t>
            </a:r>
          </a:p>
          <a:p>
            <a:pPr algn="l">
              <a:spcBef>
                <a:spcPct val="50000"/>
              </a:spcBef>
            </a:pPr>
            <a:endParaRPr lang="zh-CN" altLang="en-US" b="1"/>
          </a:p>
          <a:p>
            <a:pPr algn="l">
              <a:spcBef>
                <a:spcPct val="50000"/>
              </a:spcBef>
            </a:pPr>
            <a:r>
              <a:rPr lang="en-US" altLang="zh-CN" b="1">
                <a:solidFill>
                  <a:srgbClr val="FF00FF"/>
                </a:solidFill>
              </a:rPr>
              <a:t>LD         R, a         </a:t>
            </a:r>
            <a:r>
              <a:rPr lang="en-US" altLang="zh-CN" b="1">
                <a:solidFill>
                  <a:schemeClr val="accent1"/>
                </a:solidFill>
              </a:rPr>
              <a:t>//</a:t>
            </a:r>
            <a:r>
              <a:rPr lang="zh-CN" altLang="en-US" b="1">
                <a:solidFill>
                  <a:schemeClr val="accent1"/>
                </a:solidFill>
              </a:rPr>
              <a:t>将</a:t>
            </a:r>
            <a:r>
              <a:rPr lang="en-US" altLang="zh-CN" b="1">
                <a:solidFill>
                  <a:schemeClr val="accent1"/>
                </a:solidFill>
              </a:rPr>
              <a:t>a</a:t>
            </a:r>
            <a:r>
              <a:rPr lang="zh-CN" altLang="en-US" b="1">
                <a:solidFill>
                  <a:schemeClr val="accent1"/>
                </a:solidFill>
              </a:rPr>
              <a:t>从内存装入一个寄存器</a:t>
            </a:r>
            <a:r>
              <a:rPr lang="en-US" altLang="zh-CN" b="1">
                <a:solidFill>
                  <a:schemeClr val="accent1"/>
                </a:solidFill>
              </a:rPr>
              <a:t>R</a:t>
            </a:r>
            <a:r>
              <a:rPr lang="zh-CN" altLang="en-US" b="1">
                <a:solidFill>
                  <a:schemeClr val="accent1"/>
                </a:solidFill>
              </a:rPr>
              <a:t>中</a:t>
            </a:r>
          </a:p>
          <a:p>
            <a:pPr algn="l">
              <a:spcBef>
                <a:spcPct val="50000"/>
              </a:spcBef>
            </a:pPr>
            <a:r>
              <a:rPr lang="en-US" altLang="zh-CN" b="1">
                <a:solidFill>
                  <a:srgbClr val="FF00FF"/>
                </a:solidFill>
              </a:rPr>
              <a:t>ADD      R,b          </a:t>
            </a:r>
            <a:r>
              <a:rPr lang="en-US" altLang="zh-CN" b="1">
                <a:solidFill>
                  <a:schemeClr val="accent1"/>
                </a:solidFill>
              </a:rPr>
              <a:t>//</a:t>
            </a:r>
            <a:r>
              <a:rPr lang="zh-CN" altLang="en-US" b="1">
                <a:solidFill>
                  <a:schemeClr val="accent1"/>
                </a:solidFill>
              </a:rPr>
              <a:t>将</a:t>
            </a:r>
            <a:r>
              <a:rPr lang="en-US" altLang="zh-CN" b="1">
                <a:solidFill>
                  <a:schemeClr val="accent1"/>
                </a:solidFill>
              </a:rPr>
              <a:t>R</a:t>
            </a:r>
            <a:r>
              <a:rPr lang="zh-CN" altLang="en-US" b="1">
                <a:solidFill>
                  <a:schemeClr val="accent1"/>
                </a:solidFill>
              </a:rPr>
              <a:t>中的结果与</a:t>
            </a:r>
            <a:r>
              <a:rPr lang="en-US" altLang="zh-CN" b="1">
                <a:solidFill>
                  <a:schemeClr val="accent1"/>
                </a:solidFill>
              </a:rPr>
              <a:t>b</a:t>
            </a:r>
            <a:r>
              <a:rPr lang="zh-CN" altLang="en-US" b="1">
                <a:solidFill>
                  <a:schemeClr val="accent1"/>
                </a:solidFill>
              </a:rPr>
              <a:t>相加，结果存到</a:t>
            </a:r>
            <a:r>
              <a:rPr lang="en-US" altLang="zh-CN" b="1">
                <a:solidFill>
                  <a:schemeClr val="accent1"/>
                </a:solidFill>
              </a:rPr>
              <a:t>R</a:t>
            </a:r>
            <a:r>
              <a:rPr lang="zh-CN" altLang="en-US" b="1">
                <a:solidFill>
                  <a:schemeClr val="accent1"/>
                </a:solidFill>
              </a:rPr>
              <a:t>中</a:t>
            </a:r>
          </a:p>
          <a:p>
            <a:pPr algn="l">
              <a:spcBef>
                <a:spcPct val="50000"/>
              </a:spcBef>
            </a:pPr>
            <a:r>
              <a:rPr lang="en-US" altLang="zh-CN" b="1">
                <a:solidFill>
                  <a:srgbClr val="FF00FF"/>
                </a:solidFill>
              </a:rPr>
              <a:t>ST          R,T          </a:t>
            </a:r>
            <a:r>
              <a:rPr lang="en-US" altLang="zh-CN" b="1">
                <a:solidFill>
                  <a:schemeClr val="accent1"/>
                </a:solidFill>
              </a:rPr>
              <a:t>//</a:t>
            </a:r>
            <a:r>
              <a:rPr lang="zh-CN" altLang="en-US" b="1">
                <a:solidFill>
                  <a:schemeClr val="accent1"/>
                </a:solidFill>
              </a:rPr>
              <a:t>将</a:t>
            </a:r>
            <a:r>
              <a:rPr lang="en-US" altLang="zh-CN" b="1">
                <a:solidFill>
                  <a:schemeClr val="accent1"/>
                </a:solidFill>
              </a:rPr>
              <a:t>R</a:t>
            </a:r>
            <a:r>
              <a:rPr lang="zh-CN" altLang="en-US" b="1">
                <a:solidFill>
                  <a:schemeClr val="accent1"/>
                </a:solidFill>
              </a:rPr>
              <a:t>中的结果装入到变量</a:t>
            </a:r>
            <a:r>
              <a:rPr lang="en-US" altLang="zh-CN" b="1">
                <a:solidFill>
                  <a:schemeClr val="accent1"/>
                </a:solidFill>
              </a:rPr>
              <a:t>T</a:t>
            </a:r>
            <a:r>
              <a:rPr lang="zh-CN" altLang="en-US" b="1">
                <a:solidFill>
                  <a:schemeClr val="accent1"/>
                </a:solidFill>
              </a:rPr>
              <a:t>中</a:t>
            </a:r>
          </a:p>
        </p:txBody>
      </p:sp>
      <p:sp>
        <p:nvSpPr>
          <p:cNvPr id="2" name="灯片编号占位符 1">
            <a:extLst>
              <a:ext uri="{FF2B5EF4-FFF2-40B4-BE49-F238E27FC236}">
                <a16:creationId xmlns:a16="http://schemas.microsoft.com/office/drawing/2014/main" id="{64BB7B49-BB43-4DCE-B3D9-3590200215F1}"/>
              </a:ext>
            </a:extLst>
          </p:cNvPr>
          <p:cNvSpPr>
            <a:spLocks noGrp="1"/>
          </p:cNvSpPr>
          <p:nvPr>
            <p:ph type="sldNum" sz="quarter" idx="12"/>
          </p:nvPr>
        </p:nvSpPr>
        <p:spPr/>
        <p:txBody>
          <a:bodyPr/>
          <a:lstStyle/>
          <a:p>
            <a:fld id="{565CE74E-AB26-4998-AD42-012C4C1AD076}" type="slidenum">
              <a:rPr lang="zh-CN" altLang="en-US" smtClean="0"/>
              <a:t>93</a:t>
            </a:fld>
            <a:endParaRPr lang="zh-CN" altLang="en-US"/>
          </a:p>
        </p:txBody>
      </p:sp>
    </p:spTree>
    <p:extLst>
      <p:ext uri="{BB962C8B-B14F-4D97-AF65-F5344CB8AC3E}">
        <p14:creationId xmlns:p14="http://schemas.microsoft.com/office/powerpoint/2010/main" val="472413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6130">
                                            <p:txEl>
                                              <p:pRg st="0" end="0"/>
                                            </p:txEl>
                                          </p:spTgt>
                                        </p:tgtEl>
                                        <p:attrNameLst>
                                          <p:attrName>style.visibility</p:attrName>
                                        </p:attrNameLst>
                                      </p:cBhvr>
                                      <p:to>
                                        <p:strVal val="visible"/>
                                      </p:to>
                                    </p:set>
                                    <p:anim calcmode="lin" valueType="num">
                                      <p:cBhvr additive="base">
                                        <p:cTn id="7" dur="500" fill="hold"/>
                                        <p:tgtEl>
                                          <p:spTgt spid="17613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613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6130">
                                            <p:txEl>
                                              <p:pRg st="2" end="2"/>
                                            </p:txEl>
                                          </p:spTgt>
                                        </p:tgtEl>
                                        <p:attrNameLst>
                                          <p:attrName>style.visibility</p:attrName>
                                        </p:attrNameLst>
                                      </p:cBhvr>
                                      <p:to>
                                        <p:strVal val="visible"/>
                                      </p:to>
                                    </p:set>
                                    <p:anim calcmode="lin" valueType="num">
                                      <p:cBhvr additive="base">
                                        <p:cTn id="13" dur="500" fill="hold"/>
                                        <p:tgtEl>
                                          <p:spTgt spid="176130">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613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6130">
                                            <p:txEl>
                                              <p:pRg st="3" end="3"/>
                                            </p:txEl>
                                          </p:spTgt>
                                        </p:tgtEl>
                                        <p:attrNameLst>
                                          <p:attrName>style.visibility</p:attrName>
                                        </p:attrNameLst>
                                      </p:cBhvr>
                                      <p:to>
                                        <p:strVal val="visible"/>
                                      </p:to>
                                    </p:set>
                                    <p:anim calcmode="lin" valueType="num">
                                      <p:cBhvr additive="base">
                                        <p:cTn id="19" dur="500" fill="hold"/>
                                        <p:tgtEl>
                                          <p:spTgt spid="176130">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613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76130">
                                            <p:txEl>
                                              <p:pRg st="4" end="4"/>
                                            </p:txEl>
                                          </p:spTgt>
                                        </p:tgtEl>
                                        <p:attrNameLst>
                                          <p:attrName>style.visibility</p:attrName>
                                        </p:attrNameLst>
                                      </p:cBhvr>
                                      <p:to>
                                        <p:strVal val="visible"/>
                                      </p:to>
                                    </p:set>
                                    <p:anim calcmode="lin" valueType="num">
                                      <p:cBhvr additive="base">
                                        <p:cTn id="25" dur="500" fill="hold"/>
                                        <p:tgtEl>
                                          <p:spTgt spid="176130">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6130">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0" grpId="0" build="p"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28650" y="2393315"/>
            <a:ext cx="7886700" cy="1263015"/>
          </a:xfrm>
        </p:spPr>
        <p:txBody>
          <a:bodyPr/>
          <a:lstStyle/>
          <a:p>
            <a:pPr algn="ctr"/>
            <a:r>
              <a:rPr lang="zh-CN" altLang="en-US"/>
              <a:t>谢谢听讲！</a:t>
            </a:r>
          </a:p>
        </p:txBody>
      </p:sp>
      <p:sp>
        <p:nvSpPr>
          <p:cNvPr id="2" name="灯片编号占位符 1">
            <a:extLst>
              <a:ext uri="{FF2B5EF4-FFF2-40B4-BE49-F238E27FC236}">
                <a16:creationId xmlns:a16="http://schemas.microsoft.com/office/drawing/2014/main" id="{7479D773-5916-488E-8C42-41A221553D2F}"/>
              </a:ext>
            </a:extLst>
          </p:cNvPr>
          <p:cNvSpPr>
            <a:spLocks noGrp="1"/>
          </p:cNvSpPr>
          <p:nvPr>
            <p:ph type="sldNum" sz="quarter" idx="12"/>
          </p:nvPr>
        </p:nvSpPr>
        <p:spPr/>
        <p:txBody>
          <a:bodyPr/>
          <a:lstStyle/>
          <a:p>
            <a:fld id="{565CE74E-AB26-4998-AD42-012C4C1AD076}" type="slidenum">
              <a:rPr lang="zh-CN" altLang="en-US" smtClean="0"/>
              <a:t>94</a:t>
            </a:fld>
            <a:endParaRPr lang="zh-CN" altLang="en-US"/>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默认设计模板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FF00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默认设计模板">
  <a:themeElements>
    <a:clrScheme name="默认设计模板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FF00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默认设计模板">
  <a:themeElements>
    <a:clrScheme name="默认设计模板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FF00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2970</TotalTime>
  <Words>8699</Words>
  <Application>Microsoft Office PowerPoint</Application>
  <PresentationFormat>全屏显示(4:3)</PresentationFormat>
  <Paragraphs>1264</Paragraphs>
  <Slides>94</Slides>
  <Notes>4</Notes>
  <HiddenSlides>39</HiddenSlides>
  <MMClips>0</MMClips>
  <ScaleCrop>false</ScaleCrop>
  <HeadingPairs>
    <vt:vector size="8" baseType="variant">
      <vt:variant>
        <vt:lpstr>已用的字体</vt:lpstr>
      </vt:variant>
      <vt:variant>
        <vt:i4>12</vt:i4>
      </vt:variant>
      <vt:variant>
        <vt:lpstr>主题</vt:lpstr>
      </vt:variant>
      <vt:variant>
        <vt:i4>4</vt:i4>
      </vt:variant>
      <vt:variant>
        <vt:lpstr>嵌入 OLE 服务器</vt:lpstr>
      </vt:variant>
      <vt:variant>
        <vt:i4>5</vt:i4>
      </vt:variant>
      <vt:variant>
        <vt:lpstr>幻灯片标题</vt:lpstr>
      </vt:variant>
      <vt:variant>
        <vt:i4>94</vt:i4>
      </vt:variant>
    </vt:vector>
  </HeadingPairs>
  <TitlesOfParts>
    <vt:vector size="115" baseType="lpstr">
      <vt:lpstr>Monotype Sorts</vt:lpstr>
      <vt:lpstr>Times New Roman MT Extra Bold</vt:lpstr>
      <vt:lpstr>黑体</vt:lpstr>
      <vt:lpstr>华文行楷</vt:lpstr>
      <vt:lpstr>楷体_GB2312</vt:lpstr>
      <vt:lpstr>宋体</vt:lpstr>
      <vt:lpstr>微软雅黑</vt:lpstr>
      <vt:lpstr>Arial</vt:lpstr>
      <vt:lpstr>Calibri</vt:lpstr>
      <vt:lpstr>Symbol</vt:lpstr>
      <vt:lpstr>Times New Roman</vt:lpstr>
      <vt:lpstr>Wingdings</vt:lpstr>
      <vt:lpstr>Office 主题</vt:lpstr>
      <vt:lpstr>默认设计模板</vt:lpstr>
      <vt:lpstr>1_默认设计模板</vt:lpstr>
      <vt:lpstr>2_默认设计模板</vt:lpstr>
      <vt:lpstr>Visio</vt:lpstr>
      <vt:lpstr>MS 组织结构图 2.0</vt:lpstr>
      <vt:lpstr>Microsoft Word Picture</vt:lpstr>
      <vt:lpstr>Picture2</vt:lpstr>
      <vt:lpstr>Picture</vt:lpstr>
      <vt:lpstr>PowerPoint 演示文稿</vt:lpstr>
      <vt:lpstr>教学内容</vt:lpstr>
      <vt:lpstr>一、符号表管理</vt:lpstr>
      <vt:lpstr>PowerPoint 演示文稿</vt:lpstr>
      <vt:lpstr>PowerPoint 演示文稿</vt:lpstr>
      <vt:lpstr>PowerPoint 演示文稿</vt:lpstr>
      <vt:lpstr>PowerPoint 演示文稿</vt:lpstr>
      <vt:lpstr>PowerPoint 演示文稿</vt:lpstr>
      <vt:lpstr>PowerPoint 演示文稿</vt:lpstr>
      <vt:lpstr>二、静态语义分析               相关的工作任务</vt:lpstr>
      <vt:lpstr>二、静态语义分析</vt:lpstr>
      <vt:lpstr>二、静态语义分析                   类型检查</vt:lpstr>
      <vt:lpstr>二、静态语义分析                   类型检查</vt:lpstr>
      <vt:lpstr>二、静态语义分析                   类型检查</vt:lpstr>
      <vt:lpstr>二、静态语义分析                   类型检查</vt:lpstr>
      <vt:lpstr>二、静态语义分析                   类型检查</vt:lpstr>
      <vt:lpstr>PowerPoint 演示文稿</vt:lpstr>
      <vt:lpstr>二、静态语义分析</vt:lpstr>
      <vt:lpstr>二、静态语义分析                           小结</vt:lpstr>
      <vt:lpstr>教学内容</vt:lpstr>
      <vt:lpstr>三、中间代码 表示                 中间语言</vt:lpstr>
      <vt:lpstr>三、中间代码表示</vt:lpstr>
      <vt:lpstr>三、中间代码表示                      后缀式</vt:lpstr>
      <vt:lpstr>三、中间代码 表示                     后缀式</vt:lpstr>
      <vt:lpstr>三、中间代码表示               抽象语法树</vt:lpstr>
      <vt:lpstr>三、中间代码表示              有向无圈图</vt:lpstr>
      <vt:lpstr>三、中间代码表示                  三地址码</vt:lpstr>
      <vt:lpstr>三、中间代码表示                  三地址码</vt:lpstr>
      <vt:lpstr>三、中间代码表示                  三地址码</vt:lpstr>
      <vt:lpstr>三、中间代码表示                  其他表示</vt:lpstr>
      <vt:lpstr>三、中间代码 表示                 其他表示</vt:lpstr>
      <vt:lpstr>教学内容</vt:lpstr>
      <vt:lpstr>四、中间代码生成</vt:lpstr>
      <vt:lpstr>五、中间代码生成           变量声明语句</vt:lpstr>
      <vt:lpstr>四、中间代码生成                   声明语句</vt:lpstr>
      <vt:lpstr>四、中间代码生成                  声明语句</vt:lpstr>
      <vt:lpstr>四、中间代码 生成                 声明语句</vt:lpstr>
      <vt:lpstr>PowerPoint 演示文稿</vt:lpstr>
      <vt:lpstr>例 x:real; i:integer 的翻译</vt:lpstr>
      <vt:lpstr>四、中间代码 生成         简单赋值语句</vt:lpstr>
      <vt:lpstr>四、中间代码生成                 赋值语句</vt:lpstr>
      <vt:lpstr>四、中间代码生成                  赋值语句</vt:lpstr>
      <vt:lpstr>产生赋值语句三地址代码的翻译模式</vt:lpstr>
      <vt:lpstr>a:= -c+b*d自下而上语法制导翻译过程举例</vt:lpstr>
      <vt:lpstr>四、中间代码生成           数组元素引用</vt:lpstr>
      <vt:lpstr>四、中间代码生成           数组元素引用</vt:lpstr>
      <vt:lpstr>四、中间代码生成           数组元素引用</vt:lpstr>
      <vt:lpstr>四、中间代码生成           数组元素引用</vt:lpstr>
      <vt:lpstr>四、中间代码生成           数组元素引用</vt:lpstr>
      <vt:lpstr>四、中间代码生成           数组元素引用</vt:lpstr>
      <vt:lpstr>四、中间代码生成          数组元素引用</vt:lpstr>
      <vt:lpstr>四、中间代码生成           数组元素引用</vt:lpstr>
      <vt:lpstr>四、中间代码生成           数组元素引用</vt:lpstr>
      <vt:lpstr>四、中间代码生成      布尔表达式语句</vt:lpstr>
      <vt:lpstr>四、中间代码生成      布尔表达式语句</vt:lpstr>
      <vt:lpstr>四、中间代码生成       布尔表达式语句</vt:lpstr>
      <vt:lpstr>四、中间代码生成       布尔表达式语句</vt:lpstr>
      <vt:lpstr>计算布尔表达式值三地址代码的翻译模式</vt:lpstr>
      <vt:lpstr>把 a&lt;b or c&lt;d and e&lt;f 翻译 成三地址代码举例p187</vt:lpstr>
      <vt:lpstr>把a&gt;b and c&gt;d翻译成三地址代码</vt:lpstr>
      <vt:lpstr>四、中间代码生成                   控制语句</vt:lpstr>
      <vt:lpstr>四、中间代码生成                   控制语句</vt:lpstr>
      <vt:lpstr>四、中间代码生成                   控制语句</vt:lpstr>
      <vt:lpstr>四、中间代码生成                  控制语句</vt:lpstr>
      <vt:lpstr>四、中间代码生成                   控制语句</vt:lpstr>
      <vt:lpstr>四、中间代码生成                   控制语句</vt:lpstr>
      <vt:lpstr>四、中间代码生成                   控制语句</vt:lpstr>
      <vt:lpstr>四、中间代码生成       拉链与代码回填</vt:lpstr>
      <vt:lpstr>四、中间代码生成       拉链与代码回填</vt:lpstr>
      <vt:lpstr>四、中间代码生成       拉链与代码回填</vt:lpstr>
      <vt:lpstr>三、中间代码生成       拉链与代码回填</vt:lpstr>
      <vt:lpstr>教学内容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六、目标代码生成</vt:lpstr>
      <vt:lpstr>PowerPoint 演示文稿</vt:lpstr>
      <vt:lpstr>PowerPoint 演示文稿</vt:lpstr>
      <vt:lpstr>PowerPoint 演示文稿</vt:lpstr>
      <vt:lpstr>谢谢听讲！</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creator>cyy-pc</dc:creator>
  <cp:lastModifiedBy>DELL</cp:lastModifiedBy>
  <cp:revision>270</cp:revision>
  <cp:lastPrinted>2018-05-29T23:27:53Z</cp:lastPrinted>
  <dcterms:created xsi:type="dcterms:W3CDTF">2018-04-28T06:20:00Z</dcterms:created>
  <dcterms:modified xsi:type="dcterms:W3CDTF">2025-04-17T03:15:16Z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2052-10.1.0.7346</vt:lpwstr>
  </property>
</Properties>
</file>