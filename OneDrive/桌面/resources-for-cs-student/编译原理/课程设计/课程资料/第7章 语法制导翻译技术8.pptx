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handoutMasterIdLst>
    <p:handoutMasterId r:id="rId70"/>
  </p:handoutMasterIdLst>
  <p:sldIdLst>
    <p:sldId id="549" r:id="rId2"/>
    <p:sldId id="548" r:id="rId3"/>
    <p:sldId id="339" r:id="rId4"/>
    <p:sldId id="337" r:id="rId5"/>
    <p:sldId id="338" r:id="rId6"/>
    <p:sldId id="340" r:id="rId7"/>
    <p:sldId id="265" r:id="rId8"/>
    <p:sldId id="343" r:id="rId9"/>
    <p:sldId id="463" r:id="rId10"/>
    <p:sldId id="296" r:id="rId11"/>
    <p:sldId id="394" r:id="rId12"/>
    <p:sldId id="393" r:id="rId13"/>
    <p:sldId id="404" r:id="rId14"/>
    <p:sldId id="346" r:id="rId15"/>
    <p:sldId id="396" r:id="rId16"/>
    <p:sldId id="395" r:id="rId17"/>
    <p:sldId id="399" r:id="rId18"/>
    <p:sldId id="405" r:id="rId19"/>
    <p:sldId id="398" r:id="rId20"/>
    <p:sldId id="406" r:id="rId21"/>
    <p:sldId id="453" r:id="rId22"/>
    <p:sldId id="403" r:id="rId23"/>
    <p:sldId id="401" r:id="rId24"/>
    <p:sldId id="454" r:id="rId25"/>
    <p:sldId id="455" r:id="rId26"/>
    <p:sldId id="460" r:id="rId27"/>
    <p:sldId id="461" r:id="rId28"/>
    <p:sldId id="462" r:id="rId29"/>
    <p:sldId id="464" r:id="rId30"/>
    <p:sldId id="465" r:id="rId31"/>
    <p:sldId id="466" r:id="rId32"/>
    <p:sldId id="467" r:id="rId33"/>
    <p:sldId id="543" r:id="rId34"/>
    <p:sldId id="468" r:id="rId35"/>
    <p:sldId id="469" r:id="rId36"/>
    <p:sldId id="457" r:id="rId37"/>
    <p:sldId id="544" r:id="rId38"/>
    <p:sldId id="475" r:id="rId39"/>
    <p:sldId id="477" r:id="rId40"/>
    <p:sldId id="476" r:id="rId41"/>
    <p:sldId id="478" r:id="rId42"/>
    <p:sldId id="482" r:id="rId43"/>
    <p:sldId id="479" r:id="rId44"/>
    <p:sldId id="480" r:id="rId45"/>
    <p:sldId id="481" r:id="rId46"/>
    <p:sldId id="483" r:id="rId47"/>
    <p:sldId id="542" r:id="rId48"/>
    <p:sldId id="545" r:id="rId49"/>
    <p:sldId id="546" r:id="rId50"/>
    <p:sldId id="486" r:id="rId51"/>
    <p:sldId id="485" r:id="rId52"/>
    <p:sldId id="487" r:id="rId53"/>
    <p:sldId id="488" r:id="rId54"/>
    <p:sldId id="489" r:id="rId55"/>
    <p:sldId id="547" r:id="rId56"/>
    <p:sldId id="490" r:id="rId57"/>
    <p:sldId id="491" r:id="rId58"/>
    <p:sldId id="492" r:id="rId59"/>
    <p:sldId id="494" r:id="rId60"/>
    <p:sldId id="495" r:id="rId61"/>
    <p:sldId id="496" r:id="rId62"/>
    <p:sldId id="497" r:id="rId63"/>
    <p:sldId id="498" r:id="rId64"/>
    <p:sldId id="500" r:id="rId65"/>
    <p:sldId id="539" r:id="rId66"/>
    <p:sldId id="511" r:id="rId67"/>
    <p:sldId id="276" r:id="rId68"/>
  </p:sldIdLst>
  <p:sldSz cx="9144000" cy="6858000" type="screen4x3"/>
  <p:notesSz cx="9928225" cy="679767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7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6AD"/>
    <a:srgbClr val="0066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967" autoAdjust="0"/>
  </p:normalViewPr>
  <p:slideViewPr>
    <p:cSldViewPr snapToGrid="0">
      <p:cViewPr varScale="1">
        <p:scale>
          <a:sx n="99" d="100"/>
          <a:sy n="99" d="100"/>
        </p:scale>
        <p:origin x="1926" y="168"/>
      </p:cViewPr>
      <p:guideLst>
        <p:guide orient="horz" pos="2160"/>
        <p:guide pos="2870"/>
      </p:guideLst>
    </p:cSldViewPr>
  </p:slideViewPr>
  <p:notesTextViewPr>
    <p:cViewPr>
      <p:scale>
        <a:sx n="1" d="1"/>
        <a:sy n="1" d="1"/>
      </p:scale>
      <p:origin x="0" y="0"/>
    </p:cViewPr>
  </p:notesTextViewPr>
  <p:notesViewPr>
    <p:cSldViewPr snapToGrid="0">
      <p:cViewPr varScale="1">
        <p:scale>
          <a:sx n="79" d="100"/>
          <a:sy n="79" d="100"/>
        </p:scale>
        <p:origin x="403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8" y="0"/>
            <a:ext cx="4302231" cy="341064"/>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2025/4/16</a:t>
            </a:fld>
            <a:endParaRPr lang="zh-CN" altLang="en-US"/>
          </a:p>
        </p:txBody>
      </p:sp>
      <p:sp>
        <p:nvSpPr>
          <p:cNvPr id="4" name="页脚占位符 3"/>
          <p:cNvSpPr>
            <a:spLocks noGrp="1"/>
          </p:cNvSpPr>
          <p:nvPr>
            <p:ph type="ftr" sz="quarter" idx="2"/>
          </p:nvPr>
        </p:nvSpPr>
        <p:spPr>
          <a:xfrm>
            <a:off x="1"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8" y="6456612"/>
            <a:ext cx="4302231" cy="341063"/>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6316517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8" y="0"/>
            <a:ext cx="4302231" cy="341064"/>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2025/4/16</a:t>
            </a:fld>
            <a:endParaRPr lang="zh-CN" altLang="en-US"/>
          </a:p>
        </p:txBody>
      </p:sp>
      <p:sp>
        <p:nvSpPr>
          <p:cNvPr id="4" name="幻灯片图像占位符 3"/>
          <p:cNvSpPr>
            <a:spLocks noGrp="1" noRot="1" noChangeAspect="1"/>
          </p:cNvSpPr>
          <p:nvPr>
            <p:ph type="sldImg" idx="2"/>
          </p:nvPr>
        </p:nvSpPr>
        <p:spPr>
          <a:xfrm>
            <a:off x="3435350" y="849313"/>
            <a:ext cx="3057525"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8" y="6456612"/>
            <a:ext cx="4302231" cy="341063"/>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1694746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可以尝试用手工画一个图。</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复写规则？</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62128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3417730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拓扑排序</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1701638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SLR</a:t>
            </a:r>
            <a:r>
              <a:rPr lang="zh-CN" altLang="en-US" dirty="0"/>
              <a:t>的自动机略。</a:t>
            </a:r>
            <a:endParaRPr lang="en-US" altLang="zh-CN" dirty="0"/>
          </a:p>
          <a:p>
            <a:r>
              <a:rPr lang="zh-CN" altLang="en-US" dirty="0"/>
              <a:t>不讲。</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41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矩形 7"/>
          <p:cNvSpPr/>
          <p:nvPr userDrawn="1"/>
        </p:nvSpPr>
        <p:spPr>
          <a:xfrm>
            <a:off x="0" y="1551305"/>
            <a:ext cx="9144000" cy="205105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p>
        </p:txBody>
      </p:sp>
      <p:sp>
        <p:nvSpPr>
          <p:cNvPr id="2" name="标题 1"/>
          <p:cNvSpPr>
            <a:spLocks noGrp="1"/>
          </p:cNvSpPr>
          <p:nvPr>
            <p:ph type="ctrTitle"/>
          </p:nvPr>
        </p:nvSpPr>
        <p:spPr>
          <a:xfrm>
            <a:off x="504190" y="2025650"/>
            <a:ext cx="8135620" cy="936625"/>
          </a:xfrm>
        </p:spPr>
        <p:txBody>
          <a:bodyPr anchor="b"/>
          <a:lstStyle>
            <a:lvl1pPr algn="ctr">
              <a:defRPr sz="4800" b="1" u="none" strike="noStrike" kern="1200" cap="none" spc="0" normalizeH="0">
                <a:solidFill>
                  <a:schemeClr val="bg1"/>
                </a:solidFill>
              </a:defRPr>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4000" b="1" u="none" strike="noStrike" kern="1200" cap="none" spc="0" normalizeH="0">
                <a:solidFill>
                  <a:srgbClr val="0066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856D5CB-19B4-4732-9371-6CC8F3163BD5}" type="datetime1">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cxnSp>
        <p:nvCxnSpPr>
          <p:cNvPr id="12" name="直接连接符 11"/>
          <p:cNvCxnSpPr/>
          <p:nvPr/>
        </p:nvCxnSpPr>
        <p:spPr>
          <a:xfrm flipV="1">
            <a:off x="0" y="4611370"/>
            <a:ext cx="9144067" cy="23495"/>
          </a:xfrm>
          <a:prstGeom prst="line">
            <a:avLst/>
          </a:prstGeom>
          <a:ln w="63500" cmpd="sng">
            <a:solidFill>
              <a:srgbClr val="0066FF"/>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4" name="文本占位符 13"/>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lvl1pPr>
              <a:defRPr sz="3600" u="none" strike="noStrike" kern="1200" cap="none" spc="0" normalizeH="0">
                <a:solidFill>
                  <a:srgbClr val="0206AD"/>
                </a:solidFill>
                <a:uFillTx/>
              </a:defRPr>
            </a:lvl1pPr>
            <a:lvl2pPr>
              <a:defRPr sz="3200" u="none" strike="noStrike" kern="1200" cap="none" spc="0" normalizeH="0">
                <a:solidFill>
                  <a:srgbClr val="0066FF"/>
                </a:solidFill>
                <a:uFillTx/>
              </a:defRPr>
            </a:lvl2pPr>
            <a:lvl3pPr>
              <a:defRPr sz="2800" u="none" strike="noStrike" kern="1200" cap="none" spc="0" normalizeH="0">
                <a:solidFill>
                  <a:srgbClr val="0206AD"/>
                </a:solidFill>
                <a:uFillTx/>
              </a:defRPr>
            </a:lvl3pPr>
          </a:lstStyle>
          <a:p>
            <a:pPr lvl="0"/>
            <a:r>
              <a:rPr lang="zh-CN" altLang="en-US"/>
              <a:t>单击此处编辑母版文本样式</a:t>
            </a:r>
          </a:p>
          <a:p>
            <a:pPr lvl="1"/>
            <a:r>
              <a:rPr lang="zh-CN" altLang="en-US"/>
              <a:t>第二级</a:t>
            </a:r>
          </a:p>
          <a:p>
            <a:pPr lvl="2"/>
            <a:r>
              <a:rPr lang="zh-CN" altLang="en-US"/>
              <a:t>第三级</a:t>
            </a:r>
          </a:p>
          <a:p>
            <a:pPr lvl="3"/>
            <a:endParaRPr lang="zh-CN" altLang="en-US"/>
          </a:p>
        </p:txBody>
      </p:sp>
      <p:sp>
        <p:nvSpPr>
          <p:cNvPr id="15" name="日期占位符 14"/>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D0AE6A-6979-49F1-AE7D-93AF157B4BC9}" type="datetime1">
              <a:rPr lang="zh-CN" altLang="en-US" smtClean="0"/>
              <a:t>2025/4/16</a:t>
            </a:fld>
            <a:endParaRPr lang="zh-CN" altLang="en-US"/>
          </a:p>
        </p:txBody>
      </p:sp>
      <p:sp>
        <p:nvSpPr>
          <p:cNvPr id="16" name="页脚占位符 1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7" name="灯片编号占位符 16"/>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18" name="矩形 17"/>
          <p:cNvSpPr/>
          <p:nvPr userDrawn="1"/>
        </p:nvSpPr>
        <p:spPr>
          <a:xfrm>
            <a:off x="0" y="-67310"/>
            <a:ext cx="9144000" cy="750570"/>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b="1" dirty="0"/>
          </a:p>
        </p:txBody>
      </p:sp>
      <p:sp>
        <p:nvSpPr>
          <p:cNvPr id="19" name="标题占位符 1"/>
          <p:cNvSpPr>
            <a:spLocks noGrp="1"/>
          </p:cNvSpPr>
          <p:nvPr>
            <p:ph type="title"/>
          </p:nvPr>
        </p:nvSpPr>
        <p:spPr>
          <a:xfrm>
            <a:off x="49530" y="69215"/>
            <a:ext cx="7886700" cy="476885"/>
          </a:xfrm>
          <a:prstGeom prst="rect">
            <a:avLst/>
          </a:prstGeom>
        </p:spPr>
        <p:txBody>
          <a:bodyPr vert="horz" lIns="91440" tIns="45720" rIns="91440" bIns="45720" rtlCol="0" anchor="ctr">
            <a:noAutofit/>
          </a:bodyPr>
          <a:lstStyle>
            <a:lvl1pPr>
              <a:defRPr>
                <a:solidFill>
                  <a:schemeClr val="bg1"/>
                </a:solidFill>
              </a:defRPr>
            </a:lvl1pPr>
          </a:lstStyle>
          <a:p>
            <a:r>
              <a:rPr lang="zh-CN" altLang="en-US" dirty="0"/>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F2FC5F-6DB8-4D9E-952A-B207C49CF63E}" type="datetime1">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DEB5931-386D-411D-A492-1DDE76CC5E48}" type="datetime1">
              <a:rPr lang="zh-CN" altLang="en-US" smtClean="0"/>
              <a:t>2025/4/16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714F7F-4FC0-4460-A94A-4E93B14BF9B0}" type="datetime1">
              <a:rPr lang="zh-CN" altLang="en-US" smtClean="0"/>
              <a:t>2025/4/16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845A58-DEE7-437B-9488-0A967F128B45}" type="datetime1">
              <a:rPr lang="zh-CN" altLang="en-US" smtClean="0"/>
              <a:t>2025/4/16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EEBE5E5-59CE-496B-A071-9E5D1A812288}" type="datetime1">
              <a:rPr lang="zh-CN" altLang="en-US" smtClean="0"/>
              <a:t>2025/4/16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20234E4-AFD1-4ACC-A086-C0428E8ECB0B}" type="datetime1">
              <a:rPr lang="zh-CN" altLang="en-US" smtClean="0"/>
              <a:t>2025/4/16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FAEE32-B674-47EF-A22A-3A05FC2DC52A}" type="datetime1">
              <a:rPr lang="zh-CN" altLang="en-US" smtClean="0"/>
              <a:t>2025/4/16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009C28C-7F31-492E-8DF1-C04CB214D37B}" type="datetime1">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99B530E-E25B-4091-86FF-B2E1E47549EC}" type="datetime1">
              <a:rPr lang="zh-CN" altLang="en-US" smtClean="0"/>
              <a:t>2025/4/16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1" name=""/>
        <p:cNvGrpSpPr/>
        <p:nvPr/>
      </p:nvGrpSpPr>
      <p:grpSpPr>
        <a:xfrm>
          <a:off x="0" y="0"/>
          <a:ext cx="0" cy="0"/>
          <a:chOff x="0" y="0"/>
          <a:chExt cx="0" cy="0"/>
        </a:xfrm>
      </p:grpSpPr>
      <p:sp>
        <p:nvSpPr>
          <p:cNvPr id="5" name="Rectangle 4"/>
          <p:cNvSpPr>
            <a:spLocks noGrp="1" noChangeArrowheads="1"/>
          </p:cNvSpPr>
          <p:nvPr>
            <p:ph type="dt" sz="half" idx="10"/>
          </p:nvPr>
        </p:nvSpPr>
        <p:spPr/>
        <p:txBody>
          <a:bodyPr/>
          <a:lstStyle>
            <a:lvl1pPr>
              <a:defRPr/>
            </a:lvl1pPr>
          </a:lstStyle>
          <a:p>
            <a:fld id="{5C635129-A2C2-4245-A63F-8ED85DAB69CD}" type="datetime1">
              <a:rPr lang="zh-CN" altLang="en-US" smtClean="0"/>
              <a:t>2025/4/16</a:t>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1B43473F-AE3F-4D1C-9C4F-7AD3C17AC1AD}" type="slidenum">
              <a:rPr lang="zh-CN" altLang="en-US" smtClean="0"/>
              <a:t>‹#›</a:t>
            </a:fld>
            <a:endParaRPr lang="zh-CN" altLang="en-US"/>
          </a:p>
        </p:txBody>
      </p:sp>
    </p:spTree>
    <p:extLst>
      <p:ext uri="{BB962C8B-B14F-4D97-AF65-F5344CB8AC3E}">
        <p14:creationId xmlns:p14="http://schemas.microsoft.com/office/powerpoint/2010/main" val="2537158480"/>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75920" y="793750"/>
            <a:ext cx="8361680" cy="556323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u="none" strike="noStrike" kern="1200" cap="none" spc="0" normalizeH="0">
                <a:solidFill>
                  <a:schemeClr val="tx1">
                    <a:tint val="75000"/>
                  </a:schemeClr>
                </a:solidFill>
                <a:latin typeface="Times New Roman" panose="02020603050405020304" charset="0"/>
              </a:defRPr>
            </a:lvl1pPr>
          </a:lstStyle>
          <a:p>
            <a:fld id="{AFE63B44-68F1-4E48-814C-32148DE630B0}" type="datetime1">
              <a:rPr lang="zh-CN" altLang="en-US" smtClean="0"/>
              <a:t>2025/4/16</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u="none" strike="noStrike" kern="1200" cap="none" spc="0" normalizeH="0">
                <a:solidFill>
                  <a:schemeClr val="tx1">
                    <a:tint val="75000"/>
                  </a:schemeClr>
                </a:solidFill>
                <a:latin typeface="Times New Roman" panose="02020603050405020304" charset="0"/>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u="none" strike="noStrike" kern="1200" cap="none" spc="0" normalizeH="0">
                <a:solidFill>
                  <a:schemeClr val="tx1">
                    <a:tint val="75000"/>
                  </a:schemeClr>
                </a:solidFill>
                <a:latin typeface="Times New Roman" panose="02020603050405020304" charset="0"/>
              </a:defRPr>
            </a:lvl1pPr>
          </a:lstStyle>
          <a:p>
            <a:fld id="{565CE74E-AB26-4998-AD42-012C4C1AD076}" type="slidenum">
              <a:rPr lang="zh-CN" altLang="en-US" smtClean="0"/>
              <a:t>‹#›</a:t>
            </a:fld>
            <a:endParaRPr lang="zh-CN" altLang="en-US"/>
          </a:p>
        </p:txBody>
      </p:sp>
      <p:sp>
        <p:nvSpPr>
          <p:cNvPr id="7" name="标题占位符 1"/>
          <p:cNvSpPr>
            <a:spLocks noGrp="1"/>
          </p:cNvSpPr>
          <p:nvPr>
            <p:ph type="title"/>
          </p:nvPr>
        </p:nvSpPr>
        <p:spPr>
          <a:xfrm>
            <a:off x="49530" y="69215"/>
            <a:ext cx="7886700" cy="476885"/>
          </a:xfrm>
          <a:prstGeom prst="rect">
            <a:avLst/>
          </a:prstGeom>
        </p:spPr>
        <p:txBody>
          <a:bodyPr vert="horz" lIns="91440" tIns="45720" rIns="91440" bIns="45720" rtlCol="0" anchor="ctr">
            <a:noAutofit/>
          </a:bodyPr>
          <a:lstStyle/>
          <a:p>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600" u="none" strike="noStrike" kern="1200" cap="none" spc="0" normalizeH="0">
          <a:solidFill>
            <a:srgbClr val="0066FF"/>
          </a:solidFill>
          <a:latin typeface="Times New Roman" panose="02020603050405020304" charset="0"/>
          <a:ea typeface="黑体" panose="02010609060101010101" charset="-122"/>
          <a:cs typeface="+mj-cs"/>
        </a:defRPr>
      </a:lvl1pPr>
    </p:titleStyle>
    <p:bodyStyle>
      <a:lvl1pPr marL="228600" indent="-228600" algn="l" defTabSz="914400" rtl="0" eaLnBrk="1" latinLnBrk="0" hangingPunct="1">
        <a:lnSpc>
          <a:spcPct val="90000"/>
        </a:lnSpc>
        <a:spcBef>
          <a:spcPts val="1000"/>
        </a:spcBef>
        <a:buFont typeface="Wingdings" panose="05000000000000000000" charset="0"/>
        <a:buChar char="n"/>
        <a:defRPr sz="3200" b="1" u="none" strike="noStrike" kern="1200" cap="none" spc="0" normalizeH="0">
          <a:solidFill>
            <a:srgbClr val="0066FF"/>
          </a:solidFill>
          <a:latin typeface="Times New Roman" panose="02020603050405020304" charset="0"/>
          <a:ea typeface="+mn-ea"/>
          <a:cs typeface="+mn-cs"/>
        </a:defRPr>
      </a:lvl1pPr>
      <a:lvl2pPr marL="685800" indent="-228600" algn="l" defTabSz="914400" rtl="0" eaLnBrk="1" latinLnBrk="0" hangingPunct="1">
        <a:lnSpc>
          <a:spcPct val="90000"/>
        </a:lnSpc>
        <a:spcBef>
          <a:spcPts val="500"/>
        </a:spcBef>
        <a:buFont typeface="Wingdings" panose="05000000000000000000" charset="0"/>
        <a:buChar char="u"/>
        <a:defRPr sz="2800" b="1" u="none" strike="noStrike" kern="1200" cap="none" spc="0" normalizeH="0">
          <a:solidFill>
            <a:srgbClr val="00B050"/>
          </a:solidFill>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400" b="1" u="none" strike="noStrike" kern="1200" cap="none" spc="0" normalizeH="0">
          <a:solidFill>
            <a:srgbClr val="0066FF"/>
          </a:solidFill>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icourse163.org/learn/HIT-1002123007?tid=1002655021#/learn/content"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emf"/><Relationship Id="rId5" Type="http://schemas.openxmlformats.org/officeDocument/2006/relationships/oleObject" Target="../embeddings/oleObject3.bin"/><Relationship Id="rId4" Type="http://schemas.openxmlformats.org/officeDocument/2006/relationships/image" Target="../media/image9.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灯片编号占位符 2">
            <a:extLst>
              <a:ext uri="{FF2B5EF4-FFF2-40B4-BE49-F238E27FC236}">
                <a16:creationId xmlns:a16="http://schemas.microsoft.com/office/drawing/2014/main" id="{9C38AB59-711E-4D04-87EF-F6A5F0F6809F}"/>
              </a:ext>
            </a:extLst>
          </p:cNvPr>
          <p:cNvSpPr>
            <a:spLocks noGrp="1" noChangeArrowheads="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b="1">
                <a:solidFill>
                  <a:schemeClr val="tx1"/>
                </a:solidFill>
                <a:latin typeface="Times New Roman" panose="02020603050405020304" pitchFamily="18" charset="0"/>
                <a:ea typeface="楷体_GB2312" pitchFamily="49" charset="-122"/>
              </a:defRPr>
            </a:lvl1pPr>
            <a:lvl2pPr marL="742950" indent="-285750">
              <a:defRPr kumimoji="1" sz="2400" b="1">
                <a:solidFill>
                  <a:schemeClr val="tx1"/>
                </a:solidFill>
                <a:latin typeface="Times New Roman" panose="02020603050405020304" pitchFamily="18" charset="0"/>
                <a:ea typeface="楷体_GB2312" pitchFamily="49" charset="-122"/>
              </a:defRPr>
            </a:lvl2pPr>
            <a:lvl3pPr marL="1143000" indent="-228600">
              <a:defRPr kumimoji="1" sz="2400" b="1">
                <a:solidFill>
                  <a:schemeClr val="tx1"/>
                </a:solidFill>
                <a:latin typeface="Times New Roman" panose="02020603050405020304" pitchFamily="18" charset="0"/>
                <a:ea typeface="楷体_GB2312" pitchFamily="49" charset="-122"/>
              </a:defRPr>
            </a:lvl3pPr>
            <a:lvl4pPr marL="1600200" indent="-228600">
              <a:defRPr kumimoji="1" sz="2400" b="1">
                <a:solidFill>
                  <a:schemeClr val="tx1"/>
                </a:solidFill>
                <a:latin typeface="Times New Roman" panose="02020603050405020304" pitchFamily="18" charset="0"/>
                <a:ea typeface="楷体_GB2312" pitchFamily="49" charset="-122"/>
              </a:defRPr>
            </a:lvl4pPr>
            <a:lvl5pPr marL="2057400" indent="-22860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fld id="{D9FA5DE8-DDF5-4A68-A2B4-00C0013049FE}" type="slidenum">
              <a:rPr lang="en-US" altLang="zh-CN" sz="1400" b="0">
                <a:ea typeface="宋体" panose="02010600030101010101" pitchFamily="2" charset="-122"/>
              </a:rPr>
              <a:pPr/>
              <a:t>1</a:t>
            </a:fld>
            <a:endParaRPr lang="en-US" altLang="zh-CN" sz="1400" b="0">
              <a:ea typeface="宋体" panose="02010600030101010101" pitchFamily="2" charset="-122"/>
            </a:endParaRPr>
          </a:p>
        </p:txBody>
      </p:sp>
      <p:sp>
        <p:nvSpPr>
          <p:cNvPr id="4098" name="副标题 2">
            <a:extLst>
              <a:ext uri="{FF2B5EF4-FFF2-40B4-BE49-F238E27FC236}">
                <a16:creationId xmlns:a16="http://schemas.microsoft.com/office/drawing/2014/main" id="{DE8D114C-66C2-4AED-B11D-83BBF795E68A}"/>
              </a:ext>
            </a:extLst>
          </p:cNvPr>
          <p:cNvSpPr>
            <a:spLocks noGrp="1" noChangeArrowheads="1"/>
          </p:cNvSpPr>
          <p:nvPr>
            <p:ph type="subTitle" idx="4294967295"/>
          </p:nvPr>
        </p:nvSpPr>
        <p:spPr bwMode="auto">
          <a:xfrm>
            <a:off x="1331599" y="4078288"/>
            <a:ext cx="6480801" cy="66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85725" indent="0" algn="ctr">
              <a:buNone/>
            </a:pPr>
            <a:r>
              <a:rPr lang="zh-CN" altLang="en-US" sz="3600" dirty="0">
                <a:solidFill>
                  <a:srgbClr val="003399"/>
                </a:solidFill>
                <a:latin typeface="微软雅黑" panose="020B0503020204020204" pitchFamily="34" charset="-122"/>
                <a:ea typeface="微软雅黑" panose="020B0503020204020204" pitchFamily="34" charset="-122"/>
              </a:rPr>
              <a:t>第七章 语法制导的翻译技术</a:t>
            </a:r>
          </a:p>
        </p:txBody>
      </p:sp>
      <p:sp>
        <p:nvSpPr>
          <p:cNvPr id="4" name="矩形 3">
            <a:extLst>
              <a:ext uri="{FF2B5EF4-FFF2-40B4-BE49-F238E27FC236}">
                <a16:creationId xmlns:a16="http://schemas.microsoft.com/office/drawing/2014/main" id="{789D7CD7-0F3E-49B1-882F-0601A24A1CEC}"/>
              </a:ext>
            </a:extLst>
          </p:cNvPr>
          <p:cNvSpPr/>
          <p:nvPr/>
        </p:nvSpPr>
        <p:spPr>
          <a:xfrm>
            <a:off x="0" y="1484313"/>
            <a:ext cx="9144000" cy="1757362"/>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latin typeface="微软雅黑" panose="020B0503020204020204" pitchFamily="34" charset="-122"/>
                <a:ea typeface="微软雅黑" panose="020B0503020204020204" pitchFamily="34" charset="-122"/>
              </a:rPr>
              <a:t>编译原理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45375" y="596900"/>
            <a:ext cx="811213"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239" name="Rectangle 7"/>
          <p:cNvSpPr>
            <a:spLocks noChangeArrowheads="1"/>
          </p:cNvSpPr>
          <p:nvPr/>
        </p:nvSpPr>
        <p:spPr bwMode="auto">
          <a:xfrm>
            <a:off x="838200" y="2057400"/>
            <a:ext cx="7162800" cy="3505200"/>
          </a:xfrm>
          <a:prstGeom prst="rect">
            <a:avLst/>
          </a:prstGeom>
          <a:solidFill>
            <a:srgbClr val="CCCCFF"/>
          </a:solidFill>
          <a:ln w="9525">
            <a:solidFill>
              <a:srgbClr val="0037E8"/>
            </a:solidFill>
            <a:miter lim="800000"/>
            <a:headEnd/>
            <a:tailEnd/>
          </a:ln>
          <a:effectLst>
            <a:outerShdw dist="107763" dir="18900000" algn="ctr" rotWithShape="0">
              <a:srgbClr val="808080"/>
            </a:outerShdw>
          </a:effectLst>
        </p:spPr>
        <p:txBody>
          <a:bodyPr/>
          <a:lstStyle/>
          <a:p>
            <a:pPr marL="457200" indent="-457200" eaLnBrk="0" hangingPunct="0">
              <a:buFontTx/>
              <a:buAutoNum type="arabicPeriod"/>
              <a:defRPr/>
            </a:pPr>
            <a:r>
              <a:rPr lang="zh-CN" altLang="en-US" sz="2800" dirty="0">
                <a:latin typeface="楷体_GB2312" pitchFamily="49" charset="-122"/>
              </a:rPr>
              <a:t>要求明确语义分析的</a:t>
            </a:r>
            <a:r>
              <a:rPr lang="zh-CN" altLang="en-US" sz="2800" dirty="0">
                <a:solidFill>
                  <a:srgbClr val="FF0000"/>
                </a:solidFill>
                <a:latin typeface="楷体_GB2312" pitchFamily="49" charset="-122"/>
              </a:rPr>
              <a:t>任务</a:t>
            </a:r>
            <a:endParaRPr lang="zh-CN" altLang="en-US" sz="2800" dirty="0">
              <a:latin typeface="楷体_GB2312" pitchFamily="49" charset="-122"/>
            </a:endParaRPr>
          </a:p>
          <a:p>
            <a:pPr marL="457200" indent="-457200" eaLnBrk="0" hangingPunct="0">
              <a:buFontTx/>
              <a:buAutoNum type="arabicPeriod"/>
              <a:defRPr/>
            </a:pPr>
            <a:r>
              <a:rPr lang="zh-CN" altLang="en-US" sz="2800" dirty="0">
                <a:latin typeface="楷体_GB2312" pitchFamily="49" charset="-122"/>
              </a:rPr>
              <a:t>明确</a:t>
            </a:r>
            <a:r>
              <a:rPr lang="zh-CN" altLang="en-US" sz="2800" dirty="0">
                <a:solidFill>
                  <a:srgbClr val="FF0000"/>
                </a:solidFill>
                <a:latin typeface="楷体_GB2312" pitchFamily="49" charset="-122"/>
              </a:rPr>
              <a:t>属性文法</a:t>
            </a:r>
            <a:r>
              <a:rPr lang="zh-CN" altLang="en-US" sz="2800" dirty="0">
                <a:latin typeface="楷体_GB2312" pitchFamily="49" charset="-122"/>
              </a:rPr>
              <a:t>和</a:t>
            </a:r>
            <a:r>
              <a:rPr lang="zh-CN" altLang="en-US" sz="2800" dirty="0">
                <a:solidFill>
                  <a:srgbClr val="FF0000"/>
                </a:solidFill>
                <a:latin typeface="楷体_GB2312" pitchFamily="49" charset="-122"/>
              </a:rPr>
              <a:t>语法制导翻译</a:t>
            </a:r>
            <a:r>
              <a:rPr lang="zh-CN" altLang="en-US" sz="2800" dirty="0">
                <a:latin typeface="楷体_GB2312" pitchFamily="49" charset="-122"/>
              </a:rPr>
              <a:t>的含义</a:t>
            </a:r>
          </a:p>
          <a:p>
            <a:pPr marL="457200" indent="-457200" eaLnBrk="0" hangingPunct="0">
              <a:buFontTx/>
              <a:buAutoNum type="arabicPeriod"/>
              <a:defRPr/>
            </a:pPr>
            <a:r>
              <a:rPr lang="zh-CN" altLang="en-US" sz="2800" dirty="0">
                <a:latin typeface="楷体_GB2312" pitchFamily="49" charset="-122"/>
              </a:rPr>
              <a:t>明确</a:t>
            </a:r>
            <a:r>
              <a:rPr lang="zh-CN" altLang="en-US" sz="2800" dirty="0">
                <a:solidFill>
                  <a:srgbClr val="FF0000"/>
                </a:solidFill>
                <a:latin typeface="楷体_GB2312" pitchFamily="49" charset="-122"/>
              </a:rPr>
              <a:t>自底向上和自顶向下</a:t>
            </a:r>
            <a:r>
              <a:rPr lang="zh-CN" altLang="en-US" sz="2800" dirty="0">
                <a:latin typeface="楷体_GB2312" pitchFamily="49" charset="-122"/>
              </a:rPr>
              <a:t>语法制导翻译的区别和特点</a:t>
            </a:r>
          </a:p>
          <a:p>
            <a:pPr marL="457200" indent="-457200" eaLnBrk="0" hangingPunct="0">
              <a:buFontTx/>
              <a:buAutoNum type="arabicPeriod"/>
              <a:defRPr/>
            </a:pPr>
            <a:r>
              <a:rPr lang="zh-CN" altLang="en-US" sz="2800" dirty="0"/>
              <a:t>明确</a:t>
            </a:r>
            <a:r>
              <a:rPr lang="zh-CN" altLang="en-US" sz="2800" dirty="0">
                <a:latin typeface="楷体_GB2312" pitchFamily="49" charset="-122"/>
              </a:rPr>
              <a:t>生成中间代码的目的，中间代码的几种形式</a:t>
            </a:r>
          </a:p>
          <a:p>
            <a:pPr marL="457200" indent="-457200" eaLnBrk="0" hangingPunct="0">
              <a:buFontTx/>
              <a:buAutoNum type="arabicPeriod"/>
              <a:defRPr/>
            </a:pPr>
            <a:r>
              <a:rPr lang="zh-CN" altLang="en-US" sz="2800" dirty="0">
                <a:latin typeface="楷体_GB2312" pitchFamily="49" charset="-122"/>
              </a:rPr>
              <a:t>掌握</a:t>
            </a:r>
            <a:r>
              <a:rPr lang="en-US" altLang="zh-CN" sz="2800" dirty="0">
                <a:solidFill>
                  <a:srgbClr val="FF0000"/>
                </a:solidFill>
                <a:latin typeface="楷体_GB2312" pitchFamily="49" charset="-122"/>
              </a:rPr>
              <a:t>PL/0</a:t>
            </a:r>
            <a:r>
              <a:rPr lang="zh-CN" altLang="en-US" sz="2800" dirty="0">
                <a:solidFill>
                  <a:srgbClr val="FF0000"/>
                </a:solidFill>
                <a:latin typeface="楷体_GB2312" pitchFamily="49" charset="-122"/>
              </a:rPr>
              <a:t>编译程序的语义</a:t>
            </a:r>
            <a:r>
              <a:rPr lang="zh-CN" altLang="en-US" sz="2800" dirty="0">
                <a:latin typeface="楷体_GB2312" pitchFamily="49" charset="-122"/>
              </a:rPr>
              <a:t>分析方法</a:t>
            </a:r>
          </a:p>
          <a:p>
            <a:pPr marL="1371600" lvl="2" indent="-457200">
              <a:defRPr/>
            </a:pPr>
            <a:r>
              <a:rPr lang="zh-CN" altLang="en-US" sz="2800" dirty="0">
                <a:latin typeface="楷体_GB2312" pitchFamily="49" charset="-122"/>
              </a:rPr>
              <a:t>　　</a:t>
            </a:r>
          </a:p>
        </p:txBody>
      </p:sp>
      <p:sp>
        <p:nvSpPr>
          <p:cNvPr id="10246" name="Rectangle 8"/>
          <p:cNvSpPr>
            <a:spLocks noChangeArrowheads="1"/>
          </p:cNvSpPr>
          <p:nvPr/>
        </p:nvSpPr>
        <p:spPr bwMode="auto">
          <a:xfrm>
            <a:off x="1066800" y="13716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b="1">
                <a:solidFill>
                  <a:schemeClr val="tx1"/>
                </a:solidFill>
                <a:latin typeface="Times New Roman" panose="02020603050405020304" pitchFamily="18" charset="0"/>
                <a:ea typeface="楷体_GB2312" pitchFamily="49" charset="-122"/>
              </a:defRPr>
            </a:lvl1pPr>
            <a:lvl2pPr marL="742950" indent="-285750" eaLnBrk="0" hangingPunct="0">
              <a:defRPr kumimoji="1" sz="2400" b="1">
                <a:solidFill>
                  <a:schemeClr val="tx1"/>
                </a:solidFill>
                <a:latin typeface="Times New Roman" panose="02020603050405020304" pitchFamily="18" charset="0"/>
                <a:ea typeface="楷体_GB2312" pitchFamily="49" charset="-122"/>
              </a:defRPr>
            </a:lvl2pPr>
            <a:lvl3pPr marL="1143000" indent="-228600" eaLnBrk="0" hangingPunct="0">
              <a:defRPr kumimoji="1" sz="2400" b="1">
                <a:solidFill>
                  <a:schemeClr val="tx1"/>
                </a:solidFill>
                <a:latin typeface="Times New Roman" panose="02020603050405020304" pitchFamily="18" charset="0"/>
                <a:ea typeface="楷体_GB2312" pitchFamily="49" charset="-122"/>
              </a:defRPr>
            </a:lvl3pPr>
            <a:lvl4pPr marL="1600200" indent="-228600" eaLnBrk="0" hangingPunct="0">
              <a:defRPr kumimoji="1" sz="2400" b="1">
                <a:solidFill>
                  <a:schemeClr val="tx1"/>
                </a:solidFill>
                <a:latin typeface="Times New Roman" panose="02020603050405020304" pitchFamily="18" charset="0"/>
                <a:ea typeface="楷体_GB2312" pitchFamily="49" charset="-122"/>
              </a:defRPr>
            </a:lvl4pPr>
            <a:lvl5pPr marL="2057400" indent="-228600" eaLnBrk="0" hangingPunct="0">
              <a:defRPr kumimoji="1"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楷体_GB2312" pitchFamily="49" charset="-122"/>
              </a:defRPr>
            </a:lvl9pPr>
          </a:lstStyle>
          <a:p>
            <a:pPr algn="ctr"/>
            <a:r>
              <a:rPr lang="zh-CN" altLang="en-US" sz="4800" dirty="0">
                <a:solidFill>
                  <a:srgbClr val="FF0000"/>
                </a:solidFill>
                <a:latin typeface="楷体_GB2312" pitchFamily="49" charset="-122"/>
              </a:rPr>
              <a:t>教学目标</a:t>
            </a:r>
            <a:endParaRPr lang="zh-CN" altLang="en-US" sz="4400" dirty="0">
              <a:solidFill>
                <a:srgbClr val="FF0000"/>
              </a:solidFill>
              <a:latin typeface="楷体_GB2312" pitchFamily="49" charset="-122"/>
            </a:endParaRPr>
          </a:p>
        </p:txBody>
      </p:sp>
      <p:sp>
        <p:nvSpPr>
          <p:cNvPr id="2" name="标题 1"/>
          <p:cNvSpPr>
            <a:spLocks noGrp="1"/>
          </p:cNvSpPr>
          <p:nvPr>
            <p:ph type="title"/>
          </p:nvPr>
        </p:nvSpPr>
        <p:spPr/>
        <p:txBody>
          <a:bodyPr/>
          <a:lstStyle/>
          <a:p>
            <a:endParaRPr lang="zh-CN" altLang="en-US"/>
          </a:p>
        </p:txBody>
      </p:sp>
      <p:sp>
        <p:nvSpPr>
          <p:cNvPr id="3" name="灯片编号占位符 2"/>
          <p:cNvSpPr>
            <a:spLocks noGrp="1"/>
          </p:cNvSpPr>
          <p:nvPr>
            <p:ph type="sldNum" sz="quarter" idx="4"/>
          </p:nvPr>
        </p:nvSpPr>
        <p:spPr/>
        <p:txBody>
          <a:bodyPr/>
          <a:lstStyle/>
          <a:p>
            <a:fld id="{565CE74E-AB26-4998-AD42-012C4C1AD076}" type="slidenum">
              <a:rPr lang="zh-CN" altLang="en-US" smtClean="0"/>
              <a:t>2</a:t>
            </a:fld>
            <a:endParaRPr lang="zh-CN" altLang="en-US"/>
          </a:p>
        </p:txBody>
      </p:sp>
    </p:spTree>
    <p:extLst>
      <p:ext uri="{BB962C8B-B14F-4D97-AF65-F5344CB8AC3E}">
        <p14:creationId xmlns:p14="http://schemas.microsoft.com/office/powerpoint/2010/main" val="39763790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3239">
                                            <p:bg/>
                                          </p:spTgt>
                                        </p:tgtEl>
                                        <p:attrNameLst>
                                          <p:attrName>style.visibility</p:attrName>
                                        </p:attrNameLst>
                                      </p:cBhvr>
                                      <p:to>
                                        <p:strVal val="visible"/>
                                      </p:to>
                                    </p:set>
                                    <p:animEffect transition="in" filter="blinds(horizontal)">
                                      <p:cBhvr>
                                        <p:cTn id="7" dur="500"/>
                                        <p:tgtEl>
                                          <p:spTgt spid="22323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3239">
                                            <p:txEl>
                                              <p:pRg st="0" end="0"/>
                                            </p:txEl>
                                          </p:spTgt>
                                        </p:tgtEl>
                                        <p:attrNameLst>
                                          <p:attrName>style.visibility</p:attrName>
                                        </p:attrNameLst>
                                      </p:cBhvr>
                                      <p:to>
                                        <p:strVal val="visible"/>
                                      </p:to>
                                    </p:set>
                                    <p:animEffect transition="in" filter="blinds(horizontal)">
                                      <p:cBhvr>
                                        <p:cTn id="12" dur="500"/>
                                        <p:tgtEl>
                                          <p:spTgt spid="2232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3239">
                                            <p:txEl>
                                              <p:pRg st="1" end="1"/>
                                            </p:txEl>
                                          </p:spTgt>
                                        </p:tgtEl>
                                        <p:attrNameLst>
                                          <p:attrName>style.visibility</p:attrName>
                                        </p:attrNameLst>
                                      </p:cBhvr>
                                      <p:to>
                                        <p:strVal val="visible"/>
                                      </p:to>
                                    </p:set>
                                    <p:animEffect transition="in" filter="blinds(horizontal)">
                                      <p:cBhvr>
                                        <p:cTn id="17" dur="500"/>
                                        <p:tgtEl>
                                          <p:spTgt spid="22323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3239">
                                            <p:txEl>
                                              <p:pRg st="2" end="2"/>
                                            </p:txEl>
                                          </p:spTgt>
                                        </p:tgtEl>
                                        <p:attrNameLst>
                                          <p:attrName>style.visibility</p:attrName>
                                        </p:attrNameLst>
                                      </p:cBhvr>
                                      <p:to>
                                        <p:strVal val="visible"/>
                                      </p:to>
                                    </p:set>
                                    <p:animEffect transition="in" filter="blinds(horizontal)">
                                      <p:cBhvr>
                                        <p:cTn id="22" dur="500"/>
                                        <p:tgtEl>
                                          <p:spTgt spid="22323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3239">
                                            <p:txEl>
                                              <p:pRg st="3" end="3"/>
                                            </p:txEl>
                                          </p:spTgt>
                                        </p:tgtEl>
                                        <p:attrNameLst>
                                          <p:attrName>style.visibility</p:attrName>
                                        </p:attrNameLst>
                                      </p:cBhvr>
                                      <p:to>
                                        <p:strVal val="visible"/>
                                      </p:to>
                                    </p:set>
                                    <p:animEffect transition="in" filter="blinds(horizontal)">
                                      <p:cBhvr>
                                        <p:cTn id="27" dur="500"/>
                                        <p:tgtEl>
                                          <p:spTgt spid="22323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3239">
                                            <p:txEl>
                                              <p:pRg st="4" end="4"/>
                                            </p:txEl>
                                          </p:spTgt>
                                        </p:tgtEl>
                                        <p:attrNameLst>
                                          <p:attrName>style.visibility</p:attrName>
                                        </p:attrNameLst>
                                      </p:cBhvr>
                                      <p:to>
                                        <p:strVal val="visible"/>
                                      </p:to>
                                    </p:set>
                                    <p:animEffect transition="in" filter="blinds(horizontal)">
                                      <p:cBhvr>
                                        <p:cTn id="32" dur="500"/>
                                        <p:tgtEl>
                                          <p:spTgt spid="223239">
                                            <p:txEl>
                                              <p:pRg st="4" end="4"/>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23239">
                                            <p:txEl>
                                              <p:pRg st="5" end="5"/>
                                            </p:txEl>
                                          </p:spTgt>
                                        </p:tgtEl>
                                        <p:attrNameLst>
                                          <p:attrName>style.visibility</p:attrName>
                                        </p:attrNameLst>
                                      </p:cBhvr>
                                      <p:to>
                                        <p:strVal val="visible"/>
                                      </p:to>
                                    </p:set>
                                    <p:animEffect transition="in" filter="blinds(horizontal)">
                                      <p:cBhvr>
                                        <p:cTn id="35" dur="500"/>
                                        <p:tgtEl>
                                          <p:spTgt spid="2232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9" grpId="0" build="p"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a:sym typeface="+mn-ea"/>
              </a:rPr>
              <a:t>编译原理是什么？</a:t>
            </a:r>
            <a:endParaRPr lang="zh-CN" altLang="en-US"/>
          </a:p>
          <a:p>
            <a:pPr lvl="1"/>
            <a:r>
              <a:rPr lang="zh-CN" altLang="en-US"/>
              <a:t>将高级程序设计语言编写的程序转换（翻译）成计算机上可运行的</a:t>
            </a:r>
            <a:r>
              <a:rPr lang="zh-CN" altLang="en-US">
                <a:solidFill>
                  <a:srgbClr val="FF0000"/>
                </a:solidFill>
              </a:rPr>
              <a:t>机器语言（或汇编语言或介于中间的某种语言</a:t>
            </a:r>
            <a:r>
              <a:rPr lang="zh-CN" altLang="en-US"/>
              <a:t>）。</a:t>
            </a:r>
          </a:p>
          <a:p>
            <a:pPr lvl="1"/>
            <a:r>
              <a:rPr lang="zh-CN" altLang="en-US"/>
              <a:t>完成翻译工作的软件系统称为</a:t>
            </a:r>
            <a:r>
              <a:rPr lang="zh-CN" altLang="en-US">
                <a:solidFill>
                  <a:srgbClr val="FF0000"/>
                </a:solidFill>
              </a:rPr>
              <a:t>编译器</a:t>
            </a:r>
            <a:r>
              <a:rPr lang="zh-CN" altLang="en-US"/>
              <a:t>。</a:t>
            </a:r>
          </a:p>
          <a:p>
            <a:pPr lvl="1"/>
            <a:r>
              <a:rPr lang="zh-CN" altLang="en-US"/>
              <a:t>编译器所生成代码的正确性和质量会直接影响成千上万的软件。</a:t>
            </a:r>
          </a:p>
          <a:p>
            <a:pPr lvl="1"/>
            <a:r>
              <a:rPr lang="zh-CN" altLang="en-US"/>
              <a:t>编译技术已经在编译器构造之外，应用在程序分析</a:t>
            </a:r>
            <a:r>
              <a:rPr lang="en-US" altLang="zh-CN"/>
              <a:t>/</a:t>
            </a:r>
            <a:r>
              <a:rPr lang="zh-CN" altLang="en-US"/>
              <a:t>验证、模型转换、语言处理等诸多领域。</a:t>
            </a:r>
          </a:p>
        </p:txBody>
      </p:sp>
      <p:sp>
        <p:nvSpPr>
          <p:cNvPr id="3" name="标题 2"/>
          <p:cNvSpPr>
            <a:spLocks noGrp="1"/>
          </p:cNvSpPr>
          <p:nvPr>
            <p:ph type="title"/>
          </p:nvPr>
        </p:nvSpPr>
        <p:spPr/>
        <p:txBody>
          <a:bodyPr/>
          <a:lstStyle/>
          <a:p>
            <a:r>
              <a:rPr lang="zh-CN" altLang="en-US"/>
              <a:t>简单回顾</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a:t>词法分析是什么？</a:t>
            </a:r>
          </a:p>
          <a:p>
            <a:pPr lvl="1"/>
            <a:r>
              <a:rPr lang="zh-CN" altLang="en-US"/>
              <a:t>是编译器的第一个步骤。称为</a:t>
            </a:r>
            <a:r>
              <a:rPr lang="zh-CN" altLang="en-US">
                <a:solidFill>
                  <a:srgbClr val="FF0000"/>
                </a:solidFill>
              </a:rPr>
              <a:t>词法分析或者扫描</a:t>
            </a:r>
            <a:r>
              <a:rPr lang="zh-CN" altLang="en-US"/>
              <a:t>。</a:t>
            </a:r>
          </a:p>
          <a:p>
            <a:pPr lvl="1"/>
            <a:r>
              <a:rPr lang="zh-CN" altLang="en-US"/>
              <a:t>词法分析器读入组成源程序的字符流，并且将它们组织成为有意义的</a:t>
            </a:r>
            <a:r>
              <a:rPr lang="zh-CN" altLang="en-US">
                <a:solidFill>
                  <a:srgbClr val="FF0000"/>
                </a:solidFill>
              </a:rPr>
              <a:t>词素</a:t>
            </a:r>
            <a:r>
              <a:rPr lang="zh-CN" altLang="en-US"/>
              <a:t>的序列。</a:t>
            </a:r>
          </a:p>
          <a:p>
            <a:pPr lvl="1"/>
            <a:r>
              <a:rPr lang="zh-CN" altLang="en-US"/>
              <a:t>对于每个词素，语法分析器产生</a:t>
            </a:r>
            <a:r>
              <a:rPr lang="zh-CN" altLang="en-US">
                <a:solidFill>
                  <a:srgbClr val="FF0000"/>
                </a:solidFill>
              </a:rPr>
              <a:t>词法单元</a:t>
            </a:r>
            <a:r>
              <a:rPr lang="en-US" altLang="zh-CN">
                <a:solidFill>
                  <a:srgbClr val="FF0000"/>
                </a:solidFill>
              </a:rPr>
              <a:t>&lt;token-name, attribute-value&gt;</a:t>
            </a:r>
          </a:p>
          <a:p>
            <a:pPr lvl="1"/>
            <a:r>
              <a:rPr lang="zh-CN" altLang="en-US"/>
              <a:t>识别源程序中不同类型的基本语言结构。</a:t>
            </a:r>
            <a:endParaRPr lang="en-US" altLang="zh-CN"/>
          </a:p>
          <a:p>
            <a:pPr lvl="1"/>
            <a:r>
              <a:rPr lang="zh-CN" altLang="en-US"/>
              <a:t>然后，将词法单元传递给语法分析。</a:t>
            </a:r>
          </a:p>
        </p:txBody>
      </p:sp>
      <p:sp>
        <p:nvSpPr>
          <p:cNvPr id="3" name="标题 2"/>
          <p:cNvSpPr>
            <a:spLocks noGrp="1"/>
          </p:cNvSpPr>
          <p:nvPr>
            <p:ph type="title"/>
          </p:nvPr>
        </p:nvSpPr>
        <p:spPr/>
        <p:txBody>
          <a:bodyPr/>
          <a:lstStyle/>
          <a:p>
            <a:r>
              <a:rPr lang="zh-CN" altLang="en-US"/>
              <a:t>简单回顾</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a:t>语法分析是什么？</a:t>
            </a:r>
          </a:p>
          <a:p>
            <a:pPr lvl="1"/>
            <a:r>
              <a:rPr lang="zh-CN" altLang="en-US"/>
              <a:t>是编译器的第二个步骤。称为语法分析或解析。</a:t>
            </a:r>
          </a:p>
          <a:p>
            <a:pPr lvl="1"/>
            <a:r>
              <a:rPr lang="zh-CN" altLang="en-US"/>
              <a:t>语法分析器使用由词法分析器生成的各个词法单元的第一个分量来创建树形的中间表示。</a:t>
            </a:r>
            <a:r>
              <a:rPr lang="zh-CN" altLang="en-US">
                <a:solidFill>
                  <a:srgbClr val="FF0000"/>
                </a:solidFill>
              </a:rPr>
              <a:t>常用的表示方法是语法分析树。</a:t>
            </a:r>
            <a:endParaRPr lang="zh-CN" altLang="en-US"/>
          </a:p>
          <a:p>
            <a:pPr lvl="1"/>
            <a:r>
              <a:rPr lang="zh-CN" altLang="en-US"/>
              <a:t>借助定义源语言的文法来定义源程序的各种结构。</a:t>
            </a:r>
          </a:p>
        </p:txBody>
      </p:sp>
      <p:sp>
        <p:nvSpPr>
          <p:cNvPr id="3" name="标题 2"/>
          <p:cNvSpPr>
            <a:spLocks noGrp="1"/>
          </p:cNvSpPr>
          <p:nvPr>
            <p:ph type="title"/>
          </p:nvPr>
        </p:nvSpPr>
        <p:spPr/>
        <p:txBody>
          <a:bodyPr/>
          <a:lstStyle/>
          <a:p>
            <a:r>
              <a:rPr lang="zh-CN" altLang="en-US"/>
              <a:t>简单回顾</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语义分析是什么？</a:t>
            </a:r>
          </a:p>
          <a:p>
            <a:pPr lvl="1"/>
            <a:r>
              <a:rPr lang="zh-CN" altLang="en-US" dirty="0"/>
              <a:t>确定源程序的意义。</a:t>
            </a:r>
          </a:p>
          <a:p>
            <a:pPr lvl="1"/>
            <a:r>
              <a:rPr lang="zh-CN" altLang="en-US" dirty="0"/>
              <a:t>通过识别语法分析程序识别出来的语法成分进一步进行语义分析处理，识别它们的含义。</a:t>
            </a:r>
          </a:p>
          <a:p>
            <a:pPr lvl="1"/>
            <a:endParaRPr lang="zh-CN" altLang="en-US" dirty="0"/>
          </a:p>
          <a:p>
            <a:pPr lvl="0"/>
            <a:r>
              <a:rPr lang="zh-CN" altLang="en-US" dirty="0"/>
              <a:t>举例：</a:t>
            </a:r>
          </a:p>
          <a:p>
            <a:pPr lvl="0"/>
            <a:r>
              <a:rPr lang="en-US" altLang="zh-CN" dirty="0"/>
              <a:t>He won the game with a </a:t>
            </a:r>
            <a:r>
              <a:rPr lang="en-US" altLang="zh-CN" dirty="0" err="1"/>
              <a:t>maphack</a:t>
            </a:r>
            <a:r>
              <a:rPr lang="en-US" altLang="zh-CN" dirty="0"/>
              <a:t>.</a:t>
            </a:r>
          </a:p>
          <a:p>
            <a:pPr lvl="0"/>
            <a:r>
              <a:rPr lang="zh-CN" altLang="en-US" dirty="0"/>
              <a:t>步骤：词性、句子结构、句子含义</a:t>
            </a:r>
          </a:p>
        </p:txBody>
      </p:sp>
      <p:sp>
        <p:nvSpPr>
          <p:cNvPr id="3" name="标题 2"/>
          <p:cNvSpPr>
            <a:spLocks noGrp="1"/>
          </p:cNvSpPr>
          <p:nvPr>
            <p:ph type="title"/>
          </p:nvPr>
        </p:nvSpPr>
        <p:spPr/>
        <p:txBody>
          <a:bodyPr/>
          <a:lstStyle/>
          <a:p>
            <a:r>
              <a:rPr lang="zh-CN" altLang="en-US"/>
              <a:t>导言</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lnSpcReduction="10000"/>
          </a:bodyPr>
          <a:lstStyle/>
          <a:p>
            <a:r>
              <a:rPr lang="zh-CN" altLang="en-US" dirty="0">
                <a:solidFill>
                  <a:srgbClr val="FF0000"/>
                </a:solidFill>
              </a:rPr>
              <a:t>一、语法制导翻译概述</a:t>
            </a:r>
          </a:p>
          <a:p>
            <a:pPr lvl="0"/>
            <a:r>
              <a:rPr lang="zh-CN" altLang="en-US" dirty="0"/>
              <a:t>二、属性文法</a:t>
            </a:r>
          </a:p>
          <a:p>
            <a:pPr lvl="1"/>
            <a:r>
              <a:rPr lang="zh-CN" altLang="en-US" dirty="0"/>
              <a:t>综合属性与继承属性</a:t>
            </a:r>
          </a:p>
          <a:p>
            <a:pPr lvl="1"/>
            <a:r>
              <a:rPr lang="en-US" altLang="zh-CN" dirty="0"/>
              <a:t>S-</a:t>
            </a:r>
            <a:r>
              <a:rPr lang="zh-CN" altLang="en-US" dirty="0"/>
              <a:t>属性文法</a:t>
            </a:r>
          </a:p>
          <a:p>
            <a:pPr lvl="1"/>
            <a:r>
              <a:rPr lang="en-US" altLang="zh-CN" dirty="0"/>
              <a:t>L-</a:t>
            </a:r>
            <a:r>
              <a:rPr lang="zh-CN" altLang="en-US" dirty="0"/>
              <a:t>属性文法</a:t>
            </a:r>
          </a:p>
          <a:p>
            <a:pPr lvl="0"/>
            <a:r>
              <a:rPr lang="zh-CN" altLang="en-US" sz="3200" dirty="0"/>
              <a:t>三、基于属性文法的语义计算</a:t>
            </a:r>
          </a:p>
          <a:p>
            <a:pPr lvl="1"/>
            <a:r>
              <a:rPr lang="zh-CN" altLang="en-US" dirty="0">
                <a:sym typeface="+mn-ea"/>
              </a:rPr>
              <a:t>基于</a:t>
            </a:r>
            <a:r>
              <a:rPr lang="en-US" altLang="zh-CN" dirty="0">
                <a:sym typeface="+mn-ea"/>
              </a:rPr>
              <a:t>S-</a:t>
            </a:r>
            <a:r>
              <a:rPr lang="zh-CN" altLang="en-US" dirty="0">
                <a:sym typeface="+mn-ea"/>
              </a:rPr>
              <a:t>属性文法的语义计算</a:t>
            </a:r>
            <a:endParaRPr lang="zh-CN" altLang="en-US" dirty="0"/>
          </a:p>
          <a:p>
            <a:pPr lvl="1"/>
            <a:r>
              <a:rPr lang="zh-CN" altLang="en-US" dirty="0">
                <a:sym typeface="+mn-ea"/>
              </a:rPr>
              <a:t>基于</a:t>
            </a:r>
            <a:r>
              <a:rPr lang="en-US" altLang="zh-CN" dirty="0">
                <a:sym typeface="+mn-ea"/>
              </a:rPr>
              <a:t>L-</a:t>
            </a:r>
            <a:r>
              <a:rPr lang="zh-CN" altLang="en-US" dirty="0">
                <a:sym typeface="+mn-ea"/>
              </a:rPr>
              <a:t>属性文法的语义计算</a:t>
            </a:r>
            <a:endParaRPr lang="zh-CN" altLang="en-US" dirty="0"/>
          </a:p>
          <a:p>
            <a:pPr lvl="0"/>
            <a:r>
              <a:rPr lang="zh-CN" altLang="en-US" sz="3200" dirty="0"/>
              <a:t>四、基于翻译模式的语义计算</a:t>
            </a:r>
          </a:p>
          <a:p>
            <a:pPr lvl="1"/>
            <a:r>
              <a:rPr lang="zh-CN" altLang="en-US" dirty="0">
                <a:sym typeface="+mn-ea"/>
              </a:rPr>
              <a:t>基于</a:t>
            </a:r>
            <a:r>
              <a:rPr lang="en-US" altLang="zh-CN" dirty="0">
                <a:sym typeface="+mn-ea"/>
              </a:rPr>
              <a:t>S-</a:t>
            </a:r>
            <a:r>
              <a:rPr lang="zh-CN" altLang="en-US" dirty="0">
                <a:sym typeface="+mn-ea"/>
              </a:rPr>
              <a:t>翻译模式的语义计算</a:t>
            </a:r>
            <a:endParaRPr lang="zh-CN" altLang="en-US" dirty="0"/>
          </a:p>
          <a:p>
            <a:pPr lvl="1"/>
            <a:r>
              <a:rPr lang="zh-CN" altLang="en-US" dirty="0">
                <a:sym typeface="+mn-ea"/>
              </a:rPr>
              <a:t>基于</a:t>
            </a:r>
            <a:r>
              <a:rPr lang="en-US" altLang="zh-CN" dirty="0">
                <a:sym typeface="+mn-ea"/>
              </a:rPr>
              <a:t>L-</a:t>
            </a:r>
            <a:r>
              <a:rPr lang="zh-CN" altLang="en-US" dirty="0">
                <a:sym typeface="+mn-ea"/>
              </a:rPr>
              <a:t>翻译模式的自顶向下语义计算</a:t>
            </a:r>
          </a:p>
          <a:p>
            <a:pPr lvl="1"/>
            <a:r>
              <a:rPr lang="zh-CN" altLang="en-US" dirty="0">
                <a:sym typeface="+mn-ea"/>
              </a:rPr>
              <a:t>基于</a:t>
            </a:r>
            <a:r>
              <a:rPr lang="en-US" altLang="zh-CN" dirty="0">
                <a:sym typeface="+mn-ea"/>
              </a:rPr>
              <a:t>S-</a:t>
            </a:r>
            <a:r>
              <a:rPr lang="zh-CN" altLang="en-US" dirty="0">
                <a:sym typeface="+mn-ea"/>
              </a:rPr>
              <a:t>翻译模式的自底向上语义计算</a:t>
            </a:r>
            <a:endParaRPr lang="zh-CN" altLang="en-US" dirty="0"/>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r>
              <a:rPr lang="zh-CN" altLang="en-US" dirty="0"/>
              <a:t>什么是语法制导翻译？</a:t>
            </a:r>
          </a:p>
          <a:p>
            <a:pPr lvl="1"/>
            <a:r>
              <a:rPr lang="zh-CN" altLang="en-US" dirty="0"/>
              <a:t>词法分析</a:t>
            </a:r>
          </a:p>
          <a:p>
            <a:pPr lvl="1"/>
            <a:r>
              <a:rPr lang="zh-CN" altLang="en-US" dirty="0">
                <a:solidFill>
                  <a:srgbClr val="FF0000"/>
                </a:solidFill>
              </a:rPr>
              <a:t>语法分析</a:t>
            </a:r>
          </a:p>
          <a:p>
            <a:pPr lvl="1"/>
            <a:r>
              <a:rPr lang="zh-CN" altLang="en-US" dirty="0">
                <a:solidFill>
                  <a:srgbClr val="FF0000"/>
                </a:solidFill>
              </a:rPr>
              <a:t>语义分析</a:t>
            </a:r>
          </a:p>
          <a:p>
            <a:pPr lvl="1"/>
            <a:r>
              <a:rPr lang="zh-CN" altLang="en-US" dirty="0">
                <a:solidFill>
                  <a:srgbClr val="FF0000"/>
                </a:solidFill>
              </a:rPr>
              <a:t>中间代码生成</a:t>
            </a:r>
            <a:endParaRPr lang="zh-CN" altLang="en-US" dirty="0"/>
          </a:p>
          <a:p>
            <a:pPr lvl="1"/>
            <a:r>
              <a:rPr lang="zh-CN" altLang="en-US" dirty="0"/>
              <a:t>代码优化</a:t>
            </a:r>
          </a:p>
          <a:p>
            <a:pPr lvl="1"/>
            <a:r>
              <a:rPr lang="zh-CN" altLang="en-US" dirty="0"/>
              <a:t>目标代码生成</a:t>
            </a:r>
          </a:p>
          <a:p>
            <a:pPr lvl="1"/>
            <a:endParaRPr lang="zh-CN" altLang="en-US" dirty="0"/>
          </a:p>
          <a:p>
            <a:pPr lvl="1"/>
            <a:endParaRPr lang="zh-CN" altLang="en-US" dirty="0"/>
          </a:p>
          <a:p>
            <a:pPr lvl="1"/>
            <a:r>
              <a:rPr lang="zh-CN" altLang="en-US" dirty="0">
                <a:solidFill>
                  <a:srgbClr val="FF0000"/>
                </a:solidFill>
              </a:rPr>
              <a:t>语法制导翻译使用上下文无关文法（context-free grammar</a:t>
            </a:r>
            <a:r>
              <a:rPr lang="en-US" altLang="zh-CN" dirty="0">
                <a:solidFill>
                  <a:srgbClr val="FF0000"/>
                </a:solidFill>
              </a:rPr>
              <a:t>, CFG</a:t>
            </a:r>
            <a:r>
              <a:rPr lang="zh-CN" altLang="en-US" dirty="0">
                <a:solidFill>
                  <a:srgbClr val="FF0000"/>
                </a:solidFill>
              </a:rPr>
              <a:t>）来引导对语言的翻译，是一种面向文法的翻译技术。</a:t>
            </a:r>
          </a:p>
        </p:txBody>
      </p:sp>
      <p:sp>
        <p:nvSpPr>
          <p:cNvPr id="3" name="标题 2"/>
          <p:cNvSpPr>
            <a:spLocks noGrp="1"/>
          </p:cNvSpPr>
          <p:nvPr>
            <p:ph type="title"/>
          </p:nvPr>
        </p:nvSpPr>
        <p:spPr/>
        <p:txBody>
          <a:bodyPr/>
          <a:lstStyle/>
          <a:p>
            <a:r>
              <a:rPr lang="zh-CN" altLang="en-US"/>
              <a:t>一、语法制导翻译概述</a:t>
            </a:r>
          </a:p>
        </p:txBody>
      </p:sp>
      <p:sp>
        <p:nvSpPr>
          <p:cNvPr id="4" name="右大括号 3"/>
          <p:cNvSpPr/>
          <p:nvPr/>
        </p:nvSpPr>
        <p:spPr>
          <a:xfrm>
            <a:off x="3942715" y="2249981"/>
            <a:ext cx="349885" cy="67691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右大括号 4"/>
          <p:cNvSpPr/>
          <p:nvPr/>
        </p:nvSpPr>
        <p:spPr>
          <a:xfrm>
            <a:off x="6068695" y="1728646"/>
            <a:ext cx="393065" cy="79057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4455795" y="2318561"/>
            <a:ext cx="1612900" cy="521970"/>
          </a:xfrm>
          <a:prstGeom prst="rect">
            <a:avLst/>
          </a:prstGeom>
          <a:noFill/>
        </p:spPr>
        <p:txBody>
          <a:bodyPr wrap="none" rtlCol="0">
            <a:spAutoFit/>
          </a:bodyPr>
          <a:lstStyle/>
          <a:p>
            <a:r>
              <a:rPr lang="zh-CN" altLang="en-US" sz="2800" b="1" dirty="0">
                <a:solidFill>
                  <a:srgbClr val="0066FF"/>
                </a:solidFill>
              </a:rPr>
              <a:t>语义翻译</a:t>
            </a:r>
          </a:p>
        </p:txBody>
      </p:sp>
      <p:sp>
        <p:nvSpPr>
          <p:cNvPr id="7" name="文本框 6"/>
          <p:cNvSpPr txBox="1"/>
          <p:nvPr/>
        </p:nvSpPr>
        <p:spPr>
          <a:xfrm>
            <a:off x="6722745" y="1728011"/>
            <a:ext cx="2419985" cy="1814830"/>
          </a:xfrm>
          <a:prstGeom prst="rect">
            <a:avLst/>
          </a:prstGeom>
          <a:noFill/>
        </p:spPr>
        <p:txBody>
          <a:bodyPr wrap="square" rtlCol="0">
            <a:spAutoFit/>
          </a:bodyPr>
          <a:lstStyle/>
          <a:p>
            <a:r>
              <a:rPr lang="zh-CN" altLang="en-US" sz="2800" b="1" dirty="0">
                <a:solidFill>
                  <a:srgbClr val="0066FF"/>
                </a:solidFill>
              </a:rPr>
              <a:t>语法制导翻译</a:t>
            </a:r>
          </a:p>
          <a:p>
            <a:r>
              <a:rPr lang="en-US" altLang="zh-CN" sz="2800" b="1" dirty="0">
                <a:solidFill>
                  <a:srgbClr val="0066FF"/>
                </a:solidFill>
              </a:rPr>
              <a:t>(Syntax-Directed Translation)</a:t>
            </a:r>
          </a:p>
        </p:txBody>
      </p:sp>
      <p:sp>
        <p:nvSpPr>
          <p:cNvPr id="8" name="灯片编号占位符 7"/>
          <p:cNvSpPr>
            <a:spLocks noGrp="1"/>
          </p:cNvSpPr>
          <p:nvPr>
            <p:ph type="sldNum" sz="quarter" idx="4"/>
          </p:nvPr>
        </p:nvSpPr>
        <p:spPr/>
        <p:txBody>
          <a:bodyPr/>
          <a:lstStyle/>
          <a:p>
            <a:fld id="{565CE74E-AB26-4998-AD42-012C4C1AD076}"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pPr algn="just">
              <a:lnSpc>
                <a:spcPct val="150000"/>
              </a:lnSpc>
            </a:pPr>
            <a:r>
              <a:rPr lang="zh-CN" altLang="en-US" sz="3200" dirty="0">
                <a:solidFill>
                  <a:srgbClr val="0000CC"/>
                </a:solidFill>
                <a:latin typeface="微软雅黑" panose="020B0503020204020204" pitchFamily="34" charset="-122"/>
                <a:ea typeface="微软雅黑" panose="020B0503020204020204" pitchFamily="34" charset="-122"/>
                <a:sym typeface="+mn-ea"/>
              </a:rPr>
              <a:t>语法制导翻译：</a:t>
            </a:r>
            <a:r>
              <a:rPr lang="zh-CN" altLang="en-US" sz="3200" dirty="0">
                <a:latin typeface="微软雅黑" panose="020B0503020204020204" pitchFamily="34" charset="-122"/>
                <a:ea typeface="微软雅黑" panose="020B0503020204020204" pitchFamily="34" charset="-122"/>
                <a:sym typeface="+mn-ea"/>
              </a:rPr>
              <a:t>对单词符号串进行</a:t>
            </a:r>
            <a:r>
              <a:rPr lang="zh-CN" altLang="en-US" sz="3200" dirty="0">
                <a:solidFill>
                  <a:srgbClr val="FF0000"/>
                </a:solidFill>
                <a:latin typeface="微软雅黑" panose="020B0503020204020204" pitchFamily="34" charset="-122"/>
                <a:ea typeface="微软雅黑" panose="020B0503020204020204" pitchFamily="34" charset="-122"/>
                <a:sym typeface="+mn-ea"/>
              </a:rPr>
              <a:t>语法分析</a:t>
            </a:r>
            <a:r>
              <a:rPr lang="zh-CN" altLang="en-US" sz="3200" dirty="0">
                <a:latin typeface="微软雅黑" panose="020B0503020204020204" pitchFamily="34" charset="-122"/>
                <a:ea typeface="微软雅黑" panose="020B0503020204020204" pitchFamily="34" charset="-122"/>
                <a:sym typeface="+mn-ea"/>
              </a:rPr>
              <a:t>，构造</a:t>
            </a:r>
            <a:r>
              <a:rPr lang="zh-CN" altLang="en-US" sz="3200" dirty="0">
                <a:solidFill>
                  <a:srgbClr val="FF0000"/>
                </a:solidFill>
                <a:latin typeface="微软雅黑" panose="020B0503020204020204" pitchFamily="34" charset="-122"/>
                <a:ea typeface="微软雅黑" panose="020B0503020204020204" pitchFamily="34" charset="-122"/>
                <a:sym typeface="+mn-ea"/>
              </a:rPr>
              <a:t>语法分析树</a:t>
            </a:r>
            <a:r>
              <a:rPr lang="zh-CN" altLang="en-US" sz="3200" dirty="0">
                <a:latin typeface="微软雅黑" panose="020B0503020204020204" pitchFamily="34" charset="-122"/>
                <a:ea typeface="微软雅黑" panose="020B0503020204020204" pitchFamily="34" charset="-122"/>
                <a:sym typeface="+mn-ea"/>
              </a:rPr>
              <a:t>，然后根据需要遍历语法树并在语法树的各结点处按</a:t>
            </a:r>
            <a:r>
              <a:rPr lang="zh-CN" altLang="en-US" sz="3200" dirty="0">
                <a:solidFill>
                  <a:srgbClr val="FF0000"/>
                </a:solidFill>
                <a:latin typeface="微软雅黑" panose="020B0503020204020204" pitchFamily="34" charset="-122"/>
                <a:ea typeface="微软雅黑" panose="020B0503020204020204" pitchFamily="34" charset="-122"/>
                <a:sym typeface="+mn-ea"/>
              </a:rPr>
              <a:t>语义规则</a:t>
            </a:r>
            <a:r>
              <a:rPr lang="zh-CN" altLang="en-US" sz="3200" dirty="0">
                <a:latin typeface="微软雅黑" panose="020B0503020204020204" pitchFamily="34" charset="-122"/>
                <a:ea typeface="微软雅黑" panose="020B0503020204020204" pitchFamily="34" charset="-122"/>
                <a:sym typeface="+mn-ea"/>
              </a:rPr>
              <a:t>进行计算。</a:t>
            </a:r>
            <a:endParaRPr lang="zh-CN" altLang="en-US" sz="3200" dirty="0">
              <a:latin typeface="微软雅黑" panose="020B0503020204020204" pitchFamily="34" charset="-122"/>
              <a:ea typeface="微软雅黑" panose="020B0503020204020204" pitchFamily="34" charset="-122"/>
            </a:endParaRPr>
          </a:p>
          <a:p>
            <a:pPr algn="just">
              <a:lnSpc>
                <a:spcPct val="150000"/>
              </a:lnSpc>
            </a:pPr>
            <a:r>
              <a:rPr lang="zh-CN" altLang="en-US" sz="3200" dirty="0">
                <a:latin typeface="微软雅黑" panose="020B0503020204020204" pitchFamily="34" charset="-122"/>
                <a:ea typeface="微软雅黑" panose="020B0503020204020204" pitchFamily="34" charset="-122"/>
                <a:sym typeface="+mn-ea"/>
              </a:rPr>
              <a:t>对输入符号串的</a:t>
            </a:r>
            <a:r>
              <a:rPr lang="zh-CN" altLang="en-US" sz="3200" dirty="0">
                <a:solidFill>
                  <a:srgbClr val="FF0000"/>
                </a:solidFill>
                <a:latin typeface="微软雅黑" panose="020B0503020204020204" pitchFamily="34" charset="-122"/>
                <a:ea typeface="微软雅黑" panose="020B0503020204020204" pitchFamily="34" charset="-122"/>
                <a:sym typeface="+mn-ea"/>
              </a:rPr>
              <a:t>翻译</a:t>
            </a:r>
            <a:r>
              <a:rPr lang="zh-CN" altLang="en-US" sz="3200" dirty="0">
                <a:latin typeface="微软雅黑" panose="020B0503020204020204" pitchFamily="34" charset="-122"/>
                <a:ea typeface="微软雅黑" panose="020B0503020204020204" pitchFamily="34" charset="-122"/>
                <a:sym typeface="+mn-ea"/>
              </a:rPr>
              <a:t>就是根据语义规则进行</a:t>
            </a:r>
            <a:r>
              <a:rPr lang="zh-CN" altLang="en-US" sz="3200" dirty="0">
                <a:solidFill>
                  <a:srgbClr val="FF0000"/>
                </a:solidFill>
                <a:latin typeface="微软雅黑" panose="020B0503020204020204" pitchFamily="34" charset="-122"/>
                <a:ea typeface="微软雅黑" panose="020B0503020204020204" pitchFamily="34" charset="-122"/>
                <a:sym typeface="+mn-ea"/>
              </a:rPr>
              <a:t>计算</a:t>
            </a:r>
            <a:r>
              <a:rPr lang="zh-CN" altLang="en-US" sz="3200" dirty="0">
                <a:latin typeface="微软雅黑" panose="020B0503020204020204" pitchFamily="34" charset="-122"/>
                <a:ea typeface="微软雅黑" panose="020B0503020204020204" pitchFamily="34" charset="-122"/>
                <a:sym typeface="+mn-ea"/>
              </a:rPr>
              <a:t>的结果。</a:t>
            </a:r>
            <a:endParaRPr lang="zh-CN" altLang="en-US" sz="3200" dirty="0">
              <a:latin typeface="微软雅黑" panose="020B0503020204020204" pitchFamily="34" charset="-122"/>
              <a:ea typeface="微软雅黑" panose="020B0503020204020204" pitchFamily="34" charset="-122"/>
            </a:endParaRPr>
          </a:p>
          <a:p>
            <a:pPr algn="just">
              <a:lnSpc>
                <a:spcPct val="150000"/>
              </a:lnSpc>
            </a:pPr>
            <a:r>
              <a:rPr lang="zh-CN" altLang="en-US" sz="3200" dirty="0">
                <a:latin typeface="微软雅黑" panose="020B0503020204020204" pitchFamily="34" charset="-122"/>
                <a:ea typeface="微软雅黑" panose="020B0503020204020204" pitchFamily="34" charset="-122"/>
                <a:sym typeface="+mn-ea"/>
              </a:rPr>
              <a:t>由源程序的语法结构所驱动的处理办法就是</a:t>
            </a:r>
            <a:r>
              <a:rPr lang="zh-CN" altLang="en-US" sz="3200" dirty="0">
                <a:solidFill>
                  <a:srgbClr val="FF3300"/>
                </a:solidFill>
                <a:latin typeface="微软雅黑" panose="020B0503020204020204" pitchFamily="34" charset="-122"/>
                <a:ea typeface="微软雅黑" panose="020B0503020204020204" pitchFamily="34" charset="-122"/>
                <a:sym typeface="+mn-ea"/>
              </a:rPr>
              <a:t>语法制导翻译法。</a:t>
            </a:r>
            <a:endParaRPr lang="zh-CN" altLang="en-US" sz="3200" b="0" dirty="0">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p:txBody>
          <a:bodyPr/>
          <a:lstStyle/>
          <a:p>
            <a:r>
              <a:rPr lang="zh-CN" altLang="en-US">
                <a:sym typeface="+mn-ea"/>
              </a:rPr>
              <a:t>一、语法制导翻译概述</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20000"/>
          </a:bodyPr>
          <a:lstStyle/>
          <a:p>
            <a:pPr>
              <a:lnSpc>
                <a:spcPct val="150000"/>
              </a:lnSpc>
            </a:pPr>
            <a:r>
              <a:rPr lang="zh-CN" altLang="en-US" dirty="0">
                <a:latin typeface="微软雅黑" panose="020B0503020204020204" pitchFamily="34" charset="-122"/>
                <a:ea typeface="微软雅黑" panose="020B0503020204020204" pitchFamily="34" charset="-122"/>
              </a:rPr>
              <a:t>语法制导翻译的基本思想</a:t>
            </a:r>
          </a:p>
          <a:p>
            <a:pPr lvl="1">
              <a:lnSpc>
                <a:spcPct val="150000"/>
              </a:lnSpc>
            </a:pPr>
            <a:r>
              <a:rPr lang="zh-CN" altLang="en-US" dirty="0">
                <a:latin typeface="微软雅黑" panose="020B0503020204020204" pitchFamily="34" charset="-122"/>
                <a:ea typeface="微软雅黑" panose="020B0503020204020204" pitchFamily="34" charset="-122"/>
              </a:rPr>
              <a:t>如何表示语义信息？</a:t>
            </a:r>
          </a:p>
          <a:p>
            <a:pPr lvl="2">
              <a:lnSpc>
                <a:spcPct val="150000"/>
              </a:lnSpc>
            </a:pPr>
            <a:r>
              <a:rPr lang="zh-CN" altLang="en-US" dirty="0">
                <a:latin typeface="微软雅黑" panose="020B0503020204020204" pitchFamily="34" charset="-122"/>
                <a:ea typeface="微软雅黑" panose="020B0503020204020204" pitchFamily="34" charset="-122"/>
              </a:rPr>
              <a:t>为</a:t>
            </a:r>
            <a:r>
              <a:rPr lang="en-US" altLang="zh-CN" dirty="0">
                <a:latin typeface="微软雅黑" panose="020B0503020204020204" pitchFamily="34" charset="-122"/>
                <a:ea typeface="微软雅黑" panose="020B0503020204020204" pitchFamily="34" charset="-122"/>
              </a:rPr>
              <a:t>CFG</a:t>
            </a:r>
            <a:r>
              <a:rPr lang="zh-CN" altLang="en-US" dirty="0">
                <a:latin typeface="微软雅黑" panose="020B0503020204020204" pitchFamily="34" charset="-122"/>
                <a:ea typeface="微软雅黑" panose="020B0503020204020204" pitchFamily="34" charset="-122"/>
              </a:rPr>
              <a:t>中的文法符号设置</a:t>
            </a:r>
            <a:r>
              <a:rPr lang="zh-CN" altLang="en-US" dirty="0">
                <a:solidFill>
                  <a:srgbClr val="FF0000"/>
                </a:solidFill>
                <a:latin typeface="微软雅黑" panose="020B0503020204020204" pitchFamily="34" charset="-122"/>
                <a:ea typeface="微软雅黑" panose="020B0503020204020204" pitchFamily="34" charset="-122"/>
              </a:rPr>
              <a:t>语义属性</a:t>
            </a:r>
            <a:r>
              <a:rPr lang="zh-CN" altLang="en-US" dirty="0">
                <a:latin typeface="微软雅黑" panose="020B0503020204020204" pitchFamily="34" charset="-122"/>
                <a:ea typeface="微软雅黑" panose="020B0503020204020204" pitchFamily="34" charset="-122"/>
              </a:rPr>
              <a:t>，用来表示语法成分对应的语义信息。</a:t>
            </a:r>
          </a:p>
          <a:p>
            <a:pPr lvl="1">
              <a:lnSpc>
                <a:spcPct val="150000"/>
              </a:lnSpc>
            </a:pPr>
            <a:r>
              <a:rPr lang="zh-CN" altLang="en-US" dirty="0">
                <a:latin typeface="微软雅黑" panose="020B0503020204020204" pitchFamily="34" charset="-122"/>
                <a:ea typeface="微软雅黑" panose="020B0503020204020204" pitchFamily="34" charset="-122"/>
              </a:rPr>
              <a:t>如何计算语义属性？</a:t>
            </a:r>
          </a:p>
          <a:p>
            <a:pPr lvl="2">
              <a:lnSpc>
                <a:spcPct val="150000"/>
              </a:lnSpc>
            </a:pPr>
            <a:r>
              <a:rPr lang="zh-CN" altLang="en-US" dirty="0">
                <a:latin typeface="微软雅黑" panose="020B0503020204020204" pitchFamily="34" charset="-122"/>
                <a:ea typeface="微软雅黑" panose="020B0503020204020204" pitchFamily="34" charset="-122"/>
              </a:rPr>
              <a:t>文法符号的</a:t>
            </a:r>
            <a:r>
              <a:rPr lang="zh-CN" altLang="en-US" dirty="0">
                <a:solidFill>
                  <a:srgbClr val="FF0000"/>
                </a:solidFill>
                <a:latin typeface="微软雅黑" panose="020B0503020204020204" pitchFamily="34" charset="-122"/>
                <a:ea typeface="微软雅黑" panose="020B0503020204020204" pitchFamily="34" charset="-122"/>
              </a:rPr>
              <a:t>语义属性值</a:t>
            </a:r>
            <a:r>
              <a:rPr lang="zh-CN" altLang="en-US" dirty="0">
                <a:latin typeface="微软雅黑" panose="020B0503020204020204" pitchFamily="34" charset="-122"/>
                <a:ea typeface="微软雅黑" panose="020B0503020204020204" pitchFamily="34" charset="-122"/>
              </a:rPr>
              <a:t>是用与文法符号所在产生式（</a:t>
            </a:r>
            <a:r>
              <a:rPr lang="zh-CN" altLang="en-US" dirty="0">
                <a:solidFill>
                  <a:srgbClr val="FF0000"/>
                </a:solidFill>
                <a:latin typeface="微软雅黑" panose="020B0503020204020204" pitchFamily="34" charset="-122"/>
                <a:ea typeface="微软雅黑" panose="020B0503020204020204" pitchFamily="34" charset="-122"/>
              </a:rPr>
              <a:t>语法规则</a:t>
            </a:r>
            <a:r>
              <a:rPr lang="zh-CN" altLang="en-US" dirty="0">
                <a:latin typeface="微软雅黑" panose="020B0503020204020204" pitchFamily="34" charset="-122"/>
                <a:ea typeface="微软雅黑" panose="020B0503020204020204" pitchFamily="34" charset="-122"/>
              </a:rPr>
              <a:t>）相关联的</a:t>
            </a:r>
            <a:r>
              <a:rPr lang="zh-CN" altLang="en-US" dirty="0">
                <a:solidFill>
                  <a:srgbClr val="FF0000"/>
                </a:solidFill>
                <a:latin typeface="微软雅黑" panose="020B0503020204020204" pitchFamily="34" charset="-122"/>
                <a:ea typeface="微软雅黑" panose="020B0503020204020204" pitchFamily="34" charset="-122"/>
              </a:rPr>
              <a:t>语义规则</a:t>
            </a:r>
            <a:r>
              <a:rPr lang="zh-CN" altLang="en-US" dirty="0">
                <a:latin typeface="微软雅黑" panose="020B0503020204020204" pitchFamily="34" charset="-122"/>
                <a:ea typeface="微软雅黑" panose="020B0503020204020204" pitchFamily="34" charset="-122"/>
              </a:rPr>
              <a:t>来计算的。</a:t>
            </a:r>
          </a:p>
          <a:p>
            <a:pPr lvl="2">
              <a:lnSpc>
                <a:spcPct val="150000"/>
              </a:lnSpc>
            </a:pPr>
            <a:endParaRPr lang="zh-CN" altLang="en-US" dirty="0">
              <a:latin typeface="微软雅黑" panose="020B0503020204020204" pitchFamily="34" charset="-122"/>
              <a:ea typeface="微软雅黑" panose="020B0503020204020204" pitchFamily="34" charset="-122"/>
            </a:endParaRPr>
          </a:p>
          <a:p>
            <a:pPr lvl="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属性文法：</a:t>
            </a:r>
            <a:r>
              <a:rPr lang="zh-CN" altLang="en-US" sz="2800" dirty="0">
                <a:latin typeface="微软雅黑" panose="020B0503020204020204" pitchFamily="34" charset="-122"/>
                <a:ea typeface="微软雅黑" panose="020B0503020204020204" pitchFamily="34" charset="-122"/>
              </a:rPr>
              <a:t>对</a:t>
            </a:r>
            <a:r>
              <a:rPr lang="en-US" altLang="zh-CN" sz="2800" dirty="0">
                <a:latin typeface="微软雅黑" panose="020B0503020204020204" pitchFamily="34" charset="-122"/>
                <a:ea typeface="微软雅黑" panose="020B0503020204020204" pitchFamily="34" charset="-122"/>
              </a:rPr>
              <a:t>CFG</a:t>
            </a:r>
            <a:r>
              <a:rPr lang="zh-CN" altLang="en-US" sz="2800" dirty="0">
                <a:latin typeface="微软雅黑" panose="020B0503020204020204" pitchFamily="34" charset="-122"/>
                <a:ea typeface="微软雅黑" panose="020B0503020204020204" pitchFamily="34" charset="-122"/>
              </a:rPr>
              <a:t>的扩展文法。</a:t>
            </a:r>
            <a:endParaRPr lang="zh-CN" altLang="en-US" dirty="0">
              <a:latin typeface="微软雅黑" panose="020B0503020204020204" pitchFamily="34" charset="-122"/>
              <a:ea typeface="微软雅黑" panose="020B0503020204020204" pitchFamily="34" charset="-122"/>
            </a:endParaRPr>
          </a:p>
          <a:p>
            <a:pPr lvl="2"/>
            <a:endParaRPr lang="zh-CN" altLang="en-US" dirty="0"/>
          </a:p>
        </p:txBody>
      </p:sp>
      <p:sp>
        <p:nvSpPr>
          <p:cNvPr id="3" name="标题 2"/>
          <p:cNvSpPr>
            <a:spLocks noGrp="1"/>
          </p:cNvSpPr>
          <p:nvPr>
            <p:ph type="title"/>
          </p:nvPr>
        </p:nvSpPr>
        <p:spPr/>
        <p:txBody>
          <a:bodyPr/>
          <a:lstStyle/>
          <a:p>
            <a:r>
              <a:rPr lang="zh-CN" altLang="en-US">
                <a:sym typeface="+mn-ea"/>
              </a:rPr>
              <a:t>一、语法制导翻译概述</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lnSpcReduction="10000"/>
          </a:bodyPr>
          <a:lstStyle/>
          <a:p>
            <a:r>
              <a:rPr lang="zh-CN" altLang="en-US" dirty="0"/>
              <a:t>一、语法制导翻译概述</a:t>
            </a:r>
          </a:p>
          <a:p>
            <a:pPr lvl="0"/>
            <a:r>
              <a:rPr lang="zh-CN" altLang="en-US" dirty="0">
                <a:solidFill>
                  <a:srgbClr val="FF0000"/>
                </a:solidFill>
              </a:rPr>
              <a:t>二、属性文法</a:t>
            </a:r>
            <a:endParaRPr lang="zh-CN" altLang="en-US" dirty="0"/>
          </a:p>
          <a:p>
            <a:pPr lvl="1"/>
            <a:r>
              <a:rPr lang="zh-CN" altLang="en-US" dirty="0"/>
              <a:t>综合属性与继承属性</a:t>
            </a:r>
          </a:p>
          <a:p>
            <a:pPr lvl="1"/>
            <a:r>
              <a:rPr lang="en-US" altLang="zh-CN" dirty="0"/>
              <a:t>S-</a:t>
            </a:r>
            <a:r>
              <a:rPr lang="zh-CN" altLang="en-US" dirty="0"/>
              <a:t>属性文法</a:t>
            </a:r>
          </a:p>
          <a:p>
            <a:pPr lvl="1"/>
            <a:r>
              <a:rPr lang="en-US" altLang="zh-CN" dirty="0"/>
              <a:t>L-</a:t>
            </a:r>
            <a:r>
              <a:rPr lang="zh-CN" altLang="en-US" dirty="0"/>
              <a:t>属性文法</a:t>
            </a:r>
          </a:p>
          <a:p>
            <a:pPr lvl="0"/>
            <a:r>
              <a:rPr lang="zh-CN" altLang="en-US" sz="3200" dirty="0"/>
              <a:t>三、基于属性文法的语义计算</a:t>
            </a:r>
          </a:p>
          <a:p>
            <a:pPr lvl="1"/>
            <a:r>
              <a:rPr lang="zh-CN" altLang="en-US" dirty="0">
                <a:sym typeface="+mn-ea"/>
              </a:rPr>
              <a:t>基于</a:t>
            </a:r>
            <a:r>
              <a:rPr lang="en-US" altLang="zh-CN" dirty="0">
                <a:sym typeface="+mn-ea"/>
              </a:rPr>
              <a:t>S-</a:t>
            </a:r>
            <a:r>
              <a:rPr lang="zh-CN" altLang="en-US" dirty="0">
                <a:sym typeface="+mn-ea"/>
              </a:rPr>
              <a:t>属性文法的语义计算</a:t>
            </a:r>
            <a:endParaRPr lang="zh-CN" altLang="en-US" dirty="0"/>
          </a:p>
          <a:p>
            <a:pPr lvl="1"/>
            <a:r>
              <a:rPr lang="zh-CN" altLang="en-US" dirty="0">
                <a:sym typeface="+mn-ea"/>
              </a:rPr>
              <a:t>基于</a:t>
            </a:r>
            <a:r>
              <a:rPr lang="en-US" altLang="zh-CN" dirty="0">
                <a:sym typeface="+mn-ea"/>
              </a:rPr>
              <a:t>L-</a:t>
            </a:r>
            <a:r>
              <a:rPr lang="zh-CN" altLang="en-US" dirty="0">
                <a:sym typeface="+mn-ea"/>
              </a:rPr>
              <a:t>属性文法的语义计算</a:t>
            </a:r>
            <a:endParaRPr lang="zh-CN" altLang="en-US" dirty="0"/>
          </a:p>
          <a:p>
            <a:pPr lvl="0"/>
            <a:r>
              <a:rPr lang="zh-CN" altLang="en-US" sz="3200" dirty="0"/>
              <a:t>四、基于翻译模式的语义计算</a:t>
            </a:r>
          </a:p>
          <a:p>
            <a:pPr lvl="1"/>
            <a:r>
              <a:rPr lang="zh-CN" altLang="en-US" dirty="0">
                <a:sym typeface="+mn-ea"/>
              </a:rPr>
              <a:t>基于</a:t>
            </a:r>
            <a:r>
              <a:rPr lang="en-US" altLang="zh-CN" dirty="0">
                <a:sym typeface="+mn-ea"/>
              </a:rPr>
              <a:t>S-</a:t>
            </a:r>
            <a:r>
              <a:rPr lang="zh-CN" altLang="en-US" dirty="0">
                <a:sym typeface="+mn-ea"/>
              </a:rPr>
              <a:t>翻译模式的语义计算</a:t>
            </a:r>
            <a:endParaRPr lang="zh-CN" altLang="en-US" dirty="0"/>
          </a:p>
          <a:p>
            <a:pPr lvl="1"/>
            <a:r>
              <a:rPr lang="zh-CN" altLang="en-US" dirty="0">
                <a:sym typeface="+mn-ea"/>
              </a:rPr>
              <a:t>基于</a:t>
            </a:r>
            <a:r>
              <a:rPr lang="en-US" altLang="zh-CN" dirty="0">
                <a:sym typeface="+mn-ea"/>
              </a:rPr>
              <a:t>L-</a:t>
            </a:r>
            <a:r>
              <a:rPr lang="zh-CN" altLang="en-US" dirty="0">
                <a:sym typeface="+mn-ea"/>
              </a:rPr>
              <a:t>翻译模式的自顶向下语义计算</a:t>
            </a:r>
          </a:p>
          <a:p>
            <a:pPr lvl="1"/>
            <a:r>
              <a:rPr lang="zh-CN" altLang="en-US" dirty="0">
                <a:sym typeface="+mn-ea"/>
              </a:rPr>
              <a:t>基于</a:t>
            </a:r>
            <a:r>
              <a:rPr lang="en-US" altLang="zh-CN" dirty="0">
                <a:sym typeface="+mn-ea"/>
              </a:rPr>
              <a:t>S-</a:t>
            </a:r>
            <a:r>
              <a:rPr lang="zh-CN" altLang="en-US" dirty="0">
                <a:sym typeface="+mn-ea"/>
              </a:rPr>
              <a:t>翻译模式的自底向上语义计算</a:t>
            </a:r>
            <a:endParaRPr lang="zh-CN" altLang="en-US" dirty="0"/>
          </a:p>
          <a:p>
            <a:pPr lvl="1"/>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6426200"/>
          </a:xfrm>
        </p:spPr>
        <p:txBody>
          <a:bodyPr>
            <a:normAutofit/>
          </a:bodyPr>
          <a:lstStyle/>
          <a:p>
            <a:r>
              <a:rPr lang="zh-CN" altLang="en-US" sz="2800" dirty="0">
                <a:solidFill>
                  <a:srgbClr val="FF3300"/>
                </a:solidFill>
                <a:sym typeface="+mn-ea"/>
              </a:rPr>
              <a:t>属性文法</a:t>
            </a:r>
            <a:r>
              <a:rPr lang="zh-CN" altLang="en-US" sz="2800" dirty="0">
                <a:sym typeface="+mn-ea"/>
              </a:rPr>
              <a:t>（也称属性翻译文法）</a:t>
            </a:r>
          </a:p>
          <a:p>
            <a:pPr lvl="1" algn="just">
              <a:lnSpc>
                <a:spcPct val="90000"/>
              </a:lnSpc>
            </a:pPr>
            <a:r>
              <a:rPr lang="en-US" altLang="zh-CN" sz="2800" dirty="0">
                <a:sym typeface="+mn-ea"/>
              </a:rPr>
              <a:t>Knuth</a:t>
            </a:r>
            <a:r>
              <a:rPr lang="zh-CN" altLang="en-US" sz="2800" dirty="0">
                <a:sym typeface="+mn-ea"/>
              </a:rPr>
              <a:t>在</a:t>
            </a:r>
            <a:r>
              <a:rPr lang="en-US" altLang="zh-CN" sz="2800" dirty="0">
                <a:sym typeface="+mn-ea"/>
              </a:rPr>
              <a:t>1968</a:t>
            </a:r>
            <a:r>
              <a:rPr lang="zh-CN" altLang="en-US" sz="2800" dirty="0">
                <a:sym typeface="+mn-ea"/>
              </a:rPr>
              <a:t>年提出</a:t>
            </a:r>
            <a:endParaRPr lang="zh-CN" altLang="en-US" sz="2800" dirty="0"/>
          </a:p>
          <a:p>
            <a:pPr lvl="1" algn="just">
              <a:lnSpc>
                <a:spcPct val="90000"/>
              </a:lnSpc>
            </a:pPr>
            <a:r>
              <a:rPr lang="zh-CN" altLang="en-US" sz="2800" dirty="0">
                <a:sym typeface="+mn-ea"/>
              </a:rPr>
              <a:t>在上下文无关文法的基础上，为每个文法符号（终结符或非终结符）配备若干相关的“值”（称为</a:t>
            </a:r>
            <a:r>
              <a:rPr lang="zh-CN" altLang="en-US" sz="2800" dirty="0">
                <a:solidFill>
                  <a:srgbClr val="FF3300"/>
                </a:solidFill>
                <a:sym typeface="+mn-ea"/>
              </a:rPr>
              <a:t>属性</a:t>
            </a:r>
            <a:r>
              <a:rPr lang="zh-CN" altLang="en-US" sz="2800" dirty="0">
                <a:sym typeface="+mn-ea"/>
              </a:rPr>
              <a:t>）。</a:t>
            </a:r>
            <a:endParaRPr lang="zh-CN" altLang="en-US" sz="2800" dirty="0"/>
          </a:p>
          <a:p>
            <a:pPr lvl="2" algn="just">
              <a:lnSpc>
                <a:spcPct val="90000"/>
              </a:lnSpc>
            </a:pPr>
            <a:r>
              <a:rPr lang="zh-CN" altLang="en-US" dirty="0">
                <a:sym typeface="+mn-ea"/>
              </a:rPr>
              <a:t>属性代表与文法符号相关信息，如</a:t>
            </a:r>
            <a:r>
              <a:rPr lang="zh-CN" altLang="en-US" dirty="0">
                <a:solidFill>
                  <a:srgbClr val="FF0000"/>
                </a:solidFill>
                <a:sym typeface="+mn-ea"/>
              </a:rPr>
              <a:t>类型、值、代码序列、符号表内容</a:t>
            </a:r>
            <a:r>
              <a:rPr lang="zh-CN" altLang="en-US" dirty="0">
                <a:sym typeface="+mn-ea"/>
              </a:rPr>
              <a:t>等</a:t>
            </a:r>
            <a:endParaRPr lang="zh-CN" altLang="en-US" dirty="0"/>
          </a:p>
          <a:p>
            <a:pPr lvl="2" algn="just">
              <a:lnSpc>
                <a:spcPct val="90000"/>
              </a:lnSpc>
            </a:pPr>
            <a:r>
              <a:rPr lang="zh-CN" altLang="en-US" dirty="0">
                <a:sym typeface="+mn-ea"/>
              </a:rPr>
              <a:t>属性可以进行</a:t>
            </a:r>
            <a:r>
              <a:rPr lang="zh-CN" altLang="en-US" dirty="0">
                <a:solidFill>
                  <a:srgbClr val="FF0000"/>
                </a:solidFill>
                <a:sym typeface="+mn-ea"/>
              </a:rPr>
              <a:t>计算和传递</a:t>
            </a:r>
            <a:endParaRPr lang="zh-CN" altLang="en-US" dirty="0">
              <a:solidFill>
                <a:srgbClr val="FF0000"/>
              </a:solidFill>
            </a:endParaRPr>
          </a:p>
          <a:p>
            <a:pPr lvl="1"/>
            <a:r>
              <a:rPr lang="zh-CN" altLang="en-US" sz="2800" dirty="0">
                <a:sym typeface="+mn-ea"/>
              </a:rPr>
              <a:t>属性文法是对</a:t>
            </a:r>
            <a:r>
              <a:rPr lang="en-US" altLang="zh-CN" sz="2800" dirty="0">
                <a:sym typeface="+mn-ea"/>
              </a:rPr>
              <a:t>CFG</a:t>
            </a:r>
            <a:r>
              <a:rPr lang="zh-CN" altLang="en-US" sz="2800" dirty="0">
                <a:sym typeface="+mn-ea"/>
              </a:rPr>
              <a:t>的推广</a:t>
            </a:r>
            <a:endParaRPr lang="zh-CN" altLang="en-US" sz="2800" dirty="0"/>
          </a:p>
          <a:p>
            <a:pPr lvl="2"/>
            <a:r>
              <a:rPr lang="zh-CN" altLang="en-US" dirty="0">
                <a:sym typeface="+mn-ea"/>
              </a:rPr>
              <a:t>将每个文法符号和一个语义属性集合相关联。</a:t>
            </a:r>
            <a:endParaRPr lang="zh-CN" altLang="en-US" dirty="0"/>
          </a:p>
          <a:p>
            <a:pPr lvl="2"/>
            <a:r>
              <a:rPr lang="zh-CN" altLang="en-US" dirty="0">
                <a:sym typeface="+mn-ea"/>
              </a:rPr>
              <a:t>将每个产生式和一个组</a:t>
            </a:r>
            <a:r>
              <a:rPr lang="zh-CN" altLang="en-US" dirty="0">
                <a:solidFill>
                  <a:srgbClr val="FF0000"/>
                </a:solidFill>
                <a:sym typeface="+mn-ea"/>
              </a:rPr>
              <a:t>语义规则</a:t>
            </a:r>
            <a:r>
              <a:rPr lang="zh-CN" altLang="en-US" dirty="0">
                <a:sym typeface="+mn-ea"/>
              </a:rPr>
              <a:t>相关联，这些规则用于计算该产生式中各文法符号的属性值。</a:t>
            </a:r>
            <a:endParaRPr lang="zh-CN" altLang="en-US" dirty="0"/>
          </a:p>
        </p:txBody>
      </p:sp>
      <p:sp>
        <p:nvSpPr>
          <p:cNvPr id="3" name="标题 2"/>
          <p:cNvSpPr>
            <a:spLocks noGrp="1"/>
          </p:cNvSpPr>
          <p:nvPr>
            <p:ph type="title"/>
          </p:nvPr>
        </p:nvSpPr>
        <p:spPr/>
        <p:txBody>
          <a:bodyPr/>
          <a:lstStyle/>
          <a:p>
            <a:pPr algn="just"/>
            <a:r>
              <a:rPr lang="zh-CN" altLang="en-US" dirty="0">
                <a:sym typeface="+mn-ea"/>
              </a:rPr>
              <a:t>二、属性文法                      </a:t>
            </a:r>
            <a:r>
              <a:rPr lang="zh-CN" altLang="en-US" dirty="0">
                <a:solidFill>
                  <a:srgbClr val="FF0000"/>
                </a:solidFill>
                <a:sym typeface="+mn-ea"/>
              </a:rPr>
              <a:t>概念和内涵</a:t>
            </a:r>
            <a:endParaRPr lang="zh-CN" altLang="en-US" sz="2800" dirty="0">
              <a:solidFill>
                <a:srgbClr val="FF0000"/>
              </a:solidFill>
            </a:endParaRPr>
          </a:p>
        </p:txBody>
      </p:sp>
      <p:sp>
        <p:nvSpPr>
          <p:cNvPr id="4" name="灯片编号占位符 3"/>
          <p:cNvSpPr>
            <a:spLocks noGrp="1"/>
          </p:cNvSpPr>
          <p:nvPr>
            <p:ph type="sldNum" sz="quarter" idx="4"/>
          </p:nvPr>
        </p:nvSpPr>
        <p:spPr/>
        <p:txBody>
          <a:bodyPr/>
          <a:lstStyle/>
          <a:p>
            <a:fld id="{565CE74E-AB26-4998-AD42-012C4C1AD076}"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r>
              <a:rPr lang="zh-CN" altLang="en-US" dirty="0">
                <a:sym typeface="+mn-ea"/>
              </a:rPr>
              <a:t>属性</a:t>
            </a:r>
            <a:r>
              <a:rPr lang="zh-CN" altLang="en-US" dirty="0">
                <a:solidFill>
                  <a:srgbClr val="333399"/>
                </a:solidFill>
                <a:sym typeface="+mn-ea"/>
              </a:rPr>
              <a:t>（</a:t>
            </a:r>
            <a:r>
              <a:rPr lang="en-US" altLang="zh-CN" dirty="0">
                <a:solidFill>
                  <a:srgbClr val="333399"/>
                </a:solidFill>
                <a:sym typeface="+mn-ea"/>
              </a:rPr>
              <a:t>Attribute</a:t>
            </a:r>
            <a:r>
              <a:rPr lang="zh-CN" altLang="en-US" dirty="0">
                <a:solidFill>
                  <a:srgbClr val="333399"/>
                </a:solidFill>
                <a:sym typeface="+mn-ea"/>
              </a:rPr>
              <a:t>）可用来刻画一个文法符号的特性，如：符号的</a:t>
            </a:r>
            <a:r>
              <a:rPr lang="zh-CN" altLang="en-US" dirty="0">
                <a:solidFill>
                  <a:srgbClr val="FF0000"/>
                </a:solidFill>
                <a:sym typeface="+mn-ea"/>
              </a:rPr>
              <a:t>值</a:t>
            </a:r>
            <a:r>
              <a:rPr lang="zh-CN" altLang="en-US" dirty="0">
                <a:solidFill>
                  <a:srgbClr val="333399"/>
                </a:solidFill>
                <a:sym typeface="+mn-ea"/>
              </a:rPr>
              <a:t>，符号的</a:t>
            </a:r>
            <a:r>
              <a:rPr lang="zh-CN" altLang="en-US" dirty="0">
                <a:solidFill>
                  <a:srgbClr val="FF0000"/>
                </a:solidFill>
                <a:sym typeface="+mn-ea"/>
              </a:rPr>
              <a:t>名字串</a:t>
            </a:r>
            <a:r>
              <a:rPr lang="zh-CN" altLang="en-US" dirty="0">
                <a:solidFill>
                  <a:srgbClr val="333399"/>
                </a:solidFill>
                <a:sym typeface="+mn-ea"/>
              </a:rPr>
              <a:t>，符号的</a:t>
            </a:r>
            <a:r>
              <a:rPr lang="zh-CN" altLang="en-US" dirty="0">
                <a:solidFill>
                  <a:srgbClr val="FF0000"/>
                </a:solidFill>
                <a:sym typeface="+mn-ea"/>
              </a:rPr>
              <a:t>类型</a:t>
            </a:r>
            <a:r>
              <a:rPr lang="zh-CN" altLang="en-US" dirty="0">
                <a:solidFill>
                  <a:srgbClr val="333399"/>
                </a:solidFill>
                <a:sym typeface="+mn-ea"/>
              </a:rPr>
              <a:t>，符号的</a:t>
            </a:r>
            <a:r>
              <a:rPr lang="zh-CN" altLang="en-US" dirty="0">
                <a:solidFill>
                  <a:srgbClr val="FF0000"/>
                </a:solidFill>
                <a:sym typeface="+mn-ea"/>
              </a:rPr>
              <a:t>偏移地址</a:t>
            </a:r>
            <a:r>
              <a:rPr lang="zh-CN" altLang="en-US" dirty="0">
                <a:solidFill>
                  <a:srgbClr val="333399"/>
                </a:solidFill>
                <a:sym typeface="+mn-ea"/>
              </a:rPr>
              <a:t>，符号被赋予的</a:t>
            </a:r>
            <a:r>
              <a:rPr lang="zh-CN" altLang="en-US" dirty="0">
                <a:solidFill>
                  <a:srgbClr val="FF0000"/>
                </a:solidFill>
                <a:sym typeface="+mn-ea"/>
              </a:rPr>
              <a:t>寄存器，代码片断</a:t>
            </a:r>
            <a:r>
              <a:rPr lang="zh-CN" altLang="en-US" dirty="0">
                <a:solidFill>
                  <a:srgbClr val="333399"/>
                </a:solidFill>
                <a:sym typeface="+mn-ea"/>
              </a:rPr>
              <a:t>，等</a:t>
            </a:r>
            <a:r>
              <a:rPr lang="en-US" altLang="zh-CN" dirty="0">
                <a:solidFill>
                  <a:srgbClr val="333399"/>
                </a:solidFill>
                <a:sym typeface="+mn-ea"/>
              </a:rPr>
              <a:t>…</a:t>
            </a:r>
          </a:p>
          <a:p>
            <a:pPr lvl="1"/>
            <a:r>
              <a:rPr lang="zh-CN" altLang="en-US" dirty="0">
                <a:sym typeface="+mn-ea"/>
              </a:rPr>
              <a:t>记号 </a:t>
            </a:r>
          </a:p>
          <a:p>
            <a:pPr lvl="2"/>
            <a:r>
              <a:rPr lang="zh-CN" altLang="en-US" dirty="0">
                <a:sym typeface="+mn-ea"/>
              </a:rPr>
              <a:t>文法符号 X 关联属性 a 的属性值可通过</a:t>
            </a:r>
            <a:r>
              <a:rPr lang="zh-CN" altLang="en-US" dirty="0">
                <a:solidFill>
                  <a:srgbClr val="0066FF"/>
                </a:solidFill>
                <a:sym typeface="+mn-ea"/>
              </a:rPr>
              <a:t> X.a </a:t>
            </a:r>
            <a:r>
              <a:rPr lang="zh-CN" altLang="en-US" dirty="0">
                <a:sym typeface="+mn-ea"/>
              </a:rPr>
              <a:t>访问</a:t>
            </a:r>
            <a:endParaRPr lang="en-US" altLang="zh-CN" b="1" i="0" dirty="0">
              <a:solidFill>
                <a:srgbClr val="333399"/>
              </a:solidFill>
            </a:endParaRPr>
          </a:p>
          <a:p>
            <a:endParaRPr lang="zh-CN" altLang="en-US" dirty="0"/>
          </a:p>
        </p:txBody>
      </p:sp>
      <p:sp>
        <p:nvSpPr>
          <p:cNvPr id="3" name="标题 2"/>
          <p:cNvSpPr>
            <a:spLocks noGrp="1"/>
          </p:cNvSpPr>
          <p:nvPr>
            <p:ph type="title"/>
          </p:nvPr>
        </p:nvSpPr>
        <p:spPr/>
        <p:txBody>
          <a:bodyPr/>
          <a:lstStyle/>
          <a:p>
            <a:r>
              <a:rPr lang="zh-CN" altLang="en-US" dirty="0">
                <a:sym typeface="+mn-ea"/>
              </a:rPr>
              <a:t>二、属性文法                      </a:t>
            </a:r>
            <a:r>
              <a:rPr lang="zh-CN" altLang="en-US" dirty="0">
                <a:solidFill>
                  <a:srgbClr val="FF0000"/>
                </a:solidFill>
                <a:sym typeface="+mn-ea"/>
              </a:rPr>
              <a:t>概念和内涵</a:t>
            </a:r>
            <a:endParaRPr lang="zh-CN" altLang="en-US" dirty="0"/>
          </a:p>
        </p:txBody>
      </p:sp>
      <p:sp>
        <p:nvSpPr>
          <p:cNvPr id="4" name="灯片编号占位符 3"/>
          <p:cNvSpPr>
            <a:spLocks noGrp="1"/>
          </p:cNvSpPr>
          <p:nvPr>
            <p:ph type="sldNum" sz="quarter" idx="4"/>
          </p:nvPr>
        </p:nvSpPr>
        <p:spPr/>
        <p:txBody>
          <a:bodyPr/>
          <a:lstStyle/>
          <a:p>
            <a:fld id="{565CE74E-AB26-4998-AD42-012C4C1AD076}"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a:latin typeface="Times New Roman" panose="02020603050405020304" pitchFamily="18" charset="0"/>
              </a:rPr>
              <a:t>属性文法举例：</a:t>
            </a:r>
          </a:p>
        </p:txBody>
      </p:sp>
      <p:sp>
        <p:nvSpPr>
          <p:cNvPr id="3" name="标题 2"/>
          <p:cNvSpPr>
            <a:spLocks noGrp="1"/>
          </p:cNvSpPr>
          <p:nvPr>
            <p:ph type="title"/>
          </p:nvPr>
        </p:nvSpPr>
        <p:spPr/>
        <p:txBody>
          <a:bodyPr/>
          <a:lstStyle/>
          <a:p>
            <a:r>
              <a:rPr lang="zh-CN" altLang="en-US">
                <a:latin typeface="Times New Roman" panose="02020603050405020304" pitchFamily="18" charset="0"/>
                <a:sym typeface="+mn-ea"/>
              </a:rPr>
              <a:t>二、属性文法                      </a:t>
            </a:r>
            <a:r>
              <a:rPr lang="zh-CN" altLang="en-US">
                <a:solidFill>
                  <a:srgbClr val="FF0000"/>
                </a:solidFill>
                <a:latin typeface="Times New Roman" panose="02020603050405020304" pitchFamily="18" charset="0"/>
                <a:sym typeface="+mn-ea"/>
              </a:rPr>
              <a:t>概念和内涵</a:t>
            </a:r>
            <a:endParaRPr lang="zh-CN" altLang="en-US">
              <a:latin typeface="Times New Roman" panose="02020603050405020304" pitchFamily="18" charset="0"/>
              <a:sym typeface="+mn-ea"/>
            </a:endParaRPr>
          </a:p>
        </p:txBody>
      </p:sp>
      <p:sp>
        <p:nvSpPr>
          <p:cNvPr id="8201" name="Text Box 13"/>
          <p:cNvSpPr txBox="1">
            <a:spLocks noChangeArrowheads="1"/>
          </p:cNvSpPr>
          <p:nvPr/>
        </p:nvSpPr>
        <p:spPr bwMode="auto">
          <a:xfrm>
            <a:off x="571183" y="1635126"/>
            <a:ext cx="1873250" cy="3723005"/>
          </a:xfrm>
          <a:prstGeom prst="rect">
            <a:avLst/>
          </a:prstGeom>
          <a:noFill/>
          <a:ln w="9525">
            <a:noFill/>
            <a:miter lim="800000"/>
          </a:ln>
        </p:spPr>
        <p:txBody>
          <a:bodyPr>
            <a:spAutoFit/>
          </a:bodyPr>
          <a:lstStyle/>
          <a:p>
            <a:pPr algn="l">
              <a:buClrTx/>
            </a:pPr>
            <a:r>
              <a:rPr kumimoji="0" lang="zh-CN" altLang="en-US" sz="2800" b="1" i="0">
                <a:latin typeface="Times New Roman" panose="02020603050405020304" pitchFamily="18" charset="0"/>
                <a:sym typeface="Symbol" panose="05050102010706020507" pitchFamily="18" charset="2"/>
              </a:rPr>
              <a:t>产生式</a:t>
            </a:r>
            <a:endParaRPr kumimoji="0" lang="zh-CN" altLang="en-US" sz="2800" i="0">
              <a:latin typeface="Times New Roman" panose="02020603050405020304" pitchFamily="18" charset="0"/>
              <a:cs typeface="Times New Roman" panose="02020603050405020304" charset="0"/>
              <a:sym typeface="Symbol" panose="05050102010706020507" pitchFamily="18" charset="2"/>
            </a:endParaRPr>
          </a:p>
          <a:p>
            <a:pPr algn="l">
              <a:buClrTx/>
            </a:pPr>
            <a:endParaRPr kumimoji="0" lang="zh-CN" altLang="en-US" sz="1200" i="0">
              <a:solidFill>
                <a:srgbClr val="333399"/>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S </a:t>
            </a:r>
            <a:r>
              <a:rPr lang="en-US" altLang="zh-CN" sz="2800" i="0">
                <a:solidFill>
                  <a:srgbClr val="333399"/>
                </a:solidFill>
                <a:latin typeface="Times New Roman" panose="02020603050405020304" pitchFamily="18" charset="0"/>
                <a:cs typeface="Times New Roman" panose="02020603050405020304" charset="0"/>
                <a:sym typeface="Symbol" panose="05050102010706020507" pitchFamily="18" charset="2"/>
              </a:rPr>
              <a:t></a:t>
            </a: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 ABC</a:t>
            </a:r>
            <a:endParaRPr kumimoji="0" lang="en-US" altLang="zh-CN" sz="2800" i="0">
              <a:solidFill>
                <a:srgbClr val="333399"/>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A </a:t>
            </a:r>
            <a:r>
              <a:rPr lang="en-US" altLang="zh-CN" sz="2800" i="0">
                <a:solidFill>
                  <a:srgbClr val="333399"/>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a:t>
            </a:r>
            <a:r>
              <a:rPr lang="en-US" altLang="zh-CN" sz="2800">
                <a:solidFill>
                  <a:srgbClr val="333399"/>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 A</a:t>
            </a:r>
            <a:r>
              <a:rPr lang="en-US" altLang="zh-CN" sz="2800" i="0" baseline="-25000">
                <a:solidFill>
                  <a:srgbClr val="333399"/>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1</a:t>
            </a:r>
            <a:r>
              <a:rPr lang="en-US" altLang="zh-CN" sz="2800">
                <a:solidFill>
                  <a:srgbClr val="333399"/>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a</a:t>
            </a:r>
          </a:p>
          <a:p>
            <a:pPr algn="l">
              <a:buClrTx/>
            </a:pP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A </a:t>
            </a:r>
            <a:r>
              <a:rPr lang="en-US" altLang="zh-CN" sz="2800" i="0">
                <a:solidFill>
                  <a:srgbClr val="333399"/>
                </a:solidFill>
                <a:latin typeface="Times New Roman" panose="02020603050405020304" pitchFamily="18" charset="0"/>
                <a:cs typeface="Times New Roman" panose="02020603050405020304" charset="0"/>
                <a:sym typeface="Symbol" panose="05050102010706020507" pitchFamily="18" charset="2"/>
              </a:rPr>
              <a:t></a:t>
            </a: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 a</a:t>
            </a:r>
            <a:endParaRPr lang="en-US" altLang="zh-CN" sz="280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800">
                <a:solidFill>
                  <a:srgbClr val="333399"/>
                </a:solidFill>
                <a:latin typeface="Times New Roman" panose="02020603050405020304" pitchFamily="18" charset="0"/>
                <a:cs typeface="Times New Roman" panose="02020603050405020304" charset="0"/>
                <a:sym typeface="Symbol" panose="05050102010706020507" pitchFamily="18" charset="2"/>
              </a:rPr>
              <a:t>B </a:t>
            </a:r>
            <a:r>
              <a:rPr lang="en-US" altLang="zh-CN" sz="2800" i="0">
                <a:solidFill>
                  <a:srgbClr val="333399"/>
                </a:solidFill>
                <a:latin typeface="Times New Roman" panose="02020603050405020304" pitchFamily="18" charset="0"/>
                <a:ea typeface="华文行楷" panose="02010800040101010101" pitchFamily="2" charset="-122"/>
                <a:sym typeface="Symbol" panose="05050102010706020507" pitchFamily="18" charset="2"/>
              </a:rPr>
              <a:t></a:t>
            </a:r>
            <a:r>
              <a:rPr lang="en-US" altLang="zh-CN" sz="2800">
                <a:solidFill>
                  <a:srgbClr val="333399"/>
                </a:solidFill>
                <a:latin typeface="Times New Roman" panose="02020603050405020304" pitchFamily="18" charset="0"/>
                <a:ea typeface="华文行楷" panose="02010800040101010101" pitchFamily="2" charset="-122"/>
                <a:sym typeface="Symbol" panose="05050102010706020507" pitchFamily="18" charset="2"/>
              </a:rPr>
              <a:t> B</a:t>
            </a:r>
            <a:r>
              <a:rPr lang="en-US" altLang="zh-CN" sz="2800" i="0" baseline="-25000">
                <a:solidFill>
                  <a:srgbClr val="333399"/>
                </a:solidFill>
                <a:latin typeface="Times New Roman" panose="02020603050405020304" pitchFamily="18" charset="0"/>
                <a:sym typeface="Symbol" panose="05050102010706020507" pitchFamily="18" charset="2"/>
              </a:rPr>
              <a:t>1</a:t>
            </a:r>
            <a:r>
              <a:rPr lang="en-US" altLang="zh-CN" sz="2800">
                <a:solidFill>
                  <a:srgbClr val="333399"/>
                </a:solidFill>
                <a:latin typeface="Times New Roman" panose="02020603050405020304" pitchFamily="18" charset="0"/>
                <a:ea typeface="华文行楷" panose="02010800040101010101" pitchFamily="2" charset="-122"/>
                <a:sym typeface="Symbol" panose="05050102010706020507" pitchFamily="18" charset="2"/>
              </a:rPr>
              <a:t>b</a:t>
            </a:r>
            <a:endParaRPr lang="en-US" altLang="zh-CN" sz="2800">
              <a:solidFill>
                <a:srgbClr val="333399"/>
              </a:solidFill>
              <a:latin typeface="Times New Roman" panose="02020603050405020304" pitchFamily="18" charset="0"/>
              <a:sym typeface="Symbol" panose="05050102010706020507" pitchFamily="18" charset="2"/>
            </a:endParaRPr>
          </a:p>
          <a:p>
            <a:pPr algn="l">
              <a:buClrTx/>
            </a:pPr>
            <a:r>
              <a:rPr lang="en-US" altLang="zh-CN" sz="2800">
                <a:solidFill>
                  <a:srgbClr val="333399"/>
                </a:solidFill>
                <a:latin typeface="Times New Roman" panose="02020603050405020304" pitchFamily="18" charset="0"/>
                <a:sym typeface="Symbol" panose="05050102010706020507" pitchFamily="18" charset="2"/>
              </a:rPr>
              <a:t>B </a:t>
            </a:r>
            <a:r>
              <a:rPr lang="en-US" altLang="zh-CN" sz="2800" i="0">
                <a:solidFill>
                  <a:srgbClr val="333399"/>
                </a:solidFill>
                <a:latin typeface="Times New Roman" panose="02020603050405020304" pitchFamily="18" charset="0"/>
                <a:sym typeface="Symbol" panose="05050102010706020507" pitchFamily="18" charset="2"/>
              </a:rPr>
              <a:t> </a:t>
            </a:r>
            <a:r>
              <a:rPr lang="en-US" altLang="zh-CN" sz="2800">
                <a:solidFill>
                  <a:srgbClr val="333399"/>
                </a:solidFill>
                <a:latin typeface="Times New Roman" panose="02020603050405020304" pitchFamily="18" charset="0"/>
                <a:sym typeface="Symbol" panose="05050102010706020507" pitchFamily="18" charset="2"/>
              </a:rPr>
              <a:t>b</a:t>
            </a:r>
          </a:p>
          <a:p>
            <a:pPr algn="l">
              <a:buClrTx/>
            </a:pPr>
            <a:r>
              <a:rPr lang="en-US" altLang="zh-CN" sz="2800">
                <a:solidFill>
                  <a:srgbClr val="333399"/>
                </a:solidFill>
                <a:latin typeface="Times New Roman" panose="02020603050405020304" pitchFamily="18" charset="0"/>
                <a:sym typeface="Symbol" panose="05050102010706020507" pitchFamily="18" charset="2"/>
              </a:rPr>
              <a:t>C </a:t>
            </a:r>
            <a:r>
              <a:rPr lang="en-US" altLang="zh-CN" sz="2800" i="0">
                <a:solidFill>
                  <a:srgbClr val="333399"/>
                </a:solidFill>
                <a:latin typeface="Times New Roman" panose="02020603050405020304" pitchFamily="18" charset="0"/>
                <a:sym typeface="Symbol" panose="05050102010706020507" pitchFamily="18" charset="2"/>
              </a:rPr>
              <a:t> </a:t>
            </a:r>
            <a:r>
              <a:rPr lang="en-US" altLang="zh-CN" sz="2800">
                <a:solidFill>
                  <a:srgbClr val="333399"/>
                </a:solidFill>
                <a:latin typeface="Times New Roman" panose="02020603050405020304" pitchFamily="18" charset="0"/>
                <a:sym typeface="Symbol" panose="05050102010706020507" pitchFamily="18" charset="2"/>
              </a:rPr>
              <a:t>C</a:t>
            </a:r>
            <a:r>
              <a:rPr lang="en-US" altLang="zh-CN" sz="2800" i="0" baseline="-25000">
                <a:solidFill>
                  <a:srgbClr val="333399"/>
                </a:solidFill>
                <a:latin typeface="Times New Roman" panose="02020603050405020304" pitchFamily="18" charset="0"/>
                <a:sym typeface="Symbol" panose="05050102010706020507" pitchFamily="18" charset="2"/>
              </a:rPr>
              <a:t>1</a:t>
            </a:r>
            <a:r>
              <a:rPr lang="en-US" altLang="zh-CN" sz="2800">
                <a:solidFill>
                  <a:srgbClr val="333399"/>
                </a:solidFill>
                <a:latin typeface="Times New Roman" panose="02020603050405020304" pitchFamily="18" charset="0"/>
                <a:sym typeface="Symbol" panose="05050102010706020507" pitchFamily="18" charset="2"/>
              </a:rPr>
              <a:t>c</a:t>
            </a:r>
            <a:endParaRPr lang="en-US" altLang="zh-CN" sz="280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800">
                <a:solidFill>
                  <a:srgbClr val="333399"/>
                </a:solidFill>
                <a:latin typeface="Times New Roman" panose="02020603050405020304" pitchFamily="18" charset="0"/>
                <a:sym typeface="Symbol" panose="05050102010706020507" pitchFamily="18" charset="2"/>
              </a:rPr>
              <a:t>C </a:t>
            </a:r>
            <a:r>
              <a:rPr lang="en-US" altLang="zh-CN" sz="2800" i="0">
                <a:solidFill>
                  <a:srgbClr val="333399"/>
                </a:solidFill>
                <a:latin typeface="Times New Roman" panose="02020603050405020304" pitchFamily="18" charset="0"/>
                <a:sym typeface="Symbol" panose="05050102010706020507" pitchFamily="18" charset="2"/>
              </a:rPr>
              <a:t></a:t>
            </a:r>
            <a:r>
              <a:rPr lang="en-US" altLang="zh-CN" sz="2800">
                <a:solidFill>
                  <a:srgbClr val="333399"/>
                </a:solidFill>
                <a:latin typeface="Times New Roman" panose="02020603050405020304" pitchFamily="18" charset="0"/>
                <a:sym typeface="Symbol" panose="05050102010706020507" pitchFamily="18" charset="2"/>
              </a:rPr>
              <a:t> c</a:t>
            </a:r>
          </a:p>
        </p:txBody>
      </p:sp>
      <p:sp>
        <p:nvSpPr>
          <p:cNvPr id="631822" name="Text Box 14"/>
          <p:cNvSpPr txBox="1">
            <a:spLocks noChangeArrowheads="1"/>
          </p:cNvSpPr>
          <p:nvPr/>
        </p:nvSpPr>
        <p:spPr bwMode="auto">
          <a:xfrm>
            <a:off x="2515869" y="1635126"/>
            <a:ext cx="6180455" cy="3724096"/>
          </a:xfrm>
          <a:prstGeom prst="rect">
            <a:avLst/>
          </a:prstGeom>
          <a:noFill/>
          <a:ln w="9525">
            <a:noFill/>
            <a:miter lim="800000"/>
          </a:ln>
        </p:spPr>
        <p:txBody>
          <a:bodyPr wrap="square">
            <a:spAutoFit/>
          </a:bodyPr>
          <a:lstStyle/>
          <a:p>
            <a:pPr algn="l">
              <a:buClrTx/>
            </a:pPr>
            <a:r>
              <a:rPr kumimoji="0" lang="en-US" altLang="zh-CN" sz="2800" b="1" i="0" dirty="0">
                <a:latin typeface="Times New Roman" panose="02020603050405020304" pitchFamily="18" charset="0"/>
                <a:sym typeface="Symbol" panose="05050102010706020507" pitchFamily="18" charset="2"/>
              </a:rPr>
              <a:t>                </a:t>
            </a:r>
            <a:r>
              <a:rPr kumimoji="0" lang="zh-CN" altLang="en-US" sz="2800" b="1" i="0" dirty="0">
                <a:latin typeface="Times New Roman" panose="02020603050405020304" pitchFamily="18" charset="0"/>
                <a:sym typeface="Symbol" panose="05050102010706020507" pitchFamily="18" charset="2"/>
              </a:rPr>
              <a:t>语义规则</a:t>
            </a:r>
            <a:endParaRPr kumimoji="0" lang="zh-CN" altLang="en-US" sz="2800" i="0" dirty="0">
              <a:latin typeface="Times New Roman" panose="02020603050405020304" pitchFamily="18" charset="0"/>
              <a:cs typeface="Times New Roman" panose="02020603050405020304" charset="0"/>
              <a:sym typeface="Symbol" panose="05050102010706020507" pitchFamily="18" charset="2"/>
            </a:endParaRPr>
          </a:p>
          <a:p>
            <a:pPr algn="l">
              <a:buClrTx/>
            </a:pPr>
            <a:endParaRPr kumimoji="0" lang="zh-CN" altLang="en-US" sz="1200" i="0" dirty="0">
              <a:solidFill>
                <a:srgbClr val="333399"/>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800" b="1" i="0" dirty="0">
                <a:solidFill>
                  <a:srgbClr val="333399"/>
                </a:solidFill>
                <a:latin typeface="Times New Roman" panose="02020603050405020304" pitchFamily="18" charset="0"/>
                <a:cs typeface="Times New Roman" panose="02020603050405020304" charset="0"/>
                <a:sym typeface="Symbol" panose="05050102010706020507" pitchFamily="18" charset="2"/>
              </a:rPr>
              <a:t>{(</a:t>
            </a:r>
            <a:r>
              <a:rPr lang="en-US" altLang="zh-CN" sz="2800" b="1" dirty="0" err="1">
                <a:solidFill>
                  <a:srgbClr val="333399"/>
                </a:solidFill>
                <a:latin typeface="Times New Roman" panose="02020603050405020304" pitchFamily="18" charset="0"/>
                <a:cs typeface="Times New Roman" panose="02020603050405020304" charset="0"/>
                <a:sym typeface="Symbol" panose="05050102010706020507" pitchFamily="18" charset="2"/>
              </a:rPr>
              <a:t>A.num</a:t>
            </a:r>
            <a:r>
              <a:rPr lang="en-US" altLang="zh-CN" sz="2800" b="1" dirty="0">
                <a:solidFill>
                  <a:srgbClr val="333399"/>
                </a:solidFill>
                <a:latin typeface="Times New Roman" panose="02020603050405020304" pitchFamily="18" charset="0"/>
                <a:cs typeface="Times New Roman" panose="02020603050405020304" charset="0"/>
                <a:sym typeface="Symbol" panose="05050102010706020507" pitchFamily="18" charset="2"/>
              </a:rPr>
              <a:t>=</a:t>
            </a:r>
            <a:r>
              <a:rPr lang="en-US" altLang="zh-CN" sz="2800" b="1" dirty="0" err="1">
                <a:solidFill>
                  <a:srgbClr val="333399"/>
                </a:solidFill>
                <a:latin typeface="Times New Roman" panose="02020603050405020304" pitchFamily="18" charset="0"/>
                <a:cs typeface="Times New Roman" panose="02020603050405020304" charset="0"/>
                <a:sym typeface="Symbol" panose="05050102010706020507" pitchFamily="18" charset="2"/>
              </a:rPr>
              <a:t>B.num</a:t>
            </a:r>
            <a:r>
              <a:rPr lang="en-US" altLang="zh-CN" sz="2800" b="1" i="0" dirty="0">
                <a:solidFill>
                  <a:srgbClr val="333399"/>
                </a:solidFill>
                <a:latin typeface="Times New Roman" panose="02020603050405020304" pitchFamily="18" charset="0"/>
                <a:cs typeface="Times New Roman" panose="02020603050405020304" charset="0"/>
                <a:sym typeface="Symbol" panose="05050102010706020507" pitchFamily="18" charset="2"/>
              </a:rPr>
              <a:t>) </a:t>
            </a:r>
            <a:r>
              <a:rPr lang="en-US" altLang="zh-CN" sz="2800" b="1" dirty="0">
                <a:solidFill>
                  <a:srgbClr val="333399"/>
                </a:solidFill>
                <a:latin typeface="Times New Roman" panose="02020603050405020304" pitchFamily="18" charset="0"/>
                <a:cs typeface="Times New Roman" panose="02020603050405020304" charset="0"/>
                <a:sym typeface="Symbol" panose="05050102010706020507" pitchFamily="18" charset="2"/>
              </a:rPr>
              <a:t>and </a:t>
            </a:r>
            <a:r>
              <a:rPr lang="en-US" altLang="zh-CN" sz="2800" b="1" i="0" dirty="0">
                <a:solidFill>
                  <a:srgbClr val="333399"/>
                </a:solidFill>
                <a:latin typeface="Times New Roman" panose="02020603050405020304" pitchFamily="18" charset="0"/>
                <a:cs typeface="Times New Roman" panose="02020603050405020304" charset="0"/>
                <a:sym typeface="Symbol" panose="05050102010706020507" pitchFamily="18" charset="2"/>
              </a:rPr>
              <a:t>(</a:t>
            </a:r>
            <a:r>
              <a:rPr lang="en-US" altLang="zh-CN" sz="2800" b="1" dirty="0" err="1">
                <a:solidFill>
                  <a:srgbClr val="333399"/>
                </a:solidFill>
                <a:latin typeface="Times New Roman" panose="02020603050405020304" pitchFamily="18" charset="0"/>
              </a:rPr>
              <a:t>B.num</a:t>
            </a:r>
            <a:r>
              <a:rPr lang="en-US" altLang="zh-CN" sz="2800" b="1" dirty="0">
                <a:solidFill>
                  <a:srgbClr val="333399"/>
                </a:solidFill>
                <a:latin typeface="Times New Roman" panose="02020603050405020304" pitchFamily="18" charset="0"/>
              </a:rPr>
              <a:t>=</a:t>
            </a:r>
            <a:r>
              <a:rPr lang="en-US" altLang="zh-CN" sz="2800" b="1" dirty="0" err="1">
                <a:solidFill>
                  <a:srgbClr val="333399"/>
                </a:solidFill>
                <a:latin typeface="Times New Roman" panose="02020603050405020304" pitchFamily="18" charset="0"/>
              </a:rPr>
              <a:t>C.num</a:t>
            </a:r>
            <a:r>
              <a:rPr lang="en-US" altLang="zh-CN" sz="2800" b="1" i="0" dirty="0">
                <a:solidFill>
                  <a:srgbClr val="333399"/>
                </a:solidFill>
                <a:latin typeface="Times New Roman" panose="02020603050405020304" pitchFamily="18" charset="0"/>
              </a:rPr>
              <a:t>)</a:t>
            </a:r>
            <a:r>
              <a:rPr lang="en-US" altLang="zh-CN" sz="2800" dirty="0">
                <a:solidFill>
                  <a:srgbClr val="333399"/>
                </a:solidFill>
                <a:latin typeface="Times New Roman" panose="02020603050405020304" pitchFamily="18" charset="0"/>
              </a:rPr>
              <a:t> </a:t>
            </a:r>
            <a:r>
              <a:rPr lang="en-US" altLang="zh-CN" sz="2800" i="0" dirty="0">
                <a:solidFill>
                  <a:srgbClr val="333399"/>
                </a:solidFill>
                <a:latin typeface="Times New Roman" panose="02020603050405020304" pitchFamily="18" charset="0"/>
                <a:sym typeface="Symbol" panose="05050102010706020507" pitchFamily="18" charset="2"/>
              </a:rPr>
              <a:t>}</a:t>
            </a:r>
            <a:endParaRPr kumimoji="0" lang="en-US" altLang="zh-CN" sz="2800" i="0" dirty="0">
              <a:solidFill>
                <a:srgbClr val="333399"/>
              </a:solidFill>
              <a:latin typeface="Times New Roman" panose="02020603050405020304" pitchFamily="18" charset="0"/>
              <a:sym typeface="Symbol" panose="05050102010706020507" pitchFamily="18" charset="2"/>
            </a:endParaRPr>
          </a:p>
          <a:p>
            <a:pPr algn="l">
              <a:buClrTx/>
            </a:pPr>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A</a:t>
            </a:r>
            <a:r>
              <a:rPr lang="en-US" altLang="zh-CN" sz="2800" b="1" dirty="0" err="1">
                <a:solidFill>
                  <a:srgbClr val="333399"/>
                </a:solidFill>
                <a:latin typeface="Times New Roman" panose="02020603050405020304" pitchFamily="18" charset="0"/>
                <a:sym typeface="Symbol" panose="05050102010706020507" pitchFamily="18" charset="2"/>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A</a:t>
            </a:r>
            <a:r>
              <a:rPr lang="en-US" altLang="zh-CN" sz="2800" i="0" baseline="-25000" dirty="0">
                <a:solidFill>
                  <a:srgbClr val="333399"/>
                </a:solidFill>
                <a:latin typeface="Times New Roman" panose="02020603050405020304" pitchFamily="18" charset="0"/>
                <a:sym typeface="Symbol" panose="05050102010706020507" pitchFamily="18" charset="2"/>
              </a:rPr>
              <a:t>1</a:t>
            </a:r>
            <a:r>
              <a:rPr lang="en-US" altLang="zh-CN" sz="2800" b="1" dirty="0">
                <a:solidFill>
                  <a:srgbClr val="333399"/>
                </a:solidFill>
                <a:latin typeface="Times New Roman" panose="02020603050405020304" pitchFamily="18" charset="0"/>
              </a:rPr>
              <a:t>.</a:t>
            </a:r>
            <a:r>
              <a:rPr lang="en-US" altLang="zh-CN" sz="2800" dirty="0">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+ 1</a:t>
            </a:r>
            <a:r>
              <a:rPr lang="en-US" altLang="zh-CN" sz="2800" i="0" dirty="0">
                <a:solidFill>
                  <a:srgbClr val="333399"/>
                </a:solidFill>
                <a:latin typeface="Times New Roman" panose="02020603050405020304" pitchFamily="18" charset="0"/>
                <a:sym typeface="Symbol" panose="05050102010706020507" pitchFamily="18" charset="2"/>
              </a:rPr>
              <a:t> }</a:t>
            </a:r>
            <a:endParaRPr lang="en-US" altLang="zh-CN" sz="2800"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A</a:t>
            </a:r>
            <a:r>
              <a:rPr lang="en-US" altLang="zh-CN" sz="2800" b="1" dirty="0" err="1">
                <a:solidFill>
                  <a:srgbClr val="333399"/>
                </a:solidFill>
                <a:latin typeface="Times New Roman" panose="02020603050405020304" pitchFamily="18" charset="0"/>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1</a:t>
            </a:r>
            <a:r>
              <a:rPr lang="en-US" altLang="zh-CN" sz="2800" i="0" dirty="0">
                <a:solidFill>
                  <a:srgbClr val="333399"/>
                </a:solidFill>
                <a:latin typeface="Times New Roman" panose="02020603050405020304" pitchFamily="18" charset="0"/>
                <a:sym typeface="Symbol" panose="05050102010706020507" pitchFamily="18" charset="2"/>
              </a:rPr>
              <a:t> }</a:t>
            </a:r>
            <a:endParaRPr lang="en-US" altLang="zh-CN" sz="2800"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B</a:t>
            </a:r>
            <a:r>
              <a:rPr lang="en-US" altLang="zh-CN" sz="2800" b="1" dirty="0" err="1">
                <a:solidFill>
                  <a:srgbClr val="333399"/>
                </a:solidFill>
                <a:latin typeface="Times New Roman" panose="02020603050405020304" pitchFamily="18" charset="0"/>
                <a:sym typeface="Symbol" panose="05050102010706020507" pitchFamily="18" charset="2"/>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B</a:t>
            </a:r>
            <a:r>
              <a:rPr lang="en-US" altLang="zh-CN" sz="2800" i="0" baseline="-25000" dirty="0">
                <a:solidFill>
                  <a:srgbClr val="333399"/>
                </a:solidFill>
                <a:latin typeface="Times New Roman" panose="02020603050405020304" pitchFamily="18" charset="0"/>
                <a:sym typeface="Symbol" panose="05050102010706020507" pitchFamily="18" charset="2"/>
              </a:rPr>
              <a:t>1</a:t>
            </a:r>
            <a:r>
              <a:rPr lang="en-US" altLang="zh-CN" sz="2800" b="1" dirty="0">
                <a:solidFill>
                  <a:srgbClr val="333399"/>
                </a:solidFill>
                <a:latin typeface="Times New Roman" panose="02020603050405020304" pitchFamily="18" charset="0"/>
              </a:rPr>
              <a:t>.</a:t>
            </a:r>
            <a:r>
              <a:rPr lang="en-US" altLang="zh-CN" sz="2800" dirty="0">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+ 1</a:t>
            </a:r>
            <a:r>
              <a:rPr lang="en-US" altLang="zh-CN" sz="2800" i="0" dirty="0">
                <a:solidFill>
                  <a:srgbClr val="333399"/>
                </a:solidFill>
                <a:latin typeface="Times New Roman" panose="02020603050405020304" pitchFamily="18" charset="0"/>
                <a:sym typeface="Symbol" panose="05050102010706020507" pitchFamily="18" charset="2"/>
              </a:rPr>
              <a:t> }</a:t>
            </a:r>
            <a:endParaRPr lang="en-US" altLang="zh-CN" sz="2800" dirty="0">
              <a:solidFill>
                <a:srgbClr val="333399"/>
              </a:solidFill>
              <a:latin typeface="Times New Roman" panose="02020603050405020304" pitchFamily="18" charset="0"/>
              <a:sym typeface="Symbol" panose="05050102010706020507" pitchFamily="18" charset="2"/>
            </a:endParaRPr>
          </a:p>
          <a:p>
            <a:pPr algn="l"/>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B</a:t>
            </a:r>
            <a:r>
              <a:rPr lang="en-US" altLang="zh-CN" sz="2800" b="1" dirty="0" err="1">
                <a:solidFill>
                  <a:srgbClr val="333399"/>
                </a:solidFill>
                <a:latin typeface="Times New Roman" panose="02020603050405020304" pitchFamily="18" charset="0"/>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1</a:t>
            </a:r>
            <a:r>
              <a:rPr lang="en-US" altLang="zh-CN" sz="2800" i="0" dirty="0">
                <a:solidFill>
                  <a:srgbClr val="333399"/>
                </a:solidFill>
                <a:latin typeface="Times New Roman" panose="02020603050405020304" pitchFamily="18" charset="0"/>
                <a:sym typeface="Symbol" panose="05050102010706020507" pitchFamily="18" charset="2"/>
              </a:rPr>
              <a:t> }</a:t>
            </a:r>
            <a:endParaRPr lang="en-US" altLang="zh-CN" sz="2800" dirty="0">
              <a:solidFill>
                <a:srgbClr val="333399"/>
              </a:solidFill>
              <a:latin typeface="Times New Roman" panose="02020603050405020304" pitchFamily="18" charset="0"/>
              <a:sym typeface="Symbol" panose="05050102010706020507" pitchFamily="18" charset="2"/>
            </a:endParaRPr>
          </a:p>
          <a:p>
            <a:pPr algn="l"/>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C</a:t>
            </a:r>
            <a:r>
              <a:rPr lang="en-US" altLang="zh-CN" sz="2800" b="1" dirty="0" err="1">
                <a:solidFill>
                  <a:srgbClr val="333399"/>
                </a:solidFill>
                <a:latin typeface="Times New Roman" panose="02020603050405020304" pitchFamily="18" charset="0"/>
                <a:sym typeface="Symbol" panose="05050102010706020507" pitchFamily="18" charset="2"/>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C</a:t>
            </a:r>
            <a:r>
              <a:rPr lang="en-US" altLang="zh-CN" sz="2800" i="0" baseline="-25000" dirty="0">
                <a:solidFill>
                  <a:srgbClr val="333399"/>
                </a:solidFill>
                <a:latin typeface="Times New Roman" panose="02020603050405020304" pitchFamily="18" charset="0"/>
                <a:sym typeface="Symbol" panose="05050102010706020507" pitchFamily="18" charset="2"/>
              </a:rPr>
              <a:t>1</a:t>
            </a:r>
            <a:r>
              <a:rPr lang="en-US" altLang="zh-CN" sz="2800" b="1" dirty="0">
                <a:solidFill>
                  <a:srgbClr val="333399"/>
                </a:solidFill>
                <a:latin typeface="Times New Roman" panose="02020603050405020304" pitchFamily="18" charset="0"/>
              </a:rPr>
              <a:t>.</a:t>
            </a:r>
            <a:r>
              <a:rPr lang="en-US" altLang="zh-CN" sz="2800" dirty="0">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+ 1</a:t>
            </a:r>
            <a:r>
              <a:rPr lang="en-US" altLang="zh-CN" sz="2800" i="0" dirty="0">
                <a:solidFill>
                  <a:srgbClr val="333399"/>
                </a:solidFill>
                <a:latin typeface="Times New Roman" panose="02020603050405020304" pitchFamily="18" charset="0"/>
                <a:sym typeface="Symbol" panose="05050102010706020507" pitchFamily="18" charset="2"/>
              </a:rPr>
              <a:t> }</a:t>
            </a:r>
            <a:endParaRPr lang="en-US" altLang="zh-CN" sz="2800" dirty="0">
              <a:solidFill>
                <a:srgbClr val="333399"/>
              </a:solidFill>
              <a:latin typeface="Times New Roman" panose="02020603050405020304" pitchFamily="18" charset="0"/>
              <a:sym typeface="Symbol" panose="05050102010706020507" pitchFamily="18" charset="2"/>
            </a:endParaRPr>
          </a:p>
          <a:p>
            <a:pPr algn="l"/>
            <a:r>
              <a:rPr lang="en-US" altLang="zh-CN" sz="2800" i="0" dirty="0">
                <a:solidFill>
                  <a:srgbClr val="333399"/>
                </a:solidFill>
                <a:latin typeface="Times New Roman" panose="02020603050405020304" pitchFamily="18" charset="0"/>
                <a:sym typeface="Symbol" panose="05050102010706020507" pitchFamily="18" charset="2"/>
              </a:rPr>
              <a:t>{ </a:t>
            </a:r>
            <a:r>
              <a:rPr lang="en-US" altLang="zh-CN" sz="2800" dirty="0" err="1">
                <a:solidFill>
                  <a:srgbClr val="333399"/>
                </a:solidFill>
                <a:latin typeface="Times New Roman" panose="02020603050405020304" pitchFamily="18" charset="0"/>
                <a:sym typeface="Symbol" panose="05050102010706020507" pitchFamily="18" charset="2"/>
              </a:rPr>
              <a:t>C</a:t>
            </a:r>
            <a:r>
              <a:rPr lang="en-US" altLang="zh-CN" sz="2800" b="1" dirty="0" err="1">
                <a:solidFill>
                  <a:srgbClr val="333399"/>
                </a:solidFill>
                <a:latin typeface="Times New Roman" panose="02020603050405020304" pitchFamily="18" charset="0"/>
              </a:rPr>
              <a:t>.</a:t>
            </a:r>
            <a:r>
              <a:rPr lang="en-US" altLang="zh-CN" sz="2800" dirty="0" err="1">
                <a:solidFill>
                  <a:srgbClr val="333399"/>
                </a:solidFill>
                <a:latin typeface="Times New Roman" panose="02020603050405020304" pitchFamily="18" charset="0"/>
              </a:rPr>
              <a:t>num</a:t>
            </a:r>
            <a:r>
              <a:rPr lang="en-US" altLang="zh-CN" sz="2800" dirty="0">
                <a:solidFill>
                  <a:srgbClr val="333399"/>
                </a:solidFill>
                <a:latin typeface="Times New Roman" panose="02020603050405020304" pitchFamily="18" charset="0"/>
                <a:sym typeface="Symbol" panose="05050102010706020507" pitchFamily="18" charset="2"/>
              </a:rPr>
              <a:t> </a:t>
            </a:r>
            <a:r>
              <a:rPr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dirty="0">
                <a:solidFill>
                  <a:srgbClr val="333399"/>
                </a:solidFill>
                <a:latin typeface="Times New Roman" panose="02020603050405020304" pitchFamily="18" charset="0"/>
                <a:sym typeface="Symbol" panose="05050102010706020507" pitchFamily="18" charset="2"/>
              </a:rPr>
              <a:t> 1</a:t>
            </a:r>
            <a:r>
              <a:rPr lang="en-US" altLang="zh-CN" sz="2800" i="0" dirty="0">
                <a:solidFill>
                  <a:srgbClr val="333399"/>
                </a:solidFill>
                <a:latin typeface="Times New Roman" panose="02020603050405020304" pitchFamily="18" charset="0"/>
                <a:sym typeface="Symbol" panose="05050102010706020507" pitchFamily="18" charset="2"/>
              </a:rPr>
              <a:t> }</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31822"/>
                                        </p:tgtEl>
                                        <p:attrNameLst>
                                          <p:attrName>style.visibility</p:attrName>
                                        </p:attrNameLst>
                                      </p:cBhvr>
                                      <p:to>
                                        <p:strVal val="visible"/>
                                      </p:to>
                                    </p:set>
                                    <p:animEffect transition="in" filter="slide(fromBottom)">
                                      <p:cBhvr>
                                        <p:cTn id="7" dur="500"/>
                                        <p:tgtEl>
                                          <p:spTgt spid="631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Autofit/>
          </a:bodyPr>
          <a:lstStyle/>
          <a:p>
            <a:pPr lvl="0" algn="just">
              <a:lnSpc>
                <a:spcPts val="2800"/>
              </a:lnSpc>
            </a:pPr>
            <a:r>
              <a:rPr lang="zh-CN" altLang="en-US" sz="2400" dirty="0">
                <a:solidFill>
                  <a:srgbClr val="FF0000"/>
                </a:solidFill>
                <a:sym typeface="+mn-ea"/>
              </a:rPr>
              <a:t>语义规则</a:t>
            </a:r>
            <a:r>
              <a:rPr lang="zh-CN" altLang="en-US" sz="2400" dirty="0">
                <a:sym typeface="+mn-ea"/>
              </a:rPr>
              <a:t>：对于文法的每个产生式都配备了一组属性的</a:t>
            </a:r>
            <a:r>
              <a:rPr lang="zh-CN" altLang="en-US" sz="2400" dirty="0">
                <a:solidFill>
                  <a:srgbClr val="FF0000"/>
                </a:solidFill>
                <a:sym typeface="+mn-ea"/>
              </a:rPr>
              <a:t>计算规则</a:t>
            </a:r>
            <a:r>
              <a:rPr lang="zh-CN" altLang="en-US" sz="2400" dirty="0">
                <a:sym typeface="+mn-ea"/>
              </a:rPr>
              <a:t>。</a:t>
            </a:r>
          </a:p>
          <a:p>
            <a:pPr lvl="1" algn="just">
              <a:lnSpc>
                <a:spcPts val="2800"/>
              </a:lnSpc>
            </a:pPr>
            <a:r>
              <a:rPr lang="zh-CN" altLang="en-US" sz="2400" dirty="0">
                <a:sym typeface="+mn-ea"/>
              </a:rPr>
              <a:t>如果</a:t>
            </a:r>
            <a:r>
              <a:rPr lang="en-US" altLang="zh-CN" sz="2400" dirty="0">
                <a:sym typeface="+mn-ea"/>
              </a:rPr>
              <a:t>X</a:t>
            </a:r>
            <a:r>
              <a:rPr lang="zh-CN" altLang="en-US" sz="2400" dirty="0">
                <a:sym typeface="+mn-ea"/>
              </a:rPr>
              <a:t>是一个文法符号，</a:t>
            </a:r>
            <a:r>
              <a:rPr lang="en-US" altLang="zh-CN" sz="2400" dirty="0">
                <a:sym typeface="+mn-ea"/>
              </a:rPr>
              <a:t>a</a:t>
            </a:r>
            <a:r>
              <a:rPr lang="zh-CN" altLang="en-US" sz="2400" dirty="0">
                <a:sym typeface="+mn-ea"/>
              </a:rPr>
              <a:t>是</a:t>
            </a:r>
            <a:r>
              <a:rPr lang="en-US" altLang="zh-CN" sz="2400" dirty="0">
                <a:sym typeface="+mn-ea"/>
              </a:rPr>
              <a:t>X</a:t>
            </a:r>
            <a:r>
              <a:rPr lang="zh-CN" altLang="en-US" sz="2400" dirty="0">
                <a:sym typeface="+mn-ea"/>
              </a:rPr>
              <a:t>一个属性，则用</a:t>
            </a:r>
            <a:r>
              <a:rPr lang="en-US" altLang="zh-CN" sz="2400" dirty="0" err="1">
                <a:sym typeface="+mn-ea"/>
              </a:rPr>
              <a:t>X.a</a:t>
            </a:r>
            <a:r>
              <a:rPr lang="zh-CN" altLang="en-US" sz="2400" dirty="0">
                <a:sym typeface="+mn-ea"/>
              </a:rPr>
              <a:t>表示属性</a:t>
            </a:r>
            <a:r>
              <a:rPr lang="en-US" altLang="zh-CN" sz="2400" dirty="0">
                <a:sym typeface="+mn-ea"/>
              </a:rPr>
              <a:t>a</a:t>
            </a:r>
            <a:r>
              <a:rPr lang="zh-CN" altLang="en-US" sz="2400" dirty="0">
                <a:sym typeface="+mn-ea"/>
              </a:rPr>
              <a:t>在某个标号为</a:t>
            </a:r>
            <a:r>
              <a:rPr lang="en-US" altLang="zh-CN" sz="2400" dirty="0">
                <a:sym typeface="+mn-ea"/>
              </a:rPr>
              <a:t>X</a:t>
            </a:r>
            <a:r>
              <a:rPr lang="zh-CN" altLang="en-US" sz="2400" dirty="0">
                <a:sym typeface="+mn-ea"/>
              </a:rPr>
              <a:t>的分析树结点上的值。</a:t>
            </a:r>
            <a:endParaRPr lang="zh-CN" altLang="en-US" sz="2400" dirty="0"/>
          </a:p>
          <a:p>
            <a:pPr>
              <a:lnSpc>
                <a:spcPts val="2800"/>
              </a:lnSpc>
            </a:pPr>
            <a:r>
              <a:rPr lang="zh-CN" altLang="en-US" sz="2400" dirty="0">
                <a:sym typeface="+mn-ea"/>
              </a:rPr>
              <a:t>属性文法中允许如下</a:t>
            </a:r>
            <a:r>
              <a:rPr lang="zh-CN" altLang="en-US" sz="2400" dirty="0">
                <a:solidFill>
                  <a:srgbClr val="FF0000"/>
                </a:solidFill>
                <a:sym typeface="+mn-ea"/>
              </a:rPr>
              <a:t>语义规则</a:t>
            </a:r>
            <a:endParaRPr lang="zh-CN" altLang="en-US" sz="2400" b="1" i="0" dirty="0"/>
          </a:p>
          <a:p>
            <a:pPr lvl="1" algn="l">
              <a:lnSpc>
                <a:spcPts val="2800"/>
              </a:lnSpc>
              <a:buFontTx/>
              <a:buChar char="•"/>
            </a:pPr>
            <a:r>
              <a:rPr lang="zh-CN" altLang="en-US" sz="2400" dirty="0">
                <a:solidFill>
                  <a:srgbClr val="333399"/>
                </a:solidFill>
                <a:sym typeface="+mn-ea"/>
              </a:rPr>
              <a:t> </a:t>
            </a:r>
            <a:r>
              <a:rPr lang="zh-CN" altLang="en-US" sz="2400" dirty="0">
                <a:sym typeface="+mn-ea"/>
              </a:rPr>
              <a:t>复写</a:t>
            </a:r>
            <a:r>
              <a:rPr lang="zh-CN" altLang="en-US" sz="2400" dirty="0">
                <a:solidFill>
                  <a:srgbClr val="333399"/>
                </a:solidFill>
                <a:sym typeface="+mn-ea"/>
              </a:rPr>
              <a:t>（</a:t>
            </a:r>
            <a:r>
              <a:rPr lang="en-US" altLang="zh-CN" sz="2400" dirty="0">
                <a:solidFill>
                  <a:srgbClr val="333399"/>
                </a:solidFill>
                <a:sym typeface="+mn-ea"/>
              </a:rPr>
              <a:t>copy</a:t>
            </a:r>
            <a:r>
              <a:rPr lang="zh-CN" altLang="en-US" sz="2400" dirty="0">
                <a:solidFill>
                  <a:srgbClr val="333399"/>
                </a:solidFill>
                <a:sym typeface="+mn-ea"/>
              </a:rPr>
              <a:t>）</a:t>
            </a:r>
            <a:r>
              <a:rPr lang="zh-CN" altLang="en-US" sz="2400" dirty="0">
                <a:sym typeface="+mn-ea"/>
              </a:rPr>
              <a:t>规则</a:t>
            </a:r>
            <a:r>
              <a:rPr lang="zh-CN" altLang="en-US" sz="2400" dirty="0">
                <a:solidFill>
                  <a:srgbClr val="333399"/>
                </a:solidFill>
                <a:sym typeface="+mn-ea"/>
              </a:rPr>
              <a:t>，形如</a:t>
            </a:r>
            <a:endParaRPr lang="zh-CN" altLang="en-US" sz="2400" b="1" i="0" dirty="0">
              <a:solidFill>
                <a:srgbClr val="333399"/>
              </a:solidFill>
            </a:endParaRPr>
          </a:p>
          <a:p>
            <a:pPr lvl="1" algn="l">
              <a:lnSpc>
                <a:spcPts val="2800"/>
              </a:lnSpc>
              <a:buFontTx/>
              <a:buNone/>
            </a:pPr>
            <a:r>
              <a:rPr lang="zh-CN" altLang="en-US" sz="2400" dirty="0">
                <a:solidFill>
                  <a:srgbClr val="333399"/>
                </a:solidFill>
                <a:sym typeface="+mn-ea"/>
              </a:rPr>
              <a:t>                  </a:t>
            </a:r>
            <a:r>
              <a:rPr lang="en-US" altLang="zh-CN" sz="2400" dirty="0" err="1">
                <a:sym typeface="+mn-ea"/>
              </a:rPr>
              <a:t>X.a</a:t>
            </a:r>
            <a:r>
              <a:rPr lang="en-US" altLang="zh-CN" sz="2400" dirty="0">
                <a:sym typeface="+mn-ea"/>
              </a:rPr>
              <a:t> := </a:t>
            </a:r>
            <a:r>
              <a:rPr lang="en-US" altLang="zh-CN" sz="2400" dirty="0" err="1">
                <a:sym typeface="+mn-ea"/>
              </a:rPr>
              <a:t>Y.b</a:t>
            </a:r>
            <a:endParaRPr lang="en-US" altLang="zh-CN" sz="2400" b="1" i="0" dirty="0">
              <a:solidFill>
                <a:srgbClr val="333399"/>
              </a:solidFill>
            </a:endParaRPr>
          </a:p>
          <a:p>
            <a:pPr lvl="1" algn="l">
              <a:lnSpc>
                <a:spcPts val="2800"/>
              </a:lnSpc>
              <a:buFontTx/>
              <a:buChar char="•"/>
            </a:pPr>
            <a:r>
              <a:rPr lang="en-US" altLang="zh-CN" sz="2400" dirty="0">
                <a:solidFill>
                  <a:srgbClr val="333399"/>
                </a:solidFill>
                <a:sym typeface="+mn-ea"/>
              </a:rPr>
              <a:t> </a:t>
            </a:r>
            <a:r>
              <a:rPr lang="zh-CN" altLang="en-US" sz="2400" dirty="0">
                <a:sym typeface="+mn-ea"/>
              </a:rPr>
              <a:t>基于语义函数</a:t>
            </a:r>
            <a:r>
              <a:rPr lang="zh-CN" altLang="en-US" sz="2400" dirty="0">
                <a:solidFill>
                  <a:srgbClr val="333399"/>
                </a:solidFill>
                <a:sym typeface="+mn-ea"/>
              </a:rPr>
              <a:t>（</a:t>
            </a:r>
            <a:r>
              <a:rPr lang="en-US" altLang="zh-CN" sz="2400" dirty="0">
                <a:solidFill>
                  <a:srgbClr val="333399"/>
                </a:solidFill>
                <a:sym typeface="+mn-ea"/>
              </a:rPr>
              <a:t>semantic function</a:t>
            </a:r>
            <a:r>
              <a:rPr lang="zh-CN" altLang="en-US" sz="2400" dirty="0">
                <a:solidFill>
                  <a:srgbClr val="333399"/>
                </a:solidFill>
                <a:sym typeface="+mn-ea"/>
              </a:rPr>
              <a:t>）</a:t>
            </a:r>
            <a:r>
              <a:rPr lang="zh-CN" altLang="en-US" sz="2400" dirty="0">
                <a:sym typeface="+mn-ea"/>
              </a:rPr>
              <a:t>的规则</a:t>
            </a:r>
            <a:r>
              <a:rPr lang="zh-CN" altLang="en-US" sz="2400" dirty="0">
                <a:solidFill>
                  <a:srgbClr val="333399"/>
                </a:solidFill>
                <a:sym typeface="+mn-ea"/>
              </a:rPr>
              <a:t>，形如</a:t>
            </a:r>
            <a:endParaRPr lang="zh-CN" altLang="en-US" sz="2400" b="1" i="0" dirty="0">
              <a:solidFill>
                <a:srgbClr val="333399"/>
              </a:solidFill>
            </a:endParaRPr>
          </a:p>
          <a:p>
            <a:pPr lvl="1" algn="l">
              <a:lnSpc>
                <a:spcPts val="2800"/>
              </a:lnSpc>
              <a:buFontTx/>
              <a:buNone/>
            </a:pPr>
            <a:r>
              <a:rPr lang="zh-CN" altLang="en-US" sz="2400" dirty="0">
                <a:solidFill>
                  <a:srgbClr val="333399"/>
                </a:solidFill>
                <a:sym typeface="+mn-ea"/>
              </a:rPr>
              <a:t>        </a:t>
            </a:r>
            <a:r>
              <a:rPr lang="en-US" altLang="zh-CN" sz="2400" dirty="0">
                <a:sym typeface="+mn-ea"/>
              </a:rPr>
              <a:t>b:=f(c</a:t>
            </a:r>
            <a:r>
              <a:rPr lang="en-US" altLang="zh-CN" sz="2400" baseline="-25000" dirty="0">
                <a:sym typeface="+mn-ea"/>
              </a:rPr>
              <a:t>1</a:t>
            </a:r>
            <a:r>
              <a:rPr lang="en-US" altLang="zh-CN" sz="2400" dirty="0">
                <a:sym typeface="+mn-ea"/>
              </a:rPr>
              <a:t>, c</a:t>
            </a:r>
            <a:r>
              <a:rPr lang="en-US" altLang="zh-CN" sz="2400" baseline="-25000" dirty="0">
                <a:sym typeface="+mn-ea"/>
              </a:rPr>
              <a:t>2</a:t>
            </a:r>
            <a:r>
              <a:rPr lang="en-US" altLang="zh-CN" sz="2400" dirty="0">
                <a:sym typeface="+mn-ea"/>
              </a:rPr>
              <a:t>, …, </a:t>
            </a:r>
            <a:r>
              <a:rPr lang="en-US" altLang="zh-CN" sz="2400" dirty="0" err="1">
                <a:sym typeface="+mn-ea"/>
              </a:rPr>
              <a:t>c</a:t>
            </a:r>
            <a:r>
              <a:rPr lang="en-US" altLang="zh-CN" sz="2400" baseline="-25000" dirty="0" err="1">
                <a:sym typeface="+mn-ea"/>
              </a:rPr>
              <a:t>k</a:t>
            </a:r>
            <a:r>
              <a:rPr lang="en-US" altLang="zh-CN" sz="2400" dirty="0">
                <a:sym typeface="+mn-ea"/>
              </a:rPr>
              <a:t>)</a:t>
            </a:r>
            <a:r>
              <a:rPr lang="en-US" altLang="zh-CN" sz="2400" dirty="0">
                <a:solidFill>
                  <a:srgbClr val="333399"/>
                </a:solidFill>
                <a:sym typeface="+mn-ea"/>
              </a:rPr>
              <a:t>  </a:t>
            </a:r>
            <a:r>
              <a:rPr lang="zh-CN" altLang="en-US" sz="2400" dirty="0">
                <a:solidFill>
                  <a:srgbClr val="333399"/>
                </a:solidFill>
                <a:sym typeface="+mn-ea"/>
              </a:rPr>
              <a:t>或 </a:t>
            </a:r>
            <a:r>
              <a:rPr lang="en-US" altLang="zh-CN" sz="2400" dirty="0">
                <a:sym typeface="+mn-ea"/>
              </a:rPr>
              <a:t>f(c</a:t>
            </a:r>
            <a:r>
              <a:rPr lang="en-US" altLang="zh-CN" sz="2400" baseline="-25000" dirty="0">
                <a:sym typeface="+mn-ea"/>
              </a:rPr>
              <a:t>1</a:t>
            </a:r>
            <a:r>
              <a:rPr lang="en-US" altLang="zh-CN" sz="2400" dirty="0">
                <a:sym typeface="+mn-ea"/>
              </a:rPr>
              <a:t>, c</a:t>
            </a:r>
            <a:r>
              <a:rPr lang="en-US" altLang="zh-CN" sz="2400" baseline="-25000" dirty="0">
                <a:sym typeface="+mn-ea"/>
              </a:rPr>
              <a:t>2</a:t>
            </a:r>
            <a:r>
              <a:rPr lang="en-US" altLang="zh-CN" sz="2400" dirty="0">
                <a:sym typeface="+mn-ea"/>
              </a:rPr>
              <a:t>, …, </a:t>
            </a:r>
            <a:r>
              <a:rPr lang="en-US" altLang="zh-CN" sz="2400" dirty="0" err="1">
                <a:sym typeface="+mn-ea"/>
              </a:rPr>
              <a:t>c</a:t>
            </a:r>
            <a:r>
              <a:rPr lang="en-US" altLang="zh-CN" sz="2400" baseline="-25000" dirty="0" err="1">
                <a:sym typeface="+mn-ea"/>
              </a:rPr>
              <a:t>k</a:t>
            </a:r>
            <a:r>
              <a:rPr lang="en-US" altLang="zh-CN" sz="2400" dirty="0">
                <a:sym typeface="+mn-ea"/>
              </a:rPr>
              <a:t>)</a:t>
            </a:r>
            <a:r>
              <a:rPr lang="en-US" altLang="zh-CN" sz="2400" dirty="0">
                <a:solidFill>
                  <a:srgbClr val="333399"/>
                </a:solidFill>
                <a:sym typeface="+mn-ea"/>
              </a:rPr>
              <a:t> </a:t>
            </a:r>
            <a:endParaRPr lang="en-US" altLang="zh-CN" sz="2400" i="0" dirty="0">
              <a:solidFill>
                <a:srgbClr val="333399"/>
              </a:solidFill>
            </a:endParaRPr>
          </a:p>
          <a:p>
            <a:pPr lvl="1" algn="l">
              <a:lnSpc>
                <a:spcPts val="2800"/>
              </a:lnSpc>
              <a:buFontTx/>
              <a:buNone/>
            </a:pPr>
            <a:r>
              <a:rPr lang="en-US" altLang="zh-CN" sz="2400" dirty="0">
                <a:solidFill>
                  <a:srgbClr val="333399"/>
                </a:solidFill>
                <a:sym typeface="+mn-ea"/>
              </a:rPr>
              <a:t>  </a:t>
            </a:r>
            <a:r>
              <a:rPr lang="zh-CN" altLang="en-US" sz="2400" dirty="0">
                <a:solidFill>
                  <a:srgbClr val="333399"/>
                </a:solidFill>
                <a:sym typeface="+mn-ea"/>
              </a:rPr>
              <a:t>其中，</a:t>
            </a:r>
            <a:r>
              <a:rPr lang="en-US" altLang="zh-CN" sz="2400" dirty="0">
                <a:solidFill>
                  <a:srgbClr val="333399"/>
                </a:solidFill>
                <a:sym typeface="+mn-ea"/>
              </a:rPr>
              <a:t>b,c</a:t>
            </a:r>
            <a:r>
              <a:rPr lang="en-US" altLang="zh-CN" sz="2400" baseline="-25000" dirty="0">
                <a:solidFill>
                  <a:srgbClr val="333399"/>
                </a:solidFill>
                <a:sym typeface="+mn-ea"/>
              </a:rPr>
              <a:t>1</a:t>
            </a:r>
            <a:r>
              <a:rPr lang="en-US" altLang="zh-CN" sz="2400" dirty="0">
                <a:solidFill>
                  <a:srgbClr val="333399"/>
                </a:solidFill>
                <a:sym typeface="+mn-ea"/>
              </a:rPr>
              <a:t>, c</a:t>
            </a:r>
            <a:r>
              <a:rPr lang="en-US" altLang="zh-CN" sz="2400" baseline="-25000" dirty="0">
                <a:solidFill>
                  <a:srgbClr val="333399"/>
                </a:solidFill>
                <a:sym typeface="+mn-ea"/>
              </a:rPr>
              <a:t>2</a:t>
            </a:r>
            <a:r>
              <a:rPr lang="en-US" altLang="zh-CN" sz="2400" dirty="0">
                <a:solidFill>
                  <a:srgbClr val="333399"/>
                </a:solidFill>
                <a:sym typeface="+mn-ea"/>
              </a:rPr>
              <a:t>, …, </a:t>
            </a:r>
            <a:r>
              <a:rPr lang="en-US" altLang="zh-CN" sz="2400" dirty="0" err="1">
                <a:solidFill>
                  <a:srgbClr val="333399"/>
                </a:solidFill>
                <a:sym typeface="+mn-ea"/>
              </a:rPr>
              <a:t>c</a:t>
            </a:r>
            <a:r>
              <a:rPr lang="en-US" altLang="zh-CN" sz="2400" baseline="-25000" dirty="0" err="1">
                <a:solidFill>
                  <a:srgbClr val="333399"/>
                </a:solidFill>
                <a:sym typeface="+mn-ea"/>
              </a:rPr>
              <a:t>k</a:t>
            </a:r>
            <a:r>
              <a:rPr lang="zh-CN" altLang="en-US" sz="2400" dirty="0">
                <a:solidFill>
                  <a:srgbClr val="333399"/>
                </a:solidFill>
                <a:sym typeface="+mn-ea"/>
              </a:rPr>
              <a:t>是该产生式中文法符号的属性</a:t>
            </a:r>
            <a:endParaRPr lang="zh-CN" altLang="en-US" sz="2400" b="1" i="0" dirty="0">
              <a:solidFill>
                <a:srgbClr val="333399"/>
              </a:solidFill>
            </a:endParaRPr>
          </a:p>
          <a:p>
            <a:pPr>
              <a:lnSpc>
                <a:spcPts val="2800"/>
              </a:lnSpc>
            </a:pPr>
            <a:r>
              <a:rPr lang="zh-CN" altLang="en-US" sz="2400" dirty="0"/>
              <a:t>语义规则可能产生</a:t>
            </a:r>
            <a:r>
              <a:rPr lang="zh-CN" altLang="en-US" sz="2400" dirty="0">
                <a:solidFill>
                  <a:srgbClr val="FF0000"/>
                </a:solidFill>
              </a:rPr>
              <a:t>副作用</a:t>
            </a:r>
            <a:r>
              <a:rPr lang="zh-CN" altLang="en-US" sz="2400" dirty="0"/>
              <a:t>，如产生代码。</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概念和内涵</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综合</a:t>
            </a:r>
            <a:r>
              <a:rPr lang="zh-CN" altLang="en-US" dirty="0">
                <a:solidFill>
                  <a:srgbClr val="0206AD"/>
                </a:solidFill>
              </a:rPr>
              <a:t>属性</a:t>
            </a:r>
            <a:r>
              <a:rPr lang="zh-CN" altLang="en-US" sz="3200" dirty="0">
                <a:solidFill>
                  <a:srgbClr val="333399"/>
                </a:solidFill>
                <a:sym typeface="+mn-ea"/>
              </a:rPr>
              <a:t>（</a:t>
            </a:r>
            <a:r>
              <a:rPr lang="en-US" altLang="zh-CN" sz="3200" dirty="0">
                <a:solidFill>
                  <a:srgbClr val="333399"/>
                </a:solidFill>
                <a:sym typeface="+mn-ea"/>
              </a:rPr>
              <a:t>synthesized attribute</a:t>
            </a:r>
            <a:r>
              <a:rPr lang="zh-CN" altLang="en-US" sz="3200" dirty="0">
                <a:solidFill>
                  <a:srgbClr val="333399"/>
                </a:solidFill>
                <a:sym typeface="+mn-ea"/>
              </a:rPr>
              <a:t>）</a:t>
            </a:r>
          </a:p>
          <a:p>
            <a:pPr lvl="1"/>
            <a:r>
              <a:rPr lang="zh-CN" altLang="en-US" sz="2840" dirty="0">
                <a:solidFill>
                  <a:srgbClr val="333399"/>
                </a:solidFill>
                <a:sym typeface="+mn-ea"/>
              </a:rPr>
              <a:t>  用于</a:t>
            </a:r>
            <a:r>
              <a:rPr lang="zh-CN" altLang="en-US" sz="2840" dirty="0">
                <a:sym typeface="+mn-ea"/>
              </a:rPr>
              <a:t>“自</a:t>
            </a:r>
            <a:r>
              <a:rPr lang="zh-CN" altLang="en-US" sz="2840" dirty="0">
                <a:effectLst>
                  <a:outerShdw blurRad="38100" dist="38100" dir="2700000" algn="tl">
                    <a:srgbClr val="000000">
                      <a:alpha val="43137"/>
                    </a:srgbClr>
                  </a:outerShdw>
                </a:effectLst>
                <a:sym typeface="+mn-ea"/>
              </a:rPr>
              <a:t>下</a:t>
            </a:r>
            <a:r>
              <a:rPr lang="zh-CN" altLang="en-US" sz="2840" dirty="0">
                <a:sym typeface="+mn-ea"/>
              </a:rPr>
              <a:t>而上”传递信息</a:t>
            </a:r>
            <a:endParaRPr lang="zh-CN" altLang="en-US" sz="2840" b="1" i="0" dirty="0"/>
          </a:p>
          <a:p>
            <a:pPr lvl="1" algn="l">
              <a:buClrTx/>
            </a:pPr>
            <a:r>
              <a:rPr lang="zh-CN" altLang="en-US" sz="2840" dirty="0">
                <a:solidFill>
                  <a:srgbClr val="333399"/>
                </a:solidFill>
                <a:sym typeface="+mn-ea"/>
              </a:rPr>
              <a:t> 对关联于产生式 </a:t>
            </a:r>
            <a:r>
              <a:rPr lang="en-US" altLang="zh-CN" sz="2840" dirty="0">
                <a:solidFill>
                  <a:srgbClr val="333399"/>
                </a:solidFill>
                <a:sym typeface="+mn-ea"/>
              </a:rPr>
              <a:t>A</a:t>
            </a:r>
            <a:r>
              <a:rPr lang="en-US" altLang="zh-CN" sz="2840" dirty="0">
                <a:solidFill>
                  <a:srgbClr val="333399"/>
                </a:solidFill>
                <a:sym typeface="Symbol" panose="05050102010706020507" pitchFamily="18" charset="2"/>
              </a:rPr>
              <a:t> </a:t>
            </a:r>
            <a:r>
              <a:rPr lang="zh-CN" altLang="en-US" sz="2840" dirty="0">
                <a:solidFill>
                  <a:srgbClr val="333399"/>
                </a:solidFill>
                <a:sym typeface="+mn-ea"/>
              </a:rPr>
              <a:t>的语义规则 </a:t>
            </a:r>
          </a:p>
          <a:p>
            <a:pPr marL="457200" lvl="1" indent="0" algn="ctr">
              <a:buClrTx/>
              <a:buNone/>
            </a:pPr>
            <a:r>
              <a:rPr lang="en-US" altLang="zh-CN" sz="2840" dirty="0">
                <a:solidFill>
                  <a:srgbClr val="333399"/>
                </a:solidFill>
                <a:sym typeface="+mn-ea"/>
              </a:rPr>
              <a:t>b:=f(c</a:t>
            </a:r>
            <a:r>
              <a:rPr lang="en-US" altLang="zh-CN" sz="2840" baseline="-25000" dirty="0">
                <a:solidFill>
                  <a:srgbClr val="333399"/>
                </a:solidFill>
                <a:sym typeface="+mn-ea"/>
              </a:rPr>
              <a:t>1</a:t>
            </a:r>
            <a:r>
              <a:rPr lang="en-US" altLang="zh-CN" sz="2840" dirty="0">
                <a:solidFill>
                  <a:srgbClr val="333399"/>
                </a:solidFill>
                <a:sym typeface="+mn-ea"/>
              </a:rPr>
              <a:t>, c</a:t>
            </a:r>
            <a:r>
              <a:rPr lang="en-US" altLang="zh-CN" sz="2840" baseline="-25000" dirty="0">
                <a:solidFill>
                  <a:srgbClr val="333399"/>
                </a:solidFill>
                <a:sym typeface="+mn-ea"/>
              </a:rPr>
              <a:t>2</a:t>
            </a:r>
            <a:r>
              <a:rPr lang="en-US" altLang="zh-CN" sz="2840" dirty="0">
                <a:solidFill>
                  <a:srgbClr val="333399"/>
                </a:solidFill>
                <a:sym typeface="+mn-ea"/>
              </a:rPr>
              <a:t>, …, </a:t>
            </a:r>
            <a:r>
              <a:rPr lang="en-US" altLang="zh-CN" sz="2840" dirty="0" err="1">
                <a:solidFill>
                  <a:srgbClr val="333399"/>
                </a:solidFill>
                <a:sym typeface="+mn-ea"/>
              </a:rPr>
              <a:t>c</a:t>
            </a:r>
            <a:r>
              <a:rPr lang="en-US" altLang="zh-CN" sz="2840" baseline="-25000" dirty="0" err="1">
                <a:solidFill>
                  <a:srgbClr val="333399"/>
                </a:solidFill>
                <a:sym typeface="+mn-ea"/>
              </a:rPr>
              <a:t>k</a:t>
            </a:r>
            <a:r>
              <a:rPr lang="en-US" altLang="zh-CN" sz="2840" dirty="0">
                <a:solidFill>
                  <a:srgbClr val="333399"/>
                </a:solidFill>
                <a:sym typeface="+mn-ea"/>
              </a:rPr>
              <a:t>) </a:t>
            </a:r>
            <a:r>
              <a:rPr lang="zh-CN" altLang="en-US" sz="2840" dirty="0">
                <a:solidFill>
                  <a:srgbClr val="333399"/>
                </a:solidFill>
                <a:sym typeface="+mn-ea"/>
              </a:rPr>
              <a:t>，</a:t>
            </a:r>
            <a:endParaRPr lang="zh-CN" altLang="en-US" sz="2840" b="1" i="0" dirty="0">
              <a:solidFill>
                <a:srgbClr val="333399"/>
              </a:solidFill>
            </a:endParaRPr>
          </a:p>
          <a:p>
            <a:pPr lvl="1" algn="l">
              <a:buClrTx/>
            </a:pPr>
            <a:r>
              <a:rPr lang="zh-CN" altLang="en-US" sz="2840" dirty="0">
                <a:solidFill>
                  <a:srgbClr val="333399"/>
                </a:solidFill>
                <a:sym typeface="+mn-ea"/>
              </a:rPr>
              <a:t> 如果 </a:t>
            </a:r>
            <a:r>
              <a:rPr lang="en-US" altLang="zh-CN" sz="2840" dirty="0">
                <a:solidFill>
                  <a:srgbClr val="333399"/>
                </a:solidFill>
                <a:sym typeface="+mn-ea"/>
              </a:rPr>
              <a:t>b </a:t>
            </a:r>
            <a:r>
              <a:rPr lang="zh-CN" altLang="en-US" sz="2840" dirty="0">
                <a:solidFill>
                  <a:srgbClr val="333399"/>
                </a:solidFill>
                <a:sym typeface="+mn-ea"/>
              </a:rPr>
              <a:t>是 </a:t>
            </a:r>
            <a:r>
              <a:rPr lang="en-US" altLang="zh-CN" sz="2840" dirty="0">
                <a:solidFill>
                  <a:srgbClr val="333399"/>
                </a:solidFill>
                <a:sym typeface="+mn-ea"/>
              </a:rPr>
              <a:t>A </a:t>
            </a:r>
            <a:r>
              <a:rPr lang="zh-CN" altLang="en-US" sz="2840" dirty="0">
                <a:solidFill>
                  <a:srgbClr val="333399"/>
                </a:solidFill>
                <a:sym typeface="+mn-ea"/>
              </a:rPr>
              <a:t>的某个属性</a:t>
            </a:r>
            <a:r>
              <a:rPr lang="en-US" altLang="zh-CN" sz="2840" dirty="0">
                <a:solidFill>
                  <a:srgbClr val="333399"/>
                </a:solidFill>
                <a:sym typeface="+mn-ea"/>
              </a:rPr>
              <a:t>, </a:t>
            </a:r>
            <a:r>
              <a:rPr lang="zh-CN" altLang="en-US" sz="2840" dirty="0">
                <a:solidFill>
                  <a:srgbClr val="333399"/>
                </a:solidFill>
                <a:sym typeface="+mn-ea"/>
              </a:rPr>
              <a:t>则称 </a:t>
            </a:r>
            <a:r>
              <a:rPr lang="en-US" altLang="zh-CN" sz="2840" dirty="0">
                <a:solidFill>
                  <a:srgbClr val="333399"/>
                </a:solidFill>
                <a:sym typeface="+mn-ea"/>
              </a:rPr>
              <a:t>b </a:t>
            </a:r>
            <a:r>
              <a:rPr lang="zh-CN" altLang="en-US" sz="2840" dirty="0">
                <a:solidFill>
                  <a:srgbClr val="333399"/>
                </a:solidFill>
                <a:sym typeface="+mn-ea"/>
              </a:rPr>
              <a:t>是 </a:t>
            </a:r>
            <a:r>
              <a:rPr lang="en-US" altLang="zh-CN" sz="2840" dirty="0">
                <a:solidFill>
                  <a:srgbClr val="333399"/>
                </a:solidFill>
                <a:sym typeface="+mn-ea"/>
              </a:rPr>
              <a:t>A </a:t>
            </a:r>
            <a:r>
              <a:rPr lang="zh-CN" altLang="en-US" sz="2840" dirty="0">
                <a:solidFill>
                  <a:srgbClr val="333399"/>
                </a:solidFill>
                <a:sym typeface="+mn-ea"/>
              </a:rPr>
              <a:t>的一个</a:t>
            </a:r>
            <a:r>
              <a:rPr lang="zh-CN" altLang="en-US" sz="2840" dirty="0">
                <a:solidFill>
                  <a:srgbClr val="FF0000"/>
                </a:solidFill>
                <a:effectLst>
                  <a:outerShdw blurRad="38100" dist="38100" dir="2700000" algn="tl">
                    <a:srgbClr val="000000">
                      <a:alpha val="43137"/>
                    </a:srgbClr>
                  </a:outerShdw>
                </a:effectLst>
                <a:sym typeface="+mn-ea"/>
              </a:rPr>
              <a:t>综合属性</a:t>
            </a:r>
            <a:endParaRPr lang="zh-CN" altLang="en-US" sz="2840" b="1" i="0" dirty="0">
              <a:solidFill>
                <a:srgbClr val="FF0000"/>
              </a:solidFill>
              <a:effectLst>
                <a:outerShdw blurRad="38100" dist="38100" dir="2700000" algn="tl">
                  <a:srgbClr val="000000">
                    <a:alpha val="43137"/>
                  </a:srgbClr>
                </a:outerShdw>
              </a:effectLst>
            </a:endParaRPr>
          </a:p>
          <a:p>
            <a:pPr lvl="0" algn="l"/>
            <a:r>
              <a:rPr lang="zh-CN" altLang="en-US" sz="3600" i="0" dirty="0">
                <a:solidFill>
                  <a:srgbClr val="FF0000"/>
                </a:solidFill>
              </a:rPr>
              <a:t>终结符也可以具有综合属性，由词法分析器处获取属性值。</a:t>
            </a:r>
            <a:endParaRPr lang="zh-CN" altLang="en-US" sz="3600" i="0" dirty="0"/>
          </a:p>
          <a:p>
            <a:pPr lvl="0" algn="l"/>
            <a:r>
              <a:rPr lang="zh-CN" altLang="en-US" sz="3600" i="0" dirty="0">
                <a:solidFill>
                  <a:srgbClr val="0206AD"/>
                </a:solidFill>
              </a:rPr>
              <a:t>可理解为：在分析树结点N上的非终结符A的综合属性</a:t>
            </a:r>
            <a:r>
              <a:rPr lang="zh-CN" altLang="en-US" sz="3600" i="0" dirty="0">
                <a:solidFill>
                  <a:srgbClr val="FF0000"/>
                </a:solidFill>
              </a:rPr>
              <a:t>只能通过N的子结点</a:t>
            </a:r>
            <a:r>
              <a:rPr lang="zh-CN" altLang="en-US" sz="3600" i="0" dirty="0">
                <a:solidFill>
                  <a:srgbClr val="0206AD"/>
                </a:solidFill>
              </a:rPr>
              <a:t>或</a:t>
            </a:r>
            <a:r>
              <a:rPr lang="zh-CN" altLang="en-US" sz="3600" i="0" dirty="0">
                <a:solidFill>
                  <a:srgbClr val="FF0000"/>
                </a:solidFill>
              </a:rPr>
              <a:t>N本身的属性值</a:t>
            </a:r>
            <a:r>
              <a:rPr lang="zh-CN" altLang="en-US" sz="3600" i="0" dirty="0">
                <a:solidFill>
                  <a:srgbClr val="0206AD"/>
                </a:solidFill>
              </a:rPr>
              <a:t>来定义。</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综合属性</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16</a:t>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仅含综合属性的例子</a:t>
            </a:r>
          </a:p>
          <a:p>
            <a:pPr lvl="1"/>
            <a:r>
              <a:rPr lang="zh-CN" altLang="en-US" dirty="0">
                <a:sym typeface="+mn-ea"/>
              </a:rPr>
              <a:t>简单算术表达式求值的语义描述（</a:t>
            </a:r>
            <a:r>
              <a:rPr lang="en-US" altLang="zh-CN" dirty="0">
                <a:sym typeface="+mn-ea"/>
              </a:rPr>
              <a:t>L</a:t>
            </a:r>
            <a:r>
              <a:rPr lang="zh-CN" altLang="en-US" dirty="0">
                <a:sym typeface="+mn-ea"/>
              </a:rPr>
              <a:t>是开始符号）。</a:t>
            </a:r>
          </a:p>
          <a:p>
            <a:pPr lvl="1"/>
            <a:endParaRPr lang="zh-CN" altLang="en-US" dirty="0"/>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综合属性</a:t>
            </a:r>
            <a:endParaRPr lang="zh-CN" altLang="en-US"/>
          </a:p>
        </p:txBody>
      </p:sp>
      <p:sp>
        <p:nvSpPr>
          <p:cNvPr id="23556" name="直接连接符 23555"/>
          <p:cNvSpPr/>
          <p:nvPr/>
        </p:nvSpPr>
        <p:spPr>
          <a:xfrm>
            <a:off x="304165" y="2501265"/>
            <a:ext cx="6172200" cy="0"/>
          </a:xfrm>
          <a:prstGeom prst="line">
            <a:avLst/>
          </a:prstGeom>
          <a:ln w="9525" cap="flat" cmpd="sng">
            <a:solidFill>
              <a:schemeClr val="tx1"/>
            </a:solidFill>
            <a:prstDash val="solid"/>
            <a:headEnd type="none" w="med" len="med"/>
            <a:tailEnd type="none" w="med" len="med"/>
          </a:ln>
        </p:spPr>
      </p:sp>
      <p:sp>
        <p:nvSpPr>
          <p:cNvPr id="23557" name="直接连接符 23556"/>
          <p:cNvSpPr/>
          <p:nvPr/>
        </p:nvSpPr>
        <p:spPr>
          <a:xfrm flipH="1">
            <a:off x="304165" y="2501265"/>
            <a:ext cx="0" cy="2438400"/>
          </a:xfrm>
          <a:prstGeom prst="line">
            <a:avLst/>
          </a:prstGeom>
          <a:ln w="9525" cap="flat" cmpd="sng">
            <a:solidFill>
              <a:schemeClr val="tx1"/>
            </a:solidFill>
            <a:prstDash val="solid"/>
            <a:headEnd type="none" w="med" len="med"/>
            <a:tailEnd type="none" w="med" len="med"/>
          </a:ln>
        </p:spPr>
      </p:sp>
      <p:sp>
        <p:nvSpPr>
          <p:cNvPr id="23558" name="直接连接符 23557"/>
          <p:cNvSpPr/>
          <p:nvPr/>
        </p:nvSpPr>
        <p:spPr>
          <a:xfrm>
            <a:off x="6476365" y="2501265"/>
            <a:ext cx="0" cy="2895600"/>
          </a:xfrm>
          <a:prstGeom prst="line">
            <a:avLst/>
          </a:prstGeom>
          <a:ln w="9525" cap="flat" cmpd="sng">
            <a:solidFill>
              <a:schemeClr val="tx1"/>
            </a:solidFill>
            <a:prstDash val="solid"/>
            <a:headEnd type="none" w="med" len="med"/>
            <a:tailEnd type="none" w="med" len="med"/>
          </a:ln>
        </p:spPr>
      </p:sp>
      <p:sp>
        <p:nvSpPr>
          <p:cNvPr id="23559" name="直接连接符 23558"/>
          <p:cNvSpPr/>
          <p:nvPr/>
        </p:nvSpPr>
        <p:spPr>
          <a:xfrm>
            <a:off x="304165" y="3110865"/>
            <a:ext cx="6172200" cy="0"/>
          </a:xfrm>
          <a:prstGeom prst="line">
            <a:avLst/>
          </a:prstGeom>
          <a:ln w="9525" cap="flat" cmpd="sng">
            <a:solidFill>
              <a:schemeClr val="tx1"/>
            </a:solidFill>
            <a:prstDash val="solid"/>
            <a:headEnd type="none" w="med" len="med"/>
            <a:tailEnd type="none" w="med" len="med"/>
          </a:ln>
        </p:spPr>
      </p:sp>
      <p:sp>
        <p:nvSpPr>
          <p:cNvPr id="23560" name="直接连接符 23559"/>
          <p:cNvSpPr/>
          <p:nvPr/>
        </p:nvSpPr>
        <p:spPr>
          <a:xfrm>
            <a:off x="2285365" y="2501265"/>
            <a:ext cx="0" cy="3276600"/>
          </a:xfrm>
          <a:prstGeom prst="line">
            <a:avLst/>
          </a:prstGeom>
          <a:ln w="9525" cap="flat" cmpd="sng">
            <a:solidFill>
              <a:schemeClr val="tx1"/>
            </a:solidFill>
            <a:prstDash val="solid"/>
            <a:headEnd type="none" w="med" len="med"/>
            <a:tailEnd type="none" w="med" len="med"/>
          </a:ln>
        </p:spPr>
      </p:sp>
      <p:sp>
        <p:nvSpPr>
          <p:cNvPr id="23561" name="直接连接符 23560"/>
          <p:cNvSpPr/>
          <p:nvPr/>
        </p:nvSpPr>
        <p:spPr>
          <a:xfrm>
            <a:off x="304165" y="5015865"/>
            <a:ext cx="0" cy="838200"/>
          </a:xfrm>
          <a:prstGeom prst="line">
            <a:avLst/>
          </a:prstGeom>
          <a:ln w="9525" cap="flat" cmpd="sng">
            <a:solidFill>
              <a:schemeClr val="tx1"/>
            </a:solidFill>
            <a:prstDash val="solid"/>
            <a:headEnd type="none" w="med" len="med"/>
            <a:tailEnd type="none" w="med" len="med"/>
          </a:ln>
        </p:spPr>
      </p:sp>
      <p:sp>
        <p:nvSpPr>
          <p:cNvPr id="23562" name="直接连接符 23561"/>
          <p:cNvSpPr/>
          <p:nvPr/>
        </p:nvSpPr>
        <p:spPr>
          <a:xfrm>
            <a:off x="6476365" y="5320665"/>
            <a:ext cx="0" cy="533400"/>
          </a:xfrm>
          <a:prstGeom prst="line">
            <a:avLst/>
          </a:prstGeom>
          <a:ln w="9525" cap="flat" cmpd="sng">
            <a:solidFill>
              <a:schemeClr val="tx1"/>
            </a:solidFill>
            <a:prstDash val="solid"/>
            <a:headEnd type="none" w="med" len="med"/>
            <a:tailEnd type="none" w="med" len="med"/>
          </a:ln>
        </p:spPr>
      </p:sp>
      <p:sp>
        <p:nvSpPr>
          <p:cNvPr id="23563" name="矩形 23562"/>
          <p:cNvSpPr/>
          <p:nvPr/>
        </p:nvSpPr>
        <p:spPr>
          <a:xfrm>
            <a:off x="3210878" y="2609215"/>
            <a:ext cx="1866900" cy="457200"/>
          </a:xfrm>
          <a:prstGeom prst="rect">
            <a:avLst/>
          </a:prstGeom>
          <a:noFill/>
          <a:ln w="9525">
            <a:noFill/>
          </a:ln>
        </p:spPr>
        <p:txBody>
          <a:bodyPr wrap="none" anchor="ctr">
            <a:spAutoFit/>
          </a:bodyPr>
          <a:lstStyle/>
          <a:p>
            <a:pPr algn="ctr">
              <a:spcBef>
                <a:spcPct val="20000"/>
              </a:spcBef>
              <a:buClr>
                <a:schemeClr val="tx1"/>
              </a:buClr>
            </a:pPr>
            <a:r>
              <a:rPr lang="zh-CN" altLang="en-US" sz="2400" b="1" dirty="0">
                <a:latin typeface="Times New Roman" panose="02020603050405020304" charset="0"/>
              </a:rPr>
              <a:t>语  义  规  则</a:t>
            </a:r>
            <a:endParaRPr lang="zh-CN" altLang="en-US" sz="1400" b="1" dirty="0">
              <a:latin typeface="Times New Roman" panose="02020603050405020304" charset="0"/>
            </a:endParaRPr>
          </a:p>
        </p:txBody>
      </p:sp>
      <p:sp>
        <p:nvSpPr>
          <p:cNvPr id="23564" name="矩形 23563"/>
          <p:cNvSpPr/>
          <p:nvPr/>
        </p:nvSpPr>
        <p:spPr>
          <a:xfrm>
            <a:off x="380365" y="3142615"/>
            <a:ext cx="1069975" cy="457200"/>
          </a:xfrm>
          <a:prstGeom prst="rect">
            <a:avLst/>
          </a:prstGeom>
          <a:noFill/>
          <a:ln w="9525">
            <a:noFill/>
          </a:ln>
        </p:spPr>
        <p:txBody>
          <a:bodyPr wrap="none" anchor="ctr">
            <a:spAutoFit/>
          </a:bodyPr>
          <a:lstStyle/>
          <a:p>
            <a:pPr algn="ctr">
              <a:spcBef>
                <a:spcPct val="20000"/>
              </a:spcBef>
              <a:buClr>
                <a:schemeClr val="tx1"/>
              </a:buClr>
            </a:pPr>
            <a:r>
              <a:rPr lang="en-US" altLang="en-US">
                <a:latin typeface="Times New Roman" panose="02020603050405020304" charset="0"/>
              </a:rPr>
              <a:t> </a:t>
            </a:r>
            <a:r>
              <a:rPr lang="en-US" altLang="zh-CN" sz="2400">
                <a:latin typeface="Times New Roman" panose="02020603050405020304" charset="0"/>
              </a:rPr>
              <a:t>L      E</a:t>
            </a:r>
            <a:endParaRPr lang="en-US" altLang="zh-CN" sz="1400">
              <a:latin typeface="Times New Roman" panose="02020603050405020304" charset="0"/>
            </a:endParaRPr>
          </a:p>
        </p:txBody>
      </p:sp>
      <p:sp>
        <p:nvSpPr>
          <p:cNvPr id="23565" name="直接连接符 23564"/>
          <p:cNvSpPr/>
          <p:nvPr/>
        </p:nvSpPr>
        <p:spPr>
          <a:xfrm>
            <a:off x="304165" y="5854065"/>
            <a:ext cx="0" cy="76200"/>
          </a:xfrm>
          <a:prstGeom prst="line">
            <a:avLst/>
          </a:prstGeom>
          <a:ln w="9525" cap="flat" cmpd="sng">
            <a:solidFill>
              <a:schemeClr val="tx1"/>
            </a:solidFill>
            <a:prstDash val="solid"/>
            <a:headEnd type="none" w="med" len="med"/>
            <a:tailEnd type="none" w="med" len="med"/>
          </a:ln>
        </p:spPr>
      </p:sp>
      <p:sp>
        <p:nvSpPr>
          <p:cNvPr id="23566" name="直接连接符 23565"/>
          <p:cNvSpPr/>
          <p:nvPr/>
        </p:nvSpPr>
        <p:spPr>
          <a:xfrm>
            <a:off x="2285365" y="5777865"/>
            <a:ext cx="0" cy="228600"/>
          </a:xfrm>
          <a:prstGeom prst="line">
            <a:avLst/>
          </a:prstGeom>
          <a:ln w="9525" cap="flat" cmpd="sng">
            <a:solidFill>
              <a:schemeClr val="tx1"/>
            </a:solidFill>
            <a:prstDash val="solid"/>
            <a:headEnd type="none" w="med" len="med"/>
            <a:tailEnd type="none" w="med" len="med"/>
          </a:ln>
        </p:spPr>
      </p:sp>
      <p:sp>
        <p:nvSpPr>
          <p:cNvPr id="23567" name="直接连接符 23566"/>
          <p:cNvSpPr/>
          <p:nvPr/>
        </p:nvSpPr>
        <p:spPr>
          <a:xfrm>
            <a:off x="6476365" y="5854065"/>
            <a:ext cx="0" cy="152400"/>
          </a:xfrm>
          <a:prstGeom prst="line">
            <a:avLst/>
          </a:prstGeom>
          <a:ln w="9525" cap="flat" cmpd="sng">
            <a:solidFill>
              <a:schemeClr val="tx1"/>
            </a:solidFill>
            <a:prstDash val="solid"/>
            <a:headEnd type="none" w="med" len="med"/>
            <a:tailEnd type="none" w="med" len="med"/>
          </a:ln>
        </p:spPr>
      </p:sp>
      <p:sp>
        <p:nvSpPr>
          <p:cNvPr id="23568" name="直接连接符 23567"/>
          <p:cNvSpPr/>
          <p:nvPr/>
        </p:nvSpPr>
        <p:spPr>
          <a:xfrm>
            <a:off x="304165" y="5930265"/>
            <a:ext cx="0" cy="152400"/>
          </a:xfrm>
          <a:prstGeom prst="line">
            <a:avLst/>
          </a:prstGeom>
          <a:ln w="9525" cap="flat" cmpd="sng">
            <a:solidFill>
              <a:schemeClr val="tx1"/>
            </a:solidFill>
            <a:prstDash val="solid"/>
            <a:headEnd type="none" w="med" len="med"/>
            <a:tailEnd type="none" w="med" len="med"/>
          </a:ln>
        </p:spPr>
      </p:sp>
      <p:sp>
        <p:nvSpPr>
          <p:cNvPr id="23569" name="直接连接符 23568"/>
          <p:cNvSpPr/>
          <p:nvPr/>
        </p:nvSpPr>
        <p:spPr>
          <a:xfrm>
            <a:off x="304165" y="6082665"/>
            <a:ext cx="6172200" cy="0"/>
          </a:xfrm>
          <a:prstGeom prst="line">
            <a:avLst/>
          </a:prstGeom>
          <a:ln w="9525" cap="flat" cmpd="sng">
            <a:solidFill>
              <a:schemeClr val="tx1"/>
            </a:solidFill>
            <a:prstDash val="solid"/>
            <a:headEnd type="none" w="med" len="med"/>
            <a:tailEnd type="none" w="med" len="med"/>
          </a:ln>
        </p:spPr>
      </p:sp>
      <p:sp>
        <p:nvSpPr>
          <p:cNvPr id="23570" name="直接连接符 23569"/>
          <p:cNvSpPr/>
          <p:nvPr/>
        </p:nvSpPr>
        <p:spPr>
          <a:xfrm>
            <a:off x="6476365" y="5930265"/>
            <a:ext cx="0" cy="152400"/>
          </a:xfrm>
          <a:prstGeom prst="line">
            <a:avLst/>
          </a:prstGeom>
          <a:ln w="9525" cap="flat" cmpd="sng">
            <a:solidFill>
              <a:schemeClr val="tx1"/>
            </a:solidFill>
            <a:prstDash val="solid"/>
            <a:headEnd type="none" w="med" len="med"/>
            <a:tailEnd type="none" w="med" len="med"/>
          </a:ln>
        </p:spPr>
      </p:sp>
      <p:sp>
        <p:nvSpPr>
          <p:cNvPr id="23571" name="直接连接符 23570"/>
          <p:cNvSpPr/>
          <p:nvPr/>
        </p:nvSpPr>
        <p:spPr>
          <a:xfrm>
            <a:off x="2285365" y="5930265"/>
            <a:ext cx="0" cy="152400"/>
          </a:xfrm>
          <a:prstGeom prst="line">
            <a:avLst/>
          </a:prstGeom>
          <a:ln w="9525" cap="flat" cmpd="sng">
            <a:solidFill>
              <a:schemeClr val="tx1"/>
            </a:solidFill>
            <a:prstDash val="solid"/>
            <a:headEnd type="none" w="med" len="med"/>
            <a:tailEnd type="none" w="med" len="med"/>
          </a:ln>
        </p:spPr>
      </p:sp>
      <p:sp>
        <p:nvSpPr>
          <p:cNvPr id="23572" name="矩形 23571"/>
          <p:cNvSpPr/>
          <p:nvPr/>
        </p:nvSpPr>
        <p:spPr>
          <a:xfrm>
            <a:off x="420053" y="3599815"/>
            <a:ext cx="1471612"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E      E</a:t>
            </a:r>
            <a:r>
              <a:rPr lang="en-US" altLang="zh-CN" sz="2400" baseline="-25000">
                <a:latin typeface="Times New Roman" panose="02020603050405020304" charset="0"/>
              </a:rPr>
              <a:t>1</a:t>
            </a:r>
            <a:r>
              <a:rPr lang="en-US" altLang="zh-CN" sz="2400">
                <a:latin typeface="Times New Roman" panose="02020603050405020304" charset="0"/>
              </a:rPr>
              <a:t>+T</a:t>
            </a:r>
            <a:endParaRPr lang="en-US" altLang="zh-CN" sz="1400">
              <a:latin typeface="Times New Roman" panose="02020603050405020304" charset="0"/>
            </a:endParaRPr>
          </a:p>
        </p:txBody>
      </p:sp>
      <p:sp>
        <p:nvSpPr>
          <p:cNvPr id="23573" name="矩形 23572"/>
          <p:cNvSpPr/>
          <p:nvPr/>
        </p:nvSpPr>
        <p:spPr>
          <a:xfrm>
            <a:off x="429578" y="3993515"/>
            <a:ext cx="1012825"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E      T</a:t>
            </a:r>
            <a:endParaRPr lang="en-US" altLang="zh-CN">
              <a:latin typeface="Times New Roman" panose="02020603050405020304" charset="0"/>
            </a:endParaRPr>
          </a:p>
        </p:txBody>
      </p:sp>
      <p:sp>
        <p:nvSpPr>
          <p:cNvPr id="23574" name="矩形 23573"/>
          <p:cNvSpPr/>
          <p:nvPr/>
        </p:nvSpPr>
        <p:spPr>
          <a:xfrm>
            <a:off x="405765" y="4438015"/>
            <a:ext cx="1665288"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T      T</a:t>
            </a:r>
            <a:r>
              <a:rPr lang="en-US" altLang="zh-CN" sz="2400" baseline="-25000" dirty="0">
                <a:latin typeface="Times New Roman" panose="02020603050405020304" charset="0"/>
              </a:rPr>
              <a:t>1</a:t>
            </a:r>
            <a:r>
              <a:rPr lang="en-US" altLang="zh-CN" sz="2400" dirty="0">
                <a:latin typeface="Times New Roman" panose="02020603050405020304" charset="0"/>
              </a:rPr>
              <a:t> *  F</a:t>
            </a:r>
          </a:p>
        </p:txBody>
      </p:sp>
      <p:sp>
        <p:nvSpPr>
          <p:cNvPr id="23575" name="矩形 23574"/>
          <p:cNvSpPr/>
          <p:nvPr/>
        </p:nvSpPr>
        <p:spPr>
          <a:xfrm>
            <a:off x="431165" y="4844415"/>
            <a:ext cx="996950"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T      F</a:t>
            </a:r>
            <a:endParaRPr lang="en-US" altLang="zh-CN">
              <a:latin typeface="Times New Roman" panose="02020603050405020304" charset="0"/>
            </a:endParaRPr>
          </a:p>
        </p:txBody>
      </p:sp>
      <p:sp>
        <p:nvSpPr>
          <p:cNvPr id="23576" name="矩形 23575"/>
          <p:cNvSpPr/>
          <p:nvPr/>
        </p:nvSpPr>
        <p:spPr>
          <a:xfrm>
            <a:off x="434340" y="5276215"/>
            <a:ext cx="1200150"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F      (E)</a:t>
            </a:r>
          </a:p>
        </p:txBody>
      </p:sp>
      <p:sp>
        <p:nvSpPr>
          <p:cNvPr id="23577" name="矩形 23576"/>
          <p:cNvSpPr/>
          <p:nvPr/>
        </p:nvSpPr>
        <p:spPr>
          <a:xfrm>
            <a:off x="459740" y="5657215"/>
            <a:ext cx="1368425"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F      digit</a:t>
            </a:r>
          </a:p>
        </p:txBody>
      </p:sp>
      <p:sp>
        <p:nvSpPr>
          <p:cNvPr id="23578" name="直接连接符 23577"/>
          <p:cNvSpPr/>
          <p:nvPr/>
        </p:nvSpPr>
        <p:spPr>
          <a:xfrm>
            <a:off x="710565" y="3364865"/>
            <a:ext cx="381000" cy="0"/>
          </a:xfrm>
          <a:prstGeom prst="line">
            <a:avLst/>
          </a:prstGeom>
          <a:ln w="9525" cap="flat" cmpd="sng">
            <a:solidFill>
              <a:schemeClr val="tx1"/>
            </a:solidFill>
            <a:prstDash val="solid"/>
            <a:headEnd type="none" w="med" len="med"/>
            <a:tailEnd type="triangle" w="med" len="med"/>
          </a:ln>
        </p:spPr>
      </p:sp>
      <p:sp>
        <p:nvSpPr>
          <p:cNvPr id="23579" name="直接连接符 23578"/>
          <p:cNvSpPr/>
          <p:nvPr/>
        </p:nvSpPr>
        <p:spPr>
          <a:xfrm>
            <a:off x="786765" y="3847465"/>
            <a:ext cx="304800" cy="0"/>
          </a:xfrm>
          <a:prstGeom prst="line">
            <a:avLst/>
          </a:prstGeom>
          <a:ln w="9525" cap="flat" cmpd="sng">
            <a:solidFill>
              <a:schemeClr val="tx1"/>
            </a:solidFill>
            <a:prstDash val="solid"/>
            <a:headEnd type="none" w="med" len="med"/>
            <a:tailEnd type="triangle" w="med" len="med"/>
          </a:ln>
        </p:spPr>
      </p:sp>
      <p:sp>
        <p:nvSpPr>
          <p:cNvPr id="23580" name="直接连接符 23579"/>
          <p:cNvSpPr/>
          <p:nvPr/>
        </p:nvSpPr>
        <p:spPr>
          <a:xfrm>
            <a:off x="735965" y="4291965"/>
            <a:ext cx="381000" cy="0"/>
          </a:xfrm>
          <a:prstGeom prst="line">
            <a:avLst/>
          </a:prstGeom>
          <a:ln w="9525" cap="flat" cmpd="sng">
            <a:solidFill>
              <a:schemeClr val="tx1"/>
            </a:solidFill>
            <a:prstDash val="solid"/>
            <a:headEnd type="none" w="med" len="med"/>
            <a:tailEnd type="triangle" w="med" len="med"/>
          </a:ln>
        </p:spPr>
      </p:sp>
      <p:sp>
        <p:nvSpPr>
          <p:cNvPr id="23581" name="直接连接符 23580"/>
          <p:cNvSpPr/>
          <p:nvPr/>
        </p:nvSpPr>
        <p:spPr>
          <a:xfrm>
            <a:off x="710565" y="4685665"/>
            <a:ext cx="381000" cy="0"/>
          </a:xfrm>
          <a:prstGeom prst="line">
            <a:avLst/>
          </a:prstGeom>
          <a:ln w="9525" cap="flat" cmpd="sng">
            <a:solidFill>
              <a:schemeClr val="tx1"/>
            </a:solidFill>
            <a:prstDash val="solid"/>
            <a:headEnd type="none" w="med" len="med"/>
            <a:tailEnd type="triangle" w="med" len="med"/>
          </a:ln>
        </p:spPr>
      </p:sp>
      <p:sp>
        <p:nvSpPr>
          <p:cNvPr id="23582" name="直接连接符 23581"/>
          <p:cNvSpPr/>
          <p:nvPr/>
        </p:nvSpPr>
        <p:spPr>
          <a:xfrm>
            <a:off x="761365" y="5066665"/>
            <a:ext cx="304800" cy="0"/>
          </a:xfrm>
          <a:prstGeom prst="line">
            <a:avLst/>
          </a:prstGeom>
          <a:ln w="9525" cap="flat" cmpd="sng">
            <a:solidFill>
              <a:schemeClr val="tx1"/>
            </a:solidFill>
            <a:prstDash val="solid"/>
            <a:headEnd type="none" w="med" len="med"/>
            <a:tailEnd type="triangle" w="med" len="med"/>
          </a:ln>
        </p:spPr>
      </p:sp>
      <p:sp>
        <p:nvSpPr>
          <p:cNvPr id="23583" name="直接连接符 23582"/>
          <p:cNvSpPr/>
          <p:nvPr/>
        </p:nvSpPr>
        <p:spPr>
          <a:xfrm>
            <a:off x="735965" y="5536565"/>
            <a:ext cx="381000" cy="0"/>
          </a:xfrm>
          <a:prstGeom prst="line">
            <a:avLst/>
          </a:prstGeom>
          <a:ln w="9525" cap="flat" cmpd="sng">
            <a:solidFill>
              <a:schemeClr val="tx1"/>
            </a:solidFill>
            <a:prstDash val="solid"/>
            <a:headEnd type="none" w="med" len="med"/>
            <a:tailEnd type="triangle" w="med" len="med"/>
          </a:ln>
        </p:spPr>
      </p:sp>
      <p:sp>
        <p:nvSpPr>
          <p:cNvPr id="23584" name="直接连接符 23583"/>
          <p:cNvSpPr/>
          <p:nvPr/>
        </p:nvSpPr>
        <p:spPr>
          <a:xfrm>
            <a:off x="761365" y="5879465"/>
            <a:ext cx="304800" cy="0"/>
          </a:xfrm>
          <a:prstGeom prst="line">
            <a:avLst/>
          </a:prstGeom>
          <a:ln w="9525" cap="flat" cmpd="sng">
            <a:solidFill>
              <a:schemeClr val="tx1"/>
            </a:solidFill>
            <a:prstDash val="solid"/>
            <a:headEnd type="none" w="med" len="med"/>
            <a:tailEnd type="triangle" w="med" len="med"/>
          </a:ln>
        </p:spPr>
      </p:sp>
      <p:sp>
        <p:nvSpPr>
          <p:cNvPr id="23585" name="矩形 23584"/>
          <p:cNvSpPr/>
          <p:nvPr/>
        </p:nvSpPr>
        <p:spPr>
          <a:xfrm>
            <a:off x="2620328" y="3110865"/>
            <a:ext cx="1612900" cy="457200"/>
          </a:xfrm>
          <a:prstGeom prst="rect">
            <a:avLst/>
          </a:prstGeom>
          <a:noFill/>
          <a:ln w="9525">
            <a:noFill/>
          </a:ln>
        </p:spPr>
        <p:txBody>
          <a:bodyPr wrap="none" anchor="ctr">
            <a:spAutoFit/>
          </a:bodyPr>
          <a:lstStyle/>
          <a:p>
            <a:pPr algn="ctr">
              <a:spcBef>
                <a:spcPct val="20000"/>
              </a:spcBef>
              <a:buClr>
                <a:schemeClr val="tx1"/>
              </a:buClr>
            </a:pPr>
            <a:r>
              <a:rPr lang="en-US" altLang="zh-CN" sz="2400" err="1">
                <a:solidFill>
                  <a:srgbClr val="0000CC"/>
                </a:solidFill>
                <a:latin typeface="Times New Roman" panose="02020603050405020304" charset="0"/>
              </a:rPr>
              <a:t>Print(E.val</a:t>
            </a:r>
            <a:r>
              <a:rPr lang="en-US" altLang="zh-CN" sz="2400">
                <a:solidFill>
                  <a:srgbClr val="0000CC"/>
                </a:solidFill>
                <a:latin typeface="Times New Roman" panose="02020603050405020304" charset="0"/>
              </a:rPr>
              <a:t>)</a:t>
            </a:r>
          </a:p>
        </p:txBody>
      </p:sp>
      <p:sp>
        <p:nvSpPr>
          <p:cNvPr id="23586" name="矩形 23585"/>
          <p:cNvSpPr/>
          <p:nvPr/>
        </p:nvSpPr>
        <p:spPr>
          <a:xfrm>
            <a:off x="2374265" y="3568065"/>
            <a:ext cx="2841625" cy="457200"/>
          </a:xfrm>
          <a:prstGeom prst="rect">
            <a:avLst/>
          </a:prstGeom>
          <a:noFill/>
          <a:ln w="9525">
            <a:noFill/>
          </a:ln>
        </p:spPr>
        <p:txBody>
          <a:bodyPr wrap="none" anchor="ctr">
            <a:spAutoFit/>
          </a:bodyPr>
          <a:lstStyle/>
          <a:p>
            <a:pPr algn="ctr">
              <a:buClr>
                <a:schemeClr val="bg1"/>
              </a:buClr>
            </a:pPr>
            <a:r>
              <a:rPr lang="en-US" altLang="zh-CN" dirty="0">
                <a:solidFill>
                  <a:srgbClr val="0000CC"/>
                </a:solidFill>
                <a:latin typeface="Times New Roman" panose="02020603050405020304" charset="0"/>
              </a:rPr>
              <a:t>    </a:t>
            </a:r>
            <a:r>
              <a:rPr lang="en-US" altLang="zh-CN" sz="2400" dirty="0" err="1">
                <a:solidFill>
                  <a:srgbClr val="0000CC"/>
                </a:solidFill>
                <a:latin typeface="Times New Roman" panose="02020603050405020304" charset="0"/>
              </a:rPr>
              <a:t>E.val</a:t>
            </a:r>
            <a:r>
              <a:rPr lang="en-US" altLang="zh-CN" sz="2400" dirty="0">
                <a:solidFill>
                  <a:srgbClr val="0000CC"/>
                </a:solidFill>
                <a:latin typeface="Times New Roman" panose="02020603050405020304" charset="0"/>
              </a:rPr>
              <a:t>:=E</a:t>
            </a:r>
            <a:r>
              <a:rPr lang="en-US" altLang="zh-CN" sz="2400" baseline="-25000" dirty="0">
                <a:solidFill>
                  <a:srgbClr val="0000CC"/>
                </a:solidFill>
                <a:latin typeface="Times New Roman" panose="02020603050405020304" charset="0"/>
              </a:rPr>
              <a:t>1</a:t>
            </a:r>
            <a:r>
              <a:rPr lang="en-US" altLang="zh-CN" sz="2400" dirty="0">
                <a:solidFill>
                  <a:srgbClr val="0000CC"/>
                </a:solidFill>
                <a:latin typeface="Times New Roman" panose="02020603050405020304" charset="0"/>
              </a:rPr>
              <a:t>.val+T.val</a:t>
            </a:r>
          </a:p>
        </p:txBody>
      </p:sp>
      <p:sp>
        <p:nvSpPr>
          <p:cNvPr id="23587" name="矩形 23586"/>
          <p:cNvSpPr/>
          <p:nvPr/>
        </p:nvSpPr>
        <p:spPr>
          <a:xfrm>
            <a:off x="2401253" y="3993515"/>
            <a:ext cx="1935162" cy="457200"/>
          </a:xfrm>
          <a:prstGeom prst="rect">
            <a:avLst/>
          </a:prstGeom>
          <a:noFill/>
          <a:ln w="9525">
            <a:noFill/>
          </a:ln>
        </p:spPr>
        <p:txBody>
          <a:bodyPr wrap="none" anchor="ctr">
            <a:spAutoFit/>
          </a:bodyPr>
          <a:lstStyle/>
          <a:p>
            <a:pPr algn="ctr">
              <a:spcBef>
                <a:spcPct val="20000"/>
              </a:spcBef>
              <a:buClr>
                <a:schemeClr val="tx1"/>
              </a:buClr>
            </a:pPr>
            <a:r>
              <a:rPr lang="en-US" altLang="zh-CN">
                <a:solidFill>
                  <a:srgbClr val="0000CC"/>
                </a:solidFill>
                <a:latin typeface="Times New Roman" panose="02020603050405020304" charset="0"/>
              </a:rPr>
              <a:t>    </a:t>
            </a:r>
            <a:r>
              <a:rPr lang="en-US" altLang="zh-CN" sz="2400" err="1">
                <a:solidFill>
                  <a:srgbClr val="0000CC"/>
                </a:solidFill>
                <a:latin typeface="Times New Roman" panose="02020603050405020304" charset="0"/>
              </a:rPr>
              <a:t>E.val:=T.val</a:t>
            </a:r>
            <a:endParaRPr lang="en-US" altLang="zh-CN" sz="2400">
              <a:solidFill>
                <a:srgbClr val="0000CC"/>
              </a:solidFill>
              <a:latin typeface="Times New Roman" panose="02020603050405020304" charset="0"/>
            </a:endParaRPr>
          </a:p>
        </p:txBody>
      </p:sp>
      <p:sp>
        <p:nvSpPr>
          <p:cNvPr id="23588" name="矩形 23587"/>
          <p:cNvSpPr/>
          <p:nvPr/>
        </p:nvSpPr>
        <p:spPr>
          <a:xfrm>
            <a:off x="2474278" y="4399915"/>
            <a:ext cx="2859087" cy="457200"/>
          </a:xfrm>
          <a:prstGeom prst="rect">
            <a:avLst/>
          </a:prstGeom>
          <a:noFill/>
          <a:ln w="9525">
            <a:noFill/>
          </a:ln>
        </p:spPr>
        <p:txBody>
          <a:bodyPr wrap="none" anchor="ctr">
            <a:spAutoFit/>
          </a:bodyPr>
          <a:lstStyle/>
          <a:p>
            <a:pPr algn="ctr">
              <a:spcBef>
                <a:spcPct val="20000"/>
              </a:spcBef>
              <a:buClr>
                <a:schemeClr val="tx1"/>
              </a:buClr>
            </a:pPr>
            <a:r>
              <a:rPr lang="en-US" altLang="zh-CN" dirty="0">
                <a:solidFill>
                  <a:srgbClr val="0000CC"/>
                </a:solidFill>
                <a:latin typeface="Times New Roman" panose="02020603050405020304" charset="0"/>
              </a:rPr>
              <a:t>  </a:t>
            </a:r>
            <a:r>
              <a:rPr lang="en-US" altLang="zh-CN" sz="2400" dirty="0" err="1">
                <a:solidFill>
                  <a:srgbClr val="0000CC"/>
                </a:solidFill>
                <a:latin typeface="Times New Roman" panose="02020603050405020304" charset="0"/>
              </a:rPr>
              <a:t>T.val</a:t>
            </a:r>
            <a:r>
              <a:rPr lang="en-US" altLang="zh-CN" sz="2400" dirty="0">
                <a:solidFill>
                  <a:srgbClr val="0000CC"/>
                </a:solidFill>
                <a:latin typeface="Times New Roman" panose="02020603050405020304" charset="0"/>
              </a:rPr>
              <a:t>:=T</a:t>
            </a:r>
            <a:r>
              <a:rPr lang="en-US" altLang="zh-CN" sz="2400" baseline="-25000" dirty="0">
                <a:solidFill>
                  <a:srgbClr val="0000CC"/>
                </a:solidFill>
                <a:latin typeface="Times New Roman" panose="02020603050405020304" charset="0"/>
              </a:rPr>
              <a:t>1</a:t>
            </a:r>
            <a:r>
              <a:rPr lang="en-US" altLang="zh-CN" sz="2400" dirty="0">
                <a:solidFill>
                  <a:srgbClr val="0000CC"/>
                </a:solidFill>
                <a:latin typeface="Times New Roman" panose="02020603050405020304" charset="0"/>
              </a:rPr>
              <a:t>.val </a:t>
            </a:r>
            <a:r>
              <a:rPr lang="en-US" altLang="zh-CN" sz="2400" dirty="0">
                <a:solidFill>
                  <a:srgbClr val="0000CC"/>
                </a:solidFill>
                <a:latin typeface="Times New Roman" panose="02020603050405020304" charset="0"/>
                <a:sym typeface="Symbol" panose="05050102010706020507" pitchFamily="18" charset="2"/>
              </a:rPr>
              <a:t></a:t>
            </a:r>
            <a:r>
              <a:rPr lang="en-US" altLang="zh-CN" sz="2400" dirty="0">
                <a:solidFill>
                  <a:srgbClr val="0000CC"/>
                </a:solidFill>
                <a:latin typeface="Times New Roman" panose="02020603050405020304" charset="0"/>
              </a:rPr>
              <a:t> </a:t>
            </a:r>
            <a:r>
              <a:rPr lang="en-US" altLang="zh-CN" sz="2400" dirty="0" err="1">
                <a:solidFill>
                  <a:srgbClr val="0000CC"/>
                </a:solidFill>
                <a:latin typeface="Times New Roman" panose="02020603050405020304" charset="0"/>
              </a:rPr>
              <a:t>F.val</a:t>
            </a:r>
            <a:endParaRPr lang="en-US" altLang="zh-CN" sz="2400" dirty="0">
              <a:solidFill>
                <a:srgbClr val="0000CC"/>
              </a:solidFill>
              <a:latin typeface="Times New Roman" panose="02020603050405020304" charset="0"/>
            </a:endParaRPr>
          </a:p>
        </p:txBody>
      </p:sp>
      <p:sp>
        <p:nvSpPr>
          <p:cNvPr id="23589" name="矩形 23588"/>
          <p:cNvSpPr/>
          <p:nvPr/>
        </p:nvSpPr>
        <p:spPr>
          <a:xfrm>
            <a:off x="2498090" y="4831715"/>
            <a:ext cx="1804988" cy="457200"/>
          </a:xfrm>
          <a:prstGeom prst="rect">
            <a:avLst/>
          </a:prstGeom>
          <a:noFill/>
          <a:ln w="9525">
            <a:noFill/>
          </a:ln>
        </p:spPr>
        <p:txBody>
          <a:bodyPr wrap="none" anchor="ctr">
            <a:spAutoFit/>
          </a:bodyPr>
          <a:lstStyle/>
          <a:p>
            <a:pPr algn="ctr">
              <a:buClr>
                <a:schemeClr val="bg1"/>
              </a:buClr>
            </a:pPr>
            <a:r>
              <a:rPr lang="en-US" altLang="zh-CN" dirty="0">
                <a:solidFill>
                  <a:srgbClr val="0000CC"/>
                </a:solidFill>
                <a:latin typeface="Times New Roman" panose="02020603050405020304" charset="0"/>
              </a:rPr>
              <a:t>  </a:t>
            </a:r>
            <a:r>
              <a:rPr lang="en-US" altLang="zh-CN" sz="2400" dirty="0" err="1">
                <a:solidFill>
                  <a:srgbClr val="0000CC"/>
                </a:solidFill>
                <a:latin typeface="Times New Roman" panose="02020603050405020304" charset="0"/>
              </a:rPr>
              <a:t>T.val</a:t>
            </a:r>
            <a:r>
              <a:rPr lang="en-US" altLang="zh-CN" sz="2400" dirty="0">
                <a:solidFill>
                  <a:srgbClr val="0000CC"/>
                </a:solidFill>
                <a:latin typeface="Times New Roman" panose="02020603050405020304" charset="0"/>
              </a:rPr>
              <a:t>:=</a:t>
            </a:r>
            <a:r>
              <a:rPr lang="en-US" altLang="zh-CN" sz="2400" dirty="0" err="1">
                <a:solidFill>
                  <a:srgbClr val="0000CC"/>
                </a:solidFill>
                <a:latin typeface="Times New Roman" panose="02020603050405020304" charset="0"/>
              </a:rPr>
              <a:t>F.val</a:t>
            </a:r>
            <a:endParaRPr lang="en-US" altLang="zh-CN" sz="2400" dirty="0">
              <a:solidFill>
                <a:srgbClr val="0000CC"/>
              </a:solidFill>
              <a:latin typeface="Times New Roman" panose="02020603050405020304" charset="0"/>
            </a:endParaRPr>
          </a:p>
        </p:txBody>
      </p:sp>
      <p:sp>
        <p:nvSpPr>
          <p:cNvPr id="23590" name="矩形 23589"/>
          <p:cNvSpPr/>
          <p:nvPr/>
        </p:nvSpPr>
        <p:spPr>
          <a:xfrm>
            <a:off x="2631440" y="5238115"/>
            <a:ext cx="1690688"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err="1">
                <a:solidFill>
                  <a:srgbClr val="0000CC"/>
                </a:solidFill>
                <a:latin typeface="Times New Roman" panose="02020603050405020304" charset="0"/>
              </a:rPr>
              <a:t>F.val</a:t>
            </a:r>
            <a:r>
              <a:rPr lang="en-US" altLang="zh-CN" sz="2400" dirty="0">
                <a:solidFill>
                  <a:srgbClr val="0000CC"/>
                </a:solidFill>
                <a:latin typeface="Times New Roman" panose="02020603050405020304" charset="0"/>
              </a:rPr>
              <a:t>:=</a:t>
            </a:r>
            <a:r>
              <a:rPr lang="en-US" altLang="zh-CN" sz="2400" dirty="0" err="1">
                <a:solidFill>
                  <a:srgbClr val="0000CC"/>
                </a:solidFill>
                <a:latin typeface="Times New Roman" panose="02020603050405020304" charset="0"/>
              </a:rPr>
              <a:t>E.val</a:t>
            </a:r>
            <a:endParaRPr lang="en-US" altLang="zh-CN" sz="2400" dirty="0">
              <a:solidFill>
                <a:srgbClr val="0000CC"/>
              </a:solidFill>
              <a:latin typeface="Times New Roman" panose="02020603050405020304" charset="0"/>
            </a:endParaRPr>
          </a:p>
        </p:txBody>
      </p:sp>
      <p:sp>
        <p:nvSpPr>
          <p:cNvPr id="23591" name="矩形 23590"/>
          <p:cNvSpPr/>
          <p:nvPr/>
        </p:nvSpPr>
        <p:spPr>
          <a:xfrm>
            <a:off x="2653665" y="5631815"/>
            <a:ext cx="2433638" cy="457200"/>
          </a:xfrm>
          <a:prstGeom prst="rect">
            <a:avLst/>
          </a:prstGeom>
          <a:noFill/>
          <a:ln w="9525">
            <a:noFill/>
          </a:ln>
        </p:spPr>
        <p:txBody>
          <a:bodyPr wrap="none" anchor="ctr">
            <a:spAutoFit/>
          </a:bodyPr>
          <a:lstStyle/>
          <a:p>
            <a:pPr algn="ctr">
              <a:spcBef>
                <a:spcPct val="20000"/>
              </a:spcBef>
              <a:buClr>
                <a:schemeClr val="tx1"/>
              </a:buClr>
            </a:pPr>
            <a:r>
              <a:rPr lang="en-US" altLang="zh-CN" sz="2400" err="1">
                <a:solidFill>
                  <a:srgbClr val="0000CC"/>
                </a:solidFill>
                <a:latin typeface="Times New Roman" panose="02020603050405020304" charset="0"/>
              </a:rPr>
              <a:t>F.val:=digit.lexval</a:t>
            </a:r>
            <a:endParaRPr lang="en-US" altLang="zh-CN" sz="2400">
              <a:solidFill>
                <a:srgbClr val="0000CC"/>
              </a:solidFill>
              <a:latin typeface="Times New Roman" panose="02020603050405020304" charset="0"/>
            </a:endParaRPr>
          </a:p>
        </p:txBody>
      </p:sp>
      <p:sp>
        <p:nvSpPr>
          <p:cNvPr id="23592" name="矩形 23591"/>
          <p:cNvSpPr/>
          <p:nvPr/>
        </p:nvSpPr>
        <p:spPr>
          <a:xfrm>
            <a:off x="608965" y="2609215"/>
            <a:ext cx="1295400" cy="457200"/>
          </a:xfrm>
          <a:prstGeom prst="rect">
            <a:avLst/>
          </a:prstGeom>
          <a:noFill/>
          <a:ln w="9525">
            <a:noFill/>
          </a:ln>
        </p:spPr>
        <p:txBody>
          <a:bodyPr anchor="ctr">
            <a:spAutoFit/>
          </a:bodyPr>
          <a:lstStyle/>
          <a:p>
            <a:pPr algn="ctr">
              <a:spcBef>
                <a:spcPct val="20000"/>
              </a:spcBef>
              <a:buClr>
                <a:schemeClr val="tx1"/>
              </a:buClr>
            </a:pPr>
            <a:r>
              <a:rPr lang="zh-CN" altLang="en-US" sz="2400" b="1" dirty="0">
                <a:latin typeface="Times New Roman" panose="02020603050405020304" charset="0"/>
              </a:rPr>
              <a:t>产生式</a:t>
            </a:r>
            <a:endParaRPr lang="zh-CN" altLang="en-US" b="1" dirty="0">
              <a:latin typeface="Times New Roman" panose="02020603050405020304" charset="0"/>
            </a:endParaRPr>
          </a:p>
        </p:txBody>
      </p:sp>
      <p:sp>
        <p:nvSpPr>
          <p:cNvPr id="5" name="文本框 4"/>
          <p:cNvSpPr txBox="1"/>
          <p:nvPr/>
        </p:nvSpPr>
        <p:spPr>
          <a:xfrm>
            <a:off x="5444490" y="2264410"/>
            <a:ext cx="3681095" cy="4092575"/>
          </a:xfrm>
          <a:prstGeom prst="rect">
            <a:avLst/>
          </a:prstGeom>
          <a:solidFill>
            <a:schemeClr val="bg1"/>
          </a:solidFill>
          <a:ln w="28575" cmpd="sng">
            <a:solidFill>
              <a:srgbClr val="0206AD"/>
            </a:solidFill>
            <a:prstDash val="solid"/>
          </a:ln>
        </p:spPr>
        <p:txBody>
          <a:bodyPr wrap="square" rtlCol="0">
            <a:spAutoFit/>
          </a:bodyPr>
          <a:lstStyle/>
          <a:p>
            <a:pPr marL="285750" indent="-285750" algn="l">
              <a:buFont typeface="Wingdings" panose="05000000000000000000" charset="0"/>
              <a:buChar char="n"/>
            </a:pPr>
            <a:r>
              <a:rPr lang="zh-CN" altLang="en-US" sz="2000" b="1" dirty="0">
                <a:solidFill>
                  <a:srgbClr val="0066FF"/>
                </a:solidFill>
                <a:latin typeface="微软雅黑" panose="020B0503020204020204" pitchFamily="34" charset="-122"/>
                <a:ea typeface="微软雅黑" panose="020B0503020204020204" pitchFamily="34" charset="-122"/>
              </a:rPr>
              <a:t>非终结符</a:t>
            </a:r>
            <a:r>
              <a:rPr lang="zh-CN" altLang="en-US" sz="2000" b="1" dirty="0">
                <a:solidFill>
                  <a:srgbClr val="FF0000"/>
                </a:solidFill>
                <a:latin typeface="微软雅黑" panose="020B0503020204020204" pitchFamily="34" charset="-122"/>
                <a:ea typeface="微软雅黑" panose="020B0503020204020204" pitchFamily="34" charset="-122"/>
              </a:rPr>
              <a:t>E、T及F</a:t>
            </a:r>
            <a:r>
              <a:rPr lang="zh-CN" altLang="en-US" sz="2000" b="1" dirty="0">
                <a:solidFill>
                  <a:srgbClr val="0066FF"/>
                </a:solidFill>
                <a:latin typeface="微软雅黑" panose="020B0503020204020204" pitchFamily="34" charset="-122"/>
                <a:ea typeface="微软雅黑" panose="020B0503020204020204" pitchFamily="34" charset="-122"/>
              </a:rPr>
              <a:t>都有一个综合属性</a:t>
            </a:r>
            <a:r>
              <a:rPr lang="zh-CN" altLang="en-US" sz="2000" b="1" dirty="0">
                <a:solidFill>
                  <a:srgbClr val="FF0000"/>
                </a:solidFill>
                <a:latin typeface="微软雅黑" panose="020B0503020204020204" pitchFamily="34" charset="-122"/>
                <a:ea typeface="微软雅黑" panose="020B0503020204020204" pitchFamily="34" charset="-122"/>
              </a:rPr>
              <a:t>val</a:t>
            </a:r>
            <a:r>
              <a:rPr lang="zh-CN" altLang="en-US" sz="2000" b="1" dirty="0">
                <a:solidFill>
                  <a:srgbClr val="0066FF"/>
                </a:solidFill>
                <a:latin typeface="微软雅黑" panose="020B0503020204020204" pitchFamily="34" charset="-122"/>
                <a:ea typeface="微软雅黑" panose="020B0503020204020204" pitchFamily="34" charset="-122"/>
              </a:rPr>
              <a:t>，</a:t>
            </a:r>
          </a:p>
          <a:p>
            <a:pPr marL="285750" indent="-285750" algn="l">
              <a:buFont typeface="Wingdings" panose="05000000000000000000" charset="0"/>
              <a:buChar char="n"/>
            </a:pPr>
            <a:r>
              <a:rPr lang="zh-CN" altLang="en-US" sz="2000" b="1" dirty="0">
                <a:solidFill>
                  <a:srgbClr val="0066FF"/>
                </a:solidFill>
                <a:latin typeface="微软雅黑" panose="020B0503020204020204" pitchFamily="34" charset="-122"/>
                <a:ea typeface="微软雅黑" panose="020B0503020204020204" pitchFamily="34" charset="-122"/>
              </a:rPr>
              <a:t>符号</a:t>
            </a:r>
            <a:r>
              <a:rPr lang="zh-CN" altLang="en-US" sz="2000" b="1" dirty="0">
                <a:solidFill>
                  <a:srgbClr val="FF0000"/>
                </a:solidFill>
                <a:latin typeface="微软雅黑" panose="020B0503020204020204" pitchFamily="34" charset="-122"/>
                <a:ea typeface="微软雅黑" panose="020B0503020204020204" pitchFamily="34" charset="-122"/>
              </a:rPr>
              <a:t>digit</a:t>
            </a:r>
            <a:r>
              <a:rPr lang="zh-CN" altLang="en-US" sz="2000" b="1" dirty="0">
                <a:solidFill>
                  <a:srgbClr val="0066FF"/>
                </a:solidFill>
                <a:latin typeface="微软雅黑" panose="020B0503020204020204" pitchFamily="34" charset="-122"/>
                <a:ea typeface="微软雅黑" panose="020B0503020204020204" pitchFamily="34" charset="-122"/>
              </a:rPr>
              <a:t>有一个综合属性</a:t>
            </a:r>
            <a:r>
              <a:rPr lang="zh-CN" altLang="en-US" sz="2000" b="1" dirty="0">
                <a:solidFill>
                  <a:srgbClr val="FF0000"/>
                </a:solidFill>
                <a:latin typeface="微软雅黑" panose="020B0503020204020204" pitchFamily="34" charset="-122"/>
                <a:ea typeface="微软雅黑" panose="020B0503020204020204" pitchFamily="34" charset="-122"/>
              </a:rPr>
              <a:t>lexval</a:t>
            </a:r>
            <a:r>
              <a:rPr lang="zh-CN" altLang="en-US" sz="2000" b="1" dirty="0">
                <a:solidFill>
                  <a:srgbClr val="0066FF"/>
                </a:solidFill>
                <a:latin typeface="微软雅黑" panose="020B0503020204020204" pitchFamily="34" charset="-122"/>
                <a:ea typeface="微软雅黑" panose="020B0503020204020204" pitchFamily="34" charset="-122"/>
              </a:rPr>
              <a:t>，它的值由词法分析器提供。</a:t>
            </a:r>
          </a:p>
          <a:p>
            <a:pPr marL="285750" indent="-285750" algn="l">
              <a:buFont typeface="Wingdings" panose="05000000000000000000" charset="0"/>
              <a:buChar char="n"/>
            </a:pPr>
            <a:r>
              <a:rPr lang="zh-CN" altLang="en-US" sz="2000" b="1" dirty="0">
                <a:solidFill>
                  <a:srgbClr val="0066FF"/>
                </a:solidFill>
                <a:latin typeface="微软雅黑" panose="020B0503020204020204" pitchFamily="34" charset="-122"/>
                <a:ea typeface="微软雅黑" panose="020B0503020204020204" pitchFamily="34" charset="-122"/>
              </a:rPr>
              <a:t>与产生式</a:t>
            </a:r>
            <a:r>
              <a:rPr lang="zh-CN" altLang="en-US" sz="2000" b="1" dirty="0">
                <a:solidFill>
                  <a:srgbClr val="FF0000"/>
                </a:solidFill>
                <a:latin typeface="微软雅黑" panose="020B0503020204020204" pitchFamily="34" charset="-122"/>
                <a:ea typeface="微软雅黑" panose="020B0503020204020204" pitchFamily="34" charset="-122"/>
              </a:rPr>
              <a:t>L→E</a:t>
            </a:r>
            <a:r>
              <a:rPr lang="zh-CN" altLang="en-US" sz="2000" b="1" dirty="0">
                <a:solidFill>
                  <a:srgbClr val="0066FF"/>
                </a:solidFill>
                <a:latin typeface="微软雅黑" panose="020B0503020204020204" pitchFamily="34" charset="-122"/>
                <a:ea typeface="微软雅黑" panose="020B0503020204020204" pitchFamily="34" charset="-122"/>
              </a:rPr>
              <a:t>对应的语义规则仅仅是打印由E产生的算术表达式的值的一个过程，我们可认为这条规则定义了L的一个</a:t>
            </a:r>
            <a:r>
              <a:rPr lang="zh-CN" altLang="en-US" sz="2000" b="1" dirty="0">
                <a:solidFill>
                  <a:srgbClr val="FF0000"/>
                </a:solidFill>
                <a:latin typeface="微软雅黑" panose="020B0503020204020204" pitchFamily="34" charset="-122"/>
                <a:ea typeface="微软雅黑" panose="020B0503020204020204" pitchFamily="34" charset="-122"/>
              </a:rPr>
              <a:t>虚属性</a:t>
            </a:r>
            <a:r>
              <a:rPr lang="zh-CN" altLang="en-US" sz="2000" b="1" dirty="0">
                <a:solidFill>
                  <a:srgbClr val="0066FF"/>
                </a:solidFill>
                <a:latin typeface="微软雅黑" panose="020B0503020204020204" pitchFamily="34" charset="-122"/>
                <a:ea typeface="微软雅黑" panose="020B0503020204020204" pitchFamily="34" charset="-122"/>
              </a:rPr>
              <a:t>。</a:t>
            </a:r>
          </a:p>
          <a:p>
            <a:pPr marL="285750" indent="-285750" algn="l">
              <a:buFont typeface="Wingdings" panose="05000000000000000000" charset="0"/>
              <a:buChar char="n"/>
            </a:pPr>
            <a:r>
              <a:rPr lang="zh-CN" altLang="en-US" sz="2000" b="1" dirty="0">
                <a:solidFill>
                  <a:srgbClr val="FF0000"/>
                </a:solidFill>
                <a:latin typeface="微软雅黑" panose="020B0503020204020204" pitchFamily="34" charset="-122"/>
                <a:ea typeface="微软雅黑" panose="020B0503020204020204" pitchFamily="34" charset="-122"/>
              </a:rPr>
              <a:t>某些非终结符加下标</a:t>
            </a:r>
            <a:r>
              <a:rPr lang="zh-CN" altLang="en-US" sz="2000" b="1" dirty="0">
                <a:solidFill>
                  <a:srgbClr val="0066FF"/>
                </a:solidFill>
                <a:latin typeface="微软雅黑" panose="020B0503020204020204" pitchFamily="34" charset="-122"/>
                <a:ea typeface="微软雅黑" panose="020B0503020204020204" pitchFamily="34" charset="-122"/>
              </a:rPr>
              <a:t>是为了区分一个产生式中同一非终结符多次出现</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句子3*（5+4）的带注释的语法树</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综合属性</a:t>
            </a:r>
            <a:endParaRPr lang="zh-CN" altLang="en-US"/>
          </a:p>
        </p:txBody>
      </p:sp>
      <p:sp>
        <p:nvSpPr>
          <p:cNvPr id="33" name="Rectangle 14"/>
          <p:cNvSpPr>
            <a:spLocks noChangeArrowheads="1"/>
          </p:cNvSpPr>
          <p:nvPr/>
        </p:nvSpPr>
        <p:spPr bwMode="auto">
          <a:xfrm>
            <a:off x="6765131" y="4494212"/>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T</a:t>
            </a:r>
          </a:p>
        </p:txBody>
      </p:sp>
      <p:sp>
        <p:nvSpPr>
          <p:cNvPr id="34" name="Rectangle 15"/>
          <p:cNvSpPr>
            <a:spLocks noChangeArrowheads="1"/>
          </p:cNvSpPr>
          <p:nvPr/>
        </p:nvSpPr>
        <p:spPr bwMode="auto">
          <a:xfrm>
            <a:off x="5612606" y="4494212"/>
            <a:ext cx="354013"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E</a:t>
            </a:r>
          </a:p>
        </p:txBody>
      </p:sp>
      <p:sp>
        <p:nvSpPr>
          <p:cNvPr id="35" name="Rectangle 17"/>
          <p:cNvSpPr>
            <a:spLocks noChangeArrowheads="1"/>
          </p:cNvSpPr>
          <p:nvPr/>
        </p:nvSpPr>
        <p:spPr bwMode="auto">
          <a:xfrm>
            <a:off x="4950619" y="3378200"/>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T</a:t>
            </a:r>
          </a:p>
        </p:txBody>
      </p:sp>
      <p:sp>
        <p:nvSpPr>
          <p:cNvPr id="36" name="Rectangle 18"/>
          <p:cNvSpPr>
            <a:spLocks noChangeArrowheads="1"/>
          </p:cNvSpPr>
          <p:nvPr/>
        </p:nvSpPr>
        <p:spPr bwMode="auto">
          <a:xfrm>
            <a:off x="6225381" y="3954462"/>
            <a:ext cx="354013"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E</a:t>
            </a:r>
          </a:p>
        </p:txBody>
      </p:sp>
      <p:sp>
        <p:nvSpPr>
          <p:cNvPr id="37" name="Rectangle 20"/>
          <p:cNvSpPr>
            <a:spLocks noChangeArrowheads="1"/>
          </p:cNvSpPr>
          <p:nvPr/>
        </p:nvSpPr>
        <p:spPr bwMode="auto">
          <a:xfrm>
            <a:off x="6225381" y="3414712"/>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F</a:t>
            </a:r>
          </a:p>
        </p:txBody>
      </p:sp>
      <p:sp>
        <p:nvSpPr>
          <p:cNvPr id="38" name="Rectangle 21"/>
          <p:cNvSpPr>
            <a:spLocks noChangeArrowheads="1"/>
          </p:cNvSpPr>
          <p:nvPr/>
        </p:nvSpPr>
        <p:spPr bwMode="auto">
          <a:xfrm>
            <a:off x="5599906" y="2874962"/>
            <a:ext cx="312738" cy="396875"/>
          </a:xfrm>
          <a:prstGeom prst="rect">
            <a:avLst/>
          </a:prstGeom>
          <a:noFill/>
          <a:ln w="9525">
            <a:noFill/>
            <a:miter lim="800000"/>
            <a:headEnd/>
            <a:tailEnd/>
          </a:ln>
        </p:spPr>
        <p:txBody>
          <a:bodyPr>
            <a:spAutoFit/>
          </a:bodyPr>
          <a:lstStyle/>
          <a:p>
            <a:pPr algn="l">
              <a:buClrTx/>
              <a:buFontTx/>
              <a:buNone/>
            </a:pPr>
            <a:r>
              <a:rPr lang="en-US" altLang="zh-CN" sz="2000" b="1">
                <a:solidFill>
                  <a:srgbClr val="333399"/>
                </a:solidFill>
                <a:ea typeface="华文行楷" pitchFamily="2" charset="-122"/>
              </a:rPr>
              <a:t>T</a:t>
            </a:r>
          </a:p>
        </p:txBody>
      </p:sp>
      <p:sp>
        <p:nvSpPr>
          <p:cNvPr id="39" name="Rectangle 23"/>
          <p:cNvSpPr>
            <a:spLocks noChangeArrowheads="1"/>
          </p:cNvSpPr>
          <p:nvPr/>
        </p:nvSpPr>
        <p:spPr bwMode="auto">
          <a:xfrm>
            <a:off x="7628731" y="5537200"/>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d</a:t>
            </a:r>
          </a:p>
        </p:txBody>
      </p:sp>
      <p:sp>
        <p:nvSpPr>
          <p:cNvPr id="40" name="Line 24"/>
          <p:cNvSpPr>
            <a:spLocks noChangeShapeType="1"/>
          </p:cNvSpPr>
          <p:nvPr/>
        </p:nvSpPr>
        <p:spPr bwMode="auto">
          <a:xfrm flipH="1" flipV="1">
            <a:off x="7587456" y="5286375"/>
            <a:ext cx="185738" cy="360362"/>
          </a:xfrm>
          <a:prstGeom prst="line">
            <a:avLst/>
          </a:prstGeom>
          <a:noFill/>
          <a:ln w="9525">
            <a:solidFill>
              <a:srgbClr val="000080"/>
            </a:solidFill>
            <a:round/>
            <a:headEnd/>
            <a:tailEnd/>
          </a:ln>
        </p:spPr>
        <p:txBody>
          <a:bodyPr>
            <a:spAutoFit/>
          </a:bodyPr>
          <a:lstStyle/>
          <a:p>
            <a:endParaRPr lang="zh-CN" altLang="en-US"/>
          </a:p>
        </p:txBody>
      </p:sp>
      <p:sp>
        <p:nvSpPr>
          <p:cNvPr id="41" name="Rectangle 26"/>
          <p:cNvSpPr>
            <a:spLocks noChangeArrowheads="1"/>
          </p:cNvSpPr>
          <p:nvPr/>
        </p:nvSpPr>
        <p:spPr bwMode="auto">
          <a:xfrm>
            <a:off x="6192044" y="4457700"/>
            <a:ext cx="355600" cy="396875"/>
          </a:xfrm>
          <a:prstGeom prst="rect">
            <a:avLst/>
          </a:prstGeom>
          <a:noFill/>
          <a:ln w="9525">
            <a:noFill/>
            <a:miter lim="800000"/>
            <a:headEnd/>
            <a:tailEnd/>
          </a:ln>
        </p:spPr>
        <p:txBody>
          <a:bodyPr>
            <a:spAutoFit/>
          </a:bodyPr>
          <a:lstStyle/>
          <a:p>
            <a:pPr algn="l">
              <a:buClrTx/>
              <a:buFontTx/>
              <a:buNone/>
            </a:pPr>
            <a:r>
              <a:rPr lang="zh-CN" altLang="en-US" sz="2000" b="1" i="0">
                <a:solidFill>
                  <a:srgbClr val="333399"/>
                </a:solidFill>
                <a:ea typeface="华文行楷" pitchFamily="2" charset="-122"/>
                <a:sym typeface="Symbol" pitchFamily="18" charset="2"/>
              </a:rPr>
              <a:t>＋</a:t>
            </a:r>
          </a:p>
        </p:txBody>
      </p:sp>
      <p:sp>
        <p:nvSpPr>
          <p:cNvPr id="42" name="Rectangle 32"/>
          <p:cNvSpPr>
            <a:spLocks noChangeArrowheads="1"/>
          </p:cNvSpPr>
          <p:nvPr/>
        </p:nvSpPr>
        <p:spPr bwMode="auto">
          <a:xfrm>
            <a:off x="5722144" y="3919537"/>
            <a:ext cx="268287"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a:t>
            </a:r>
          </a:p>
        </p:txBody>
      </p:sp>
      <p:sp>
        <p:nvSpPr>
          <p:cNvPr id="43" name="Rectangle 33"/>
          <p:cNvSpPr>
            <a:spLocks noChangeArrowheads="1"/>
          </p:cNvSpPr>
          <p:nvPr/>
        </p:nvSpPr>
        <p:spPr bwMode="auto">
          <a:xfrm>
            <a:off x="6822281" y="3919537"/>
            <a:ext cx="268288"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a:t>
            </a:r>
          </a:p>
        </p:txBody>
      </p:sp>
      <p:sp>
        <p:nvSpPr>
          <p:cNvPr id="44" name="Rectangle 38"/>
          <p:cNvSpPr>
            <a:spLocks noChangeArrowheads="1"/>
          </p:cNvSpPr>
          <p:nvPr/>
        </p:nvSpPr>
        <p:spPr bwMode="auto">
          <a:xfrm>
            <a:off x="5626894" y="3343275"/>
            <a:ext cx="311150" cy="396875"/>
          </a:xfrm>
          <a:prstGeom prst="rect">
            <a:avLst/>
          </a:prstGeom>
          <a:noFill/>
          <a:ln w="9525">
            <a:noFill/>
            <a:miter lim="800000"/>
            <a:headEnd/>
            <a:tailEnd/>
          </a:ln>
        </p:spPr>
        <p:txBody>
          <a:bodyPr wrap="none">
            <a:spAutoFit/>
          </a:bodyPr>
          <a:lstStyle/>
          <a:p>
            <a:pPr algn="l">
              <a:buClrTx/>
              <a:buFontTx/>
              <a:buNone/>
            </a:pPr>
            <a:r>
              <a:rPr lang="en-US" altLang="zh-CN" sz="2000" b="1" i="0">
                <a:solidFill>
                  <a:srgbClr val="333399"/>
                </a:solidFill>
                <a:ea typeface="华文行楷" pitchFamily="2" charset="-122"/>
                <a:sym typeface="Symbol" pitchFamily="18" charset="2"/>
              </a:rPr>
              <a:t></a:t>
            </a:r>
          </a:p>
        </p:txBody>
      </p:sp>
      <p:sp>
        <p:nvSpPr>
          <p:cNvPr id="45" name="Rectangle 41"/>
          <p:cNvSpPr>
            <a:spLocks noChangeArrowheads="1"/>
          </p:cNvSpPr>
          <p:nvPr/>
        </p:nvSpPr>
        <p:spPr bwMode="auto">
          <a:xfrm>
            <a:off x="3956844" y="4494212"/>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d</a:t>
            </a:r>
          </a:p>
        </p:txBody>
      </p:sp>
      <p:sp>
        <p:nvSpPr>
          <p:cNvPr id="46" name="Line 42"/>
          <p:cNvSpPr>
            <a:spLocks noChangeShapeType="1"/>
          </p:cNvSpPr>
          <p:nvPr/>
        </p:nvSpPr>
        <p:spPr bwMode="auto">
          <a:xfrm flipV="1">
            <a:off x="4244181" y="4241800"/>
            <a:ext cx="261938" cy="323850"/>
          </a:xfrm>
          <a:prstGeom prst="line">
            <a:avLst/>
          </a:prstGeom>
          <a:noFill/>
          <a:ln w="9525">
            <a:solidFill>
              <a:srgbClr val="000080"/>
            </a:solidFill>
            <a:round/>
            <a:headEnd/>
            <a:tailEnd/>
          </a:ln>
        </p:spPr>
        <p:txBody>
          <a:bodyPr>
            <a:spAutoFit/>
          </a:bodyPr>
          <a:lstStyle/>
          <a:p>
            <a:endParaRPr lang="zh-CN" altLang="en-US"/>
          </a:p>
        </p:txBody>
      </p:sp>
      <p:sp>
        <p:nvSpPr>
          <p:cNvPr id="47" name="Line 44"/>
          <p:cNvSpPr>
            <a:spLocks noChangeShapeType="1"/>
          </p:cNvSpPr>
          <p:nvPr/>
        </p:nvSpPr>
        <p:spPr bwMode="auto">
          <a:xfrm flipH="1" flipV="1">
            <a:off x="5912644" y="3127375"/>
            <a:ext cx="357187" cy="360362"/>
          </a:xfrm>
          <a:prstGeom prst="line">
            <a:avLst/>
          </a:prstGeom>
          <a:noFill/>
          <a:ln w="9525">
            <a:solidFill>
              <a:srgbClr val="000080"/>
            </a:solidFill>
            <a:round/>
            <a:headEnd/>
            <a:tailEnd/>
          </a:ln>
        </p:spPr>
        <p:txBody>
          <a:bodyPr>
            <a:spAutoFit/>
          </a:bodyPr>
          <a:lstStyle/>
          <a:p>
            <a:endParaRPr lang="zh-CN" altLang="en-US"/>
          </a:p>
        </p:txBody>
      </p:sp>
      <p:sp>
        <p:nvSpPr>
          <p:cNvPr id="48" name="Line 45"/>
          <p:cNvSpPr>
            <a:spLocks noChangeShapeType="1"/>
          </p:cNvSpPr>
          <p:nvPr/>
        </p:nvSpPr>
        <p:spPr bwMode="auto">
          <a:xfrm flipH="1" flipV="1">
            <a:off x="5760244" y="3198812"/>
            <a:ext cx="0" cy="252413"/>
          </a:xfrm>
          <a:prstGeom prst="line">
            <a:avLst/>
          </a:prstGeom>
          <a:noFill/>
          <a:ln w="9525">
            <a:solidFill>
              <a:srgbClr val="000080"/>
            </a:solidFill>
            <a:round/>
            <a:headEnd/>
            <a:tailEnd/>
          </a:ln>
        </p:spPr>
        <p:txBody>
          <a:bodyPr>
            <a:spAutoFit/>
          </a:bodyPr>
          <a:lstStyle/>
          <a:p>
            <a:endParaRPr lang="zh-CN" altLang="en-US"/>
          </a:p>
        </p:txBody>
      </p:sp>
      <p:sp>
        <p:nvSpPr>
          <p:cNvPr id="49" name="Line 46"/>
          <p:cNvSpPr>
            <a:spLocks noChangeShapeType="1"/>
          </p:cNvSpPr>
          <p:nvPr/>
        </p:nvSpPr>
        <p:spPr bwMode="auto">
          <a:xfrm flipV="1">
            <a:off x="5290344" y="3127375"/>
            <a:ext cx="393700" cy="350837"/>
          </a:xfrm>
          <a:prstGeom prst="line">
            <a:avLst/>
          </a:prstGeom>
          <a:noFill/>
          <a:ln w="9525">
            <a:solidFill>
              <a:srgbClr val="000080"/>
            </a:solidFill>
            <a:round/>
            <a:headEnd/>
            <a:tailEnd/>
          </a:ln>
        </p:spPr>
        <p:txBody>
          <a:bodyPr>
            <a:spAutoFit/>
          </a:bodyPr>
          <a:lstStyle/>
          <a:p>
            <a:endParaRPr lang="zh-CN" altLang="en-US"/>
          </a:p>
        </p:txBody>
      </p:sp>
      <p:sp>
        <p:nvSpPr>
          <p:cNvPr id="50" name="Rectangle 51"/>
          <p:cNvSpPr>
            <a:spLocks noChangeArrowheads="1"/>
          </p:cNvSpPr>
          <p:nvPr/>
        </p:nvSpPr>
        <p:spPr bwMode="auto">
          <a:xfrm>
            <a:off x="5577681" y="1830387"/>
            <a:ext cx="282575" cy="396875"/>
          </a:xfrm>
          <a:prstGeom prst="rect">
            <a:avLst/>
          </a:prstGeom>
          <a:noFill/>
          <a:ln w="9525">
            <a:noFill/>
            <a:miter lim="800000"/>
            <a:headEnd/>
            <a:tailEnd/>
          </a:ln>
        </p:spPr>
        <p:txBody>
          <a:bodyPr>
            <a:spAutoFit/>
          </a:bodyPr>
          <a:lstStyle/>
          <a:p>
            <a:pPr algn="l">
              <a:buClrTx/>
              <a:buFontTx/>
              <a:buNone/>
            </a:pPr>
            <a:r>
              <a:rPr lang="en-US" altLang="zh-CN" sz="2000" b="1" dirty="0">
                <a:solidFill>
                  <a:srgbClr val="333399"/>
                </a:solidFill>
                <a:ea typeface="华文行楷" pitchFamily="2" charset="-122"/>
              </a:rPr>
              <a:t>L</a:t>
            </a:r>
          </a:p>
        </p:txBody>
      </p:sp>
      <p:sp>
        <p:nvSpPr>
          <p:cNvPr id="51" name="Line 52"/>
          <p:cNvSpPr>
            <a:spLocks noChangeShapeType="1"/>
          </p:cNvSpPr>
          <p:nvPr/>
        </p:nvSpPr>
        <p:spPr bwMode="auto">
          <a:xfrm flipH="1" flipV="1">
            <a:off x="5769769" y="2695575"/>
            <a:ext cx="0" cy="214312"/>
          </a:xfrm>
          <a:prstGeom prst="line">
            <a:avLst/>
          </a:prstGeom>
          <a:noFill/>
          <a:ln w="9525">
            <a:solidFill>
              <a:srgbClr val="000080"/>
            </a:solidFill>
            <a:round/>
            <a:headEnd/>
            <a:tailEnd/>
          </a:ln>
        </p:spPr>
        <p:txBody>
          <a:bodyPr>
            <a:spAutoFit/>
          </a:bodyPr>
          <a:lstStyle/>
          <a:p>
            <a:endParaRPr lang="zh-CN" altLang="en-US"/>
          </a:p>
        </p:txBody>
      </p:sp>
      <p:sp>
        <p:nvSpPr>
          <p:cNvPr id="52" name="Rectangle 53"/>
          <p:cNvSpPr>
            <a:spLocks noChangeArrowheads="1"/>
          </p:cNvSpPr>
          <p:nvPr/>
        </p:nvSpPr>
        <p:spPr bwMode="auto">
          <a:xfrm>
            <a:off x="5577681" y="2370137"/>
            <a:ext cx="312738" cy="396875"/>
          </a:xfrm>
          <a:prstGeom prst="rect">
            <a:avLst/>
          </a:prstGeom>
          <a:noFill/>
          <a:ln w="9525">
            <a:noFill/>
            <a:miter lim="800000"/>
            <a:headEnd/>
            <a:tailEnd/>
          </a:ln>
        </p:spPr>
        <p:txBody>
          <a:bodyPr>
            <a:spAutoFit/>
          </a:bodyPr>
          <a:lstStyle/>
          <a:p>
            <a:pPr algn="l">
              <a:buClrTx/>
              <a:buFontTx/>
              <a:buNone/>
            </a:pPr>
            <a:r>
              <a:rPr lang="en-US" altLang="zh-CN" sz="2000" b="1">
                <a:solidFill>
                  <a:srgbClr val="333399"/>
                </a:solidFill>
                <a:ea typeface="华文行楷" pitchFamily="2" charset="-122"/>
              </a:rPr>
              <a:t>E</a:t>
            </a:r>
          </a:p>
        </p:txBody>
      </p:sp>
      <p:sp>
        <p:nvSpPr>
          <p:cNvPr id="53" name="Line 54"/>
          <p:cNvSpPr>
            <a:spLocks noChangeShapeType="1"/>
          </p:cNvSpPr>
          <p:nvPr/>
        </p:nvSpPr>
        <p:spPr bwMode="auto">
          <a:xfrm flipH="1" flipV="1">
            <a:off x="5747544" y="2190750"/>
            <a:ext cx="0" cy="214312"/>
          </a:xfrm>
          <a:prstGeom prst="line">
            <a:avLst/>
          </a:prstGeom>
          <a:noFill/>
          <a:ln w="9525">
            <a:solidFill>
              <a:srgbClr val="000080"/>
            </a:solidFill>
            <a:round/>
            <a:headEnd/>
            <a:tailEnd/>
          </a:ln>
        </p:spPr>
        <p:txBody>
          <a:bodyPr>
            <a:spAutoFit/>
          </a:bodyPr>
          <a:lstStyle/>
          <a:p>
            <a:endParaRPr lang="zh-CN" altLang="en-US"/>
          </a:p>
        </p:txBody>
      </p:sp>
      <p:sp>
        <p:nvSpPr>
          <p:cNvPr id="54" name="Line 55"/>
          <p:cNvSpPr>
            <a:spLocks noChangeShapeType="1"/>
          </p:cNvSpPr>
          <p:nvPr/>
        </p:nvSpPr>
        <p:spPr bwMode="auto">
          <a:xfrm flipV="1">
            <a:off x="4641056" y="3640137"/>
            <a:ext cx="393700" cy="350838"/>
          </a:xfrm>
          <a:prstGeom prst="line">
            <a:avLst/>
          </a:prstGeom>
          <a:noFill/>
          <a:ln w="9525">
            <a:solidFill>
              <a:srgbClr val="000080"/>
            </a:solidFill>
            <a:round/>
            <a:headEnd/>
            <a:tailEnd/>
          </a:ln>
        </p:spPr>
        <p:txBody>
          <a:bodyPr>
            <a:spAutoFit/>
          </a:bodyPr>
          <a:lstStyle/>
          <a:p>
            <a:endParaRPr lang="zh-CN" altLang="en-US"/>
          </a:p>
        </p:txBody>
      </p:sp>
      <p:sp>
        <p:nvSpPr>
          <p:cNvPr id="55" name="Rectangle 56"/>
          <p:cNvSpPr>
            <a:spLocks noChangeArrowheads="1"/>
          </p:cNvSpPr>
          <p:nvPr/>
        </p:nvSpPr>
        <p:spPr bwMode="auto">
          <a:xfrm>
            <a:off x="4374356" y="3919537"/>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F</a:t>
            </a:r>
          </a:p>
        </p:txBody>
      </p:sp>
      <p:sp>
        <p:nvSpPr>
          <p:cNvPr id="56" name="Line 57"/>
          <p:cNvSpPr>
            <a:spLocks noChangeShapeType="1"/>
          </p:cNvSpPr>
          <p:nvPr/>
        </p:nvSpPr>
        <p:spPr bwMode="auto">
          <a:xfrm flipV="1">
            <a:off x="5938044" y="3630612"/>
            <a:ext cx="393700" cy="350838"/>
          </a:xfrm>
          <a:prstGeom prst="line">
            <a:avLst/>
          </a:prstGeom>
          <a:noFill/>
          <a:ln w="9525">
            <a:solidFill>
              <a:srgbClr val="000080"/>
            </a:solidFill>
            <a:round/>
            <a:headEnd/>
            <a:tailEnd/>
          </a:ln>
        </p:spPr>
        <p:txBody>
          <a:bodyPr>
            <a:spAutoFit/>
          </a:bodyPr>
          <a:lstStyle/>
          <a:p>
            <a:endParaRPr lang="zh-CN" altLang="en-US"/>
          </a:p>
        </p:txBody>
      </p:sp>
      <p:sp>
        <p:nvSpPr>
          <p:cNvPr id="57" name="Line 58"/>
          <p:cNvSpPr>
            <a:spLocks noChangeShapeType="1"/>
          </p:cNvSpPr>
          <p:nvPr/>
        </p:nvSpPr>
        <p:spPr bwMode="auto">
          <a:xfrm flipH="1" flipV="1">
            <a:off x="6514306" y="3630612"/>
            <a:ext cx="357188" cy="360363"/>
          </a:xfrm>
          <a:prstGeom prst="line">
            <a:avLst/>
          </a:prstGeom>
          <a:noFill/>
          <a:ln w="9525">
            <a:solidFill>
              <a:srgbClr val="000080"/>
            </a:solidFill>
            <a:round/>
            <a:headEnd/>
            <a:tailEnd/>
          </a:ln>
        </p:spPr>
        <p:txBody>
          <a:bodyPr>
            <a:spAutoFit/>
          </a:bodyPr>
          <a:lstStyle/>
          <a:p>
            <a:endParaRPr lang="zh-CN" altLang="en-US"/>
          </a:p>
        </p:txBody>
      </p:sp>
      <p:sp>
        <p:nvSpPr>
          <p:cNvPr id="58" name="Line 59"/>
          <p:cNvSpPr>
            <a:spLocks noChangeShapeType="1"/>
          </p:cNvSpPr>
          <p:nvPr/>
        </p:nvSpPr>
        <p:spPr bwMode="auto">
          <a:xfrm flipH="1" flipV="1">
            <a:off x="6441281" y="3738562"/>
            <a:ext cx="0" cy="252413"/>
          </a:xfrm>
          <a:prstGeom prst="line">
            <a:avLst/>
          </a:prstGeom>
          <a:noFill/>
          <a:ln w="9525">
            <a:solidFill>
              <a:srgbClr val="000080"/>
            </a:solidFill>
            <a:round/>
            <a:headEnd/>
            <a:tailEnd/>
          </a:ln>
        </p:spPr>
        <p:txBody>
          <a:bodyPr>
            <a:spAutoFit/>
          </a:bodyPr>
          <a:lstStyle/>
          <a:p>
            <a:endParaRPr lang="zh-CN" altLang="en-US"/>
          </a:p>
        </p:txBody>
      </p:sp>
      <p:sp>
        <p:nvSpPr>
          <p:cNvPr id="59" name="Line 60"/>
          <p:cNvSpPr>
            <a:spLocks noChangeShapeType="1"/>
          </p:cNvSpPr>
          <p:nvPr/>
        </p:nvSpPr>
        <p:spPr bwMode="auto">
          <a:xfrm flipV="1">
            <a:off x="5904706" y="4216400"/>
            <a:ext cx="393700" cy="350837"/>
          </a:xfrm>
          <a:prstGeom prst="line">
            <a:avLst/>
          </a:prstGeom>
          <a:noFill/>
          <a:ln w="9525">
            <a:solidFill>
              <a:srgbClr val="000080"/>
            </a:solidFill>
            <a:round/>
            <a:headEnd/>
            <a:tailEnd/>
          </a:ln>
        </p:spPr>
        <p:txBody>
          <a:bodyPr>
            <a:spAutoFit/>
          </a:bodyPr>
          <a:lstStyle/>
          <a:p>
            <a:endParaRPr lang="zh-CN" altLang="en-US"/>
          </a:p>
        </p:txBody>
      </p:sp>
      <p:sp>
        <p:nvSpPr>
          <p:cNvPr id="60" name="Line 61"/>
          <p:cNvSpPr>
            <a:spLocks noChangeShapeType="1"/>
          </p:cNvSpPr>
          <p:nvPr/>
        </p:nvSpPr>
        <p:spPr bwMode="auto">
          <a:xfrm flipH="1" flipV="1">
            <a:off x="6441281" y="4279900"/>
            <a:ext cx="0" cy="252412"/>
          </a:xfrm>
          <a:prstGeom prst="line">
            <a:avLst/>
          </a:prstGeom>
          <a:noFill/>
          <a:ln w="9525">
            <a:solidFill>
              <a:srgbClr val="000080"/>
            </a:solidFill>
            <a:round/>
            <a:headEnd/>
            <a:tailEnd/>
          </a:ln>
        </p:spPr>
        <p:txBody>
          <a:bodyPr>
            <a:spAutoFit/>
          </a:bodyPr>
          <a:lstStyle/>
          <a:p>
            <a:endParaRPr lang="zh-CN" altLang="en-US"/>
          </a:p>
        </p:txBody>
      </p:sp>
      <p:sp>
        <p:nvSpPr>
          <p:cNvPr id="61" name="Line 62"/>
          <p:cNvSpPr>
            <a:spLocks noChangeShapeType="1"/>
          </p:cNvSpPr>
          <p:nvPr/>
        </p:nvSpPr>
        <p:spPr bwMode="auto">
          <a:xfrm flipH="1" flipV="1">
            <a:off x="6514306" y="4206875"/>
            <a:ext cx="357188" cy="360362"/>
          </a:xfrm>
          <a:prstGeom prst="line">
            <a:avLst/>
          </a:prstGeom>
          <a:noFill/>
          <a:ln w="9525">
            <a:solidFill>
              <a:srgbClr val="000080"/>
            </a:solidFill>
            <a:round/>
            <a:headEnd/>
            <a:tailEnd/>
          </a:ln>
        </p:spPr>
        <p:txBody>
          <a:bodyPr>
            <a:spAutoFit/>
          </a:bodyPr>
          <a:lstStyle/>
          <a:p>
            <a:endParaRPr lang="zh-CN" altLang="en-US"/>
          </a:p>
        </p:txBody>
      </p:sp>
      <p:sp>
        <p:nvSpPr>
          <p:cNvPr id="62" name="Rectangle 63"/>
          <p:cNvSpPr>
            <a:spLocks noChangeArrowheads="1"/>
          </p:cNvSpPr>
          <p:nvPr/>
        </p:nvSpPr>
        <p:spPr bwMode="auto">
          <a:xfrm>
            <a:off x="7339806" y="4997450"/>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F</a:t>
            </a:r>
          </a:p>
        </p:txBody>
      </p:sp>
      <p:sp>
        <p:nvSpPr>
          <p:cNvPr id="63" name="Line 64"/>
          <p:cNvSpPr>
            <a:spLocks noChangeShapeType="1"/>
          </p:cNvSpPr>
          <p:nvPr/>
        </p:nvSpPr>
        <p:spPr bwMode="auto">
          <a:xfrm flipH="1" flipV="1">
            <a:off x="7027069" y="4710112"/>
            <a:ext cx="357187" cy="360363"/>
          </a:xfrm>
          <a:prstGeom prst="line">
            <a:avLst/>
          </a:prstGeom>
          <a:noFill/>
          <a:ln w="9525">
            <a:solidFill>
              <a:srgbClr val="000080"/>
            </a:solidFill>
            <a:round/>
            <a:headEnd/>
            <a:tailEnd/>
          </a:ln>
        </p:spPr>
        <p:txBody>
          <a:bodyPr>
            <a:spAutoFit/>
          </a:bodyPr>
          <a:lstStyle/>
          <a:p>
            <a:endParaRPr lang="zh-CN" altLang="en-US"/>
          </a:p>
        </p:txBody>
      </p:sp>
      <p:sp>
        <p:nvSpPr>
          <p:cNvPr id="64" name="Rectangle 65"/>
          <p:cNvSpPr>
            <a:spLocks noChangeArrowheads="1"/>
          </p:cNvSpPr>
          <p:nvPr/>
        </p:nvSpPr>
        <p:spPr bwMode="auto">
          <a:xfrm>
            <a:off x="4950619" y="5032375"/>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T</a:t>
            </a:r>
          </a:p>
        </p:txBody>
      </p:sp>
      <p:sp>
        <p:nvSpPr>
          <p:cNvPr id="65" name="Rectangle 66"/>
          <p:cNvSpPr>
            <a:spLocks noChangeArrowheads="1"/>
          </p:cNvSpPr>
          <p:nvPr/>
        </p:nvSpPr>
        <p:spPr bwMode="auto">
          <a:xfrm>
            <a:off x="4028281" y="6149975"/>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d</a:t>
            </a:r>
          </a:p>
        </p:txBody>
      </p:sp>
      <p:sp>
        <p:nvSpPr>
          <p:cNvPr id="66" name="Line 67"/>
          <p:cNvSpPr>
            <a:spLocks noChangeShapeType="1"/>
          </p:cNvSpPr>
          <p:nvPr/>
        </p:nvSpPr>
        <p:spPr bwMode="auto">
          <a:xfrm flipV="1">
            <a:off x="4315619" y="5895975"/>
            <a:ext cx="190500" cy="327025"/>
          </a:xfrm>
          <a:prstGeom prst="line">
            <a:avLst/>
          </a:prstGeom>
          <a:noFill/>
          <a:ln w="9525">
            <a:solidFill>
              <a:srgbClr val="000080"/>
            </a:solidFill>
            <a:round/>
            <a:headEnd/>
            <a:tailEnd/>
          </a:ln>
        </p:spPr>
        <p:txBody>
          <a:bodyPr>
            <a:spAutoFit/>
          </a:bodyPr>
          <a:lstStyle/>
          <a:p>
            <a:endParaRPr lang="zh-CN" altLang="en-US"/>
          </a:p>
        </p:txBody>
      </p:sp>
      <p:sp>
        <p:nvSpPr>
          <p:cNvPr id="67" name="Line 68"/>
          <p:cNvSpPr>
            <a:spLocks noChangeShapeType="1"/>
          </p:cNvSpPr>
          <p:nvPr/>
        </p:nvSpPr>
        <p:spPr bwMode="auto">
          <a:xfrm flipV="1">
            <a:off x="5290344" y="4781550"/>
            <a:ext cx="393700" cy="350837"/>
          </a:xfrm>
          <a:prstGeom prst="line">
            <a:avLst/>
          </a:prstGeom>
          <a:noFill/>
          <a:ln w="9525">
            <a:solidFill>
              <a:srgbClr val="000080"/>
            </a:solidFill>
            <a:round/>
            <a:headEnd/>
            <a:tailEnd/>
          </a:ln>
        </p:spPr>
        <p:txBody>
          <a:bodyPr>
            <a:spAutoFit/>
          </a:bodyPr>
          <a:lstStyle/>
          <a:p>
            <a:endParaRPr lang="zh-CN" altLang="en-US"/>
          </a:p>
        </p:txBody>
      </p:sp>
      <p:sp>
        <p:nvSpPr>
          <p:cNvPr id="68" name="Line 69"/>
          <p:cNvSpPr>
            <a:spLocks noChangeShapeType="1"/>
          </p:cNvSpPr>
          <p:nvPr/>
        </p:nvSpPr>
        <p:spPr bwMode="auto">
          <a:xfrm flipV="1">
            <a:off x="4641056" y="5294312"/>
            <a:ext cx="393700" cy="350838"/>
          </a:xfrm>
          <a:prstGeom prst="line">
            <a:avLst/>
          </a:prstGeom>
          <a:noFill/>
          <a:ln w="9525">
            <a:solidFill>
              <a:srgbClr val="000080"/>
            </a:solidFill>
            <a:round/>
            <a:headEnd/>
            <a:tailEnd/>
          </a:ln>
        </p:spPr>
        <p:txBody>
          <a:bodyPr>
            <a:spAutoFit/>
          </a:bodyPr>
          <a:lstStyle/>
          <a:p>
            <a:endParaRPr lang="zh-CN" altLang="en-US"/>
          </a:p>
        </p:txBody>
      </p:sp>
      <p:sp>
        <p:nvSpPr>
          <p:cNvPr id="69" name="Rectangle 70"/>
          <p:cNvSpPr>
            <a:spLocks noChangeArrowheads="1"/>
          </p:cNvSpPr>
          <p:nvPr/>
        </p:nvSpPr>
        <p:spPr bwMode="auto">
          <a:xfrm>
            <a:off x="4374356" y="5573712"/>
            <a:ext cx="339725" cy="396875"/>
          </a:xfrm>
          <a:prstGeom prst="rect">
            <a:avLst/>
          </a:prstGeom>
          <a:noFill/>
          <a:ln w="9525">
            <a:noFill/>
            <a:miter lim="800000"/>
            <a:headEnd/>
            <a:tailEnd/>
          </a:ln>
        </p:spPr>
        <p:txBody>
          <a:bodyPr wrap="none">
            <a:spAutoFit/>
          </a:bodyPr>
          <a:lstStyle/>
          <a:p>
            <a:pPr algn="l">
              <a:buClrTx/>
              <a:buFontTx/>
              <a:buNone/>
            </a:pPr>
            <a:r>
              <a:rPr lang="en-US" altLang="zh-CN" sz="2000" b="1">
                <a:solidFill>
                  <a:srgbClr val="333399"/>
                </a:solidFill>
                <a:ea typeface="华文行楷" pitchFamily="2" charset="-122"/>
              </a:rPr>
              <a:t>F</a:t>
            </a:r>
          </a:p>
        </p:txBody>
      </p:sp>
      <p:sp>
        <p:nvSpPr>
          <p:cNvPr id="70" name="Rectangle 71"/>
          <p:cNvSpPr>
            <a:spLocks noChangeArrowheads="1"/>
          </p:cNvSpPr>
          <p:nvPr/>
        </p:nvSpPr>
        <p:spPr bwMode="auto">
          <a:xfrm>
            <a:off x="2496344" y="5897562"/>
            <a:ext cx="1335087"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d</a:t>
            </a:r>
            <a:r>
              <a:rPr lang="en-US" altLang="zh-CN" sz="2000" b="1"/>
              <a:t>.</a:t>
            </a:r>
            <a:r>
              <a:rPr lang="en-US" altLang="zh-CN" sz="2000"/>
              <a:t>lexval=5</a:t>
            </a:r>
          </a:p>
        </p:txBody>
      </p:sp>
      <p:sp>
        <p:nvSpPr>
          <p:cNvPr id="71" name="Line 72"/>
          <p:cNvSpPr>
            <a:spLocks noChangeShapeType="1"/>
          </p:cNvSpPr>
          <p:nvPr/>
        </p:nvSpPr>
        <p:spPr bwMode="auto">
          <a:xfrm flipH="1" flipV="1">
            <a:off x="3791744" y="6149975"/>
            <a:ext cx="282575" cy="144462"/>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72" name="Rectangle 73"/>
          <p:cNvSpPr>
            <a:spLocks noChangeArrowheads="1"/>
          </p:cNvSpPr>
          <p:nvPr/>
        </p:nvSpPr>
        <p:spPr bwMode="auto">
          <a:xfrm>
            <a:off x="2496344" y="4852987"/>
            <a:ext cx="1335087"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d</a:t>
            </a:r>
            <a:r>
              <a:rPr lang="en-US" altLang="zh-CN" sz="2000" b="1"/>
              <a:t>.</a:t>
            </a:r>
            <a:r>
              <a:rPr lang="en-US" altLang="zh-CN" sz="2000"/>
              <a:t>lexval=3</a:t>
            </a:r>
          </a:p>
        </p:txBody>
      </p:sp>
      <p:sp>
        <p:nvSpPr>
          <p:cNvPr id="73" name="Line 74"/>
          <p:cNvSpPr>
            <a:spLocks noChangeShapeType="1"/>
          </p:cNvSpPr>
          <p:nvPr/>
        </p:nvSpPr>
        <p:spPr bwMode="auto">
          <a:xfrm flipH="1">
            <a:off x="3793331" y="4781550"/>
            <a:ext cx="215900" cy="185737"/>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74" name="Rectangle 75"/>
          <p:cNvSpPr>
            <a:spLocks noChangeArrowheads="1"/>
          </p:cNvSpPr>
          <p:nvPr/>
        </p:nvSpPr>
        <p:spPr bwMode="auto">
          <a:xfrm>
            <a:off x="6168231" y="5862637"/>
            <a:ext cx="1335088"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d</a:t>
            </a:r>
            <a:r>
              <a:rPr lang="en-US" altLang="zh-CN" sz="2000" b="1"/>
              <a:t>.</a:t>
            </a:r>
            <a:r>
              <a:rPr lang="en-US" altLang="zh-CN" sz="2000"/>
              <a:t>lexval=4</a:t>
            </a:r>
          </a:p>
        </p:txBody>
      </p:sp>
      <p:sp>
        <p:nvSpPr>
          <p:cNvPr id="75" name="Line 76"/>
          <p:cNvSpPr>
            <a:spLocks noChangeShapeType="1"/>
          </p:cNvSpPr>
          <p:nvPr/>
        </p:nvSpPr>
        <p:spPr bwMode="auto">
          <a:xfrm flipH="1">
            <a:off x="7465219" y="5789612"/>
            <a:ext cx="215900" cy="217488"/>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76" name="Rectangle 77"/>
          <p:cNvSpPr>
            <a:spLocks noChangeArrowheads="1"/>
          </p:cNvSpPr>
          <p:nvPr/>
        </p:nvSpPr>
        <p:spPr bwMode="auto">
          <a:xfrm>
            <a:off x="3072606" y="5394325"/>
            <a:ext cx="1023938"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F</a:t>
            </a:r>
            <a:r>
              <a:rPr lang="en-US" altLang="zh-CN" sz="2000" b="1"/>
              <a:t>.</a:t>
            </a:r>
            <a:r>
              <a:rPr lang="en-US" altLang="zh-CN" sz="2000"/>
              <a:t>val=5</a:t>
            </a:r>
          </a:p>
        </p:txBody>
      </p:sp>
      <p:sp>
        <p:nvSpPr>
          <p:cNvPr id="77" name="Line 78"/>
          <p:cNvSpPr>
            <a:spLocks noChangeShapeType="1"/>
          </p:cNvSpPr>
          <p:nvPr/>
        </p:nvSpPr>
        <p:spPr bwMode="auto">
          <a:xfrm flipH="1" flipV="1">
            <a:off x="4080669" y="5573712"/>
            <a:ext cx="287337" cy="144463"/>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78" name="Rectangle 79"/>
          <p:cNvSpPr>
            <a:spLocks noChangeArrowheads="1"/>
          </p:cNvSpPr>
          <p:nvPr/>
        </p:nvSpPr>
        <p:spPr bwMode="auto">
          <a:xfrm>
            <a:off x="3144044" y="3702050"/>
            <a:ext cx="1023937"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F</a:t>
            </a:r>
            <a:r>
              <a:rPr lang="en-US" altLang="zh-CN" sz="2000" b="1"/>
              <a:t>.</a:t>
            </a:r>
            <a:r>
              <a:rPr lang="en-US" altLang="zh-CN" sz="2000"/>
              <a:t>val=3</a:t>
            </a:r>
          </a:p>
        </p:txBody>
      </p:sp>
      <p:sp>
        <p:nvSpPr>
          <p:cNvPr id="79" name="Line 80"/>
          <p:cNvSpPr>
            <a:spLocks noChangeShapeType="1"/>
          </p:cNvSpPr>
          <p:nvPr/>
        </p:nvSpPr>
        <p:spPr bwMode="auto">
          <a:xfrm flipH="1" flipV="1">
            <a:off x="4152106" y="3917950"/>
            <a:ext cx="287338" cy="144462"/>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80" name="Rectangle 81"/>
          <p:cNvSpPr>
            <a:spLocks noChangeArrowheads="1"/>
          </p:cNvSpPr>
          <p:nvPr/>
        </p:nvSpPr>
        <p:spPr bwMode="auto">
          <a:xfrm>
            <a:off x="3720306" y="3160712"/>
            <a:ext cx="1023938"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T</a:t>
            </a:r>
            <a:r>
              <a:rPr lang="en-US" altLang="zh-CN" sz="2000" b="1"/>
              <a:t>.</a:t>
            </a:r>
            <a:r>
              <a:rPr lang="en-US" altLang="zh-CN" sz="2000"/>
              <a:t>val=3</a:t>
            </a:r>
          </a:p>
        </p:txBody>
      </p:sp>
      <p:sp>
        <p:nvSpPr>
          <p:cNvPr id="81" name="Line 82"/>
          <p:cNvSpPr>
            <a:spLocks noChangeShapeType="1"/>
          </p:cNvSpPr>
          <p:nvPr/>
        </p:nvSpPr>
        <p:spPr bwMode="auto">
          <a:xfrm flipH="1" flipV="1">
            <a:off x="4728369" y="3376612"/>
            <a:ext cx="287337" cy="144463"/>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82" name="Rectangle 83"/>
          <p:cNvSpPr>
            <a:spLocks noChangeArrowheads="1"/>
          </p:cNvSpPr>
          <p:nvPr/>
        </p:nvSpPr>
        <p:spPr bwMode="auto">
          <a:xfrm>
            <a:off x="5231606" y="5465762"/>
            <a:ext cx="1023938"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T</a:t>
            </a:r>
            <a:r>
              <a:rPr lang="en-US" altLang="zh-CN" sz="2000" b="1"/>
              <a:t>.</a:t>
            </a:r>
            <a:r>
              <a:rPr lang="en-US" altLang="zh-CN" sz="2000"/>
              <a:t>val=5</a:t>
            </a:r>
          </a:p>
        </p:txBody>
      </p:sp>
      <p:sp>
        <p:nvSpPr>
          <p:cNvPr id="83" name="Line 84"/>
          <p:cNvSpPr>
            <a:spLocks noChangeShapeType="1"/>
          </p:cNvSpPr>
          <p:nvPr/>
        </p:nvSpPr>
        <p:spPr bwMode="auto">
          <a:xfrm flipH="1" flipV="1">
            <a:off x="5233194" y="5286375"/>
            <a:ext cx="142875" cy="215900"/>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84" name="Rectangle 87"/>
          <p:cNvSpPr>
            <a:spLocks noChangeArrowheads="1"/>
          </p:cNvSpPr>
          <p:nvPr/>
        </p:nvSpPr>
        <p:spPr bwMode="auto">
          <a:xfrm>
            <a:off x="5880894" y="4960937"/>
            <a:ext cx="1038225"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E</a:t>
            </a:r>
            <a:r>
              <a:rPr lang="en-US" altLang="zh-CN" sz="2000" b="1"/>
              <a:t>.</a:t>
            </a:r>
            <a:r>
              <a:rPr lang="en-US" altLang="zh-CN" sz="2000"/>
              <a:t>val=5</a:t>
            </a:r>
          </a:p>
        </p:txBody>
      </p:sp>
      <p:sp>
        <p:nvSpPr>
          <p:cNvPr id="85" name="Line 88"/>
          <p:cNvSpPr>
            <a:spLocks noChangeShapeType="1"/>
          </p:cNvSpPr>
          <p:nvPr/>
        </p:nvSpPr>
        <p:spPr bwMode="auto">
          <a:xfrm flipH="1" flipV="1">
            <a:off x="5882481" y="4781550"/>
            <a:ext cx="142875" cy="215900"/>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86" name="Rectangle 89"/>
          <p:cNvSpPr>
            <a:spLocks noChangeArrowheads="1"/>
          </p:cNvSpPr>
          <p:nvPr/>
        </p:nvSpPr>
        <p:spPr bwMode="auto">
          <a:xfrm>
            <a:off x="7392194" y="4565650"/>
            <a:ext cx="1023937"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F</a:t>
            </a:r>
            <a:r>
              <a:rPr lang="en-US" altLang="zh-CN" sz="2000" b="1"/>
              <a:t>.</a:t>
            </a:r>
            <a:r>
              <a:rPr lang="en-US" altLang="zh-CN" sz="2000"/>
              <a:t>val=4</a:t>
            </a:r>
          </a:p>
        </p:txBody>
      </p:sp>
      <p:sp>
        <p:nvSpPr>
          <p:cNvPr id="87" name="Line 90"/>
          <p:cNvSpPr>
            <a:spLocks noChangeShapeType="1"/>
          </p:cNvSpPr>
          <p:nvPr/>
        </p:nvSpPr>
        <p:spPr bwMode="auto">
          <a:xfrm flipH="1">
            <a:off x="7681119" y="4926012"/>
            <a:ext cx="215900" cy="217488"/>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88" name="Rectangle 91"/>
          <p:cNvSpPr>
            <a:spLocks noChangeArrowheads="1"/>
          </p:cNvSpPr>
          <p:nvPr/>
        </p:nvSpPr>
        <p:spPr bwMode="auto">
          <a:xfrm>
            <a:off x="7249319" y="4060825"/>
            <a:ext cx="1023937" cy="396875"/>
          </a:xfrm>
          <a:prstGeom prst="rect">
            <a:avLst/>
          </a:prstGeom>
          <a:noFill/>
          <a:ln w="9525" algn="ctr">
            <a:noFill/>
            <a:miter lim="800000"/>
            <a:headEnd/>
            <a:tailEnd/>
          </a:ln>
        </p:spPr>
        <p:txBody>
          <a:bodyPr wrap="none">
            <a:spAutoFit/>
          </a:bodyPr>
          <a:lstStyle/>
          <a:p>
            <a:pPr algn="l"/>
            <a:r>
              <a:rPr lang="en-US" altLang="zh-CN" sz="2000">
                <a:sym typeface="Symbol" pitchFamily="18" charset="2"/>
              </a:rPr>
              <a:t>T</a:t>
            </a:r>
            <a:r>
              <a:rPr lang="en-US" altLang="zh-CN" sz="2000" b="1"/>
              <a:t>.</a:t>
            </a:r>
            <a:r>
              <a:rPr lang="en-US" altLang="zh-CN" sz="2000"/>
              <a:t>val=4</a:t>
            </a:r>
          </a:p>
        </p:txBody>
      </p:sp>
      <p:sp>
        <p:nvSpPr>
          <p:cNvPr id="89" name="Line 92"/>
          <p:cNvSpPr>
            <a:spLocks noChangeShapeType="1"/>
          </p:cNvSpPr>
          <p:nvPr/>
        </p:nvSpPr>
        <p:spPr bwMode="auto">
          <a:xfrm flipH="1">
            <a:off x="7104856" y="4349750"/>
            <a:ext cx="215900" cy="217487"/>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90" name="Rectangle 93"/>
          <p:cNvSpPr>
            <a:spLocks noChangeArrowheads="1"/>
          </p:cNvSpPr>
          <p:nvPr/>
        </p:nvSpPr>
        <p:spPr bwMode="auto">
          <a:xfrm>
            <a:off x="4695031" y="4241800"/>
            <a:ext cx="1041400" cy="396875"/>
          </a:xfrm>
          <a:prstGeom prst="rect">
            <a:avLst/>
          </a:prstGeom>
          <a:noFill/>
          <a:ln w="9525" algn="ctr">
            <a:noFill/>
            <a:miter lim="800000"/>
            <a:headEnd/>
            <a:tailEnd/>
          </a:ln>
        </p:spPr>
        <p:txBody>
          <a:bodyPr>
            <a:spAutoFit/>
          </a:bodyPr>
          <a:lstStyle/>
          <a:p>
            <a:pPr algn="l"/>
            <a:r>
              <a:rPr lang="en-US" altLang="zh-CN" sz="2000">
                <a:sym typeface="Symbol" pitchFamily="18" charset="2"/>
              </a:rPr>
              <a:t>E</a:t>
            </a:r>
            <a:r>
              <a:rPr lang="en-US" altLang="zh-CN" sz="2000" b="1"/>
              <a:t>.</a:t>
            </a:r>
            <a:r>
              <a:rPr lang="en-US" altLang="zh-CN" sz="2000"/>
              <a:t>val=9</a:t>
            </a:r>
          </a:p>
        </p:txBody>
      </p:sp>
      <p:sp>
        <p:nvSpPr>
          <p:cNvPr id="91" name="Line 94"/>
          <p:cNvSpPr>
            <a:spLocks noChangeShapeType="1"/>
          </p:cNvSpPr>
          <p:nvPr/>
        </p:nvSpPr>
        <p:spPr bwMode="auto">
          <a:xfrm flipH="1">
            <a:off x="5664994" y="4133850"/>
            <a:ext cx="647700" cy="288925"/>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92" name="Rectangle 95"/>
          <p:cNvSpPr>
            <a:spLocks noChangeArrowheads="1"/>
          </p:cNvSpPr>
          <p:nvPr/>
        </p:nvSpPr>
        <p:spPr bwMode="auto">
          <a:xfrm>
            <a:off x="7074694" y="3125787"/>
            <a:ext cx="1049337" cy="396875"/>
          </a:xfrm>
          <a:prstGeom prst="rect">
            <a:avLst/>
          </a:prstGeom>
          <a:noFill/>
          <a:ln w="9525" algn="ctr">
            <a:noFill/>
            <a:miter lim="800000"/>
            <a:headEnd/>
            <a:tailEnd/>
          </a:ln>
        </p:spPr>
        <p:txBody>
          <a:bodyPr>
            <a:spAutoFit/>
          </a:bodyPr>
          <a:lstStyle/>
          <a:p>
            <a:pPr algn="l"/>
            <a:r>
              <a:rPr lang="en-US" altLang="zh-CN" sz="2000">
                <a:sym typeface="Symbol" pitchFamily="18" charset="2"/>
              </a:rPr>
              <a:t>F</a:t>
            </a:r>
            <a:r>
              <a:rPr lang="en-US" altLang="zh-CN" sz="2000" b="1"/>
              <a:t>.</a:t>
            </a:r>
            <a:r>
              <a:rPr lang="en-US" altLang="zh-CN" sz="2000"/>
              <a:t>val=9</a:t>
            </a:r>
          </a:p>
        </p:txBody>
      </p:sp>
      <p:sp>
        <p:nvSpPr>
          <p:cNvPr id="93" name="Line 96"/>
          <p:cNvSpPr>
            <a:spLocks noChangeShapeType="1"/>
          </p:cNvSpPr>
          <p:nvPr/>
        </p:nvSpPr>
        <p:spPr bwMode="auto">
          <a:xfrm flipH="1">
            <a:off x="6600031" y="3341687"/>
            <a:ext cx="504825" cy="215900"/>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94" name="Rectangle 97"/>
          <p:cNvSpPr>
            <a:spLocks noChangeArrowheads="1"/>
          </p:cNvSpPr>
          <p:nvPr/>
        </p:nvSpPr>
        <p:spPr bwMode="auto">
          <a:xfrm>
            <a:off x="6355556" y="2622550"/>
            <a:ext cx="1182688" cy="396875"/>
          </a:xfrm>
          <a:prstGeom prst="rect">
            <a:avLst/>
          </a:prstGeom>
          <a:noFill/>
          <a:ln w="9525" algn="ctr">
            <a:noFill/>
            <a:miter lim="800000"/>
            <a:headEnd/>
            <a:tailEnd/>
          </a:ln>
        </p:spPr>
        <p:txBody>
          <a:bodyPr>
            <a:spAutoFit/>
          </a:bodyPr>
          <a:lstStyle/>
          <a:p>
            <a:pPr algn="l"/>
            <a:r>
              <a:rPr lang="en-US" altLang="zh-CN" sz="2000">
                <a:sym typeface="Symbol" pitchFamily="18" charset="2"/>
              </a:rPr>
              <a:t>T</a:t>
            </a:r>
            <a:r>
              <a:rPr lang="en-US" altLang="zh-CN" sz="2000" b="1"/>
              <a:t>.</a:t>
            </a:r>
            <a:r>
              <a:rPr lang="en-US" altLang="zh-CN" sz="2000"/>
              <a:t>val=27</a:t>
            </a:r>
          </a:p>
        </p:txBody>
      </p:sp>
      <p:sp>
        <p:nvSpPr>
          <p:cNvPr id="95" name="Line 98"/>
          <p:cNvSpPr>
            <a:spLocks noChangeShapeType="1"/>
          </p:cNvSpPr>
          <p:nvPr/>
        </p:nvSpPr>
        <p:spPr bwMode="auto">
          <a:xfrm flipH="1">
            <a:off x="5880894" y="2838450"/>
            <a:ext cx="504825" cy="215900"/>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96" name="Rectangle 99"/>
          <p:cNvSpPr>
            <a:spLocks noChangeArrowheads="1"/>
          </p:cNvSpPr>
          <p:nvPr/>
        </p:nvSpPr>
        <p:spPr bwMode="auto">
          <a:xfrm>
            <a:off x="6355556" y="2117725"/>
            <a:ext cx="1182688" cy="396875"/>
          </a:xfrm>
          <a:prstGeom prst="rect">
            <a:avLst/>
          </a:prstGeom>
          <a:noFill/>
          <a:ln w="9525" algn="ctr">
            <a:noFill/>
            <a:miter lim="800000"/>
            <a:headEnd/>
            <a:tailEnd/>
          </a:ln>
        </p:spPr>
        <p:txBody>
          <a:bodyPr>
            <a:spAutoFit/>
          </a:bodyPr>
          <a:lstStyle/>
          <a:p>
            <a:pPr algn="l"/>
            <a:r>
              <a:rPr lang="en-US" altLang="zh-CN" sz="2000">
                <a:sym typeface="Symbol" pitchFamily="18" charset="2"/>
              </a:rPr>
              <a:t>E</a:t>
            </a:r>
            <a:r>
              <a:rPr lang="en-US" altLang="zh-CN" sz="2000" b="1"/>
              <a:t>.</a:t>
            </a:r>
            <a:r>
              <a:rPr lang="en-US" altLang="zh-CN" sz="2000"/>
              <a:t>val=27</a:t>
            </a:r>
          </a:p>
        </p:txBody>
      </p:sp>
      <p:sp>
        <p:nvSpPr>
          <p:cNvPr id="97" name="Line 100"/>
          <p:cNvSpPr>
            <a:spLocks noChangeShapeType="1"/>
          </p:cNvSpPr>
          <p:nvPr/>
        </p:nvSpPr>
        <p:spPr bwMode="auto">
          <a:xfrm flipH="1">
            <a:off x="5880894" y="2333625"/>
            <a:ext cx="504825" cy="215900"/>
          </a:xfrm>
          <a:prstGeom prst="line">
            <a:avLst/>
          </a:prstGeom>
          <a:noFill/>
          <a:ln w="19050" cap="rnd">
            <a:solidFill>
              <a:srgbClr val="800080"/>
            </a:solidFill>
            <a:prstDash val="sysDot"/>
            <a:round/>
            <a:headEnd/>
            <a:tailEnd/>
          </a:ln>
        </p:spPr>
        <p:txBody>
          <a:bodyPr>
            <a:spAutoFit/>
          </a:bodyPr>
          <a:lstStyle/>
          <a:p>
            <a:endParaRPr lang="zh-CN" altLang="en-US"/>
          </a:p>
        </p:txBody>
      </p:sp>
      <p:sp>
        <p:nvSpPr>
          <p:cNvPr id="98" name="Rectangle 101"/>
          <p:cNvSpPr>
            <a:spLocks noChangeArrowheads="1"/>
          </p:cNvSpPr>
          <p:nvPr/>
        </p:nvSpPr>
        <p:spPr bwMode="auto">
          <a:xfrm>
            <a:off x="6384131" y="1576387"/>
            <a:ext cx="1223963" cy="396875"/>
          </a:xfrm>
          <a:prstGeom prst="rect">
            <a:avLst/>
          </a:prstGeom>
          <a:noFill/>
          <a:ln w="9525" algn="ctr">
            <a:noFill/>
            <a:miter lim="800000"/>
            <a:headEnd/>
            <a:tailEnd/>
          </a:ln>
        </p:spPr>
        <p:txBody>
          <a:bodyPr>
            <a:spAutoFit/>
          </a:bodyPr>
          <a:lstStyle/>
          <a:p>
            <a:pPr algn="l"/>
            <a:r>
              <a:rPr lang="en-US" altLang="zh-CN" sz="2000" b="1" dirty="0">
                <a:sym typeface="Symbol" pitchFamily="18" charset="2"/>
              </a:rPr>
              <a:t>print(</a:t>
            </a:r>
            <a:r>
              <a:rPr lang="en-US" altLang="zh-CN" sz="2000" b="1" dirty="0"/>
              <a:t>27)</a:t>
            </a:r>
          </a:p>
        </p:txBody>
      </p:sp>
      <p:sp>
        <p:nvSpPr>
          <p:cNvPr id="99" name="Line 102"/>
          <p:cNvSpPr>
            <a:spLocks noChangeShapeType="1"/>
          </p:cNvSpPr>
          <p:nvPr/>
        </p:nvSpPr>
        <p:spPr bwMode="auto">
          <a:xfrm flipH="1">
            <a:off x="5880894" y="1830387"/>
            <a:ext cx="504825" cy="215900"/>
          </a:xfrm>
          <a:prstGeom prst="line">
            <a:avLst/>
          </a:prstGeom>
          <a:noFill/>
          <a:ln w="19050" cap="rnd">
            <a:solidFill>
              <a:srgbClr val="800080"/>
            </a:solidFill>
            <a:prstDash val="sysDot"/>
            <a:round/>
            <a:headEnd/>
            <a:tailEnd/>
          </a:ln>
        </p:spPr>
        <p:txBody>
          <a:bodyPr>
            <a:spAutoFit/>
          </a:bodyPr>
          <a:lstStyle/>
          <a:p>
            <a:endParaRPr lang="zh-CN" altLang="en-US"/>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845" y="1385151"/>
            <a:ext cx="3159918" cy="1922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4"/>
          </p:nvPr>
        </p:nvSpPr>
        <p:spPr/>
        <p:txBody>
          <a:bodyPr/>
          <a:lstStyle/>
          <a:p>
            <a:fld id="{565CE74E-AB26-4998-AD42-012C4C1AD076}" type="slidenum">
              <a:rPr lang="zh-CN" altLang="en-US" smtClean="0"/>
              <a:t>18</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dissolve">
                                      <p:cBhvr>
                                        <p:cTn id="7" dur="500"/>
                                        <p:tgtEl>
                                          <p:spTgt spid="7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dissolve">
                                      <p:cBhvr>
                                        <p:cTn id="11" dur="500"/>
                                        <p:tgtEl>
                                          <p:spTgt spid="73"/>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dissolve">
                                      <p:cBhvr>
                                        <p:cTn id="15" dur="500"/>
                                        <p:tgtEl>
                                          <p:spTgt spid="79"/>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78"/>
                                        </p:tgtEl>
                                        <p:attrNameLst>
                                          <p:attrName>style.visibility</p:attrName>
                                        </p:attrNameLst>
                                      </p:cBhvr>
                                      <p:to>
                                        <p:strVal val="visible"/>
                                      </p:to>
                                    </p:set>
                                    <p:animEffect transition="in" filter="dissolve">
                                      <p:cBhvr>
                                        <p:cTn id="19" dur="500"/>
                                        <p:tgtEl>
                                          <p:spTgt spid="7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1"/>
                                        </p:tgtEl>
                                        <p:attrNameLst>
                                          <p:attrName>style.visibility</p:attrName>
                                        </p:attrNameLst>
                                      </p:cBhvr>
                                      <p:to>
                                        <p:strVal val="visible"/>
                                      </p:to>
                                    </p:set>
                                    <p:animEffect transition="in" filter="dissolve">
                                      <p:cBhvr>
                                        <p:cTn id="24" dur="500"/>
                                        <p:tgtEl>
                                          <p:spTgt spid="81"/>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80"/>
                                        </p:tgtEl>
                                        <p:attrNameLst>
                                          <p:attrName>style.visibility</p:attrName>
                                        </p:attrNameLst>
                                      </p:cBhvr>
                                      <p:to>
                                        <p:strVal val="visible"/>
                                      </p:to>
                                    </p:set>
                                    <p:animEffect transition="in" filter="dissolve">
                                      <p:cBhvr>
                                        <p:cTn id="28" dur="500"/>
                                        <p:tgtEl>
                                          <p:spTgt spid="80"/>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70"/>
                                        </p:tgtEl>
                                        <p:attrNameLst>
                                          <p:attrName>style.visibility</p:attrName>
                                        </p:attrNameLst>
                                      </p:cBhvr>
                                      <p:to>
                                        <p:strVal val="visible"/>
                                      </p:to>
                                    </p:set>
                                    <p:animEffect transition="in" filter="dissolve">
                                      <p:cBhvr>
                                        <p:cTn id="33" dur="500"/>
                                        <p:tgtEl>
                                          <p:spTgt spid="70"/>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dissolve">
                                      <p:cBhvr>
                                        <p:cTn id="37" dur="500"/>
                                        <p:tgtEl>
                                          <p:spTgt spid="7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dissolve">
                                      <p:cBhvr>
                                        <p:cTn id="42" dur="500"/>
                                        <p:tgtEl>
                                          <p:spTgt spid="76"/>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dissolve">
                                      <p:cBhvr>
                                        <p:cTn id="46" dur="500"/>
                                        <p:tgtEl>
                                          <p:spTgt spid="7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83"/>
                                        </p:tgtEl>
                                        <p:attrNameLst>
                                          <p:attrName>style.visibility</p:attrName>
                                        </p:attrNameLst>
                                      </p:cBhvr>
                                      <p:to>
                                        <p:strVal val="visible"/>
                                      </p:to>
                                    </p:set>
                                    <p:animEffect transition="in" filter="dissolve">
                                      <p:cBhvr>
                                        <p:cTn id="51" dur="500"/>
                                        <p:tgtEl>
                                          <p:spTgt spid="83"/>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82"/>
                                        </p:tgtEl>
                                        <p:attrNameLst>
                                          <p:attrName>style.visibility</p:attrName>
                                        </p:attrNameLst>
                                      </p:cBhvr>
                                      <p:to>
                                        <p:strVal val="visible"/>
                                      </p:to>
                                    </p:set>
                                    <p:animEffect transition="in" filter="dissolve">
                                      <p:cBhvr>
                                        <p:cTn id="55" dur="500"/>
                                        <p:tgtEl>
                                          <p:spTgt spid="82"/>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85"/>
                                        </p:tgtEl>
                                        <p:attrNameLst>
                                          <p:attrName>style.visibility</p:attrName>
                                        </p:attrNameLst>
                                      </p:cBhvr>
                                      <p:to>
                                        <p:strVal val="visible"/>
                                      </p:to>
                                    </p:set>
                                    <p:animEffect transition="in" filter="dissolve">
                                      <p:cBhvr>
                                        <p:cTn id="60" dur="500"/>
                                        <p:tgtEl>
                                          <p:spTgt spid="85"/>
                                        </p:tgtEl>
                                      </p:cBhvr>
                                    </p:animEffect>
                                  </p:childTnLst>
                                </p:cTn>
                              </p:par>
                            </p:childTnLst>
                          </p:cTn>
                        </p:par>
                        <p:par>
                          <p:cTn id="61" fill="hold">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84"/>
                                        </p:tgtEl>
                                        <p:attrNameLst>
                                          <p:attrName>style.visibility</p:attrName>
                                        </p:attrNameLst>
                                      </p:cBhvr>
                                      <p:to>
                                        <p:strVal val="visible"/>
                                      </p:to>
                                    </p:set>
                                    <p:animEffect transition="in" filter="dissolve">
                                      <p:cBhvr>
                                        <p:cTn id="64" dur="500"/>
                                        <p:tgtEl>
                                          <p:spTgt spid="84"/>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75"/>
                                        </p:tgtEl>
                                        <p:attrNameLst>
                                          <p:attrName>style.visibility</p:attrName>
                                        </p:attrNameLst>
                                      </p:cBhvr>
                                      <p:to>
                                        <p:strVal val="visible"/>
                                      </p:to>
                                    </p:set>
                                    <p:animEffect transition="in" filter="dissolve">
                                      <p:cBhvr>
                                        <p:cTn id="69" dur="500"/>
                                        <p:tgtEl>
                                          <p:spTgt spid="75"/>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74"/>
                                        </p:tgtEl>
                                        <p:attrNameLst>
                                          <p:attrName>style.visibility</p:attrName>
                                        </p:attrNameLst>
                                      </p:cBhvr>
                                      <p:to>
                                        <p:strVal val="visible"/>
                                      </p:to>
                                    </p:set>
                                    <p:animEffect transition="in" filter="dissolve">
                                      <p:cBhvr>
                                        <p:cTn id="73" dur="500"/>
                                        <p:tgtEl>
                                          <p:spTgt spid="74"/>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87"/>
                                        </p:tgtEl>
                                        <p:attrNameLst>
                                          <p:attrName>style.visibility</p:attrName>
                                        </p:attrNameLst>
                                      </p:cBhvr>
                                      <p:to>
                                        <p:strVal val="visible"/>
                                      </p:to>
                                    </p:set>
                                    <p:animEffect transition="in" filter="dissolve">
                                      <p:cBhvr>
                                        <p:cTn id="78" dur="500"/>
                                        <p:tgtEl>
                                          <p:spTgt spid="87"/>
                                        </p:tgtEl>
                                      </p:cBhvr>
                                    </p:animEffect>
                                  </p:childTnLst>
                                </p:cTn>
                              </p:par>
                            </p:childTnLst>
                          </p:cTn>
                        </p:par>
                        <p:par>
                          <p:cTn id="79" fill="hold">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86"/>
                                        </p:tgtEl>
                                        <p:attrNameLst>
                                          <p:attrName>style.visibility</p:attrName>
                                        </p:attrNameLst>
                                      </p:cBhvr>
                                      <p:to>
                                        <p:strVal val="visible"/>
                                      </p:to>
                                    </p:set>
                                    <p:animEffect transition="in" filter="dissolve">
                                      <p:cBhvr>
                                        <p:cTn id="82" dur="500"/>
                                        <p:tgtEl>
                                          <p:spTgt spid="86"/>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89"/>
                                        </p:tgtEl>
                                        <p:attrNameLst>
                                          <p:attrName>style.visibility</p:attrName>
                                        </p:attrNameLst>
                                      </p:cBhvr>
                                      <p:to>
                                        <p:strVal val="visible"/>
                                      </p:to>
                                    </p:set>
                                    <p:animEffect transition="in" filter="dissolve">
                                      <p:cBhvr>
                                        <p:cTn id="87" dur="500"/>
                                        <p:tgtEl>
                                          <p:spTgt spid="89"/>
                                        </p:tgtEl>
                                      </p:cBhvr>
                                    </p:animEffect>
                                  </p:childTnLst>
                                </p:cTn>
                              </p:par>
                            </p:childTnLst>
                          </p:cTn>
                        </p:par>
                        <p:par>
                          <p:cTn id="88" fill="hold">
                            <p:stCondLst>
                              <p:cond delay="500"/>
                            </p:stCondLst>
                            <p:childTnLst>
                              <p:par>
                                <p:cTn id="89" presetID="9" presetClass="entr" presetSubtype="0" fill="hold" grpId="0" nodeType="afterEffect">
                                  <p:stCondLst>
                                    <p:cond delay="0"/>
                                  </p:stCondLst>
                                  <p:childTnLst>
                                    <p:set>
                                      <p:cBhvr>
                                        <p:cTn id="90" dur="1" fill="hold">
                                          <p:stCondLst>
                                            <p:cond delay="0"/>
                                          </p:stCondLst>
                                        </p:cTn>
                                        <p:tgtEl>
                                          <p:spTgt spid="88"/>
                                        </p:tgtEl>
                                        <p:attrNameLst>
                                          <p:attrName>style.visibility</p:attrName>
                                        </p:attrNameLst>
                                      </p:cBhvr>
                                      <p:to>
                                        <p:strVal val="visible"/>
                                      </p:to>
                                    </p:set>
                                    <p:animEffect transition="in" filter="dissolve">
                                      <p:cBhvr>
                                        <p:cTn id="91" dur="500"/>
                                        <p:tgtEl>
                                          <p:spTgt spid="88"/>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91"/>
                                        </p:tgtEl>
                                        <p:attrNameLst>
                                          <p:attrName>style.visibility</p:attrName>
                                        </p:attrNameLst>
                                      </p:cBhvr>
                                      <p:to>
                                        <p:strVal val="visible"/>
                                      </p:to>
                                    </p:set>
                                    <p:animEffect transition="in" filter="dissolve">
                                      <p:cBhvr>
                                        <p:cTn id="96" dur="500"/>
                                        <p:tgtEl>
                                          <p:spTgt spid="91"/>
                                        </p:tgtEl>
                                      </p:cBhvr>
                                    </p:animEffect>
                                  </p:childTnLst>
                                </p:cTn>
                              </p:par>
                            </p:childTnLst>
                          </p:cTn>
                        </p:par>
                        <p:par>
                          <p:cTn id="97" fill="hold">
                            <p:stCondLst>
                              <p:cond delay="500"/>
                            </p:stCondLst>
                            <p:childTnLst>
                              <p:par>
                                <p:cTn id="98" presetID="9" presetClass="entr" presetSubtype="0" fill="hold" grpId="0" nodeType="afterEffect">
                                  <p:stCondLst>
                                    <p:cond delay="0"/>
                                  </p:stCondLst>
                                  <p:childTnLst>
                                    <p:set>
                                      <p:cBhvr>
                                        <p:cTn id="99" dur="1" fill="hold">
                                          <p:stCondLst>
                                            <p:cond delay="0"/>
                                          </p:stCondLst>
                                        </p:cTn>
                                        <p:tgtEl>
                                          <p:spTgt spid="90"/>
                                        </p:tgtEl>
                                        <p:attrNameLst>
                                          <p:attrName>style.visibility</p:attrName>
                                        </p:attrNameLst>
                                      </p:cBhvr>
                                      <p:to>
                                        <p:strVal val="visible"/>
                                      </p:to>
                                    </p:set>
                                    <p:animEffect transition="in" filter="dissolve">
                                      <p:cBhvr>
                                        <p:cTn id="100" dur="500"/>
                                        <p:tgtEl>
                                          <p:spTgt spid="90"/>
                                        </p:tgtEl>
                                      </p:cBhvr>
                                    </p:animEffect>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93"/>
                                        </p:tgtEl>
                                        <p:attrNameLst>
                                          <p:attrName>style.visibility</p:attrName>
                                        </p:attrNameLst>
                                      </p:cBhvr>
                                      <p:to>
                                        <p:strVal val="visible"/>
                                      </p:to>
                                    </p:set>
                                    <p:animEffect transition="in" filter="dissolve">
                                      <p:cBhvr>
                                        <p:cTn id="105" dur="500"/>
                                        <p:tgtEl>
                                          <p:spTgt spid="93"/>
                                        </p:tgtEl>
                                      </p:cBhvr>
                                    </p:animEffect>
                                  </p:childTnLst>
                                </p:cTn>
                              </p:par>
                            </p:childTnLst>
                          </p:cTn>
                        </p:par>
                        <p:par>
                          <p:cTn id="106" fill="hold">
                            <p:stCondLst>
                              <p:cond delay="500"/>
                            </p:stCondLst>
                            <p:childTnLst>
                              <p:par>
                                <p:cTn id="107" presetID="9" presetClass="entr" presetSubtype="0" fill="hold" grpId="0" nodeType="afterEffect">
                                  <p:stCondLst>
                                    <p:cond delay="0"/>
                                  </p:stCondLst>
                                  <p:childTnLst>
                                    <p:set>
                                      <p:cBhvr>
                                        <p:cTn id="108" dur="1" fill="hold">
                                          <p:stCondLst>
                                            <p:cond delay="0"/>
                                          </p:stCondLst>
                                        </p:cTn>
                                        <p:tgtEl>
                                          <p:spTgt spid="92"/>
                                        </p:tgtEl>
                                        <p:attrNameLst>
                                          <p:attrName>style.visibility</p:attrName>
                                        </p:attrNameLst>
                                      </p:cBhvr>
                                      <p:to>
                                        <p:strVal val="visible"/>
                                      </p:to>
                                    </p:set>
                                    <p:animEffect transition="in" filter="dissolve">
                                      <p:cBhvr>
                                        <p:cTn id="109" dur="500"/>
                                        <p:tgtEl>
                                          <p:spTgt spid="92"/>
                                        </p:tgtEl>
                                      </p:cBhvr>
                                    </p:animEffec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grpId="0" nodeType="clickEffect">
                                  <p:stCondLst>
                                    <p:cond delay="0"/>
                                  </p:stCondLst>
                                  <p:childTnLst>
                                    <p:set>
                                      <p:cBhvr>
                                        <p:cTn id="113" dur="1" fill="hold">
                                          <p:stCondLst>
                                            <p:cond delay="0"/>
                                          </p:stCondLst>
                                        </p:cTn>
                                        <p:tgtEl>
                                          <p:spTgt spid="95"/>
                                        </p:tgtEl>
                                        <p:attrNameLst>
                                          <p:attrName>style.visibility</p:attrName>
                                        </p:attrNameLst>
                                      </p:cBhvr>
                                      <p:to>
                                        <p:strVal val="visible"/>
                                      </p:to>
                                    </p:set>
                                    <p:animEffect transition="in" filter="dissolve">
                                      <p:cBhvr>
                                        <p:cTn id="114" dur="500"/>
                                        <p:tgtEl>
                                          <p:spTgt spid="95"/>
                                        </p:tgtEl>
                                      </p:cBhvr>
                                    </p:animEffect>
                                  </p:childTnLst>
                                </p:cTn>
                              </p:par>
                            </p:childTnLst>
                          </p:cTn>
                        </p:par>
                        <p:par>
                          <p:cTn id="115" fill="hold">
                            <p:stCondLst>
                              <p:cond delay="500"/>
                            </p:stCondLst>
                            <p:childTnLst>
                              <p:par>
                                <p:cTn id="116" presetID="9" presetClass="entr" presetSubtype="0" fill="hold" grpId="0" nodeType="after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dissolve">
                                      <p:cBhvr>
                                        <p:cTn id="118" dur="500"/>
                                        <p:tgtEl>
                                          <p:spTgt spid="94"/>
                                        </p:tgtEl>
                                      </p:cBhvr>
                                    </p:animEffect>
                                  </p:childTnLst>
                                </p:cTn>
                              </p:par>
                            </p:childTnLst>
                          </p:cTn>
                        </p:par>
                      </p:childTnLst>
                    </p:cTn>
                  </p:par>
                  <p:par>
                    <p:cTn id="119" fill="hold">
                      <p:stCondLst>
                        <p:cond delay="indefinite"/>
                      </p:stCondLst>
                      <p:childTnLst>
                        <p:par>
                          <p:cTn id="120" fill="hold">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97"/>
                                        </p:tgtEl>
                                        <p:attrNameLst>
                                          <p:attrName>style.visibility</p:attrName>
                                        </p:attrNameLst>
                                      </p:cBhvr>
                                      <p:to>
                                        <p:strVal val="visible"/>
                                      </p:to>
                                    </p:set>
                                    <p:animEffect transition="in" filter="dissolve">
                                      <p:cBhvr>
                                        <p:cTn id="123" dur="500"/>
                                        <p:tgtEl>
                                          <p:spTgt spid="97"/>
                                        </p:tgtEl>
                                      </p:cBhvr>
                                    </p:animEffect>
                                  </p:childTnLst>
                                </p:cTn>
                              </p:par>
                            </p:childTnLst>
                          </p:cTn>
                        </p:par>
                        <p:par>
                          <p:cTn id="124" fill="hold">
                            <p:stCondLst>
                              <p:cond delay="500"/>
                            </p:stCondLst>
                            <p:childTnLst>
                              <p:par>
                                <p:cTn id="125" presetID="9" presetClass="entr" presetSubtype="0" fill="hold" grpId="0" nodeType="afterEffect">
                                  <p:stCondLst>
                                    <p:cond delay="0"/>
                                  </p:stCondLst>
                                  <p:childTnLst>
                                    <p:set>
                                      <p:cBhvr>
                                        <p:cTn id="126" dur="1" fill="hold">
                                          <p:stCondLst>
                                            <p:cond delay="0"/>
                                          </p:stCondLst>
                                        </p:cTn>
                                        <p:tgtEl>
                                          <p:spTgt spid="96"/>
                                        </p:tgtEl>
                                        <p:attrNameLst>
                                          <p:attrName>style.visibility</p:attrName>
                                        </p:attrNameLst>
                                      </p:cBhvr>
                                      <p:to>
                                        <p:strVal val="visible"/>
                                      </p:to>
                                    </p:set>
                                    <p:animEffect transition="in" filter="dissolve">
                                      <p:cBhvr>
                                        <p:cTn id="127" dur="500"/>
                                        <p:tgtEl>
                                          <p:spTgt spid="96"/>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grpId="0" nodeType="clickEffect">
                                  <p:stCondLst>
                                    <p:cond delay="0"/>
                                  </p:stCondLst>
                                  <p:childTnLst>
                                    <p:set>
                                      <p:cBhvr>
                                        <p:cTn id="131" dur="1" fill="hold">
                                          <p:stCondLst>
                                            <p:cond delay="0"/>
                                          </p:stCondLst>
                                        </p:cTn>
                                        <p:tgtEl>
                                          <p:spTgt spid="99"/>
                                        </p:tgtEl>
                                        <p:attrNameLst>
                                          <p:attrName>style.visibility</p:attrName>
                                        </p:attrNameLst>
                                      </p:cBhvr>
                                      <p:to>
                                        <p:strVal val="visible"/>
                                      </p:to>
                                    </p:set>
                                    <p:animEffect transition="in" filter="dissolve">
                                      <p:cBhvr>
                                        <p:cTn id="132" dur="500"/>
                                        <p:tgtEl>
                                          <p:spTgt spid="99"/>
                                        </p:tgtEl>
                                      </p:cBhvr>
                                    </p:animEffect>
                                  </p:childTnLst>
                                </p:cTn>
                              </p:par>
                            </p:childTnLst>
                          </p:cTn>
                        </p:par>
                        <p:par>
                          <p:cTn id="133" fill="hold">
                            <p:stCondLst>
                              <p:cond delay="500"/>
                            </p:stCondLst>
                            <p:childTnLst>
                              <p:par>
                                <p:cTn id="134" presetID="9" presetClass="entr" presetSubtype="0" fill="hold" grpId="0" nodeType="afterEffect">
                                  <p:stCondLst>
                                    <p:cond delay="0"/>
                                  </p:stCondLst>
                                  <p:childTnLst>
                                    <p:set>
                                      <p:cBhvr>
                                        <p:cTn id="135" dur="1" fill="hold">
                                          <p:stCondLst>
                                            <p:cond delay="0"/>
                                          </p:stCondLst>
                                        </p:cTn>
                                        <p:tgtEl>
                                          <p:spTgt spid="98"/>
                                        </p:tgtEl>
                                        <p:attrNameLst>
                                          <p:attrName>style.visibility</p:attrName>
                                        </p:attrNameLst>
                                      </p:cBhvr>
                                      <p:to>
                                        <p:strVal val="visible"/>
                                      </p:to>
                                    </p:set>
                                    <p:animEffect transition="in" filter="dissolve">
                                      <p:cBhvr>
                                        <p:cTn id="136"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utoUpdateAnimBg="0"/>
      <p:bldP spid="71" grpId="0" animBg="1"/>
      <p:bldP spid="72" grpId="0" autoUpdateAnimBg="0"/>
      <p:bldP spid="73" grpId="0" animBg="1"/>
      <p:bldP spid="74" grpId="0" autoUpdateAnimBg="0"/>
      <p:bldP spid="75" grpId="0" animBg="1"/>
      <p:bldP spid="76" grpId="0" autoUpdateAnimBg="0"/>
      <p:bldP spid="77" grpId="0" animBg="1"/>
      <p:bldP spid="78" grpId="0" autoUpdateAnimBg="0"/>
      <p:bldP spid="79" grpId="0" animBg="1"/>
      <p:bldP spid="80" grpId="0" autoUpdateAnimBg="0"/>
      <p:bldP spid="81" grpId="0" animBg="1"/>
      <p:bldP spid="82" grpId="0" autoUpdateAnimBg="0"/>
      <p:bldP spid="83" grpId="0" animBg="1"/>
      <p:bldP spid="84" grpId="0" autoUpdateAnimBg="0"/>
      <p:bldP spid="85" grpId="0" animBg="1"/>
      <p:bldP spid="86" grpId="0" autoUpdateAnimBg="0"/>
      <p:bldP spid="87" grpId="0" animBg="1"/>
      <p:bldP spid="88" grpId="0" autoUpdateAnimBg="0"/>
      <p:bldP spid="89" grpId="0" animBg="1"/>
      <p:bldP spid="90" grpId="0" autoUpdateAnimBg="0"/>
      <p:bldP spid="91" grpId="0" animBg="1"/>
      <p:bldP spid="92" grpId="0" autoUpdateAnimBg="0"/>
      <p:bldP spid="93" grpId="0" animBg="1"/>
      <p:bldP spid="94" grpId="0" autoUpdateAnimBg="0"/>
      <p:bldP spid="95" grpId="0" animBg="1"/>
      <p:bldP spid="96" grpId="0" autoUpdateAnimBg="0"/>
      <p:bldP spid="97" grpId="0" animBg="1"/>
      <p:bldP spid="98" grpId="0" autoUpdateAnimBg="0"/>
      <p:bldP spid="9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pPr>
              <a:lnSpc>
                <a:spcPct val="120000"/>
              </a:lnSpc>
            </a:pPr>
            <a:r>
              <a:rPr lang="en-US" altLang="zh-CN" dirty="0"/>
              <a:t> </a:t>
            </a:r>
            <a:r>
              <a:rPr lang="zh-CN" altLang="en-US" dirty="0">
                <a:latin typeface="楷体_GB2312" pitchFamily="49" charset="-122"/>
                <a:sym typeface="+mn-ea"/>
              </a:rPr>
              <a:t>继承属性</a:t>
            </a:r>
            <a:r>
              <a:rPr lang="zh-CN" altLang="en-US" dirty="0">
                <a:solidFill>
                  <a:srgbClr val="333399"/>
                </a:solidFill>
                <a:sym typeface="+mn-ea"/>
              </a:rPr>
              <a:t>（</a:t>
            </a:r>
            <a:r>
              <a:rPr lang="en-US" altLang="zh-CN" dirty="0">
                <a:solidFill>
                  <a:srgbClr val="333399"/>
                </a:solidFill>
                <a:sym typeface="+mn-ea"/>
              </a:rPr>
              <a:t>inherited  attribute</a:t>
            </a:r>
            <a:r>
              <a:rPr lang="zh-CN" altLang="en-US" dirty="0">
                <a:solidFill>
                  <a:srgbClr val="333399"/>
                </a:solidFill>
                <a:sym typeface="+mn-ea"/>
              </a:rPr>
              <a:t>） </a:t>
            </a:r>
            <a:endParaRPr lang="zh-CN" altLang="en-US" b="1" i="0" dirty="0"/>
          </a:p>
          <a:p>
            <a:pPr lvl="1" algn="l">
              <a:lnSpc>
                <a:spcPct val="120000"/>
              </a:lnSpc>
              <a:buClrTx/>
            </a:pPr>
            <a:r>
              <a:rPr lang="zh-CN" altLang="en-US" dirty="0">
                <a:solidFill>
                  <a:srgbClr val="333399"/>
                </a:solidFill>
                <a:sym typeface="+mn-ea"/>
              </a:rPr>
              <a:t> 用于</a:t>
            </a:r>
            <a:r>
              <a:rPr lang="zh-CN" altLang="en-US" dirty="0">
                <a:sym typeface="+mn-ea"/>
              </a:rPr>
              <a:t>“自</a:t>
            </a:r>
            <a:r>
              <a:rPr lang="zh-CN" altLang="en-US" dirty="0">
                <a:effectLst>
                  <a:outerShdw blurRad="38100" dist="38100" dir="2700000" algn="tl">
                    <a:srgbClr val="000000">
                      <a:alpha val="43137"/>
                    </a:srgbClr>
                  </a:outerShdw>
                </a:effectLst>
                <a:sym typeface="+mn-ea"/>
              </a:rPr>
              <a:t>上</a:t>
            </a:r>
            <a:r>
              <a:rPr lang="zh-CN" altLang="en-US" dirty="0">
                <a:sym typeface="+mn-ea"/>
              </a:rPr>
              <a:t>而下”传递信息</a:t>
            </a:r>
            <a:endParaRPr lang="zh-CN" altLang="en-US" b="1" i="0" dirty="0"/>
          </a:p>
          <a:p>
            <a:pPr lvl="1" algn="l">
              <a:lnSpc>
                <a:spcPct val="120000"/>
              </a:lnSpc>
              <a:buClrTx/>
            </a:pPr>
            <a:r>
              <a:rPr lang="zh-CN" altLang="en-US" dirty="0">
                <a:solidFill>
                  <a:srgbClr val="333399"/>
                </a:solidFill>
                <a:sym typeface="+mn-ea"/>
              </a:rPr>
              <a:t>对关联于产生式 </a:t>
            </a:r>
            <a:r>
              <a:rPr lang="en-US" altLang="zh-CN" dirty="0">
                <a:solidFill>
                  <a:srgbClr val="333399"/>
                </a:solidFill>
                <a:sym typeface="+mn-ea"/>
              </a:rPr>
              <a:t>A</a:t>
            </a:r>
            <a:r>
              <a:rPr lang="en-US" altLang="zh-CN" dirty="0">
                <a:solidFill>
                  <a:srgbClr val="333399"/>
                </a:solidFill>
                <a:sym typeface="Symbol" panose="05050102010706020507" pitchFamily="18" charset="2"/>
              </a:rPr>
              <a:t> </a:t>
            </a:r>
            <a:r>
              <a:rPr lang="zh-CN" altLang="en-US" dirty="0">
                <a:solidFill>
                  <a:srgbClr val="333399"/>
                </a:solidFill>
                <a:sym typeface="+mn-ea"/>
              </a:rPr>
              <a:t>的语义规则 </a:t>
            </a:r>
          </a:p>
          <a:p>
            <a:pPr marL="457200" lvl="1" indent="0" algn="ctr">
              <a:lnSpc>
                <a:spcPct val="120000"/>
              </a:lnSpc>
              <a:buClrTx/>
              <a:buNone/>
            </a:pPr>
            <a:r>
              <a:rPr lang="zh-CN" altLang="en-US" dirty="0">
                <a:solidFill>
                  <a:srgbClr val="333399"/>
                </a:solidFill>
                <a:sym typeface="+mn-ea"/>
              </a:rPr>
              <a:t> </a:t>
            </a:r>
            <a:r>
              <a:rPr lang="en-US" altLang="zh-CN" dirty="0">
                <a:solidFill>
                  <a:srgbClr val="333399"/>
                </a:solidFill>
                <a:sym typeface="+mn-ea"/>
              </a:rPr>
              <a:t>b:=f(c</a:t>
            </a:r>
            <a:r>
              <a:rPr lang="en-US" altLang="zh-CN" baseline="-25000" dirty="0">
                <a:solidFill>
                  <a:srgbClr val="333399"/>
                </a:solidFill>
                <a:sym typeface="+mn-ea"/>
              </a:rPr>
              <a:t>1</a:t>
            </a:r>
            <a:r>
              <a:rPr lang="en-US" altLang="zh-CN" dirty="0">
                <a:solidFill>
                  <a:srgbClr val="333399"/>
                </a:solidFill>
                <a:sym typeface="+mn-ea"/>
              </a:rPr>
              <a:t>, c</a:t>
            </a:r>
            <a:r>
              <a:rPr lang="en-US" altLang="zh-CN" baseline="-25000" dirty="0">
                <a:solidFill>
                  <a:srgbClr val="333399"/>
                </a:solidFill>
                <a:sym typeface="+mn-ea"/>
              </a:rPr>
              <a:t>2</a:t>
            </a:r>
            <a:r>
              <a:rPr lang="en-US" altLang="zh-CN" dirty="0">
                <a:solidFill>
                  <a:srgbClr val="333399"/>
                </a:solidFill>
                <a:sym typeface="+mn-ea"/>
              </a:rPr>
              <a:t>, …, </a:t>
            </a:r>
            <a:r>
              <a:rPr lang="en-US" altLang="zh-CN" dirty="0" err="1">
                <a:solidFill>
                  <a:srgbClr val="333399"/>
                </a:solidFill>
                <a:sym typeface="+mn-ea"/>
              </a:rPr>
              <a:t>c</a:t>
            </a:r>
            <a:r>
              <a:rPr lang="en-US" altLang="zh-CN" baseline="-25000" dirty="0" err="1">
                <a:solidFill>
                  <a:srgbClr val="333399"/>
                </a:solidFill>
                <a:sym typeface="+mn-ea"/>
              </a:rPr>
              <a:t>k</a:t>
            </a:r>
            <a:r>
              <a:rPr lang="en-US" altLang="zh-CN" dirty="0">
                <a:solidFill>
                  <a:srgbClr val="333399"/>
                </a:solidFill>
                <a:sym typeface="+mn-ea"/>
              </a:rPr>
              <a:t>) </a:t>
            </a:r>
            <a:r>
              <a:rPr lang="zh-CN" altLang="en-US" dirty="0">
                <a:solidFill>
                  <a:srgbClr val="333399"/>
                </a:solidFill>
                <a:sym typeface="+mn-ea"/>
              </a:rPr>
              <a:t>，</a:t>
            </a:r>
            <a:endParaRPr lang="zh-CN" altLang="en-US" b="1" i="0" dirty="0">
              <a:solidFill>
                <a:srgbClr val="333399"/>
              </a:solidFill>
            </a:endParaRPr>
          </a:p>
          <a:p>
            <a:pPr lvl="1" algn="l">
              <a:lnSpc>
                <a:spcPct val="120000"/>
              </a:lnSpc>
              <a:buClrTx/>
            </a:pPr>
            <a:r>
              <a:rPr lang="zh-CN" altLang="en-US" dirty="0">
                <a:solidFill>
                  <a:srgbClr val="333399"/>
                </a:solidFill>
                <a:sym typeface="+mn-ea"/>
              </a:rPr>
              <a:t>如果 </a:t>
            </a:r>
            <a:r>
              <a:rPr lang="en-US" altLang="zh-CN" dirty="0">
                <a:solidFill>
                  <a:srgbClr val="333399"/>
                </a:solidFill>
                <a:sym typeface="+mn-ea"/>
              </a:rPr>
              <a:t>b </a:t>
            </a:r>
            <a:r>
              <a:rPr lang="zh-CN" altLang="en-US" dirty="0">
                <a:solidFill>
                  <a:srgbClr val="333399"/>
                </a:solidFill>
                <a:sym typeface="+mn-ea"/>
              </a:rPr>
              <a:t>是产生式</a:t>
            </a:r>
            <a:r>
              <a:rPr lang="zh-CN" altLang="en-US" dirty="0">
                <a:solidFill>
                  <a:srgbClr val="FF0000"/>
                </a:solidFill>
                <a:sym typeface="+mn-ea"/>
              </a:rPr>
              <a:t>右部</a:t>
            </a:r>
            <a:r>
              <a:rPr lang="zh-CN" altLang="en-US" dirty="0">
                <a:solidFill>
                  <a:srgbClr val="333399"/>
                </a:solidFill>
                <a:sym typeface="+mn-ea"/>
              </a:rPr>
              <a:t>某个文法符号 </a:t>
            </a:r>
            <a:r>
              <a:rPr lang="en-US" altLang="zh-CN" dirty="0">
                <a:solidFill>
                  <a:srgbClr val="FF0000"/>
                </a:solidFill>
                <a:sym typeface="+mn-ea"/>
              </a:rPr>
              <a:t>X </a:t>
            </a:r>
            <a:r>
              <a:rPr lang="zh-CN" altLang="en-US" dirty="0">
                <a:solidFill>
                  <a:srgbClr val="333399"/>
                </a:solidFill>
                <a:sym typeface="+mn-ea"/>
              </a:rPr>
              <a:t>的某个属性，则称 </a:t>
            </a:r>
            <a:r>
              <a:rPr lang="en-US" altLang="zh-CN" dirty="0">
                <a:solidFill>
                  <a:srgbClr val="FF0000"/>
                </a:solidFill>
                <a:sym typeface="+mn-ea"/>
              </a:rPr>
              <a:t>b</a:t>
            </a:r>
            <a:r>
              <a:rPr lang="en-US" altLang="zh-CN" dirty="0">
                <a:solidFill>
                  <a:srgbClr val="333399"/>
                </a:solidFill>
                <a:sym typeface="+mn-ea"/>
              </a:rPr>
              <a:t> </a:t>
            </a:r>
            <a:r>
              <a:rPr lang="zh-CN" altLang="en-US" dirty="0">
                <a:solidFill>
                  <a:srgbClr val="333399"/>
                </a:solidFill>
                <a:sym typeface="+mn-ea"/>
              </a:rPr>
              <a:t>是文法符号 </a:t>
            </a:r>
            <a:r>
              <a:rPr lang="en-US" altLang="zh-CN" dirty="0">
                <a:solidFill>
                  <a:srgbClr val="FF0000"/>
                </a:solidFill>
                <a:sym typeface="+mn-ea"/>
              </a:rPr>
              <a:t>X</a:t>
            </a:r>
            <a:r>
              <a:rPr lang="en-US" altLang="zh-CN" dirty="0">
                <a:solidFill>
                  <a:srgbClr val="333399"/>
                </a:solidFill>
                <a:sym typeface="+mn-ea"/>
              </a:rPr>
              <a:t> </a:t>
            </a:r>
            <a:r>
              <a:rPr lang="zh-CN" altLang="en-US" dirty="0">
                <a:solidFill>
                  <a:srgbClr val="333399"/>
                </a:solidFill>
                <a:sym typeface="+mn-ea"/>
              </a:rPr>
              <a:t>的一个</a:t>
            </a:r>
            <a:r>
              <a:rPr lang="zh-CN" altLang="en-US" dirty="0">
                <a:solidFill>
                  <a:srgbClr val="FF0000"/>
                </a:solidFill>
                <a:effectLst>
                  <a:outerShdw blurRad="38100" dist="38100" dir="2700000" algn="tl">
                    <a:srgbClr val="000000">
                      <a:alpha val="43137"/>
                    </a:srgbClr>
                  </a:outerShdw>
                </a:effectLst>
                <a:sym typeface="+mn-ea"/>
              </a:rPr>
              <a:t>继承属性</a:t>
            </a:r>
            <a:r>
              <a:rPr lang="zh-CN" altLang="en-US" dirty="0">
                <a:solidFill>
                  <a:srgbClr val="333399"/>
                </a:solidFill>
                <a:effectLst>
                  <a:outerShdw blurRad="38100" dist="38100" dir="2700000" algn="tl">
                    <a:srgbClr val="000000">
                      <a:alpha val="43137"/>
                    </a:srgbClr>
                  </a:outerShdw>
                </a:effectLst>
                <a:sym typeface="+mn-ea"/>
              </a:rPr>
              <a:t>。</a:t>
            </a:r>
          </a:p>
          <a:p>
            <a:pPr lvl="0" algn="l">
              <a:lnSpc>
                <a:spcPct val="120000"/>
              </a:lnSpc>
              <a:buClrTx/>
            </a:pPr>
            <a:r>
              <a:rPr lang="zh-CN" altLang="en-US" dirty="0"/>
              <a:t>即：一个结点的继承属性由</a:t>
            </a:r>
            <a:r>
              <a:rPr lang="zh-CN" altLang="en-US" dirty="0">
                <a:solidFill>
                  <a:srgbClr val="FF0000"/>
                </a:solidFill>
              </a:rPr>
              <a:t>此结点的父结点和/或兄弟结点</a:t>
            </a:r>
            <a:r>
              <a:rPr lang="zh-CN" altLang="en-US" dirty="0"/>
              <a:t>的某些属性确定。</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继承属性</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a:t>变量声明语句中，通过继承属性把类型信息传递给每个标识符。</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继承属性</a:t>
            </a:r>
            <a:endParaRPr lang="zh-CN" altLang="en-US"/>
          </a:p>
        </p:txBody>
      </p:sp>
      <p:graphicFrame>
        <p:nvGraphicFramePr>
          <p:cNvPr id="14338" name="表格 14337"/>
          <p:cNvGraphicFramePr/>
          <p:nvPr/>
        </p:nvGraphicFramePr>
        <p:xfrm>
          <a:off x="1382713" y="2096135"/>
          <a:ext cx="6553200" cy="3255646"/>
        </p:xfrm>
        <a:graphic>
          <a:graphicData uri="http://schemas.openxmlformats.org/drawingml/2006/table">
            <a:tbl>
              <a:tblPr/>
              <a:tblGrid>
                <a:gridCol w="2449513">
                  <a:extLst>
                    <a:ext uri="{9D8B030D-6E8A-4147-A177-3AD203B41FA5}">
                      <a16:colId xmlns:a16="http://schemas.microsoft.com/office/drawing/2014/main" val="20000"/>
                    </a:ext>
                  </a:extLst>
                </a:gridCol>
                <a:gridCol w="4103687">
                  <a:extLst>
                    <a:ext uri="{9D8B030D-6E8A-4147-A177-3AD203B41FA5}">
                      <a16:colId xmlns:a16="http://schemas.microsoft.com/office/drawing/2014/main" val="20001"/>
                    </a:ext>
                  </a:extLst>
                </a:gridCol>
              </a:tblGrid>
              <a:tr h="485775">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400" b="1" dirty="0">
                          <a:latin typeface="宋体" panose="02010600030101010101" pitchFamily="2" charset="-122"/>
                        </a:rPr>
                        <a:t>产生式</a:t>
                      </a: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400" b="1">
                          <a:latin typeface="宋体" panose="02010600030101010101" pitchFamily="2" charset="-122"/>
                        </a:rPr>
                        <a:t>语义规则</a:t>
                      </a: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363">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latin typeface="宋体" panose="02010600030101010101" pitchFamily="2" charset="-122"/>
                        </a:rPr>
                        <a:t>D</a:t>
                      </a:r>
                      <a:r>
                        <a:rPr lang="en-US" altLang="zh-CN" sz="2400" b="1">
                          <a:latin typeface="宋体" panose="02010600030101010101" pitchFamily="2" charset="-122"/>
                          <a:sym typeface="Symbol" panose="05050102010706020507" pitchFamily="18" charset="2"/>
                        </a:rPr>
                        <a:t> T L</a:t>
                      </a:r>
                      <a:endParaRPr lang="zh-CN" altLang="en-US" sz="2400" b="1" i="1">
                        <a:solidFill>
                          <a:srgbClr val="CC3300"/>
                        </a:solidFill>
                        <a:latin typeface="宋体" panose="02010600030101010101" pitchFamily="2" charset="-122"/>
                        <a:sym typeface="Symbol" panose="05050102010706020507" pitchFamily="18" charset="2"/>
                      </a:endParaRP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dirty="0">
                          <a:solidFill>
                            <a:srgbClr val="FF0000"/>
                          </a:solidFill>
                          <a:latin typeface="宋体" panose="02010600030101010101" pitchFamily="2" charset="-122"/>
                        </a:rPr>
                        <a:t>L.in:=</a:t>
                      </a:r>
                      <a:r>
                        <a:rPr lang="en-US" altLang="zh-CN" sz="2400" b="1" dirty="0" err="1">
                          <a:solidFill>
                            <a:srgbClr val="FF0000"/>
                          </a:solidFill>
                          <a:latin typeface="宋体" panose="02010600030101010101" pitchFamily="2" charset="-122"/>
                        </a:rPr>
                        <a:t>T.type</a:t>
                      </a:r>
                      <a:endParaRPr lang="en-US" altLang="zh-CN" sz="2400" b="1" dirty="0">
                        <a:solidFill>
                          <a:srgbClr val="FF0000"/>
                        </a:solidFill>
                        <a:latin typeface="宋体" panose="02010600030101010101" pitchFamily="2" charset="-122"/>
                      </a:endParaRP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3870">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solidFill>
                            <a:schemeClr val="tx1"/>
                          </a:solidFill>
                          <a:latin typeface="宋体" panose="02010600030101010101" pitchFamily="2" charset="-122"/>
                        </a:rPr>
                        <a:t>T</a:t>
                      </a:r>
                      <a:r>
                        <a:rPr lang="en-US" altLang="zh-CN" sz="2400" b="1">
                          <a:solidFill>
                            <a:schemeClr val="tx1"/>
                          </a:solidFill>
                          <a:latin typeface="宋体" panose="02010600030101010101" pitchFamily="2" charset="-122"/>
                          <a:sym typeface="Symbol" panose="05050102010706020507" pitchFamily="18" charset="2"/>
                        </a:rPr>
                        <a:t> int</a:t>
                      </a: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dirty="0" err="1">
                          <a:solidFill>
                            <a:schemeClr val="tx1"/>
                          </a:solidFill>
                          <a:latin typeface="宋体" panose="02010600030101010101" pitchFamily="2" charset="-122"/>
                        </a:rPr>
                        <a:t>T.type</a:t>
                      </a:r>
                      <a:r>
                        <a:rPr lang="en-US" altLang="zh-CN" sz="2400" b="1" dirty="0">
                          <a:solidFill>
                            <a:schemeClr val="tx1"/>
                          </a:solidFill>
                          <a:latin typeface="宋体" panose="02010600030101010101" pitchFamily="2" charset="-122"/>
                        </a:rPr>
                        <a:t>:= </a:t>
                      </a:r>
                      <a:r>
                        <a:rPr lang="en-US" altLang="zh-CN" sz="2400" b="1" dirty="0" err="1">
                          <a:solidFill>
                            <a:schemeClr val="tx1"/>
                          </a:solidFill>
                          <a:latin typeface="宋体" panose="02010600030101010101" pitchFamily="2" charset="-122"/>
                        </a:rPr>
                        <a:t>int</a:t>
                      </a:r>
                      <a:endParaRPr lang="en-US" altLang="zh-CN" sz="2400" b="1" dirty="0">
                        <a:solidFill>
                          <a:schemeClr val="tx1"/>
                        </a:solidFill>
                        <a:latin typeface="宋体" panose="02010600030101010101" pitchFamily="2" charset="-122"/>
                      </a:endParaRP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5775">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solidFill>
                            <a:schemeClr val="tx1"/>
                          </a:solidFill>
                          <a:latin typeface="宋体" panose="02010600030101010101" pitchFamily="2" charset="-122"/>
                        </a:rPr>
                        <a:t>T</a:t>
                      </a:r>
                      <a:r>
                        <a:rPr lang="en-US" altLang="zh-CN" sz="2400" b="1">
                          <a:solidFill>
                            <a:schemeClr val="tx1"/>
                          </a:solidFill>
                          <a:latin typeface="宋体" panose="02010600030101010101" pitchFamily="2" charset="-122"/>
                          <a:sym typeface="Symbol" panose="05050102010706020507" pitchFamily="18" charset="2"/>
                        </a:rPr>
                        <a:t> real</a:t>
                      </a: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dirty="0" err="1">
                          <a:solidFill>
                            <a:schemeClr val="tx1"/>
                          </a:solidFill>
                          <a:latin typeface="宋体" panose="02010600030101010101" pitchFamily="2" charset="-122"/>
                        </a:rPr>
                        <a:t>T.type</a:t>
                      </a:r>
                      <a:r>
                        <a:rPr lang="en-US" altLang="zh-CN" sz="2400" b="1" dirty="0">
                          <a:solidFill>
                            <a:schemeClr val="tx1"/>
                          </a:solidFill>
                          <a:latin typeface="宋体" panose="02010600030101010101" pitchFamily="2" charset="-122"/>
                        </a:rPr>
                        <a:t>:= real</a:t>
                      </a: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5500">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solidFill>
                            <a:schemeClr val="tx1"/>
                          </a:solidFill>
                          <a:latin typeface="宋体" panose="02010600030101010101" pitchFamily="2" charset="-122"/>
                        </a:rPr>
                        <a:t>L</a:t>
                      </a:r>
                      <a:r>
                        <a:rPr lang="en-US" altLang="zh-CN" sz="2400" b="1">
                          <a:solidFill>
                            <a:schemeClr val="tx1"/>
                          </a:solidFill>
                          <a:latin typeface="宋体" panose="02010600030101010101" pitchFamily="2" charset="-122"/>
                          <a:sym typeface="Symbol" panose="05050102010706020507" pitchFamily="18" charset="2"/>
                        </a:rPr>
                        <a:t> L</a:t>
                      </a:r>
                      <a:r>
                        <a:rPr lang="en-US" altLang="zh-CN" sz="2400" b="1" baseline="-25000">
                          <a:solidFill>
                            <a:schemeClr val="tx1"/>
                          </a:solidFill>
                          <a:latin typeface="宋体" panose="02010600030101010101" pitchFamily="2" charset="-122"/>
                          <a:sym typeface="Symbol" panose="05050102010706020507" pitchFamily="18" charset="2"/>
                        </a:rPr>
                        <a:t>1 </a:t>
                      </a:r>
                      <a:r>
                        <a:rPr lang="en-US" altLang="zh-CN" sz="2400" b="1">
                          <a:solidFill>
                            <a:schemeClr val="tx1"/>
                          </a:solidFill>
                          <a:latin typeface="宋体" panose="02010600030101010101" pitchFamily="2" charset="-122"/>
                          <a:sym typeface="Symbol" panose="05050102010706020507" pitchFamily="18" charset="2"/>
                        </a:rPr>
                        <a:t>,id</a:t>
                      </a: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dirty="0">
                          <a:solidFill>
                            <a:srgbClr val="FF0000"/>
                          </a:solidFill>
                          <a:latin typeface="宋体" panose="02010600030101010101" pitchFamily="2" charset="-122"/>
                        </a:rPr>
                        <a:t>L</a:t>
                      </a:r>
                      <a:r>
                        <a:rPr lang="en-US" altLang="zh-CN" sz="2400" b="1" baseline="-25000" dirty="0">
                          <a:solidFill>
                            <a:srgbClr val="FF0000"/>
                          </a:solidFill>
                          <a:latin typeface="宋体" panose="02010600030101010101" pitchFamily="2" charset="-122"/>
                        </a:rPr>
                        <a:t>1</a:t>
                      </a:r>
                      <a:r>
                        <a:rPr lang="en-US" altLang="zh-CN" sz="2400" b="1" dirty="0">
                          <a:solidFill>
                            <a:srgbClr val="FF0000"/>
                          </a:solidFill>
                          <a:latin typeface="宋体" panose="02010600030101010101" pitchFamily="2" charset="-122"/>
                        </a:rPr>
                        <a:t>.in:=L.in  </a:t>
                      </a:r>
                      <a:r>
                        <a:rPr lang="en-US" altLang="zh-CN" sz="2400" b="1" dirty="0">
                          <a:solidFill>
                            <a:schemeClr val="tx1"/>
                          </a:solidFill>
                          <a:latin typeface="宋体" panose="02010600030101010101" pitchFamily="2" charset="-122"/>
                        </a:rPr>
                        <a:t> </a:t>
                      </a:r>
                      <a:r>
                        <a:rPr lang="en-US" altLang="zh-CN" sz="2400" b="1" dirty="0" err="1">
                          <a:solidFill>
                            <a:schemeClr val="tx1"/>
                          </a:solidFill>
                          <a:latin typeface="宋体" panose="02010600030101010101" pitchFamily="2" charset="-122"/>
                        </a:rPr>
                        <a:t>addtype</a:t>
                      </a:r>
                      <a:r>
                        <a:rPr lang="en-US" altLang="zh-CN" sz="2400" b="1" dirty="0">
                          <a:solidFill>
                            <a:schemeClr val="tx1"/>
                          </a:solidFill>
                          <a:latin typeface="宋体" panose="02010600030101010101" pitchFamily="2" charset="-122"/>
                        </a:rPr>
                        <a:t>(</a:t>
                      </a:r>
                      <a:r>
                        <a:rPr lang="en-US" altLang="zh-CN" sz="2400" b="1" dirty="0" err="1">
                          <a:solidFill>
                            <a:schemeClr val="tx1"/>
                          </a:solidFill>
                          <a:latin typeface="宋体" panose="02010600030101010101" pitchFamily="2" charset="-122"/>
                        </a:rPr>
                        <a:t>id.entry,L.in</a:t>
                      </a:r>
                      <a:r>
                        <a:rPr lang="en-US" altLang="zh-CN" sz="2400" b="1" dirty="0">
                          <a:solidFill>
                            <a:schemeClr val="tx1"/>
                          </a:solidFill>
                          <a:latin typeface="宋体" panose="02010600030101010101" pitchFamily="2" charset="-122"/>
                        </a:rPr>
                        <a:t>)</a:t>
                      </a: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7363">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a:solidFill>
                            <a:schemeClr val="tx1"/>
                          </a:solidFill>
                          <a:latin typeface="宋体" panose="02010600030101010101" pitchFamily="2" charset="-122"/>
                        </a:rPr>
                        <a:t>L</a:t>
                      </a:r>
                      <a:r>
                        <a:rPr lang="en-US" altLang="zh-CN" sz="2400" b="1">
                          <a:solidFill>
                            <a:schemeClr val="tx1"/>
                          </a:solidFill>
                          <a:latin typeface="宋体" panose="02010600030101010101" pitchFamily="2" charset="-122"/>
                          <a:sym typeface="Symbol" panose="05050102010706020507" pitchFamily="18" charset="2"/>
                        </a:rPr>
                        <a:t> id</a:t>
                      </a:r>
                    </a:p>
                  </a:txBody>
                  <a:tcPr marL="90000" marR="90000" marT="46800" marB="46800" anchor="b">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1" fontAlgn="base" latinLnBrk="0" hangingPunct="1">
                        <a:lnSpc>
                          <a:spcPct val="100000"/>
                        </a:lnSpc>
                        <a:spcBef>
                          <a:spcPct val="20000"/>
                        </a:spcBef>
                        <a:spcAft>
                          <a:spcPct val="0"/>
                        </a:spcAft>
                        <a:buClr>
                          <a:schemeClr val="hlink"/>
                        </a:buClr>
                        <a:buSzPct val="70000"/>
                        <a:buFont typeface="Wingdings" panose="05000000000000000000" pitchFamily="2" charset="2"/>
                        <a:buChar char="v"/>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2"/>
                        </a:buClr>
                        <a:buSzPct val="85000"/>
                        <a:buFont typeface="Wingdings" panose="05000000000000000000" pitchFamily="2" charset="2"/>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v"/>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hlink"/>
                        </a:buClr>
                        <a:buSzPct val="85000"/>
                        <a:buFont typeface="Wingdings" panose="05000000000000000000" pitchFamily="2" charset="2"/>
                        <a:buChar char="v"/>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en-US" altLang="zh-CN" sz="2400" b="1" dirty="0" err="1">
                          <a:solidFill>
                            <a:schemeClr val="tx1"/>
                          </a:solidFill>
                          <a:latin typeface="宋体" panose="02010600030101010101" pitchFamily="2" charset="-122"/>
                        </a:rPr>
                        <a:t>addtype</a:t>
                      </a:r>
                      <a:r>
                        <a:rPr lang="en-US" altLang="zh-CN" sz="2400" b="1" dirty="0">
                          <a:solidFill>
                            <a:schemeClr val="tx1"/>
                          </a:solidFill>
                          <a:latin typeface="宋体" panose="02010600030101010101" pitchFamily="2" charset="-122"/>
                        </a:rPr>
                        <a:t>(</a:t>
                      </a:r>
                      <a:r>
                        <a:rPr lang="en-US" altLang="zh-CN" sz="2400" b="1" dirty="0" err="1">
                          <a:solidFill>
                            <a:schemeClr val="tx1"/>
                          </a:solidFill>
                          <a:latin typeface="宋体" panose="02010600030101010101" pitchFamily="2" charset="-122"/>
                        </a:rPr>
                        <a:t>id.entry,L.in</a:t>
                      </a:r>
                      <a:r>
                        <a:rPr lang="en-US" altLang="zh-CN" sz="2400" b="1" dirty="0">
                          <a:solidFill>
                            <a:schemeClr val="tx1"/>
                          </a:solidFill>
                          <a:latin typeface="宋体" panose="02010600030101010101" pitchFamily="2" charset="-122"/>
                        </a:rPr>
                        <a:t>)</a:t>
                      </a:r>
                    </a:p>
                  </a:txBody>
                  <a:tcPr marL="90000" marR="90000" marT="46800" marB="46800" anchor="b">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灯片编号占位符 3"/>
          <p:cNvSpPr>
            <a:spLocks noGrp="1"/>
          </p:cNvSpPr>
          <p:nvPr>
            <p:ph type="sldNum" sz="quarter" idx="4"/>
          </p:nvPr>
        </p:nvSpPr>
        <p:spPr/>
        <p:txBody>
          <a:bodyPr/>
          <a:lstStyle/>
          <a:p>
            <a:fld id="{565CE74E-AB26-4998-AD42-012C4C1AD076}"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a:t>句子</a:t>
            </a:r>
            <a:r>
              <a:rPr lang="zh-CN" altLang="en-US">
                <a:solidFill>
                  <a:srgbClr val="FF0000"/>
                </a:solidFill>
              </a:rPr>
              <a:t>real  id1，id2，id3</a:t>
            </a:r>
            <a:r>
              <a:rPr lang="zh-CN" altLang="en-US"/>
              <a:t>的带注释的语法树</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继承属性</a:t>
            </a:r>
            <a:endParaRPr lang="zh-CN" altLang="en-US"/>
          </a:p>
        </p:txBody>
      </p:sp>
      <p:sp>
        <p:nvSpPr>
          <p:cNvPr id="79903" name="矩形 79902"/>
          <p:cNvSpPr/>
          <p:nvPr/>
        </p:nvSpPr>
        <p:spPr>
          <a:xfrm>
            <a:off x="1447800" y="53340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1</a:t>
            </a:r>
          </a:p>
        </p:txBody>
      </p:sp>
      <p:sp>
        <p:nvSpPr>
          <p:cNvPr id="79904" name="直接连接符 79903"/>
          <p:cNvSpPr/>
          <p:nvPr/>
        </p:nvSpPr>
        <p:spPr>
          <a:xfrm>
            <a:off x="2438400" y="5105400"/>
            <a:ext cx="0" cy="304800"/>
          </a:xfrm>
          <a:prstGeom prst="line">
            <a:avLst/>
          </a:prstGeom>
          <a:ln w="19050" cap="flat" cmpd="sng">
            <a:solidFill>
              <a:srgbClr val="000000"/>
            </a:solidFill>
            <a:prstDash val="solid"/>
            <a:headEnd type="none" w="med" len="med"/>
            <a:tailEnd type="none" w="lg" len="lg"/>
          </a:ln>
        </p:spPr>
      </p:sp>
      <p:sp>
        <p:nvSpPr>
          <p:cNvPr id="79905" name="矩形 79904"/>
          <p:cNvSpPr/>
          <p:nvPr/>
        </p:nvSpPr>
        <p:spPr>
          <a:xfrm>
            <a:off x="1295400" y="45720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79906" name="矩形 79905"/>
          <p:cNvSpPr/>
          <p:nvPr/>
        </p:nvSpPr>
        <p:spPr>
          <a:xfrm>
            <a:off x="3429000" y="46482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a:t>
            </a:r>
          </a:p>
        </p:txBody>
      </p:sp>
      <p:sp>
        <p:nvSpPr>
          <p:cNvPr id="79907" name="矩形 79906"/>
          <p:cNvSpPr/>
          <p:nvPr/>
        </p:nvSpPr>
        <p:spPr>
          <a:xfrm>
            <a:off x="4114800" y="45720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2</a:t>
            </a:r>
            <a:endParaRPr lang="en-US" altLang="zh-CN" sz="2600" b="1">
              <a:solidFill>
                <a:srgbClr val="000000"/>
              </a:solidFill>
              <a:latin typeface="Times New Roman" panose="02020603050405020304" charset="0"/>
            </a:endParaRPr>
          </a:p>
        </p:txBody>
      </p:sp>
      <p:sp>
        <p:nvSpPr>
          <p:cNvPr id="79908" name="直接连接符 79907"/>
          <p:cNvSpPr/>
          <p:nvPr/>
        </p:nvSpPr>
        <p:spPr>
          <a:xfrm flipV="1">
            <a:off x="2514600" y="4343400"/>
            <a:ext cx="762000" cy="381000"/>
          </a:xfrm>
          <a:prstGeom prst="line">
            <a:avLst/>
          </a:prstGeom>
          <a:ln w="19050" cap="flat" cmpd="sng">
            <a:solidFill>
              <a:srgbClr val="000000"/>
            </a:solidFill>
            <a:prstDash val="solid"/>
            <a:headEnd type="none" w="med" len="med"/>
            <a:tailEnd type="none" w="lg" len="lg"/>
          </a:ln>
        </p:spPr>
      </p:sp>
      <p:sp>
        <p:nvSpPr>
          <p:cNvPr id="79909" name="直接连接符 79908"/>
          <p:cNvSpPr/>
          <p:nvPr/>
        </p:nvSpPr>
        <p:spPr>
          <a:xfrm flipV="1">
            <a:off x="3886200" y="4343400"/>
            <a:ext cx="0" cy="381000"/>
          </a:xfrm>
          <a:prstGeom prst="line">
            <a:avLst/>
          </a:prstGeom>
          <a:ln w="19050" cap="flat" cmpd="sng">
            <a:solidFill>
              <a:srgbClr val="000000"/>
            </a:solidFill>
            <a:prstDash val="solid"/>
            <a:headEnd type="none" w="med" len="med"/>
            <a:tailEnd type="none" w="lg" len="lg"/>
          </a:ln>
        </p:spPr>
      </p:sp>
      <p:sp>
        <p:nvSpPr>
          <p:cNvPr id="79910" name="直接连接符 79909"/>
          <p:cNvSpPr/>
          <p:nvPr/>
        </p:nvSpPr>
        <p:spPr>
          <a:xfrm>
            <a:off x="4343400" y="4343400"/>
            <a:ext cx="914400" cy="304800"/>
          </a:xfrm>
          <a:prstGeom prst="line">
            <a:avLst/>
          </a:prstGeom>
          <a:ln w="19050" cap="flat" cmpd="sng">
            <a:solidFill>
              <a:srgbClr val="000000"/>
            </a:solidFill>
            <a:prstDash val="solid"/>
            <a:headEnd type="none" w="med" len="med"/>
            <a:tailEnd type="none" w="lg" len="lg"/>
          </a:ln>
        </p:spPr>
      </p:sp>
      <p:sp>
        <p:nvSpPr>
          <p:cNvPr id="79911" name="矩形 79910"/>
          <p:cNvSpPr/>
          <p:nvPr/>
        </p:nvSpPr>
        <p:spPr>
          <a:xfrm>
            <a:off x="2667000" y="3810000"/>
            <a:ext cx="18288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79912" name="矩形 79911"/>
          <p:cNvSpPr/>
          <p:nvPr/>
        </p:nvSpPr>
        <p:spPr>
          <a:xfrm>
            <a:off x="4800600" y="37338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a:t>
            </a:r>
          </a:p>
        </p:txBody>
      </p:sp>
      <p:sp>
        <p:nvSpPr>
          <p:cNvPr id="79913" name="矩形 79912"/>
          <p:cNvSpPr/>
          <p:nvPr/>
        </p:nvSpPr>
        <p:spPr>
          <a:xfrm>
            <a:off x="6172200" y="38100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3</a:t>
            </a:r>
            <a:endParaRPr lang="en-US" altLang="zh-CN" sz="2600" b="1">
              <a:solidFill>
                <a:srgbClr val="000000"/>
              </a:solidFill>
              <a:latin typeface="Times New Roman" panose="02020603050405020304" charset="0"/>
            </a:endParaRPr>
          </a:p>
        </p:txBody>
      </p:sp>
      <p:sp>
        <p:nvSpPr>
          <p:cNvPr id="79914" name="直接连接符 79913"/>
          <p:cNvSpPr/>
          <p:nvPr/>
        </p:nvSpPr>
        <p:spPr>
          <a:xfrm flipH="1">
            <a:off x="3657600" y="3505200"/>
            <a:ext cx="1295400" cy="381000"/>
          </a:xfrm>
          <a:prstGeom prst="line">
            <a:avLst/>
          </a:prstGeom>
          <a:ln w="19050" cap="flat" cmpd="sng">
            <a:solidFill>
              <a:srgbClr val="000000"/>
            </a:solidFill>
            <a:prstDash val="solid"/>
            <a:headEnd type="none" w="med" len="med"/>
            <a:tailEnd type="none" w="lg" len="lg"/>
          </a:ln>
        </p:spPr>
      </p:sp>
      <p:sp>
        <p:nvSpPr>
          <p:cNvPr id="79915" name="直接连接符 79914"/>
          <p:cNvSpPr/>
          <p:nvPr/>
        </p:nvSpPr>
        <p:spPr>
          <a:xfrm flipV="1">
            <a:off x="5257800" y="3505200"/>
            <a:ext cx="0" cy="304800"/>
          </a:xfrm>
          <a:prstGeom prst="line">
            <a:avLst/>
          </a:prstGeom>
          <a:ln w="19050" cap="flat" cmpd="sng">
            <a:solidFill>
              <a:srgbClr val="000000"/>
            </a:solidFill>
            <a:prstDash val="solid"/>
            <a:headEnd type="none" w="med" len="med"/>
            <a:tailEnd type="none" w="lg" len="lg"/>
          </a:ln>
        </p:spPr>
      </p:sp>
      <p:sp>
        <p:nvSpPr>
          <p:cNvPr id="79916" name="直接连接符 79915"/>
          <p:cNvSpPr/>
          <p:nvPr/>
        </p:nvSpPr>
        <p:spPr>
          <a:xfrm>
            <a:off x="5486400" y="3505200"/>
            <a:ext cx="1600200" cy="381000"/>
          </a:xfrm>
          <a:prstGeom prst="line">
            <a:avLst/>
          </a:prstGeom>
          <a:ln w="19050" cap="flat" cmpd="sng">
            <a:solidFill>
              <a:srgbClr val="000000"/>
            </a:solidFill>
            <a:prstDash val="solid"/>
            <a:headEnd type="none" w="med" len="med"/>
            <a:tailEnd type="none" w="lg" len="lg"/>
          </a:ln>
        </p:spPr>
      </p:sp>
      <p:sp>
        <p:nvSpPr>
          <p:cNvPr id="79917" name="矩形 79916"/>
          <p:cNvSpPr/>
          <p:nvPr/>
        </p:nvSpPr>
        <p:spPr>
          <a:xfrm>
            <a:off x="3962400" y="28956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79918" name="直接连接符 79917"/>
          <p:cNvSpPr/>
          <p:nvPr/>
        </p:nvSpPr>
        <p:spPr>
          <a:xfrm flipV="1">
            <a:off x="1981200" y="2362200"/>
            <a:ext cx="1524000" cy="609600"/>
          </a:xfrm>
          <a:prstGeom prst="line">
            <a:avLst/>
          </a:prstGeom>
          <a:ln w="19050" cap="flat" cmpd="sng">
            <a:solidFill>
              <a:srgbClr val="000000"/>
            </a:solidFill>
            <a:prstDash val="solid"/>
            <a:headEnd type="none" w="med" len="med"/>
            <a:tailEnd type="none" w="lg" len="lg"/>
          </a:ln>
        </p:spPr>
      </p:sp>
      <p:sp>
        <p:nvSpPr>
          <p:cNvPr id="79919" name="直接连接符 79918"/>
          <p:cNvSpPr/>
          <p:nvPr/>
        </p:nvSpPr>
        <p:spPr>
          <a:xfrm>
            <a:off x="3886200" y="2362200"/>
            <a:ext cx="1295400" cy="609600"/>
          </a:xfrm>
          <a:prstGeom prst="line">
            <a:avLst/>
          </a:prstGeom>
          <a:ln w="19050" cap="flat" cmpd="sng">
            <a:solidFill>
              <a:srgbClr val="000000"/>
            </a:solidFill>
            <a:prstDash val="solid"/>
            <a:headEnd type="none" w="med" len="med"/>
            <a:tailEnd type="none" w="lg" len="lg"/>
          </a:ln>
        </p:spPr>
      </p:sp>
      <p:sp>
        <p:nvSpPr>
          <p:cNvPr id="79920" name="矩形 79919"/>
          <p:cNvSpPr/>
          <p:nvPr/>
        </p:nvSpPr>
        <p:spPr>
          <a:xfrm>
            <a:off x="838200" y="36576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real</a:t>
            </a:r>
          </a:p>
        </p:txBody>
      </p:sp>
      <p:sp>
        <p:nvSpPr>
          <p:cNvPr id="79921" name="直接连接符 79920"/>
          <p:cNvSpPr/>
          <p:nvPr/>
        </p:nvSpPr>
        <p:spPr>
          <a:xfrm>
            <a:off x="1905000" y="3429000"/>
            <a:ext cx="0" cy="304800"/>
          </a:xfrm>
          <a:prstGeom prst="line">
            <a:avLst/>
          </a:prstGeom>
          <a:ln w="19050" cap="flat" cmpd="sng">
            <a:solidFill>
              <a:srgbClr val="000000"/>
            </a:solidFill>
            <a:prstDash val="solid"/>
            <a:headEnd type="none" w="med" len="med"/>
            <a:tailEnd type="none" w="lg" len="lg"/>
          </a:ln>
        </p:spPr>
      </p:sp>
      <p:sp>
        <p:nvSpPr>
          <p:cNvPr id="79922" name="矩形 79921"/>
          <p:cNvSpPr/>
          <p:nvPr/>
        </p:nvSpPr>
        <p:spPr>
          <a:xfrm>
            <a:off x="838200" y="2895600"/>
            <a:ext cx="2057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T</a:t>
            </a:r>
          </a:p>
        </p:txBody>
      </p:sp>
      <p:sp>
        <p:nvSpPr>
          <p:cNvPr id="79923" name="矩形 79922"/>
          <p:cNvSpPr/>
          <p:nvPr/>
        </p:nvSpPr>
        <p:spPr>
          <a:xfrm>
            <a:off x="3276600" y="18288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D</a:t>
            </a:r>
          </a:p>
        </p:txBody>
      </p:sp>
      <p:sp>
        <p:nvSpPr>
          <p:cNvPr id="79924" name="矩形 79923"/>
          <p:cNvSpPr/>
          <p:nvPr/>
        </p:nvSpPr>
        <p:spPr>
          <a:xfrm>
            <a:off x="1752600" y="2895600"/>
            <a:ext cx="2438400" cy="533400"/>
          </a:xfrm>
          <a:prstGeom prst="rect">
            <a:avLst/>
          </a:prstGeom>
          <a:noFill/>
          <a:ln w="19050">
            <a:noFill/>
          </a:ln>
        </p:spPr>
        <p:txBody>
          <a:bodyPr wrap="none" anchor="ctr"/>
          <a:lstStyle/>
          <a:p>
            <a:pPr algn="ctr">
              <a:buClr>
                <a:schemeClr val="bg1"/>
              </a:buClr>
            </a:pPr>
            <a:r>
              <a:rPr lang="en-US" altLang="zh-CN" sz="2000" b="1">
                <a:solidFill>
                  <a:srgbClr val="FF3300"/>
                </a:solidFill>
                <a:latin typeface="Times New Roman" panose="02020603050405020304" charset="0"/>
              </a:rPr>
              <a:t>T.type=real</a:t>
            </a:r>
          </a:p>
        </p:txBody>
      </p:sp>
      <p:sp>
        <p:nvSpPr>
          <p:cNvPr id="79925" name="矩形 79924"/>
          <p:cNvSpPr/>
          <p:nvPr/>
        </p:nvSpPr>
        <p:spPr>
          <a:xfrm>
            <a:off x="3276600" y="2906486"/>
            <a:ext cx="2286000" cy="533400"/>
          </a:xfrm>
          <a:prstGeom prst="rect">
            <a:avLst/>
          </a:prstGeom>
          <a:noFill/>
          <a:ln w="19050">
            <a:noFill/>
          </a:ln>
        </p:spPr>
        <p:txBody>
          <a:bodyPr wrap="none" anchor="ctr"/>
          <a:lstStyle/>
          <a:p>
            <a:pPr algn="ctr">
              <a:buClr>
                <a:schemeClr val="bg1"/>
              </a:buClr>
            </a:pPr>
            <a:r>
              <a:rPr lang="en-US" altLang="zh-CN" sz="2000" b="1" dirty="0">
                <a:solidFill>
                  <a:srgbClr val="FF3300"/>
                </a:solidFill>
                <a:latin typeface="Times New Roman" panose="02020603050405020304" charset="0"/>
              </a:rPr>
              <a:t>L.in=real</a:t>
            </a:r>
          </a:p>
        </p:txBody>
      </p:sp>
      <p:sp>
        <p:nvSpPr>
          <p:cNvPr id="79926" name="矩形 79925"/>
          <p:cNvSpPr/>
          <p:nvPr/>
        </p:nvSpPr>
        <p:spPr>
          <a:xfrm>
            <a:off x="1752600" y="3733800"/>
            <a:ext cx="2286000" cy="533400"/>
          </a:xfrm>
          <a:prstGeom prst="rect">
            <a:avLst/>
          </a:prstGeom>
          <a:noFill/>
          <a:ln w="19050">
            <a:noFill/>
          </a:ln>
        </p:spPr>
        <p:txBody>
          <a:bodyPr wrap="none" anchor="ctr"/>
          <a:lstStyle/>
          <a:p>
            <a:pPr algn="ctr">
              <a:buClr>
                <a:schemeClr val="bg1"/>
              </a:buClr>
            </a:pPr>
            <a:r>
              <a:rPr lang="en-US" altLang="zh-CN" sz="2000" b="1" dirty="0">
                <a:solidFill>
                  <a:srgbClr val="FF3300"/>
                </a:solidFill>
                <a:latin typeface="Times New Roman" panose="02020603050405020304" charset="0"/>
              </a:rPr>
              <a:t>L.in=real</a:t>
            </a:r>
          </a:p>
        </p:txBody>
      </p:sp>
      <p:sp>
        <p:nvSpPr>
          <p:cNvPr id="79927" name="矩形 79926"/>
          <p:cNvSpPr/>
          <p:nvPr/>
        </p:nvSpPr>
        <p:spPr>
          <a:xfrm>
            <a:off x="609600" y="4512129"/>
            <a:ext cx="2286000" cy="533400"/>
          </a:xfrm>
          <a:prstGeom prst="rect">
            <a:avLst/>
          </a:prstGeom>
          <a:noFill/>
          <a:ln w="19050">
            <a:noFill/>
          </a:ln>
        </p:spPr>
        <p:txBody>
          <a:bodyPr wrap="none" anchor="ctr"/>
          <a:lstStyle/>
          <a:p>
            <a:pPr algn="ctr">
              <a:buClr>
                <a:schemeClr val="bg1"/>
              </a:buClr>
            </a:pPr>
            <a:r>
              <a:rPr lang="en-US" altLang="zh-CN" sz="2000" b="1" dirty="0">
                <a:solidFill>
                  <a:srgbClr val="FF3300"/>
                </a:solidFill>
                <a:latin typeface="Times New Roman" panose="02020603050405020304" charset="0"/>
              </a:rPr>
              <a:t>L.in=real</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924"/>
                                        </p:tgtEl>
                                        <p:attrNameLst>
                                          <p:attrName>style.visibility</p:attrName>
                                        </p:attrNameLst>
                                      </p:cBhvr>
                                      <p:to>
                                        <p:strVal val="visible"/>
                                      </p:to>
                                    </p:set>
                                    <p:animEffect transition="in" filter="wipe(left)">
                                      <p:cBhvr>
                                        <p:cTn id="7" dur="500"/>
                                        <p:tgtEl>
                                          <p:spTgt spid="799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925"/>
                                        </p:tgtEl>
                                        <p:attrNameLst>
                                          <p:attrName>style.visibility</p:attrName>
                                        </p:attrNameLst>
                                      </p:cBhvr>
                                      <p:to>
                                        <p:strVal val="visible"/>
                                      </p:to>
                                    </p:set>
                                    <p:animEffect transition="in" filter="wipe(left)">
                                      <p:cBhvr>
                                        <p:cTn id="12" dur="500"/>
                                        <p:tgtEl>
                                          <p:spTgt spid="799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9926"/>
                                        </p:tgtEl>
                                        <p:attrNameLst>
                                          <p:attrName>style.visibility</p:attrName>
                                        </p:attrNameLst>
                                      </p:cBhvr>
                                      <p:to>
                                        <p:strVal val="visible"/>
                                      </p:to>
                                    </p:set>
                                    <p:animEffect transition="in" filter="wipe(left)">
                                      <p:cBhvr>
                                        <p:cTn id="17" dur="500"/>
                                        <p:tgtEl>
                                          <p:spTgt spid="799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9927"/>
                                        </p:tgtEl>
                                        <p:attrNameLst>
                                          <p:attrName>style.visibility</p:attrName>
                                        </p:attrNameLst>
                                      </p:cBhvr>
                                      <p:to>
                                        <p:strVal val="visible"/>
                                      </p:to>
                                    </p:set>
                                    <p:animEffect transition="in" filter="wipe(left)">
                                      <p:cBhvr>
                                        <p:cTn id="22" dur="500"/>
                                        <p:tgtEl>
                                          <p:spTgt spid="79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24" grpId="0"/>
      <p:bldP spid="79925" grpId="0"/>
      <p:bldP spid="79926" grpId="0"/>
      <p:bldP spid="799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Autofit/>
          </a:bodyPr>
          <a:lstStyle/>
          <a:p>
            <a:pPr lvl="0" algn="just">
              <a:lnSpc>
                <a:spcPct val="90000"/>
              </a:lnSpc>
            </a:pPr>
            <a:r>
              <a:rPr lang="zh-CN" altLang="en-US" sz="3200" dirty="0">
                <a:solidFill>
                  <a:srgbClr val="FF0000"/>
                </a:solidFill>
                <a:sym typeface="+mn-ea"/>
              </a:rPr>
              <a:t>终结符只有综合属性</a:t>
            </a:r>
            <a:r>
              <a:rPr lang="zh-CN" altLang="en-US" sz="3200" dirty="0">
                <a:sym typeface="+mn-ea"/>
              </a:rPr>
              <a:t>，由词法分析器提供</a:t>
            </a:r>
            <a:endParaRPr lang="zh-CN" altLang="en-US" sz="3200" dirty="0"/>
          </a:p>
          <a:p>
            <a:pPr lvl="0" algn="just">
              <a:lnSpc>
                <a:spcPct val="90000"/>
              </a:lnSpc>
            </a:pPr>
            <a:r>
              <a:rPr lang="zh-CN" altLang="en-US" sz="3200" dirty="0">
                <a:solidFill>
                  <a:srgbClr val="FF0000"/>
                </a:solidFill>
                <a:sym typeface="+mn-ea"/>
              </a:rPr>
              <a:t>非终结符既可有综合属性也可有继承属性</a:t>
            </a:r>
            <a:r>
              <a:rPr lang="zh-CN" altLang="en-US" sz="3200" dirty="0">
                <a:sym typeface="+mn-ea"/>
              </a:rPr>
              <a:t>，</a:t>
            </a:r>
            <a:r>
              <a:rPr lang="zh-CN" altLang="en-US" sz="3200" dirty="0">
                <a:solidFill>
                  <a:srgbClr val="0000CC"/>
                </a:solidFill>
                <a:sym typeface="+mn-ea"/>
              </a:rPr>
              <a:t>文法开始符号的所有继承属性作为属性计算前的初始值。</a:t>
            </a:r>
            <a:endParaRPr lang="zh-CN" altLang="en-US" sz="3200" dirty="0">
              <a:solidFill>
                <a:srgbClr val="0000CC"/>
              </a:solidFill>
            </a:endParaRPr>
          </a:p>
          <a:p>
            <a:pPr lvl="0" algn="just">
              <a:lnSpc>
                <a:spcPct val="90000"/>
              </a:lnSpc>
            </a:pPr>
            <a:r>
              <a:rPr lang="zh-CN" altLang="en-US" sz="3200" dirty="0">
                <a:solidFill>
                  <a:srgbClr val="0000CC"/>
                </a:solidFill>
                <a:sym typeface="+mn-ea"/>
              </a:rPr>
              <a:t>对出现在产生式</a:t>
            </a:r>
            <a:r>
              <a:rPr lang="zh-CN" altLang="en-US" sz="3200" dirty="0">
                <a:solidFill>
                  <a:srgbClr val="FF0000"/>
                </a:solidFill>
                <a:sym typeface="+mn-ea"/>
              </a:rPr>
              <a:t>右边</a:t>
            </a:r>
            <a:r>
              <a:rPr lang="zh-CN" altLang="en-US" sz="3200" dirty="0">
                <a:solidFill>
                  <a:srgbClr val="0000CC"/>
                </a:solidFill>
                <a:sym typeface="+mn-ea"/>
              </a:rPr>
              <a:t>的</a:t>
            </a:r>
            <a:r>
              <a:rPr lang="zh-CN" altLang="en-US" sz="3200" dirty="0">
                <a:solidFill>
                  <a:srgbClr val="FF0000"/>
                </a:solidFill>
                <a:sym typeface="+mn-ea"/>
              </a:rPr>
              <a:t>继承属性</a:t>
            </a:r>
            <a:r>
              <a:rPr lang="zh-CN" altLang="en-US" sz="3200" dirty="0">
                <a:solidFill>
                  <a:srgbClr val="0000CC"/>
                </a:solidFill>
                <a:sym typeface="+mn-ea"/>
              </a:rPr>
              <a:t>和出现在产生式</a:t>
            </a:r>
            <a:r>
              <a:rPr lang="zh-CN" altLang="en-US" sz="3200" dirty="0">
                <a:solidFill>
                  <a:srgbClr val="FF0000"/>
                </a:solidFill>
                <a:sym typeface="+mn-ea"/>
              </a:rPr>
              <a:t>左边</a:t>
            </a:r>
            <a:r>
              <a:rPr lang="zh-CN" altLang="en-US" sz="3200" dirty="0">
                <a:solidFill>
                  <a:srgbClr val="0000CC"/>
                </a:solidFill>
                <a:sym typeface="+mn-ea"/>
              </a:rPr>
              <a:t>的</a:t>
            </a:r>
            <a:r>
              <a:rPr lang="zh-CN" altLang="en-US" sz="3200" dirty="0">
                <a:solidFill>
                  <a:srgbClr val="FF0000"/>
                </a:solidFill>
                <a:sym typeface="+mn-ea"/>
              </a:rPr>
              <a:t>综合属性</a:t>
            </a:r>
            <a:r>
              <a:rPr lang="zh-CN" altLang="en-US" sz="3200" dirty="0">
                <a:solidFill>
                  <a:srgbClr val="0000CC"/>
                </a:solidFill>
                <a:sym typeface="+mn-ea"/>
              </a:rPr>
              <a:t>都</a:t>
            </a:r>
            <a:r>
              <a:rPr lang="zh-CN" altLang="en-US" sz="3200" dirty="0">
                <a:solidFill>
                  <a:srgbClr val="FF0000"/>
                </a:solidFill>
                <a:sym typeface="+mn-ea"/>
              </a:rPr>
              <a:t>必须提供一个计算规则</a:t>
            </a:r>
            <a:r>
              <a:rPr lang="zh-CN" altLang="en-US" sz="3200" dirty="0">
                <a:solidFill>
                  <a:srgbClr val="0000CC"/>
                </a:solidFill>
                <a:sym typeface="+mn-ea"/>
              </a:rPr>
              <a:t>。</a:t>
            </a:r>
            <a:r>
              <a:rPr lang="zh-CN" altLang="en-US" sz="3200" dirty="0">
                <a:sym typeface="+mn-ea"/>
              </a:rPr>
              <a:t>属性</a:t>
            </a:r>
            <a:r>
              <a:rPr lang="zh-CN" altLang="en-US" sz="3200" dirty="0">
                <a:solidFill>
                  <a:srgbClr val="FF0000"/>
                </a:solidFill>
                <a:sym typeface="+mn-ea"/>
              </a:rPr>
              <a:t>计算规则</a:t>
            </a:r>
            <a:r>
              <a:rPr lang="zh-CN" altLang="en-US" sz="3200" dirty="0">
                <a:sym typeface="+mn-ea"/>
              </a:rPr>
              <a:t>中</a:t>
            </a:r>
            <a:r>
              <a:rPr lang="zh-CN" altLang="en-US" sz="3200" dirty="0">
                <a:solidFill>
                  <a:srgbClr val="FF0000"/>
                </a:solidFill>
                <a:sym typeface="+mn-ea"/>
              </a:rPr>
              <a:t>只能</a:t>
            </a:r>
            <a:r>
              <a:rPr lang="zh-CN" altLang="en-US" sz="3200" dirty="0">
                <a:sym typeface="+mn-ea"/>
              </a:rPr>
              <a:t>使用相应产生式中的</a:t>
            </a:r>
            <a:r>
              <a:rPr lang="zh-CN" altLang="en-US" sz="3200" dirty="0">
                <a:solidFill>
                  <a:srgbClr val="FF0000"/>
                </a:solidFill>
                <a:sym typeface="+mn-ea"/>
              </a:rPr>
              <a:t>文法符号的属性</a:t>
            </a:r>
            <a:r>
              <a:rPr lang="zh-CN" altLang="en-US" sz="3200" dirty="0">
                <a:sym typeface="+mn-ea"/>
              </a:rPr>
              <a:t>。</a:t>
            </a:r>
            <a:endParaRPr lang="zh-CN" altLang="en-US" sz="3200" dirty="0"/>
          </a:p>
          <a:p>
            <a:pPr lvl="0" algn="just">
              <a:lnSpc>
                <a:spcPct val="90000"/>
              </a:lnSpc>
            </a:pPr>
            <a:r>
              <a:rPr lang="zh-CN" altLang="en-US" sz="3200" dirty="0">
                <a:solidFill>
                  <a:srgbClr val="0000CC"/>
                </a:solidFill>
                <a:sym typeface="+mn-ea"/>
              </a:rPr>
              <a:t>出现在产生式</a:t>
            </a:r>
            <a:r>
              <a:rPr lang="zh-CN" altLang="en-US" sz="3200" dirty="0">
                <a:solidFill>
                  <a:srgbClr val="FF0000"/>
                </a:solidFill>
                <a:sym typeface="+mn-ea"/>
              </a:rPr>
              <a:t>左边</a:t>
            </a:r>
            <a:r>
              <a:rPr lang="zh-CN" altLang="en-US" sz="3200" dirty="0">
                <a:solidFill>
                  <a:srgbClr val="0000CC"/>
                </a:solidFill>
                <a:sym typeface="+mn-ea"/>
              </a:rPr>
              <a:t>的继承属性和出现在产生式</a:t>
            </a:r>
            <a:r>
              <a:rPr lang="zh-CN" altLang="en-US" sz="3200" dirty="0">
                <a:solidFill>
                  <a:srgbClr val="FF0000"/>
                </a:solidFill>
                <a:sym typeface="+mn-ea"/>
              </a:rPr>
              <a:t>右边</a:t>
            </a:r>
            <a:r>
              <a:rPr lang="zh-CN" altLang="en-US" sz="3200" dirty="0">
                <a:solidFill>
                  <a:srgbClr val="0000CC"/>
                </a:solidFill>
                <a:sym typeface="+mn-ea"/>
              </a:rPr>
              <a:t>的综合属性</a:t>
            </a:r>
            <a:r>
              <a:rPr lang="zh-CN" altLang="en-US" sz="3200" dirty="0">
                <a:solidFill>
                  <a:srgbClr val="FF0000"/>
                </a:solidFill>
                <a:sym typeface="+mn-ea"/>
              </a:rPr>
              <a:t>不由</a:t>
            </a:r>
            <a:r>
              <a:rPr lang="zh-CN" altLang="en-US" sz="3200" dirty="0">
                <a:solidFill>
                  <a:srgbClr val="0000CC"/>
                </a:solidFill>
                <a:sym typeface="+mn-ea"/>
              </a:rPr>
              <a:t>所给的产生式的属性</a:t>
            </a:r>
            <a:r>
              <a:rPr lang="zh-CN" altLang="en-US" sz="3200" dirty="0">
                <a:solidFill>
                  <a:srgbClr val="FF0000"/>
                </a:solidFill>
                <a:sym typeface="+mn-ea"/>
              </a:rPr>
              <a:t>计算规则</a:t>
            </a:r>
            <a:r>
              <a:rPr lang="zh-CN" altLang="en-US" sz="3200" dirty="0">
                <a:solidFill>
                  <a:srgbClr val="0000CC"/>
                </a:solidFill>
                <a:sym typeface="+mn-ea"/>
              </a:rPr>
              <a:t>进行计算，</a:t>
            </a:r>
            <a:r>
              <a:rPr lang="zh-CN" altLang="en-US" sz="3200" dirty="0">
                <a:sym typeface="+mn-ea"/>
              </a:rPr>
              <a:t>它们由</a:t>
            </a:r>
            <a:r>
              <a:rPr lang="zh-CN" altLang="en-US" sz="3200" dirty="0">
                <a:solidFill>
                  <a:srgbClr val="FF0000"/>
                </a:solidFill>
                <a:sym typeface="+mn-ea"/>
              </a:rPr>
              <a:t>其它产生式</a:t>
            </a:r>
            <a:r>
              <a:rPr lang="zh-CN" altLang="en-US" sz="3200" dirty="0">
                <a:sym typeface="+mn-ea"/>
              </a:rPr>
              <a:t>的属性规则计算或者由属性计算器的参数提供。</a:t>
            </a:r>
            <a:endParaRPr lang="zh-CN" altLang="en-US" sz="3200" dirty="0"/>
          </a:p>
          <a:p>
            <a:endParaRPr lang="zh-CN" altLang="en-US" sz="2800" dirty="0"/>
          </a:p>
        </p:txBody>
      </p:sp>
      <p:sp>
        <p:nvSpPr>
          <p:cNvPr id="3" name="标题 2"/>
          <p:cNvSpPr>
            <a:spLocks noGrp="1"/>
          </p:cNvSpPr>
          <p:nvPr>
            <p:ph type="title"/>
          </p:nvPr>
        </p:nvSpPr>
        <p:spPr/>
        <p:txBody>
          <a:bodyPr/>
          <a:lstStyle/>
          <a:p>
            <a:r>
              <a:rPr lang="zh-CN" altLang="en-US">
                <a:sym typeface="+mn-ea"/>
              </a:rPr>
              <a:t>二、属性文法</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ltLang="en-US"/>
          </a:p>
          <a:p>
            <a:endParaRPr lang="zh-CN" altLang="en-US"/>
          </a:p>
          <a:p>
            <a:endParaRPr lang="zh-CN" altLang="en-US"/>
          </a:p>
          <a:p>
            <a:r>
              <a:rPr lang="zh-CN" altLang="en-US">
                <a:solidFill>
                  <a:srgbClr val="FF0000"/>
                </a:solidFill>
              </a:rPr>
              <a:t>为什么要区分综合属性和继承属性？</a:t>
            </a:r>
          </a:p>
        </p:txBody>
      </p:sp>
      <p:sp>
        <p:nvSpPr>
          <p:cNvPr id="3" name="标题 2"/>
          <p:cNvSpPr>
            <a:spLocks noGrp="1"/>
          </p:cNvSpPr>
          <p:nvPr>
            <p:ph type="title"/>
          </p:nvPr>
        </p:nvSpPr>
        <p:spPr/>
        <p:txBody>
          <a:bodyPr/>
          <a:lstStyle/>
          <a:p>
            <a:r>
              <a:rPr lang="zh-CN" altLang="en-US">
                <a:sym typeface="+mn-ea"/>
              </a:rPr>
              <a:t>二、属性文法</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361680" cy="5924550"/>
          </a:xfrm>
        </p:spPr>
        <p:txBody>
          <a:bodyPr>
            <a:normAutofit fontScale="77500" lnSpcReduction="20000"/>
          </a:bodyPr>
          <a:lstStyle/>
          <a:p>
            <a:r>
              <a:rPr lang="zh-CN" altLang="en-US" dirty="0">
                <a:sym typeface="+mn-ea"/>
              </a:rPr>
              <a:t>仅仅使用综合属性的属性文法称为S-属性文法</a:t>
            </a:r>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pPr lvl="1">
              <a:lnSpc>
                <a:spcPct val="120000"/>
              </a:lnSpc>
            </a:pPr>
            <a:r>
              <a:rPr lang="zh-CN" altLang="en-US" dirty="0"/>
              <a:t>S</a:t>
            </a:r>
            <a:r>
              <a:rPr lang="en-US" altLang="zh-CN" dirty="0"/>
              <a:t>-</a:t>
            </a:r>
            <a:r>
              <a:rPr lang="zh-CN" altLang="en-US" dirty="0"/>
              <a:t>属性文法，可以按照语法分析树节点的任何</a:t>
            </a:r>
            <a:r>
              <a:rPr lang="zh-CN" altLang="en-US" dirty="0">
                <a:solidFill>
                  <a:srgbClr val="FF0000"/>
                </a:solidFill>
              </a:rPr>
              <a:t>自底向上</a:t>
            </a:r>
            <a:r>
              <a:rPr lang="zh-CN" altLang="en-US" dirty="0"/>
              <a:t>顺序来计算它的各个属性值。</a:t>
            </a:r>
          </a:p>
          <a:p>
            <a:pPr lvl="1">
              <a:lnSpc>
                <a:spcPct val="120000"/>
              </a:lnSpc>
            </a:pPr>
            <a:r>
              <a:rPr lang="zh-CN" altLang="en-US" dirty="0"/>
              <a:t>S-属性定义可以在自底向上的语法分析过程中实现（</a:t>
            </a:r>
            <a:r>
              <a:rPr lang="en-US" altLang="zh-CN" dirty="0"/>
              <a:t>LR</a:t>
            </a:r>
            <a:r>
              <a:rPr lang="zh-CN" altLang="en-US" dirty="0"/>
              <a:t>）</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 </a:t>
            </a:r>
            <a:r>
              <a:rPr lang="en-US" altLang="zh-CN">
                <a:solidFill>
                  <a:srgbClr val="FF0000"/>
                </a:solidFill>
                <a:sym typeface="+mn-ea"/>
              </a:rPr>
              <a:t>S-</a:t>
            </a:r>
            <a:r>
              <a:rPr lang="zh-CN" altLang="en-US">
                <a:solidFill>
                  <a:srgbClr val="FF0000"/>
                </a:solidFill>
                <a:sym typeface="+mn-ea"/>
              </a:rPr>
              <a:t>属性文法</a:t>
            </a:r>
          </a:p>
        </p:txBody>
      </p:sp>
      <p:sp>
        <p:nvSpPr>
          <p:cNvPr id="23556" name="直接连接符 23555"/>
          <p:cNvSpPr/>
          <p:nvPr/>
        </p:nvSpPr>
        <p:spPr>
          <a:xfrm>
            <a:off x="1886268" y="1338580"/>
            <a:ext cx="6172200" cy="0"/>
          </a:xfrm>
          <a:prstGeom prst="line">
            <a:avLst/>
          </a:prstGeom>
          <a:ln w="9525" cap="flat" cmpd="sng">
            <a:solidFill>
              <a:schemeClr val="tx1"/>
            </a:solidFill>
            <a:prstDash val="solid"/>
            <a:headEnd type="none" w="med" len="med"/>
            <a:tailEnd type="none" w="med" len="med"/>
          </a:ln>
        </p:spPr>
      </p:sp>
      <p:sp>
        <p:nvSpPr>
          <p:cNvPr id="23557" name="直接连接符 23556"/>
          <p:cNvSpPr/>
          <p:nvPr/>
        </p:nvSpPr>
        <p:spPr>
          <a:xfrm flipH="1">
            <a:off x="1882934" y="1338580"/>
            <a:ext cx="0" cy="2438400"/>
          </a:xfrm>
          <a:prstGeom prst="line">
            <a:avLst/>
          </a:prstGeom>
          <a:ln w="9525" cap="flat" cmpd="sng">
            <a:solidFill>
              <a:schemeClr val="tx1"/>
            </a:solidFill>
            <a:prstDash val="solid"/>
            <a:headEnd type="none" w="med" len="med"/>
            <a:tailEnd type="none" w="med" len="med"/>
          </a:ln>
        </p:spPr>
      </p:sp>
      <p:sp>
        <p:nvSpPr>
          <p:cNvPr id="23558" name="直接连接符 23557"/>
          <p:cNvSpPr/>
          <p:nvPr/>
        </p:nvSpPr>
        <p:spPr>
          <a:xfrm>
            <a:off x="8055134" y="1338580"/>
            <a:ext cx="0" cy="2895600"/>
          </a:xfrm>
          <a:prstGeom prst="line">
            <a:avLst/>
          </a:prstGeom>
          <a:ln w="9525" cap="flat" cmpd="sng">
            <a:solidFill>
              <a:schemeClr val="tx1"/>
            </a:solidFill>
            <a:prstDash val="solid"/>
            <a:headEnd type="none" w="med" len="med"/>
            <a:tailEnd type="none" w="med" len="med"/>
          </a:ln>
        </p:spPr>
      </p:sp>
      <p:sp>
        <p:nvSpPr>
          <p:cNvPr id="23559" name="直接连接符 23558"/>
          <p:cNvSpPr/>
          <p:nvPr/>
        </p:nvSpPr>
        <p:spPr>
          <a:xfrm>
            <a:off x="1882934" y="1948180"/>
            <a:ext cx="6172200" cy="0"/>
          </a:xfrm>
          <a:prstGeom prst="line">
            <a:avLst/>
          </a:prstGeom>
          <a:ln w="9525" cap="flat" cmpd="sng">
            <a:solidFill>
              <a:schemeClr val="tx1"/>
            </a:solidFill>
            <a:prstDash val="solid"/>
            <a:headEnd type="none" w="med" len="med"/>
            <a:tailEnd type="none" w="med" len="med"/>
          </a:ln>
        </p:spPr>
      </p:sp>
      <p:sp>
        <p:nvSpPr>
          <p:cNvPr id="23560" name="直接连接符 23559"/>
          <p:cNvSpPr/>
          <p:nvPr/>
        </p:nvSpPr>
        <p:spPr>
          <a:xfrm>
            <a:off x="3864134" y="1338580"/>
            <a:ext cx="0" cy="3276600"/>
          </a:xfrm>
          <a:prstGeom prst="line">
            <a:avLst/>
          </a:prstGeom>
          <a:ln w="9525" cap="flat" cmpd="sng">
            <a:solidFill>
              <a:schemeClr val="tx1"/>
            </a:solidFill>
            <a:prstDash val="solid"/>
            <a:headEnd type="none" w="med" len="med"/>
            <a:tailEnd type="none" w="med" len="med"/>
          </a:ln>
        </p:spPr>
      </p:sp>
      <p:sp>
        <p:nvSpPr>
          <p:cNvPr id="23561" name="直接连接符 23560"/>
          <p:cNvSpPr/>
          <p:nvPr/>
        </p:nvSpPr>
        <p:spPr>
          <a:xfrm>
            <a:off x="1882934" y="3853180"/>
            <a:ext cx="0" cy="838200"/>
          </a:xfrm>
          <a:prstGeom prst="line">
            <a:avLst/>
          </a:prstGeom>
          <a:ln w="9525" cap="flat" cmpd="sng">
            <a:solidFill>
              <a:schemeClr val="tx1"/>
            </a:solidFill>
            <a:prstDash val="solid"/>
            <a:headEnd type="none" w="med" len="med"/>
            <a:tailEnd type="none" w="med" len="med"/>
          </a:ln>
        </p:spPr>
      </p:sp>
      <p:sp>
        <p:nvSpPr>
          <p:cNvPr id="23562" name="直接连接符 23561"/>
          <p:cNvSpPr/>
          <p:nvPr/>
        </p:nvSpPr>
        <p:spPr>
          <a:xfrm>
            <a:off x="8055134" y="4157980"/>
            <a:ext cx="0" cy="533400"/>
          </a:xfrm>
          <a:prstGeom prst="line">
            <a:avLst/>
          </a:prstGeom>
          <a:ln w="9525" cap="flat" cmpd="sng">
            <a:solidFill>
              <a:schemeClr val="tx1"/>
            </a:solidFill>
            <a:prstDash val="solid"/>
            <a:headEnd type="none" w="med" len="med"/>
            <a:tailEnd type="none" w="med" len="med"/>
          </a:ln>
        </p:spPr>
      </p:sp>
      <p:sp>
        <p:nvSpPr>
          <p:cNvPr id="23563" name="矩形 23562"/>
          <p:cNvSpPr/>
          <p:nvPr/>
        </p:nvSpPr>
        <p:spPr>
          <a:xfrm>
            <a:off x="4789647" y="1446530"/>
            <a:ext cx="1866900" cy="457200"/>
          </a:xfrm>
          <a:prstGeom prst="rect">
            <a:avLst/>
          </a:prstGeom>
          <a:noFill/>
          <a:ln w="9525">
            <a:noFill/>
          </a:ln>
        </p:spPr>
        <p:txBody>
          <a:bodyPr wrap="none" anchor="ctr">
            <a:spAutoFit/>
          </a:bodyPr>
          <a:lstStyle/>
          <a:p>
            <a:pPr algn="ctr">
              <a:spcBef>
                <a:spcPct val="20000"/>
              </a:spcBef>
              <a:buClr>
                <a:schemeClr val="tx1"/>
              </a:buClr>
            </a:pPr>
            <a:r>
              <a:rPr lang="zh-CN" altLang="en-US" sz="2400" b="1" dirty="0">
                <a:latin typeface="Times New Roman" panose="02020603050405020304" charset="0"/>
              </a:rPr>
              <a:t>语  义  规  则</a:t>
            </a:r>
            <a:endParaRPr lang="zh-CN" altLang="en-US" sz="1400" b="1" dirty="0">
              <a:latin typeface="Times New Roman" panose="02020603050405020304" charset="0"/>
            </a:endParaRPr>
          </a:p>
        </p:txBody>
      </p:sp>
      <p:sp>
        <p:nvSpPr>
          <p:cNvPr id="23564" name="矩形 23563"/>
          <p:cNvSpPr/>
          <p:nvPr/>
        </p:nvSpPr>
        <p:spPr>
          <a:xfrm>
            <a:off x="1959134" y="1979930"/>
            <a:ext cx="1069975" cy="457200"/>
          </a:xfrm>
          <a:prstGeom prst="rect">
            <a:avLst/>
          </a:prstGeom>
          <a:noFill/>
          <a:ln w="9525">
            <a:noFill/>
          </a:ln>
        </p:spPr>
        <p:txBody>
          <a:bodyPr wrap="none" anchor="ctr">
            <a:spAutoFit/>
          </a:bodyPr>
          <a:lstStyle/>
          <a:p>
            <a:pPr algn="ctr">
              <a:spcBef>
                <a:spcPct val="20000"/>
              </a:spcBef>
              <a:buClr>
                <a:schemeClr val="tx1"/>
              </a:buClr>
            </a:pPr>
            <a:r>
              <a:rPr lang="en-US" altLang="en-US">
                <a:latin typeface="Times New Roman" panose="02020603050405020304" charset="0"/>
              </a:rPr>
              <a:t> </a:t>
            </a:r>
            <a:r>
              <a:rPr lang="en-US" altLang="zh-CN" sz="2400">
                <a:latin typeface="Times New Roman" panose="02020603050405020304" charset="0"/>
              </a:rPr>
              <a:t>L      E</a:t>
            </a:r>
            <a:endParaRPr lang="en-US" altLang="zh-CN" sz="1400">
              <a:latin typeface="Times New Roman" panose="02020603050405020304" charset="0"/>
            </a:endParaRPr>
          </a:p>
        </p:txBody>
      </p:sp>
      <p:sp>
        <p:nvSpPr>
          <p:cNvPr id="23565" name="直接连接符 23564"/>
          <p:cNvSpPr/>
          <p:nvPr/>
        </p:nvSpPr>
        <p:spPr>
          <a:xfrm>
            <a:off x="1882934" y="4691380"/>
            <a:ext cx="0" cy="76200"/>
          </a:xfrm>
          <a:prstGeom prst="line">
            <a:avLst/>
          </a:prstGeom>
          <a:ln w="9525" cap="flat" cmpd="sng">
            <a:solidFill>
              <a:schemeClr val="tx1"/>
            </a:solidFill>
            <a:prstDash val="solid"/>
            <a:headEnd type="none" w="med" len="med"/>
            <a:tailEnd type="none" w="med" len="med"/>
          </a:ln>
        </p:spPr>
      </p:sp>
      <p:sp>
        <p:nvSpPr>
          <p:cNvPr id="23566" name="直接连接符 23565"/>
          <p:cNvSpPr/>
          <p:nvPr/>
        </p:nvSpPr>
        <p:spPr>
          <a:xfrm>
            <a:off x="3864134" y="4615180"/>
            <a:ext cx="0" cy="228600"/>
          </a:xfrm>
          <a:prstGeom prst="line">
            <a:avLst/>
          </a:prstGeom>
          <a:ln w="9525" cap="flat" cmpd="sng">
            <a:solidFill>
              <a:schemeClr val="tx1"/>
            </a:solidFill>
            <a:prstDash val="solid"/>
            <a:headEnd type="none" w="med" len="med"/>
            <a:tailEnd type="none" w="med" len="med"/>
          </a:ln>
        </p:spPr>
      </p:sp>
      <p:sp>
        <p:nvSpPr>
          <p:cNvPr id="23567" name="直接连接符 23566"/>
          <p:cNvSpPr/>
          <p:nvPr/>
        </p:nvSpPr>
        <p:spPr>
          <a:xfrm>
            <a:off x="8055134" y="4691380"/>
            <a:ext cx="0" cy="152400"/>
          </a:xfrm>
          <a:prstGeom prst="line">
            <a:avLst/>
          </a:prstGeom>
          <a:ln w="9525" cap="flat" cmpd="sng">
            <a:solidFill>
              <a:schemeClr val="tx1"/>
            </a:solidFill>
            <a:prstDash val="solid"/>
            <a:headEnd type="none" w="med" len="med"/>
            <a:tailEnd type="none" w="med" len="med"/>
          </a:ln>
        </p:spPr>
      </p:sp>
      <p:sp>
        <p:nvSpPr>
          <p:cNvPr id="23568" name="直接连接符 23567"/>
          <p:cNvSpPr/>
          <p:nvPr/>
        </p:nvSpPr>
        <p:spPr>
          <a:xfrm>
            <a:off x="1882934" y="4767580"/>
            <a:ext cx="0" cy="152400"/>
          </a:xfrm>
          <a:prstGeom prst="line">
            <a:avLst/>
          </a:prstGeom>
          <a:ln w="9525" cap="flat" cmpd="sng">
            <a:solidFill>
              <a:schemeClr val="tx1"/>
            </a:solidFill>
            <a:prstDash val="solid"/>
            <a:headEnd type="none" w="med" len="med"/>
            <a:tailEnd type="none" w="med" len="med"/>
          </a:ln>
        </p:spPr>
      </p:sp>
      <p:sp>
        <p:nvSpPr>
          <p:cNvPr id="23569" name="直接连接符 23568"/>
          <p:cNvSpPr/>
          <p:nvPr/>
        </p:nvSpPr>
        <p:spPr>
          <a:xfrm>
            <a:off x="1882934" y="4919980"/>
            <a:ext cx="6172200" cy="0"/>
          </a:xfrm>
          <a:prstGeom prst="line">
            <a:avLst/>
          </a:prstGeom>
          <a:ln w="9525" cap="flat" cmpd="sng">
            <a:solidFill>
              <a:schemeClr val="tx1"/>
            </a:solidFill>
            <a:prstDash val="solid"/>
            <a:headEnd type="none" w="med" len="med"/>
            <a:tailEnd type="none" w="med" len="med"/>
          </a:ln>
        </p:spPr>
      </p:sp>
      <p:sp>
        <p:nvSpPr>
          <p:cNvPr id="23570" name="直接连接符 23569"/>
          <p:cNvSpPr/>
          <p:nvPr/>
        </p:nvSpPr>
        <p:spPr>
          <a:xfrm>
            <a:off x="8055134" y="4767580"/>
            <a:ext cx="0" cy="152400"/>
          </a:xfrm>
          <a:prstGeom prst="line">
            <a:avLst/>
          </a:prstGeom>
          <a:ln w="9525" cap="flat" cmpd="sng">
            <a:solidFill>
              <a:schemeClr val="tx1"/>
            </a:solidFill>
            <a:prstDash val="solid"/>
            <a:headEnd type="none" w="med" len="med"/>
            <a:tailEnd type="none" w="med" len="med"/>
          </a:ln>
        </p:spPr>
      </p:sp>
      <p:sp>
        <p:nvSpPr>
          <p:cNvPr id="23571" name="直接连接符 23570"/>
          <p:cNvSpPr/>
          <p:nvPr/>
        </p:nvSpPr>
        <p:spPr>
          <a:xfrm>
            <a:off x="3864134" y="4767580"/>
            <a:ext cx="0" cy="152400"/>
          </a:xfrm>
          <a:prstGeom prst="line">
            <a:avLst/>
          </a:prstGeom>
          <a:ln w="9525" cap="flat" cmpd="sng">
            <a:solidFill>
              <a:schemeClr val="tx1"/>
            </a:solidFill>
            <a:prstDash val="solid"/>
            <a:headEnd type="none" w="med" len="med"/>
            <a:tailEnd type="none" w="med" len="med"/>
          </a:ln>
        </p:spPr>
      </p:sp>
      <p:sp>
        <p:nvSpPr>
          <p:cNvPr id="23572" name="矩形 23571"/>
          <p:cNvSpPr/>
          <p:nvPr/>
        </p:nvSpPr>
        <p:spPr>
          <a:xfrm>
            <a:off x="1998822" y="2437130"/>
            <a:ext cx="1471612"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E      E</a:t>
            </a:r>
            <a:r>
              <a:rPr lang="en-US" altLang="zh-CN" sz="2400" baseline="-25000">
                <a:latin typeface="Times New Roman" panose="02020603050405020304" charset="0"/>
              </a:rPr>
              <a:t>1</a:t>
            </a:r>
            <a:r>
              <a:rPr lang="en-US" altLang="zh-CN" sz="2400">
                <a:latin typeface="Times New Roman" panose="02020603050405020304" charset="0"/>
              </a:rPr>
              <a:t>+T</a:t>
            </a:r>
            <a:endParaRPr lang="en-US" altLang="zh-CN" sz="1400">
              <a:latin typeface="Times New Roman" panose="02020603050405020304" charset="0"/>
            </a:endParaRPr>
          </a:p>
        </p:txBody>
      </p:sp>
      <p:sp>
        <p:nvSpPr>
          <p:cNvPr id="23573" name="矩形 23572"/>
          <p:cNvSpPr/>
          <p:nvPr/>
        </p:nvSpPr>
        <p:spPr>
          <a:xfrm>
            <a:off x="2008347" y="2830830"/>
            <a:ext cx="1012825" cy="457200"/>
          </a:xfrm>
          <a:prstGeom prst="rect">
            <a:avLst/>
          </a:prstGeom>
          <a:noFill/>
          <a:ln w="9525">
            <a:noFill/>
          </a:ln>
        </p:spPr>
        <p:txBody>
          <a:bodyPr wrap="none" anchor="ctr">
            <a:spAutoFit/>
          </a:bodyPr>
          <a:lstStyle/>
          <a:p>
            <a:pPr algn="ctr">
              <a:spcBef>
                <a:spcPct val="20000"/>
              </a:spcBef>
              <a:buClr>
                <a:schemeClr val="tx1"/>
              </a:buClr>
            </a:pPr>
            <a:r>
              <a:rPr lang="en-US" altLang="zh-CN" sz="2400">
                <a:latin typeface="Times New Roman" panose="02020603050405020304" charset="0"/>
              </a:rPr>
              <a:t>E      T</a:t>
            </a:r>
            <a:endParaRPr lang="en-US" altLang="zh-CN">
              <a:latin typeface="Times New Roman" panose="02020603050405020304" charset="0"/>
            </a:endParaRPr>
          </a:p>
        </p:txBody>
      </p:sp>
      <p:sp>
        <p:nvSpPr>
          <p:cNvPr id="23574" name="矩形 23573"/>
          <p:cNvSpPr/>
          <p:nvPr/>
        </p:nvSpPr>
        <p:spPr>
          <a:xfrm>
            <a:off x="1984534" y="3275330"/>
            <a:ext cx="1665288"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T      T</a:t>
            </a:r>
            <a:r>
              <a:rPr lang="en-US" altLang="zh-CN" sz="2400" baseline="-25000" dirty="0">
                <a:latin typeface="Times New Roman" panose="02020603050405020304" charset="0"/>
              </a:rPr>
              <a:t>1</a:t>
            </a:r>
            <a:r>
              <a:rPr lang="en-US" altLang="zh-CN" sz="2400" dirty="0">
                <a:latin typeface="Times New Roman" panose="02020603050405020304" charset="0"/>
              </a:rPr>
              <a:t> *  F</a:t>
            </a:r>
          </a:p>
        </p:txBody>
      </p:sp>
      <p:sp>
        <p:nvSpPr>
          <p:cNvPr id="23575" name="矩形 23574"/>
          <p:cNvSpPr/>
          <p:nvPr/>
        </p:nvSpPr>
        <p:spPr>
          <a:xfrm>
            <a:off x="2009934" y="3681730"/>
            <a:ext cx="996950"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T      F</a:t>
            </a:r>
            <a:endParaRPr lang="en-US" altLang="zh-CN" dirty="0">
              <a:latin typeface="Times New Roman" panose="02020603050405020304" charset="0"/>
            </a:endParaRPr>
          </a:p>
        </p:txBody>
      </p:sp>
      <p:sp>
        <p:nvSpPr>
          <p:cNvPr id="23576" name="矩形 23575"/>
          <p:cNvSpPr/>
          <p:nvPr/>
        </p:nvSpPr>
        <p:spPr>
          <a:xfrm>
            <a:off x="2013109" y="4113530"/>
            <a:ext cx="1200150"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F      (E)</a:t>
            </a:r>
          </a:p>
        </p:txBody>
      </p:sp>
      <p:sp>
        <p:nvSpPr>
          <p:cNvPr id="23577" name="矩形 23576"/>
          <p:cNvSpPr/>
          <p:nvPr/>
        </p:nvSpPr>
        <p:spPr>
          <a:xfrm>
            <a:off x="2038509" y="4494530"/>
            <a:ext cx="1368425" cy="457200"/>
          </a:xfrm>
          <a:prstGeom prst="rect">
            <a:avLst/>
          </a:prstGeom>
          <a:noFill/>
          <a:ln w="9525">
            <a:noFill/>
          </a:ln>
        </p:spPr>
        <p:txBody>
          <a:bodyPr wrap="none" anchor="ctr">
            <a:spAutoFit/>
          </a:bodyPr>
          <a:lstStyle/>
          <a:p>
            <a:pPr algn="ctr">
              <a:spcBef>
                <a:spcPct val="20000"/>
              </a:spcBef>
              <a:buClr>
                <a:schemeClr val="tx1"/>
              </a:buClr>
            </a:pPr>
            <a:r>
              <a:rPr lang="en-US" altLang="zh-CN" sz="2400" dirty="0">
                <a:latin typeface="Times New Roman" panose="02020603050405020304" charset="0"/>
              </a:rPr>
              <a:t>F      digit</a:t>
            </a:r>
          </a:p>
        </p:txBody>
      </p:sp>
      <p:sp>
        <p:nvSpPr>
          <p:cNvPr id="23578" name="直接连接符 23577"/>
          <p:cNvSpPr/>
          <p:nvPr/>
        </p:nvSpPr>
        <p:spPr>
          <a:xfrm>
            <a:off x="2289334" y="2202180"/>
            <a:ext cx="381000" cy="0"/>
          </a:xfrm>
          <a:prstGeom prst="line">
            <a:avLst/>
          </a:prstGeom>
          <a:ln w="9525" cap="flat" cmpd="sng">
            <a:solidFill>
              <a:schemeClr val="tx1"/>
            </a:solidFill>
            <a:prstDash val="solid"/>
            <a:headEnd type="none" w="med" len="med"/>
            <a:tailEnd type="triangle" w="med" len="med"/>
          </a:ln>
        </p:spPr>
      </p:sp>
      <p:sp>
        <p:nvSpPr>
          <p:cNvPr id="23579" name="直接连接符 23578"/>
          <p:cNvSpPr/>
          <p:nvPr/>
        </p:nvSpPr>
        <p:spPr>
          <a:xfrm>
            <a:off x="2365534" y="2684780"/>
            <a:ext cx="304800" cy="0"/>
          </a:xfrm>
          <a:prstGeom prst="line">
            <a:avLst/>
          </a:prstGeom>
          <a:ln w="9525" cap="flat" cmpd="sng">
            <a:solidFill>
              <a:schemeClr val="tx1"/>
            </a:solidFill>
            <a:prstDash val="solid"/>
            <a:headEnd type="none" w="med" len="med"/>
            <a:tailEnd type="triangle" w="med" len="med"/>
          </a:ln>
        </p:spPr>
      </p:sp>
      <p:sp>
        <p:nvSpPr>
          <p:cNvPr id="23580" name="直接连接符 23579"/>
          <p:cNvSpPr/>
          <p:nvPr/>
        </p:nvSpPr>
        <p:spPr>
          <a:xfrm>
            <a:off x="2314734" y="3129280"/>
            <a:ext cx="381000" cy="0"/>
          </a:xfrm>
          <a:prstGeom prst="line">
            <a:avLst/>
          </a:prstGeom>
          <a:ln w="9525" cap="flat" cmpd="sng">
            <a:solidFill>
              <a:schemeClr val="tx1"/>
            </a:solidFill>
            <a:prstDash val="solid"/>
            <a:headEnd type="none" w="med" len="med"/>
            <a:tailEnd type="triangle" w="med" len="med"/>
          </a:ln>
        </p:spPr>
      </p:sp>
      <p:sp>
        <p:nvSpPr>
          <p:cNvPr id="23581" name="直接连接符 23580"/>
          <p:cNvSpPr/>
          <p:nvPr/>
        </p:nvSpPr>
        <p:spPr>
          <a:xfrm>
            <a:off x="2289334" y="3522980"/>
            <a:ext cx="381000" cy="0"/>
          </a:xfrm>
          <a:prstGeom prst="line">
            <a:avLst/>
          </a:prstGeom>
          <a:ln w="9525" cap="flat" cmpd="sng">
            <a:solidFill>
              <a:schemeClr val="tx1"/>
            </a:solidFill>
            <a:prstDash val="solid"/>
            <a:headEnd type="none" w="med" len="med"/>
            <a:tailEnd type="triangle" w="med" len="med"/>
          </a:ln>
        </p:spPr>
      </p:sp>
      <p:sp>
        <p:nvSpPr>
          <p:cNvPr id="23582" name="直接连接符 23581"/>
          <p:cNvSpPr/>
          <p:nvPr/>
        </p:nvSpPr>
        <p:spPr>
          <a:xfrm>
            <a:off x="2340134" y="3903980"/>
            <a:ext cx="304800" cy="0"/>
          </a:xfrm>
          <a:prstGeom prst="line">
            <a:avLst/>
          </a:prstGeom>
          <a:ln w="9525" cap="flat" cmpd="sng">
            <a:solidFill>
              <a:schemeClr val="tx1"/>
            </a:solidFill>
            <a:prstDash val="solid"/>
            <a:headEnd type="none" w="med" len="med"/>
            <a:tailEnd type="triangle" w="med" len="med"/>
          </a:ln>
        </p:spPr>
      </p:sp>
      <p:sp>
        <p:nvSpPr>
          <p:cNvPr id="23583" name="直接连接符 23582"/>
          <p:cNvSpPr/>
          <p:nvPr/>
        </p:nvSpPr>
        <p:spPr>
          <a:xfrm>
            <a:off x="2314734" y="4373880"/>
            <a:ext cx="381000" cy="0"/>
          </a:xfrm>
          <a:prstGeom prst="line">
            <a:avLst/>
          </a:prstGeom>
          <a:ln w="9525" cap="flat" cmpd="sng">
            <a:solidFill>
              <a:schemeClr val="tx1"/>
            </a:solidFill>
            <a:prstDash val="solid"/>
            <a:headEnd type="none" w="med" len="med"/>
            <a:tailEnd type="triangle" w="med" len="med"/>
          </a:ln>
        </p:spPr>
      </p:sp>
      <p:sp>
        <p:nvSpPr>
          <p:cNvPr id="23584" name="直接连接符 23583"/>
          <p:cNvSpPr/>
          <p:nvPr/>
        </p:nvSpPr>
        <p:spPr>
          <a:xfrm>
            <a:off x="2340134" y="4716780"/>
            <a:ext cx="304800" cy="0"/>
          </a:xfrm>
          <a:prstGeom prst="line">
            <a:avLst/>
          </a:prstGeom>
          <a:ln w="9525" cap="flat" cmpd="sng">
            <a:solidFill>
              <a:schemeClr val="tx1"/>
            </a:solidFill>
            <a:prstDash val="solid"/>
            <a:headEnd type="none" w="med" len="med"/>
            <a:tailEnd type="triangle" w="med" len="med"/>
          </a:ln>
        </p:spPr>
      </p:sp>
      <p:sp>
        <p:nvSpPr>
          <p:cNvPr id="23585" name="矩形 23584"/>
          <p:cNvSpPr/>
          <p:nvPr/>
        </p:nvSpPr>
        <p:spPr>
          <a:xfrm>
            <a:off x="4199097" y="1948180"/>
            <a:ext cx="1612900" cy="457200"/>
          </a:xfrm>
          <a:prstGeom prst="rect">
            <a:avLst/>
          </a:prstGeom>
          <a:noFill/>
          <a:ln w="9525">
            <a:noFill/>
          </a:ln>
        </p:spPr>
        <p:txBody>
          <a:bodyPr wrap="none" anchor="ctr">
            <a:spAutoFit/>
          </a:bodyPr>
          <a:lstStyle/>
          <a:p>
            <a:pPr algn="ctr">
              <a:spcBef>
                <a:spcPct val="20000"/>
              </a:spcBef>
              <a:buClr>
                <a:schemeClr val="tx1"/>
              </a:buClr>
            </a:pPr>
            <a:r>
              <a:rPr lang="en-US" altLang="zh-CN" sz="2400" err="1">
                <a:solidFill>
                  <a:srgbClr val="0000CC"/>
                </a:solidFill>
                <a:latin typeface="Times New Roman" panose="02020603050405020304" charset="0"/>
              </a:rPr>
              <a:t>Print(E.val</a:t>
            </a:r>
            <a:r>
              <a:rPr lang="en-US" altLang="zh-CN" sz="2400">
                <a:solidFill>
                  <a:srgbClr val="0000CC"/>
                </a:solidFill>
                <a:latin typeface="Times New Roman" panose="02020603050405020304" charset="0"/>
              </a:rPr>
              <a:t>)</a:t>
            </a:r>
          </a:p>
        </p:txBody>
      </p:sp>
      <p:sp>
        <p:nvSpPr>
          <p:cNvPr id="23586" name="矩形 23585"/>
          <p:cNvSpPr/>
          <p:nvPr/>
        </p:nvSpPr>
        <p:spPr>
          <a:xfrm>
            <a:off x="3953034" y="2405380"/>
            <a:ext cx="2841625" cy="457200"/>
          </a:xfrm>
          <a:prstGeom prst="rect">
            <a:avLst/>
          </a:prstGeom>
          <a:noFill/>
          <a:ln w="9525">
            <a:noFill/>
          </a:ln>
        </p:spPr>
        <p:txBody>
          <a:bodyPr wrap="none" anchor="ctr">
            <a:spAutoFit/>
          </a:bodyPr>
          <a:lstStyle/>
          <a:p>
            <a:pPr algn="ctr">
              <a:buClr>
                <a:schemeClr val="bg1"/>
              </a:buClr>
            </a:pPr>
            <a:r>
              <a:rPr lang="en-US" altLang="zh-CN">
                <a:solidFill>
                  <a:srgbClr val="0000CC"/>
                </a:solidFill>
                <a:latin typeface="Times New Roman" panose="02020603050405020304" charset="0"/>
              </a:rPr>
              <a:t>    </a:t>
            </a:r>
            <a:r>
              <a:rPr lang="en-US" altLang="zh-CN" sz="2400" err="1">
                <a:solidFill>
                  <a:srgbClr val="0000CC"/>
                </a:solidFill>
                <a:latin typeface="Times New Roman" panose="02020603050405020304" charset="0"/>
              </a:rPr>
              <a:t>E.val</a:t>
            </a:r>
            <a:r>
              <a:rPr lang="en-US" altLang="zh-CN" sz="2400">
                <a:solidFill>
                  <a:srgbClr val="0000CC"/>
                </a:solidFill>
                <a:latin typeface="Times New Roman" panose="02020603050405020304" charset="0"/>
              </a:rPr>
              <a:t>:=E</a:t>
            </a:r>
            <a:r>
              <a:rPr lang="en-US" altLang="zh-CN" sz="2400" baseline="-25000">
                <a:solidFill>
                  <a:srgbClr val="0000CC"/>
                </a:solidFill>
                <a:latin typeface="Times New Roman" panose="02020603050405020304" charset="0"/>
              </a:rPr>
              <a:t>1</a:t>
            </a:r>
            <a:r>
              <a:rPr lang="en-US" altLang="zh-CN" sz="2400">
                <a:solidFill>
                  <a:srgbClr val="0000CC"/>
                </a:solidFill>
                <a:latin typeface="Times New Roman" panose="02020603050405020304" charset="0"/>
              </a:rPr>
              <a:t>.val+T.val</a:t>
            </a:r>
          </a:p>
        </p:txBody>
      </p:sp>
      <p:sp>
        <p:nvSpPr>
          <p:cNvPr id="23587" name="矩形 23586"/>
          <p:cNvSpPr/>
          <p:nvPr/>
        </p:nvSpPr>
        <p:spPr>
          <a:xfrm>
            <a:off x="3980022" y="2830830"/>
            <a:ext cx="1935162" cy="457200"/>
          </a:xfrm>
          <a:prstGeom prst="rect">
            <a:avLst/>
          </a:prstGeom>
          <a:noFill/>
          <a:ln w="9525">
            <a:noFill/>
          </a:ln>
        </p:spPr>
        <p:txBody>
          <a:bodyPr wrap="none" anchor="ctr">
            <a:spAutoFit/>
          </a:bodyPr>
          <a:lstStyle/>
          <a:p>
            <a:pPr algn="ctr">
              <a:spcBef>
                <a:spcPct val="20000"/>
              </a:spcBef>
              <a:buClr>
                <a:schemeClr val="tx1"/>
              </a:buClr>
            </a:pPr>
            <a:r>
              <a:rPr lang="en-US" altLang="zh-CN">
                <a:solidFill>
                  <a:srgbClr val="0000CC"/>
                </a:solidFill>
                <a:latin typeface="Times New Roman" panose="02020603050405020304" charset="0"/>
              </a:rPr>
              <a:t>    </a:t>
            </a:r>
            <a:r>
              <a:rPr lang="en-US" altLang="zh-CN" sz="2400" err="1">
                <a:solidFill>
                  <a:srgbClr val="0000CC"/>
                </a:solidFill>
                <a:latin typeface="Times New Roman" panose="02020603050405020304" charset="0"/>
              </a:rPr>
              <a:t>E.val:=T.val</a:t>
            </a:r>
            <a:endParaRPr lang="en-US" altLang="zh-CN" sz="2400">
              <a:solidFill>
                <a:srgbClr val="0000CC"/>
              </a:solidFill>
              <a:latin typeface="Times New Roman" panose="02020603050405020304" charset="0"/>
            </a:endParaRPr>
          </a:p>
        </p:txBody>
      </p:sp>
      <p:sp>
        <p:nvSpPr>
          <p:cNvPr id="23588" name="矩形 23587"/>
          <p:cNvSpPr/>
          <p:nvPr/>
        </p:nvSpPr>
        <p:spPr>
          <a:xfrm>
            <a:off x="4053047" y="3237230"/>
            <a:ext cx="2859087" cy="457200"/>
          </a:xfrm>
          <a:prstGeom prst="rect">
            <a:avLst/>
          </a:prstGeom>
          <a:noFill/>
          <a:ln w="9525">
            <a:noFill/>
          </a:ln>
        </p:spPr>
        <p:txBody>
          <a:bodyPr wrap="none" anchor="ctr">
            <a:spAutoFit/>
          </a:bodyPr>
          <a:lstStyle/>
          <a:p>
            <a:pPr algn="ctr">
              <a:spcBef>
                <a:spcPct val="20000"/>
              </a:spcBef>
              <a:buClr>
                <a:schemeClr val="tx1"/>
              </a:buClr>
            </a:pPr>
            <a:r>
              <a:rPr lang="en-US" altLang="zh-CN">
                <a:solidFill>
                  <a:srgbClr val="0000CC"/>
                </a:solidFill>
                <a:latin typeface="Times New Roman" panose="02020603050405020304" charset="0"/>
              </a:rPr>
              <a:t>  </a:t>
            </a:r>
            <a:r>
              <a:rPr lang="en-US" altLang="zh-CN" sz="2400" err="1">
                <a:solidFill>
                  <a:srgbClr val="0000CC"/>
                </a:solidFill>
                <a:latin typeface="Times New Roman" panose="02020603050405020304" charset="0"/>
              </a:rPr>
              <a:t>T.val</a:t>
            </a:r>
            <a:r>
              <a:rPr lang="en-US" altLang="zh-CN" sz="2400">
                <a:solidFill>
                  <a:srgbClr val="0000CC"/>
                </a:solidFill>
                <a:latin typeface="Times New Roman" panose="02020603050405020304" charset="0"/>
              </a:rPr>
              <a:t>:=T</a:t>
            </a:r>
            <a:r>
              <a:rPr lang="en-US" altLang="zh-CN" sz="2400" baseline="-25000">
                <a:solidFill>
                  <a:srgbClr val="0000CC"/>
                </a:solidFill>
                <a:latin typeface="Times New Roman" panose="02020603050405020304" charset="0"/>
              </a:rPr>
              <a:t>1</a:t>
            </a:r>
            <a:r>
              <a:rPr lang="en-US" altLang="zh-CN" sz="2400">
                <a:solidFill>
                  <a:srgbClr val="0000CC"/>
                </a:solidFill>
                <a:latin typeface="Times New Roman" panose="02020603050405020304" charset="0"/>
              </a:rPr>
              <a:t>.val </a:t>
            </a:r>
            <a:r>
              <a:rPr lang="en-US" altLang="zh-CN" sz="2400">
                <a:solidFill>
                  <a:srgbClr val="0000CC"/>
                </a:solidFill>
                <a:latin typeface="Times New Roman" panose="02020603050405020304" charset="0"/>
                <a:sym typeface="Symbol" panose="05050102010706020507" pitchFamily="18" charset="2"/>
              </a:rPr>
              <a:t></a:t>
            </a:r>
            <a:r>
              <a:rPr lang="en-US" altLang="zh-CN" sz="2400" err="1">
                <a:solidFill>
                  <a:srgbClr val="0000CC"/>
                </a:solidFill>
                <a:latin typeface="Times New Roman" panose="02020603050405020304" charset="0"/>
              </a:rPr>
              <a:t> F.val</a:t>
            </a:r>
            <a:endParaRPr lang="en-US" altLang="zh-CN" sz="2400">
              <a:solidFill>
                <a:srgbClr val="0000CC"/>
              </a:solidFill>
              <a:latin typeface="Times New Roman" panose="02020603050405020304" charset="0"/>
            </a:endParaRPr>
          </a:p>
        </p:txBody>
      </p:sp>
      <p:sp>
        <p:nvSpPr>
          <p:cNvPr id="23589" name="矩形 23588"/>
          <p:cNvSpPr/>
          <p:nvPr/>
        </p:nvSpPr>
        <p:spPr>
          <a:xfrm>
            <a:off x="4076859" y="3669030"/>
            <a:ext cx="1804988" cy="457200"/>
          </a:xfrm>
          <a:prstGeom prst="rect">
            <a:avLst/>
          </a:prstGeom>
          <a:noFill/>
          <a:ln w="9525">
            <a:noFill/>
          </a:ln>
        </p:spPr>
        <p:txBody>
          <a:bodyPr wrap="none" anchor="ctr">
            <a:spAutoFit/>
          </a:bodyPr>
          <a:lstStyle/>
          <a:p>
            <a:pPr algn="ctr">
              <a:buClr>
                <a:schemeClr val="bg1"/>
              </a:buClr>
            </a:pPr>
            <a:r>
              <a:rPr lang="en-US" altLang="zh-CN">
                <a:solidFill>
                  <a:srgbClr val="0000CC"/>
                </a:solidFill>
                <a:latin typeface="Times New Roman" panose="02020603050405020304" charset="0"/>
              </a:rPr>
              <a:t>  </a:t>
            </a:r>
            <a:r>
              <a:rPr lang="en-US" altLang="zh-CN" sz="2400" err="1">
                <a:solidFill>
                  <a:srgbClr val="0000CC"/>
                </a:solidFill>
                <a:latin typeface="Times New Roman" panose="02020603050405020304" charset="0"/>
              </a:rPr>
              <a:t>T.val:=F.val</a:t>
            </a:r>
            <a:endParaRPr lang="en-US" altLang="zh-CN" sz="2400">
              <a:solidFill>
                <a:srgbClr val="0000CC"/>
              </a:solidFill>
              <a:latin typeface="Times New Roman" panose="02020603050405020304" charset="0"/>
            </a:endParaRPr>
          </a:p>
        </p:txBody>
      </p:sp>
      <p:sp>
        <p:nvSpPr>
          <p:cNvPr id="23590" name="矩形 23589"/>
          <p:cNvSpPr/>
          <p:nvPr/>
        </p:nvSpPr>
        <p:spPr>
          <a:xfrm>
            <a:off x="4210209" y="4075430"/>
            <a:ext cx="1690688" cy="457200"/>
          </a:xfrm>
          <a:prstGeom prst="rect">
            <a:avLst/>
          </a:prstGeom>
          <a:noFill/>
          <a:ln w="9525">
            <a:noFill/>
          </a:ln>
        </p:spPr>
        <p:txBody>
          <a:bodyPr wrap="none" anchor="ctr">
            <a:spAutoFit/>
          </a:bodyPr>
          <a:lstStyle/>
          <a:p>
            <a:pPr algn="ctr">
              <a:spcBef>
                <a:spcPct val="20000"/>
              </a:spcBef>
              <a:buClr>
                <a:schemeClr val="tx1"/>
              </a:buClr>
            </a:pPr>
            <a:r>
              <a:rPr lang="en-US" altLang="zh-CN" sz="2400" err="1">
                <a:solidFill>
                  <a:srgbClr val="0000CC"/>
                </a:solidFill>
                <a:latin typeface="Times New Roman" panose="02020603050405020304" charset="0"/>
              </a:rPr>
              <a:t>F.val:=E.val</a:t>
            </a:r>
            <a:endParaRPr lang="en-US" altLang="zh-CN" sz="2400">
              <a:solidFill>
                <a:srgbClr val="0000CC"/>
              </a:solidFill>
              <a:latin typeface="Times New Roman" panose="02020603050405020304" charset="0"/>
            </a:endParaRPr>
          </a:p>
        </p:txBody>
      </p:sp>
      <p:sp>
        <p:nvSpPr>
          <p:cNvPr id="23591" name="矩形 23590"/>
          <p:cNvSpPr/>
          <p:nvPr/>
        </p:nvSpPr>
        <p:spPr>
          <a:xfrm>
            <a:off x="4232434" y="4469130"/>
            <a:ext cx="2433638" cy="457200"/>
          </a:xfrm>
          <a:prstGeom prst="rect">
            <a:avLst/>
          </a:prstGeom>
          <a:noFill/>
          <a:ln w="9525">
            <a:noFill/>
          </a:ln>
        </p:spPr>
        <p:txBody>
          <a:bodyPr wrap="none" anchor="ctr">
            <a:spAutoFit/>
          </a:bodyPr>
          <a:lstStyle/>
          <a:p>
            <a:pPr algn="ctr">
              <a:spcBef>
                <a:spcPct val="20000"/>
              </a:spcBef>
              <a:buClr>
                <a:schemeClr val="tx1"/>
              </a:buClr>
            </a:pPr>
            <a:r>
              <a:rPr lang="en-US" altLang="zh-CN" sz="2400" err="1">
                <a:solidFill>
                  <a:srgbClr val="0000CC"/>
                </a:solidFill>
                <a:latin typeface="Times New Roman" panose="02020603050405020304" charset="0"/>
              </a:rPr>
              <a:t>F.val:=digit.lexval</a:t>
            </a:r>
            <a:endParaRPr lang="en-US" altLang="zh-CN" sz="2400">
              <a:solidFill>
                <a:srgbClr val="0000CC"/>
              </a:solidFill>
              <a:latin typeface="Times New Roman" panose="02020603050405020304" charset="0"/>
            </a:endParaRPr>
          </a:p>
        </p:txBody>
      </p:sp>
      <p:sp>
        <p:nvSpPr>
          <p:cNvPr id="23592" name="矩形 23591"/>
          <p:cNvSpPr/>
          <p:nvPr/>
        </p:nvSpPr>
        <p:spPr>
          <a:xfrm>
            <a:off x="2187734" y="1446530"/>
            <a:ext cx="1295400" cy="457200"/>
          </a:xfrm>
          <a:prstGeom prst="rect">
            <a:avLst/>
          </a:prstGeom>
          <a:noFill/>
          <a:ln w="9525">
            <a:noFill/>
          </a:ln>
        </p:spPr>
        <p:txBody>
          <a:bodyPr anchor="ctr">
            <a:spAutoFit/>
          </a:bodyPr>
          <a:lstStyle/>
          <a:p>
            <a:pPr algn="ctr">
              <a:spcBef>
                <a:spcPct val="20000"/>
              </a:spcBef>
              <a:buClr>
                <a:schemeClr val="tx1"/>
              </a:buClr>
            </a:pPr>
            <a:r>
              <a:rPr lang="zh-CN" altLang="en-US" sz="2400" b="1" dirty="0">
                <a:latin typeface="Times New Roman" panose="02020603050405020304" charset="0"/>
              </a:rPr>
              <a:t>产生式</a:t>
            </a:r>
            <a:endParaRPr lang="zh-CN" altLang="en-US" b="1" dirty="0">
              <a:latin typeface="Times New Roman" panose="02020603050405020304" charset="0"/>
            </a:endParaRPr>
          </a:p>
        </p:txBody>
      </p:sp>
      <p:sp>
        <p:nvSpPr>
          <p:cNvPr id="4" name="灯片编号占位符 3"/>
          <p:cNvSpPr>
            <a:spLocks noGrp="1"/>
          </p:cNvSpPr>
          <p:nvPr>
            <p:ph type="sldNum" sz="quarter" idx="4"/>
          </p:nvPr>
        </p:nvSpPr>
        <p:spPr/>
        <p:txBody>
          <a:bodyPr/>
          <a:lstStyle/>
          <a:p>
            <a:fld id="{565CE74E-AB26-4998-AD42-012C4C1AD076}"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lnSpcReduction="10000"/>
          </a:bodyPr>
          <a:lstStyle/>
          <a:p>
            <a:pPr>
              <a:lnSpc>
                <a:spcPct val="110000"/>
              </a:lnSpc>
            </a:pPr>
            <a:r>
              <a:rPr lang="en-US" altLang="zh-CN" dirty="0"/>
              <a:t>L-</a:t>
            </a:r>
            <a:r>
              <a:rPr lang="zh-CN" altLang="en-US" dirty="0"/>
              <a:t>属性文法既可以包含综合属性，也可以包含继承属性。但须满足以下规则：</a:t>
            </a:r>
          </a:p>
          <a:p>
            <a:pPr lvl="1">
              <a:lnSpc>
                <a:spcPct val="110000"/>
              </a:lnSpc>
              <a:buFont typeface="Wingdings" panose="05000000000000000000" charset="0"/>
              <a:buChar char="u"/>
            </a:pPr>
            <a:r>
              <a:rPr lang="zh-CN" altLang="en-US" sz="2840" dirty="0">
                <a:sym typeface="Symbol" panose="05050102010706020507" pitchFamily="18" charset="2"/>
              </a:rPr>
              <a:t>如果对于每个产生式</a:t>
            </a:r>
            <a:r>
              <a:rPr lang="en-US" altLang="zh-CN" sz="2840" dirty="0">
                <a:sym typeface="Symbol" panose="05050102010706020507" pitchFamily="18" charset="2"/>
              </a:rPr>
              <a:t>AX</a:t>
            </a:r>
            <a:r>
              <a:rPr lang="en-US" altLang="zh-CN" sz="2840" baseline="-25000" dirty="0">
                <a:sym typeface="Symbol" panose="05050102010706020507" pitchFamily="18" charset="2"/>
              </a:rPr>
              <a:t>1</a:t>
            </a:r>
            <a:r>
              <a:rPr lang="en-US" altLang="zh-CN" sz="2840" dirty="0">
                <a:sym typeface="Symbol" panose="05050102010706020507" pitchFamily="18" charset="2"/>
              </a:rPr>
              <a:t>X</a:t>
            </a:r>
            <a:r>
              <a:rPr lang="en-US" altLang="zh-CN" sz="2840" baseline="-25000" dirty="0">
                <a:sym typeface="Symbol" panose="05050102010706020507" pitchFamily="18" charset="2"/>
              </a:rPr>
              <a:t>2</a:t>
            </a:r>
            <a:r>
              <a:rPr lang="en-US" altLang="zh-CN" sz="2840" dirty="0">
                <a:latin typeface="Arial" panose="020B0604020202020204" pitchFamily="34" charset="0"/>
                <a:sym typeface="Symbol" panose="05050102010706020507" pitchFamily="18" charset="2"/>
              </a:rPr>
              <a:t>…</a:t>
            </a:r>
            <a:r>
              <a:rPr lang="en-US" altLang="zh-CN" sz="2840" dirty="0" err="1">
                <a:sym typeface="Symbol" panose="05050102010706020507" pitchFamily="18" charset="2"/>
              </a:rPr>
              <a:t>X</a:t>
            </a:r>
            <a:r>
              <a:rPr lang="en-US" altLang="zh-CN" sz="2840" baseline="-25000" dirty="0" err="1">
                <a:sym typeface="Symbol" panose="05050102010706020507" pitchFamily="18" charset="2"/>
              </a:rPr>
              <a:t>n</a:t>
            </a:r>
            <a:r>
              <a:rPr lang="zh-CN" altLang="en-US" sz="2840" dirty="0">
                <a:sym typeface="Symbol" panose="05050102010706020507" pitchFamily="18" charset="2"/>
              </a:rPr>
              <a:t>的每个语义规则中，每个属性或者是综合属性，或者是</a:t>
            </a:r>
            <a:r>
              <a:rPr lang="en-US" altLang="zh-CN" sz="2840" dirty="0" err="1">
                <a:sym typeface="Symbol" panose="05050102010706020507" pitchFamily="18" charset="2"/>
              </a:rPr>
              <a:t>X</a:t>
            </a:r>
            <a:r>
              <a:rPr lang="en-US" altLang="zh-CN" sz="2840" baseline="-25000" dirty="0" err="1">
                <a:sym typeface="Symbol" panose="05050102010706020507" pitchFamily="18" charset="2"/>
              </a:rPr>
              <a:t>j</a:t>
            </a:r>
            <a:r>
              <a:rPr lang="en-US" altLang="zh-CN" sz="2840" dirty="0">
                <a:sym typeface="Symbol" panose="05050102010706020507" pitchFamily="18" charset="2"/>
              </a:rPr>
              <a:t>(1&lt;=j&lt;=n)</a:t>
            </a:r>
            <a:r>
              <a:rPr lang="zh-CN" altLang="en-US" sz="2840" dirty="0">
                <a:sym typeface="Symbol" panose="05050102010706020507" pitchFamily="18" charset="2"/>
              </a:rPr>
              <a:t>的一个继承属性且这个继承属性仅依赖于：</a:t>
            </a:r>
            <a:endParaRPr lang="zh-CN" altLang="en-US" sz="2840" b="1" dirty="0">
              <a:sym typeface="Symbol" panose="05050102010706020507" pitchFamily="18" charset="2"/>
            </a:endParaRPr>
          </a:p>
          <a:p>
            <a:pPr lvl="2">
              <a:lnSpc>
                <a:spcPct val="110000"/>
              </a:lnSpc>
              <a:buFont typeface="Wingdings" panose="05000000000000000000" charset="0"/>
              <a:buChar char="u"/>
            </a:pPr>
            <a:r>
              <a:rPr lang="zh-CN" altLang="en-US" sz="2485" dirty="0">
                <a:sym typeface="Symbol" panose="05050102010706020507" pitchFamily="18" charset="2"/>
              </a:rPr>
              <a:t>（</a:t>
            </a:r>
            <a:r>
              <a:rPr lang="en-US" altLang="zh-CN" sz="2485" dirty="0">
                <a:sym typeface="Symbol" panose="05050102010706020507" pitchFamily="18" charset="2"/>
              </a:rPr>
              <a:t>1</a:t>
            </a:r>
            <a:r>
              <a:rPr lang="zh-CN" altLang="en-US" sz="2485" dirty="0">
                <a:sym typeface="Symbol" panose="05050102010706020507" pitchFamily="18" charset="2"/>
              </a:rPr>
              <a:t>）产生式</a:t>
            </a:r>
            <a:r>
              <a:rPr lang="en-US" altLang="zh-CN" sz="2485" dirty="0" err="1">
                <a:sym typeface="Symbol" panose="05050102010706020507" pitchFamily="18" charset="2"/>
              </a:rPr>
              <a:t>X</a:t>
            </a:r>
            <a:r>
              <a:rPr lang="en-US" altLang="zh-CN" sz="2485" baseline="-25000" dirty="0" err="1">
                <a:sym typeface="Symbol" panose="05050102010706020507" pitchFamily="18" charset="2"/>
              </a:rPr>
              <a:t>j</a:t>
            </a:r>
            <a:r>
              <a:rPr lang="zh-CN" altLang="en-US" sz="2485" dirty="0">
                <a:sym typeface="Symbol" panose="05050102010706020507" pitchFamily="18" charset="2"/>
              </a:rPr>
              <a:t>的左边符号</a:t>
            </a:r>
            <a:r>
              <a:rPr lang="en-US" altLang="zh-CN" sz="2485" dirty="0">
                <a:sym typeface="Symbol" panose="05050102010706020507" pitchFamily="18" charset="2"/>
              </a:rPr>
              <a:t>X</a:t>
            </a:r>
            <a:r>
              <a:rPr lang="en-US" altLang="zh-CN" sz="2485" baseline="-25000" dirty="0">
                <a:sym typeface="Symbol" panose="05050102010706020507" pitchFamily="18" charset="2"/>
              </a:rPr>
              <a:t>1</a:t>
            </a:r>
            <a:r>
              <a:rPr lang="en-US" altLang="zh-CN" sz="2485" dirty="0">
                <a:sym typeface="Symbol" panose="05050102010706020507" pitchFamily="18" charset="2"/>
              </a:rPr>
              <a:t>,X</a:t>
            </a:r>
            <a:r>
              <a:rPr lang="en-US" altLang="zh-CN" sz="2485" baseline="-25000" dirty="0">
                <a:sym typeface="Symbol" panose="05050102010706020507" pitchFamily="18" charset="2"/>
              </a:rPr>
              <a:t>2</a:t>
            </a:r>
            <a:r>
              <a:rPr lang="en-US" altLang="zh-CN" sz="2485" dirty="0">
                <a:sym typeface="Symbol" panose="05050102010706020507" pitchFamily="18" charset="2"/>
              </a:rPr>
              <a:t>,</a:t>
            </a:r>
            <a:r>
              <a:rPr lang="en-US" altLang="zh-CN" sz="2485" dirty="0">
                <a:latin typeface="Arial" panose="020B0604020202020204" pitchFamily="34" charset="0"/>
                <a:sym typeface="Symbol" panose="05050102010706020507" pitchFamily="18" charset="2"/>
              </a:rPr>
              <a:t>…</a:t>
            </a:r>
            <a:r>
              <a:rPr lang="en-US" altLang="zh-CN" sz="2485" dirty="0">
                <a:sym typeface="Symbol" panose="05050102010706020507" pitchFamily="18" charset="2"/>
              </a:rPr>
              <a:t>X</a:t>
            </a:r>
            <a:r>
              <a:rPr lang="en-US" altLang="zh-CN" sz="2485" baseline="-25000" dirty="0">
                <a:sym typeface="Symbol" panose="05050102010706020507" pitchFamily="18" charset="2"/>
              </a:rPr>
              <a:t>j-1</a:t>
            </a:r>
            <a:r>
              <a:rPr lang="zh-CN" altLang="en-US" sz="2485" dirty="0">
                <a:sym typeface="Symbol" panose="05050102010706020507" pitchFamily="18" charset="2"/>
              </a:rPr>
              <a:t>的属性</a:t>
            </a:r>
            <a:endParaRPr lang="zh-CN" altLang="en-US" sz="2485" b="1" dirty="0">
              <a:sym typeface="Symbol" panose="05050102010706020507" pitchFamily="18" charset="2"/>
            </a:endParaRPr>
          </a:p>
          <a:p>
            <a:pPr lvl="2">
              <a:lnSpc>
                <a:spcPct val="110000"/>
              </a:lnSpc>
              <a:buFont typeface="Wingdings" panose="05000000000000000000" charset="0"/>
              <a:buChar char="u"/>
            </a:pPr>
            <a:r>
              <a:rPr lang="zh-CN" altLang="en-US" sz="2485" dirty="0">
                <a:sym typeface="Symbol" panose="05050102010706020507" pitchFamily="18" charset="2"/>
              </a:rPr>
              <a:t>（</a:t>
            </a:r>
            <a:r>
              <a:rPr lang="en-US" altLang="zh-CN" sz="2485" dirty="0">
                <a:sym typeface="Symbol" panose="05050102010706020507" pitchFamily="18" charset="2"/>
              </a:rPr>
              <a:t>2</a:t>
            </a:r>
            <a:r>
              <a:rPr lang="zh-CN" altLang="en-US" sz="2485" dirty="0">
                <a:sym typeface="Symbol" panose="05050102010706020507" pitchFamily="18" charset="2"/>
              </a:rPr>
              <a:t>）</a:t>
            </a:r>
            <a:r>
              <a:rPr lang="en-US" altLang="zh-CN" sz="2485" dirty="0">
                <a:sym typeface="Symbol" panose="05050102010706020507" pitchFamily="18" charset="2"/>
              </a:rPr>
              <a:t>A</a:t>
            </a:r>
            <a:r>
              <a:rPr lang="zh-CN" altLang="en-US" sz="2485" dirty="0">
                <a:sym typeface="Symbol" panose="05050102010706020507" pitchFamily="18" charset="2"/>
              </a:rPr>
              <a:t>的继承属性。</a:t>
            </a:r>
          </a:p>
          <a:p>
            <a:pPr lvl="0">
              <a:lnSpc>
                <a:spcPct val="110000"/>
              </a:lnSpc>
              <a:buFont typeface="Wingdings" panose="05000000000000000000" charset="0"/>
              <a:buChar char="u"/>
            </a:pPr>
            <a:r>
              <a:rPr lang="zh-CN" altLang="en-US" dirty="0"/>
              <a:t>L-属性文法也就是“</a:t>
            </a:r>
            <a:r>
              <a:rPr lang="zh-CN" altLang="en-US" dirty="0">
                <a:solidFill>
                  <a:srgbClr val="FF0000"/>
                </a:solidFill>
              </a:rPr>
              <a:t>左属性</a:t>
            </a:r>
            <a:r>
              <a:rPr lang="zh-CN" altLang="en-US" dirty="0"/>
              <a:t>”文法，计算每一个继承属性时</a:t>
            </a:r>
            <a:r>
              <a:rPr lang="zh-CN" altLang="en-US" dirty="0">
                <a:solidFill>
                  <a:srgbClr val="FF0000"/>
                </a:solidFill>
              </a:rPr>
              <a:t>不能引用右边符号</a:t>
            </a:r>
            <a:r>
              <a:rPr lang="zh-CN" altLang="en-US" dirty="0"/>
              <a:t>的属性(继承属性和综合属性)。由此定义可知，</a:t>
            </a:r>
            <a:r>
              <a:rPr lang="zh-CN" altLang="en-US" dirty="0">
                <a:solidFill>
                  <a:srgbClr val="FF0000"/>
                </a:solidFill>
              </a:rPr>
              <a:t>S属性文法一定是L属性文法</a:t>
            </a:r>
            <a:r>
              <a:rPr lang="zh-CN" altLang="en-US" dirty="0"/>
              <a:t>。</a:t>
            </a:r>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 </a:t>
            </a:r>
            <a:r>
              <a:rPr lang="en-US" altLang="zh-CN">
                <a:solidFill>
                  <a:srgbClr val="FF0000"/>
                </a:solidFill>
                <a:sym typeface="+mn-ea"/>
              </a:rPr>
              <a:t>L-</a:t>
            </a:r>
            <a:r>
              <a:rPr lang="zh-CN" altLang="en-US">
                <a:solidFill>
                  <a:srgbClr val="FF0000"/>
                </a:solidFill>
                <a:sym typeface="+mn-ea"/>
              </a:rPr>
              <a:t>属性文法</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a:bodyPr>
          <a:lstStyle/>
          <a:p>
            <a:pPr>
              <a:lnSpc>
                <a:spcPct val="100000"/>
              </a:lnSpc>
            </a:pPr>
            <a:r>
              <a:rPr lang="zh-CN" altLang="en-US" dirty="0"/>
              <a:t>语法制导翻译即基于属性文法的处理过程</a:t>
            </a:r>
            <a:endParaRPr lang="en-US" altLang="zh-CN" dirty="0"/>
          </a:p>
          <a:p>
            <a:pPr lvl="1">
              <a:lnSpc>
                <a:spcPct val="100000"/>
              </a:lnSpc>
            </a:pPr>
            <a:r>
              <a:rPr lang="zh-CN" altLang="en-US" dirty="0"/>
              <a:t>对单词符号串进行语法分析，构造语法分析树，然后根据需要</a:t>
            </a:r>
            <a:r>
              <a:rPr lang="zh-CN" altLang="en-US" dirty="0">
                <a:solidFill>
                  <a:srgbClr val="FF0000"/>
                </a:solidFill>
              </a:rPr>
              <a:t>遍历语法树</a:t>
            </a:r>
            <a:r>
              <a:rPr lang="zh-CN" altLang="en-US" dirty="0"/>
              <a:t>并在语法树的各结点处按</a:t>
            </a:r>
            <a:r>
              <a:rPr lang="zh-CN" altLang="en-US" dirty="0">
                <a:solidFill>
                  <a:srgbClr val="FF0000"/>
                </a:solidFill>
              </a:rPr>
              <a:t>语义规则</a:t>
            </a:r>
            <a:r>
              <a:rPr lang="zh-CN" altLang="en-US" dirty="0"/>
              <a:t>进行计算。</a:t>
            </a:r>
          </a:p>
          <a:p>
            <a:pPr>
              <a:lnSpc>
                <a:spcPct val="100000"/>
              </a:lnSpc>
            </a:pPr>
            <a:r>
              <a:rPr lang="zh-CN" altLang="en-US" dirty="0"/>
              <a:t>对于给定的输入串ｘ，如何应用</a:t>
            </a:r>
            <a:r>
              <a:rPr lang="zh-CN" altLang="en-US" dirty="0">
                <a:solidFill>
                  <a:srgbClr val="FF0000"/>
                </a:solidFill>
              </a:rPr>
              <a:t>语义规则</a:t>
            </a:r>
            <a:r>
              <a:rPr lang="zh-CN" altLang="en-US" dirty="0"/>
              <a:t>计算分析树中各结点对应的属性值？</a:t>
            </a:r>
          </a:p>
          <a:p>
            <a:pPr lvl="1">
              <a:lnSpc>
                <a:spcPct val="100000"/>
              </a:lnSpc>
            </a:pPr>
            <a:r>
              <a:rPr lang="zh-CN" altLang="en-US" sz="3600" dirty="0">
                <a:sym typeface="+mn-ea"/>
              </a:rPr>
              <a:t>根据</a:t>
            </a:r>
            <a:r>
              <a:rPr lang="zh-CN" altLang="en-US" sz="3600" dirty="0">
                <a:solidFill>
                  <a:srgbClr val="FF0000"/>
                </a:solidFill>
                <a:sym typeface="+mn-ea"/>
              </a:rPr>
              <a:t>语义规则</a:t>
            </a:r>
            <a:r>
              <a:rPr lang="zh-CN" altLang="en-US" sz="3600" dirty="0">
                <a:sym typeface="+mn-ea"/>
              </a:rPr>
              <a:t>确定属性之间的</a:t>
            </a:r>
            <a:r>
              <a:rPr lang="zh-CN" altLang="en-US" sz="3600" dirty="0">
                <a:solidFill>
                  <a:srgbClr val="FF0000"/>
                </a:solidFill>
                <a:sym typeface="+mn-ea"/>
              </a:rPr>
              <a:t>依赖关系</a:t>
            </a:r>
            <a:r>
              <a:rPr lang="zh-CN" altLang="en-US" sz="3600" dirty="0">
                <a:sym typeface="+mn-ea"/>
              </a:rPr>
              <a:t>。</a:t>
            </a:r>
            <a:endParaRPr lang="zh-CN" altLang="en-US" sz="3600" dirty="0"/>
          </a:p>
          <a:p>
            <a:pPr lvl="1">
              <a:lnSpc>
                <a:spcPct val="100000"/>
              </a:lnSpc>
            </a:pPr>
            <a:r>
              <a:rPr lang="zh-CN" altLang="en-US" sz="3600" dirty="0">
                <a:sym typeface="+mn-ea"/>
              </a:rPr>
              <a:t>对语法分析树节点的一个属性求值之前，必须首先求出这个属性值所依赖的所有属性值。</a:t>
            </a:r>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ym typeface="+mn-ea"/>
              </a:rPr>
              <a:t>语法分析</a:t>
            </a:r>
          </a:p>
          <a:p>
            <a:r>
              <a:rPr lang="zh-CN" altLang="en-US" dirty="0">
                <a:sym typeface="+mn-ea"/>
              </a:rPr>
              <a:t>语法分析的任务是在</a:t>
            </a:r>
            <a:r>
              <a:rPr lang="zh-CN" altLang="en-US" dirty="0">
                <a:solidFill>
                  <a:srgbClr val="FF0000"/>
                </a:solidFill>
                <a:sym typeface="+mn-ea"/>
              </a:rPr>
              <a:t>词法分析</a:t>
            </a:r>
            <a:r>
              <a:rPr lang="zh-CN" altLang="en-US" dirty="0">
                <a:sym typeface="+mn-ea"/>
              </a:rPr>
              <a:t>的基础上将</a:t>
            </a:r>
            <a:r>
              <a:rPr lang="zh-CN" altLang="en-US" dirty="0">
                <a:solidFill>
                  <a:srgbClr val="FF0000"/>
                </a:solidFill>
                <a:sym typeface="+mn-ea"/>
              </a:rPr>
              <a:t>单词</a:t>
            </a:r>
            <a:r>
              <a:rPr lang="zh-CN" altLang="en-US" dirty="0">
                <a:sym typeface="+mn-ea"/>
              </a:rPr>
              <a:t>序列</a:t>
            </a:r>
            <a:r>
              <a:rPr lang="zh-CN" altLang="en-US" dirty="0">
                <a:solidFill>
                  <a:srgbClr val="FF0000"/>
                </a:solidFill>
                <a:sym typeface="+mn-ea"/>
              </a:rPr>
              <a:t>组合成各类语法短语</a:t>
            </a:r>
            <a:r>
              <a:rPr lang="zh-CN" altLang="en-US" dirty="0">
                <a:sym typeface="+mn-ea"/>
              </a:rPr>
              <a:t>，如“程序”，“语句”，“表达式”等等。</a:t>
            </a:r>
          </a:p>
          <a:p>
            <a:r>
              <a:rPr lang="zh-CN" altLang="en-US" dirty="0">
                <a:sym typeface="+mn-ea"/>
              </a:rPr>
              <a:t>核心问题：</a:t>
            </a:r>
          </a:p>
          <a:p>
            <a:pPr marL="457200" lvl="2"/>
            <a:r>
              <a:rPr lang="zh-CN" altLang="en-US" sz="3150" dirty="0">
                <a:sym typeface="+mn-ea"/>
              </a:rPr>
              <a:t>对任意</a:t>
            </a:r>
            <a:r>
              <a:rPr lang="zh-CN" altLang="en-US" sz="3150" dirty="0">
                <a:solidFill>
                  <a:srgbClr val="FF0000"/>
                </a:solidFill>
                <a:sym typeface="+mn-ea"/>
              </a:rPr>
              <a:t>上下文无关文法</a:t>
            </a:r>
            <a:r>
              <a:rPr lang="en-US" altLang="zh-CN" sz="3150" dirty="0">
                <a:sym typeface="+mn-ea"/>
              </a:rPr>
              <a:t>G = (V</a:t>
            </a:r>
            <a:r>
              <a:rPr lang="en-US" altLang="zh-CN" sz="3150" baseline="-25000" dirty="0">
                <a:sym typeface="+mn-ea"/>
              </a:rPr>
              <a:t>N</a:t>
            </a:r>
            <a:r>
              <a:rPr lang="en-US" altLang="zh-CN" sz="3150" dirty="0">
                <a:sym typeface="+mn-ea"/>
              </a:rPr>
              <a:t> </a:t>
            </a:r>
            <a:r>
              <a:rPr lang="zh-CN" altLang="en-US" sz="3150" dirty="0">
                <a:sym typeface="+mn-ea"/>
              </a:rPr>
              <a:t>，</a:t>
            </a:r>
            <a:r>
              <a:rPr lang="en-US" altLang="zh-CN" sz="3150" dirty="0">
                <a:sym typeface="+mn-ea"/>
              </a:rPr>
              <a:t>V</a:t>
            </a:r>
            <a:r>
              <a:rPr lang="en-US" altLang="zh-CN" sz="3150" baseline="-25000" dirty="0">
                <a:sym typeface="+mn-ea"/>
              </a:rPr>
              <a:t>T</a:t>
            </a:r>
            <a:r>
              <a:rPr lang="en-US" altLang="zh-CN" sz="3150" dirty="0">
                <a:sym typeface="+mn-ea"/>
              </a:rPr>
              <a:t> </a:t>
            </a:r>
            <a:r>
              <a:rPr lang="zh-CN" altLang="en-US" sz="3150" dirty="0">
                <a:sym typeface="+mn-ea"/>
              </a:rPr>
              <a:t>，</a:t>
            </a:r>
            <a:r>
              <a:rPr lang="en-US" altLang="zh-CN" sz="3150" dirty="0">
                <a:sym typeface="+mn-ea"/>
              </a:rPr>
              <a:t>P</a:t>
            </a:r>
            <a:r>
              <a:rPr lang="zh-CN" altLang="en-US" sz="3150" dirty="0">
                <a:sym typeface="+mn-ea"/>
              </a:rPr>
              <a:t>，</a:t>
            </a:r>
            <a:r>
              <a:rPr lang="en-US" altLang="zh-CN" sz="3150" dirty="0">
                <a:sym typeface="+mn-ea"/>
              </a:rPr>
              <a:t>S )</a:t>
            </a:r>
            <a:r>
              <a:rPr lang="zh-CN" altLang="en-US" sz="3150" dirty="0">
                <a:sym typeface="+mn-ea"/>
              </a:rPr>
              <a:t>和任意</a:t>
            </a:r>
            <a:r>
              <a:rPr lang="en-US" altLang="zh-CN" sz="3150" dirty="0">
                <a:sym typeface="+mn-ea"/>
              </a:rPr>
              <a:t>w</a:t>
            </a:r>
            <a:r>
              <a:rPr lang="zh-CN" altLang="en-US" sz="3150" dirty="0">
                <a:sym typeface="+mn-ea"/>
              </a:rPr>
              <a:t>∈</a:t>
            </a:r>
            <a:r>
              <a:rPr lang="en-US" altLang="zh-CN" sz="3150" dirty="0">
                <a:sym typeface="+mn-ea"/>
              </a:rPr>
              <a:t>V</a:t>
            </a:r>
            <a:r>
              <a:rPr lang="en-US" altLang="zh-CN" sz="3150" baseline="-25000" dirty="0">
                <a:sym typeface="+mn-ea"/>
              </a:rPr>
              <a:t>T</a:t>
            </a:r>
            <a:r>
              <a:rPr lang="en-US" altLang="zh-CN" sz="3150" dirty="0">
                <a:sym typeface="+mn-ea"/>
              </a:rPr>
              <a:t> *</a:t>
            </a:r>
            <a:r>
              <a:rPr lang="zh-CN" altLang="en-US" sz="3150" dirty="0">
                <a:sym typeface="+mn-ea"/>
              </a:rPr>
              <a:t>，是否有</a:t>
            </a:r>
            <a:r>
              <a:rPr lang="en-US" altLang="zh-CN" sz="3150" dirty="0">
                <a:solidFill>
                  <a:srgbClr val="FF0000"/>
                </a:solidFill>
                <a:sym typeface="+mn-ea"/>
              </a:rPr>
              <a:t>w</a:t>
            </a:r>
            <a:r>
              <a:rPr lang="zh-CN" altLang="en-US" sz="3150" dirty="0">
                <a:solidFill>
                  <a:srgbClr val="FF0000"/>
                </a:solidFill>
                <a:sym typeface="+mn-ea"/>
              </a:rPr>
              <a:t>∈</a:t>
            </a:r>
            <a:r>
              <a:rPr lang="en-US" altLang="zh-CN" sz="3150" dirty="0">
                <a:solidFill>
                  <a:srgbClr val="FF0000"/>
                </a:solidFill>
                <a:sym typeface="+mn-ea"/>
              </a:rPr>
              <a:t>L(G)</a:t>
            </a:r>
            <a:r>
              <a:rPr lang="zh-CN" altLang="en-US" sz="3150" dirty="0">
                <a:sym typeface="+mn-ea"/>
              </a:rPr>
              <a:t>？ 若成立，则给出分析树或推导步骤；否则，进行报错处理。</a:t>
            </a:r>
            <a:endParaRPr lang="en-US" altLang="zh-CN" sz="3150" dirty="0"/>
          </a:p>
          <a:p>
            <a:endParaRPr lang="zh-CN" altLang="en-US" dirty="0">
              <a:sym typeface="+mn-ea"/>
            </a:endParaRPr>
          </a:p>
          <a:p>
            <a:endParaRPr lang="zh-CN" altLang="en-US" dirty="0"/>
          </a:p>
          <a:p>
            <a:endParaRPr lang="zh-CN" altLang="en-US" dirty="0"/>
          </a:p>
        </p:txBody>
      </p:sp>
      <p:sp>
        <p:nvSpPr>
          <p:cNvPr id="3" name="标题 2"/>
          <p:cNvSpPr>
            <a:spLocks noGrp="1"/>
          </p:cNvSpPr>
          <p:nvPr>
            <p:ph type="title"/>
          </p:nvPr>
        </p:nvSpPr>
        <p:spPr/>
        <p:txBody>
          <a:bodyPr/>
          <a:lstStyle/>
          <a:p>
            <a:r>
              <a:rPr lang="zh-CN" altLang="en-US"/>
              <a:t>简单回顾</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1974850"/>
            <a:ext cx="8361680" cy="4382135"/>
          </a:xfrm>
        </p:spPr>
        <p:txBody>
          <a:bodyPr/>
          <a:lstStyle/>
          <a:p>
            <a:pPr>
              <a:lnSpc>
                <a:spcPct val="100000"/>
              </a:lnSpc>
            </a:pPr>
            <a:r>
              <a:rPr lang="zh-CN" altLang="en-US" sz="3600" dirty="0">
                <a:sym typeface="+mn-ea"/>
              </a:rPr>
              <a:t>即：如何确定属性计算顺序？</a:t>
            </a:r>
            <a:endParaRPr lang="zh-CN" altLang="en-US" sz="3600" dirty="0"/>
          </a:p>
          <a:p>
            <a:pPr lvl="1">
              <a:lnSpc>
                <a:spcPct val="100000"/>
              </a:lnSpc>
            </a:pPr>
            <a:r>
              <a:rPr lang="zh-CN" altLang="en-US" sz="3600" dirty="0">
                <a:sym typeface="+mn-ea"/>
              </a:rPr>
              <a:t>根据</a:t>
            </a:r>
            <a:r>
              <a:rPr lang="zh-CN" altLang="en-US" sz="3600" dirty="0">
                <a:solidFill>
                  <a:srgbClr val="FF0000"/>
                </a:solidFill>
                <a:sym typeface="+mn-ea"/>
              </a:rPr>
              <a:t>语义规则</a:t>
            </a:r>
            <a:r>
              <a:rPr lang="zh-CN" altLang="en-US" sz="3600" dirty="0">
                <a:sym typeface="+mn-ea"/>
              </a:rPr>
              <a:t>确定属性之间的</a:t>
            </a:r>
            <a:r>
              <a:rPr lang="zh-CN" altLang="en-US" sz="3600" dirty="0">
                <a:solidFill>
                  <a:srgbClr val="FF0000"/>
                </a:solidFill>
                <a:sym typeface="+mn-ea"/>
              </a:rPr>
              <a:t>依赖关系</a:t>
            </a:r>
            <a:r>
              <a:rPr lang="zh-CN" altLang="en-US" sz="3600" dirty="0">
                <a:sym typeface="+mn-ea"/>
              </a:rPr>
              <a:t>。</a:t>
            </a:r>
            <a:endParaRPr lang="zh-CN" altLang="en-US" sz="3600" dirty="0"/>
          </a:p>
          <a:p>
            <a:pPr lvl="1">
              <a:lnSpc>
                <a:spcPct val="100000"/>
              </a:lnSpc>
            </a:pPr>
            <a:r>
              <a:rPr lang="zh-CN" altLang="en-US" sz="3600" dirty="0">
                <a:sym typeface="+mn-ea"/>
              </a:rPr>
              <a:t>对语法分析树节点的一个属性求值之前，</a:t>
            </a:r>
            <a:r>
              <a:rPr lang="zh-CN" altLang="en-US" sz="3600" dirty="0">
                <a:solidFill>
                  <a:srgbClr val="FF0000"/>
                </a:solidFill>
                <a:sym typeface="+mn-ea"/>
              </a:rPr>
              <a:t>必须</a:t>
            </a:r>
            <a:r>
              <a:rPr lang="zh-CN" altLang="en-US" sz="3600" dirty="0">
                <a:sym typeface="+mn-ea"/>
              </a:rPr>
              <a:t>首先求出这个属性值</a:t>
            </a:r>
            <a:r>
              <a:rPr lang="zh-CN" altLang="en-US" sz="3600" dirty="0">
                <a:solidFill>
                  <a:srgbClr val="FF0000"/>
                </a:solidFill>
                <a:sym typeface="+mn-ea"/>
              </a:rPr>
              <a:t>所依赖的</a:t>
            </a:r>
            <a:r>
              <a:rPr lang="zh-CN" altLang="en-US" sz="3600" dirty="0">
                <a:sym typeface="+mn-ea"/>
              </a:rPr>
              <a:t>所有属性值。</a:t>
            </a:r>
            <a:endParaRPr lang="zh-CN" altLang="en-US" sz="3600" dirty="0"/>
          </a:p>
          <a:p>
            <a:endParaRPr lang="zh-CN" altLang="en-US" dirty="0"/>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endParaRPr lang="zh-CN" altLang="en-US"/>
          </a:p>
        </p:txBody>
      </p:sp>
      <p:grpSp>
        <p:nvGrpSpPr>
          <p:cNvPr id="81931" name="组合 81930"/>
          <p:cNvGrpSpPr/>
          <p:nvPr/>
        </p:nvGrpSpPr>
        <p:grpSpPr>
          <a:xfrm>
            <a:off x="242570" y="1285875"/>
            <a:ext cx="7772400" cy="533400"/>
            <a:chOff x="192" y="912"/>
            <a:chExt cx="5040" cy="336"/>
          </a:xfrm>
        </p:grpSpPr>
        <p:sp>
          <p:nvSpPr>
            <p:cNvPr id="81924" name="矩形 81923"/>
            <p:cNvSpPr/>
            <p:nvPr/>
          </p:nvSpPr>
          <p:spPr>
            <a:xfrm>
              <a:off x="192" y="912"/>
              <a:ext cx="1200" cy="336"/>
            </a:xfrm>
            <a:prstGeom prst="rect">
              <a:avLst/>
            </a:prstGeom>
            <a:noFill/>
            <a:ln w="12700">
              <a:noFill/>
            </a:ln>
          </p:spPr>
          <p:txBody>
            <a:bodyPr wrap="none" anchor="ctr"/>
            <a:lstStyle/>
            <a:p>
              <a:pPr algn="ctr">
                <a:buClr>
                  <a:schemeClr val="bg1"/>
                </a:buClr>
              </a:pPr>
              <a:r>
                <a:rPr lang="zh-CN" altLang="en-US" sz="2800" b="1" dirty="0">
                  <a:latin typeface="Times New Roman" panose="02020603050405020304" charset="0"/>
                </a:rPr>
                <a:t>输入串</a:t>
              </a:r>
            </a:p>
          </p:txBody>
        </p:sp>
        <p:sp>
          <p:nvSpPr>
            <p:cNvPr id="81925" name="矩形 81924"/>
            <p:cNvSpPr/>
            <p:nvPr/>
          </p:nvSpPr>
          <p:spPr>
            <a:xfrm>
              <a:off x="1248" y="912"/>
              <a:ext cx="1200" cy="336"/>
            </a:xfrm>
            <a:prstGeom prst="rect">
              <a:avLst/>
            </a:prstGeom>
            <a:noFill/>
            <a:ln w="28575">
              <a:noFill/>
            </a:ln>
          </p:spPr>
          <p:txBody>
            <a:bodyPr wrap="none" anchor="ctr"/>
            <a:lstStyle/>
            <a:p>
              <a:pPr algn="ctr">
                <a:buClr>
                  <a:schemeClr val="bg1"/>
                </a:buClr>
              </a:pPr>
              <a:r>
                <a:rPr lang="zh-CN" altLang="en-US" sz="2800" b="1" dirty="0">
                  <a:latin typeface="Times New Roman" panose="02020603050405020304" charset="0"/>
                </a:rPr>
                <a:t>语法树</a:t>
              </a:r>
            </a:p>
          </p:txBody>
        </p:sp>
        <p:sp>
          <p:nvSpPr>
            <p:cNvPr id="81926" name="矩形 81925"/>
            <p:cNvSpPr/>
            <p:nvPr/>
          </p:nvSpPr>
          <p:spPr>
            <a:xfrm>
              <a:off x="2352" y="912"/>
              <a:ext cx="1200" cy="336"/>
            </a:xfrm>
            <a:prstGeom prst="rect">
              <a:avLst/>
            </a:prstGeom>
            <a:noFill/>
            <a:ln w="28575">
              <a:noFill/>
            </a:ln>
          </p:spPr>
          <p:txBody>
            <a:bodyPr wrap="none" anchor="ctr"/>
            <a:lstStyle/>
            <a:p>
              <a:pPr algn="ctr">
                <a:buClr>
                  <a:schemeClr val="bg1"/>
                </a:buClr>
              </a:pPr>
              <a:r>
                <a:rPr lang="zh-CN" altLang="en-US" sz="2800" b="1" dirty="0">
                  <a:solidFill>
                    <a:srgbClr val="FF0000"/>
                  </a:solidFill>
                  <a:latin typeface="Times New Roman" panose="02020603050405020304" charset="0"/>
                </a:rPr>
                <a:t>依赖图</a:t>
              </a:r>
            </a:p>
          </p:txBody>
        </p:sp>
        <p:sp>
          <p:nvSpPr>
            <p:cNvPr id="81927" name="矩形 81926"/>
            <p:cNvSpPr/>
            <p:nvPr/>
          </p:nvSpPr>
          <p:spPr>
            <a:xfrm>
              <a:off x="4032" y="912"/>
              <a:ext cx="1200" cy="336"/>
            </a:xfrm>
            <a:prstGeom prst="rect">
              <a:avLst/>
            </a:prstGeom>
            <a:noFill/>
            <a:ln w="28575">
              <a:noFill/>
            </a:ln>
          </p:spPr>
          <p:txBody>
            <a:bodyPr wrap="none" anchor="ctr"/>
            <a:lstStyle/>
            <a:p>
              <a:pPr algn="ctr">
                <a:buClr>
                  <a:schemeClr val="bg1"/>
                </a:buClr>
              </a:pPr>
              <a:r>
                <a:rPr lang="zh-CN" altLang="en-US" sz="2800" b="1" dirty="0">
                  <a:latin typeface="Times New Roman" panose="02020603050405020304" charset="0"/>
                </a:rPr>
                <a:t>语义规则计算次序</a:t>
              </a:r>
            </a:p>
          </p:txBody>
        </p:sp>
        <p:sp>
          <p:nvSpPr>
            <p:cNvPr id="81928" name="直接连接符 81927"/>
            <p:cNvSpPr/>
            <p:nvPr/>
          </p:nvSpPr>
          <p:spPr>
            <a:xfrm>
              <a:off x="1152" y="1104"/>
              <a:ext cx="336" cy="0"/>
            </a:xfrm>
            <a:prstGeom prst="line">
              <a:avLst/>
            </a:prstGeom>
            <a:ln w="28575" cap="flat" cmpd="sng">
              <a:solidFill>
                <a:schemeClr val="tx1"/>
              </a:solidFill>
              <a:prstDash val="solid"/>
              <a:headEnd type="none" w="med" len="med"/>
              <a:tailEnd type="stealth" w="lg" len="lg"/>
            </a:ln>
          </p:spPr>
        </p:sp>
        <p:sp>
          <p:nvSpPr>
            <p:cNvPr id="81929" name="直接连接符 81928"/>
            <p:cNvSpPr/>
            <p:nvPr/>
          </p:nvSpPr>
          <p:spPr>
            <a:xfrm>
              <a:off x="2208" y="1096"/>
              <a:ext cx="336" cy="0"/>
            </a:xfrm>
            <a:prstGeom prst="line">
              <a:avLst/>
            </a:prstGeom>
            <a:ln w="28575" cap="flat" cmpd="sng">
              <a:solidFill>
                <a:schemeClr val="tx1"/>
              </a:solidFill>
              <a:prstDash val="solid"/>
              <a:headEnd type="none" w="med" len="med"/>
              <a:tailEnd type="stealth" w="lg" len="lg"/>
            </a:ln>
          </p:spPr>
        </p:sp>
        <p:sp>
          <p:nvSpPr>
            <p:cNvPr id="81930" name="直接连接符 81929"/>
            <p:cNvSpPr/>
            <p:nvPr/>
          </p:nvSpPr>
          <p:spPr>
            <a:xfrm>
              <a:off x="3360" y="1104"/>
              <a:ext cx="336" cy="0"/>
            </a:xfrm>
            <a:prstGeom prst="line">
              <a:avLst/>
            </a:prstGeom>
            <a:ln w="28575" cap="flat" cmpd="sng">
              <a:solidFill>
                <a:schemeClr val="tx1"/>
              </a:solidFill>
              <a:prstDash val="solid"/>
              <a:headEnd type="none" w="med" len="med"/>
              <a:tailEnd type="stealth" w="lg" len="lg"/>
            </a:ln>
          </p:spPr>
        </p:sp>
      </p:grpSp>
      <p:sp>
        <p:nvSpPr>
          <p:cNvPr id="4" name="灯片编号占位符 3"/>
          <p:cNvSpPr>
            <a:spLocks noGrp="1"/>
          </p:cNvSpPr>
          <p:nvPr>
            <p:ph type="sldNum" sz="quarter" idx="4"/>
          </p:nvPr>
        </p:nvSpPr>
        <p:spPr/>
        <p:txBody>
          <a:bodyPr/>
          <a:lstStyle/>
          <a:p>
            <a:fld id="{565CE74E-AB26-4998-AD42-012C4C1AD076}" type="slidenum">
              <a:rPr lang="zh-CN" altLang="en-US" smtClean="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依赖图：</a:t>
            </a:r>
          </a:p>
          <a:p>
            <a:pPr lvl="1" algn="just">
              <a:lnSpc>
                <a:spcPct val="90000"/>
              </a:lnSpc>
            </a:pPr>
            <a:r>
              <a:rPr lang="zh-CN" altLang="en-US" dirty="0">
                <a:sym typeface="+mn-ea"/>
              </a:rPr>
              <a:t>依赖图是一个</a:t>
            </a:r>
            <a:r>
              <a:rPr lang="zh-CN" altLang="en-US" dirty="0">
                <a:solidFill>
                  <a:srgbClr val="FF0000"/>
                </a:solidFill>
                <a:sym typeface="+mn-ea"/>
              </a:rPr>
              <a:t>有向无环图</a:t>
            </a:r>
            <a:r>
              <a:rPr lang="zh-CN" altLang="en-US" dirty="0">
                <a:sym typeface="+mn-ea"/>
              </a:rPr>
              <a:t>，是指在一棵语法树中的结点的继承属性和综合属性之间的相互依赖关系。</a:t>
            </a:r>
            <a:endParaRPr lang="zh-CN" altLang="en-US" dirty="0"/>
          </a:p>
          <a:p>
            <a:pPr lvl="1" algn="just">
              <a:lnSpc>
                <a:spcPct val="90000"/>
              </a:lnSpc>
            </a:pPr>
            <a:r>
              <a:rPr lang="zh-CN" altLang="en-US" dirty="0">
                <a:sym typeface="+mn-ea"/>
              </a:rPr>
              <a:t>依赖图为每一个包含过程调用的语义规则引入一个</a:t>
            </a:r>
            <a:r>
              <a:rPr lang="zh-CN" altLang="en-US" dirty="0">
                <a:solidFill>
                  <a:srgbClr val="FF0000"/>
                </a:solidFill>
                <a:sym typeface="+mn-ea"/>
              </a:rPr>
              <a:t>虚综合属性</a:t>
            </a:r>
            <a:r>
              <a:rPr lang="en-US" altLang="zh-CN" dirty="0">
                <a:solidFill>
                  <a:srgbClr val="FF0000"/>
                </a:solidFill>
                <a:sym typeface="+mn-ea"/>
              </a:rPr>
              <a:t>b</a:t>
            </a:r>
            <a:r>
              <a:rPr lang="zh-CN" altLang="en-US" dirty="0">
                <a:sym typeface="+mn-ea"/>
              </a:rPr>
              <a:t>，这样把每一个语义规则都写成：</a:t>
            </a:r>
          </a:p>
          <a:p>
            <a:pPr marL="0" lvl="1" indent="0" algn="ctr">
              <a:lnSpc>
                <a:spcPct val="90000"/>
              </a:lnSpc>
              <a:buNone/>
            </a:pPr>
            <a:r>
              <a:rPr lang="en-US" altLang="zh-CN" dirty="0">
                <a:solidFill>
                  <a:srgbClr val="0000CC"/>
                </a:solidFill>
                <a:sym typeface="+mn-ea"/>
              </a:rPr>
              <a:t>b:=f(c</a:t>
            </a:r>
            <a:r>
              <a:rPr lang="en-US" altLang="zh-CN" baseline="-30000" dirty="0">
                <a:solidFill>
                  <a:srgbClr val="0000CC"/>
                </a:solidFill>
                <a:sym typeface="+mn-ea"/>
              </a:rPr>
              <a:t>1</a:t>
            </a:r>
            <a:r>
              <a:rPr lang="en-US" altLang="zh-CN" dirty="0">
                <a:solidFill>
                  <a:srgbClr val="0000CC"/>
                </a:solidFill>
                <a:sym typeface="+mn-ea"/>
              </a:rPr>
              <a:t>,c</a:t>
            </a:r>
            <a:r>
              <a:rPr lang="en-US" altLang="zh-CN" baseline="-30000" dirty="0">
                <a:solidFill>
                  <a:srgbClr val="0000CC"/>
                </a:solidFill>
                <a:sym typeface="+mn-ea"/>
              </a:rPr>
              <a:t>2</a:t>
            </a:r>
            <a:r>
              <a:rPr lang="en-US" altLang="zh-CN" dirty="0">
                <a:solidFill>
                  <a:srgbClr val="0000CC"/>
                </a:solidFill>
                <a:sym typeface="+mn-ea"/>
              </a:rPr>
              <a:t>,</a:t>
            </a:r>
            <a:r>
              <a:rPr lang="en-US" altLang="zh-CN" dirty="0">
                <a:solidFill>
                  <a:srgbClr val="0000CC"/>
                </a:solidFill>
                <a:latin typeface="Arial" panose="020B0604020202020204" pitchFamily="34" charset="0"/>
                <a:sym typeface="+mn-ea"/>
              </a:rPr>
              <a:t>…</a:t>
            </a:r>
            <a:r>
              <a:rPr lang="en-US" altLang="zh-CN" dirty="0">
                <a:solidFill>
                  <a:srgbClr val="0000CC"/>
                </a:solidFill>
                <a:sym typeface="+mn-ea"/>
              </a:rPr>
              <a:t>,c</a:t>
            </a:r>
            <a:r>
              <a:rPr lang="en-US" altLang="zh-CN" baseline="-30000" dirty="0">
                <a:solidFill>
                  <a:srgbClr val="0000CC"/>
                </a:solidFill>
                <a:sym typeface="+mn-ea"/>
              </a:rPr>
              <a:t>k</a:t>
            </a:r>
            <a:r>
              <a:rPr lang="en-US" altLang="zh-CN" dirty="0">
                <a:solidFill>
                  <a:srgbClr val="0000CC"/>
                </a:solidFill>
                <a:sym typeface="+mn-ea"/>
              </a:rPr>
              <a:t>)</a:t>
            </a:r>
          </a:p>
          <a:p>
            <a:pPr lvl="1" algn="just">
              <a:lnSpc>
                <a:spcPct val="90000"/>
              </a:lnSpc>
            </a:pPr>
            <a:r>
              <a:rPr lang="zh-CN" altLang="en-US" dirty="0">
                <a:sym typeface="+mn-ea"/>
              </a:rPr>
              <a:t>依赖图中为每一个属性设置一个结点，如果</a:t>
            </a:r>
            <a:r>
              <a:rPr lang="zh-CN" altLang="en-US" dirty="0">
                <a:solidFill>
                  <a:srgbClr val="FF0000"/>
                </a:solidFill>
                <a:sym typeface="+mn-ea"/>
              </a:rPr>
              <a:t>属性</a:t>
            </a:r>
            <a:r>
              <a:rPr lang="en-US" altLang="zh-CN" dirty="0">
                <a:solidFill>
                  <a:srgbClr val="FF0000"/>
                </a:solidFill>
                <a:sym typeface="+mn-ea"/>
              </a:rPr>
              <a:t>b</a:t>
            </a:r>
            <a:r>
              <a:rPr lang="zh-CN" altLang="en-US" dirty="0">
                <a:sym typeface="+mn-ea"/>
              </a:rPr>
              <a:t>依赖于</a:t>
            </a:r>
            <a:r>
              <a:rPr lang="zh-CN" altLang="en-US" dirty="0">
                <a:solidFill>
                  <a:srgbClr val="FF0000"/>
                </a:solidFill>
                <a:sym typeface="+mn-ea"/>
              </a:rPr>
              <a:t>属性</a:t>
            </a:r>
            <a:r>
              <a:rPr lang="en-US" altLang="zh-CN" dirty="0">
                <a:solidFill>
                  <a:srgbClr val="FF0000"/>
                </a:solidFill>
                <a:sym typeface="+mn-ea"/>
              </a:rPr>
              <a:t>c</a:t>
            </a:r>
            <a:r>
              <a:rPr lang="zh-CN" altLang="en-US" dirty="0">
                <a:sym typeface="+mn-ea"/>
              </a:rPr>
              <a:t>，则</a:t>
            </a:r>
            <a:r>
              <a:rPr lang="zh-CN" altLang="en-US" dirty="0">
                <a:solidFill>
                  <a:srgbClr val="FF0000"/>
                </a:solidFill>
                <a:sym typeface="+mn-ea"/>
              </a:rPr>
              <a:t>从属性</a:t>
            </a:r>
            <a:r>
              <a:rPr lang="en-US" altLang="zh-CN" dirty="0">
                <a:solidFill>
                  <a:srgbClr val="FF0000"/>
                </a:solidFill>
                <a:sym typeface="+mn-ea"/>
              </a:rPr>
              <a:t>c</a:t>
            </a:r>
            <a:r>
              <a:rPr lang="zh-CN" altLang="en-US" dirty="0">
                <a:sym typeface="+mn-ea"/>
              </a:rPr>
              <a:t>的结点有一条</a:t>
            </a:r>
            <a:r>
              <a:rPr lang="zh-CN" altLang="en-US" dirty="0">
                <a:solidFill>
                  <a:srgbClr val="FF0000"/>
                </a:solidFill>
                <a:sym typeface="+mn-ea"/>
              </a:rPr>
              <a:t>有向边</a:t>
            </a:r>
            <a:r>
              <a:rPr lang="zh-CN" altLang="en-US" dirty="0">
                <a:sym typeface="+mn-ea"/>
              </a:rPr>
              <a:t>连到</a:t>
            </a:r>
            <a:r>
              <a:rPr lang="zh-CN" altLang="en-US" dirty="0">
                <a:solidFill>
                  <a:srgbClr val="FF0000"/>
                </a:solidFill>
                <a:sym typeface="+mn-ea"/>
              </a:rPr>
              <a:t>属性</a:t>
            </a:r>
            <a:r>
              <a:rPr lang="en-US" altLang="zh-CN" dirty="0">
                <a:solidFill>
                  <a:srgbClr val="FF0000"/>
                </a:solidFill>
                <a:sym typeface="+mn-ea"/>
              </a:rPr>
              <a:t>b</a:t>
            </a:r>
            <a:r>
              <a:rPr lang="zh-CN" altLang="en-US" dirty="0">
                <a:sym typeface="+mn-ea"/>
              </a:rPr>
              <a:t>的结点。</a:t>
            </a:r>
            <a:endParaRPr lang="zh-CN" altLang="en-US" dirty="0"/>
          </a:p>
          <a:p>
            <a:pPr lvl="1" algn="just">
              <a:lnSpc>
                <a:spcPct val="90000"/>
              </a:lnSpc>
            </a:pPr>
            <a:endParaRPr lang="zh-CN" altLang="en-US" dirty="0">
              <a:sym typeface="+mn-ea"/>
            </a:endParaRPr>
          </a:p>
          <a:p>
            <a:pPr lvl="1" algn="just">
              <a:lnSpc>
                <a:spcPct val="90000"/>
              </a:lnSpc>
            </a:pPr>
            <a:endParaRPr lang="zh-CN" altLang="en-US" dirty="0">
              <a:sym typeface="+mn-ea"/>
            </a:endParaRPr>
          </a:p>
          <a:p>
            <a:pPr marL="457200" lvl="1" indent="0" algn="ctr">
              <a:lnSpc>
                <a:spcPct val="90000"/>
              </a:lnSpc>
              <a:buNone/>
            </a:pPr>
            <a:endParaRPr lang="zh-CN" altLang="en-US" dirty="0"/>
          </a:p>
          <a:p>
            <a:pPr marL="457200" lvl="1" indent="0" algn="just">
              <a:lnSpc>
                <a:spcPct val="90000"/>
              </a:lnSpc>
              <a:buNone/>
            </a:pPr>
            <a:endParaRPr lang="zh-CN" altLang="en-US" dirty="0"/>
          </a:p>
          <a:p>
            <a:endParaRPr lang="zh-CN" altLang="en-US" dirty="0"/>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49529" y="669607"/>
            <a:ext cx="9027795" cy="5563235"/>
          </a:xfrm>
        </p:spPr>
        <p:txBody>
          <a:bodyPr>
            <a:normAutofit fontScale="92500" lnSpcReduction="10000"/>
          </a:bodyPr>
          <a:lstStyle/>
          <a:p>
            <a:pPr algn="just"/>
            <a:endParaRPr lang="zh-CN" altLang="en-US" sz="3600" dirty="0">
              <a:solidFill>
                <a:schemeClr val="tx2"/>
              </a:solidFill>
              <a:sym typeface="+mn-ea"/>
            </a:endParaRPr>
          </a:p>
          <a:p>
            <a:pPr algn="just"/>
            <a:r>
              <a:rPr lang="zh-CN" altLang="en-US" sz="3600" dirty="0">
                <a:solidFill>
                  <a:schemeClr val="tx2"/>
                </a:solidFill>
                <a:sym typeface="+mn-ea"/>
              </a:rPr>
              <a:t>依赖图的构造算法</a:t>
            </a:r>
            <a:r>
              <a:rPr lang="zh-CN" altLang="en-US" sz="3600" b="0" dirty="0">
                <a:sym typeface="+mn-ea"/>
              </a:rPr>
              <a:t>：</a:t>
            </a:r>
            <a:endParaRPr lang="en-US" altLang="zh-CN" sz="2800" dirty="0">
              <a:sym typeface="+mn-ea"/>
            </a:endParaRPr>
          </a:p>
          <a:p>
            <a:pPr marL="457200" lvl="1" indent="0" algn="just">
              <a:buNone/>
            </a:pPr>
            <a:r>
              <a:rPr lang="en-US" altLang="zh-CN" sz="2800" dirty="0">
                <a:sym typeface="+mn-ea"/>
              </a:rPr>
              <a:t>for    </a:t>
            </a:r>
            <a:r>
              <a:rPr lang="zh-CN" altLang="en-US" sz="2800" dirty="0">
                <a:sym typeface="+mn-ea"/>
              </a:rPr>
              <a:t>语法树中每一结点</a:t>
            </a:r>
            <a:r>
              <a:rPr lang="en-US" altLang="zh-CN" sz="2800" dirty="0">
                <a:sym typeface="+mn-ea"/>
              </a:rPr>
              <a:t>n   do</a:t>
            </a:r>
            <a:endParaRPr lang="en-US" altLang="zh-CN" sz="2800" dirty="0"/>
          </a:p>
          <a:p>
            <a:pPr lvl="1" algn="just">
              <a:buNone/>
            </a:pPr>
            <a:r>
              <a:rPr lang="en-US" altLang="zh-CN" sz="2800" dirty="0">
                <a:sym typeface="+mn-ea"/>
              </a:rPr>
              <a:t>	      </a:t>
            </a:r>
            <a:r>
              <a:rPr lang="en-US" altLang="zh-CN" sz="2800" dirty="0">
                <a:solidFill>
                  <a:srgbClr val="FF0000"/>
                </a:solidFill>
                <a:sym typeface="+mn-ea"/>
              </a:rPr>
              <a:t>for</a:t>
            </a:r>
            <a:r>
              <a:rPr lang="en-US" altLang="zh-CN" sz="2800" dirty="0">
                <a:sym typeface="+mn-ea"/>
              </a:rPr>
              <a:t>  </a:t>
            </a:r>
            <a:r>
              <a:rPr lang="zh-CN" altLang="en-US" sz="2800" dirty="0">
                <a:sym typeface="+mn-ea"/>
              </a:rPr>
              <a:t>结点</a:t>
            </a:r>
            <a:r>
              <a:rPr lang="en-US" altLang="zh-CN" sz="2800" dirty="0">
                <a:sym typeface="+mn-ea"/>
              </a:rPr>
              <a:t>n</a:t>
            </a:r>
            <a:r>
              <a:rPr lang="zh-CN" altLang="en-US" sz="2800" dirty="0">
                <a:sym typeface="+mn-ea"/>
              </a:rPr>
              <a:t>的文法符号的每一个属性</a:t>
            </a:r>
            <a:r>
              <a:rPr lang="en-US" altLang="zh-CN" sz="2800" dirty="0">
                <a:sym typeface="+mn-ea"/>
              </a:rPr>
              <a:t>a   do</a:t>
            </a:r>
            <a:endParaRPr lang="en-US" altLang="zh-CN" sz="2800" dirty="0"/>
          </a:p>
          <a:p>
            <a:pPr lvl="1" algn="just">
              <a:buNone/>
            </a:pPr>
            <a:r>
              <a:rPr lang="en-US" altLang="zh-CN" sz="2800" dirty="0">
                <a:sym typeface="+mn-ea"/>
              </a:rPr>
              <a:t>		           </a:t>
            </a:r>
            <a:r>
              <a:rPr lang="zh-CN" altLang="en-US" sz="2800" dirty="0">
                <a:solidFill>
                  <a:srgbClr val="0000CC"/>
                </a:solidFill>
                <a:sym typeface="+mn-ea"/>
              </a:rPr>
              <a:t>为</a:t>
            </a:r>
            <a:r>
              <a:rPr lang="en-US" altLang="zh-CN" sz="2800" dirty="0">
                <a:solidFill>
                  <a:srgbClr val="0000CC"/>
                </a:solidFill>
                <a:sym typeface="+mn-ea"/>
              </a:rPr>
              <a:t>a</a:t>
            </a:r>
            <a:r>
              <a:rPr lang="zh-CN" altLang="en-US" sz="2800" dirty="0">
                <a:solidFill>
                  <a:srgbClr val="0000CC"/>
                </a:solidFill>
                <a:sym typeface="+mn-ea"/>
              </a:rPr>
              <a:t>在依赖图中建立一个结点</a:t>
            </a:r>
            <a:r>
              <a:rPr lang="zh-CN" altLang="en-US" sz="2800" dirty="0">
                <a:sym typeface="+mn-ea"/>
              </a:rPr>
              <a:t>；</a:t>
            </a:r>
            <a:endParaRPr lang="en-US" altLang="zh-CN" sz="2800" dirty="0">
              <a:sym typeface="+mn-ea"/>
            </a:endParaRPr>
          </a:p>
          <a:p>
            <a:pPr lvl="1" algn="just">
              <a:buNone/>
            </a:pPr>
            <a:r>
              <a:rPr lang="en-US" altLang="zh-CN" sz="2800" dirty="0">
                <a:sym typeface="+mn-ea"/>
              </a:rPr>
              <a:t>        </a:t>
            </a:r>
            <a:r>
              <a:rPr lang="en-US" altLang="zh-CN" sz="2800" dirty="0">
                <a:solidFill>
                  <a:srgbClr val="FF0000"/>
                </a:solidFill>
                <a:sym typeface="+mn-ea"/>
              </a:rPr>
              <a:t> for </a:t>
            </a:r>
            <a:r>
              <a:rPr lang="zh-CN" altLang="en-US" sz="2800" dirty="0">
                <a:sym typeface="+mn-ea"/>
              </a:rPr>
              <a:t>结点</a:t>
            </a:r>
            <a:r>
              <a:rPr lang="en-US" altLang="zh-CN" sz="2800" dirty="0">
                <a:sym typeface="+mn-ea"/>
              </a:rPr>
              <a:t>n</a:t>
            </a:r>
            <a:r>
              <a:rPr lang="zh-CN" altLang="en-US" sz="2800" dirty="0">
                <a:sym typeface="+mn-ea"/>
              </a:rPr>
              <a:t>所用产生式中每个形</a:t>
            </a:r>
            <a:r>
              <a:rPr lang="en-US" altLang="zh-CN" sz="2800" dirty="0">
                <a:solidFill>
                  <a:srgbClr val="0000CC"/>
                </a:solidFill>
                <a:sym typeface="+mn-ea"/>
              </a:rPr>
              <a:t>f(c</a:t>
            </a:r>
            <a:r>
              <a:rPr lang="en-US" altLang="zh-CN" sz="2800" baseline="-30000" dirty="0">
                <a:solidFill>
                  <a:srgbClr val="0000CC"/>
                </a:solidFill>
                <a:sym typeface="+mn-ea"/>
              </a:rPr>
              <a:t>1</a:t>
            </a:r>
            <a:r>
              <a:rPr lang="en-US" altLang="zh-CN" sz="2800" dirty="0">
                <a:solidFill>
                  <a:srgbClr val="0000CC"/>
                </a:solidFill>
                <a:sym typeface="+mn-ea"/>
              </a:rPr>
              <a:t>,c</a:t>
            </a:r>
            <a:r>
              <a:rPr lang="en-US" altLang="zh-CN" sz="2800" baseline="-30000" dirty="0">
                <a:solidFill>
                  <a:srgbClr val="0000CC"/>
                </a:solidFill>
                <a:sym typeface="+mn-ea"/>
              </a:rPr>
              <a:t>2</a:t>
            </a:r>
            <a:r>
              <a:rPr lang="en-US" altLang="zh-CN" sz="2800" dirty="0">
                <a:solidFill>
                  <a:srgbClr val="0000CC"/>
                </a:solidFill>
                <a:sym typeface="+mn-ea"/>
              </a:rPr>
              <a:t>,</a:t>
            </a:r>
            <a:r>
              <a:rPr lang="en-US" altLang="zh-CN" sz="2800" dirty="0">
                <a:solidFill>
                  <a:srgbClr val="0000CC"/>
                </a:solidFill>
                <a:latin typeface="Arial" panose="020B0604020202020204" pitchFamily="34" charset="0"/>
                <a:sym typeface="+mn-ea"/>
              </a:rPr>
              <a:t>…</a:t>
            </a:r>
            <a:r>
              <a:rPr lang="en-US" altLang="zh-CN" sz="2800" dirty="0">
                <a:solidFill>
                  <a:srgbClr val="0000CC"/>
                </a:solidFill>
                <a:sym typeface="+mn-ea"/>
              </a:rPr>
              <a:t>,</a:t>
            </a:r>
            <a:r>
              <a:rPr lang="en-US" altLang="zh-CN" sz="2800" dirty="0" err="1">
                <a:solidFill>
                  <a:srgbClr val="0000CC"/>
                </a:solidFill>
                <a:sym typeface="+mn-ea"/>
              </a:rPr>
              <a:t>c</a:t>
            </a:r>
            <a:r>
              <a:rPr lang="en-US" altLang="zh-CN" sz="2800" baseline="-30000" dirty="0" err="1">
                <a:solidFill>
                  <a:srgbClr val="0000CC"/>
                </a:solidFill>
                <a:sym typeface="+mn-ea"/>
              </a:rPr>
              <a:t>k</a:t>
            </a:r>
            <a:r>
              <a:rPr lang="en-US" altLang="zh-CN" sz="2800" dirty="0">
                <a:solidFill>
                  <a:srgbClr val="0000CC"/>
                </a:solidFill>
                <a:sym typeface="+mn-ea"/>
              </a:rPr>
              <a:t> )</a:t>
            </a:r>
            <a:r>
              <a:rPr lang="zh-CN" altLang="en-US" sz="2800" dirty="0">
                <a:sym typeface="+mn-ea"/>
              </a:rPr>
              <a:t>语义动作 </a:t>
            </a:r>
            <a:endParaRPr lang="en-US" altLang="zh-CN" sz="2800" dirty="0">
              <a:solidFill>
                <a:srgbClr val="0000CC"/>
              </a:solidFill>
              <a:sym typeface="+mn-ea"/>
            </a:endParaRPr>
          </a:p>
          <a:p>
            <a:pPr lvl="1" algn="just">
              <a:buNone/>
            </a:pPr>
            <a:r>
              <a:rPr lang="en-US" altLang="zh-CN" sz="2800" dirty="0">
                <a:sym typeface="+mn-ea"/>
              </a:rPr>
              <a:t>         do </a:t>
            </a:r>
            <a:r>
              <a:rPr lang="zh-CN" altLang="en-US" sz="2800" dirty="0">
                <a:sym typeface="+mn-ea"/>
              </a:rPr>
              <a:t>为该规则在依赖图中也建立一个结点（称为虚结点）</a:t>
            </a:r>
            <a:endParaRPr lang="en-US" altLang="zh-CN" sz="2800" dirty="0">
              <a:solidFill>
                <a:srgbClr val="0000CC"/>
              </a:solidFill>
              <a:sym typeface="+mn-ea"/>
            </a:endParaRPr>
          </a:p>
          <a:p>
            <a:pPr lvl="1" algn="just">
              <a:buNone/>
            </a:pPr>
            <a:r>
              <a:rPr lang="zh-CN" altLang="en-US" sz="2800" dirty="0">
                <a:sym typeface="+mn-ea"/>
              </a:rPr>
              <a:t>    </a:t>
            </a:r>
            <a:r>
              <a:rPr lang="en-US" altLang="zh-CN" sz="2800" dirty="0">
                <a:sym typeface="+mn-ea"/>
              </a:rPr>
              <a:t>for   </a:t>
            </a:r>
            <a:r>
              <a:rPr lang="zh-CN" altLang="en-US" sz="2800" dirty="0">
                <a:sym typeface="+mn-ea"/>
              </a:rPr>
              <a:t>语法树中每一个结点</a:t>
            </a:r>
            <a:r>
              <a:rPr lang="en-US" altLang="zh-CN" sz="2800" dirty="0">
                <a:sym typeface="+mn-ea"/>
              </a:rPr>
              <a:t>n   do</a:t>
            </a:r>
            <a:endParaRPr lang="en-US" altLang="zh-CN" sz="2800" dirty="0"/>
          </a:p>
          <a:p>
            <a:pPr lvl="1" algn="just">
              <a:buNone/>
            </a:pPr>
            <a:r>
              <a:rPr lang="en-US" altLang="zh-CN" sz="2800" dirty="0">
                <a:sym typeface="+mn-ea"/>
              </a:rPr>
              <a:t>	      </a:t>
            </a:r>
            <a:r>
              <a:rPr lang="en-US" altLang="zh-CN" sz="2800" dirty="0">
                <a:solidFill>
                  <a:srgbClr val="FF0000"/>
                </a:solidFill>
                <a:sym typeface="+mn-ea"/>
              </a:rPr>
              <a:t>for</a:t>
            </a:r>
            <a:r>
              <a:rPr lang="en-US" altLang="zh-CN" sz="2800" dirty="0">
                <a:sym typeface="+mn-ea"/>
              </a:rPr>
              <a:t>  </a:t>
            </a:r>
            <a:r>
              <a:rPr lang="zh-CN" altLang="en-US" sz="2800" dirty="0">
                <a:sym typeface="+mn-ea"/>
              </a:rPr>
              <a:t>结点</a:t>
            </a:r>
            <a:r>
              <a:rPr lang="en-US" altLang="zh-CN" sz="2800" dirty="0">
                <a:sym typeface="+mn-ea"/>
              </a:rPr>
              <a:t>n</a:t>
            </a:r>
            <a:r>
              <a:rPr lang="zh-CN" altLang="en-US" sz="2800" dirty="0">
                <a:sym typeface="+mn-ea"/>
              </a:rPr>
              <a:t>所用产生式对应的每一个语义规则</a:t>
            </a:r>
            <a:endParaRPr lang="zh-CN" altLang="en-US" sz="2800" dirty="0"/>
          </a:p>
          <a:p>
            <a:pPr lvl="1" algn="just">
              <a:buNone/>
            </a:pPr>
            <a:r>
              <a:rPr lang="zh-CN" altLang="en-US" sz="2800" dirty="0">
                <a:sym typeface="+mn-ea"/>
              </a:rPr>
              <a:t>		              </a:t>
            </a:r>
            <a:r>
              <a:rPr lang="en-US" altLang="zh-CN" sz="2800" dirty="0">
                <a:solidFill>
                  <a:srgbClr val="0000CC"/>
                </a:solidFill>
                <a:sym typeface="+mn-ea"/>
              </a:rPr>
              <a:t>b:=f(c</a:t>
            </a:r>
            <a:r>
              <a:rPr lang="en-US" altLang="zh-CN" sz="2800" baseline="-30000" dirty="0">
                <a:solidFill>
                  <a:srgbClr val="0000CC"/>
                </a:solidFill>
                <a:sym typeface="+mn-ea"/>
              </a:rPr>
              <a:t>1</a:t>
            </a:r>
            <a:r>
              <a:rPr lang="en-US" altLang="zh-CN" sz="2800" dirty="0">
                <a:solidFill>
                  <a:srgbClr val="0000CC"/>
                </a:solidFill>
                <a:sym typeface="+mn-ea"/>
              </a:rPr>
              <a:t>,c</a:t>
            </a:r>
            <a:r>
              <a:rPr lang="en-US" altLang="zh-CN" sz="2800" baseline="-30000" dirty="0">
                <a:solidFill>
                  <a:srgbClr val="0000CC"/>
                </a:solidFill>
                <a:sym typeface="+mn-ea"/>
              </a:rPr>
              <a:t>2</a:t>
            </a:r>
            <a:r>
              <a:rPr lang="en-US" altLang="zh-CN" sz="2800" dirty="0">
                <a:solidFill>
                  <a:srgbClr val="0000CC"/>
                </a:solidFill>
                <a:sym typeface="+mn-ea"/>
              </a:rPr>
              <a:t>,</a:t>
            </a:r>
            <a:r>
              <a:rPr lang="en-US" altLang="zh-CN" sz="2800" dirty="0">
                <a:solidFill>
                  <a:srgbClr val="0000CC"/>
                </a:solidFill>
                <a:latin typeface="Arial" panose="020B0604020202020204" pitchFamily="34" charset="0"/>
                <a:sym typeface="+mn-ea"/>
              </a:rPr>
              <a:t>…</a:t>
            </a:r>
            <a:r>
              <a:rPr lang="en-US" altLang="zh-CN" sz="2800" dirty="0">
                <a:solidFill>
                  <a:srgbClr val="0000CC"/>
                </a:solidFill>
                <a:sym typeface="+mn-ea"/>
              </a:rPr>
              <a:t>,c</a:t>
            </a:r>
            <a:r>
              <a:rPr lang="en-US" altLang="zh-CN" sz="2800" baseline="-30000" dirty="0">
                <a:solidFill>
                  <a:srgbClr val="0000CC"/>
                </a:solidFill>
                <a:sym typeface="+mn-ea"/>
              </a:rPr>
              <a:t>k</a:t>
            </a:r>
            <a:r>
              <a:rPr lang="en-US" altLang="zh-CN" sz="2800" dirty="0">
                <a:solidFill>
                  <a:srgbClr val="0000CC"/>
                </a:solidFill>
                <a:sym typeface="+mn-ea"/>
              </a:rPr>
              <a:t> )</a:t>
            </a:r>
            <a:r>
              <a:rPr lang="en-US" altLang="zh-CN" sz="2800" dirty="0">
                <a:sym typeface="+mn-ea"/>
              </a:rPr>
              <a:t>   do</a:t>
            </a:r>
            <a:endParaRPr lang="en-US" altLang="zh-CN" sz="2800" dirty="0"/>
          </a:p>
          <a:p>
            <a:pPr lvl="1" algn="just">
              <a:buNone/>
            </a:pPr>
            <a:r>
              <a:rPr lang="en-US" altLang="zh-CN" sz="2800" dirty="0">
                <a:sym typeface="+mn-ea"/>
              </a:rPr>
              <a:t>		              for  i:=1 to k  do</a:t>
            </a:r>
            <a:endParaRPr lang="en-US" altLang="zh-CN" sz="2800" dirty="0"/>
          </a:p>
          <a:p>
            <a:pPr lvl="1" algn="just">
              <a:buNone/>
            </a:pPr>
            <a:r>
              <a:rPr lang="en-US" altLang="zh-CN" sz="2800" dirty="0">
                <a:sym typeface="+mn-ea"/>
              </a:rPr>
              <a:t>		                      </a:t>
            </a:r>
            <a:r>
              <a:rPr lang="zh-CN" altLang="en-US" sz="2800" dirty="0">
                <a:solidFill>
                  <a:srgbClr val="0000CC"/>
                </a:solidFill>
                <a:sym typeface="+mn-ea"/>
              </a:rPr>
              <a:t>从</a:t>
            </a:r>
            <a:r>
              <a:rPr lang="en-US" altLang="zh-CN" sz="2800" dirty="0">
                <a:solidFill>
                  <a:srgbClr val="0000CC"/>
                </a:solidFill>
                <a:sym typeface="+mn-ea"/>
              </a:rPr>
              <a:t>c</a:t>
            </a:r>
            <a:r>
              <a:rPr lang="en-US" altLang="zh-CN" sz="2800" baseline="-30000" dirty="0">
                <a:solidFill>
                  <a:srgbClr val="0000CC"/>
                </a:solidFill>
                <a:sym typeface="+mn-ea"/>
              </a:rPr>
              <a:t>i</a:t>
            </a:r>
            <a:r>
              <a:rPr lang="zh-CN" altLang="en-US" sz="2800" dirty="0">
                <a:solidFill>
                  <a:srgbClr val="0000CC"/>
                </a:solidFill>
                <a:sym typeface="+mn-ea"/>
              </a:rPr>
              <a:t>结点到</a:t>
            </a:r>
            <a:r>
              <a:rPr lang="en-US" altLang="zh-CN" sz="2800" dirty="0">
                <a:solidFill>
                  <a:srgbClr val="0000CC"/>
                </a:solidFill>
                <a:sym typeface="+mn-ea"/>
              </a:rPr>
              <a:t>b</a:t>
            </a:r>
            <a:r>
              <a:rPr lang="zh-CN" altLang="en-US" sz="2800" dirty="0">
                <a:solidFill>
                  <a:srgbClr val="0000CC"/>
                </a:solidFill>
                <a:sym typeface="+mn-ea"/>
              </a:rPr>
              <a:t>结点构造一条有向边</a:t>
            </a:r>
            <a:r>
              <a:rPr lang="zh-CN" altLang="en-US" sz="2800" dirty="0">
                <a:sym typeface="+mn-ea"/>
              </a:rPr>
              <a:t>；</a:t>
            </a:r>
            <a:endParaRPr lang="zh-CN" altLang="en-US" sz="2800" dirty="0"/>
          </a:p>
          <a:p>
            <a:endParaRPr lang="zh-CN" altLang="en-US" sz="2800" dirty="0"/>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ltLang="en-US"/>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endParaRPr lang="zh-CN" altLang="en-US"/>
          </a:p>
        </p:txBody>
      </p:sp>
      <p:sp>
        <p:nvSpPr>
          <p:cNvPr id="83989" name="矩形 83988"/>
          <p:cNvSpPr/>
          <p:nvPr/>
        </p:nvSpPr>
        <p:spPr>
          <a:xfrm>
            <a:off x="762000" y="1828800"/>
            <a:ext cx="8001000" cy="533400"/>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800" b="1" i="0" u="none" kern="1200" baseline="0">
                <a:solidFill>
                  <a:schemeClr val="tx1"/>
                </a:solidFill>
                <a:latin typeface="Arial" panose="020B0604020202020204" pitchFamily="34" charset="0"/>
                <a:ea typeface="楷体_GB2312"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400" b="1" i="0" u="none" kern="1200" baseline="0">
                <a:solidFill>
                  <a:schemeClr val="tx1"/>
                </a:solidFill>
                <a:latin typeface="Arial" panose="020B0604020202020204" pitchFamily="34" charset="0"/>
                <a:ea typeface="华文楷体" panose="0201060004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2000" b="1" i="0" u="none" kern="1200" baseline="0">
                <a:solidFill>
                  <a:schemeClr val="tx1"/>
                </a:solidFill>
                <a:latin typeface="Arial" panose="020B0604020202020204" pitchFamily="34" charset="0"/>
                <a:ea typeface="华文楷体" panose="0201060004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Arial" panose="020B0604020202020204" pitchFamily="34" charset="0"/>
                <a:ea typeface="华文楷体" panose="02010600040101010101" pitchFamily="2" charset="-122"/>
              </a:defRPr>
            </a:lvl5pPr>
          </a:lstStyle>
          <a:p>
            <a:pPr lvl="0" algn="just">
              <a:lnSpc>
                <a:spcPct val="90000"/>
              </a:lnSpc>
              <a:buNone/>
            </a:pPr>
            <a:r>
              <a:rPr lang="en-US" altLang="zh-CN">
                <a:solidFill>
                  <a:srgbClr val="000000"/>
                </a:solidFill>
              </a:rPr>
              <a:t> E→E</a:t>
            </a:r>
            <a:r>
              <a:rPr lang="en-US" altLang="zh-CN" baseline="-30000">
                <a:solidFill>
                  <a:srgbClr val="000000"/>
                </a:solidFill>
              </a:rPr>
              <a:t>1</a:t>
            </a:r>
            <a:r>
              <a:rPr lang="zh-CN" altLang="en-US">
                <a:solidFill>
                  <a:srgbClr val="000000"/>
                </a:solidFill>
              </a:rPr>
              <a:t>＋</a:t>
            </a:r>
            <a:r>
              <a:rPr lang="en-US" altLang="zh-CN">
                <a:solidFill>
                  <a:srgbClr val="000000"/>
                </a:solidFill>
              </a:rPr>
              <a:t>E</a:t>
            </a:r>
            <a:r>
              <a:rPr lang="en-US" altLang="zh-CN" baseline="-30000">
                <a:solidFill>
                  <a:srgbClr val="000000"/>
                </a:solidFill>
              </a:rPr>
              <a:t>2</a:t>
            </a:r>
            <a:r>
              <a:rPr lang="en-US" altLang="zh-CN" err="1">
                <a:solidFill>
                  <a:srgbClr val="000000"/>
                </a:solidFill>
              </a:rPr>
              <a:t>	    	E.val</a:t>
            </a:r>
            <a:r>
              <a:rPr lang="en-US" altLang="zh-CN">
                <a:solidFill>
                  <a:srgbClr val="000000"/>
                </a:solidFill>
              </a:rPr>
              <a:t>:=E</a:t>
            </a:r>
            <a:r>
              <a:rPr lang="en-US" altLang="zh-CN" baseline="-30000">
                <a:solidFill>
                  <a:srgbClr val="000000"/>
                </a:solidFill>
              </a:rPr>
              <a:t>1</a:t>
            </a:r>
            <a:r>
              <a:rPr lang="en-US" altLang="zh-CN">
                <a:solidFill>
                  <a:srgbClr val="000000"/>
                </a:solidFill>
              </a:rPr>
              <a:t>.val+E</a:t>
            </a:r>
            <a:r>
              <a:rPr lang="en-US" altLang="zh-CN" baseline="-30000">
                <a:solidFill>
                  <a:srgbClr val="000000"/>
                </a:solidFill>
              </a:rPr>
              <a:t>2</a:t>
            </a:r>
            <a:r>
              <a:rPr lang="en-US" altLang="zh-CN">
                <a:solidFill>
                  <a:srgbClr val="000000"/>
                </a:solidFill>
              </a:rPr>
              <a:t>.val </a:t>
            </a:r>
          </a:p>
        </p:txBody>
      </p:sp>
      <p:sp>
        <p:nvSpPr>
          <p:cNvPr id="83990" name="矩形 83989"/>
          <p:cNvSpPr/>
          <p:nvPr/>
        </p:nvSpPr>
        <p:spPr>
          <a:xfrm>
            <a:off x="1295400" y="44958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E</a:t>
            </a:r>
            <a:r>
              <a:rPr lang="en-US" altLang="zh-CN" sz="2600" b="1" baseline="-25000">
                <a:solidFill>
                  <a:srgbClr val="000000"/>
                </a:solidFill>
                <a:latin typeface="Times New Roman" panose="02020603050405020304" charset="0"/>
              </a:rPr>
              <a:t>1</a:t>
            </a:r>
          </a:p>
        </p:txBody>
      </p:sp>
      <p:sp>
        <p:nvSpPr>
          <p:cNvPr id="83991" name="矩形 83990"/>
          <p:cNvSpPr/>
          <p:nvPr/>
        </p:nvSpPr>
        <p:spPr>
          <a:xfrm>
            <a:off x="3352800" y="45720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a:t>
            </a:r>
          </a:p>
        </p:txBody>
      </p:sp>
      <p:sp>
        <p:nvSpPr>
          <p:cNvPr id="83992" name="矩形 83991"/>
          <p:cNvSpPr/>
          <p:nvPr/>
        </p:nvSpPr>
        <p:spPr>
          <a:xfrm>
            <a:off x="4114800" y="44958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E</a:t>
            </a:r>
            <a:r>
              <a:rPr lang="en-US" altLang="zh-CN" sz="2600" b="1" baseline="-25000">
                <a:solidFill>
                  <a:srgbClr val="000000"/>
                </a:solidFill>
                <a:latin typeface="Times New Roman" panose="02020603050405020304" charset="0"/>
              </a:rPr>
              <a:t>2</a:t>
            </a:r>
            <a:endParaRPr lang="en-US" altLang="zh-CN" sz="2600" b="1">
              <a:solidFill>
                <a:srgbClr val="000000"/>
              </a:solidFill>
              <a:latin typeface="Times New Roman" panose="02020603050405020304" charset="0"/>
            </a:endParaRPr>
          </a:p>
        </p:txBody>
      </p:sp>
      <p:sp>
        <p:nvSpPr>
          <p:cNvPr id="83993" name="直接连接符 83992"/>
          <p:cNvSpPr/>
          <p:nvPr/>
        </p:nvSpPr>
        <p:spPr>
          <a:xfrm flipV="1">
            <a:off x="2438400" y="3657600"/>
            <a:ext cx="1295400" cy="914400"/>
          </a:xfrm>
          <a:prstGeom prst="line">
            <a:avLst/>
          </a:prstGeom>
          <a:ln w="19050" cap="flat" cmpd="sng">
            <a:solidFill>
              <a:srgbClr val="000000"/>
            </a:solidFill>
            <a:prstDash val="dash"/>
            <a:headEnd type="none" w="med" len="med"/>
            <a:tailEnd type="none" w="lg" len="lg"/>
          </a:ln>
        </p:spPr>
      </p:sp>
      <p:sp>
        <p:nvSpPr>
          <p:cNvPr id="83994" name="直接连接符 83993"/>
          <p:cNvSpPr/>
          <p:nvPr/>
        </p:nvSpPr>
        <p:spPr>
          <a:xfrm flipH="1" flipV="1">
            <a:off x="3810000" y="3657600"/>
            <a:ext cx="0" cy="1066800"/>
          </a:xfrm>
          <a:prstGeom prst="line">
            <a:avLst/>
          </a:prstGeom>
          <a:ln w="19050" cap="flat" cmpd="sng">
            <a:solidFill>
              <a:srgbClr val="000000"/>
            </a:solidFill>
            <a:prstDash val="dash"/>
            <a:headEnd type="none" w="med" len="med"/>
            <a:tailEnd type="none" w="lg" len="lg"/>
          </a:ln>
        </p:spPr>
      </p:sp>
      <p:sp>
        <p:nvSpPr>
          <p:cNvPr id="83995" name="直接连接符 83994"/>
          <p:cNvSpPr/>
          <p:nvPr/>
        </p:nvSpPr>
        <p:spPr>
          <a:xfrm>
            <a:off x="3886200" y="3657600"/>
            <a:ext cx="1295400" cy="914400"/>
          </a:xfrm>
          <a:prstGeom prst="line">
            <a:avLst/>
          </a:prstGeom>
          <a:ln w="19050" cap="flat" cmpd="sng">
            <a:solidFill>
              <a:srgbClr val="000000"/>
            </a:solidFill>
            <a:prstDash val="dash"/>
            <a:headEnd type="none" w="med" len="med"/>
            <a:tailEnd type="none" w="lg" len="lg"/>
          </a:ln>
        </p:spPr>
      </p:sp>
      <p:sp>
        <p:nvSpPr>
          <p:cNvPr id="83996" name="矩形 83995"/>
          <p:cNvSpPr/>
          <p:nvPr/>
        </p:nvSpPr>
        <p:spPr>
          <a:xfrm>
            <a:off x="2895600" y="3124200"/>
            <a:ext cx="18288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E</a:t>
            </a:r>
          </a:p>
        </p:txBody>
      </p:sp>
      <p:sp>
        <p:nvSpPr>
          <p:cNvPr id="83997" name="矩形 83996"/>
          <p:cNvSpPr/>
          <p:nvPr/>
        </p:nvSpPr>
        <p:spPr>
          <a:xfrm>
            <a:off x="3962400" y="2895600"/>
            <a:ext cx="685800" cy="533400"/>
          </a:xfrm>
          <a:prstGeom prst="rect">
            <a:avLst/>
          </a:prstGeom>
          <a:noFill/>
          <a:ln w="19050">
            <a:noFill/>
          </a:ln>
        </p:spPr>
        <p:txBody>
          <a:bodyPr wrap="none" anchor="ctr"/>
          <a:lstStyle/>
          <a:p>
            <a:pPr algn="ctr">
              <a:buClr>
                <a:schemeClr val="bg1"/>
              </a:buClr>
            </a:pPr>
            <a:r>
              <a:rPr lang="en-US" altLang="zh-CN" sz="2600" b="1" err="1">
                <a:solidFill>
                  <a:srgbClr val="000000"/>
                </a:solidFill>
                <a:latin typeface="Times New Roman" panose="02020603050405020304" charset="0"/>
              </a:rPr>
              <a:t>val</a:t>
            </a:r>
            <a:endParaRPr lang="en-US" altLang="zh-CN" sz="2600" b="1">
              <a:solidFill>
                <a:srgbClr val="000000"/>
              </a:solidFill>
              <a:latin typeface="Times New Roman" panose="02020603050405020304" charset="0"/>
            </a:endParaRPr>
          </a:p>
        </p:txBody>
      </p:sp>
      <p:sp>
        <p:nvSpPr>
          <p:cNvPr id="83998" name="矩形 83997"/>
          <p:cNvSpPr/>
          <p:nvPr/>
        </p:nvSpPr>
        <p:spPr>
          <a:xfrm>
            <a:off x="2514600" y="4876800"/>
            <a:ext cx="685800" cy="533400"/>
          </a:xfrm>
          <a:prstGeom prst="rect">
            <a:avLst/>
          </a:prstGeom>
          <a:noFill/>
          <a:ln w="19050">
            <a:noFill/>
          </a:ln>
        </p:spPr>
        <p:txBody>
          <a:bodyPr wrap="none" anchor="ctr"/>
          <a:lstStyle/>
          <a:p>
            <a:pPr algn="ctr">
              <a:buClr>
                <a:schemeClr val="bg1"/>
              </a:buClr>
            </a:pPr>
            <a:r>
              <a:rPr lang="en-US" altLang="zh-CN" sz="2600" b="1" err="1">
                <a:solidFill>
                  <a:srgbClr val="000000"/>
                </a:solidFill>
                <a:latin typeface="Times New Roman" panose="02020603050405020304" charset="0"/>
              </a:rPr>
              <a:t>val</a:t>
            </a:r>
            <a:endParaRPr lang="en-US" altLang="zh-CN" sz="2600" b="1">
              <a:solidFill>
                <a:srgbClr val="000000"/>
              </a:solidFill>
              <a:latin typeface="Times New Roman" panose="02020603050405020304" charset="0"/>
            </a:endParaRPr>
          </a:p>
        </p:txBody>
      </p:sp>
      <p:sp>
        <p:nvSpPr>
          <p:cNvPr id="83999" name="矩形 83998"/>
          <p:cNvSpPr/>
          <p:nvPr/>
        </p:nvSpPr>
        <p:spPr>
          <a:xfrm>
            <a:off x="5638800" y="4876800"/>
            <a:ext cx="685800" cy="533400"/>
          </a:xfrm>
          <a:prstGeom prst="rect">
            <a:avLst/>
          </a:prstGeom>
          <a:noFill/>
          <a:ln w="19050">
            <a:noFill/>
          </a:ln>
        </p:spPr>
        <p:txBody>
          <a:bodyPr wrap="none" anchor="ctr"/>
          <a:lstStyle/>
          <a:p>
            <a:pPr algn="ctr">
              <a:buClr>
                <a:schemeClr val="bg1"/>
              </a:buClr>
            </a:pPr>
            <a:r>
              <a:rPr lang="en-US" altLang="zh-CN" sz="2600" b="1" err="1">
                <a:solidFill>
                  <a:srgbClr val="000000"/>
                </a:solidFill>
                <a:latin typeface="Times New Roman" panose="02020603050405020304" charset="0"/>
              </a:rPr>
              <a:t>val</a:t>
            </a:r>
            <a:endParaRPr lang="en-US" altLang="zh-CN" sz="2600" b="1">
              <a:solidFill>
                <a:srgbClr val="000000"/>
              </a:solidFill>
              <a:latin typeface="Times New Roman" panose="02020603050405020304" charset="0"/>
            </a:endParaRPr>
          </a:p>
        </p:txBody>
      </p:sp>
      <p:sp>
        <p:nvSpPr>
          <p:cNvPr id="84000" name="直接连接符 83999"/>
          <p:cNvSpPr/>
          <p:nvPr/>
        </p:nvSpPr>
        <p:spPr>
          <a:xfrm flipV="1">
            <a:off x="2895600" y="3581400"/>
            <a:ext cx="1447800" cy="1219200"/>
          </a:xfrm>
          <a:prstGeom prst="line">
            <a:avLst/>
          </a:prstGeom>
          <a:ln w="19050" cap="flat" cmpd="sng">
            <a:solidFill>
              <a:srgbClr val="000000"/>
            </a:solidFill>
            <a:prstDash val="solid"/>
            <a:headEnd type="none" w="med" len="med"/>
            <a:tailEnd type="stealth" w="lg" len="lg"/>
          </a:ln>
        </p:spPr>
      </p:sp>
      <p:sp>
        <p:nvSpPr>
          <p:cNvPr id="84001" name="直接连接符 84000"/>
          <p:cNvSpPr/>
          <p:nvPr/>
        </p:nvSpPr>
        <p:spPr>
          <a:xfrm flipH="1" flipV="1">
            <a:off x="4419600" y="3581400"/>
            <a:ext cx="1600200" cy="1143000"/>
          </a:xfrm>
          <a:prstGeom prst="line">
            <a:avLst/>
          </a:prstGeom>
          <a:ln w="19050" cap="flat" cmpd="sng">
            <a:solidFill>
              <a:srgbClr val="000000"/>
            </a:solidFill>
            <a:prstDash val="solid"/>
            <a:headEnd type="none" w="med" len="med"/>
            <a:tailEnd type="stealth" w="lg" len="lg"/>
          </a:ln>
        </p:spPr>
      </p:sp>
      <p:sp>
        <p:nvSpPr>
          <p:cNvPr id="84002" name="椭圆 84001"/>
          <p:cNvSpPr/>
          <p:nvPr/>
        </p:nvSpPr>
        <p:spPr>
          <a:xfrm>
            <a:off x="2819400" y="4876800"/>
            <a:ext cx="152400" cy="152400"/>
          </a:xfrm>
          <a:prstGeom prst="ellipse">
            <a:avLst/>
          </a:prstGeom>
          <a:solidFill>
            <a:srgbClr val="6600FF"/>
          </a:solidFill>
          <a:ln w="19050" cap="flat" cmpd="sng">
            <a:solidFill>
              <a:srgbClr val="000000"/>
            </a:solidFill>
            <a:prstDash val="solid"/>
            <a:headEnd type="none" w="med" len="med"/>
            <a:tailEnd type="none" w="lg" len="lg"/>
          </a:ln>
        </p:spPr>
        <p:txBody>
          <a:bodyPr/>
          <a:lstStyle/>
          <a:p>
            <a:endParaRPr lang="zh-CN" altLang="en-US"/>
          </a:p>
        </p:txBody>
      </p:sp>
      <p:sp>
        <p:nvSpPr>
          <p:cNvPr id="84003" name="椭圆 84002"/>
          <p:cNvSpPr/>
          <p:nvPr/>
        </p:nvSpPr>
        <p:spPr>
          <a:xfrm>
            <a:off x="5943600" y="4876800"/>
            <a:ext cx="152400" cy="152400"/>
          </a:xfrm>
          <a:prstGeom prst="ellipse">
            <a:avLst/>
          </a:prstGeom>
          <a:solidFill>
            <a:srgbClr val="6600FF"/>
          </a:solidFill>
          <a:ln w="19050" cap="flat" cmpd="sng">
            <a:solidFill>
              <a:srgbClr val="000000"/>
            </a:solidFill>
            <a:prstDash val="solid"/>
            <a:headEnd type="none" w="med" len="med"/>
            <a:tailEnd type="none" w="lg" len="lg"/>
          </a:ln>
        </p:spPr>
        <p:txBody>
          <a:bodyPr/>
          <a:lstStyle/>
          <a:p>
            <a:endParaRPr lang="zh-CN" altLang="en-US"/>
          </a:p>
        </p:txBody>
      </p:sp>
      <p:sp>
        <p:nvSpPr>
          <p:cNvPr id="84004" name="椭圆 84003"/>
          <p:cNvSpPr/>
          <p:nvPr/>
        </p:nvSpPr>
        <p:spPr>
          <a:xfrm>
            <a:off x="4343400" y="3429000"/>
            <a:ext cx="152400" cy="152400"/>
          </a:xfrm>
          <a:prstGeom prst="ellipse">
            <a:avLst/>
          </a:prstGeom>
          <a:solidFill>
            <a:srgbClr val="6600FF"/>
          </a:solidFill>
          <a:ln w="19050" cap="flat" cmpd="sng">
            <a:solidFill>
              <a:srgbClr val="000000"/>
            </a:solidFill>
            <a:prstDash val="solid"/>
            <a:headEnd type="none" w="med" len="med"/>
            <a:tailEnd type="none" w="lg" len="lg"/>
          </a:ln>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31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4004"/>
                                        </p:tgtEl>
                                        <p:attrNameLst>
                                          <p:attrName>style.visibility</p:attrName>
                                        </p:attrNameLst>
                                      </p:cBhvr>
                                      <p:to>
                                        <p:strVal val="visible"/>
                                      </p:to>
                                    </p:set>
                                    <p:animEffect transition="in" filter="dissolve">
                                      <p:cBhvr>
                                        <p:cTn id="7" dur="500"/>
                                        <p:tgtEl>
                                          <p:spTgt spid="840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3997"/>
                                        </p:tgtEl>
                                        <p:attrNameLst>
                                          <p:attrName>style.visibility</p:attrName>
                                        </p:attrNameLst>
                                      </p:cBhvr>
                                      <p:to>
                                        <p:strVal val="visible"/>
                                      </p:to>
                                    </p:set>
                                    <p:animEffect transition="in" filter="dissolve">
                                      <p:cBhvr>
                                        <p:cTn id="12" dur="500"/>
                                        <p:tgtEl>
                                          <p:spTgt spid="8399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4002"/>
                                        </p:tgtEl>
                                        <p:attrNameLst>
                                          <p:attrName>style.visibility</p:attrName>
                                        </p:attrNameLst>
                                      </p:cBhvr>
                                      <p:to>
                                        <p:strVal val="visible"/>
                                      </p:to>
                                    </p:set>
                                    <p:animEffect transition="in" filter="dissolve">
                                      <p:cBhvr>
                                        <p:cTn id="17" dur="500"/>
                                        <p:tgtEl>
                                          <p:spTgt spid="8400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3998"/>
                                        </p:tgtEl>
                                        <p:attrNameLst>
                                          <p:attrName>style.visibility</p:attrName>
                                        </p:attrNameLst>
                                      </p:cBhvr>
                                      <p:to>
                                        <p:strVal val="visible"/>
                                      </p:to>
                                    </p:set>
                                    <p:animEffect transition="in" filter="dissolve">
                                      <p:cBhvr>
                                        <p:cTn id="22" dur="500"/>
                                        <p:tgtEl>
                                          <p:spTgt spid="8399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84003"/>
                                        </p:tgtEl>
                                        <p:attrNameLst>
                                          <p:attrName>style.visibility</p:attrName>
                                        </p:attrNameLst>
                                      </p:cBhvr>
                                      <p:to>
                                        <p:strVal val="visible"/>
                                      </p:to>
                                    </p:set>
                                    <p:animEffect transition="in" filter="dissolve">
                                      <p:cBhvr>
                                        <p:cTn id="27" dur="500"/>
                                        <p:tgtEl>
                                          <p:spTgt spid="840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3999"/>
                                        </p:tgtEl>
                                        <p:attrNameLst>
                                          <p:attrName>style.visibility</p:attrName>
                                        </p:attrNameLst>
                                      </p:cBhvr>
                                      <p:to>
                                        <p:strVal val="visible"/>
                                      </p:to>
                                    </p:set>
                                    <p:animEffect transition="in" filter="dissolve">
                                      <p:cBhvr>
                                        <p:cTn id="32" dur="500"/>
                                        <p:tgtEl>
                                          <p:spTgt spid="8399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4000"/>
                                        </p:tgtEl>
                                        <p:attrNameLst>
                                          <p:attrName>style.visibility</p:attrName>
                                        </p:attrNameLst>
                                      </p:cBhvr>
                                      <p:to>
                                        <p:strVal val="visible"/>
                                      </p:to>
                                    </p:set>
                                    <p:animEffect transition="in" filter="wipe(down)">
                                      <p:cBhvr>
                                        <p:cTn id="37" dur="500"/>
                                        <p:tgtEl>
                                          <p:spTgt spid="8400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84001"/>
                                        </p:tgtEl>
                                        <p:attrNameLst>
                                          <p:attrName>style.visibility</p:attrName>
                                        </p:attrNameLst>
                                      </p:cBhvr>
                                      <p:to>
                                        <p:strVal val="visible"/>
                                      </p:to>
                                    </p:set>
                                    <p:animEffect transition="in" filter="wipe(down)">
                                      <p:cBhvr>
                                        <p:cTn id="42" dur="500"/>
                                        <p:tgtEl>
                                          <p:spTgt spid="84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97" grpId="0"/>
      <p:bldP spid="83998" grpId="0"/>
      <p:bldP spid="8399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000000"/>
                </a:solidFill>
                <a:sym typeface="+mn-ea"/>
              </a:rPr>
              <a:t>句子</a:t>
            </a:r>
            <a:r>
              <a:rPr lang="en-US" altLang="zh-CN">
                <a:solidFill>
                  <a:srgbClr val="0000CC"/>
                </a:solidFill>
                <a:sym typeface="+mn-ea"/>
              </a:rPr>
              <a:t>real id</a:t>
            </a:r>
            <a:r>
              <a:rPr lang="en-US" altLang="zh-CN" baseline="-30000">
                <a:solidFill>
                  <a:srgbClr val="0000CC"/>
                </a:solidFill>
                <a:sym typeface="+mn-ea"/>
              </a:rPr>
              <a:t>1</a:t>
            </a:r>
            <a:r>
              <a:rPr lang="zh-CN" altLang="en-US">
                <a:solidFill>
                  <a:srgbClr val="0000CC"/>
                </a:solidFill>
                <a:sym typeface="+mn-ea"/>
              </a:rPr>
              <a:t>，</a:t>
            </a:r>
            <a:r>
              <a:rPr lang="en-US" altLang="zh-CN">
                <a:solidFill>
                  <a:srgbClr val="0000CC"/>
                </a:solidFill>
                <a:sym typeface="+mn-ea"/>
              </a:rPr>
              <a:t>id</a:t>
            </a:r>
            <a:r>
              <a:rPr lang="en-US" altLang="zh-CN" baseline="-30000">
                <a:solidFill>
                  <a:srgbClr val="0000CC"/>
                </a:solidFill>
                <a:sym typeface="+mn-ea"/>
              </a:rPr>
              <a:t>2</a:t>
            </a:r>
            <a:r>
              <a:rPr lang="zh-CN" altLang="en-US">
                <a:solidFill>
                  <a:srgbClr val="0000CC"/>
                </a:solidFill>
                <a:sym typeface="+mn-ea"/>
              </a:rPr>
              <a:t>，</a:t>
            </a:r>
            <a:r>
              <a:rPr lang="en-US" altLang="zh-CN">
                <a:solidFill>
                  <a:srgbClr val="0000CC"/>
                </a:solidFill>
                <a:sym typeface="+mn-ea"/>
              </a:rPr>
              <a:t>id</a:t>
            </a:r>
            <a:r>
              <a:rPr lang="en-US" altLang="zh-CN" baseline="-30000">
                <a:solidFill>
                  <a:srgbClr val="0000CC"/>
                </a:solidFill>
                <a:sym typeface="+mn-ea"/>
              </a:rPr>
              <a:t>3</a:t>
            </a:r>
            <a:r>
              <a:rPr lang="zh-CN" altLang="en-US" dirty="0">
                <a:solidFill>
                  <a:srgbClr val="000000"/>
                </a:solidFill>
                <a:sym typeface="+mn-ea"/>
              </a:rPr>
              <a:t>的带注释的语法树的依赖图</a:t>
            </a:r>
            <a:endParaRPr lang="zh-CN" altLang="en-US" dirty="0">
              <a:solidFill>
                <a:srgbClr val="000000"/>
              </a:solidFill>
            </a:endParaRPr>
          </a:p>
          <a:p>
            <a:endParaRPr lang="zh-CN" altLang="en-US"/>
          </a:p>
        </p:txBody>
      </p:sp>
      <p:sp>
        <p:nvSpPr>
          <p:cNvPr id="3" name="标题 2"/>
          <p:cNvSpPr>
            <a:spLocks noGrp="1"/>
          </p:cNvSpPr>
          <p:nvPr>
            <p:ph type="title"/>
          </p:nvPr>
        </p:nvSpPr>
        <p:spPr/>
        <p:txBody>
          <a:bodyPr/>
          <a:lstStyle/>
          <a:p>
            <a:r>
              <a:rPr lang="zh-CN" altLang="en-US">
                <a:sym typeface="+mn-ea"/>
              </a:rPr>
              <a:t>二、属性文法                   </a:t>
            </a:r>
            <a:r>
              <a:rPr lang="zh-CN" altLang="en-US">
                <a:solidFill>
                  <a:srgbClr val="FF0000"/>
                </a:solidFill>
                <a:sym typeface="+mn-ea"/>
              </a:rPr>
              <a:t>属性计算顺序</a:t>
            </a:r>
            <a:endParaRPr lang="zh-CN" altLang="en-US"/>
          </a:p>
        </p:txBody>
      </p:sp>
      <p:sp>
        <p:nvSpPr>
          <p:cNvPr id="87086" name="矩形 87085"/>
          <p:cNvSpPr/>
          <p:nvPr/>
        </p:nvSpPr>
        <p:spPr>
          <a:xfrm>
            <a:off x="647700" y="59817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1</a:t>
            </a:r>
          </a:p>
        </p:txBody>
      </p:sp>
      <p:sp>
        <p:nvSpPr>
          <p:cNvPr id="87087" name="直接连接符 87086"/>
          <p:cNvSpPr/>
          <p:nvPr/>
        </p:nvSpPr>
        <p:spPr>
          <a:xfrm>
            <a:off x="1638300" y="5753100"/>
            <a:ext cx="0" cy="304800"/>
          </a:xfrm>
          <a:prstGeom prst="line">
            <a:avLst/>
          </a:prstGeom>
          <a:ln w="19050" cap="flat" cmpd="sng">
            <a:solidFill>
              <a:srgbClr val="000000"/>
            </a:solidFill>
            <a:prstDash val="dash"/>
            <a:headEnd type="none" w="med" len="med"/>
            <a:tailEnd type="none" w="lg" len="lg"/>
          </a:ln>
        </p:spPr>
      </p:sp>
      <p:sp>
        <p:nvSpPr>
          <p:cNvPr id="87088" name="矩形 87087"/>
          <p:cNvSpPr/>
          <p:nvPr/>
        </p:nvSpPr>
        <p:spPr>
          <a:xfrm>
            <a:off x="495300" y="52197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87089" name="矩形 87088"/>
          <p:cNvSpPr/>
          <p:nvPr/>
        </p:nvSpPr>
        <p:spPr>
          <a:xfrm>
            <a:off x="3162300" y="5295900"/>
            <a:ext cx="533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a:t>
            </a:r>
          </a:p>
        </p:txBody>
      </p:sp>
      <p:sp>
        <p:nvSpPr>
          <p:cNvPr id="87090" name="矩形 87089"/>
          <p:cNvSpPr/>
          <p:nvPr/>
        </p:nvSpPr>
        <p:spPr>
          <a:xfrm>
            <a:off x="4305300" y="53721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2</a:t>
            </a:r>
            <a:endParaRPr lang="en-US" altLang="zh-CN" sz="2600" b="1">
              <a:solidFill>
                <a:srgbClr val="000000"/>
              </a:solidFill>
              <a:latin typeface="Times New Roman" panose="02020603050405020304" charset="0"/>
            </a:endParaRPr>
          </a:p>
        </p:txBody>
      </p:sp>
      <p:sp>
        <p:nvSpPr>
          <p:cNvPr id="87091" name="直接连接符 87090"/>
          <p:cNvSpPr/>
          <p:nvPr/>
        </p:nvSpPr>
        <p:spPr>
          <a:xfrm flipV="1">
            <a:off x="1714500" y="4533900"/>
            <a:ext cx="1524000" cy="762000"/>
          </a:xfrm>
          <a:prstGeom prst="line">
            <a:avLst/>
          </a:prstGeom>
          <a:ln w="19050" cap="flat" cmpd="sng">
            <a:solidFill>
              <a:srgbClr val="000000"/>
            </a:solidFill>
            <a:prstDash val="dash"/>
            <a:headEnd type="none" w="med" len="med"/>
            <a:tailEnd type="none" w="lg" len="lg"/>
          </a:ln>
        </p:spPr>
      </p:sp>
      <p:sp>
        <p:nvSpPr>
          <p:cNvPr id="87092" name="直接连接符 87091"/>
          <p:cNvSpPr/>
          <p:nvPr/>
        </p:nvSpPr>
        <p:spPr>
          <a:xfrm flipV="1">
            <a:off x="3390900" y="4533900"/>
            <a:ext cx="0" cy="762000"/>
          </a:xfrm>
          <a:prstGeom prst="line">
            <a:avLst/>
          </a:prstGeom>
          <a:ln w="19050" cap="flat" cmpd="sng">
            <a:solidFill>
              <a:srgbClr val="000000"/>
            </a:solidFill>
            <a:prstDash val="dash"/>
            <a:headEnd type="none" w="med" len="med"/>
            <a:tailEnd type="none" w="lg" len="lg"/>
          </a:ln>
        </p:spPr>
      </p:sp>
      <p:sp>
        <p:nvSpPr>
          <p:cNvPr id="87093" name="直接连接符 87092"/>
          <p:cNvSpPr/>
          <p:nvPr/>
        </p:nvSpPr>
        <p:spPr>
          <a:xfrm>
            <a:off x="3619500" y="4457700"/>
            <a:ext cx="1676400" cy="990600"/>
          </a:xfrm>
          <a:prstGeom prst="line">
            <a:avLst/>
          </a:prstGeom>
          <a:ln w="19050" cap="flat" cmpd="sng">
            <a:solidFill>
              <a:srgbClr val="000000"/>
            </a:solidFill>
            <a:prstDash val="dash"/>
            <a:headEnd type="none" w="med" len="med"/>
            <a:tailEnd type="none" w="lg" len="lg"/>
          </a:ln>
        </p:spPr>
      </p:sp>
      <p:sp>
        <p:nvSpPr>
          <p:cNvPr id="87094" name="矩形 87093"/>
          <p:cNvSpPr/>
          <p:nvPr/>
        </p:nvSpPr>
        <p:spPr>
          <a:xfrm>
            <a:off x="2400300" y="4076700"/>
            <a:ext cx="18288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87095" name="矩形 87094"/>
          <p:cNvSpPr/>
          <p:nvPr/>
        </p:nvSpPr>
        <p:spPr>
          <a:xfrm>
            <a:off x="4533900" y="40005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a:t>
            </a:r>
          </a:p>
        </p:txBody>
      </p:sp>
      <p:sp>
        <p:nvSpPr>
          <p:cNvPr id="87096" name="矩形 87095"/>
          <p:cNvSpPr/>
          <p:nvPr/>
        </p:nvSpPr>
        <p:spPr>
          <a:xfrm>
            <a:off x="5905500" y="40767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id</a:t>
            </a:r>
            <a:r>
              <a:rPr lang="en-US" altLang="zh-CN" sz="2600" b="1" baseline="-25000">
                <a:solidFill>
                  <a:srgbClr val="000000"/>
                </a:solidFill>
                <a:latin typeface="Times New Roman" panose="02020603050405020304" charset="0"/>
              </a:rPr>
              <a:t>3</a:t>
            </a:r>
            <a:endParaRPr lang="en-US" altLang="zh-CN" sz="2600" b="1">
              <a:solidFill>
                <a:srgbClr val="000000"/>
              </a:solidFill>
              <a:latin typeface="Times New Roman" panose="02020603050405020304" charset="0"/>
            </a:endParaRPr>
          </a:p>
        </p:txBody>
      </p:sp>
      <p:sp>
        <p:nvSpPr>
          <p:cNvPr id="87097" name="直接连接符 87096"/>
          <p:cNvSpPr/>
          <p:nvPr/>
        </p:nvSpPr>
        <p:spPr>
          <a:xfrm flipH="1">
            <a:off x="3390900" y="3238500"/>
            <a:ext cx="1371600" cy="914400"/>
          </a:xfrm>
          <a:prstGeom prst="line">
            <a:avLst/>
          </a:prstGeom>
          <a:ln w="19050" cap="flat" cmpd="sng">
            <a:solidFill>
              <a:srgbClr val="000000"/>
            </a:solidFill>
            <a:prstDash val="dash"/>
            <a:headEnd type="none" w="med" len="med"/>
            <a:tailEnd type="none" w="lg" len="lg"/>
          </a:ln>
        </p:spPr>
      </p:sp>
      <p:sp>
        <p:nvSpPr>
          <p:cNvPr id="87098" name="直接连接符 87097"/>
          <p:cNvSpPr/>
          <p:nvPr/>
        </p:nvSpPr>
        <p:spPr>
          <a:xfrm flipV="1">
            <a:off x="4991100" y="3238500"/>
            <a:ext cx="0" cy="838200"/>
          </a:xfrm>
          <a:prstGeom prst="line">
            <a:avLst/>
          </a:prstGeom>
          <a:ln w="19050" cap="flat" cmpd="sng">
            <a:solidFill>
              <a:srgbClr val="000000"/>
            </a:solidFill>
            <a:prstDash val="dash"/>
            <a:headEnd type="none" w="med" len="med"/>
            <a:tailEnd type="none" w="lg" len="lg"/>
          </a:ln>
        </p:spPr>
      </p:sp>
      <p:sp>
        <p:nvSpPr>
          <p:cNvPr id="87099" name="直接连接符 87098"/>
          <p:cNvSpPr/>
          <p:nvPr/>
        </p:nvSpPr>
        <p:spPr>
          <a:xfrm>
            <a:off x="5143500" y="3238500"/>
            <a:ext cx="1676400" cy="914400"/>
          </a:xfrm>
          <a:prstGeom prst="line">
            <a:avLst/>
          </a:prstGeom>
          <a:ln w="19050" cap="flat" cmpd="sng">
            <a:solidFill>
              <a:srgbClr val="000000"/>
            </a:solidFill>
            <a:prstDash val="dash"/>
            <a:headEnd type="none" w="med" len="med"/>
            <a:tailEnd type="none" w="lg" len="lg"/>
          </a:ln>
        </p:spPr>
      </p:sp>
      <p:sp>
        <p:nvSpPr>
          <p:cNvPr id="87100" name="矩形 87099"/>
          <p:cNvSpPr/>
          <p:nvPr/>
        </p:nvSpPr>
        <p:spPr>
          <a:xfrm>
            <a:off x="3695700" y="27813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L</a:t>
            </a:r>
          </a:p>
        </p:txBody>
      </p:sp>
      <p:sp>
        <p:nvSpPr>
          <p:cNvPr id="87101" name="直接连接符 87100"/>
          <p:cNvSpPr/>
          <p:nvPr/>
        </p:nvSpPr>
        <p:spPr>
          <a:xfrm flipV="1">
            <a:off x="1714500" y="2247900"/>
            <a:ext cx="1524000" cy="609600"/>
          </a:xfrm>
          <a:prstGeom prst="line">
            <a:avLst/>
          </a:prstGeom>
          <a:ln w="19050" cap="flat" cmpd="sng">
            <a:solidFill>
              <a:srgbClr val="000000"/>
            </a:solidFill>
            <a:prstDash val="dash"/>
            <a:headEnd type="none" w="med" len="med"/>
            <a:tailEnd type="none" w="lg" len="lg"/>
          </a:ln>
        </p:spPr>
      </p:sp>
      <p:sp>
        <p:nvSpPr>
          <p:cNvPr id="87102" name="直接连接符 87101"/>
          <p:cNvSpPr/>
          <p:nvPr/>
        </p:nvSpPr>
        <p:spPr>
          <a:xfrm>
            <a:off x="3619500" y="2247900"/>
            <a:ext cx="1295400" cy="609600"/>
          </a:xfrm>
          <a:prstGeom prst="line">
            <a:avLst/>
          </a:prstGeom>
          <a:ln w="19050" cap="flat" cmpd="sng">
            <a:solidFill>
              <a:srgbClr val="000000"/>
            </a:solidFill>
            <a:prstDash val="dash"/>
            <a:headEnd type="none" w="med" len="med"/>
            <a:tailEnd type="none" w="lg" len="lg"/>
          </a:ln>
        </p:spPr>
      </p:sp>
      <p:sp>
        <p:nvSpPr>
          <p:cNvPr id="87103" name="矩形 87102"/>
          <p:cNvSpPr/>
          <p:nvPr/>
        </p:nvSpPr>
        <p:spPr>
          <a:xfrm>
            <a:off x="571500" y="3924300"/>
            <a:ext cx="22860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real</a:t>
            </a:r>
          </a:p>
        </p:txBody>
      </p:sp>
      <p:sp>
        <p:nvSpPr>
          <p:cNvPr id="87104" name="直接连接符 87103"/>
          <p:cNvSpPr/>
          <p:nvPr/>
        </p:nvSpPr>
        <p:spPr>
          <a:xfrm>
            <a:off x="1638300" y="3314700"/>
            <a:ext cx="0" cy="685800"/>
          </a:xfrm>
          <a:prstGeom prst="line">
            <a:avLst/>
          </a:prstGeom>
          <a:ln w="19050" cap="flat" cmpd="sng">
            <a:solidFill>
              <a:srgbClr val="000000"/>
            </a:solidFill>
            <a:prstDash val="dash"/>
            <a:headEnd type="none" w="med" len="med"/>
            <a:tailEnd type="none" w="lg" len="lg"/>
          </a:ln>
        </p:spPr>
      </p:sp>
      <p:sp>
        <p:nvSpPr>
          <p:cNvPr id="87105" name="矩形 87104"/>
          <p:cNvSpPr/>
          <p:nvPr/>
        </p:nvSpPr>
        <p:spPr>
          <a:xfrm>
            <a:off x="571500" y="2781300"/>
            <a:ext cx="2057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T</a:t>
            </a:r>
          </a:p>
        </p:txBody>
      </p:sp>
      <p:sp>
        <p:nvSpPr>
          <p:cNvPr id="87106" name="矩形 87105"/>
          <p:cNvSpPr/>
          <p:nvPr/>
        </p:nvSpPr>
        <p:spPr>
          <a:xfrm>
            <a:off x="3009900" y="1714500"/>
            <a:ext cx="914400" cy="533400"/>
          </a:xfrm>
          <a:prstGeom prst="rect">
            <a:avLst/>
          </a:prstGeom>
          <a:noFill/>
          <a:ln w="19050">
            <a:noFill/>
          </a:ln>
        </p:spPr>
        <p:txBody>
          <a:bodyPr wrap="none" anchor="ctr"/>
          <a:lstStyle/>
          <a:p>
            <a:pPr algn="ctr">
              <a:buClr>
                <a:schemeClr val="bg1"/>
              </a:buClr>
            </a:pPr>
            <a:r>
              <a:rPr lang="en-US" altLang="zh-CN" sz="2600" b="1">
                <a:solidFill>
                  <a:srgbClr val="000000"/>
                </a:solidFill>
                <a:latin typeface="Times New Roman" panose="02020603050405020304" charset="0"/>
              </a:rPr>
              <a:t>D</a:t>
            </a:r>
          </a:p>
        </p:txBody>
      </p:sp>
      <p:sp>
        <p:nvSpPr>
          <p:cNvPr id="87107" name="矩形 87106"/>
          <p:cNvSpPr/>
          <p:nvPr/>
        </p:nvSpPr>
        <p:spPr>
          <a:xfrm>
            <a:off x="1790700" y="2781300"/>
            <a:ext cx="838200" cy="914400"/>
          </a:xfrm>
          <a:prstGeom prst="rect">
            <a:avLst/>
          </a:prstGeom>
          <a:noFill/>
          <a:ln w="19050">
            <a:noFill/>
          </a:ln>
        </p:spPr>
        <p:txBody>
          <a:bodyPr wrap="none" anchor="ctr"/>
          <a:lstStyle/>
          <a:p>
            <a:pPr algn="ctr">
              <a:buClr>
                <a:schemeClr val="bg1"/>
              </a:buClr>
            </a:pPr>
            <a:r>
              <a:rPr lang="en-US" altLang="zh-CN" sz="2400" b="1">
                <a:solidFill>
                  <a:srgbClr val="FF3300"/>
                </a:solidFill>
                <a:latin typeface="Times New Roman" panose="02020603050405020304" charset="0"/>
              </a:rPr>
              <a:t>4</a:t>
            </a:r>
          </a:p>
          <a:p>
            <a:pPr algn="ctr">
              <a:buClr>
                <a:schemeClr val="bg1"/>
              </a:buClr>
            </a:pPr>
            <a:r>
              <a:rPr lang="en-US" altLang="zh-CN" sz="2400" b="1">
                <a:solidFill>
                  <a:srgbClr val="FF3300"/>
                </a:solidFill>
                <a:latin typeface="Times New Roman" panose="02020603050405020304" charset="0"/>
              </a:rPr>
              <a:t>type</a:t>
            </a:r>
          </a:p>
        </p:txBody>
      </p:sp>
      <p:sp>
        <p:nvSpPr>
          <p:cNvPr id="87108" name="矩形 87107"/>
          <p:cNvSpPr/>
          <p:nvPr/>
        </p:nvSpPr>
        <p:spPr>
          <a:xfrm>
            <a:off x="3771900" y="2857500"/>
            <a:ext cx="762000" cy="762000"/>
          </a:xfrm>
          <a:prstGeom prst="rect">
            <a:avLst/>
          </a:prstGeom>
          <a:noFill/>
          <a:ln w="19050">
            <a:noFill/>
          </a:ln>
        </p:spPr>
        <p:txBody>
          <a:bodyPr wrap="none" anchor="ctr"/>
          <a:lstStyle/>
          <a:p>
            <a:pPr algn="ctr">
              <a:buClr>
                <a:schemeClr val="bg1"/>
              </a:buClr>
            </a:pPr>
            <a:r>
              <a:rPr lang="en-US" altLang="zh-CN" sz="2600" b="1">
                <a:solidFill>
                  <a:srgbClr val="FF3300"/>
                </a:solidFill>
                <a:latin typeface="Times New Roman" panose="02020603050405020304" charset="0"/>
              </a:rPr>
              <a:t>5</a:t>
            </a:r>
          </a:p>
          <a:p>
            <a:pPr algn="ctr">
              <a:buClr>
                <a:schemeClr val="bg1"/>
              </a:buClr>
            </a:pPr>
            <a:r>
              <a:rPr lang="en-US" altLang="zh-CN" sz="2600" b="1">
                <a:solidFill>
                  <a:srgbClr val="FF3300"/>
                </a:solidFill>
                <a:latin typeface="Times New Roman" panose="02020603050405020304" charset="0"/>
              </a:rPr>
              <a:t>in</a:t>
            </a:r>
          </a:p>
        </p:txBody>
      </p:sp>
      <p:sp>
        <p:nvSpPr>
          <p:cNvPr id="87109" name="矩形 87108"/>
          <p:cNvSpPr/>
          <p:nvPr/>
        </p:nvSpPr>
        <p:spPr>
          <a:xfrm>
            <a:off x="5143500" y="2781300"/>
            <a:ext cx="762000" cy="457200"/>
          </a:xfrm>
          <a:prstGeom prst="rect">
            <a:avLst/>
          </a:prstGeom>
          <a:noFill/>
          <a:ln w="19050">
            <a:noFill/>
          </a:ln>
        </p:spPr>
        <p:txBody>
          <a:bodyPr wrap="none" anchor="ctr"/>
          <a:lstStyle/>
          <a:p>
            <a:pPr algn="ctr">
              <a:buClr>
                <a:schemeClr val="bg1"/>
              </a:buClr>
            </a:pPr>
            <a:r>
              <a:rPr lang="en-US" altLang="zh-CN" sz="2600" b="1">
                <a:solidFill>
                  <a:srgbClr val="6600FF"/>
                </a:solidFill>
                <a:latin typeface="Times New Roman" panose="02020603050405020304" charset="0"/>
              </a:rPr>
              <a:t>6</a:t>
            </a:r>
          </a:p>
        </p:txBody>
      </p:sp>
      <p:sp>
        <p:nvSpPr>
          <p:cNvPr id="87110" name="矩形 87109"/>
          <p:cNvSpPr/>
          <p:nvPr/>
        </p:nvSpPr>
        <p:spPr>
          <a:xfrm>
            <a:off x="2324100" y="4152900"/>
            <a:ext cx="762000" cy="762000"/>
          </a:xfrm>
          <a:prstGeom prst="rect">
            <a:avLst/>
          </a:prstGeom>
          <a:noFill/>
          <a:ln w="19050">
            <a:noFill/>
          </a:ln>
        </p:spPr>
        <p:txBody>
          <a:bodyPr wrap="none" anchor="ctr"/>
          <a:lstStyle/>
          <a:p>
            <a:pPr algn="ctr">
              <a:buClr>
                <a:schemeClr val="bg1"/>
              </a:buClr>
            </a:pPr>
            <a:r>
              <a:rPr lang="en-US" altLang="zh-CN" sz="2600" b="1">
                <a:solidFill>
                  <a:srgbClr val="FF3300"/>
                </a:solidFill>
                <a:latin typeface="Times New Roman" panose="02020603050405020304" charset="0"/>
              </a:rPr>
              <a:t>7</a:t>
            </a:r>
          </a:p>
          <a:p>
            <a:pPr algn="ctr">
              <a:buClr>
                <a:schemeClr val="bg1"/>
              </a:buClr>
            </a:pPr>
            <a:r>
              <a:rPr lang="en-US" altLang="zh-CN" sz="2600" b="1">
                <a:solidFill>
                  <a:srgbClr val="FF3300"/>
                </a:solidFill>
                <a:latin typeface="Times New Roman" panose="02020603050405020304" charset="0"/>
              </a:rPr>
              <a:t>in</a:t>
            </a:r>
          </a:p>
        </p:txBody>
      </p:sp>
      <p:sp>
        <p:nvSpPr>
          <p:cNvPr id="87111" name="矩形 87110"/>
          <p:cNvSpPr/>
          <p:nvPr/>
        </p:nvSpPr>
        <p:spPr>
          <a:xfrm>
            <a:off x="3848100" y="4076700"/>
            <a:ext cx="762000" cy="457200"/>
          </a:xfrm>
          <a:prstGeom prst="rect">
            <a:avLst/>
          </a:prstGeom>
          <a:noFill/>
          <a:ln w="19050">
            <a:noFill/>
          </a:ln>
        </p:spPr>
        <p:txBody>
          <a:bodyPr wrap="none" anchor="ctr"/>
          <a:lstStyle/>
          <a:p>
            <a:pPr algn="ctr">
              <a:buClr>
                <a:schemeClr val="bg1"/>
              </a:buClr>
            </a:pPr>
            <a:r>
              <a:rPr lang="en-US" altLang="zh-CN" sz="2600" b="1">
                <a:solidFill>
                  <a:srgbClr val="6600FF"/>
                </a:solidFill>
                <a:latin typeface="Times New Roman" panose="02020603050405020304" charset="0"/>
              </a:rPr>
              <a:t>8</a:t>
            </a:r>
          </a:p>
        </p:txBody>
      </p:sp>
      <p:sp>
        <p:nvSpPr>
          <p:cNvPr id="87112" name="矩形 87111"/>
          <p:cNvSpPr/>
          <p:nvPr/>
        </p:nvSpPr>
        <p:spPr>
          <a:xfrm>
            <a:off x="647700" y="5372100"/>
            <a:ext cx="762000" cy="762000"/>
          </a:xfrm>
          <a:prstGeom prst="rect">
            <a:avLst/>
          </a:prstGeom>
          <a:noFill/>
          <a:ln w="19050">
            <a:noFill/>
          </a:ln>
        </p:spPr>
        <p:txBody>
          <a:bodyPr wrap="none" anchor="ctr"/>
          <a:lstStyle/>
          <a:p>
            <a:pPr algn="ctr">
              <a:buClr>
                <a:schemeClr val="bg1"/>
              </a:buClr>
            </a:pPr>
            <a:r>
              <a:rPr lang="en-US" altLang="zh-CN" sz="2600" b="1">
                <a:solidFill>
                  <a:srgbClr val="FF3300"/>
                </a:solidFill>
                <a:latin typeface="Times New Roman" panose="02020603050405020304" charset="0"/>
              </a:rPr>
              <a:t>9</a:t>
            </a:r>
          </a:p>
          <a:p>
            <a:pPr algn="ctr">
              <a:buClr>
                <a:schemeClr val="bg1"/>
              </a:buClr>
            </a:pPr>
            <a:r>
              <a:rPr lang="en-US" altLang="zh-CN" sz="2600" b="1">
                <a:solidFill>
                  <a:srgbClr val="FF3300"/>
                </a:solidFill>
                <a:latin typeface="Times New Roman" panose="02020603050405020304" charset="0"/>
              </a:rPr>
              <a:t>in</a:t>
            </a:r>
          </a:p>
        </p:txBody>
      </p:sp>
      <p:sp>
        <p:nvSpPr>
          <p:cNvPr id="87113" name="矩形 87112"/>
          <p:cNvSpPr/>
          <p:nvPr/>
        </p:nvSpPr>
        <p:spPr>
          <a:xfrm>
            <a:off x="2171700" y="5219700"/>
            <a:ext cx="762000" cy="457200"/>
          </a:xfrm>
          <a:prstGeom prst="rect">
            <a:avLst/>
          </a:prstGeom>
          <a:noFill/>
          <a:ln w="19050">
            <a:noFill/>
          </a:ln>
        </p:spPr>
        <p:txBody>
          <a:bodyPr wrap="none" anchor="ctr"/>
          <a:lstStyle/>
          <a:p>
            <a:pPr algn="ctr">
              <a:buClr>
                <a:schemeClr val="bg1"/>
              </a:buClr>
            </a:pPr>
            <a:r>
              <a:rPr lang="en-US" altLang="zh-CN" sz="2600" b="1">
                <a:solidFill>
                  <a:srgbClr val="6600FF"/>
                </a:solidFill>
                <a:latin typeface="Times New Roman" panose="02020603050405020304" charset="0"/>
              </a:rPr>
              <a:t>10</a:t>
            </a:r>
          </a:p>
        </p:txBody>
      </p:sp>
      <p:sp>
        <p:nvSpPr>
          <p:cNvPr id="87114" name="矩形 87113"/>
          <p:cNvSpPr/>
          <p:nvPr/>
        </p:nvSpPr>
        <p:spPr>
          <a:xfrm>
            <a:off x="2247900" y="5981700"/>
            <a:ext cx="838200" cy="914400"/>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1</a:t>
            </a:r>
          </a:p>
          <a:p>
            <a:pPr algn="ctr">
              <a:buClr>
                <a:schemeClr val="bg1"/>
              </a:buClr>
            </a:pPr>
            <a:r>
              <a:rPr lang="en-US" altLang="zh-CN" sz="2400" b="1">
                <a:solidFill>
                  <a:srgbClr val="6600FF"/>
                </a:solidFill>
                <a:latin typeface="Times New Roman" panose="02020603050405020304" charset="0"/>
              </a:rPr>
              <a:t>entry</a:t>
            </a:r>
          </a:p>
        </p:txBody>
      </p:sp>
      <p:sp>
        <p:nvSpPr>
          <p:cNvPr id="87115" name="矩形 87114"/>
          <p:cNvSpPr/>
          <p:nvPr/>
        </p:nvSpPr>
        <p:spPr>
          <a:xfrm>
            <a:off x="5905500" y="5448300"/>
            <a:ext cx="838200" cy="914400"/>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2</a:t>
            </a:r>
          </a:p>
          <a:p>
            <a:pPr algn="ctr">
              <a:buClr>
                <a:schemeClr val="bg1"/>
              </a:buClr>
            </a:pPr>
            <a:r>
              <a:rPr lang="en-US" altLang="zh-CN" sz="2400" b="1">
                <a:solidFill>
                  <a:srgbClr val="6600FF"/>
                </a:solidFill>
                <a:latin typeface="Times New Roman" panose="02020603050405020304" charset="0"/>
              </a:rPr>
              <a:t>entry</a:t>
            </a:r>
          </a:p>
        </p:txBody>
      </p:sp>
      <p:sp>
        <p:nvSpPr>
          <p:cNvPr id="87116" name="矩形 87115"/>
          <p:cNvSpPr/>
          <p:nvPr/>
        </p:nvSpPr>
        <p:spPr>
          <a:xfrm>
            <a:off x="7353300" y="4076700"/>
            <a:ext cx="838200" cy="914400"/>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3</a:t>
            </a:r>
          </a:p>
          <a:p>
            <a:pPr algn="ctr">
              <a:buClr>
                <a:schemeClr val="bg1"/>
              </a:buClr>
            </a:pPr>
            <a:r>
              <a:rPr lang="en-US" altLang="zh-CN" sz="2400" b="1">
                <a:solidFill>
                  <a:srgbClr val="6600FF"/>
                </a:solidFill>
                <a:latin typeface="Times New Roman" panose="02020603050405020304" charset="0"/>
              </a:rPr>
              <a:t>entry</a:t>
            </a:r>
          </a:p>
        </p:txBody>
      </p:sp>
      <p:sp>
        <p:nvSpPr>
          <p:cNvPr id="87117" name="任意多边形 87116"/>
          <p:cNvSpPr/>
          <p:nvPr/>
        </p:nvSpPr>
        <p:spPr>
          <a:xfrm>
            <a:off x="2400300" y="2590800"/>
            <a:ext cx="1752600" cy="266700"/>
          </a:xfrm>
          <a:custGeom>
            <a:avLst/>
            <a:gdLst/>
            <a:ahLst/>
            <a:cxnLst/>
            <a:rect l="0" t="0" r="0" b="0"/>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87118" name="任意多边形 87117"/>
          <p:cNvSpPr/>
          <p:nvPr/>
        </p:nvSpPr>
        <p:spPr>
          <a:xfrm>
            <a:off x="4229100" y="2552700"/>
            <a:ext cx="1295400" cy="304800"/>
          </a:xfrm>
          <a:custGeom>
            <a:avLst/>
            <a:gdLst/>
            <a:ahLst/>
            <a:cxnLst/>
            <a:rect l="0" t="0" r="0" b="0"/>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87119" name="直接连接符 87118"/>
          <p:cNvSpPr/>
          <p:nvPr/>
        </p:nvSpPr>
        <p:spPr>
          <a:xfrm flipH="1" flipV="1">
            <a:off x="5753100" y="3086100"/>
            <a:ext cx="1905000" cy="1066800"/>
          </a:xfrm>
          <a:prstGeom prst="line">
            <a:avLst/>
          </a:prstGeom>
          <a:ln w="28575" cap="flat" cmpd="sng">
            <a:solidFill>
              <a:srgbClr val="FF00FF"/>
            </a:solidFill>
            <a:prstDash val="solid"/>
            <a:headEnd type="none" w="med" len="med"/>
            <a:tailEnd type="stealth" w="lg" len="lg"/>
          </a:ln>
        </p:spPr>
      </p:sp>
      <p:sp>
        <p:nvSpPr>
          <p:cNvPr id="87120" name="直接连接符 87119"/>
          <p:cNvSpPr/>
          <p:nvPr/>
        </p:nvSpPr>
        <p:spPr>
          <a:xfrm flipH="1">
            <a:off x="3009900" y="3238500"/>
            <a:ext cx="1066800" cy="762000"/>
          </a:xfrm>
          <a:prstGeom prst="line">
            <a:avLst/>
          </a:prstGeom>
          <a:ln w="28575" cap="flat" cmpd="sng">
            <a:solidFill>
              <a:srgbClr val="FF00FF"/>
            </a:solidFill>
            <a:prstDash val="solid"/>
            <a:headEnd type="none" w="med" len="med"/>
            <a:tailEnd type="stealth" w="lg" len="lg"/>
          </a:ln>
        </p:spPr>
      </p:sp>
      <p:sp>
        <p:nvSpPr>
          <p:cNvPr id="87121" name="任意多边形 87120"/>
          <p:cNvSpPr/>
          <p:nvPr/>
        </p:nvSpPr>
        <p:spPr>
          <a:xfrm>
            <a:off x="2781300" y="4533900"/>
            <a:ext cx="1447800" cy="381000"/>
          </a:xfrm>
          <a:custGeom>
            <a:avLst/>
            <a:gdLst/>
            <a:ahLst/>
            <a:cxnLst/>
            <a:rect l="0" t="0" r="0" b="0"/>
            <a:pathLst>
              <a:path w="912" h="240">
                <a:moveTo>
                  <a:pt x="0" y="0"/>
                </a:moveTo>
                <a:cubicBezTo>
                  <a:pt x="88" y="76"/>
                  <a:pt x="176" y="152"/>
                  <a:pt x="240" y="192"/>
                </a:cubicBezTo>
                <a:cubicBezTo>
                  <a:pt x="304" y="232"/>
                  <a:pt x="320" y="240"/>
                  <a:pt x="384" y="240"/>
                </a:cubicBezTo>
                <a:cubicBezTo>
                  <a:pt x="448" y="240"/>
                  <a:pt x="536" y="232"/>
                  <a:pt x="624" y="192"/>
                </a:cubicBezTo>
                <a:cubicBezTo>
                  <a:pt x="712" y="152"/>
                  <a:pt x="812" y="76"/>
                  <a:pt x="912" y="0"/>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87122" name="直接连接符 87121"/>
          <p:cNvSpPr/>
          <p:nvPr/>
        </p:nvSpPr>
        <p:spPr>
          <a:xfrm flipH="1" flipV="1">
            <a:off x="4457700" y="4533900"/>
            <a:ext cx="1600200" cy="914400"/>
          </a:xfrm>
          <a:prstGeom prst="line">
            <a:avLst/>
          </a:prstGeom>
          <a:ln w="28575" cap="flat" cmpd="sng">
            <a:solidFill>
              <a:srgbClr val="FF00FF"/>
            </a:solidFill>
            <a:prstDash val="solid"/>
            <a:headEnd type="none" w="med" len="med"/>
            <a:tailEnd type="stealth" w="lg" len="lg"/>
          </a:ln>
        </p:spPr>
      </p:sp>
      <p:sp>
        <p:nvSpPr>
          <p:cNvPr id="87123" name="直接连接符 87122"/>
          <p:cNvSpPr/>
          <p:nvPr/>
        </p:nvSpPr>
        <p:spPr>
          <a:xfrm flipH="1">
            <a:off x="1028700" y="4457700"/>
            <a:ext cx="1447800" cy="838200"/>
          </a:xfrm>
          <a:prstGeom prst="line">
            <a:avLst/>
          </a:prstGeom>
          <a:ln w="28575" cap="flat" cmpd="sng">
            <a:solidFill>
              <a:srgbClr val="FF00FF"/>
            </a:solidFill>
            <a:prstDash val="solid"/>
            <a:headEnd type="none" w="med" len="med"/>
            <a:tailEnd type="stealth" w="lg" len="lg"/>
          </a:ln>
        </p:spPr>
      </p:sp>
      <p:sp>
        <p:nvSpPr>
          <p:cNvPr id="87124" name="任意多边形 87123"/>
          <p:cNvSpPr/>
          <p:nvPr/>
        </p:nvSpPr>
        <p:spPr>
          <a:xfrm>
            <a:off x="1104900" y="5600700"/>
            <a:ext cx="1371600" cy="266700"/>
          </a:xfrm>
          <a:custGeom>
            <a:avLst/>
            <a:gdLst/>
            <a:ahLst/>
            <a:cxnLst/>
            <a:rect l="0" t="0" r="0" b="0"/>
            <a:pathLst>
              <a:path w="864" h="168">
                <a:moveTo>
                  <a:pt x="0" y="0"/>
                </a:moveTo>
                <a:cubicBezTo>
                  <a:pt x="116" y="60"/>
                  <a:pt x="232" y="120"/>
                  <a:pt x="336" y="144"/>
                </a:cubicBezTo>
                <a:cubicBezTo>
                  <a:pt x="440" y="168"/>
                  <a:pt x="536" y="168"/>
                  <a:pt x="624" y="144"/>
                </a:cubicBezTo>
                <a:cubicBezTo>
                  <a:pt x="712" y="120"/>
                  <a:pt x="788" y="60"/>
                  <a:pt x="864" y="0"/>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87125" name="直接连接符 87124"/>
          <p:cNvSpPr/>
          <p:nvPr/>
        </p:nvSpPr>
        <p:spPr>
          <a:xfrm flipV="1">
            <a:off x="2628900" y="5600700"/>
            <a:ext cx="0" cy="457200"/>
          </a:xfrm>
          <a:prstGeom prst="line">
            <a:avLst/>
          </a:prstGeom>
          <a:ln w="28575" cap="flat" cmpd="sng">
            <a:solidFill>
              <a:srgbClr val="FF00FF"/>
            </a:solidFill>
            <a:prstDash val="solid"/>
            <a:headEnd type="none" w="med" len="med"/>
            <a:tailEnd type="stealth" w="lg" len="lg"/>
          </a:ln>
        </p:spPr>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00939" y="1255494"/>
            <a:ext cx="3432175" cy="1792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4"/>
          </p:nvPr>
        </p:nvSpPr>
        <p:spPr/>
        <p:txBody>
          <a:bodyPr/>
          <a:lstStyle/>
          <a:p>
            <a:fld id="{565CE74E-AB26-4998-AD42-012C4C1AD076}" type="slidenum">
              <a:rPr lang="zh-CN" altLang="en-US" smtClean="0"/>
              <a:t>32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114"/>
                                        </p:tgtEl>
                                        <p:attrNameLst>
                                          <p:attrName>style.visibility</p:attrName>
                                        </p:attrNameLst>
                                      </p:cBhvr>
                                      <p:to>
                                        <p:strVal val="visible"/>
                                      </p:to>
                                    </p:set>
                                    <p:animEffect transition="in" filter="wipe(left)">
                                      <p:cBhvr>
                                        <p:cTn id="7" dur="500"/>
                                        <p:tgtEl>
                                          <p:spTgt spid="871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115"/>
                                        </p:tgtEl>
                                        <p:attrNameLst>
                                          <p:attrName>style.visibility</p:attrName>
                                        </p:attrNameLst>
                                      </p:cBhvr>
                                      <p:to>
                                        <p:strVal val="visible"/>
                                      </p:to>
                                    </p:set>
                                    <p:animEffect transition="in" filter="wipe(left)">
                                      <p:cBhvr>
                                        <p:cTn id="12" dur="500"/>
                                        <p:tgtEl>
                                          <p:spTgt spid="871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116"/>
                                        </p:tgtEl>
                                        <p:attrNameLst>
                                          <p:attrName>style.visibility</p:attrName>
                                        </p:attrNameLst>
                                      </p:cBhvr>
                                      <p:to>
                                        <p:strVal val="visible"/>
                                      </p:to>
                                    </p:set>
                                    <p:animEffect transition="in" filter="wipe(left)">
                                      <p:cBhvr>
                                        <p:cTn id="17" dur="500"/>
                                        <p:tgtEl>
                                          <p:spTgt spid="871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107"/>
                                        </p:tgtEl>
                                        <p:attrNameLst>
                                          <p:attrName>style.visibility</p:attrName>
                                        </p:attrNameLst>
                                      </p:cBhvr>
                                      <p:to>
                                        <p:strVal val="visible"/>
                                      </p:to>
                                    </p:set>
                                    <p:animEffect transition="in" filter="wipe(left)">
                                      <p:cBhvr>
                                        <p:cTn id="22" dur="500"/>
                                        <p:tgtEl>
                                          <p:spTgt spid="8710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108"/>
                                        </p:tgtEl>
                                        <p:attrNameLst>
                                          <p:attrName>style.visibility</p:attrName>
                                        </p:attrNameLst>
                                      </p:cBhvr>
                                      <p:to>
                                        <p:strVal val="visible"/>
                                      </p:to>
                                    </p:set>
                                    <p:animEffect transition="in" filter="wipe(left)">
                                      <p:cBhvr>
                                        <p:cTn id="27" dur="500"/>
                                        <p:tgtEl>
                                          <p:spTgt spid="871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7117"/>
                                        </p:tgtEl>
                                        <p:attrNameLst>
                                          <p:attrName>style.visibility</p:attrName>
                                        </p:attrNameLst>
                                      </p:cBhvr>
                                      <p:to>
                                        <p:strVal val="visible"/>
                                      </p:to>
                                    </p:set>
                                    <p:animEffect transition="in" filter="wipe(left)">
                                      <p:cBhvr>
                                        <p:cTn id="32" dur="500"/>
                                        <p:tgtEl>
                                          <p:spTgt spid="871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7109"/>
                                        </p:tgtEl>
                                        <p:attrNameLst>
                                          <p:attrName>style.visibility</p:attrName>
                                        </p:attrNameLst>
                                      </p:cBhvr>
                                      <p:to>
                                        <p:strVal val="visible"/>
                                      </p:to>
                                    </p:set>
                                    <p:animEffect transition="in" filter="wipe(left)">
                                      <p:cBhvr>
                                        <p:cTn id="37" dur="500"/>
                                        <p:tgtEl>
                                          <p:spTgt spid="871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7118"/>
                                        </p:tgtEl>
                                        <p:attrNameLst>
                                          <p:attrName>style.visibility</p:attrName>
                                        </p:attrNameLst>
                                      </p:cBhvr>
                                      <p:to>
                                        <p:strVal val="visible"/>
                                      </p:to>
                                    </p:set>
                                    <p:animEffect transition="in" filter="wipe(left)">
                                      <p:cBhvr>
                                        <p:cTn id="42" dur="500"/>
                                        <p:tgtEl>
                                          <p:spTgt spid="871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87119"/>
                                        </p:tgtEl>
                                        <p:attrNameLst>
                                          <p:attrName>style.visibility</p:attrName>
                                        </p:attrNameLst>
                                      </p:cBhvr>
                                      <p:to>
                                        <p:strVal val="visible"/>
                                      </p:to>
                                    </p:set>
                                    <p:animEffect transition="in" filter="wipe(down)">
                                      <p:cBhvr>
                                        <p:cTn id="47" dur="500"/>
                                        <p:tgtEl>
                                          <p:spTgt spid="871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7110"/>
                                        </p:tgtEl>
                                        <p:attrNameLst>
                                          <p:attrName>style.visibility</p:attrName>
                                        </p:attrNameLst>
                                      </p:cBhvr>
                                      <p:to>
                                        <p:strVal val="visible"/>
                                      </p:to>
                                    </p:set>
                                    <p:animEffect transition="in" filter="wipe(left)">
                                      <p:cBhvr>
                                        <p:cTn id="52" dur="500"/>
                                        <p:tgtEl>
                                          <p:spTgt spid="871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87120"/>
                                        </p:tgtEl>
                                        <p:attrNameLst>
                                          <p:attrName>style.visibility</p:attrName>
                                        </p:attrNameLst>
                                      </p:cBhvr>
                                      <p:to>
                                        <p:strVal val="visible"/>
                                      </p:to>
                                    </p:set>
                                    <p:animEffect transition="in" filter="wipe(up)">
                                      <p:cBhvr>
                                        <p:cTn id="57" dur="500"/>
                                        <p:tgtEl>
                                          <p:spTgt spid="871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87111"/>
                                        </p:tgtEl>
                                        <p:attrNameLst>
                                          <p:attrName>style.visibility</p:attrName>
                                        </p:attrNameLst>
                                      </p:cBhvr>
                                      <p:to>
                                        <p:strVal val="visible"/>
                                      </p:to>
                                    </p:set>
                                    <p:animEffect transition="in" filter="wipe(left)">
                                      <p:cBhvr>
                                        <p:cTn id="62" dur="500"/>
                                        <p:tgtEl>
                                          <p:spTgt spid="8711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87121"/>
                                        </p:tgtEl>
                                        <p:attrNameLst>
                                          <p:attrName>style.visibility</p:attrName>
                                        </p:attrNameLst>
                                      </p:cBhvr>
                                      <p:to>
                                        <p:strVal val="visible"/>
                                      </p:to>
                                    </p:set>
                                    <p:animEffect transition="in" filter="wipe(left)">
                                      <p:cBhvr>
                                        <p:cTn id="67" dur="500"/>
                                        <p:tgtEl>
                                          <p:spTgt spid="8712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87122"/>
                                        </p:tgtEl>
                                        <p:attrNameLst>
                                          <p:attrName>style.visibility</p:attrName>
                                        </p:attrNameLst>
                                      </p:cBhvr>
                                      <p:to>
                                        <p:strVal val="visible"/>
                                      </p:to>
                                    </p:set>
                                    <p:animEffect transition="in" filter="wipe(down)">
                                      <p:cBhvr>
                                        <p:cTn id="72" dur="500"/>
                                        <p:tgtEl>
                                          <p:spTgt spid="871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87112"/>
                                        </p:tgtEl>
                                        <p:attrNameLst>
                                          <p:attrName>style.visibility</p:attrName>
                                        </p:attrNameLst>
                                      </p:cBhvr>
                                      <p:to>
                                        <p:strVal val="visible"/>
                                      </p:to>
                                    </p:set>
                                    <p:animEffect transition="in" filter="wipe(left)">
                                      <p:cBhvr>
                                        <p:cTn id="77" dur="500"/>
                                        <p:tgtEl>
                                          <p:spTgt spid="8711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87123"/>
                                        </p:tgtEl>
                                        <p:attrNameLst>
                                          <p:attrName>style.visibility</p:attrName>
                                        </p:attrNameLst>
                                      </p:cBhvr>
                                      <p:to>
                                        <p:strVal val="visible"/>
                                      </p:to>
                                    </p:set>
                                    <p:animEffect transition="in" filter="wipe(up)">
                                      <p:cBhvr>
                                        <p:cTn id="82" dur="500"/>
                                        <p:tgtEl>
                                          <p:spTgt spid="8712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87113"/>
                                        </p:tgtEl>
                                        <p:attrNameLst>
                                          <p:attrName>style.visibility</p:attrName>
                                        </p:attrNameLst>
                                      </p:cBhvr>
                                      <p:to>
                                        <p:strVal val="visible"/>
                                      </p:to>
                                    </p:set>
                                    <p:animEffect transition="in" filter="wipe(left)">
                                      <p:cBhvr>
                                        <p:cTn id="87" dur="500"/>
                                        <p:tgtEl>
                                          <p:spTgt spid="8711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87124"/>
                                        </p:tgtEl>
                                        <p:attrNameLst>
                                          <p:attrName>style.visibility</p:attrName>
                                        </p:attrNameLst>
                                      </p:cBhvr>
                                      <p:to>
                                        <p:strVal val="visible"/>
                                      </p:to>
                                    </p:set>
                                    <p:animEffect transition="in" filter="wipe(left)">
                                      <p:cBhvr>
                                        <p:cTn id="92" dur="500"/>
                                        <p:tgtEl>
                                          <p:spTgt spid="8712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87125"/>
                                        </p:tgtEl>
                                        <p:attrNameLst>
                                          <p:attrName>style.visibility</p:attrName>
                                        </p:attrNameLst>
                                      </p:cBhvr>
                                      <p:to>
                                        <p:strVal val="visible"/>
                                      </p:to>
                                    </p:set>
                                    <p:animEffect transition="in" filter="wipe(down)">
                                      <p:cBhvr>
                                        <p:cTn id="97" dur="500"/>
                                        <p:tgtEl>
                                          <p:spTgt spid="87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07" grpId="0"/>
      <p:bldP spid="87108" grpId="0"/>
      <p:bldP spid="87109" grpId="0"/>
      <p:bldP spid="87110" grpId="0"/>
      <p:bldP spid="87111" grpId="0"/>
      <p:bldP spid="87112" grpId="0"/>
      <p:bldP spid="87113" grpId="0"/>
      <p:bldP spid="87114" grpId="0"/>
      <p:bldP spid="87115" grpId="0"/>
      <p:bldP spid="871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学习网址：</a:t>
            </a:r>
            <a:endParaRPr lang="en-US" altLang="zh-CN" dirty="0"/>
          </a:p>
          <a:p>
            <a:pPr lvl="1"/>
            <a:r>
              <a:rPr lang="zh-CN" altLang="en-US" dirty="0"/>
              <a:t>中国大学</a:t>
            </a:r>
            <a:r>
              <a:rPr lang="en-US" altLang="zh-CN" dirty="0"/>
              <a:t>MOOC</a:t>
            </a:r>
          </a:p>
          <a:p>
            <a:pPr lvl="1"/>
            <a:r>
              <a:rPr lang="en-US" altLang="zh-CN" dirty="0">
                <a:hlinkClick r:id="rId2"/>
              </a:rPr>
              <a:t>https://www.icourse163.org/learn/HIT-1002123007?tid=1002655021#/learn/content</a:t>
            </a:r>
            <a:endParaRPr lang="en-US" altLang="zh-CN" dirty="0"/>
          </a:p>
          <a:p>
            <a:pPr lvl="1"/>
            <a:r>
              <a:rPr lang="zh-CN" altLang="en-US" dirty="0"/>
              <a:t>课件</a:t>
            </a:r>
            <a:endParaRPr lang="en-US" altLang="zh-CN" dirty="0"/>
          </a:p>
          <a:p>
            <a:pPr lvl="2"/>
            <a:r>
              <a:rPr lang="zh-CN" altLang="en-US" dirty="0"/>
              <a:t>第</a:t>
            </a:r>
            <a:r>
              <a:rPr lang="en-US" altLang="zh-CN" dirty="0"/>
              <a:t>8</a:t>
            </a:r>
            <a:r>
              <a:rPr lang="zh-CN" altLang="en-US" dirty="0"/>
              <a:t>讲 语法制导翻译</a:t>
            </a:r>
            <a:r>
              <a:rPr lang="en-US" altLang="zh-CN" dirty="0"/>
              <a:t>_1</a:t>
            </a:r>
          </a:p>
          <a:p>
            <a:pPr lvl="2"/>
            <a:r>
              <a:rPr lang="en-US" altLang="zh-CN" dirty="0"/>
              <a:t>5-3 SDD</a:t>
            </a:r>
            <a:r>
              <a:rPr lang="zh-CN" altLang="en-US" dirty="0"/>
              <a:t>的求值顺序。</a:t>
            </a:r>
            <a:endParaRPr lang="en-US" altLang="zh-CN" dirty="0"/>
          </a:p>
        </p:txBody>
      </p:sp>
      <p:sp>
        <p:nvSpPr>
          <p:cNvPr id="3" name="标题 2"/>
          <p:cNvSpPr>
            <a:spLocks noGrp="1"/>
          </p:cNvSpPr>
          <p:nvPr>
            <p:ph type="title"/>
          </p:nvPr>
        </p:nvSpPr>
        <p:spPr/>
        <p:txBody>
          <a:bodyPr/>
          <a:lstStyle/>
          <a:p>
            <a:r>
              <a:rPr lang="zh-CN" altLang="en-US" dirty="0"/>
              <a:t>参考学习网址：</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33</a:t>
            </a:fld>
            <a:endParaRPr lang="zh-CN" altLang="en-US"/>
          </a:p>
        </p:txBody>
      </p:sp>
    </p:spTree>
    <p:extLst>
      <p:ext uri="{BB962C8B-B14F-4D97-AF65-F5344CB8AC3E}">
        <p14:creationId xmlns:p14="http://schemas.microsoft.com/office/powerpoint/2010/main" val="4156544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sz="3600" dirty="0">
                <a:solidFill>
                  <a:schemeClr val="tx2"/>
                </a:solidFill>
                <a:sym typeface="+mn-ea"/>
              </a:rPr>
              <a:t>属性的计算次序</a:t>
            </a:r>
            <a:endParaRPr lang="zh-CN" altLang="en-US" sz="3600" dirty="0">
              <a:solidFill>
                <a:schemeClr val="tx2"/>
              </a:solidFill>
            </a:endParaRPr>
          </a:p>
          <a:p>
            <a:pPr lvl="1"/>
            <a:r>
              <a:rPr lang="zh-CN" altLang="en-US" sz="3600" dirty="0">
                <a:sym typeface="+mn-ea"/>
              </a:rPr>
              <a:t>一个依赖图的任何</a:t>
            </a:r>
            <a:r>
              <a:rPr lang="zh-CN" altLang="en-US" sz="3600" dirty="0">
                <a:solidFill>
                  <a:srgbClr val="0000CC"/>
                </a:solidFill>
                <a:sym typeface="+mn-ea"/>
              </a:rPr>
              <a:t>拓扑排序</a:t>
            </a:r>
            <a:r>
              <a:rPr lang="zh-CN" altLang="en-US" sz="3600" dirty="0">
                <a:sym typeface="+mn-ea"/>
              </a:rPr>
              <a:t>都给出一个语法树中结点的语义规则计算的有效顺序。</a:t>
            </a:r>
            <a:endParaRPr lang="zh-CN" altLang="en-US" sz="3600" dirty="0"/>
          </a:p>
          <a:p>
            <a:r>
              <a:rPr lang="zh-CN" altLang="en-US" sz="3600" dirty="0">
                <a:sym typeface="+mn-ea"/>
              </a:rPr>
              <a:t>属性文法说明的翻译是很精确的</a:t>
            </a:r>
            <a:endParaRPr lang="zh-CN" altLang="en-US" sz="3600" dirty="0"/>
          </a:p>
          <a:p>
            <a:pPr lvl="1"/>
            <a:r>
              <a:rPr lang="zh-CN" altLang="en-US" sz="3600" dirty="0">
                <a:sym typeface="+mn-ea"/>
              </a:rPr>
              <a:t>基于文法建立输入符号串的语法分析树</a:t>
            </a:r>
            <a:endParaRPr lang="zh-CN" altLang="en-US" sz="3600" dirty="0"/>
          </a:p>
          <a:p>
            <a:pPr lvl="1"/>
            <a:r>
              <a:rPr lang="zh-CN" altLang="en-US" sz="3600" dirty="0">
                <a:sym typeface="+mn-ea"/>
              </a:rPr>
              <a:t>根据计算语义规则建立依赖图</a:t>
            </a:r>
            <a:endParaRPr lang="zh-CN" altLang="en-US" sz="3600" dirty="0"/>
          </a:p>
          <a:p>
            <a:pPr lvl="1"/>
            <a:r>
              <a:rPr lang="zh-CN" altLang="en-US" sz="3600" dirty="0">
                <a:sym typeface="+mn-ea"/>
              </a:rPr>
              <a:t>从依赖图的拓扑排序中，我们可以得到计算语义规则的顺序 </a:t>
            </a:r>
            <a:endParaRPr lang="zh-CN" altLang="en-US" sz="3600" dirty="0"/>
          </a:p>
          <a:p>
            <a:endParaRPr lang="zh-CN" altLang="en-US" dirty="0"/>
          </a:p>
        </p:txBody>
      </p:sp>
      <p:sp>
        <p:nvSpPr>
          <p:cNvPr id="3" name="标题 2"/>
          <p:cNvSpPr>
            <a:spLocks noGrp="1"/>
          </p:cNvSpPr>
          <p:nvPr>
            <p:ph type="title"/>
          </p:nvPr>
        </p:nvSpPr>
        <p:spPr/>
        <p:txBody>
          <a:bodyPr/>
          <a:lstStyle/>
          <a:p>
            <a:r>
              <a:rPr lang="zh-CN" altLang="en-US" dirty="0">
                <a:sym typeface="+mn-ea"/>
              </a:rPr>
              <a:t>二、属性文法                   </a:t>
            </a:r>
            <a:r>
              <a:rPr lang="zh-CN" altLang="en-US" dirty="0">
                <a:solidFill>
                  <a:srgbClr val="FF0000"/>
                </a:solidFill>
                <a:sym typeface="+mn-ea"/>
              </a:rPr>
              <a:t>属性计算顺序</a:t>
            </a:r>
            <a:endParaRPr lang="zh-CN" altLang="en-US" dirty="0"/>
          </a:p>
        </p:txBody>
      </p:sp>
      <p:grpSp>
        <p:nvGrpSpPr>
          <p:cNvPr id="89092" name="组合 89091"/>
          <p:cNvGrpSpPr/>
          <p:nvPr/>
        </p:nvGrpSpPr>
        <p:grpSpPr>
          <a:xfrm>
            <a:off x="375920" y="6181725"/>
            <a:ext cx="7772400" cy="533400"/>
            <a:chOff x="192" y="912"/>
            <a:chExt cx="5040" cy="336"/>
          </a:xfrm>
        </p:grpSpPr>
        <p:sp>
          <p:nvSpPr>
            <p:cNvPr id="89093" name="矩形 89092"/>
            <p:cNvSpPr/>
            <p:nvPr/>
          </p:nvSpPr>
          <p:spPr>
            <a:xfrm>
              <a:off x="192" y="912"/>
              <a:ext cx="1200" cy="336"/>
            </a:xfrm>
            <a:prstGeom prst="rect">
              <a:avLst/>
            </a:prstGeom>
            <a:noFill/>
            <a:ln w="12700">
              <a:noFill/>
            </a:ln>
          </p:spPr>
          <p:txBody>
            <a:bodyPr wrap="none" anchor="ctr"/>
            <a:lstStyle/>
            <a:p>
              <a:pPr algn="ctr">
                <a:buClr>
                  <a:schemeClr val="bg1"/>
                </a:buClr>
              </a:pPr>
              <a:r>
                <a:rPr lang="zh-CN" altLang="en-US" sz="2800" b="1" dirty="0">
                  <a:latin typeface="Times New Roman" panose="02020603050405020304" charset="0"/>
                </a:rPr>
                <a:t>输入串</a:t>
              </a:r>
            </a:p>
          </p:txBody>
        </p:sp>
        <p:sp>
          <p:nvSpPr>
            <p:cNvPr id="89094" name="矩形 89093"/>
            <p:cNvSpPr/>
            <p:nvPr/>
          </p:nvSpPr>
          <p:spPr>
            <a:xfrm>
              <a:off x="1248" y="912"/>
              <a:ext cx="1200" cy="336"/>
            </a:xfrm>
            <a:prstGeom prst="rect">
              <a:avLst/>
            </a:prstGeom>
            <a:noFill/>
            <a:ln w="28575">
              <a:noFill/>
            </a:ln>
          </p:spPr>
          <p:txBody>
            <a:bodyPr wrap="none" anchor="ctr"/>
            <a:lstStyle/>
            <a:p>
              <a:pPr algn="ctr">
                <a:buClr>
                  <a:schemeClr val="bg1"/>
                </a:buClr>
              </a:pPr>
              <a:r>
                <a:rPr lang="zh-CN" altLang="en-US" sz="2800" b="1" dirty="0">
                  <a:latin typeface="Times New Roman" panose="02020603050405020304" charset="0"/>
                </a:rPr>
                <a:t>语法树</a:t>
              </a:r>
            </a:p>
          </p:txBody>
        </p:sp>
        <p:sp>
          <p:nvSpPr>
            <p:cNvPr id="89095" name="矩形 89094"/>
            <p:cNvSpPr/>
            <p:nvPr/>
          </p:nvSpPr>
          <p:spPr>
            <a:xfrm>
              <a:off x="2352" y="912"/>
              <a:ext cx="1200" cy="336"/>
            </a:xfrm>
            <a:prstGeom prst="rect">
              <a:avLst/>
            </a:prstGeom>
            <a:noFill/>
            <a:ln w="28575">
              <a:noFill/>
            </a:ln>
          </p:spPr>
          <p:txBody>
            <a:bodyPr wrap="none" anchor="ctr"/>
            <a:lstStyle/>
            <a:p>
              <a:pPr algn="ctr">
                <a:buClr>
                  <a:schemeClr val="bg1"/>
                </a:buClr>
              </a:pPr>
              <a:r>
                <a:rPr lang="zh-CN" altLang="en-US" sz="2800" b="1" dirty="0">
                  <a:latin typeface="Times New Roman" panose="02020603050405020304" charset="0"/>
                </a:rPr>
                <a:t>依赖图</a:t>
              </a:r>
            </a:p>
          </p:txBody>
        </p:sp>
        <p:sp>
          <p:nvSpPr>
            <p:cNvPr id="89096" name="矩形 89095"/>
            <p:cNvSpPr/>
            <p:nvPr/>
          </p:nvSpPr>
          <p:spPr>
            <a:xfrm>
              <a:off x="4032" y="912"/>
              <a:ext cx="1200" cy="336"/>
            </a:xfrm>
            <a:prstGeom prst="rect">
              <a:avLst/>
            </a:prstGeom>
            <a:noFill/>
            <a:ln w="28575">
              <a:noFill/>
            </a:ln>
          </p:spPr>
          <p:txBody>
            <a:bodyPr wrap="none" anchor="ctr"/>
            <a:lstStyle/>
            <a:p>
              <a:pPr algn="ctr">
                <a:buClr>
                  <a:schemeClr val="bg1"/>
                </a:buClr>
              </a:pPr>
              <a:r>
                <a:rPr lang="zh-CN" altLang="en-US" sz="2800" b="1" dirty="0">
                  <a:solidFill>
                    <a:srgbClr val="FF0000"/>
                  </a:solidFill>
                  <a:effectLst>
                    <a:outerShdw blurRad="38100" dist="38100" dir="2700000" algn="tl">
                      <a:srgbClr val="000000">
                        <a:alpha val="43137"/>
                      </a:srgbClr>
                    </a:outerShdw>
                  </a:effectLst>
                  <a:latin typeface="Times New Roman" panose="02020603050405020304" charset="0"/>
                </a:rPr>
                <a:t>语义规则计算次序</a:t>
              </a:r>
            </a:p>
          </p:txBody>
        </p:sp>
        <p:sp>
          <p:nvSpPr>
            <p:cNvPr id="89097" name="直接连接符 89096"/>
            <p:cNvSpPr/>
            <p:nvPr/>
          </p:nvSpPr>
          <p:spPr>
            <a:xfrm>
              <a:off x="1152" y="1104"/>
              <a:ext cx="336" cy="0"/>
            </a:xfrm>
            <a:prstGeom prst="line">
              <a:avLst/>
            </a:prstGeom>
            <a:ln w="28575" cap="flat" cmpd="sng">
              <a:solidFill>
                <a:schemeClr val="tx1"/>
              </a:solidFill>
              <a:prstDash val="solid"/>
              <a:headEnd type="none" w="med" len="med"/>
              <a:tailEnd type="stealth" w="lg" len="lg"/>
            </a:ln>
          </p:spPr>
        </p:sp>
        <p:sp>
          <p:nvSpPr>
            <p:cNvPr id="89098" name="直接连接符 89097"/>
            <p:cNvSpPr/>
            <p:nvPr/>
          </p:nvSpPr>
          <p:spPr>
            <a:xfrm>
              <a:off x="2208" y="1096"/>
              <a:ext cx="336" cy="0"/>
            </a:xfrm>
            <a:prstGeom prst="line">
              <a:avLst/>
            </a:prstGeom>
            <a:ln w="28575" cap="flat" cmpd="sng">
              <a:solidFill>
                <a:schemeClr val="tx1"/>
              </a:solidFill>
              <a:prstDash val="solid"/>
              <a:headEnd type="none" w="med" len="med"/>
              <a:tailEnd type="stealth" w="lg" len="lg"/>
            </a:ln>
          </p:spPr>
        </p:sp>
        <p:sp>
          <p:nvSpPr>
            <p:cNvPr id="89099" name="直接连接符 89098"/>
            <p:cNvSpPr/>
            <p:nvPr/>
          </p:nvSpPr>
          <p:spPr>
            <a:xfrm>
              <a:off x="3360" y="1104"/>
              <a:ext cx="336" cy="0"/>
            </a:xfrm>
            <a:prstGeom prst="line">
              <a:avLst/>
            </a:prstGeom>
            <a:ln w="28575" cap="flat" cmpd="sng">
              <a:solidFill>
                <a:schemeClr val="tx1"/>
              </a:solidFill>
              <a:prstDash val="solid"/>
              <a:headEnd type="none" w="med" len="med"/>
              <a:tailEnd type="stealth" w="lg" len="lg"/>
            </a:ln>
          </p:spPr>
        </p:sp>
      </p:grpSp>
      <p:sp>
        <p:nvSpPr>
          <p:cNvPr id="4" name="灯片编号占位符 3"/>
          <p:cNvSpPr>
            <a:spLocks noGrp="1"/>
          </p:cNvSpPr>
          <p:nvPr>
            <p:ph type="sldNum" sz="quarter" idx="4"/>
          </p:nvPr>
        </p:nvSpPr>
        <p:spPr/>
        <p:txBody>
          <a:bodyPr/>
          <a:lstStyle/>
          <a:p>
            <a:fld id="{565CE74E-AB26-4998-AD42-012C4C1AD076}" type="slidenum">
              <a:rPr lang="zh-CN" altLang="en-US" smtClean="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solidFill>
                  <a:srgbClr val="000000"/>
                </a:solidFill>
                <a:sym typeface="+mn-ea"/>
              </a:rPr>
              <a:t>句子</a:t>
            </a:r>
            <a:r>
              <a:rPr lang="en-US" altLang="zh-CN" dirty="0">
                <a:solidFill>
                  <a:srgbClr val="0000CC"/>
                </a:solidFill>
                <a:sym typeface="+mn-ea"/>
              </a:rPr>
              <a:t>real id</a:t>
            </a:r>
            <a:r>
              <a:rPr lang="en-US" altLang="zh-CN" baseline="-30000" dirty="0">
                <a:solidFill>
                  <a:srgbClr val="0000CC"/>
                </a:solidFill>
                <a:sym typeface="+mn-ea"/>
              </a:rPr>
              <a:t>1</a:t>
            </a:r>
            <a:r>
              <a:rPr lang="zh-CN" altLang="en-US" dirty="0">
                <a:solidFill>
                  <a:srgbClr val="0000CC"/>
                </a:solidFill>
                <a:sym typeface="+mn-ea"/>
              </a:rPr>
              <a:t>，</a:t>
            </a:r>
            <a:r>
              <a:rPr lang="en-US" altLang="zh-CN" dirty="0">
                <a:solidFill>
                  <a:srgbClr val="0000CC"/>
                </a:solidFill>
                <a:sym typeface="+mn-ea"/>
              </a:rPr>
              <a:t>id</a:t>
            </a:r>
            <a:r>
              <a:rPr lang="en-US" altLang="zh-CN" baseline="-30000" dirty="0">
                <a:solidFill>
                  <a:srgbClr val="0000CC"/>
                </a:solidFill>
                <a:sym typeface="+mn-ea"/>
              </a:rPr>
              <a:t>2</a:t>
            </a:r>
            <a:r>
              <a:rPr lang="zh-CN" altLang="en-US" dirty="0">
                <a:solidFill>
                  <a:srgbClr val="0000CC"/>
                </a:solidFill>
                <a:sym typeface="+mn-ea"/>
              </a:rPr>
              <a:t>，</a:t>
            </a:r>
            <a:r>
              <a:rPr lang="en-US" altLang="zh-CN" dirty="0">
                <a:solidFill>
                  <a:srgbClr val="0000CC"/>
                </a:solidFill>
                <a:sym typeface="+mn-ea"/>
              </a:rPr>
              <a:t>id</a:t>
            </a:r>
            <a:r>
              <a:rPr lang="en-US" altLang="zh-CN" baseline="-30000" dirty="0">
                <a:solidFill>
                  <a:srgbClr val="0000CC"/>
                </a:solidFill>
                <a:sym typeface="+mn-ea"/>
              </a:rPr>
              <a:t>3</a:t>
            </a:r>
            <a:r>
              <a:rPr lang="zh-CN" altLang="en-US" dirty="0">
                <a:solidFill>
                  <a:srgbClr val="000000"/>
                </a:solidFill>
                <a:sym typeface="+mn-ea"/>
              </a:rPr>
              <a:t>的带注释的语法树的语义规则计算顺序</a:t>
            </a:r>
            <a:endParaRPr lang="zh-CN" altLang="en-US" dirty="0"/>
          </a:p>
        </p:txBody>
      </p:sp>
      <p:sp>
        <p:nvSpPr>
          <p:cNvPr id="3" name="标题 2"/>
          <p:cNvSpPr>
            <a:spLocks noGrp="1"/>
          </p:cNvSpPr>
          <p:nvPr>
            <p:ph type="title"/>
          </p:nvPr>
        </p:nvSpPr>
        <p:spPr/>
        <p:txBody>
          <a:bodyPr/>
          <a:lstStyle/>
          <a:p>
            <a:r>
              <a:rPr lang="zh-CN" altLang="en-US" dirty="0">
                <a:sym typeface="+mn-ea"/>
              </a:rPr>
              <a:t>二、属性文法                   </a:t>
            </a:r>
            <a:r>
              <a:rPr lang="zh-CN" altLang="en-US" dirty="0">
                <a:solidFill>
                  <a:srgbClr val="FF0000"/>
                </a:solidFill>
                <a:sym typeface="+mn-ea"/>
              </a:rPr>
              <a:t>属性计算顺序</a:t>
            </a:r>
            <a:endParaRPr lang="zh-CN" altLang="en-US" dirty="0"/>
          </a:p>
        </p:txBody>
      </p:sp>
      <p:grpSp>
        <p:nvGrpSpPr>
          <p:cNvPr id="90160" name="组合 90159"/>
          <p:cNvGrpSpPr/>
          <p:nvPr/>
        </p:nvGrpSpPr>
        <p:grpSpPr>
          <a:xfrm>
            <a:off x="49530" y="1762125"/>
            <a:ext cx="4953000" cy="4876800"/>
            <a:chOff x="480" y="912"/>
            <a:chExt cx="4848" cy="3264"/>
          </a:xfrm>
        </p:grpSpPr>
        <p:sp>
          <p:nvSpPr>
            <p:cNvPr id="90161" name="矩形 90160"/>
            <p:cNvSpPr/>
            <p:nvPr/>
          </p:nvSpPr>
          <p:spPr>
            <a:xfrm>
              <a:off x="576" y="3600"/>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id</a:t>
              </a:r>
              <a:r>
                <a:rPr lang="en-US" altLang="zh-CN" sz="2400" b="1" baseline="-25000">
                  <a:solidFill>
                    <a:srgbClr val="000000"/>
                  </a:solidFill>
                  <a:latin typeface="Times New Roman" panose="02020603050405020304" charset="0"/>
                </a:rPr>
                <a:t>1</a:t>
              </a:r>
            </a:p>
          </p:txBody>
        </p:sp>
        <p:sp>
          <p:nvSpPr>
            <p:cNvPr id="90162" name="直接连接符 90161"/>
            <p:cNvSpPr/>
            <p:nvPr/>
          </p:nvSpPr>
          <p:spPr>
            <a:xfrm>
              <a:off x="1200" y="3456"/>
              <a:ext cx="0" cy="192"/>
            </a:xfrm>
            <a:prstGeom prst="line">
              <a:avLst/>
            </a:prstGeom>
            <a:ln w="19050" cap="flat" cmpd="sng">
              <a:solidFill>
                <a:srgbClr val="000000"/>
              </a:solidFill>
              <a:prstDash val="dash"/>
              <a:headEnd type="none" w="med" len="med"/>
              <a:tailEnd type="none" w="lg" len="lg"/>
            </a:ln>
          </p:spPr>
        </p:sp>
        <p:sp>
          <p:nvSpPr>
            <p:cNvPr id="90163" name="矩形 90162"/>
            <p:cNvSpPr/>
            <p:nvPr/>
          </p:nvSpPr>
          <p:spPr>
            <a:xfrm>
              <a:off x="480" y="3120"/>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L</a:t>
              </a:r>
            </a:p>
          </p:txBody>
        </p:sp>
        <p:sp>
          <p:nvSpPr>
            <p:cNvPr id="90164" name="矩形 90163"/>
            <p:cNvSpPr/>
            <p:nvPr/>
          </p:nvSpPr>
          <p:spPr>
            <a:xfrm>
              <a:off x="2160" y="3168"/>
              <a:ext cx="336"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a:t>
              </a:r>
            </a:p>
          </p:txBody>
        </p:sp>
        <p:sp>
          <p:nvSpPr>
            <p:cNvPr id="90165" name="矩形 90164"/>
            <p:cNvSpPr/>
            <p:nvPr/>
          </p:nvSpPr>
          <p:spPr>
            <a:xfrm>
              <a:off x="2880" y="3216"/>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id</a:t>
              </a:r>
              <a:r>
                <a:rPr lang="en-US" altLang="zh-CN" sz="2400" b="1" baseline="-25000">
                  <a:solidFill>
                    <a:srgbClr val="000000"/>
                  </a:solidFill>
                  <a:latin typeface="Times New Roman" panose="02020603050405020304" charset="0"/>
                </a:rPr>
                <a:t>2</a:t>
              </a:r>
              <a:endParaRPr lang="en-US" altLang="zh-CN" sz="2400" b="1">
                <a:solidFill>
                  <a:srgbClr val="000000"/>
                </a:solidFill>
                <a:latin typeface="Times New Roman" panose="02020603050405020304" charset="0"/>
              </a:endParaRPr>
            </a:p>
          </p:txBody>
        </p:sp>
        <p:sp>
          <p:nvSpPr>
            <p:cNvPr id="90166" name="直接连接符 90165"/>
            <p:cNvSpPr/>
            <p:nvPr/>
          </p:nvSpPr>
          <p:spPr>
            <a:xfrm flipV="1">
              <a:off x="1248" y="2688"/>
              <a:ext cx="960" cy="480"/>
            </a:xfrm>
            <a:prstGeom prst="line">
              <a:avLst/>
            </a:prstGeom>
            <a:ln w="19050" cap="flat" cmpd="sng">
              <a:solidFill>
                <a:srgbClr val="000000"/>
              </a:solidFill>
              <a:prstDash val="dash"/>
              <a:headEnd type="none" w="med" len="med"/>
              <a:tailEnd type="none" w="lg" len="lg"/>
            </a:ln>
          </p:spPr>
        </p:sp>
        <p:sp>
          <p:nvSpPr>
            <p:cNvPr id="90167" name="直接连接符 90166"/>
            <p:cNvSpPr/>
            <p:nvPr/>
          </p:nvSpPr>
          <p:spPr>
            <a:xfrm flipV="1">
              <a:off x="2304" y="2688"/>
              <a:ext cx="0" cy="480"/>
            </a:xfrm>
            <a:prstGeom prst="line">
              <a:avLst/>
            </a:prstGeom>
            <a:ln w="19050" cap="flat" cmpd="sng">
              <a:solidFill>
                <a:srgbClr val="000000"/>
              </a:solidFill>
              <a:prstDash val="dash"/>
              <a:headEnd type="none" w="med" len="med"/>
              <a:tailEnd type="none" w="lg" len="lg"/>
            </a:ln>
          </p:spPr>
        </p:sp>
        <p:sp>
          <p:nvSpPr>
            <p:cNvPr id="90168" name="直接连接符 90167"/>
            <p:cNvSpPr/>
            <p:nvPr/>
          </p:nvSpPr>
          <p:spPr>
            <a:xfrm>
              <a:off x="2448" y="2640"/>
              <a:ext cx="1056" cy="624"/>
            </a:xfrm>
            <a:prstGeom prst="line">
              <a:avLst/>
            </a:prstGeom>
            <a:ln w="19050" cap="flat" cmpd="sng">
              <a:solidFill>
                <a:srgbClr val="000000"/>
              </a:solidFill>
              <a:prstDash val="dash"/>
              <a:headEnd type="none" w="med" len="med"/>
              <a:tailEnd type="none" w="lg" len="lg"/>
            </a:ln>
          </p:spPr>
        </p:sp>
        <p:sp>
          <p:nvSpPr>
            <p:cNvPr id="90169" name="矩形 90168"/>
            <p:cNvSpPr/>
            <p:nvPr/>
          </p:nvSpPr>
          <p:spPr>
            <a:xfrm>
              <a:off x="1680" y="2400"/>
              <a:ext cx="1152"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L</a:t>
              </a:r>
            </a:p>
          </p:txBody>
        </p:sp>
        <p:sp>
          <p:nvSpPr>
            <p:cNvPr id="90170" name="矩形 90169"/>
            <p:cNvSpPr/>
            <p:nvPr/>
          </p:nvSpPr>
          <p:spPr>
            <a:xfrm>
              <a:off x="3024" y="2352"/>
              <a:ext cx="576"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a:t>
              </a:r>
            </a:p>
          </p:txBody>
        </p:sp>
        <p:sp>
          <p:nvSpPr>
            <p:cNvPr id="90171" name="矩形 90170"/>
            <p:cNvSpPr/>
            <p:nvPr/>
          </p:nvSpPr>
          <p:spPr>
            <a:xfrm>
              <a:off x="3888" y="2400"/>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id</a:t>
              </a:r>
              <a:r>
                <a:rPr lang="en-US" altLang="zh-CN" sz="2400" b="1" baseline="-25000">
                  <a:solidFill>
                    <a:srgbClr val="000000"/>
                  </a:solidFill>
                  <a:latin typeface="Times New Roman" panose="02020603050405020304" charset="0"/>
                </a:rPr>
                <a:t>3</a:t>
              </a:r>
              <a:endParaRPr lang="en-US" altLang="zh-CN" sz="2400" b="1">
                <a:solidFill>
                  <a:srgbClr val="000000"/>
                </a:solidFill>
                <a:latin typeface="Times New Roman" panose="02020603050405020304" charset="0"/>
              </a:endParaRPr>
            </a:p>
          </p:txBody>
        </p:sp>
        <p:sp>
          <p:nvSpPr>
            <p:cNvPr id="90172" name="直接连接符 90171"/>
            <p:cNvSpPr/>
            <p:nvPr/>
          </p:nvSpPr>
          <p:spPr>
            <a:xfrm flipH="1">
              <a:off x="2304" y="1872"/>
              <a:ext cx="864" cy="576"/>
            </a:xfrm>
            <a:prstGeom prst="line">
              <a:avLst/>
            </a:prstGeom>
            <a:ln w="19050" cap="flat" cmpd="sng">
              <a:solidFill>
                <a:srgbClr val="000000"/>
              </a:solidFill>
              <a:prstDash val="dash"/>
              <a:headEnd type="none" w="med" len="med"/>
              <a:tailEnd type="none" w="lg" len="lg"/>
            </a:ln>
          </p:spPr>
        </p:sp>
        <p:sp>
          <p:nvSpPr>
            <p:cNvPr id="90173" name="直接连接符 90172"/>
            <p:cNvSpPr/>
            <p:nvPr/>
          </p:nvSpPr>
          <p:spPr>
            <a:xfrm flipV="1">
              <a:off x="3312" y="1872"/>
              <a:ext cx="0" cy="528"/>
            </a:xfrm>
            <a:prstGeom prst="line">
              <a:avLst/>
            </a:prstGeom>
            <a:ln w="19050" cap="flat" cmpd="sng">
              <a:solidFill>
                <a:srgbClr val="000000"/>
              </a:solidFill>
              <a:prstDash val="dash"/>
              <a:headEnd type="none" w="med" len="med"/>
              <a:tailEnd type="none" w="lg" len="lg"/>
            </a:ln>
          </p:spPr>
        </p:sp>
        <p:sp>
          <p:nvSpPr>
            <p:cNvPr id="90174" name="直接连接符 90173"/>
            <p:cNvSpPr/>
            <p:nvPr/>
          </p:nvSpPr>
          <p:spPr>
            <a:xfrm>
              <a:off x="3408" y="1872"/>
              <a:ext cx="1056" cy="576"/>
            </a:xfrm>
            <a:prstGeom prst="line">
              <a:avLst/>
            </a:prstGeom>
            <a:ln w="19050" cap="flat" cmpd="sng">
              <a:solidFill>
                <a:srgbClr val="000000"/>
              </a:solidFill>
              <a:prstDash val="dash"/>
              <a:headEnd type="none" w="med" len="med"/>
              <a:tailEnd type="none" w="lg" len="lg"/>
            </a:ln>
          </p:spPr>
        </p:sp>
        <p:sp>
          <p:nvSpPr>
            <p:cNvPr id="90175" name="矩形 90174"/>
            <p:cNvSpPr/>
            <p:nvPr/>
          </p:nvSpPr>
          <p:spPr>
            <a:xfrm>
              <a:off x="2496" y="1584"/>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L</a:t>
              </a:r>
            </a:p>
          </p:txBody>
        </p:sp>
        <p:sp>
          <p:nvSpPr>
            <p:cNvPr id="90176" name="直接连接符 90175"/>
            <p:cNvSpPr/>
            <p:nvPr/>
          </p:nvSpPr>
          <p:spPr>
            <a:xfrm flipV="1">
              <a:off x="1248" y="1248"/>
              <a:ext cx="960" cy="384"/>
            </a:xfrm>
            <a:prstGeom prst="line">
              <a:avLst/>
            </a:prstGeom>
            <a:ln w="19050" cap="flat" cmpd="sng">
              <a:solidFill>
                <a:srgbClr val="000000"/>
              </a:solidFill>
              <a:prstDash val="dash"/>
              <a:headEnd type="none" w="med" len="med"/>
              <a:tailEnd type="none" w="lg" len="lg"/>
            </a:ln>
          </p:spPr>
        </p:sp>
        <p:sp>
          <p:nvSpPr>
            <p:cNvPr id="90177" name="直接连接符 90176"/>
            <p:cNvSpPr/>
            <p:nvPr/>
          </p:nvSpPr>
          <p:spPr>
            <a:xfrm>
              <a:off x="2448" y="1248"/>
              <a:ext cx="816" cy="384"/>
            </a:xfrm>
            <a:prstGeom prst="line">
              <a:avLst/>
            </a:prstGeom>
            <a:ln w="19050" cap="flat" cmpd="sng">
              <a:solidFill>
                <a:srgbClr val="000000"/>
              </a:solidFill>
              <a:prstDash val="dash"/>
              <a:headEnd type="none" w="med" len="med"/>
              <a:tailEnd type="none" w="lg" len="lg"/>
            </a:ln>
          </p:spPr>
        </p:sp>
        <p:sp>
          <p:nvSpPr>
            <p:cNvPr id="90178" name="矩形 90177"/>
            <p:cNvSpPr/>
            <p:nvPr/>
          </p:nvSpPr>
          <p:spPr>
            <a:xfrm>
              <a:off x="528" y="2304"/>
              <a:ext cx="1440"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real</a:t>
              </a:r>
            </a:p>
          </p:txBody>
        </p:sp>
        <p:sp>
          <p:nvSpPr>
            <p:cNvPr id="90179" name="直接连接符 90178"/>
            <p:cNvSpPr/>
            <p:nvPr/>
          </p:nvSpPr>
          <p:spPr>
            <a:xfrm>
              <a:off x="1200" y="1920"/>
              <a:ext cx="0" cy="432"/>
            </a:xfrm>
            <a:prstGeom prst="line">
              <a:avLst/>
            </a:prstGeom>
            <a:ln w="19050" cap="flat" cmpd="sng">
              <a:solidFill>
                <a:srgbClr val="000000"/>
              </a:solidFill>
              <a:prstDash val="dash"/>
              <a:headEnd type="none" w="med" len="med"/>
              <a:tailEnd type="none" w="lg" len="lg"/>
            </a:ln>
          </p:spPr>
        </p:sp>
        <p:sp>
          <p:nvSpPr>
            <p:cNvPr id="90180" name="矩形 90179"/>
            <p:cNvSpPr/>
            <p:nvPr/>
          </p:nvSpPr>
          <p:spPr>
            <a:xfrm>
              <a:off x="528" y="1584"/>
              <a:ext cx="1296"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T</a:t>
              </a:r>
            </a:p>
          </p:txBody>
        </p:sp>
        <p:sp>
          <p:nvSpPr>
            <p:cNvPr id="90181" name="矩形 90180"/>
            <p:cNvSpPr/>
            <p:nvPr/>
          </p:nvSpPr>
          <p:spPr>
            <a:xfrm>
              <a:off x="2064" y="912"/>
              <a:ext cx="576" cy="336"/>
            </a:xfrm>
            <a:prstGeom prst="rect">
              <a:avLst/>
            </a:prstGeom>
            <a:noFill/>
            <a:ln w="19050">
              <a:noFill/>
            </a:ln>
          </p:spPr>
          <p:txBody>
            <a:bodyPr wrap="none" anchor="ctr"/>
            <a:lstStyle/>
            <a:p>
              <a:pPr algn="ctr">
                <a:buClr>
                  <a:schemeClr val="bg1"/>
                </a:buClr>
              </a:pPr>
              <a:r>
                <a:rPr lang="en-US" altLang="zh-CN" sz="2400" b="1">
                  <a:solidFill>
                    <a:srgbClr val="000000"/>
                  </a:solidFill>
                  <a:latin typeface="Times New Roman" panose="02020603050405020304" charset="0"/>
                </a:rPr>
                <a:t>D</a:t>
              </a:r>
            </a:p>
          </p:txBody>
        </p:sp>
        <p:sp>
          <p:nvSpPr>
            <p:cNvPr id="90182" name="矩形 90181"/>
            <p:cNvSpPr/>
            <p:nvPr/>
          </p:nvSpPr>
          <p:spPr>
            <a:xfrm>
              <a:off x="1296" y="1584"/>
              <a:ext cx="528" cy="576"/>
            </a:xfrm>
            <a:prstGeom prst="rect">
              <a:avLst/>
            </a:prstGeom>
            <a:noFill/>
            <a:ln w="19050">
              <a:noFill/>
            </a:ln>
          </p:spPr>
          <p:txBody>
            <a:bodyPr wrap="none" anchor="ctr"/>
            <a:lstStyle/>
            <a:p>
              <a:pPr algn="ctr">
                <a:buClr>
                  <a:schemeClr val="bg1"/>
                </a:buClr>
              </a:pPr>
              <a:r>
                <a:rPr lang="en-US" altLang="zh-CN" sz="2400" b="1">
                  <a:solidFill>
                    <a:srgbClr val="FF3300"/>
                  </a:solidFill>
                  <a:latin typeface="Times New Roman" panose="02020603050405020304" charset="0"/>
                </a:rPr>
                <a:t>4</a:t>
              </a:r>
            </a:p>
            <a:p>
              <a:pPr algn="ctr">
                <a:buClr>
                  <a:schemeClr val="bg1"/>
                </a:buClr>
              </a:pPr>
              <a:r>
                <a:rPr lang="en-US" altLang="zh-CN" sz="2400" b="1">
                  <a:solidFill>
                    <a:srgbClr val="FF3300"/>
                  </a:solidFill>
                  <a:latin typeface="Times New Roman" panose="02020603050405020304" charset="0"/>
                </a:rPr>
                <a:t>type</a:t>
              </a:r>
            </a:p>
          </p:txBody>
        </p:sp>
        <p:sp>
          <p:nvSpPr>
            <p:cNvPr id="90183" name="矩形 90182"/>
            <p:cNvSpPr/>
            <p:nvPr/>
          </p:nvSpPr>
          <p:spPr>
            <a:xfrm>
              <a:off x="2544" y="1632"/>
              <a:ext cx="480" cy="480"/>
            </a:xfrm>
            <a:prstGeom prst="rect">
              <a:avLst/>
            </a:prstGeom>
            <a:noFill/>
            <a:ln w="19050">
              <a:noFill/>
            </a:ln>
          </p:spPr>
          <p:txBody>
            <a:bodyPr wrap="none" anchor="ctr"/>
            <a:lstStyle/>
            <a:p>
              <a:pPr algn="ctr">
                <a:buClr>
                  <a:schemeClr val="bg1"/>
                </a:buClr>
              </a:pPr>
              <a:r>
                <a:rPr lang="en-US" altLang="zh-CN" sz="2400" b="1">
                  <a:solidFill>
                    <a:srgbClr val="FF3300"/>
                  </a:solidFill>
                  <a:latin typeface="Times New Roman" panose="02020603050405020304" charset="0"/>
                </a:rPr>
                <a:t>5</a:t>
              </a:r>
            </a:p>
            <a:p>
              <a:pPr algn="ctr">
                <a:buClr>
                  <a:schemeClr val="bg1"/>
                </a:buClr>
              </a:pPr>
              <a:r>
                <a:rPr lang="en-US" altLang="zh-CN" sz="2400" b="1">
                  <a:solidFill>
                    <a:srgbClr val="FF3300"/>
                  </a:solidFill>
                  <a:latin typeface="Times New Roman" panose="02020603050405020304" charset="0"/>
                </a:rPr>
                <a:t>in</a:t>
              </a:r>
            </a:p>
          </p:txBody>
        </p:sp>
        <p:sp>
          <p:nvSpPr>
            <p:cNvPr id="90184" name="矩形 90183"/>
            <p:cNvSpPr/>
            <p:nvPr/>
          </p:nvSpPr>
          <p:spPr>
            <a:xfrm>
              <a:off x="3408" y="1584"/>
              <a:ext cx="480" cy="288"/>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6</a:t>
              </a:r>
            </a:p>
          </p:txBody>
        </p:sp>
        <p:sp>
          <p:nvSpPr>
            <p:cNvPr id="90185" name="矩形 90184"/>
            <p:cNvSpPr/>
            <p:nvPr/>
          </p:nvSpPr>
          <p:spPr>
            <a:xfrm>
              <a:off x="1632" y="2448"/>
              <a:ext cx="480" cy="480"/>
            </a:xfrm>
            <a:prstGeom prst="rect">
              <a:avLst/>
            </a:prstGeom>
            <a:noFill/>
            <a:ln w="19050">
              <a:noFill/>
            </a:ln>
          </p:spPr>
          <p:txBody>
            <a:bodyPr wrap="none" anchor="ctr"/>
            <a:lstStyle/>
            <a:p>
              <a:pPr algn="ctr">
                <a:buClr>
                  <a:schemeClr val="bg1"/>
                </a:buClr>
              </a:pPr>
              <a:r>
                <a:rPr lang="en-US" altLang="zh-CN" sz="2400" b="1">
                  <a:solidFill>
                    <a:srgbClr val="FF3300"/>
                  </a:solidFill>
                  <a:latin typeface="Times New Roman" panose="02020603050405020304" charset="0"/>
                </a:rPr>
                <a:t>7</a:t>
              </a:r>
            </a:p>
            <a:p>
              <a:pPr algn="ctr">
                <a:buClr>
                  <a:schemeClr val="bg1"/>
                </a:buClr>
              </a:pPr>
              <a:r>
                <a:rPr lang="en-US" altLang="zh-CN" sz="2400" b="1">
                  <a:solidFill>
                    <a:srgbClr val="FF3300"/>
                  </a:solidFill>
                  <a:latin typeface="Times New Roman" panose="02020603050405020304" charset="0"/>
                </a:rPr>
                <a:t>in</a:t>
              </a:r>
            </a:p>
          </p:txBody>
        </p:sp>
        <p:sp>
          <p:nvSpPr>
            <p:cNvPr id="90186" name="矩形 90185"/>
            <p:cNvSpPr/>
            <p:nvPr/>
          </p:nvSpPr>
          <p:spPr>
            <a:xfrm>
              <a:off x="2592" y="2400"/>
              <a:ext cx="480" cy="288"/>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8</a:t>
              </a:r>
            </a:p>
          </p:txBody>
        </p:sp>
        <p:sp>
          <p:nvSpPr>
            <p:cNvPr id="90187" name="矩形 90186"/>
            <p:cNvSpPr/>
            <p:nvPr/>
          </p:nvSpPr>
          <p:spPr>
            <a:xfrm>
              <a:off x="576" y="3216"/>
              <a:ext cx="480" cy="480"/>
            </a:xfrm>
            <a:prstGeom prst="rect">
              <a:avLst/>
            </a:prstGeom>
            <a:noFill/>
            <a:ln w="19050">
              <a:noFill/>
            </a:ln>
          </p:spPr>
          <p:txBody>
            <a:bodyPr wrap="none" anchor="ctr"/>
            <a:lstStyle/>
            <a:p>
              <a:pPr algn="ctr">
                <a:buClr>
                  <a:schemeClr val="bg1"/>
                </a:buClr>
              </a:pPr>
              <a:r>
                <a:rPr lang="en-US" altLang="zh-CN" sz="2400" b="1">
                  <a:solidFill>
                    <a:srgbClr val="FF3300"/>
                  </a:solidFill>
                  <a:latin typeface="Times New Roman" panose="02020603050405020304" charset="0"/>
                </a:rPr>
                <a:t>9</a:t>
              </a:r>
            </a:p>
            <a:p>
              <a:pPr algn="ctr">
                <a:buClr>
                  <a:schemeClr val="bg1"/>
                </a:buClr>
              </a:pPr>
              <a:r>
                <a:rPr lang="en-US" altLang="zh-CN" sz="2400" b="1">
                  <a:solidFill>
                    <a:srgbClr val="FF3300"/>
                  </a:solidFill>
                  <a:latin typeface="Times New Roman" panose="02020603050405020304" charset="0"/>
                </a:rPr>
                <a:t>in</a:t>
              </a:r>
            </a:p>
          </p:txBody>
        </p:sp>
        <p:sp>
          <p:nvSpPr>
            <p:cNvPr id="90188" name="矩形 90187"/>
            <p:cNvSpPr/>
            <p:nvPr/>
          </p:nvSpPr>
          <p:spPr>
            <a:xfrm>
              <a:off x="1536" y="3120"/>
              <a:ext cx="480" cy="288"/>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10</a:t>
              </a:r>
            </a:p>
          </p:txBody>
        </p:sp>
        <p:sp>
          <p:nvSpPr>
            <p:cNvPr id="90189" name="矩形 90188"/>
            <p:cNvSpPr/>
            <p:nvPr/>
          </p:nvSpPr>
          <p:spPr>
            <a:xfrm>
              <a:off x="1584" y="3600"/>
              <a:ext cx="528" cy="576"/>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1</a:t>
              </a:r>
            </a:p>
            <a:p>
              <a:pPr algn="ctr">
                <a:buClr>
                  <a:schemeClr val="bg1"/>
                </a:buClr>
              </a:pPr>
              <a:r>
                <a:rPr lang="en-US" altLang="zh-CN" sz="2400" b="1">
                  <a:solidFill>
                    <a:srgbClr val="6600FF"/>
                  </a:solidFill>
                  <a:latin typeface="Times New Roman" panose="02020603050405020304" charset="0"/>
                </a:rPr>
                <a:t>entry</a:t>
              </a:r>
            </a:p>
          </p:txBody>
        </p:sp>
        <p:sp>
          <p:nvSpPr>
            <p:cNvPr id="90190" name="矩形 90189"/>
            <p:cNvSpPr/>
            <p:nvPr/>
          </p:nvSpPr>
          <p:spPr>
            <a:xfrm>
              <a:off x="3888" y="3264"/>
              <a:ext cx="528" cy="576"/>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2</a:t>
              </a:r>
            </a:p>
            <a:p>
              <a:pPr algn="ctr">
                <a:buClr>
                  <a:schemeClr val="bg1"/>
                </a:buClr>
              </a:pPr>
              <a:r>
                <a:rPr lang="en-US" altLang="zh-CN" sz="2400" b="1">
                  <a:solidFill>
                    <a:srgbClr val="6600FF"/>
                  </a:solidFill>
                  <a:latin typeface="Times New Roman" panose="02020603050405020304" charset="0"/>
                </a:rPr>
                <a:t>entry</a:t>
              </a:r>
            </a:p>
          </p:txBody>
        </p:sp>
        <p:sp>
          <p:nvSpPr>
            <p:cNvPr id="90191" name="矩形 90190"/>
            <p:cNvSpPr/>
            <p:nvPr/>
          </p:nvSpPr>
          <p:spPr>
            <a:xfrm>
              <a:off x="4800" y="2400"/>
              <a:ext cx="528" cy="576"/>
            </a:xfrm>
            <a:prstGeom prst="rect">
              <a:avLst/>
            </a:prstGeom>
            <a:noFill/>
            <a:ln w="19050">
              <a:noFill/>
            </a:ln>
          </p:spPr>
          <p:txBody>
            <a:bodyPr wrap="none" anchor="ctr"/>
            <a:lstStyle/>
            <a:p>
              <a:pPr algn="ctr">
                <a:buClr>
                  <a:schemeClr val="bg1"/>
                </a:buClr>
              </a:pPr>
              <a:r>
                <a:rPr lang="en-US" altLang="zh-CN" sz="2400" b="1">
                  <a:solidFill>
                    <a:srgbClr val="6600FF"/>
                  </a:solidFill>
                  <a:latin typeface="Times New Roman" panose="02020603050405020304" charset="0"/>
                </a:rPr>
                <a:t>3</a:t>
              </a:r>
            </a:p>
            <a:p>
              <a:pPr algn="ctr">
                <a:buClr>
                  <a:schemeClr val="bg1"/>
                </a:buClr>
              </a:pPr>
              <a:r>
                <a:rPr lang="en-US" altLang="zh-CN" sz="2400" b="1">
                  <a:solidFill>
                    <a:srgbClr val="6600FF"/>
                  </a:solidFill>
                  <a:latin typeface="Times New Roman" panose="02020603050405020304" charset="0"/>
                </a:rPr>
                <a:t>entry</a:t>
              </a:r>
            </a:p>
          </p:txBody>
        </p:sp>
        <p:sp>
          <p:nvSpPr>
            <p:cNvPr id="90192" name="任意多边形 90191"/>
            <p:cNvSpPr/>
            <p:nvPr/>
          </p:nvSpPr>
          <p:spPr>
            <a:xfrm>
              <a:off x="1680" y="1464"/>
              <a:ext cx="1104" cy="168"/>
            </a:xfrm>
            <a:custGeom>
              <a:avLst/>
              <a:gdLst/>
              <a:ahLst/>
              <a:cxnLst/>
              <a:rect l="0" t="0" r="0" b="0"/>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90193" name="任意多边形 90192"/>
            <p:cNvSpPr/>
            <p:nvPr/>
          </p:nvSpPr>
          <p:spPr>
            <a:xfrm>
              <a:off x="2832" y="1440"/>
              <a:ext cx="816" cy="192"/>
            </a:xfrm>
            <a:custGeom>
              <a:avLst/>
              <a:gdLst/>
              <a:ahLst/>
              <a:cxnLst/>
              <a:rect l="0" t="0" r="0" b="0"/>
              <a:pathLst>
                <a:path w="1104" h="168">
                  <a:moveTo>
                    <a:pt x="0" y="168"/>
                  </a:moveTo>
                  <a:cubicBezTo>
                    <a:pt x="136" y="108"/>
                    <a:pt x="272" y="48"/>
                    <a:pt x="384" y="24"/>
                  </a:cubicBezTo>
                  <a:cubicBezTo>
                    <a:pt x="496" y="0"/>
                    <a:pt x="552" y="0"/>
                    <a:pt x="672" y="24"/>
                  </a:cubicBezTo>
                  <a:cubicBezTo>
                    <a:pt x="792" y="48"/>
                    <a:pt x="948" y="108"/>
                    <a:pt x="1104" y="168"/>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90194" name="直接连接符 90193"/>
            <p:cNvSpPr/>
            <p:nvPr/>
          </p:nvSpPr>
          <p:spPr>
            <a:xfrm flipH="1" flipV="1">
              <a:off x="3792" y="1776"/>
              <a:ext cx="1200" cy="672"/>
            </a:xfrm>
            <a:prstGeom prst="line">
              <a:avLst/>
            </a:prstGeom>
            <a:ln w="28575" cap="flat" cmpd="sng">
              <a:solidFill>
                <a:srgbClr val="FF00FF"/>
              </a:solidFill>
              <a:prstDash val="solid"/>
              <a:headEnd type="none" w="med" len="med"/>
              <a:tailEnd type="stealth" w="lg" len="lg"/>
            </a:ln>
          </p:spPr>
        </p:sp>
        <p:sp>
          <p:nvSpPr>
            <p:cNvPr id="90195" name="直接连接符 90194"/>
            <p:cNvSpPr/>
            <p:nvPr/>
          </p:nvSpPr>
          <p:spPr>
            <a:xfrm flipH="1">
              <a:off x="2064" y="1872"/>
              <a:ext cx="672" cy="480"/>
            </a:xfrm>
            <a:prstGeom prst="line">
              <a:avLst/>
            </a:prstGeom>
            <a:ln w="28575" cap="flat" cmpd="sng">
              <a:solidFill>
                <a:srgbClr val="FF00FF"/>
              </a:solidFill>
              <a:prstDash val="solid"/>
              <a:headEnd type="none" w="med" len="med"/>
              <a:tailEnd type="stealth" w="lg" len="lg"/>
            </a:ln>
          </p:spPr>
        </p:sp>
        <p:sp>
          <p:nvSpPr>
            <p:cNvPr id="90196" name="任意多边形 90195"/>
            <p:cNvSpPr/>
            <p:nvPr/>
          </p:nvSpPr>
          <p:spPr>
            <a:xfrm>
              <a:off x="1920" y="2688"/>
              <a:ext cx="912" cy="240"/>
            </a:xfrm>
            <a:custGeom>
              <a:avLst/>
              <a:gdLst/>
              <a:ahLst/>
              <a:cxnLst/>
              <a:rect l="0" t="0" r="0" b="0"/>
              <a:pathLst>
                <a:path w="912" h="240">
                  <a:moveTo>
                    <a:pt x="0" y="0"/>
                  </a:moveTo>
                  <a:cubicBezTo>
                    <a:pt x="88" y="76"/>
                    <a:pt x="176" y="152"/>
                    <a:pt x="240" y="192"/>
                  </a:cubicBezTo>
                  <a:cubicBezTo>
                    <a:pt x="304" y="232"/>
                    <a:pt x="320" y="240"/>
                    <a:pt x="384" y="240"/>
                  </a:cubicBezTo>
                  <a:cubicBezTo>
                    <a:pt x="448" y="240"/>
                    <a:pt x="536" y="232"/>
                    <a:pt x="624" y="192"/>
                  </a:cubicBezTo>
                  <a:cubicBezTo>
                    <a:pt x="712" y="152"/>
                    <a:pt x="812" y="76"/>
                    <a:pt x="912" y="0"/>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90197" name="直接连接符 90196"/>
            <p:cNvSpPr/>
            <p:nvPr/>
          </p:nvSpPr>
          <p:spPr>
            <a:xfrm flipH="1" flipV="1">
              <a:off x="2976" y="2688"/>
              <a:ext cx="1008" cy="576"/>
            </a:xfrm>
            <a:prstGeom prst="line">
              <a:avLst/>
            </a:prstGeom>
            <a:ln w="28575" cap="flat" cmpd="sng">
              <a:solidFill>
                <a:srgbClr val="FF00FF"/>
              </a:solidFill>
              <a:prstDash val="solid"/>
              <a:headEnd type="none" w="med" len="med"/>
              <a:tailEnd type="stealth" w="lg" len="lg"/>
            </a:ln>
          </p:spPr>
        </p:sp>
        <p:sp>
          <p:nvSpPr>
            <p:cNvPr id="90198" name="直接连接符 90197"/>
            <p:cNvSpPr/>
            <p:nvPr/>
          </p:nvSpPr>
          <p:spPr>
            <a:xfrm flipH="1">
              <a:off x="816" y="2640"/>
              <a:ext cx="912" cy="528"/>
            </a:xfrm>
            <a:prstGeom prst="line">
              <a:avLst/>
            </a:prstGeom>
            <a:ln w="28575" cap="flat" cmpd="sng">
              <a:solidFill>
                <a:srgbClr val="FF00FF"/>
              </a:solidFill>
              <a:prstDash val="solid"/>
              <a:headEnd type="none" w="med" len="med"/>
              <a:tailEnd type="stealth" w="lg" len="lg"/>
            </a:ln>
          </p:spPr>
        </p:sp>
        <p:sp>
          <p:nvSpPr>
            <p:cNvPr id="90199" name="任意多边形 90198"/>
            <p:cNvSpPr/>
            <p:nvPr/>
          </p:nvSpPr>
          <p:spPr>
            <a:xfrm>
              <a:off x="864" y="3360"/>
              <a:ext cx="864" cy="168"/>
            </a:xfrm>
            <a:custGeom>
              <a:avLst/>
              <a:gdLst/>
              <a:ahLst/>
              <a:cxnLst/>
              <a:rect l="0" t="0" r="0" b="0"/>
              <a:pathLst>
                <a:path w="864" h="168">
                  <a:moveTo>
                    <a:pt x="0" y="0"/>
                  </a:moveTo>
                  <a:cubicBezTo>
                    <a:pt x="116" y="60"/>
                    <a:pt x="232" y="120"/>
                    <a:pt x="336" y="144"/>
                  </a:cubicBezTo>
                  <a:cubicBezTo>
                    <a:pt x="440" y="168"/>
                    <a:pt x="536" y="168"/>
                    <a:pt x="624" y="144"/>
                  </a:cubicBezTo>
                  <a:cubicBezTo>
                    <a:pt x="712" y="120"/>
                    <a:pt x="788" y="60"/>
                    <a:pt x="864" y="0"/>
                  </a:cubicBezTo>
                </a:path>
              </a:pathLst>
            </a:custGeom>
            <a:noFill/>
            <a:ln w="28575" cap="flat" cmpd="sng">
              <a:solidFill>
                <a:srgbClr val="FF00FF">
                  <a:alpha val="100000"/>
                </a:srgbClr>
              </a:solidFill>
              <a:prstDash val="solid"/>
              <a:headEnd type="none" w="med" len="med"/>
              <a:tailEnd type="stealth" w="lg" len="lg"/>
            </a:ln>
          </p:spPr>
          <p:txBody>
            <a:bodyPr/>
            <a:lstStyle/>
            <a:p>
              <a:endParaRPr lang="zh-CN" altLang="en-US"/>
            </a:p>
          </p:txBody>
        </p:sp>
        <p:sp>
          <p:nvSpPr>
            <p:cNvPr id="90200" name="直接连接符 90199"/>
            <p:cNvSpPr/>
            <p:nvPr/>
          </p:nvSpPr>
          <p:spPr>
            <a:xfrm flipV="1">
              <a:off x="1824" y="3360"/>
              <a:ext cx="0" cy="288"/>
            </a:xfrm>
            <a:prstGeom prst="line">
              <a:avLst/>
            </a:prstGeom>
            <a:ln w="28575" cap="flat" cmpd="sng">
              <a:solidFill>
                <a:srgbClr val="FF00FF"/>
              </a:solidFill>
              <a:prstDash val="solid"/>
              <a:headEnd type="none" w="med" len="med"/>
              <a:tailEnd type="stealth" w="lg" len="lg"/>
            </a:ln>
          </p:spPr>
        </p:sp>
      </p:grpSp>
      <p:sp>
        <p:nvSpPr>
          <p:cNvPr id="46" name="矩形 45"/>
          <p:cNvSpPr/>
          <p:nvPr/>
        </p:nvSpPr>
        <p:spPr>
          <a:xfrm>
            <a:off x="4266936" y="1865060"/>
            <a:ext cx="4855077" cy="1187263"/>
          </a:xfrm>
          <a:prstGeom prst="rect">
            <a:avLst/>
          </a:prstGeom>
          <a:solidFill>
            <a:srgbClr val="CCFFCC"/>
          </a:solidFill>
          <a:ln w="28575" cap="flat" cmpd="sng">
            <a:solidFill>
              <a:srgbClr val="00FF00"/>
            </a:solidFill>
            <a:prstDash val="solid"/>
            <a:miter/>
            <a:headEnd type="none" w="med" len="med"/>
            <a:tailEnd type="none" w="med" len="med"/>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800" b="1" i="0" u="none" kern="1200" baseline="0">
                <a:solidFill>
                  <a:schemeClr val="tx1"/>
                </a:solidFill>
                <a:latin typeface="Arial" panose="020B0604020202020204" pitchFamily="34" charset="0"/>
                <a:ea typeface="楷体_GB2312"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400" b="1" i="0" u="none" kern="1200" baseline="0">
                <a:solidFill>
                  <a:schemeClr val="tx1"/>
                </a:solidFill>
                <a:latin typeface="Arial" panose="020B0604020202020204" pitchFamily="34" charset="0"/>
                <a:ea typeface="华文楷体" panose="0201060004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2000" b="1" i="0" u="none" kern="1200" baseline="0">
                <a:solidFill>
                  <a:schemeClr val="tx1"/>
                </a:solidFill>
                <a:latin typeface="Arial" panose="020B0604020202020204" pitchFamily="34" charset="0"/>
                <a:ea typeface="华文楷体" panose="0201060004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Arial" panose="020B0604020202020204" pitchFamily="34" charset="0"/>
                <a:ea typeface="华文楷体" panose="02010600040101010101" pitchFamily="2" charset="-122"/>
              </a:defRPr>
            </a:lvl5pPr>
          </a:lstStyle>
          <a:p>
            <a:pPr lvl="0">
              <a:buNone/>
            </a:pPr>
            <a:r>
              <a:rPr lang="zh-CN" altLang="en-US" sz="2800" dirty="0">
                <a:solidFill>
                  <a:srgbClr val="000000"/>
                </a:solidFill>
              </a:rPr>
              <a:t>拓扑排序</a:t>
            </a:r>
            <a:r>
              <a:rPr lang="en-US" altLang="zh-CN" sz="2800" dirty="0">
                <a:solidFill>
                  <a:srgbClr val="000000"/>
                </a:solidFill>
              </a:rPr>
              <a:t>1</a:t>
            </a:r>
            <a:r>
              <a:rPr lang="zh-CN" altLang="en-US" sz="2800" dirty="0">
                <a:solidFill>
                  <a:srgbClr val="000000"/>
                </a:solidFill>
              </a:rPr>
              <a:t>：</a:t>
            </a:r>
            <a:endParaRPr lang="en-US" altLang="zh-CN" sz="2800" dirty="0">
              <a:solidFill>
                <a:srgbClr val="000000"/>
              </a:solidFill>
            </a:endParaRPr>
          </a:p>
          <a:p>
            <a:pPr lvl="0">
              <a:buNone/>
            </a:pPr>
            <a:r>
              <a:rPr lang="en-US" altLang="zh-CN" sz="2400" u="sng" dirty="0">
                <a:solidFill>
                  <a:srgbClr val="000000"/>
                </a:solidFill>
              </a:rPr>
              <a:t>1</a:t>
            </a:r>
            <a:r>
              <a:rPr lang="zh-CN" altLang="en-US" sz="2400" u="sng" dirty="0">
                <a:solidFill>
                  <a:srgbClr val="000000"/>
                </a:solidFill>
              </a:rPr>
              <a:t>，</a:t>
            </a:r>
            <a:r>
              <a:rPr lang="en-US" altLang="zh-CN" sz="2400" u="sng" dirty="0">
                <a:solidFill>
                  <a:srgbClr val="000000"/>
                </a:solidFill>
              </a:rPr>
              <a:t>2</a:t>
            </a:r>
            <a:r>
              <a:rPr lang="zh-CN" altLang="en-US" sz="2400" u="sng" dirty="0">
                <a:solidFill>
                  <a:srgbClr val="000000"/>
                </a:solidFill>
              </a:rPr>
              <a:t>，</a:t>
            </a:r>
            <a:r>
              <a:rPr lang="en-US" altLang="zh-CN" sz="2400" u="sng" dirty="0">
                <a:solidFill>
                  <a:srgbClr val="000000"/>
                </a:solidFill>
              </a:rPr>
              <a:t>3</a:t>
            </a:r>
            <a:r>
              <a:rPr lang="zh-CN" altLang="en-US" sz="2400" u="sng" dirty="0">
                <a:solidFill>
                  <a:srgbClr val="000000"/>
                </a:solidFill>
              </a:rPr>
              <a:t>，</a:t>
            </a:r>
            <a:r>
              <a:rPr lang="en-US" altLang="zh-CN" sz="2400" u="sng" dirty="0">
                <a:solidFill>
                  <a:srgbClr val="000000"/>
                </a:solidFill>
              </a:rPr>
              <a:t>4</a:t>
            </a:r>
            <a:r>
              <a:rPr lang="zh-CN" altLang="en-US" sz="2400" dirty="0">
                <a:solidFill>
                  <a:srgbClr val="000000"/>
                </a:solidFill>
              </a:rPr>
              <a:t>，</a:t>
            </a:r>
            <a:r>
              <a:rPr lang="en-US" altLang="zh-CN" sz="2400" dirty="0">
                <a:solidFill>
                  <a:srgbClr val="000000"/>
                </a:solidFill>
              </a:rPr>
              <a:t>5</a:t>
            </a:r>
            <a:r>
              <a:rPr lang="zh-CN" altLang="en-US" sz="2400" dirty="0">
                <a:solidFill>
                  <a:srgbClr val="000000"/>
                </a:solidFill>
              </a:rPr>
              <a:t>，</a:t>
            </a:r>
            <a:r>
              <a:rPr lang="en-US" altLang="zh-CN" sz="2400" u="sng" dirty="0">
                <a:solidFill>
                  <a:srgbClr val="000000"/>
                </a:solidFill>
              </a:rPr>
              <a:t>6</a:t>
            </a:r>
            <a:r>
              <a:rPr lang="zh-CN" altLang="en-US" sz="2400" u="sng" dirty="0">
                <a:solidFill>
                  <a:srgbClr val="000000"/>
                </a:solidFill>
              </a:rPr>
              <a:t>，</a:t>
            </a:r>
            <a:r>
              <a:rPr lang="en-US" altLang="zh-CN" sz="2400" u="sng" dirty="0">
                <a:solidFill>
                  <a:srgbClr val="000000"/>
                </a:solidFill>
              </a:rPr>
              <a:t>7</a:t>
            </a:r>
            <a:r>
              <a:rPr lang="zh-CN" altLang="en-US" sz="2400" dirty="0">
                <a:solidFill>
                  <a:srgbClr val="000000"/>
                </a:solidFill>
              </a:rPr>
              <a:t>，</a:t>
            </a:r>
            <a:r>
              <a:rPr lang="en-US" altLang="zh-CN" sz="2400" u="sng" dirty="0">
                <a:solidFill>
                  <a:srgbClr val="000000"/>
                </a:solidFill>
              </a:rPr>
              <a:t>8</a:t>
            </a:r>
            <a:r>
              <a:rPr lang="zh-CN" altLang="en-US" sz="2400" u="sng" dirty="0">
                <a:solidFill>
                  <a:srgbClr val="000000"/>
                </a:solidFill>
              </a:rPr>
              <a:t>，</a:t>
            </a:r>
            <a:r>
              <a:rPr lang="en-US" altLang="zh-CN" sz="2400" u="sng" dirty="0">
                <a:solidFill>
                  <a:srgbClr val="000000"/>
                </a:solidFill>
              </a:rPr>
              <a:t>9</a:t>
            </a:r>
            <a:r>
              <a:rPr lang="zh-CN" altLang="en-US" sz="2400" dirty="0">
                <a:solidFill>
                  <a:srgbClr val="000000"/>
                </a:solidFill>
              </a:rPr>
              <a:t>，</a:t>
            </a:r>
            <a:r>
              <a:rPr lang="en-US" altLang="zh-CN" sz="2400" dirty="0">
                <a:solidFill>
                  <a:srgbClr val="000000"/>
                </a:solidFill>
              </a:rPr>
              <a:t>10</a:t>
            </a:r>
          </a:p>
        </p:txBody>
      </p:sp>
      <p:sp>
        <p:nvSpPr>
          <p:cNvPr id="47" name="矩形 46"/>
          <p:cNvSpPr/>
          <p:nvPr/>
        </p:nvSpPr>
        <p:spPr>
          <a:xfrm>
            <a:off x="4288923" y="5077105"/>
            <a:ext cx="4855077" cy="1187263"/>
          </a:xfrm>
          <a:prstGeom prst="rect">
            <a:avLst/>
          </a:prstGeom>
          <a:solidFill>
            <a:srgbClr val="CCFFCC"/>
          </a:solidFill>
          <a:ln w="28575" cap="flat" cmpd="sng">
            <a:solidFill>
              <a:srgbClr val="00FF00"/>
            </a:solidFill>
            <a:prstDash val="solid"/>
            <a:miter/>
            <a:headEnd type="none" w="med" len="med"/>
            <a:tailEnd type="none" w="med" len="med"/>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800" b="1" i="0" u="none" kern="1200" baseline="0">
                <a:solidFill>
                  <a:schemeClr val="tx1"/>
                </a:solidFill>
                <a:latin typeface="Arial" panose="020B0604020202020204" pitchFamily="34" charset="0"/>
                <a:ea typeface="楷体_GB2312" pitchFamily="49" charset="-122"/>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400" b="1" i="0" u="none" kern="1200" baseline="0">
                <a:solidFill>
                  <a:schemeClr val="tx1"/>
                </a:solidFill>
                <a:latin typeface="Arial" panose="020B0604020202020204" pitchFamily="34" charset="0"/>
                <a:ea typeface="华文楷体" panose="0201060004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2000" b="1" i="0" u="none" kern="1200" baseline="0">
                <a:solidFill>
                  <a:schemeClr val="tx1"/>
                </a:solidFill>
                <a:latin typeface="Arial" panose="020B0604020202020204" pitchFamily="34" charset="0"/>
                <a:ea typeface="华文楷体" panose="0201060004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Arial" panose="020B0604020202020204" pitchFamily="34" charset="0"/>
                <a:ea typeface="华文楷体" panose="02010600040101010101" pitchFamily="2" charset="-122"/>
              </a:defRPr>
            </a:lvl5pPr>
          </a:lstStyle>
          <a:p>
            <a:pPr lvl="0">
              <a:buNone/>
            </a:pPr>
            <a:r>
              <a:rPr lang="zh-CN" altLang="en-US" sz="2800" dirty="0">
                <a:solidFill>
                  <a:srgbClr val="000000"/>
                </a:solidFill>
              </a:rPr>
              <a:t>拓扑排序</a:t>
            </a:r>
            <a:r>
              <a:rPr lang="en-US" altLang="zh-CN" sz="2800" dirty="0">
                <a:solidFill>
                  <a:srgbClr val="000000"/>
                </a:solidFill>
              </a:rPr>
              <a:t>2</a:t>
            </a:r>
            <a:r>
              <a:rPr lang="zh-CN" altLang="en-US" sz="2800" dirty="0">
                <a:solidFill>
                  <a:srgbClr val="000000"/>
                </a:solidFill>
              </a:rPr>
              <a:t>：</a:t>
            </a:r>
            <a:endParaRPr lang="en-US" altLang="zh-CN" sz="2800" dirty="0">
              <a:solidFill>
                <a:srgbClr val="000000"/>
              </a:solidFill>
            </a:endParaRPr>
          </a:p>
          <a:p>
            <a:pPr lvl="0">
              <a:buNone/>
            </a:pPr>
            <a:r>
              <a:rPr lang="en-US" altLang="zh-CN" sz="2400" u="sng" dirty="0">
                <a:solidFill>
                  <a:srgbClr val="000000"/>
                </a:solidFill>
              </a:rPr>
              <a:t>4</a:t>
            </a:r>
            <a:r>
              <a:rPr lang="zh-CN" altLang="en-US" sz="2400" u="sng" dirty="0">
                <a:solidFill>
                  <a:srgbClr val="000000"/>
                </a:solidFill>
              </a:rPr>
              <a:t>，</a:t>
            </a:r>
            <a:r>
              <a:rPr lang="en-US" altLang="zh-CN" sz="2400" u="sng" dirty="0">
                <a:solidFill>
                  <a:srgbClr val="000000"/>
                </a:solidFill>
              </a:rPr>
              <a:t>3</a:t>
            </a:r>
            <a:r>
              <a:rPr lang="zh-CN" altLang="en-US" sz="2400" u="sng" dirty="0">
                <a:solidFill>
                  <a:srgbClr val="000000"/>
                </a:solidFill>
              </a:rPr>
              <a:t>，</a:t>
            </a:r>
            <a:r>
              <a:rPr lang="en-US" altLang="zh-CN" sz="2400" u="sng" dirty="0">
                <a:solidFill>
                  <a:srgbClr val="000000"/>
                </a:solidFill>
              </a:rPr>
              <a:t>2</a:t>
            </a:r>
            <a:r>
              <a:rPr lang="zh-CN" altLang="en-US" sz="2400" u="sng" dirty="0">
                <a:solidFill>
                  <a:srgbClr val="000000"/>
                </a:solidFill>
              </a:rPr>
              <a:t>，</a:t>
            </a:r>
            <a:r>
              <a:rPr lang="en-US" altLang="zh-CN" sz="2400" u="sng" dirty="0">
                <a:solidFill>
                  <a:srgbClr val="000000"/>
                </a:solidFill>
              </a:rPr>
              <a:t>1</a:t>
            </a:r>
            <a:r>
              <a:rPr lang="zh-CN" altLang="en-US" sz="2400" dirty="0">
                <a:solidFill>
                  <a:srgbClr val="000000"/>
                </a:solidFill>
              </a:rPr>
              <a:t>，</a:t>
            </a:r>
            <a:r>
              <a:rPr lang="en-US" altLang="zh-CN" sz="2400" dirty="0">
                <a:solidFill>
                  <a:srgbClr val="000000"/>
                </a:solidFill>
              </a:rPr>
              <a:t>5</a:t>
            </a:r>
            <a:r>
              <a:rPr lang="zh-CN" altLang="en-US" sz="2400" dirty="0">
                <a:solidFill>
                  <a:srgbClr val="000000"/>
                </a:solidFill>
              </a:rPr>
              <a:t>，</a:t>
            </a:r>
            <a:r>
              <a:rPr lang="en-US" altLang="zh-CN" sz="2400" u="sng" dirty="0">
                <a:solidFill>
                  <a:srgbClr val="000000"/>
                </a:solidFill>
              </a:rPr>
              <a:t>7</a:t>
            </a:r>
            <a:r>
              <a:rPr lang="zh-CN" altLang="en-US" sz="2400" u="sng" dirty="0">
                <a:solidFill>
                  <a:srgbClr val="000000"/>
                </a:solidFill>
              </a:rPr>
              <a:t>，</a:t>
            </a:r>
            <a:r>
              <a:rPr lang="en-US" altLang="zh-CN" sz="2400" u="sng" dirty="0">
                <a:solidFill>
                  <a:srgbClr val="000000"/>
                </a:solidFill>
              </a:rPr>
              <a:t>6</a:t>
            </a:r>
            <a:r>
              <a:rPr lang="zh-CN" altLang="en-US" sz="2400" dirty="0">
                <a:solidFill>
                  <a:srgbClr val="000000"/>
                </a:solidFill>
              </a:rPr>
              <a:t>，</a:t>
            </a:r>
            <a:r>
              <a:rPr lang="en-US" altLang="zh-CN" sz="2400" u="sng" dirty="0">
                <a:solidFill>
                  <a:srgbClr val="000000"/>
                </a:solidFill>
              </a:rPr>
              <a:t>9</a:t>
            </a:r>
            <a:r>
              <a:rPr lang="zh-CN" altLang="en-US" sz="2400" u="sng" dirty="0">
                <a:solidFill>
                  <a:srgbClr val="000000"/>
                </a:solidFill>
              </a:rPr>
              <a:t>，</a:t>
            </a:r>
            <a:r>
              <a:rPr lang="en-US" altLang="zh-CN" sz="2400" u="sng" dirty="0">
                <a:solidFill>
                  <a:srgbClr val="000000"/>
                </a:solidFill>
              </a:rPr>
              <a:t>8</a:t>
            </a:r>
            <a:r>
              <a:rPr lang="zh-CN" altLang="en-US" sz="2400" dirty="0">
                <a:solidFill>
                  <a:srgbClr val="000000"/>
                </a:solidFill>
              </a:rPr>
              <a:t>，</a:t>
            </a:r>
            <a:r>
              <a:rPr lang="en-US" altLang="zh-CN" sz="2400" dirty="0">
                <a:solidFill>
                  <a:srgbClr val="000000"/>
                </a:solidFill>
              </a:rPr>
              <a:t>10</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lnSpcReduction="10000"/>
          </a:bodyPr>
          <a:lstStyle/>
          <a:p>
            <a:r>
              <a:rPr lang="zh-CN" altLang="en-US" dirty="0"/>
              <a:t>一、语法制导翻译概述</a:t>
            </a:r>
          </a:p>
          <a:p>
            <a:pPr lvl="0"/>
            <a:r>
              <a:rPr lang="zh-CN" altLang="en-US" dirty="0"/>
              <a:t>二、属性文法</a:t>
            </a:r>
          </a:p>
          <a:p>
            <a:pPr lvl="1"/>
            <a:r>
              <a:rPr lang="zh-CN" altLang="en-US" dirty="0"/>
              <a:t>综合属性与继承属性</a:t>
            </a:r>
          </a:p>
          <a:p>
            <a:pPr lvl="1"/>
            <a:r>
              <a:rPr lang="en-US" altLang="zh-CN" dirty="0"/>
              <a:t>S-</a:t>
            </a:r>
            <a:r>
              <a:rPr lang="zh-CN" altLang="en-US" dirty="0"/>
              <a:t>属性文法</a:t>
            </a:r>
          </a:p>
          <a:p>
            <a:pPr lvl="1"/>
            <a:r>
              <a:rPr lang="en-US" altLang="zh-CN" dirty="0"/>
              <a:t>L-</a:t>
            </a:r>
            <a:r>
              <a:rPr lang="zh-CN" altLang="en-US" dirty="0"/>
              <a:t>属性文法</a:t>
            </a:r>
          </a:p>
          <a:p>
            <a:pPr lvl="0"/>
            <a:r>
              <a:rPr lang="zh-CN" altLang="en-US" sz="3200" dirty="0">
                <a:solidFill>
                  <a:srgbClr val="FF0000"/>
                </a:solidFill>
              </a:rPr>
              <a:t>三、基于属性文法的语义计算</a:t>
            </a:r>
          </a:p>
          <a:p>
            <a:pPr lvl="1"/>
            <a:r>
              <a:rPr lang="zh-CN" altLang="en-US" dirty="0">
                <a:sym typeface="+mn-ea"/>
              </a:rPr>
              <a:t>基于</a:t>
            </a:r>
            <a:r>
              <a:rPr lang="en-US" altLang="zh-CN" dirty="0">
                <a:sym typeface="+mn-ea"/>
              </a:rPr>
              <a:t>S-</a:t>
            </a:r>
            <a:r>
              <a:rPr lang="zh-CN" altLang="en-US" dirty="0">
                <a:sym typeface="+mn-ea"/>
              </a:rPr>
              <a:t>属性文法的语义计算</a:t>
            </a:r>
            <a:endParaRPr lang="zh-CN" altLang="en-US" dirty="0"/>
          </a:p>
          <a:p>
            <a:pPr lvl="1"/>
            <a:r>
              <a:rPr lang="zh-CN" altLang="en-US" dirty="0">
                <a:sym typeface="+mn-ea"/>
              </a:rPr>
              <a:t>基于</a:t>
            </a:r>
            <a:r>
              <a:rPr lang="en-US" altLang="zh-CN" dirty="0">
                <a:sym typeface="+mn-ea"/>
              </a:rPr>
              <a:t>L-</a:t>
            </a:r>
            <a:r>
              <a:rPr lang="zh-CN" altLang="en-US" dirty="0">
                <a:sym typeface="+mn-ea"/>
              </a:rPr>
              <a:t>属性文法的语义计算</a:t>
            </a:r>
            <a:endParaRPr lang="zh-CN" altLang="en-US" dirty="0"/>
          </a:p>
          <a:p>
            <a:pPr lvl="0"/>
            <a:r>
              <a:rPr lang="zh-CN" altLang="en-US" sz="3200" dirty="0"/>
              <a:t>四、基于翻译模式的语义计算</a:t>
            </a:r>
          </a:p>
          <a:p>
            <a:pPr lvl="1"/>
            <a:r>
              <a:rPr lang="zh-CN" altLang="en-US" dirty="0">
                <a:sym typeface="+mn-ea"/>
              </a:rPr>
              <a:t>基于</a:t>
            </a:r>
            <a:r>
              <a:rPr lang="en-US" altLang="zh-CN" dirty="0">
                <a:sym typeface="+mn-ea"/>
              </a:rPr>
              <a:t>S-</a:t>
            </a:r>
            <a:r>
              <a:rPr lang="zh-CN" altLang="en-US" dirty="0">
                <a:sym typeface="+mn-ea"/>
              </a:rPr>
              <a:t>翻译模式的语义计算</a:t>
            </a:r>
            <a:endParaRPr lang="zh-CN" altLang="en-US" dirty="0"/>
          </a:p>
          <a:p>
            <a:pPr lvl="1"/>
            <a:r>
              <a:rPr lang="zh-CN" altLang="en-US" dirty="0">
                <a:sym typeface="+mn-ea"/>
              </a:rPr>
              <a:t>基于</a:t>
            </a:r>
            <a:r>
              <a:rPr lang="en-US" altLang="zh-CN" dirty="0">
                <a:sym typeface="+mn-ea"/>
              </a:rPr>
              <a:t>L-</a:t>
            </a:r>
            <a:r>
              <a:rPr lang="zh-CN" altLang="en-US" dirty="0">
                <a:sym typeface="+mn-ea"/>
              </a:rPr>
              <a:t>翻译模式的自顶向下语义计算</a:t>
            </a:r>
          </a:p>
          <a:p>
            <a:pPr lvl="1"/>
            <a:r>
              <a:rPr lang="zh-CN" altLang="en-US" dirty="0">
                <a:sym typeface="+mn-ea"/>
              </a:rPr>
              <a:t>基于</a:t>
            </a:r>
            <a:r>
              <a:rPr lang="en-US" altLang="zh-CN" dirty="0">
                <a:sym typeface="+mn-ea"/>
              </a:rPr>
              <a:t>S-</a:t>
            </a:r>
            <a:r>
              <a:rPr lang="zh-CN" altLang="en-US" dirty="0">
                <a:sym typeface="+mn-ea"/>
              </a:rPr>
              <a:t>翻译模式的自底向上语义计算</a:t>
            </a:r>
            <a:endParaRPr lang="zh-CN" altLang="en-US" dirty="0"/>
          </a:p>
          <a:p>
            <a:pPr lvl="1"/>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r>
              <a:rPr lang="zh-CN" altLang="en-US" dirty="0"/>
              <a:t>核心思想</a:t>
            </a:r>
            <a:endParaRPr lang="en-US" altLang="zh-CN" dirty="0"/>
          </a:p>
          <a:p>
            <a:r>
              <a:rPr lang="zh-CN" altLang="en-US" dirty="0"/>
              <a:t>继承属性</a:t>
            </a:r>
            <a:endParaRPr lang="en-US" altLang="zh-CN" dirty="0"/>
          </a:p>
          <a:p>
            <a:pPr lvl="1"/>
            <a:r>
              <a:rPr lang="zh-CN" altLang="en-US" dirty="0"/>
              <a:t>某一个节点的继承属性只依赖于该节点左边兄弟的属性（综合属性或继承属性）或者其父节点的继承属性。</a:t>
            </a:r>
            <a:endParaRPr lang="en-US" altLang="zh-CN" dirty="0"/>
          </a:p>
          <a:p>
            <a:pPr lvl="1"/>
            <a:r>
              <a:rPr lang="zh-CN" altLang="en-US" dirty="0">
                <a:solidFill>
                  <a:srgbClr val="FF0000"/>
                </a:solidFill>
              </a:rPr>
              <a:t>自顶向下计算继承属性的值</a:t>
            </a:r>
            <a:endParaRPr lang="en-US" altLang="zh-CN" dirty="0">
              <a:solidFill>
                <a:srgbClr val="FF0000"/>
              </a:solidFill>
            </a:endParaRPr>
          </a:p>
          <a:p>
            <a:r>
              <a:rPr lang="zh-CN" altLang="en-US" dirty="0"/>
              <a:t>综合属性</a:t>
            </a:r>
            <a:endParaRPr lang="en-US" altLang="zh-CN" dirty="0"/>
          </a:p>
          <a:p>
            <a:pPr lvl="1"/>
            <a:r>
              <a:rPr lang="zh-CN" altLang="en-US" dirty="0"/>
              <a:t>在分析树结点</a:t>
            </a:r>
            <a:r>
              <a:rPr lang="en-US" altLang="zh-CN" dirty="0"/>
              <a:t>N</a:t>
            </a:r>
            <a:r>
              <a:rPr lang="zh-CN" altLang="en-US" dirty="0"/>
              <a:t>上的非终结符</a:t>
            </a:r>
            <a:r>
              <a:rPr lang="en-US" altLang="zh-CN" dirty="0"/>
              <a:t>A</a:t>
            </a:r>
            <a:r>
              <a:rPr lang="zh-CN" altLang="en-US" dirty="0"/>
              <a:t>的综合属性只能通过</a:t>
            </a:r>
            <a:r>
              <a:rPr lang="en-US" altLang="zh-CN" dirty="0"/>
              <a:t>N</a:t>
            </a:r>
            <a:r>
              <a:rPr lang="zh-CN" altLang="en-US" dirty="0"/>
              <a:t>的子结点或</a:t>
            </a:r>
            <a:r>
              <a:rPr lang="en-US" altLang="zh-CN" dirty="0"/>
              <a:t>N</a:t>
            </a:r>
            <a:r>
              <a:rPr lang="zh-CN" altLang="en-US" dirty="0"/>
              <a:t>本身的属性值来定义。</a:t>
            </a:r>
            <a:endParaRPr lang="en-US" altLang="zh-CN" dirty="0"/>
          </a:p>
          <a:p>
            <a:pPr lvl="1"/>
            <a:r>
              <a:rPr lang="zh-CN" altLang="en-US" dirty="0">
                <a:solidFill>
                  <a:srgbClr val="FF0000"/>
                </a:solidFill>
              </a:rPr>
              <a:t>自底向上计算综合属性的值</a:t>
            </a:r>
          </a:p>
        </p:txBody>
      </p:sp>
      <p:sp>
        <p:nvSpPr>
          <p:cNvPr id="3" name="标题 2"/>
          <p:cNvSpPr>
            <a:spLocks noGrp="1"/>
          </p:cNvSpPr>
          <p:nvPr>
            <p:ph type="title"/>
          </p:nvPr>
        </p:nvSpPr>
        <p:spPr/>
        <p:txBody>
          <a:bodyPr/>
          <a:lstStyle/>
          <a:p>
            <a:r>
              <a:rPr lang="zh-CN" altLang="en-US" dirty="0">
                <a:latin typeface="Times New Roman" panose="02020603050405020304" pitchFamily="18" charset="0"/>
              </a:rPr>
              <a:t>三、基于属性文法的语义计算</a:t>
            </a:r>
            <a:endParaRPr lang="zh-CN" altLang="en-US" dirty="0"/>
          </a:p>
        </p:txBody>
      </p:sp>
      <p:sp>
        <p:nvSpPr>
          <p:cNvPr id="4" name="灯片编号占位符 3"/>
          <p:cNvSpPr>
            <a:spLocks noGrp="1"/>
          </p:cNvSpPr>
          <p:nvPr>
            <p:ph type="sldNum" sz="quarter" idx="4"/>
          </p:nvPr>
        </p:nvSpPr>
        <p:spPr/>
        <p:txBody>
          <a:bodyPr/>
          <a:lstStyle/>
          <a:p>
            <a:fld id="{565CE74E-AB26-4998-AD42-012C4C1AD076}" type="slidenum">
              <a:rPr lang="zh-CN" altLang="en-US" smtClean="0"/>
              <a:t>37</a:t>
            </a:fld>
            <a:endParaRPr lang="zh-CN" altLang="en-US"/>
          </a:p>
        </p:txBody>
      </p:sp>
    </p:spTree>
    <p:extLst>
      <p:ext uri="{BB962C8B-B14F-4D97-AF65-F5344CB8AC3E}">
        <p14:creationId xmlns:p14="http://schemas.microsoft.com/office/powerpoint/2010/main" val="315469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（一）基于</a:t>
            </a:r>
            <a:r>
              <a:rPr lang="en-US" altLang="zh-CN" dirty="0">
                <a:sym typeface="+mn-ea"/>
              </a:rPr>
              <a:t>S-</a:t>
            </a:r>
            <a:r>
              <a:rPr lang="zh-CN" altLang="en-US" dirty="0">
                <a:sym typeface="+mn-ea"/>
              </a:rPr>
              <a:t>属性文法的语义计算</a:t>
            </a:r>
          </a:p>
          <a:p>
            <a:pPr lvl="1"/>
            <a:r>
              <a:rPr lang="en-US" altLang="zh-CN" dirty="0">
                <a:solidFill>
                  <a:srgbClr val="FF3300"/>
                </a:solidFill>
                <a:sym typeface="+mn-ea"/>
              </a:rPr>
              <a:t>S-</a:t>
            </a:r>
            <a:r>
              <a:rPr lang="zh-CN" altLang="en-US" dirty="0">
                <a:solidFill>
                  <a:srgbClr val="FF3300"/>
                </a:solidFill>
                <a:sym typeface="+mn-ea"/>
              </a:rPr>
              <a:t>属性文法</a:t>
            </a:r>
            <a:r>
              <a:rPr lang="zh-CN" altLang="en-US" dirty="0">
                <a:sym typeface="+mn-ea"/>
              </a:rPr>
              <a:t>：只含有综合属性</a:t>
            </a:r>
            <a:endParaRPr lang="zh-CN" altLang="en-US" dirty="0"/>
          </a:p>
          <a:p>
            <a:pPr lvl="1"/>
            <a:r>
              <a:rPr lang="zh-CN" altLang="en-US" dirty="0">
                <a:sym typeface="+mn-ea"/>
              </a:rPr>
              <a:t>综合属性可以在分析输入符号串的同时由</a:t>
            </a:r>
            <a:r>
              <a:rPr lang="zh-CN" altLang="en-US" dirty="0">
                <a:solidFill>
                  <a:srgbClr val="FF0000"/>
                </a:solidFill>
                <a:sym typeface="+mn-ea"/>
              </a:rPr>
              <a:t>自下而上</a:t>
            </a:r>
            <a:r>
              <a:rPr lang="zh-CN" altLang="en-US" dirty="0">
                <a:sym typeface="+mn-ea"/>
              </a:rPr>
              <a:t>的分析器来计算（</a:t>
            </a:r>
            <a:r>
              <a:rPr lang="en-US" altLang="zh-CN" dirty="0">
                <a:sym typeface="+mn-ea"/>
              </a:rPr>
              <a:t>LR</a:t>
            </a:r>
            <a:r>
              <a:rPr lang="zh-CN" altLang="en-US" dirty="0">
                <a:sym typeface="+mn-ea"/>
              </a:rPr>
              <a:t>）。</a:t>
            </a:r>
            <a:endParaRPr lang="zh-CN" altLang="en-US" dirty="0"/>
          </a:p>
          <a:p>
            <a:pPr lvl="1"/>
            <a:r>
              <a:rPr lang="zh-CN" altLang="en-US" dirty="0">
                <a:sym typeface="+mn-ea"/>
              </a:rPr>
              <a:t>分析器</a:t>
            </a:r>
            <a:r>
              <a:rPr lang="zh-CN" altLang="en-US" dirty="0">
                <a:solidFill>
                  <a:srgbClr val="FF0000"/>
                </a:solidFill>
                <a:sym typeface="+mn-ea"/>
              </a:rPr>
              <a:t>可以保存与栈</a:t>
            </a:r>
            <a:r>
              <a:rPr lang="zh-CN" altLang="en-US" dirty="0">
                <a:sym typeface="+mn-ea"/>
              </a:rPr>
              <a:t>中文法符号有关的综合属性值，每当进行归约时，新的属性值就由栈中正在归约的产生式右边符号的属性值来计算。</a:t>
            </a:r>
            <a:endParaRPr lang="zh-CN" altLang="en-US" dirty="0"/>
          </a:p>
          <a:p>
            <a:pPr lvl="1"/>
            <a:endParaRPr lang="zh-CN" altLang="en-US" dirty="0">
              <a:sym typeface="+mn-ea"/>
            </a:endParaRPr>
          </a:p>
        </p:txBody>
      </p:sp>
      <p:sp>
        <p:nvSpPr>
          <p:cNvPr id="3" name="标题 2"/>
          <p:cNvSpPr>
            <a:spLocks noGrp="1"/>
          </p:cNvSpPr>
          <p:nvPr>
            <p:ph type="title"/>
          </p:nvPr>
        </p:nvSpPr>
        <p:spPr/>
        <p:txBody>
          <a:bodyPr/>
          <a:lstStyle/>
          <a:p>
            <a:r>
              <a:rPr lang="zh-CN" altLang="en-US" dirty="0"/>
              <a:t>三、基于属性文法的语义计算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语法分析技术：</a:t>
            </a:r>
            <a:r>
              <a:rPr lang="en-US" altLang="zh-CN" dirty="0"/>
              <a:t>LR</a:t>
            </a:r>
            <a:r>
              <a:rPr lang="zh-CN" altLang="en-US" dirty="0"/>
              <a:t>分析</a:t>
            </a:r>
          </a:p>
          <a:p>
            <a:r>
              <a:rPr lang="zh-CN" altLang="en-US" dirty="0"/>
              <a:t>可支持多个属性</a:t>
            </a:r>
            <a:endParaRPr lang="en-US" altLang="zh-CN" dirty="0"/>
          </a:p>
          <a:p>
            <a:pPr lvl="1"/>
            <a:r>
              <a:rPr lang="zh-CN" altLang="en-US" dirty="0"/>
              <a:t>使栈记录变得足够强大</a:t>
            </a:r>
            <a:endParaRPr lang="en-US" altLang="zh-CN" dirty="0"/>
          </a:p>
          <a:p>
            <a:pPr lvl="1"/>
            <a:r>
              <a:rPr lang="zh-CN" altLang="en-US" dirty="0"/>
              <a:t>在栈记录中存放指针</a:t>
            </a:r>
          </a:p>
        </p:txBody>
      </p:sp>
      <p:sp>
        <p:nvSpPr>
          <p:cNvPr id="3" name="标题 2"/>
          <p:cNvSpPr>
            <a:spLocks noGrp="1"/>
          </p:cNvSpPr>
          <p:nvPr>
            <p:ph type="title"/>
          </p:nvPr>
        </p:nvSpPr>
        <p:spPr/>
        <p:txBody>
          <a:bodyPr/>
          <a:lstStyle/>
          <a:p>
            <a:endParaRPr lang="zh-CN"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749" y="2989314"/>
            <a:ext cx="6108032" cy="3604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4"/>
          </p:nvPr>
        </p:nvSpPr>
        <p:spPr/>
        <p:txBody>
          <a:bodyPr/>
          <a:lstStyle/>
          <a:p>
            <a:fld id="{565CE74E-AB26-4998-AD42-012C4C1AD076}" type="slidenum">
              <a:rPr lang="zh-CN" altLang="en-US" smtClean="0"/>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Times New Roman" panose="02020603050405020304" pitchFamily="18" charset="0"/>
              </a:rPr>
              <a:t>语法分析技术：</a:t>
            </a:r>
            <a:r>
              <a:rPr lang="en-US" altLang="zh-CN" dirty="0">
                <a:latin typeface="Times New Roman" panose="02020603050405020304" pitchFamily="18" charset="0"/>
              </a:rPr>
              <a:t>LR</a:t>
            </a:r>
            <a:r>
              <a:rPr lang="zh-CN" altLang="en-US" dirty="0">
                <a:latin typeface="Times New Roman" panose="02020603050405020304" pitchFamily="18" charset="0"/>
              </a:rPr>
              <a:t>分析</a:t>
            </a:r>
          </a:p>
        </p:txBody>
      </p:sp>
      <p:sp>
        <p:nvSpPr>
          <p:cNvPr id="3" name="标题 2"/>
          <p:cNvSpPr>
            <a:spLocks noGrp="1"/>
          </p:cNvSpPr>
          <p:nvPr>
            <p:ph type="title"/>
          </p:nvPr>
        </p:nvSpPr>
        <p:spPr/>
        <p:txBody>
          <a:bodyPr/>
          <a:lstStyle/>
          <a:p>
            <a:r>
              <a:rPr lang="zh-CN" altLang="en-US" dirty="0">
                <a:latin typeface="Times New Roman" panose="02020603050405020304" pitchFamily="18" charset="0"/>
              </a:rPr>
              <a:t>三、基于属性文法的语义计算</a:t>
            </a:r>
          </a:p>
        </p:txBody>
      </p:sp>
      <p:sp>
        <p:nvSpPr>
          <p:cNvPr id="104451" name="文本占位符 104450"/>
          <p:cNvSpPr>
            <a:spLocks noGrp="1" noRot="1"/>
          </p:cNvSpPr>
          <p:nvPr/>
        </p:nvSpPr>
        <p:spPr>
          <a:xfrm>
            <a:off x="609600" y="1600200"/>
            <a:ext cx="8153400" cy="44989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hlink"/>
              </a:buClr>
              <a:buFont typeface="Wingdings" panose="05000000000000000000" pitchFamily="2" charset="2"/>
              <a:buChar char="§"/>
              <a:defRPr sz="3200" b="1"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2"/>
              </a:buClr>
              <a:buSzPct val="85000"/>
              <a:buFont typeface="Wingdings" panose="05000000000000000000" pitchFamily="2" charset="2"/>
              <a:buChar char="Ø"/>
              <a:defRPr sz="2800" b="1" i="0" u="none" kern="1200" baseline="0">
                <a:solidFill>
                  <a:schemeClr val="tx1"/>
                </a:solidFill>
                <a:latin typeface="+mn-lt"/>
                <a:ea typeface="楷体_GB2312" pitchFamily="49" charset="-122"/>
                <a:cs typeface="+mn-cs"/>
              </a:defRPr>
            </a:lvl2pPr>
            <a:lvl3pPr marL="1143000" lvl="2" indent="-228600" algn="l" defTabSz="914400" rtl="0" eaLnBrk="1" fontAlgn="base" latinLnBrk="0" hangingPunct="1">
              <a:lnSpc>
                <a:spcPct val="100000"/>
              </a:lnSpc>
              <a:spcBef>
                <a:spcPct val="20000"/>
              </a:spcBef>
              <a:spcAft>
                <a:spcPct val="0"/>
              </a:spcAft>
              <a:buClr>
                <a:schemeClr val="hlink"/>
              </a:buClr>
              <a:buSzPct val="95000"/>
              <a:buFont typeface="Wingdings" panose="05000000000000000000" pitchFamily="2" charset="2"/>
              <a:buChar char="¡"/>
              <a:defRPr sz="2400" b="1" i="0" u="none" kern="1200" baseline="0">
                <a:solidFill>
                  <a:schemeClr val="tx1"/>
                </a:solidFill>
                <a:latin typeface="+mn-lt"/>
                <a:ea typeface="华文楷体" panose="02010600040101010101" pitchFamily="2" charset="-122"/>
                <a:cs typeface="+mn-cs"/>
              </a:defRPr>
            </a:lvl3pPr>
            <a:lvl4pPr marL="1600200" lvl="3" indent="-228600" algn="l" defTabSz="914400" rtl="0" eaLnBrk="1" fontAlgn="base" latinLnBrk="0" hangingPunct="1">
              <a:lnSpc>
                <a:spcPct val="100000"/>
              </a:lnSpc>
              <a:spcBef>
                <a:spcPct val="20000"/>
              </a:spcBef>
              <a:spcAft>
                <a:spcPct val="0"/>
              </a:spcAft>
              <a:buClr>
                <a:schemeClr val="tx2"/>
              </a:buClr>
              <a:buSzPct val="90000"/>
              <a:buFont typeface="Wingdings" panose="05000000000000000000" pitchFamily="2" charset="2"/>
              <a:buChar char="Ø"/>
              <a:defRPr sz="2000" b="1" i="0" u="none" kern="1200" baseline="0">
                <a:solidFill>
                  <a:schemeClr val="tx1"/>
                </a:solidFill>
                <a:latin typeface="+mn-lt"/>
                <a:ea typeface="华文楷体" panose="02010600040101010101" pitchFamily="2" charset="-122"/>
                <a:cs typeface="+mn-cs"/>
              </a:defRPr>
            </a:lvl4pPr>
            <a:lvl5pPr marL="2057400" lvl="4"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mn-lt"/>
                <a:ea typeface="华文楷体" panose="02010600040101010101" pitchFamily="2" charset="-122"/>
                <a:cs typeface="+mn-cs"/>
              </a:defRPr>
            </a:lvl5pPr>
            <a:lvl6pPr marL="2514600" lvl="5"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mn-lt"/>
                <a:ea typeface="华文楷体" panose="02010600040101010101" pitchFamily="2" charset="-122"/>
                <a:cs typeface="+mn-cs"/>
              </a:defRPr>
            </a:lvl6pPr>
            <a:lvl7pPr marL="2971800" lvl="6"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mn-lt"/>
                <a:ea typeface="华文楷体" panose="02010600040101010101" pitchFamily="2" charset="-122"/>
                <a:cs typeface="+mn-cs"/>
              </a:defRPr>
            </a:lvl7pPr>
            <a:lvl8pPr marL="3429000" lvl="7"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mn-lt"/>
                <a:ea typeface="华文楷体" panose="02010600040101010101" pitchFamily="2" charset="-122"/>
                <a:cs typeface="+mn-cs"/>
              </a:defRPr>
            </a:lvl8pPr>
            <a:lvl9pPr marL="3886200" lvl="8" indent="-228600" algn="l" defTabSz="914400" rtl="0" eaLnBrk="1" fontAlgn="base" latinLnBrk="0" hangingPunct="1">
              <a:lnSpc>
                <a:spcPct val="100000"/>
              </a:lnSpc>
              <a:spcBef>
                <a:spcPct val="20000"/>
              </a:spcBef>
              <a:spcAft>
                <a:spcPct val="0"/>
              </a:spcAft>
              <a:buClr>
                <a:schemeClr val="hlink"/>
              </a:buClr>
              <a:buFont typeface="Wingdings 2" panose="05020102010507070707" pitchFamily="18" charset="2"/>
              <a:buChar char="¡"/>
              <a:defRPr sz="2000" b="1" i="0" u="none" kern="1200" baseline="0">
                <a:solidFill>
                  <a:schemeClr val="tx1"/>
                </a:solidFill>
                <a:latin typeface="+mn-lt"/>
                <a:ea typeface="华文楷体" panose="02010600040101010101" pitchFamily="2" charset="-122"/>
                <a:cs typeface="+mn-cs"/>
              </a:defRPr>
            </a:lvl9pPr>
          </a:lstStyle>
          <a:p>
            <a:r>
              <a:rPr lang="zh-CN" altLang="en-US" dirty="0">
                <a:solidFill>
                  <a:srgbClr val="0206AD"/>
                </a:solidFill>
                <a:latin typeface="Times New Roman" panose="02020603050405020304" pitchFamily="18" charset="0"/>
              </a:rPr>
              <a:t>在分析栈中使用一个</a:t>
            </a:r>
            <a:r>
              <a:rPr lang="zh-CN" altLang="en-US" dirty="0">
                <a:solidFill>
                  <a:srgbClr val="FF0000"/>
                </a:solidFill>
                <a:latin typeface="Times New Roman" panose="02020603050405020304" pitchFamily="18" charset="0"/>
              </a:rPr>
              <a:t>附加的域</a:t>
            </a:r>
            <a:r>
              <a:rPr lang="zh-CN" altLang="en-US" dirty="0">
                <a:solidFill>
                  <a:srgbClr val="0206AD"/>
                </a:solidFill>
                <a:latin typeface="Times New Roman" panose="02020603050405020304" pitchFamily="18" charset="0"/>
              </a:rPr>
              <a:t>来存放综合属性值 </a:t>
            </a:r>
          </a:p>
          <a:p>
            <a:r>
              <a:rPr lang="zh-CN" altLang="en-US" dirty="0">
                <a:solidFill>
                  <a:srgbClr val="0206AD"/>
                </a:solidFill>
                <a:latin typeface="Times New Roman" panose="02020603050405020304" pitchFamily="18" charset="0"/>
              </a:rPr>
              <a:t>假设</a:t>
            </a:r>
            <a:r>
              <a:rPr lang="zh-CN" altLang="en-US" dirty="0">
                <a:solidFill>
                  <a:srgbClr val="FF0000"/>
                </a:solidFill>
                <a:latin typeface="Times New Roman" panose="02020603050405020304" pitchFamily="18" charset="0"/>
              </a:rPr>
              <a:t>语义规则</a:t>
            </a:r>
            <a:r>
              <a:rPr lang="en-US" altLang="zh-CN" dirty="0" err="1">
                <a:solidFill>
                  <a:srgbClr val="0206AD"/>
                </a:solidFill>
                <a:latin typeface="Times New Roman" panose="02020603050405020304" pitchFamily="18" charset="0"/>
              </a:rPr>
              <a:t>A.a:=f(X.x,Y.y,Z.z</a:t>
            </a:r>
            <a:r>
              <a:rPr lang="en-US" altLang="zh-CN" dirty="0">
                <a:solidFill>
                  <a:srgbClr val="0206AD"/>
                </a:solidFill>
                <a:latin typeface="Times New Roman" panose="02020603050405020304" pitchFamily="18" charset="0"/>
              </a:rPr>
              <a:t>)</a:t>
            </a:r>
            <a:r>
              <a:rPr lang="zh-CN" altLang="en-US" dirty="0">
                <a:solidFill>
                  <a:srgbClr val="0206AD"/>
                </a:solidFill>
                <a:latin typeface="Times New Roman" panose="02020603050405020304" pitchFamily="18" charset="0"/>
              </a:rPr>
              <a:t>是对应于产生式</a:t>
            </a:r>
            <a:r>
              <a:rPr lang="en-US" altLang="zh-CN" dirty="0">
                <a:solidFill>
                  <a:srgbClr val="0206AD"/>
                </a:solidFill>
                <a:latin typeface="Times New Roman" panose="02020603050405020304" pitchFamily="18" charset="0"/>
              </a:rPr>
              <a:t>A→XYZ</a:t>
            </a:r>
            <a:r>
              <a:rPr lang="zh-CN" altLang="en-US" dirty="0">
                <a:solidFill>
                  <a:srgbClr val="0206AD"/>
                </a:solidFill>
                <a:latin typeface="Times New Roman" panose="02020603050405020304" pitchFamily="18" charset="0"/>
              </a:rPr>
              <a:t>的 </a:t>
            </a:r>
            <a:endParaRPr lang="en-US" altLang="zh-CN" dirty="0">
              <a:solidFill>
                <a:srgbClr val="0206AD"/>
              </a:solidFill>
              <a:latin typeface="Times New Roman" panose="02020603050405020304" pitchFamily="18" charset="0"/>
            </a:endParaRPr>
          </a:p>
          <a:p>
            <a:endParaRPr lang="en-US" altLang="zh-CN" dirty="0">
              <a:solidFill>
                <a:srgbClr val="0206AD"/>
              </a:solidFill>
              <a:latin typeface="Times New Roman" panose="02020603050405020304" pitchFamily="18" charset="0"/>
            </a:endParaRPr>
          </a:p>
          <a:p>
            <a:endParaRPr lang="en-US" altLang="zh-CN" dirty="0">
              <a:solidFill>
                <a:srgbClr val="0206AD"/>
              </a:solidFill>
              <a:latin typeface="Times New Roman" panose="02020603050405020304" pitchFamily="18" charset="0"/>
            </a:endParaRPr>
          </a:p>
          <a:p>
            <a:endParaRPr lang="en-US" altLang="zh-CN" dirty="0">
              <a:solidFill>
                <a:srgbClr val="0206AD"/>
              </a:solidFill>
              <a:latin typeface="Times New Roman" panose="02020603050405020304" pitchFamily="18" charset="0"/>
            </a:endParaRPr>
          </a:p>
          <a:p>
            <a:r>
              <a:rPr lang="zh-CN" altLang="en-US" sz="2000" dirty="0">
                <a:solidFill>
                  <a:srgbClr val="0206AD"/>
                </a:solidFill>
                <a:latin typeface="Times New Roman" panose="02020603050405020304" pitchFamily="18" charset="0"/>
              </a:rPr>
              <a:t>在 </a:t>
            </a:r>
            <a:r>
              <a:rPr lang="en-US" altLang="zh-CN" sz="2000" dirty="0">
                <a:solidFill>
                  <a:srgbClr val="0206AD"/>
                </a:solidFill>
                <a:latin typeface="Times New Roman" panose="02020603050405020304" pitchFamily="18" charset="0"/>
              </a:rPr>
              <a:t>XYZ </a:t>
            </a:r>
            <a:r>
              <a:rPr lang="zh-CN" altLang="en-US" sz="2000" dirty="0">
                <a:solidFill>
                  <a:srgbClr val="0206AD"/>
                </a:solidFill>
                <a:latin typeface="Times New Roman" panose="02020603050405020304" pitchFamily="18" charset="0"/>
              </a:rPr>
              <a:t>归约为 </a:t>
            </a:r>
            <a:r>
              <a:rPr lang="en-US" altLang="zh-CN" sz="2000" dirty="0">
                <a:solidFill>
                  <a:srgbClr val="0206AD"/>
                </a:solidFill>
                <a:latin typeface="Times New Roman" panose="02020603050405020304" pitchFamily="18" charset="0"/>
              </a:rPr>
              <a:t>A </a:t>
            </a:r>
            <a:r>
              <a:rPr lang="zh-CN" altLang="en-US" sz="2000" dirty="0">
                <a:solidFill>
                  <a:srgbClr val="0206AD"/>
                </a:solidFill>
                <a:latin typeface="Times New Roman" panose="02020603050405020304" pitchFamily="18" charset="0"/>
              </a:rPr>
              <a:t>之前，</a:t>
            </a:r>
            <a:r>
              <a:rPr lang="en-US" altLang="zh-CN" sz="2000" dirty="0" err="1">
                <a:solidFill>
                  <a:srgbClr val="0206AD"/>
                </a:solidFill>
                <a:latin typeface="Times New Roman" panose="02020603050405020304" pitchFamily="18" charset="0"/>
              </a:rPr>
              <a:t>Z.z</a:t>
            </a:r>
            <a:r>
              <a:rPr lang="en-US" altLang="zh-CN" sz="2000" dirty="0">
                <a:solidFill>
                  <a:srgbClr val="0206AD"/>
                </a:solidFill>
                <a:latin typeface="Times New Roman" panose="02020603050405020304" pitchFamily="18" charset="0"/>
              </a:rPr>
              <a:t>, </a:t>
            </a:r>
            <a:r>
              <a:rPr lang="en-US" altLang="zh-CN" sz="2000" dirty="0" err="1">
                <a:solidFill>
                  <a:srgbClr val="0206AD"/>
                </a:solidFill>
                <a:latin typeface="Times New Roman" panose="02020603050405020304" pitchFamily="18" charset="0"/>
              </a:rPr>
              <a:t>Y.y</a:t>
            </a:r>
            <a:r>
              <a:rPr lang="en-US" altLang="zh-CN" sz="2000" dirty="0">
                <a:solidFill>
                  <a:srgbClr val="0206AD"/>
                </a:solidFill>
                <a:latin typeface="Times New Roman" panose="02020603050405020304" pitchFamily="18" charset="0"/>
              </a:rPr>
              <a:t>, </a:t>
            </a:r>
            <a:r>
              <a:rPr lang="zh-CN" altLang="en-US" sz="2000" dirty="0">
                <a:solidFill>
                  <a:srgbClr val="0206AD"/>
                </a:solidFill>
                <a:latin typeface="Times New Roman" panose="02020603050405020304" pitchFamily="18" charset="0"/>
              </a:rPr>
              <a:t>和 </a:t>
            </a:r>
            <a:r>
              <a:rPr lang="en-US" altLang="zh-CN" sz="2000" dirty="0" err="1">
                <a:solidFill>
                  <a:srgbClr val="0206AD"/>
                </a:solidFill>
                <a:latin typeface="Times New Roman" panose="02020603050405020304" pitchFamily="18" charset="0"/>
              </a:rPr>
              <a:t>X.x</a:t>
            </a:r>
            <a:r>
              <a:rPr lang="en-US" altLang="zh-CN" sz="2000" dirty="0">
                <a:solidFill>
                  <a:srgbClr val="0206AD"/>
                </a:solidFill>
                <a:latin typeface="Times New Roman" panose="02020603050405020304" pitchFamily="18" charset="0"/>
              </a:rPr>
              <a:t> </a:t>
            </a:r>
            <a:r>
              <a:rPr lang="zh-CN" altLang="en-US" sz="2000" dirty="0">
                <a:solidFill>
                  <a:srgbClr val="0206AD"/>
                </a:solidFill>
                <a:latin typeface="Times New Roman" panose="02020603050405020304" pitchFamily="18" charset="0"/>
              </a:rPr>
              <a:t>分别存放于语义栈的 </a:t>
            </a:r>
            <a:r>
              <a:rPr lang="en-US" altLang="zh-CN" sz="2000" dirty="0">
                <a:solidFill>
                  <a:srgbClr val="0206AD"/>
                </a:solidFill>
                <a:latin typeface="Times New Roman" panose="02020603050405020304" pitchFamily="18" charset="0"/>
              </a:rPr>
              <a:t>top</a:t>
            </a:r>
            <a:r>
              <a:rPr lang="zh-CN" altLang="en-US" sz="2000" dirty="0">
                <a:solidFill>
                  <a:srgbClr val="0206AD"/>
                </a:solidFill>
                <a:latin typeface="Times New Roman" panose="02020603050405020304" pitchFamily="18" charset="0"/>
              </a:rPr>
              <a:t>，</a:t>
            </a:r>
            <a:r>
              <a:rPr lang="en-US" altLang="zh-CN" sz="2000" dirty="0">
                <a:solidFill>
                  <a:srgbClr val="0206AD"/>
                </a:solidFill>
                <a:latin typeface="Times New Roman" panose="02020603050405020304" pitchFamily="18" charset="0"/>
              </a:rPr>
              <a:t>top-1 </a:t>
            </a:r>
            <a:r>
              <a:rPr lang="zh-CN" altLang="en-US" sz="2000" dirty="0">
                <a:solidFill>
                  <a:srgbClr val="0206AD"/>
                </a:solidFill>
                <a:latin typeface="Times New Roman" panose="02020603050405020304" pitchFamily="18" charset="0"/>
              </a:rPr>
              <a:t>和 </a:t>
            </a:r>
            <a:r>
              <a:rPr lang="en-US" altLang="zh-CN" sz="2000" dirty="0">
                <a:solidFill>
                  <a:srgbClr val="0206AD"/>
                </a:solidFill>
                <a:latin typeface="Times New Roman" panose="02020603050405020304" pitchFamily="18" charset="0"/>
              </a:rPr>
              <a:t>top-2 </a:t>
            </a:r>
            <a:r>
              <a:rPr lang="zh-CN" altLang="en-US" sz="2000" dirty="0">
                <a:solidFill>
                  <a:srgbClr val="0206AD"/>
                </a:solidFill>
                <a:latin typeface="Times New Roman" panose="02020603050405020304" pitchFamily="18" charset="0"/>
              </a:rPr>
              <a:t>的相应域中，因此 </a:t>
            </a:r>
            <a:r>
              <a:rPr lang="en-US" altLang="zh-CN" sz="2000" dirty="0" err="1">
                <a:solidFill>
                  <a:srgbClr val="0206AD"/>
                </a:solidFill>
                <a:latin typeface="Times New Roman" panose="02020603050405020304" pitchFamily="18" charset="0"/>
              </a:rPr>
              <a:t>A.a</a:t>
            </a:r>
            <a:r>
              <a:rPr lang="en-US" altLang="zh-CN" sz="2000" dirty="0">
                <a:solidFill>
                  <a:srgbClr val="0206AD"/>
                </a:solidFill>
                <a:latin typeface="Times New Roman" panose="02020603050405020304" pitchFamily="18" charset="0"/>
              </a:rPr>
              <a:t> </a:t>
            </a:r>
            <a:r>
              <a:rPr lang="zh-CN" altLang="en-US" sz="2000" dirty="0">
                <a:solidFill>
                  <a:srgbClr val="0206AD"/>
                </a:solidFill>
                <a:latin typeface="Times New Roman" panose="02020603050405020304" pitchFamily="18" charset="0"/>
              </a:rPr>
              <a:t>可以顺利求出。</a:t>
            </a:r>
            <a:endParaRPr lang="en-US" altLang="zh-CN" sz="2000" dirty="0">
              <a:solidFill>
                <a:srgbClr val="0206AD"/>
              </a:solidFill>
              <a:latin typeface="Times New Roman" panose="02020603050405020304" pitchFamily="18" charset="0"/>
            </a:endParaRPr>
          </a:p>
          <a:p>
            <a:r>
              <a:rPr lang="zh-CN" altLang="en-US" sz="2000" dirty="0">
                <a:solidFill>
                  <a:srgbClr val="0206AD"/>
                </a:solidFill>
                <a:latin typeface="Times New Roman" panose="02020603050405020304" pitchFamily="18" charset="0"/>
              </a:rPr>
              <a:t>归约后，</a:t>
            </a:r>
            <a:r>
              <a:rPr lang="en-US" altLang="zh-CN" sz="2000" dirty="0" err="1">
                <a:solidFill>
                  <a:srgbClr val="0206AD"/>
                </a:solidFill>
                <a:latin typeface="Times New Roman" panose="02020603050405020304" pitchFamily="18" charset="0"/>
              </a:rPr>
              <a:t>X.x</a:t>
            </a:r>
            <a:r>
              <a:rPr lang="en-US" altLang="zh-CN" sz="2000" dirty="0">
                <a:solidFill>
                  <a:srgbClr val="0206AD"/>
                </a:solidFill>
                <a:latin typeface="Times New Roman" panose="02020603050405020304" pitchFamily="18" charset="0"/>
              </a:rPr>
              <a:t>, </a:t>
            </a:r>
            <a:r>
              <a:rPr lang="en-US" altLang="zh-CN" sz="2000" dirty="0" err="1">
                <a:solidFill>
                  <a:srgbClr val="0206AD"/>
                </a:solidFill>
                <a:latin typeface="Times New Roman" panose="02020603050405020304" pitchFamily="18" charset="0"/>
              </a:rPr>
              <a:t>Y.y</a:t>
            </a:r>
            <a:r>
              <a:rPr lang="en-US" altLang="zh-CN" sz="2000" dirty="0">
                <a:solidFill>
                  <a:srgbClr val="0206AD"/>
                </a:solidFill>
                <a:latin typeface="Times New Roman" panose="02020603050405020304" pitchFamily="18" charset="0"/>
              </a:rPr>
              <a:t>, </a:t>
            </a:r>
            <a:r>
              <a:rPr lang="en-US" altLang="zh-CN" sz="2000" dirty="0" err="1">
                <a:solidFill>
                  <a:srgbClr val="0206AD"/>
                </a:solidFill>
                <a:latin typeface="Times New Roman" panose="02020603050405020304" pitchFamily="18" charset="0"/>
              </a:rPr>
              <a:t>Z.z</a:t>
            </a:r>
            <a:r>
              <a:rPr lang="en-US" altLang="zh-CN" sz="2000" dirty="0">
                <a:solidFill>
                  <a:srgbClr val="0206AD"/>
                </a:solidFill>
                <a:latin typeface="Times New Roman" panose="02020603050405020304" pitchFamily="18" charset="0"/>
              </a:rPr>
              <a:t> </a:t>
            </a:r>
            <a:r>
              <a:rPr lang="zh-CN" altLang="en-US" sz="2000" dirty="0">
                <a:solidFill>
                  <a:srgbClr val="0206AD"/>
                </a:solidFill>
                <a:latin typeface="Times New Roman" panose="02020603050405020304" pitchFamily="18" charset="0"/>
              </a:rPr>
              <a:t>被弹出，而在栈顶 </a:t>
            </a:r>
            <a:r>
              <a:rPr lang="en-US" altLang="zh-CN" sz="2000" dirty="0">
                <a:solidFill>
                  <a:srgbClr val="0206AD"/>
                </a:solidFill>
                <a:latin typeface="Times New Roman" panose="02020603050405020304" pitchFamily="18" charset="0"/>
              </a:rPr>
              <a:t>top </a:t>
            </a:r>
            <a:r>
              <a:rPr lang="zh-CN" altLang="en-US" sz="2000" dirty="0">
                <a:solidFill>
                  <a:srgbClr val="0206AD"/>
                </a:solidFill>
                <a:latin typeface="Times New Roman" panose="02020603050405020304" pitchFamily="18" charset="0"/>
              </a:rPr>
              <a:t>的位置上存放 </a:t>
            </a:r>
            <a:r>
              <a:rPr lang="en-US" altLang="zh-CN" sz="2000" dirty="0" err="1">
                <a:solidFill>
                  <a:srgbClr val="0206AD"/>
                </a:solidFill>
                <a:latin typeface="Times New Roman" panose="02020603050405020304" pitchFamily="18" charset="0"/>
              </a:rPr>
              <a:t>A.a</a:t>
            </a:r>
            <a:r>
              <a:rPr lang="zh-CN" altLang="en-US" sz="2000" dirty="0">
                <a:solidFill>
                  <a:srgbClr val="0206AD"/>
                </a:solidFill>
                <a:latin typeface="Times New Roman" panose="02020603050405020304" pitchFamily="18" charset="0"/>
              </a:rPr>
              <a:t>。 </a:t>
            </a:r>
          </a:p>
          <a:p>
            <a:endParaRPr lang="zh-CN" altLang="en-US" dirty="0">
              <a:solidFill>
                <a:srgbClr val="0206AD"/>
              </a:solidFill>
              <a:latin typeface="Times New Roman" panose="02020603050405020304" pitchFamily="18" charset="0"/>
            </a:endParaRPr>
          </a:p>
        </p:txBody>
      </p:sp>
      <p:pic>
        <p:nvPicPr>
          <p:cNvPr id="20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006" y="3720254"/>
            <a:ext cx="6744049" cy="1712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2392" y="3682416"/>
            <a:ext cx="7042148" cy="1787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灯片编号占位符 3"/>
          <p:cNvSpPr>
            <a:spLocks noGrp="1"/>
          </p:cNvSpPr>
          <p:nvPr>
            <p:ph type="sldNum" sz="quarter" idx="4"/>
          </p:nvPr>
        </p:nvSpPr>
        <p:spPr/>
        <p:txBody>
          <a:bodyPr/>
          <a:lstStyle/>
          <a:p>
            <a:fld id="{565CE74E-AB26-4998-AD42-012C4C1AD076}" type="slidenum">
              <a:rPr lang="zh-CN" altLang="en-US" smtClean="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基于</a:t>
            </a:r>
            <a:r>
              <a:rPr lang="en-US" altLang="zh-CN" dirty="0"/>
              <a:t>S-</a:t>
            </a:r>
            <a:r>
              <a:rPr lang="zh-CN" altLang="en-US" dirty="0"/>
              <a:t>属性文法的语义计算举例</a:t>
            </a:r>
            <a:endParaRPr lang="en-US" altLang="zh-CN" dirty="0"/>
          </a:p>
          <a:p>
            <a:pPr lvl="1"/>
            <a:r>
              <a:rPr lang="zh-CN" altLang="en-US" dirty="0">
                <a:solidFill>
                  <a:srgbClr val="333399"/>
                </a:solidFill>
              </a:rPr>
              <a:t>通过下列</a:t>
            </a:r>
            <a:r>
              <a:rPr lang="en-US" altLang="zh-CN" dirty="0">
                <a:solidFill>
                  <a:srgbClr val="333399"/>
                </a:solidFill>
              </a:rPr>
              <a:t>S-</a:t>
            </a:r>
            <a:r>
              <a:rPr lang="zh-CN" altLang="en-US" dirty="0">
                <a:solidFill>
                  <a:srgbClr val="333399"/>
                </a:solidFill>
              </a:rPr>
              <a:t>属性文法</a:t>
            </a:r>
            <a:r>
              <a:rPr lang="en-US" altLang="zh-CN" dirty="0">
                <a:solidFill>
                  <a:srgbClr val="333399"/>
                </a:solidFill>
              </a:rPr>
              <a:t>G’[S]</a:t>
            </a:r>
            <a:r>
              <a:rPr lang="zh-CN" altLang="en-US" dirty="0">
                <a:solidFill>
                  <a:srgbClr val="333399"/>
                </a:solidFill>
              </a:rPr>
              <a:t>为</a:t>
            </a:r>
            <a:r>
              <a:rPr lang="zh-CN" altLang="en-US" dirty="0"/>
              <a:t>常量表达式求值</a:t>
            </a:r>
          </a:p>
          <a:p>
            <a:pPr lvl="1"/>
            <a:endParaRPr lang="zh-CN" altLang="en-US" dirty="0"/>
          </a:p>
        </p:txBody>
      </p:sp>
      <p:sp>
        <p:nvSpPr>
          <p:cNvPr id="3" name="标题 2"/>
          <p:cNvSpPr>
            <a:spLocks noGrp="1"/>
          </p:cNvSpPr>
          <p:nvPr>
            <p:ph type="title"/>
          </p:nvPr>
        </p:nvSpPr>
        <p:spPr/>
        <p:txBody>
          <a:bodyPr/>
          <a:lstStyle/>
          <a:p>
            <a:r>
              <a:rPr lang="zh-CN" altLang="en-US" dirty="0"/>
              <a:t>三、基于属性文法的语义计算</a:t>
            </a:r>
          </a:p>
        </p:txBody>
      </p:sp>
      <p:sp>
        <p:nvSpPr>
          <p:cNvPr id="4" name="Text Box 2"/>
          <p:cNvSpPr txBox="1">
            <a:spLocks noChangeArrowheads="1"/>
          </p:cNvSpPr>
          <p:nvPr/>
        </p:nvSpPr>
        <p:spPr bwMode="auto">
          <a:xfrm>
            <a:off x="1579562" y="2514674"/>
            <a:ext cx="2306637" cy="3200876"/>
          </a:xfrm>
          <a:prstGeom prst="rect">
            <a:avLst/>
          </a:prstGeom>
          <a:noFill/>
          <a:ln w="9525">
            <a:noFill/>
            <a:miter lim="800000"/>
          </a:ln>
        </p:spPr>
        <p:txBody>
          <a:bodyPr>
            <a:spAutoFit/>
          </a:bodyPr>
          <a:lstStyle/>
          <a:p>
            <a:pPr algn="l">
              <a:buClrTx/>
            </a:pPr>
            <a:r>
              <a:rPr kumimoji="0" lang="zh-CN" altLang="en-US" sz="2400" b="1" i="0">
                <a:solidFill>
                  <a:srgbClr val="0206AD"/>
                </a:solidFill>
                <a:latin typeface="Times New Roman" panose="02020603050405020304" pitchFamily="18" charset="0"/>
                <a:sym typeface="Symbol" panose="05050102010706020507" pitchFamily="18" charset="2"/>
              </a:rPr>
              <a:t>产生式</a:t>
            </a:r>
            <a:endParaRPr kumimoji="0" lang="zh-CN" altLang="en-US" sz="2400" i="0">
              <a:solidFill>
                <a:srgbClr val="0206AD"/>
              </a:solidFill>
              <a:latin typeface="Times New Roman" panose="02020603050405020304" pitchFamily="18" charset="0"/>
              <a:cs typeface="Times New Roman" panose="02020603050405020304" charset="0"/>
              <a:sym typeface="Symbol" panose="05050102010706020507" pitchFamily="18" charset="2"/>
            </a:endParaRPr>
          </a:p>
          <a:p>
            <a:pPr algn="l">
              <a:buClrTx/>
            </a:pPr>
            <a:endParaRPr kumimoji="0" lang="zh-CN" altLang="en-US" sz="1000" i="0">
              <a:solidFill>
                <a:srgbClr val="0206AD"/>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S </a:t>
            </a:r>
            <a:r>
              <a:rPr lang="en-US" altLang="zh-CN" sz="2400" i="0">
                <a:solidFill>
                  <a:srgbClr val="0206AD"/>
                </a:solidFill>
                <a:latin typeface="Times New Roman" panose="02020603050405020304" pitchFamily="18" charset="0"/>
                <a:cs typeface="Times New Roman" panose="02020603050405020304" charset="0"/>
                <a:sym typeface="Symbol" panose="05050102010706020507" pitchFamily="18" charset="2"/>
              </a:rPr>
              <a:t></a:t>
            </a: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 E</a:t>
            </a:r>
            <a:endParaRPr kumimoji="0" lang="en-US" altLang="zh-CN" sz="2400" i="0">
              <a:solidFill>
                <a:srgbClr val="0206AD"/>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E </a:t>
            </a:r>
            <a:r>
              <a:rPr lang="en-US" altLang="zh-CN" sz="2400" i="0">
                <a:solidFill>
                  <a:srgbClr val="0206AD"/>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a:t>
            </a:r>
            <a:r>
              <a:rPr lang="en-US" altLang="zh-CN" sz="2400">
                <a:solidFill>
                  <a:srgbClr val="0206AD"/>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 E</a:t>
            </a:r>
            <a:r>
              <a:rPr lang="en-US" altLang="zh-CN" sz="2400" i="0" baseline="-25000">
                <a:solidFill>
                  <a:srgbClr val="0206AD"/>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1</a:t>
            </a:r>
            <a:r>
              <a:rPr lang="en-US" altLang="zh-CN" sz="2400">
                <a:solidFill>
                  <a:srgbClr val="0206AD"/>
                </a:solidFill>
                <a:latin typeface="Times New Roman" panose="02020603050405020304" pitchFamily="18" charset="0"/>
                <a:ea typeface="华文行楷" panose="02010800040101010101" pitchFamily="2" charset="-122"/>
                <a:cs typeface="Times New Roman" panose="02020603050405020304" charset="0"/>
                <a:sym typeface="Symbol" panose="05050102010706020507" pitchFamily="18" charset="2"/>
              </a:rPr>
              <a:t> + T</a:t>
            </a:r>
          </a:p>
          <a:p>
            <a:pPr algn="l">
              <a:buClrTx/>
            </a:pP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E </a:t>
            </a:r>
            <a:r>
              <a:rPr lang="en-US" altLang="zh-CN" sz="2400" i="0">
                <a:solidFill>
                  <a:srgbClr val="0206AD"/>
                </a:solidFill>
                <a:latin typeface="Times New Roman" panose="02020603050405020304" pitchFamily="18" charset="0"/>
                <a:cs typeface="Times New Roman" panose="02020603050405020304" charset="0"/>
                <a:sym typeface="Symbol" panose="05050102010706020507" pitchFamily="18" charset="2"/>
              </a:rPr>
              <a:t></a:t>
            </a: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 T</a:t>
            </a:r>
            <a:endParaRPr lang="en-US" altLang="zh-CN" sz="2400">
              <a:solidFill>
                <a:srgbClr val="0206AD"/>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400">
                <a:solidFill>
                  <a:srgbClr val="0206AD"/>
                </a:solidFill>
                <a:latin typeface="Times New Roman" panose="02020603050405020304" pitchFamily="18" charset="0"/>
                <a:cs typeface="Times New Roman" panose="02020603050405020304" charset="0"/>
                <a:sym typeface="Symbol" panose="05050102010706020507" pitchFamily="18" charset="2"/>
              </a:rPr>
              <a:t>T </a:t>
            </a:r>
            <a:r>
              <a:rPr lang="en-US" altLang="zh-CN" sz="2400" i="0">
                <a:solidFill>
                  <a:srgbClr val="0206AD"/>
                </a:solidFill>
                <a:latin typeface="Times New Roman" panose="02020603050405020304" pitchFamily="18" charset="0"/>
                <a:ea typeface="华文行楷" panose="02010800040101010101" pitchFamily="2" charset="-122"/>
                <a:sym typeface="Symbol" panose="05050102010706020507" pitchFamily="18" charset="2"/>
              </a:rPr>
              <a:t></a:t>
            </a:r>
            <a:r>
              <a:rPr lang="en-US" altLang="zh-CN" sz="2400">
                <a:solidFill>
                  <a:srgbClr val="0206AD"/>
                </a:solidFill>
                <a:latin typeface="Times New Roman" panose="02020603050405020304" pitchFamily="18" charset="0"/>
                <a:ea typeface="华文行楷" panose="02010800040101010101" pitchFamily="2" charset="-122"/>
                <a:sym typeface="Symbol" panose="05050102010706020507" pitchFamily="18" charset="2"/>
              </a:rPr>
              <a:t> T</a:t>
            </a:r>
            <a:r>
              <a:rPr lang="en-US" altLang="zh-CN" sz="2400" i="0" baseline="-25000">
                <a:solidFill>
                  <a:srgbClr val="0206AD"/>
                </a:solidFill>
                <a:latin typeface="Times New Roman" panose="02020603050405020304" pitchFamily="18" charset="0"/>
                <a:sym typeface="Symbol" panose="05050102010706020507" pitchFamily="18" charset="2"/>
              </a:rPr>
              <a:t>1</a:t>
            </a:r>
            <a:r>
              <a:rPr lang="en-US" altLang="zh-CN" sz="2400">
                <a:solidFill>
                  <a:srgbClr val="0206AD"/>
                </a:solidFill>
                <a:latin typeface="Times New Roman" panose="02020603050405020304" pitchFamily="18" charset="0"/>
                <a:ea typeface="华文行楷" panose="02010800040101010101" pitchFamily="2" charset="-122"/>
                <a:sym typeface="Symbol" panose="05050102010706020507" pitchFamily="18" charset="2"/>
              </a:rPr>
              <a:t> </a:t>
            </a:r>
            <a:r>
              <a:rPr lang="en-US" altLang="zh-CN" sz="2400" i="0">
                <a:solidFill>
                  <a:srgbClr val="0206AD"/>
                </a:solidFill>
                <a:latin typeface="Times New Roman" panose="02020603050405020304" pitchFamily="18" charset="0"/>
                <a:sym typeface="Symbol" panose="05050102010706020507" pitchFamily="18" charset="2"/>
              </a:rPr>
              <a:t></a:t>
            </a:r>
            <a:r>
              <a:rPr lang="en-US" altLang="zh-CN" sz="2400">
                <a:solidFill>
                  <a:srgbClr val="0206AD"/>
                </a:solidFill>
                <a:latin typeface="Times New Roman" panose="02020603050405020304" pitchFamily="18" charset="0"/>
                <a:sym typeface="Symbol" panose="05050102010706020507" pitchFamily="18" charset="2"/>
              </a:rPr>
              <a:t> F</a:t>
            </a:r>
          </a:p>
          <a:p>
            <a:pPr algn="l">
              <a:buClrTx/>
            </a:pPr>
            <a:r>
              <a:rPr lang="en-US" altLang="zh-CN" sz="2400">
                <a:solidFill>
                  <a:srgbClr val="0206AD"/>
                </a:solidFill>
                <a:latin typeface="Times New Roman" panose="02020603050405020304" pitchFamily="18" charset="0"/>
                <a:sym typeface="Symbol" panose="05050102010706020507" pitchFamily="18" charset="2"/>
              </a:rPr>
              <a:t>T </a:t>
            </a:r>
            <a:r>
              <a:rPr lang="en-US" altLang="zh-CN" sz="2400" i="0">
                <a:solidFill>
                  <a:srgbClr val="0206AD"/>
                </a:solidFill>
                <a:latin typeface="Times New Roman" panose="02020603050405020304" pitchFamily="18" charset="0"/>
                <a:sym typeface="Symbol" panose="05050102010706020507" pitchFamily="18" charset="2"/>
              </a:rPr>
              <a:t> </a:t>
            </a:r>
            <a:r>
              <a:rPr lang="en-US" altLang="zh-CN" sz="2400">
                <a:solidFill>
                  <a:srgbClr val="0206AD"/>
                </a:solidFill>
                <a:latin typeface="Times New Roman" panose="02020603050405020304" pitchFamily="18" charset="0"/>
                <a:sym typeface="Symbol" panose="05050102010706020507" pitchFamily="18" charset="2"/>
              </a:rPr>
              <a:t>F</a:t>
            </a:r>
          </a:p>
          <a:p>
            <a:pPr algn="l">
              <a:buClrTx/>
            </a:pPr>
            <a:r>
              <a:rPr lang="en-US" altLang="zh-CN" sz="2400">
                <a:solidFill>
                  <a:srgbClr val="0206AD"/>
                </a:solidFill>
                <a:latin typeface="Times New Roman" panose="02020603050405020304" pitchFamily="18" charset="0"/>
                <a:sym typeface="Symbol" panose="05050102010706020507" pitchFamily="18" charset="2"/>
              </a:rPr>
              <a:t>F </a:t>
            </a:r>
            <a:r>
              <a:rPr lang="en-US" altLang="zh-CN" sz="2400" i="0">
                <a:solidFill>
                  <a:srgbClr val="0206AD"/>
                </a:solidFill>
                <a:latin typeface="Times New Roman" panose="02020603050405020304" pitchFamily="18" charset="0"/>
                <a:ea typeface="华文行楷" panose="02010800040101010101" pitchFamily="2" charset="-122"/>
                <a:sym typeface="Symbol" panose="05050102010706020507" pitchFamily="18" charset="2"/>
              </a:rPr>
              <a:t></a:t>
            </a:r>
            <a:r>
              <a:rPr lang="en-US" altLang="zh-CN" sz="2400">
                <a:solidFill>
                  <a:srgbClr val="0206AD"/>
                </a:solidFill>
                <a:latin typeface="Times New Roman" panose="02020603050405020304" pitchFamily="18" charset="0"/>
                <a:ea typeface="华文行楷" panose="02010800040101010101" pitchFamily="2" charset="-122"/>
                <a:sym typeface="Symbol" panose="05050102010706020507" pitchFamily="18" charset="2"/>
              </a:rPr>
              <a:t> ( E )</a:t>
            </a:r>
          </a:p>
          <a:p>
            <a:pPr algn="l">
              <a:buClrTx/>
            </a:pPr>
            <a:r>
              <a:rPr lang="en-US" altLang="zh-CN" sz="2400">
                <a:solidFill>
                  <a:srgbClr val="0206AD"/>
                </a:solidFill>
                <a:latin typeface="Times New Roman" panose="02020603050405020304" pitchFamily="18" charset="0"/>
                <a:sym typeface="Symbol" panose="05050102010706020507" pitchFamily="18" charset="2"/>
              </a:rPr>
              <a:t>F </a:t>
            </a:r>
            <a:r>
              <a:rPr lang="en-US" altLang="zh-CN" sz="2400" i="0">
                <a:solidFill>
                  <a:srgbClr val="0206AD"/>
                </a:solidFill>
                <a:latin typeface="Times New Roman" panose="02020603050405020304" pitchFamily="18" charset="0"/>
                <a:sym typeface="Symbol" panose="05050102010706020507" pitchFamily="18" charset="2"/>
              </a:rPr>
              <a:t></a:t>
            </a:r>
            <a:r>
              <a:rPr lang="en-US" altLang="zh-CN" sz="2400">
                <a:solidFill>
                  <a:srgbClr val="0206AD"/>
                </a:solidFill>
                <a:latin typeface="Times New Roman" panose="02020603050405020304" pitchFamily="18" charset="0"/>
                <a:sym typeface="Symbol" panose="05050102010706020507" pitchFamily="18" charset="2"/>
              </a:rPr>
              <a:t> d</a:t>
            </a:r>
            <a:endParaRPr lang="en-US" altLang="zh-CN" sz="2400" i="0">
              <a:solidFill>
                <a:srgbClr val="0206AD"/>
              </a:solidFill>
              <a:latin typeface="Times New Roman" panose="02020603050405020304" pitchFamily="18" charset="0"/>
              <a:sym typeface="Symbol" panose="05050102010706020507" pitchFamily="18" charset="2"/>
            </a:endParaRPr>
          </a:p>
        </p:txBody>
      </p:sp>
      <p:sp>
        <p:nvSpPr>
          <p:cNvPr id="5" name="Text Box 3"/>
          <p:cNvSpPr txBox="1">
            <a:spLocks noChangeArrowheads="1"/>
          </p:cNvSpPr>
          <p:nvPr/>
        </p:nvSpPr>
        <p:spPr bwMode="auto">
          <a:xfrm>
            <a:off x="4100512" y="2514674"/>
            <a:ext cx="3671887" cy="3200876"/>
          </a:xfrm>
          <a:prstGeom prst="rect">
            <a:avLst/>
          </a:prstGeom>
          <a:noFill/>
          <a:ln w="9525">
            <a:noFill/>
            <a:miter lim="800000"/>
          </a:ln>
        </p:spPr>
        <p:txBody>
          <a:bodyPr>
            <a:spAutoFit/>
          </a:bodyPr>
          <a:lstStyle/>
          <a:p>
            <a:pPr algn="l">
              <a:buClrTx/>
            </a:pPr>
            <a:r>
              <a:rPr kumimoji="0" lang="zh-CN" altLang="en-US" sz="2400" b="1" i="0" dirty="0">
                <a:solidFill>
                  <a:srgbClr val="0206AD"/>
                </a:solidFill>
                <a:latin typeface="Times New Roman" panose="02020603050405020304" pitchFamily="18" charset="0"/>
                <a:sym typeface="Symbol" panose="05050102010706020507" pitchFamily="18" charset="2"/>
              </a:rPr>
              <a:t>语义动作</a:t>
            </a:r>
            <a:endParaRPr kumimoji="0" lang="zh-CN" altLang="en-US" sz="2400" i="0" dirty="0">
              <a:solidFill>
                <a:srgbClr val="0206AD"/>
              </a:solidFill>
              <a:latin typeface="Times New Roman" panose="02020603050405020304" pitchFamily="18" charset="0"/>
              <a:cs typeface="Times New Roman" panose="02020603050405020304" charset="0"/>
              <a:sym typeface="Symbol" panose="05050102010706020507" pitchFamily="18" charset="2"/>
            </a:endParaRPr>
          </a:p>
          <a:p>
            <a:pPr algn="l">
              <a:buClrTx/>
            </a:pPr>
            <a:endParaRPr kumimoji="0" lang="zh-CN" altLang="en-US" sz="1000" i="0" dirty="0">
              <a:solidFill>
                <a:srgbClr val="0206AD"/>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cs typeface="Times New Roman" panose="02020603050405020304" charset="0"/>
                <a:sym typeface="Symbol" panose="05050102010706020507" pitchFamily="18" charset="2"/>
              </a:rPr>
              <a:t>{ </a:t>
            </a:r>
            <a:r>
              <a:rPr lang="en-US" altLang="zh-CN" sz="2400" dirty="0">
                <a:solidFill>
                  <a:srgbClr val="0206AD"/>
                </a:solidFill>
                <a:latin typeface="Times New Roman" panose="02020603050405020304" pitchFamily="18" charset="0"/>
                <a:cs typeface="Times New Roman" panose="02020603050405020304" charset="0"/>
                <a:sym typeface="Symbol" panose="05050102010706020507" pitchFamily="18" charset="2"/>
              </a:rPr>
              <a:t>p</a:t>
            </a:r>
            <a:r>
              <a:rPr lang="en-US" altLang="zh-CN" sz="2400" dirty="0">
                <a:solidFill>
                  <a:srgbClr val="0206AD"/>
                </a:solidFill>
                <a:latin typeface="Times New Roman" panose="02020603050405020304" pitchFamily="18" charset="0"/>
              </a:rPr>
              <a:t>rint(</a:t>
            </a:r>
            <a:r>
              <a:rPr lang="en-US" altLang="zh-CN" sz="2400" dirty="0" err="1">
                <a:solidFill>
                  <a:srgbClr val="0206AD"/>
                </a:solidFill>
                <a:latin typeface="Times New Roman" panose="02020603050405020304" pitchFamily="18" charset="0"/>
              </a:rPr>
              <a:t>E</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rPr>
              <a:t>) </a:t>
            </a:r>
            <a:r>
              <a:rPr lang="en-US" altLang="zh-CN" sz="2400" i="0" dirty="0">
                <a:solidFill>
                  <a:srgbClr val="0206AD"/>
                </a:solidFill>
                <a:latin typeface="Times New Roman" panose="02020603050405020304" pitchFamily="18" charset="0"/>
                <a:sym typeface="Symbol" panose="05050102010706020507" pitchFamily="18" charset="2"/>
              </a:rPr>
              <a:t>}</a:t>
            </a:r>
            <a:endParaRPr kumimoji="0" lang="en-US" altLang="zh-CN" sz="2400" i="0" dirty="0">
              <a:solidFill>
                <a:srgbClr val="0206AD"/>
              </a:solidFill>
              <a:latin typeface="Times New Roman" panose="02020603050405020304" pitchFamily="18" charset="0"/>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E</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E</a:t>
            </a:r>
            <a:r>
              <a:rPr lang="en-US" altLang="zh-CN" sz="2400" i="0" baseline="-25000" dirty="0">
                <a:solidFill>
                  <a:srgbClr val="0206AD"/>
                </a:solidFill>
                <a:latin typeface="Times New Roman" panose="02020603050405020304" pitchFamily="18" charset="0"/>
                <a:sym typeface="Symbol" panose="05050102010706020507" pitchFamily="18" charset="2"/>
              </a:rPr>
              <a:t>1</a:t>
            </a:r>
            <a:r>
              <a:rPr lang="en-US" altLang="zh-CN" sz="2400" b="1" dirty="0">
                <a:solidFill>
                  <a:srgbClr val="0206AD"/>
                </a:solidFill>
                <a:latin typeface="Times New Roman" panose="02020603050405020304" pitchFamily="18" charset="0"/>
              </a:rPr>
              <a:t>.</a:t>
            </a:r>
            <a:r>
              <a:rPr lang="en-US" altLang="zh-CN" sz="2400" dirty="0">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 </a:t>
            </a:r>
            <a:r>
              <a:rPr lang="en-US" altLang="zh-CN" sz="2400" dirty="0" err="1">
                <a:solidFill>
                  <a:srgbClr val="0206AD"/>
                </a:solidFill>
                <a:latin typeface="Times New Roman" panose="02020603050405020304" pitchFamily="18" charset="0"/>
                <a:sym typeface="Symbol" panose="05050102010706020507" pitchFamily="18" charset="2"/>
              </a:rPr>
              <a:t>T</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i="0" dirty="0">
                <a:solidFill>
                  <a:srgbClr val="0206AD"/>
                </a:solidFill>
                <a:latin typeface="Times New Roman" panose="02020603050405020304" pitchFamily="18" charset="0"/>
                <a:sym typeface="Symbol" panose="05050102010706020507" pitchFamily="18" charset="2"/>
              </a:rPr>
              <a:t> }</a:t>
            </a:r>
            <a:endParaRPr lang="en-US" altLang="zh-CN" sz="2400" dirty="0">
              <a:solidFill>
                <a:srgbClr val="0206AD"/>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E</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T</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i="0" dirty="0">
                <a:solidFill>
                  <a:srgbClr val="0206AD"/>
                </a:solidFill>
                <a:latin typeface="Times New Roman" panose="02020603050405020304" pitchFamily="18" charset="0"/>
                <a:sym typeface="Symbol" panose="05050102010706020507" pitchFamily="18" charset="2"/>
              </a:rPr>
              <a:t> }</a:t>
            </a:r>
            <a:endParaRPr lang="en-US" altLang="zh-CN" sz="2400" dirty="0">
              <a:solidFill>
                <a:srgbClr val="0206AD"/>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T</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T</a:t>
            </a:r>
            <a:r>
              <a:rPr lang="en-US" altLang="zh-CN" sz="2400" i="0" baseline="-25000" dirty="0">
                <a:solidFill>
                  <a:srgbClr val="0206AD"/>
                </a:solidFill>
                <a:latin typeface="Times New Roman" panose="02020603050405020304" pitchFamily="18" charset="0"/>
                <a:sym typeface="Symbol" panose="05050102010706020507" pitchFamily="18" charset="2"/>
              </a:rPr>
              <a:t>1</a:t>
            </a:r>
            <a:r>
              <a:rPr lang="en-US" altLang="zh-CN" sz="2400" b="1" dirty="0">
                <a:solidFill>
                  <a:srgbClr val="0206AD"/>
                </a:solidFill>
                <a:latin typeface="Times New Roman" panose="02020603050405020304" pitchFamily="18" charset="0"/>
              </a:rPr>
              <a:t>.</a:t>
            </a:r>
            <a:r>
              <a:rPr lang="en-US" altLang="zh-CN" sz="2400" dirty="0">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b="1"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F</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i="0" dirty="0">
                <a:solidFill>
                  <a:srgbClr val="0206AD"/>
                </a:solidFill>
                <a:latin typeface="Times New Roman" panose="02020603050405020304" pitchFamily="18" charset="0"/>
                <a:sym typeface="Symbol" panose="05050102010706020507" pitchFamily="18" charset="2"/>
              </a:rPr>
              <a:t> }</a:t>
            </a:r>
            <a:endParaRPr lang="en-US" altLang="zh-CN" sz="2400" dirty="0">
              <a:solidFill>
                <a:srgbClr val="0206AD"/>
              </a:solidFill>
              <a:latin typeface="Times New Roman" panose="02020603050405020304" pitchFamily="18" charset="0"/>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T</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F</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i="0" dirty="0">
                <a:solidFill>
                  <a:srgbClr val="0206AD"/>
                </a:solidFill>
                <a:latin typeface="Times New Roman" panose="02020603050405020304" pitchFamily="18" charset="0"/>
                <a:sym typeface="Symbol" panose="05050102010706020507" pitchFamily="18" charset="2"/>
              </a:rPr>
              <a:t> }</a:t>
            </a:r>
            <a:endParaRPr lang="en-US" altLang="zh-CN" sz="2400" dirty="0">
              <a:solidFill>
                <a:srgbClr val="0206AD"/>
              </a:solidFill>
              <a:latin typeface="Times New Roman" panose="02020603050405020304" pitchFamily="18" charset="0"/>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F</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E</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i="0" dirty="0">
                <a:solidFill>
                  <a:srgbClr val="0206AD"/>
                </a:solidFill>
                <a:latin typeface="Times New Roman" panose="02020603050405020304" pitchFamily="18" charset="0"/>
                <a:sym typeface="Symbol" panose="05050102010706020507" pitchFamily="18" charset="2"/>
              </a:rPr>
              <a:t> }</a:t>
            </a:r>
            <a:endParaRPr lang="en-US" altLang="zh-CN" sz="2400" dirty="0">
              <a:solidFill>
                <a:srgbClr val="0206AD"/>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400" i="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F</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val</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i="0" dirty="0">
                <a:solidFill>
                  <a:srgbClr val="0206AD"/>
                </a:solidFill>
                <a:latin typeface="Times New Roman" panose="02020603050405020304" pitchFamily="18" charset="0"/>
                <a:sym typeface="Symbol" panose="05050102010706020507" pitchFamily="18" charset="2"/>
              </a:rPr>
              <a:t>:=</a:t>
            </a:r>
            <a:r>
              <a:rPr lang="en-US" altLang="zh-CN" sz="2400" dirty="0">
                <a:solidFill>
                  <a:srgbClr val="0206AD"/>
                </a:solidFill>
                <a:latin typeface="Times New Roman" panose="02020603050405020304" pitchFamily="18" charset="0"/>
                <a:sym typeface="Symbol" panose="05050102010706020507" pitchFamily="18" charset="2"/>
              </a:rPr>
              <a:t> </a:t>
            </a:r>
            <a:r>
              <a:rPr lang="en-US" altLang="zh-CN" sz="2400" dirty="0" err="1">
                <a:solidFill>
                  <a:srgbClr val="0206AD"/>
                </a:solidFill>
                <a:latin typeface="Times New Roman" panose="02020603050405020304" pitchFamily="18" charset="0"/>
                <a:sym typeface="Symbol" panose="05050102010706020507" pitchFamily="18" charset="2"/>
              </a:rPr>
              <a:t>d</a:t>
            </a:r>
            <a:r>
              <a:rPr lang="en-US" altLang="zh-CN" sz="2400" b="1" dirty="0" err="1">
                <a:solidFill>
                  <a:srgbClr val="0206AD"/>
                </a:solidFill>
                <a:latin typeface="Times New Roman" panose="02020603050405020304" pitchFamily="18" charset="0"/>
              </a:rPr>
              <a:t>.</a:t>
            </a:r>
            <a:r>
              <a:rPr lang="en-US" altLang="zh-CN" sz="2400" dirty="0" err="1">
                <a:solidFill>
                  <a:srgbClr val="0206AD"/>
                </a:solidFill>
                <a:latin typeface="Times New Roman" panose="02020603050405020304" pitchFamily="18" charset="0"/>
              </a:rPr>
              <a:t>lexval</a:t>
            </a:r>
            <a:r>
              <a:rPr lang="en-US" altLang="zh-CN" sz="2400" i="0" dirty="0">
                <a:solidFill>
                  <a:srgbClr val="0206AD"/>
                </a:solidFill>
                <a:latin typeface="Times New Roman" panose="02020603050405020304" pitchFamily="18" charset="0"/>
                <a:sym typeface="Symbol" panose="05050102010706020507" pitchFamily="18" charset="2"/>
              </a:rPr>
              <a:t> }</a:t>
            </a:r>
          </a:p>
        </p:txBody>
      </p:sp>
      <p:sp>
        <p:nvSpPr>
          <p:cNvPr id="6" name="灯片编号占位符 5"/>
          <p:cNvSpPr>
            <a:spLocks noGrp="1"/>
          </p:cNvSpPr>
          <p:nvPr>
            <p:ph type="sldNum" sz="quarter" idx="4"/>
          </p:nvPr>
        </p:nvSpPr>
        <p:spPr/>
        <p:txBody>
          <a:bodyPr/>
          <a:lstStyle/>
          <a:p>
            <a:fld id="{565CE74E-AB26-4998-AD42-012C4C1AD076}" type="slidenum">
              <a:rPr lang="zh-CN" altLang="en-US" smtClean="0"/>
              <a:t>41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构造</a:t>
            </a:r>
            <a:r>
              <a:rPr lang="en-US" altLang="zh-CN" dirty="0"/>
              <a:t>SLR</a:t>
            </a:r>
            <a:r>
              <a:rPr lang="zh-CN" altLang="en-US" dirty="0"/>
              <a:t>自动机（略）</a:t>
            </a:r>
          </a:p>
        </p:txBody>
      </p:sp>
      <p:sp>
        <p:nvSpPr>
          <p:cNvPr id="3" name="标题 2"/>
          <p:cNvSpPr>
            <a:spLocks noGrp="1"/>
          </p:cNvSpPr>
          <p:nvPr>
            <p:ph type="title"/>
          </p:nvPr>
        </p:nvSpPr>
        <p:spPr/>
        <p:txBody>
          <a:bodyPr/>
          <a:lstStyle/>
          <a:p>
            <a:r>
              <a:rPr lang="zh-CN" altLang="en-US" dirty="0"/>
              <a:t>三、基于属性文法的语义计算</a:t>
            </a:r>
          </a:p>
        </p:txBody>
      </p:sp>
      <p:pic>
        <p:nvPicPr>
          <p:cNvPr id="4" name="图片 3" descr="屏幕剪辑"/>
          <p:cNvPicPr>
            <a:picLocks noChangeAspect="1"/>
          </p:cNvPicPr>
          <p:nvPr/>
        </p:nvPicPr>
        <p:blipFill rotWithShape="1">
          <a:blip r:embed="rId2">
            <a:extLst>
              <a:ext uri="{28A0092B-C50C-407E-A947-70E740481C1C}">
                <a14:useLocalDpi xmlns:a14="http://schemas.microsoft.com/office/drawing/2010/main" val="0"/>
              </a:ext>
            </a:extLst>
          </a:blip>
          <a:srcRect t="2130"/>
          <a:stretch/>
        </p:blipFill>
        <p:spPr>
          <a:xfrm>
            <a:off x="1060894" y="1774370"/>
            <a:ext cx="6630325" cy="4139589"/>
          </a:xfrm>
          <a:prstGeom prst="rect">
            <a:avLst/>
          </a:prstGeom>
        </p:spPr>
      </p:pic>
      <p:sp>
        <p:nvSpPr>
          <p:cNvPr id="5" name="矩形 4"/>
          <p:cNvSpPr/>
          <p:nvPr/>
        </p:nvSpPr>
        <p:spPr>
          <a:xfrm>
            <a:off x="664026" y="5214261"/>
            <a:ext cx="947057" cy="8412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
          </p:nvPr>
        </p:nvSpPr>
        <p:spPr/>
        <p:txBody>
          <a:bodyPr/>
          <a:lstStyle/>
          <a:p>
            <a:fld id="{565CE74E-AB26-4998-AD42-012C4C1AD076}"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三、基于属性文法的语义计算</a:t>
            </a:r>
          </a:p>
        </p:txBody>
      </p:sp>
      <p:sp>
        <p:nvSpPr>
          <p:cNvPr id="4" name="Text Box 2"/>
          <p:cNvSpPr txBox="1">
            <a:spLocks noChangeArrowheads="1"/>
          </p:cNvSpPr>
          <p:nvPr/>
        </p:nvSpPr>
        <p:spPr bwMode="auto">
          <a:xfrm>
            <a:off x="449263" y="969336"/>
            <a:ext cx="3587750" cy="946150"/>
          </a:xfrm>
          <a:prstGeom prst="rect">
            <a:avLst/>
          </a:prstGeom>
          <a:noFill/>
          <a:ln w="9525">
            <a:noFill/>
            <a:miter lim="800000"/>
          </a:ln>
        </p:spPr>
        <p:txBody>
          <a:bodyPr>
            <a:spAutoFit/>
          </a:bodyPr>
          <a:lstStyle/>
          <a:p>
            <a:pPr algn="l">
              <a:buFont typeface="Wingdings" panose="05000000000000000000" pitchFamily="2" charset="2"/>
              <a:buChar char="²"/>
            </a:pPr>
            <a:r>
              <a:rPr lang="en-US" altLang="zh-CN" sz="2800" i="0" dirty="0">
                <a:solidFill>
                  <a:srgbClr val="333399"/>
                </a:solidFill>
                <a:latin typeface="Times New Roman" panose="02020603050405020304" pitchFamily="18" charset="0"/>
              </a:rPr>
              <a:t>  </a:t>
            </a:r>
            <a:r>
              <a:rPr lang="zh-CN" altLang="en-US" sz="2800" b="1" i="0" dirty="0">
                <a:solidFill>
                  <a:srgbClr val="333399"/>
                </a:solidFill>
                <a:latin typeface="Times New Roman" panose="02020603050405020304" pitchFamily="18" charset="0"/>
              </a:rPr>
              <a:t>文法</a:t>
            </a:r>
            <a:r>
              <a:rPr kumimoji="0" lang="en-US" altLang="zh-CN" sz="2800" dirty="0">
                <a:solidFill>
                  <a:srgbClr val="333399"/>
                </a:solidFill>
                <a:latin typeface="Times New Roman" panose="02020603050405020304" pitchFamily="18" charset="0"/>
                <a:sym typeface="Symbol" panose="05050102010706020507" pitchFamily="18" charset="2"/>
              </a:rPr>
              <a:t>G’ </a:t>
            </a:r>
            <a:r>
              <a:rPr kumimoji="0" lang="en-US" altLang="zh-CN" sz="2800" i="0" dirty="0">
                <a:solidFill>
                  <a:srgbClr val="333399"/>
                </a:solidFill>
                <a:latin typeface="Times New Roman" panose="02020603050405020304" pitchFamily="18" charset="0"/>
                <a:sym typeface="Symbol" panose="05050102010706020507" pitchFamily="18" charset="2"/>
              </a:rPr>
              <a:t>[</a:t>
            </a:r>
            <a:r>
              <a:rPr kumimoji="0" lang="en-US" altLang="zh-CN" sz="2800" dirty="0">
                <a:solidFill>
                  <a:srgbClr val="333399"/>
                </a:solidFill>
                <a:latin typeface="Times New Roman" panose="02020603050405020304" pitchFamily="18" charset="0"/>
                <a:sym typeface="Symbol" panose="05050102010706020507" pitchFamily="18" charset="2"/>
              </a:rPr>
              <a:t>S</a:t>
            </a:r>
            <a:r>
              <a:rPr kumimoji="0" lang="en-US" altLang="zh-CN" sz="2800" i="0" dirty="0">
                <a:solidFill>
                  <a:srgbClr val="333399"/>
                </a:solidFill>
                <a:latin typeface="Times New Roman" panose="02020603050405020304" pitchFamily="18" charset="0"/>
                <a:sym typeface="Symbol" panose="05050102010706020507" pitchFamily="18" charset="2"/>
              </a:rPr>
              <a:t>]</a:t>
            </a:r>
            <a:r>
              <a:rPr lang="en-US" altLang="zh-CN" sz="2800" i="0" dirty="0">
                <a:solidFill>
                  <a:srgbClr val="333399"/>
                </a:solidFill>
                <a:latin typeface="Times New Roman" panose="02020603050405020304" pitchFamily="18" charset="0"/>
              </a:rPr>
              <a:t> </a:t>
            </a:r>
            <a:r>
              <a:rPr lang="zh-CN" altLang="en-US" sz="2800" b="1" i="0" dirty="0">
                <a:solidFill>
                  <a:srgbClr val="333399"/>
                </a:solidFill>
                <a:latin typeface="Times New Roman" panose="02020603050405020304" pitchFamily="18" charset="0"/>
              </a:rPr>
              <a:t>的</a:t>
            </a:r>
            <a:r>
              <a:rPr lang="en-US" altLang="zh-CN" sz="2800" i="0" dirty="0">
                <a:solidFill>
                  <a:srgbClr val="333399"/>
                </a:solidFill>
                <a:latin typeface="Times New Roman" panose="02020603050405020304" pitchFamily="18" charset="0"/>
              </a:rPr>
              <a:t>LR</a:t>
            </a:r>
          </a:p>
          <a:p>
            <a:pPr algn="l"/>
            <a:r>
              <a:rPr lang="en-US" altLang="zh-CN" sz="2800" b="1" i="0" dirty="0">
                <a:solidFill>
                  <a:srgbClr val="333399"/>
                </a:solidFill>
                <a:latin typeface="Times New Roman" panose="02020603050405020304" pitchFamily="18" charset="0"/>
              </a:rPr>
              <a:t>   </a:t>
            </a:r>
            <a:r>
              <a:rPr lang="zh-CN" altLang="en-US" sz="2800" b="1" i="0" dirty="0">
                <a:solidFill>
                  <a:srgbClr val="333399"/>
                </a:solidFill>
                <a:latin typeface="Times New Roman" panose="02020603050405020304" pitchFamily="18" charset="0"/>
              </a:rPr>
              <a:t>分析表</a:t>
            </a:r>
            <a:endParaRPr lang="zh-CN" altLang="en-US" i="0" dirty="0">
              <a:solidFill>
                <a:srgbClr val="333399"/>
              </a:solidFill>
              <a:latin typeface="Times New Roman" panose="02020603050405020304" pitchFamily="18" charset="0"/>
            </a:endParaRPr>
          </a:p>
        </p:txBody>
      </p:sp>
      <p:sp>
        <p:nvSpPr>
          <p:cNvPr id="9" name="Line 7"/>
          <p:cNvSpPr>
            <a:spLocks noChangeShapeType="1"/>
          </p:cNvSpPr>
          <p:nvPr/>
        </p:nvSpPr>
        <p:spPr bwMode="auto">
          <a:xfrm>
            <a:off x="1738313" y="2563186"/>
            <a:ext cx="6121400" cy="0"/>
          </a:xfrm>
          <a:prstGeom prst="line">
            <a:avLst/>
          </a:prstGeom>
          <a:noFill/>
          <a:ln w="9525">
            <a:solidFill>
              <a:srgbClr val="800080"/>
            </a:solidFill>
            <a:round/>
          </a:ln>
        </p:spPr>
        <p:txBody>
          <a:bodyPr>
            <a:spAutoFit/>
          </a:bodyPr>
          <a:lstStyle/>
          <a:p>
            <a:endParaRPr lang="zh-CN" altLang="en-US">
              <a:latin typeface="Times New Roman" panose="02020603050405020304" pitchFamily="18" charset="0"/>
            </a:endParaRPr>
          </a:p>
        </p:txBody>
      </p:sp>
      <p:sp>
        <p:nvSpPr>
          <p:cNvPr id="10" name="Text Box 8"/>
          <p:cNvSpPr txBox="1">
            <a:spLocks noChangeArrowheads="1"/>
          </p:cNvSpPr>
          <p:nvPr/>
        </p:nvSpPr>
        <p:spPr bwMode="auto">
          <a:xfrm>
            <a:off x="982663" y="2356811"/>
            <a:ext cx="720725" cy="396875"/>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sz="2000" b="1" i="0">
                <a:latin typeface="Times New Roman" panose="02020603050405020304" pitchFamily="18" charset="0"/>
              </a:rPr>
              <a:t>状态</a:t>
            </a:r>
          </a:p>
        </p:txBody>
      </p:sp>
      <p:sp>
        <p:nvSpPr>
          <p:cNvPr id="11" name="Text Box 9"/>
          <p:cNvSpPr txBox="1">
            <a:spLocks noChangeArrowheads="1"/>
          </p:cNvSpPr>
          <p:nvPr/>
        </p:nvSpPr>
        <p:spPr bwMode="auto">
          <a:xfrm>
            <a:off x="3438526" y="2166311"/>
            <a:ext cx="1181100" cy="396875"/>
          </a:xfrm>
          <a:prstGeom prst="rect">
            <a:avLst/>
          </a:prstGeom>
          <a:noFill/>
          <a:ln w="9525">
            <a:noFill/>
            <a:miter lim="800000"/>
          </a:ln>
        </p:spPr>
        <p:txBody>
          <a:bodyPr>
            <a:spAutoFit/>
          </a:bodyPr>
          <a:lstStyle/>
          <a:p>
            <a:pPr algn="l" eaLnBrk="0" hangingPunct="0">
              <a:spcBef>
                <a:spcPct val="50000"/>
              </a:spcBef>
              <a:buClrTx/>
              <a:buFontTx/>
              <a:buNone/>
            </a:pPr>
            <a:r>
              <a:rPr kumimoji="0" lang="en-US" altLang="zh-CN" sz="2000" i="0">
                <a:latin typeface="Times New Roman" panose="02020603050405020304" pitchFamily="18" charset="0"/>
              </a:rPr>
              <a:t>ACTION</a:t>
            </a:r>
          </a:p>
        </p:txBody>
      </p:sp>
      <p:sp>
        <p:nvSpPr>
          <p:cNvPr id="12" name="Text Box 10"/>
          <p:cNvSpPr txBox="1">
            <a:spLocks noChangeArrowheads="1"/>
          </p:cNvSpPr>
          <p:nvPr/>
        </p:nvSpPr>
        <p:spPr bwMode="auto">
          <a:xfrm>
            <a:off x="6635751" y="2166311"/>
            <a:ext cx="1114425" cy="396875"/>
          </a:xfrm>
          <a:prstGeom prst="rect">
            <a:avLst/>
          </a:prstGeom>
          <a:noFill/>
          <a:ln w="9525">
            <a:noFill/>
            <a:miter lim="800000"/>
          </a:ln>
        </p:spPr>
        <p:txBody>
          <a:bodyPr>
            <a:spAutoFit/>
          </a:bodyPr>
          <a:lstStyle/>
          <a:p>
            <a:pPr algn="l" eaLnBrk="0" hangingPunct="0">
              <a:spcBef>
                <a:spcPct val="50000"/>
              </a:spcBef>
              <a:buClrTx/>
              <a:buFontTx/>
              <a:buNone/>
            </a:pPr>
            <a:r>
              <a:rPr kumimoji="0" lang="en-US" altLang="zh-CN" sz="2000" i="0">
                <a:latin typeface="Times New Roman" panose="02020603050405020304" pitchFamily="18" charset="0"/>
              </a:rPr>
              <a:t>GOTO</a:t>
            </a:r>
          </a:p>
        </p:txBody>
      </p:sp>
      <p:sp>
        <p:nvSpPr>
          <p:cNvPr id="13" name="Line 11"/>
          <p:cNvSpPr>
            <a:spLocks noChangeShapeType="1"/>
          </p:cNvSpPr>
          <p:nvPr/>
        </p:nvSpPr>
        <p:spPr bwMode="auto">
          <a:xfrm>
            <a:off x="1738313" y="2202824"/>
            <a:ext cx="6350" cy="4132262"/>
          </a:xfrm>
          <a:prstGeom prst="line">
            <a:avLst/>
          </a:prstGeom>
          <a:noFill/>
          <a:ln w="9525">
            <a:solidFill>
              <a:srgbClr val="800080"/>
            </a:solidFill>
            <a:round/>
          </a:ln>
        </p:spPr>
        <p:txBody>
          <a:bodyPr>
            <a:spAutoFit/>
          </a:bodyPr>
          <a:lstStyle/>
          <a:p>
            <a:endParaRPr lang="zh-CN" altLang="en-US">
              <a:latin typeface="Times New Roman" panose="02020603050405020304" pitchFamily="18" charset="0"/>
            </a:endParaRPr>
          </a:p>
        </p:txBody>
      </p:sp>
      <p:sp>
        <p:nvSpPr>
          <p:cNvPr id="14" name="Line 12"/>
          <p:cNvSpPr>
            <a:spLocks noChangeShapeType="1"/>
          </p:cNvSpPr>
          <p:nvPr/>
        </p:nvSpPr>
        <p:spPr bwMode="auto">
          <a:xfrm>
            <a:off x="6059488" y="2202824"/>
            <a:ext cx="0" cy="4132262"/>
          </a:xfrm>
          <a:prstGeom prst="line">
            <a:avLst/>
          </a:prstGeom>
          <a:noFill/>
          <a:ln w="9525">
            <a:solidFill>
              <a:srgbClr val="800080"/>
            </a:solidFill>
            <a:round/>
          </a:ln>
        </p:spPr>
        <p:txBody>
          <a:bodyPr>
            <a:spAutoFit/>
          </a:bodyPr>
          <a:lstStyle/>
          <a:p>
            <a:endParaRPr lang="zh-CN" altLang="en-US">
              <a:latin typeface="Times New Roman" panose="02020603050405020304" pitchFamily="18" charset="0"/>
            </a:endParaRPr>
          </a:p>
        </p:txBody>
      </p:sp>
      <p:sp>
        <p:nvSpPr>
          <p:cNvPr id="15" name="Line 13"/>
          <p:cNvSpPr>
            <a:spLocks noChangeShapeType="1"/>
          </p:cNvSpPr>
          <p:nvPr/>
        </p:nvSpPr>
        <p:spPr bwMode="auto">
          <a:xfrm>
            <a:off x="911226" y="2923549"/>
            <a:ext cx="6948487" cy="0"/>
          </a:xfrm>
          <a:prstGeom prst="line">
            <a:avLst/>
          </a:prstGeom>
          <a:noFill/>
          <a:ln w="9525">
            <a:solidFill>
              <a:srgbClr val="800080"/>
            </a:solidFill>
            <a:round/>
          </a:ln>
        </p:spPr>
        <p:txBody>
          <a:bodyPr>
            <a:spAutoFit/>
          </a:bodyPr>
          <a:lstStyle/>
          <a:p>
            <a:endParaRPr lang="zh-CN" altLang="en-US">
              <a:latin typeface="Times New Roman" panose="02020603050405020304" pitchFamily="18" charset="0"/>
            </a:endParaRPr>
          </a:p>
        </p:txBody>
      </p:sp>
      <p:sp>
        <p:nvSpPr>
          <p:cNvPr id="16" name="Rectangle 15"/>
          <p:cNvSpPr>
            <a:spLocks noChangeArrowheads="1"/>
          </p:cNvSpPr>
          <p:nvPr/>
        </p:nvSpPr>
        <p:spPr bwMode="auto">
          <a:xfrm>
            <a:off x="1868488" y="2491749"/>
            <a:ext cx="300082" cy="369332"/>
          </a:xfrm>
          <a:prstGeom prst="rect">
            <a:avLst/>
          </a:prstGeom>
          <a:noFill/>
          <a:ln w="9525" algn="ctr">
            <a:noFill/>
            <a:miter lim="800000"/>
          </a:ln>
        </p:spPr>
        <p:txBody>
          <a:bodyPr wrap="none">
            <a:spAutoFit/>
          </a:bodyPr>
          <a:lstStyle/>
          <a:p>
            <a:pPr algn="l"/>
            <a:r>
              <a:rPr lang="en-US" altLang="zh-CN">
                <a:solidFill>
                  <a:srgbClr val="333399"/>
                </a:solidFill>
                <a:latin typeface="Times New Roman" panose="02020603050405020304" pitchFamily="18" charset="0"/>
                <a:sym typeface="Symbol" panose="05050102010706020507" pitchFamily="18" charset="2"/>
              </a:rPr>
              <a:t>d</a:t>
            </a:r>
          </a:p>
        </p:txBody>
      </p:sp>
      <p:sp>
        <p:nvSpPr>
          <p:cNvPr id="17" name="Rectangle 16"/>
          <p:cNvSpPr>
            <a:spLocks noChangeArrowheads="1"/>
          </p:cNvSpPr>
          <p:nvPr/>
        </p:nvSpPr>
        <p:spPr bwMode="auto">
          <a:xfrm>
            <a:off x="2579688" y="2486986"/>
            <a:ext cx="300082" cy="369332"/>
          </a:xfrm>
          <a:prstGeom prst="rect">
            <a:avLst/>
          </a:prstGeom>
          <a:noFill/>
          <a:ln w="9525" algn="ctr">
            <a:noFill/>
            <a:miter lim="800000"/>
          </a:ln>
        </p:spPr>
        <p:txBody>
          <a:bodyPr wrap="none">
            <a:spAutoFit/>
          </a:bodyPr>
          <a:lstStyle/>
          <a:p>
            <a:pPr algn="l"/>
            <a:r>
              <a:rPr lang="en-US" altLang="zh-CN" i="0" dirty="0">
                <a:solidFill>
                  <a:srgbClr val="333399"/>
                </a:solidFill>
                <a:latin typeface="Times New Roman" panose="02020603050405020304" pitchFamily="18" charset="0"/>
                <a:sym typeface="Symbol" panose="05050102010706020507" pitchFamily="18" charset="2"/>
              </a:rPr>
              <a:t></a:t>
            </a:r>
          </a:p>
        </p:txBody>
      </p:sp>
      <p:sp>
        <p:nvSpPr>
          <p:cNvPr id="18" name="Rectangle 17"/>
          <p:cNvSpPr>
            <a:spLocks noChangeArrowheads="1"/>
          </p:cNvSpPr>
          <p:nvPr/>
        </p:nvSpPr>
        <p:spPr bwMode="auto">
          <a:xfrm>
            <a:off x="3292476" y="2491749"/>
            <a:ext cx="314510" cy="369332"/>
          </a:xfrm>
          <a:prstGeom prst="rect">
            <a:avLst/>
          </a:prstGeom>
          <a:noFill/>
          <a:ln w="9525" algn="ctr">
            <a:noFill/>
            <a:miter lim="800000"/>
          </a:ln>
        </p:spPr>
        <p:txBody>
          <a:bodyPr wrap="none">
            <a:spAutoFit/>
          </a:bodyPr>
          <a:lstStyle/>
          <a:p>
            <a:pPr algn="l"/>
            <a:r>
              <a:rPr lang="en-US" altLang="zh-CN" i="0">
                <a:solidFill>
                  <a:srgbClr val="333399"/>
                </a:solidFill>
                <a:latin typeface="Times New Roman" panose="02020603050405020304" pitchFamily="18" charset="0"/>
                <a:sym typeface="Symbol" panose="05050102010706020507" pitchFamily="18" charset="2"/>
              </a:rPr>
              <a:t>+</a:t>
            </a:r>
          </a:p>
        </p:txBody>
      </p:sp>
      <p:sp>
        <p:nvSpPr>
          <p:cNvPr id="19" name="Rectangle 18"/>
          <p:cNvSpPr>
            <a:spLocks noChangeArrowheads="1"/>
          </p:cNvSpPr>
          <p:nvPr/>
        </p:nvSpPr>
        <p:spPr bwMode="auto">
          <a:xfrm>
            <a:off x="4130676" y="2491749"/>
            <a:ext cx="261610" cy="369332"/>
          </a:xfrm>
          <a:prstGeom prst="rect">
            <a:avLst/>
          </a:prstGeom>
          <a:noFill/>
          <a:ln w="9525" algn="ctr">
            <a:noFill/>
            <a:miter lim="800000"/>
          </a:ln>
        </p:spPr>
        <p:txBody>
          <a:bodyPr wrap="none">
            <a:spAutoFit/>
          </a:bodyPr>
          <a:lstStyle/>
          <a:p>
            <a:pPr algn="l"/>
            <a:r>
              <a:rPr lang="en-US" altLang="zh-CN" i="0">
                <a:solidFill>
                  <a:srgbClr val="333399"/>
                </a:solidFill>
                <a:latin typeface="Times New Roman" panose="02020603050405020304" pitchFamily="18" charset="0"/>
                <a:sym typeface="Symbol" panose="05050102010706020507" pitchFamily="18" charset="2"/>
              </a:rPr>
              <a:t>(</a:t>
            </a:r>
          </a:p>
        </p:txBody>
      </p:sp>
      <p:sp>
        <p:nvSpPr>
          <p:cNvPr id="20" name="Rectangle 19"/>
          <p:cNvSpPr>
            <a:spLocks noChangeArrowheads="1"/>
          </p:cNvSpPr>
          <p:nvPr/>
        </p:nvSpPr>
        <p:spPr bwMode="auto">
          <a:xfrm>
            <a:off x="4902201" y="2491749"/>
            <a:ext cx="261610" cy="369332"/>
          </a:xfrm>
          <a:prstGeom prst="rect">
            <a:avLst/>
          </a:prstGeom>
          <a:noFill/>
          <a:ln w="9525" algn="ctr">
            <a:noFill/>
            <a:miter lim="800000"/>
          </a:ln>
        </p:spPr>
        <p:txBody>
          <a:bodyPr wrap="none">
            <a:spAutoFit/>
          </a:bodyPr>
          <a:lstStyle/>
          <a:p>
            <a:pPr algn="l"/>
            <a:r>
              <a:rPr lang="en-US" altLang="zh-CN" i="0">
                <a:solidFill>
                  <a:srgbClr val="333399"/>
                </a:solidFill>
                <a:latin typeface="Times New Roman" panose="02020603050405020304" pitchFamily="18" charset="0"/>
                <a:sym typeface="Symbol" panose="05050102010706020507" pitchFamily="18" charset="2"/>
              </a:rPr>
              <a:t>)</a:t>
            </a:r>
          </a:p>
        </p:txBody>
      </p:sp>
      <p:sp>
        <p:nvSpPr>
          <p:cNvPr id="21" name="Rectangle 20"/>
          <p:cNvSpPr>
            <a:spLocks noChangeArrowheads="1"/>
          </p:cNvSpPr>
          <p:nvPr/>
        </p:nvSpPr>
        <p:spPr bwMode="auto">
          <a:xfrm>
            <a:off x="5554663" y="2491749"/>
            <a:ext cx="300082" cy="369332"/>
          </a:xfrm>
          <a:prstGeom prst="rect">
            <a:avLst/>
          </a:prstGeom>
          <a:noFill/>
          <a:ln w="9525" algn="ctr">
            <a:noFill/>
            <a:miter lim="800000"/>
          </a:ln>
        </p:spPr>
        <p:txBody>
          <a:bodyPr wrap="none">
            <a:spAutoFit/>
          </a:bodyPr>
          <a:lstStyle/>
          <a:p>
            <a:pPr algn="l"/>
            <a:r>
              <a:rPr lang="en-US" altLang="zh-CN" i="0">
                <a:solidFill>
                  <a:srgbClr val="333399"/>
                </a:solidFill>
                <a:latin typeface="Times New Roman" panose="02020603050405020304" pitchFamily="18" charset="0"/>
                <a:sym typeface="Symbol" panose="05050102010706020507" pitchFamily="18" charset="2"/>
              </a:rPr>
              <a:t>#</a:t>
            </a:r>
          </a:p>
        </p:txBody>
      </p:sp>
      <p:sp>
        <p:nvSpPr>
          <p:cNvPr id="22" name="Rectangle 21"/>
          <p:cNvSpPr>
            <a:spLocks noChangeArrowheads="1"/>
          </p:cNvSpPr>
          <p:nvPr/>
        </p:nvSpPr>
        <p:spPr bwMode="auto">
          <a:xfrm>
            <a:off x="6203951" y="2491749"/>
            <a:ext cx="325730" cy="369332"/>
          </a:xfrm>
          <a:prstGeom prst="rect">
            <a:avLst/>
          </a:prstGeom>
          <a:noFill/>
          <a:ln w="9525" algn="ctr">
            <a:noFill/>
            <a:miter lim="800000"/>
          </a:ln>
        </p:spPr>
        <p:txBody>
          <a:bodyPr wrap="none">
            <a:spAutoFit/>
          </a:bodyPr>
          <a:lstStyle/>
          <a:p>
            <a:pPr algn="l"/>
            <a:r>
              <a:rPr lang="en-US" altLang="zh-CN">
                <a:solidFill>
                  <a:srgbClr val="333399"/>
                </a:solidFill>
                <a:latin typeface="Times New Roman" panose="02020603050405020304" pitchFamily="18" charset="0"/>
                <a:sym typeface="Symbol" panose="05050102010706020507" pitchFamily="18" charset="2"/>
              </a:rPr>
              <a:t>E</a:t>
            </a:r>
          </a:p>
        </p:txBody>
      </p:sp>
      <p:sp>
        <p:nvSpPr>
          <p:cNvPr id="23" name="Rectangle 22"/>
          <p:cNvSpPr>
            <a:spLocks noChangeArrowheads="1"/>
          </p:cNvSpPr>
          <p:nvPr/>
        </p:nvSpPr>
        <p:spPr bwMode="auto">
          <a:xfrm>
            <a:off x="6802438" y="2491749"/>
            <a:ext cx="325730" cy="369332"/>
          </a:xfrm>
          <a:prstGeom prst="rect">
            <a:avLst/>
          </a:prstGeom>
          <a:noFill/>
          <a:ln w="9525" algn="ctr">
            <a:noFill/>
            <a:miter lim="800000"/>
          </a:ln>
        </p:spPr>
        <p:txBody>
          <a:bodyPr wrap="none">
            <a:spAutoFit/>
          </a:bodyPr>
          <a:lstStyle/>
          <a:p>
            <a:pPr algn="l"/>
            <a:r>
              <a:rPr lang="en-US" altLang="zh-CN">
                <a:solidFill>
                  <a:srgbClr val="333399"/>
                </a:solidFill>
                <a:latin typeface="Times New Roman" panose="02020603050405020304" pitchFamily="18" charset="0"/>
                <a:sym typeface="Symbol" panose="05050102010706020507" pitchFamily="18" charset="2"/>
              </a:rPr>
              <a:t>T</a:t>
            </a:r>
          </a:p>
        </p:txBody>
      </p:sp>
      <p:sp>
        <p:nvSpPr>
          <p:cNvPr id="24" name="Rectangle 23"/>
          <p:cNvSpPr>
            <a:spLocks noChangeArrowheads="1"/>
          </p:cNvSpPr>
          <p:nvPr/>
        </p:nvSpPr>
        <p:spPr bwMode="auto">
          <a:xfrm>
            <a:off x="7402513" y="2491749"/>
            <a:ext cx="312906" cy="369332"/>
          </a:xfrm>
          <a:prstGeom prst="rect">
            <a:avLst/>
          </a:prstGeom>
          <a:noFill/>
          <a:ln w="9525" algn="ctr">
            <a:noFill/>
            <a:miter lim="800000"/>
          </a:ln>
        </p:spPr>
        <p:txBody>
          <a:bodyPr wrap="none">
            <a:spAutoFit/>
          </a:bodyPr>
          <a:lstStyle/>
          <a:p>
            <a:pPr algn="l"/>
            <a:r>
              <a:rPr lang="en-US" altLang="zh-CN">
                <a:solidFill>
                  <a:srgbClr val="333399"/>
                </a:solidFill>
                <a:latin typeface="Times New Roman" panose="02020603050405020304" pitchFamily="18" charset="0"/>
                <a:sym typeface="Symbol" panose="05050102010706020507" pitchFamily="18" charset="2"/>
              </a:rPr>
              <a:t>F</a:t>
            </a:r>
          </a:p>
        </p:txBody>
      </p:sp>
      <p:sp>
        <p:nvSpPr>
          <p:cNvPr id="25" name="Rectangle 24"/>
          <p:cNvSpPr>
            <a:spLocks noChangeArrowheads="1"/>
          </p:cNvSpPr>
          <p:nvPr/>
        </p:nvSpPr>
        <p:spPr bwMode="auto">
          <a:xfrm>
            <a:off x="1125538" y="285211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0</a:t>
            </a:r>
          </a:p>
        </p:txBody>
      </p:sp>
      <p:sp>
        <p:nvSpPr>
          <p:cNvPr id="26" name="Rectangle 25"/>
          <p:cNvSpPr>
            <a:spLocks noChangeArrowheads="1"/>
          </p:cNvSpPr>
          <p:nvPr/>
        </p:nvSpPr>
        <p:spPr bwMode="auto">
          <a:xfrm>
            <a:off x="1125538" y="310611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a:t>
            </a:r>
          </a:p>
        </p:txBody>
      </p:sp>
      <p:sp>
        <p:nvSpPr>
          <p:cNvPr id="27" name="Rectangle 26"/>
          <p:cNvSpPr>
            <a:spLocks noChangeArrowheads="1"/>
          </p:cNvSpPr>
          <p:nvPr/>
        </p:nvSpPr>
        <p:spPr bwMode="auto">
          <a:xfrm>
            <a:off x="1125538" y="339344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2</a:t>
            </a:r>
          </a:p>
        </p:txBody>
      </p:sp>
      <p:sp>
        <p:nvSpPr>
          <p:cNvPr id="28" name="Rectangle 27"/>
          <p:cNvSpPr>
            <a:spLocks noChangeArrowheads="1"/>
          </p:cNvSpPr>
          <p:nvPr/>
        </p:nvSpPr>
        <p:spPr bwMode="auto">
          <a:xfrm>
            <a:off x="1125538" y="3682374"/>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3</a:t>
            </a:r>
          </a:p>
        </p:txBody>
      </p:sp>
      <p:sp>
        <p:nvSpPr>
          <p:cNvPr id="29" name="Rectangle 28"/>
          <p:cNvSpPr>
            <a:spLocks noChangeArrowheads="1"/>
          </p:cNvSpPr>
          <p:nvPr/>
        </p:nvSpPr>
        <p:spPr bwMode="auto">
          <a:xfrm>
            <a:off x="1125538" y="396971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4</a:t>
            </a:r>
          </a:p>
        </p:txBody>
      </p:sp>
      <p:sp>
        <p:nvSpPr>
          <p:cNvPr id="30" name="Rectangle 30"/>
          <p:cNvSpPr>
            <a:spLocks noChangeArrowheads="1"/>
          </p:cNvSpPr>
          <p:nvPr/>
        </p:nvSpPr>
        <p:spPr bwMode="auto">
          <a:xfrm>
            <a:off x="1125538" y="428086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5</a:t>
            </a:r>
          </a:p>
        </p:txBody>
      </p:sp>
      <p:sp>
        <p:nvSpPr>
          <p:cNvPr id="31" name="Rectangle 31"/>
          <p:cNvSpPr>
            <a:spLocks noChangeArrowheads="1"/>
          </p:cNvSpPr>
          <p:nvPr/>
        </p:nvSpPr>
        <p:spPr bwMode="auto">
          <a:xfrm>
            <a:off x="1125538" y="4531686"/>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6</a:t>
            </a:r>
          </a:p>
        </p:txBody>
      </p:sp>
      <p:sp>
        <p:nvSpPr>
          <p:cNvPr id="32" name="Rectangle 32"/>
          <p:cNvSpPr>
            <a:spLocks noChangeArrowheads="1"/>
          </p:cNvSpPr>
          <p:nvPr/>
        </p:nvSpPr>
        <p:spPr bwMode="auto">
          <a:xfrm>
            <a:off x="1125538" y="478409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7</a:t>
            </a:r>
          </a:p>
        </p:txBody>
      </p:sp>
      <p:sp>
        <p:nvSpPr>
          <p:cNvPr id="33" name="Rectangle 33"/>
          <p:cNvSpPr>
            <a:spLocks noChangeArrowheads="1"/>
          </p:cNvSpPr>
          <p:nvPr/>
        </p:nvSpPr>
        <p:spPr bwMode="auto">
          <a:xfrm>
            <a:off x="1125538" y="503651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8</a:t>
            </a:r>
          </a:p>
        </p:txBody>
      </p:sp>
      <p:sp>
        <p:nvSpPr>
          <p:cNvPr id="34" name="Rectangle 34"/>
          <p:cNvSpPr>
            <a:spLocks noChangeArrowheads="1"/>
          </p:cNvSpPr>
          <p:nvPr/>
        </p:nvSpPr>
        <p:spPr bwMode="auto">
          <a:xfrm>
            <a:off x="1135063" y="5328611"/>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9</a:t>
            </a:r>
          </a:p>
        </p:txBody>
      </p:sp>
      <p:sp>
        <p:nvSpPr>
          <p:cNvPr id="35" name="Rectangle 35"/>
          <p:cNvSpPr>
            <a:spLocks noChangeArrowheads="1"/>
          </p:cNvSpPr>
          <p:nvPr/>
        </p:nvSpPr>
        <p:spPr bwMode="auto">
          <a:xfrm>
            <a:off x="1055688" y="5633411"/>
            <a:ext cx="44114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10</a:t>
            </a:r>
          </a:p>
        </p:txBody>
      </p:sp>
      <p:sp>
        <p:nvSpPr>
          <p:cNvPr id="36" name="Rectangle 36"/>
          <p:cNvSpPr>
            <a:spLocks noChangeArrowheads="1"/>
          </p:cNvSpPr>
          <p:nvPr/>
        </p:nvSpPr>
        <p:spPr bwMode="auto">
          <a:xfrm>
            <a:off x="1055688" y="5938211"/>
            <a:ext cx="431657"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11</a:t>
            </a:r>
          </a:p>
        </p:txBody>
      </p:sp>
      <p:sp>
        <p:nvSpPr>
          <p:cNvPr id="37" name="Rectangle 37"/>
          <p:cNvSpPr>
            <a:spLocks noChangeArrowheads="1"/>
          </p:cNvSpPr>
          <p:nvPr/>
        </p:nvSpPr>
        <p:spPr bwMode="auto">
          <a:xfrm>
            <a:off x="6238876" y="2850524"/>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a:t>
            </a:r>
          </a:p>
        </p:txBody>
      </p:sp>
      <p:sp>
        <p:nvSpPr>
          <p:cNvPr id="38" name="Rectangle 38"/>
          <p:cNvSpPr>
            <a:spLocks noChangeArrowheads="1"/>
          </p:cNvSpPr>
          <p:nvPr/>
        </p:nvSpPr>
        <p:spPr bwMode="auto">
          <a:xfrm>
            <a:off x="6851651" y="2850524"/>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2</a:t>
            </a:r>
          </a:p>
        </p:txBody>
      </p:sp>
      <p:sp>
        <p:nvSpPr>
          <p:cNvPr id="39" name="Rectangle 39"/>
          <p:cNvSpPr>
            <a:spLocks noChangeArrowheads="1"/>
          </p:cNvSpPr>
          <p:nvPr/>
        </p:nvSpPr>
        <p:spPr bwMode="auto">
          <a:xfrm>
            <a:off x="7427913" y="2850524"/>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3</a:t>
            </a:r>
          </a:p>
        </p:txBody>
      </p:sp>
      <p:sp>
        <p:nvSpPr>
          <p:cNvPr id="40" name="Rectangle 40"/>
          <p:cNvSpPr>
            <a:spLocks noChangeArrowheads="1"/>
          </p:cNvSpPr>
          <p:nvPr/>
        </p:nvSpPr>
        <p:spPr bwMode="auto">
          <a:xfrm>
            <a:off x="5480051" y="3066424"/>
            <a:ext cx="5261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acc</a:t>
            </a:r>
          </a:p>
        </p:txBody>
      </p:sp>
      <p:sp>
        <p:nvSpPr>
          <p:cNvPr id="41" name="Rectangle 41"/>
          <p:cNvSpPr>
            <a:spLocks noChangeArrowheads="1"/>
          </p:cNvSpPr>
          <p:nvPr/>
        </p:nvSpPr>
        <p:spPr bwMode="auto">
          <a:xfrm>
            <a:off x="3268663" y="3102936"/>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s6</a:t>
            </a:r>
          </a:p>
        </p:txBody>
      </p:sp>
      <p:sp>
        <p:nvSpPr>
          <p:cNvPr id="42" name="Rectangle 42"/>
          <p:cNvSpPr>
            <a:spLocks noChangeArrowheads="1"/>
          </p:cNvSpPr>
          <p:nvPr/>
        </p:nvSpPr>
        <p:spPr bwMode="auto">
          <a:xfrm>
            <a:off x="2508251" y="3390274"/>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s7</a:t>
            </a:r>
          </a:p>
        </p:txBody>
      </p:sp>
      <p:sp>
        <p:nvSpPr>
          <p:cNvPr id="43" name="Rectangle 43"/>
          <p:cNvSpPr>
            <a:spLocks noChangeArrowheads="1"/>
          </p:cNvSpPr>
          <p:nvPr/>
        </p:nvSpPr>
        <p:spPr bwMode="auto">
          <a:xfrm>
            <a:off x="3290888" y="3390274"/>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r2</a:t>
            </a:r>
          </a:p>
        </p:txBody>
      </p:sp>
      <p:sp>
        <p:nvSpPr>
          <p:cNvPr id="44" name="Rectangle 44"/>
          <p:cNvSpPr>
            <a:spLocks noChangeArrowheads="1"/>
          </p:cNvSpPr>
          <p:nvPr/>
        </p:nvSpPr>
        <p:spPr bwMode="auto">
          <a:xfrm>
            <a:off x="4806951" y="3390274"/>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r2</a:t>
            </a:r>
          </a:p>
        </p:txBody>
      </p:sp>
      <p:sp>
        <p:nvSpPr>
          <p:cNvPr id="45" name="Rectangle 45"/>
          <p:cNvSpPr>
            <a:spLocks noChangeArrowheads="1"/>
          </p:cNvSpPr>
          <p:nvPr/>
        </p:nvSpPr>
        <p:spPr bwMode="auto">
          <a:xfrm>
            <a:off x="5554663" y="3390274"/>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r2</a:t>
            </a:r>
          </a:p>
        </p:txBody>
      </p:sp>
      <p:sp>
        <p:nvSpPr>
          <p:cNvPr id="46" name="Rectangle 46"/>
          <p:cNvSpPr>
            <a:spLocks noChangeArrowheads="1"/>
          </p:cNvSpPr>
          <p:nvPr/>
        </p:nvSpPr>
        <p:spPr bwMode="auto">
          <a:xfrm>
            <a:off x="3290888" y="36791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r4</a:t>
            </a:r>
          </a:p>
        </p:txBody>
      </p:sp>
      <p:sp>
        <p:nvSpPr>
          <p:cNvPr id="47" name="Rectangle 47"/>
          <p:cNvSpPr>
            <a:spLocks noChangeArrowheads="1"/>
          </p:cNvSpPr>
          <p:nvPr/>
        </p:nvSpPr>
        <p:spPr bwMode="auto">
          <a:xfrm>
            <a:off x="4806951" y="36791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r4</a:t>
            </a:r>
          </a:p>
        </p:txBody>
      </p:sp>
      <p:sp>
        <p:nvSpPr>
          <p:cNvPr id="48" name="Rectangle 48"/>
          <p:cNvSpPr>
            <a:spLocks noChangeArrowheads="1"/>
          </p:cNvSpPr>
          <p:nvPr/>
        </p:nvSpPr>
        <p:spPr bwMode="auto">
          <a:xfrm>
            <a:off x="5554663" y="36791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r4</a:t>
            </a:r>
          </a:p>
        </p:txBody>
      </p:sp>
      <p:sp>
        <p:nvSpPr>
          <p:cNvPr id="49" name="Rectangle 49"/>
          <p:cNvSpPr>
            <a:spLocks noChangeArrowheads="1"/>
          </p:cNvSpPr>
          <p:nvPr/>
        </p:nvSpPr>
        <p:spPr bwMode="auto">
          <a:xfrm>
            <a:off x="4035426" y="2850524"/>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s4</a:t>
            </a:r>
          </a:p>
        </p:txBody>
      </p:sp>
      <p:sp>
        <p:nvSpPr>
          <p:cNvPr id="50" name="Rectangle 51"/>
          <p:cNvSpPr>
            <a:spLocks noChangeArrowheads="1"/>
          </p:cNvSpPr>
          <p:nvPr/>
        </p:nvSpPr>
        <p:spPr bwMode="auto">
          <a:xfrm>
            <a:off x="1825626" y="2850524"/>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sp>
        <p:nvSpPr>
          <p:cNvPr id="51" name="Rectangle 53"/>
          <p:cNvSpPr>
            <a:spLocks noChangeArrowheads="1"/>
          </p:cNvSpPr>
          <p:nvPr/>
        </p:nvSpPr>
        <p:spPr bwMode="auto">
          <a:xfrm>
            <a:off x="1825626" y="3966536"/>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sp>
        <p:nvSpPr>
          <p:cNvPr id="52" name="Rectangle 54"/>
          <p:cNvSpPr>
            <a:spLocks noChangeArrowheads="1"/>
          </p:cNvSpPr>
          <p:nvPr/>
        </p:nvSpPr>
        <p:spPr bwMode="auto">
          <a:xfrm>
            <a:off x="4014788" y="3966536"/>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s4</a:t>
            </a:r>
          </a:p>
        </p:txBody>
      </p:sp>
      <p:sp>
        <p:nvSpPr>
          <p:cNvPr id="53" name="Rectangle 55"/>
          <p:cNvSpPr>
            <a:spLocks noChangeArrowheads="1"/>
          </p:cNvSpPr>
          <p:nvPr/>
        </p:nvSpPr>
        <p:spPr bwMode="auto">
          <a:xfrm>
            <a:off x="6238876" y="400304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8</a:t>
            </a:r>
          </a:p>
        </p:txBody>
      </p:sp>
      <p:sp>
        <p:nvSpPr>
          <p:cNvPr id="54" name="Rectangle 56"/>
          <p:cNvSpPr>
            <a:spLocks noChangeArrowheads="1"/>
          </p:cNvSpPr>
          <p:nvPr/>
        </p:nvSpPr>
        <p:spPr bwMode="auto">
          <a:xfrm>
            <a:off x="6851651" y="400304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2</a:t>
            </a:r>
          </a:p>
        </p:txBody>
      </p:sp>
      <p:sp>
        <p:nvSpPr>
          <p:cNvPr id="55" name="Rectangle 57"/>
          <p:cNvSpPr>
            <a:spLocks noChangeArrowheads="1"/>
          </p:cNvSpPr>
          <p:nvPr/>
        </p:nvSpPr>
        <p:spPr bwMode="auto">
          <a:xfrm>
            <a:off x="7427913" y="400304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3</a:t>
            </a:r>
          </a:p>
        </p:txBody>
      </p:sp>
      <p:sp>
        <p:nvSpPr>
          <p:cNvPr id="56" name="Rectangle 58"/>
          <p:cNvSpPr>
            <a:spLocks noChangeArrowheads="1"/>
          </p:cNvSpPr>
          <p:nvPr/>
        </p:nvSpPr>
        <p:spPr bwMode="auto">
          <a:xfrm>
            <a:off x="2530476" y="36791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r4</a:t>
            </a:r>
          </a:p>
        </p:txBody>
      </p:sp>
      <p:sp>
        <p:nvSpPr>
          <p:cNvPr id="57" name="Rectangle 63"/>
          <p:cNvSpPr>
            <a:spLocks noChangeArrowheads="1"/>
          </p:cNvSpPr>
          <p:nvPr/>
        </p:nvSpPr>
        <p:spPr bwMode="auto">
          <a:xfrm>
            <a:off x="3314701" y="4277686"/>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r6</a:t>
            </a:r>
          </a:p>
        </p:txBody>
      </p:sp>
      <p:sp>
        <p:nvSpPr>
          <p:cNvPr id="58" name="Rectangle 64"/>
          <p:cNvSpPr>
            <a:spLocks noChangeArrowheads="1"/>
          </p:cNvSpPr>
          <p:nvPr/>
        </p:nvSpPr>
        <p:spPr bwMode="auto">
          <a:xfrm>
            <a:off x="4830763" y="4277686"/>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r6</a:t>
            </a:r>
          </a:p>
        </p:txBody>
      </p:sp>
      <p:sp>
        <p:nvSpPr>
          <p:cNvPr id="59" name="Rectangle 65"/>
          <p:cNvSpPr>
            <a:spLocks noChangeArrowheads="1"/>
          </p:cNvSpPr>
          <p:nvPr/>
        </p:nvSpPr>
        <p:spPr bwMode="auto">
          <a:xfrm>
            <a:off x="5578476" y="4277686"/>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r6</a:t>
            </a:r>
          </a:p>
        </p:txBody>
      </p:sp>
      <p:sp>
        <p:nvSpPr>
          <p:cNvPr id="60" name="Rectangle 66"/>
          <p:cNvSpPr>
            <a:spLocks noChangeArrowheads="1"/>
          </p:cNvSpPr>
          <p:nvPr/>
        </p:nvSpPr>
        <p:spPr bwMode="auto">
          <a:xfrm>
            <a:off x="2554288" y="4277686"/>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r6</a:t>
            </a:r>
          </a:p>
        </p:txBody>
      </p:sp>
      <p:sp>
        <p:nvSpPr>
          <p:cNvPr id="61" name="Rectangle 68"/>
          <p:cNvSpPr>
            <a:spLocks noChangeArrowheads="1"/>
          </p:cNvSpPr>
          <p:nvPr/>
        </p:nvSpPr>
        <p:spPr bwMode="auto">
          <a:xfrm>
            <a:off x="1825626" y="4530099"/>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sp>
        <p:nvSpPr>
          <p:cNvPr id="62" name="Rectangle 69"/>
          <p:cNvSpPr>
            <a:spLocks noChangeArrowheads="1"/>
          </p:cNvSpPr>
          <p:nvPr/>
        </p:nvSpPr>
        <p:spPr bwMode="auto">
          <a:xfrm>
            <a:off x="4014788" y="4530099"/>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s4</a:t>
            </a:r>
          </a:p>
        </p:txBody>
      </p:sp>
      <p:sp>
        <p:nvSpPr>
          <p:cNvPr id="63" name="Rectangle 70"/>
          <p:cNvSpPr>
            <a:spLocks noChangeArrowheads="1"/>
          </p:cNvSpPr>
          <p:nvPr/>
        </p:nvSpPr>
        <p:spPr bwMode="auto">
          <a:xfrm>
            <a:off x="6829426" y="453009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9</a:t>
            </a:r>
          </a:p>
        </p:txBody>
      </p:sp>
      <p:sp>
        <p:nvSpPr>
          <p:cNvPr id="64" name="Rectangle 71"/>
          <p:cNvSpPr>
            <a:spLocks noChangeArrowheads="1"/>
          </p:cNvSpPr>
          <p:nvPr/>
        </p:nvSpPr>
        <p:spPr bwMode="auto">
          <a:xfrm>
            <a:off x="7427913" y="4530099"/>
            <a:ext cx="31290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3</a:t>
            </a:r>
          </a:p>
        </p:txBody>
      </p:sp>
      <p:sp>
        <p:nvSpPr>
          <p:cNvPr id="65" name="Rectangle 73"/>
          <p:cNvSpPr>
            <a:spLocks noChangeArrowheads="1"/>
          </p:cNvSpPr>
          <p:nvPr/>
        </p:nvSpPr>
        <p:spPr bwMode="auto">
          <a:xfrm>
            <a:off x="1825626" y="4819024"/>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sp>
        <p:nvSpPr>
          <p:cNvPr id="66" name="Rectangle 74"/>
          <p:cNvSpPr>
            <a:spLocks noChangeArrowheads="1"/>
          </p:cNvSpPr>
          <p:nvPr/>
        </p:nvSpPr>
        <p:spPr bwMode="auto">
          <a:xfrm>
            <a:off x="4014788" y="4819024"/>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s4</a:t>
            </a:r>
          </a:p>
        </p:txBody>
      </p:sp>
      <p:sp>
        <p:nvSpPr>
          <p:cNvPr id="67" name="Rectangle 75"/>
          <p:cNvSpPr>
            <a:spLocks noChangeArrowheads="1"/>
          </p:cNvSpPr>
          <p:nvPr/>
        </p:nvSpPr>
        <p:spPr bwMode="auto">
          <a:xfrm>
            <a:off x="7321551" y="4819024"/>
            <a:ext cx="441146"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10</a:t>
            </a:r>
          </a:p>
        </p:txBody>
      </p:sp>
      <p:sp>
        <p:nvSpPr>
          <p:cNvPr id="68" name="Rectangle 76"/>
          <p:cNvSpPr>
            <a:spLocks noChangeArrowheads="1"/>
          </p:cNvSpPr>
          <p:nvPr/>
        </p:nvSpPr>
        <p:spPr bwMode="auto">
          <a:xfrm>
            <a:off x="4716463" y="5034924"/>
            <a:ext cx="531043"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s11</a:t>
            </a:r>
          </a:p>
        </p:txBody>
      </p:sp>
      <p:sp>
        <p:nvSpPr>
          <p:cNvPr id="69" name="Rectangle 77"/>
          <p:cNvSpPr>
            <a:spLocks noChangeArrowheads="1"/>
          </p:cNvSpPr>
          <p:nvPr/>
        </p:nvSpPr>
        <p:spPr bwMode="auto">
          <a:xfrm>
            <a:off x="2508251" y="5285749"/>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s7</a:t>
            </a:r>
          </a:p>
        </p:txBody>
      </p:sp>
      <p:sp>
        <p:nvSpPr>
          <p:cNvPr id="70" name="Rectangle 78"/>
          <p:cNvSpPr>
            <a:spLocks noChangeArrowheads="1"/>
          </p:cNvSpPr>
          <p:nvPr/>
        </p:nvSpPr>
        <p:spPr bwMode="auto">
          <a:xfrm>
            <a:off x="3290888" y="52857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r1</a:t>
            </a:r>
          </a:p>
        </p:txBody>
      </p:sp>
      <p:sp>
        <p:nvSpPr>
          <p:cNvPr id="71" name="Rectangle 79"/>
          <p:cNvSpPr>
            <a:spLocks noChangeArrowheads="1"/>
          </p:cNvSpPr>
          <p:nvPr/>
        </p:nvSpPr>
        <p:spPr bwMode="auto">
          <a:xfrm>
            <a:off x="4806951" y="52857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r1</a:t>
            </a:r>
          </a:p>
        </p:txBody>
      </p:sp>
      <p:sp>
        <p:nvSpPr>
          <p:cNvPr id="72" name="Rectangle 80"/>
          <p:cNvSpPr>
            <a:spLocks noChangeArrowheads="1"/>
          </p:cNvSpPr>
          <p:nvPr/>
        </p:nvSpPr>
        <p:spPr bwMode="auto">
          <a:xfrm>
            <a:off x="5554663" y="52857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r1</a:t>
            </a:r>
          </a:p>
        </p:txBody>
      </p:sp>
      <p:sp>
        <p:nvSpPr>
          <p:cNvPr id="73" name="Rectangle 81"/>
          <p:cNvSpPr>
            <a:spLocks noChangeArrowheads="1"/>
          </p:cNvSpPr>
          <p:nvPr/>
        </p:nvSpPr>
        <p:spPr bwMode="auto">
          <a:xfrm>
            <a:off x="3290888" y="56095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r3</a:t>
            </a:r>
          </a:p>
        </p:txBody>
      </p:sp>
      <p:sp>
        <p:nvSpPr>
          <p:cNvPr id="74" name="Rectangle 82"/>
          <p:cNvSpPr>
            <a:spLocks noChangeArrowheads="1"/>
          </p:cNvSpPr>
          <p:nvPr/>
        </p:nvSpPr>
        <p:spPr bwMode="auto">
          <a:xfrm>
            <a:off x="4806951" y="56095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r3</a:t>
            </a:r>
          </a:p>
        </p:txBody>
      </p:sp>
      <p:sp>
        <p:nvSpPr>
          <p:cNvPr id="75" name="Rectangle 83"/>
          <p:cNvSpPr>
            <a:spLocks noChangeArrowheads="1"/>
          </p:cNvSpPr>
          <p:nvPr/>
        </p:nvSpPr>
        <p:spPr bwMode="auto">
          <a:xfrm>
            <a:off x="5554663" y="56095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r3</a:t>
            </a:r>
          </a:p>
        </p:txBody>
      </p:sp>
      <p:sp>
        <p:nvSpPr>
          <p:cNvPr id="76" name="Rectangle 84"/>
          <p:cNvSpPr>
            <a:spLocks noChangeArrowheads="1"/>
          </p:cNvSpPr>
          <p:nvPr/>
        </p:nvSpPr>
        <p:spPr bwMode="auto">
          <a:xfrm>
            <a:off x="2530476" y="560959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r3</a:t>
            </a:r>
          </a:p>
        </p:txBody>
      </p:sp>
      <p:sp>
        <p:nvSpPr>
          <p:cNvPr id="77" name="Rectangle 85"/>
          <p:cNvSpPr>
            <a:spLocks noChangeArrowheads="1"/>
          </p:cNvSpPr>
          <p:nvPr/>
        </p:nvSpPr>
        <p:spPr bwMode="auto">
          <a:xfrm>
            <a:off x="3268663" y="59334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r5</a:t>
            </a:r>
          </a:p>
        </p:txBody>
      </p:sp>
      <p:sp>
        <p:nvSpPr>
          <p:cNvPr id="78" name="Rectangle 86"/>
          <p:cNvSpPr>
            <a:spLocks noChangeArrowheads="1"/>
          </p:cNvSpPr>
          <p:nvPr/>
        </p:nvSpPr>
        <p:spPr bwMode="auto">
          <a:xfrm>
            <a:off x="4784726" y="59334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r5</a:t>
            </a:r>
          </a:p>
        </p:txBody>
      </p:sp>
      <p:sp>
        <p:nvSpPr>
          <p:cNvPr id="79" name="Rectangle 87"/>
          <p:cNvSpPr>
            <a:spLocks noChangeArrowheads="1"/>
          </p:cNvSpPr>
          <p:nvPr/>
        </p:nvSpPr>
        <p:spPr bwMode="auto">
          <a:xfrm>
            <a:off x="5532438" y="59334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r5</a:t>
            </a:r>
          </a:p>
        </p:txBody>
      </p:sp>
      <p:sp>
        <p:nvSpPr>
          <p:cNvPr id="80" name="Rectangle 88"/>
          <p:cNvSpPr>
            <a:spLocks noChangeArrowheads="1"/>
          </p:cNvSpPr>
          <p:nvPr/>
        </p:nvSpPr>
        <p:spPr bwMode="auto">
          <a:xfrm>
            <a:off x="2508251" y="5933449"/>
            <a:ext cx="409575" cy="396875"/>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r5</a:t>
            </a:r>
          </a:p>
        </p:txBody>
      </p:sp>
      <p:sp>
        <p:nvSpPr>
          <p:cNvPr id="81" name="Rectangle 89"/>
          <p:cNvSpPr>
            <a:spLocks noChangeArrowheads="1"/>
          </p:cNvSpPr>
          <p:nvPr/>
        </p:nvSpPr>
        <p:spPr bwMode="auto">
          <a:xfrm>
            <a:off x="3268663" y="5033336"/>
            <a:ext cx="412292" cy="400110"/>
          </a:xfrm>
          <a:prstGeom prst="rect">
            <a:avLst/>
          </a:prstGeom>
          <a:noFill/>
          <a:ln w="9525" algn="ctr">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s6</a:t>
            </a:r>
          </a:p>
        </p:txBody>
      </p:sp>
      <p:sp>
        <p:nvSpPr>
          <p:cNvPr id="82" name="Text Box 90"/>
          <p:cNvSpPr txBox="1">
            <a:spLocks noChangeArrowheads="1"/>
          </p:cNvSpPr>
          <p:nvPr/>
        </p:nvSpPr>
        <p:spPr bwMode="auto">
          <a:xfrm>
            <a:off x="3970338" y="978861"/>
            <a:ext cx="4752975" cy="1015663"/>
          </a:xfrm>
          <a:prstGeom prst="rect">
            <a:avLst/>
          </a:prstGeom>
          <a:noFill/>
          <a:ln w="9525">
            <a:noFill/>
            <a:miter lim="800000"/>
          </a:ln>
        </p:spPr>
        <p:txBody>
          <a:bodyPr>
            <a:spAutoFit/>
          </a:bodyPr>
          <a:lstStyle/>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0</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S</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1</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E+T</a:t>
            </a:r>
            <a:r>
              <a:rPr lang="en-US" altLang="zh-CN"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2</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T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3</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4</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F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5</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 (E)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6</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d</a:t>
            </a:r>
          </a:p>
        </p:txBody>
      </p:sp>
      <p:sp>
        <p:nvSpPr>
          <p:cNvPr id="2" name="灯片编号占位符 1"/>
          <p:cNvSpPr>
            <a:spLocks noGrp="1"/>
          </p:cNvSpPr>
          <p:nvPr>
            <p:ph type="sldNum" sz="quarter" idx="4"/>
          </p:nvPr>
        </p:nvSpPr>
        <p:spPr/>
        <p:txBody>
          <a:bodyPr/>
          <a:lstStyle/>
          <a:p>
            <a:fld id="{565CE74E-AB26-4998-AD42-012C4C1AD076}"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Times New Roman" panose="02020603050405020304" pitchFamily="18" charset="0"/>
              </a:rPr>
              <a:t>三、基于属性文法的语义计算</a:t>
            </a:r>
          </a:p>
        </p:txBody>
      </p:sp>
      <p:sp>
        <p:nvSpPr>
          <p:cNvPr id="4" name="Text Box 2"/>
          <p:cNvSpPr txBox="1">
            <a:spLocks noChangeArrowheads="1"/>
          </p:cNvSpPr>
          <p:nvPr/>
        </p:nvSpPr>
        <p:spPr bwMode="auto">
          <a:xfrm>
            <a:off x="274638" y="1017660"/>
            <a:ext cx="4191000" cy="946150"/>
          </a:xfrm>
          <a:prstGeom prst="rect">
            <a:avLst/>
          </a:prstGeom>
          <a:noFill/>
          <a:ln w="9525">
            <a:noFill/>
            <a:miter lim="800000"/>
          </a:ln>
        </p:spPr>
        <p:txBody>
          <a:bodyPr>
            <a:spAutoFit/>
          </a:bodyPr>
          <a:lstStyle/>
          <a:p>
            <a:pPr algn="l">
              <a:buFont typeface="Wingdings" panose="05000000000000000000" pitchFamily="2" charset="2"/>
              <a:buChar char="²"/>
            </a:pPr>
            <a:r>
              <a:rPr lang="en-US" altLang="zh-CN" sz="2800" b="1" i="0" dirty="0">
                <a:latin typeface="Times New Roman" panose="02020603050405020304" pitchFamily="18" charset="0"/>
              </a:rPr>
              <a:t>  </a:t>
            </a:r>
            <a:r>
              <a:rPr lang="en-US" altLang="zh-CN" sz="2800" i="0" dirty="0">
                <a:solidFill>
                  <a:srgbClr val="333399"/>
                </a:solidFill>
                <a:latin typeface="Times New Roman" panose="02020603050405020304" pitchFamily="18" charset="0"/>
              </a:rPr>
              <a:t>LR</a:t>
            </a:r>
            <a:r>
              <a:rPr lang="zh-CN" altLang="en-US" sz="2800" b="1" i="0" dirty="0">
                <a:solidFill>
                  <a:srgbClr val="333399"/>
                </a:solidFill>
                <a:latin typeface="Times New Roman" panose="02020603050405020304" pitchFamily="18" charset="0"/>
              </a:rPr>
              <a:t>分析过程伴随常量</a:t>
            </a:r>
          </a:p>
          <a:p>
            <a:pPr algn="l"/>
            <a:r>
              <a:rPr lang="zh-CN" altLang="en-US" sz="2800" b="1" i="0" dirty="0">
                <a:solidFill>
                  <a:srgbClr val="333399"/>
                </a:solidFill>
                <a:latin typeface="Times New Roman" panose="02020603050405020304" pitchFamily="18" charset="0"/>
              </a:rPr>
              <a:t>     表达式</a:t>
            </a:r>
            <a:r>
              <a:rPr lang="en-US" altLang="zh-CN" sz="2800" b="1" i="0" dirty="0">
                <a:solidFill>
                  <a:srgbClr val="FF0000"/>
                </a:solidFill>
                <a:latin typeface="Times New Roman" panose="02020603050405020304" pitchFamily="18" charset="0"/>
                <a:ea typeface="宋体" panose="02010600030101010101" pitchFamily="2" charset="-122"/>
              </a:rPr>
              <a:t>2 + 3 </a:t>
            </a:r>
            <a:r>
              <a:rPr lang="en-US" altLang="zh-CN" sz="2800" b="1" i="0" dirty="0">
                <a:solidFill>
                  <a:srgbClr val="FF0000"/>
                </a:solidFill>
                <a:latin typeface="Times New Roman" panose="02020603050405020304" pitchFamily="18" charset="0"/>
                <a:sym typeface="Symbol" panose="05050102010706020507" pitchFamily="18" charset="2"/>
              </a:rPr>
              <a:t> </a:t>
            </a:r>
            <a:r>
              <a:rPr lang="en-US" altLang="zh-CN" sz="2800" b="1" i="0" dirty="0">
                <a:solidFill>
                  <a:srgbClr val="FF0000"/>
                </a:solidFill>
                <a:latin typeface="Times New Roman" panose="02020603050405020304" pitchFamily="18" charset="0"/>
                <a:ea typeface="宋体" panose="02010600030101010101" pitchFamily="2" charset="-122"/>
              </a:rPr>
              <a:t>5</a:t>
            </a:r>
            <a:r>
              <a:rPr lang="zh-CN" altLang="en-US" sz="2800" b="1" i="0" dirty="0">
                <a:solidFill>
                  <a:srgbClr val="333399"/>
                </a:solidFill>
                <a:latin typeface="Times New Roman" panose="02020603050405020304" pitchFamily="18" charset="0"/>
              </a:rPr>
              <a:t>的求值</a:t>
            </a:r>
          </a:p>
        </p:txBody>
      </p:sp>
      <p:sp>
        <p:nvSpPr>
          <p:cNvPr id="5" name="Text Box 80"/>
          <p:cNvSpPr txBox="1">
            <a:spLocks noChangeArrowheads="1"/>
          </p:cNvSpPr>
          <p:nvPr/>
        </p:nvSpPr>
        <p:spPr bwMode="auto">
          <a:xfrm>
            <a:off x="4208463" y="1017660"/>
            <a:ext cx="4752975" cy="1015663"/>
          </a:xfrm>
          <a:prstGeom prst="rect">
            <a:avLst/>
          </a:prstGeom>
          <a:noFill/>
          <a:ln w="9525">
            <a:noFill/>
            <a:miter lim="800000"/>
          </a:ln>
        </p:spPr>
        <p:txBody>
          <a:bodyPr>
            <a:spAutoFit/>
          </a:bodyPr>
          <a:lstStyle/>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0</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S</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1</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E+T</a:t>
            </a:r>
            <a:r>
              <a:rPr lang="en-US" altLang="zh-CN"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2</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T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3</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4</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F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5</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 (E)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6</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d</a:t>
            </a:r>
          </a:p>
        </p:txBody>
      </p:sp>
      <p:sp>
        <p:nvSpPr>
          <p:cNvPr id="6" name="Text Box 84"/>
          <p:cNvSpPr txBox="1">
            <a:spLocks noChangeArrowheads="1"/>
          </p:cNvSpPr>
          <p:nvPr/>
        </p:nvSpPr>
        <p:spPr bwMode="auto">
          <a:xfrm>
            <a:off x="274638" y="2084460"/>
            <a:ext cx="4572000"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分析栈（状态，符号，语义值）</a:t>
            </a:r>
          </a:p>
        </p:txBody>
      </p:sp>
      <p:sp>
        <p:nvSpPr>
          <p:cNvPr id="7" name="Text Box 85"/>
          <p:cNvSpPr txBox="1">
            <a:spLocks noChangeArrowheads="1"/>
          </p:cNvSpPr>
          <p:nvPr/>
        </p:nvSpPr>
        <p:spPr bwMode="auto">
          <a:xfrm>
            <a:off x="4465638" y="2084460"/>
            <a:ext cx="1728788"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余留输入串</a:t>
            </a:r>
          </a:p>
        </p:txBody>
      </p:sp>
      <p:sp>
        <p:nvSpPr>
          <p:cNvPr id="8" name="Text Box 86"/>
          <p:cNvSpPr txBox="1">
            <a:spLocks noChangeArrowheads="1"/>
          </p:cNvSpPr>
          <p:nvPr/>
        </p:nvSpPr>
        <p:spPr bwMode="auto">
          <a:xfrm>
            <a:off x="6142038" y="2084460"/>
            <a:ext cx="804863"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动作</a:t>
            </a:r>
          </a:p>
        </p:txBody>
      </p:sp>
      <p:sp>
        <p:nvSpPr>
          <p:cNvPr id="9" name="Line 87"/>
          <p:cNvSpPr>
            <a:spLocks noChangeShapeType="1"/>
          </p:cNvSpPr>
          <p:nvPr/>
        </p:nvSpPr>
        <p:spPr bwMode="auto">
          <a:xfrm>
            <a:off x="4537076" y="2155898"/>
            <a:ext cx="0" cy="4321175"/>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10" name="Line 88"/>
          <p:cNvSpPr>
            <a:spLocks noChangeShapeType="1"/>
          </p:cNvSpPr>
          <p:nvPr/>
        </p:nvSpPr>
        <p:spPr bwMode="auto">
          <a:xfrm flipH="1">
            <a:off x="6121401" y="2160660"/>
            <a:ext cx="0" cy="434340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11" name="Line 83"/>
          <p:cNvSpPr>
            <a:spLocks noChangeShapeType="1"/>
          </p:cNvSpPr>
          <p:nvPr/>
        </p:nvSpPr>
        <p:spPr bwMode="auto">
          <a:xfrm>
            <a:off x="352426" y="2516260"/>
            <a:ext cx="8228012" cy="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grpSp>
        <p:nvGrpSpPr>
          <p:cNvPr id="12" name="Group 197"/>
          <p:cNvGrpSpPr/>
          <p:nvPr/>
        </p:nvGrpSpPr>
        <p:grpSpPr bwMode="auto">
          <a:xfrm>
            <a:off x="425451" y="2444823"/>
            <a:ext cx="6346825" cy="396875"/>
            <a:chOff x="383" y="1571"/>
            <a:chExt cx="3998" cy="250"/>
          </a:xfrm>
        </p:grpSpPr>
        <p:sp>
          <p:nvSpPr>
            <p:cNvPr id="13" name="Rectangle 90"/>
            <p:cNvSpPr>
              <a:spLocks noChangeArrowheads="1"/>
            </p:cNvSpPr>
            <p:nvPr/>
          </p:nvSpPr>
          <p:spPr bwMode="auto">
            <a:xfrm>
              <a:off x="383" y="1571"/>
              <a:ext cx="544"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endParaRPr lang="en-US" altLang="zh-CN" sz="2000" b="1" u="sng" dirty="0">
                <a:solidFill>
                  <a:srgbClr val="333399"/>
                </a:solidFill>
                <a:latin typeface="Times New Roman" panose="02020603050405020304" pitchFamily="18" charset="0"/>
              </a:endParaRPr>
            </a:p>
          </p:txBody>
        </p:sp>
        <p:sp>
          <p:nvSpPr>
            <p:cNvPr id="14" name="Rectangle 91"/>
            <p:cNvSpPr>
              <a:spLocks noChangeArrowheads="1"/>
            </p:cNvSpPr>
            <p:nvPr/>
          </p:nvSpPr>
          <p:spPr bwMode="auto">
            <a:xfrm>
              <a:off x="3031" y="1571"/>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2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15" name="Rectangle 92"/>
            <p:cNvSpPr>
              <a:spLocks noChangeArrowheads="1"/>
            </p:cNvSpPr>
            <p:nvPr/>
          </p:nvSpPr>
          <p:spPr bwMode="auto">
            <a:xfrm>
              <a:off x="4093" y="1571"/>
              <a:ext cx="288"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grpSp>
      <p:grpSp>
        <p:nvGrpSpPr>
          <p:cNvPr id="16" name="Group 187"/>
          <p:cNvGrpSpPr/>
          <p:nvPr/>
        </p:nvGrpSpPr>
        <p:grpSpPr bwMode="auto">
          <a:xfrm>
            <a:off x="427038" y="3489398"/>
            <a:ext cx="6421438" cy="423862"/>
            <a:chOff x="384" y="2229"/>
            <a:chExt cx="4045" cy="267"/>
          </a:xfrm>
        </p:grpSpPr>
        <p:sp>
          <p:nvSpPr>
            <p:cNvPr id="17" name="Rectangle 106"/>
            <p:cNvSpPr>
              <a:spLocks noChangeArrowheads="1"/>
            </p:cNvSpPr>
            <p:nvPr/>
          </p:nvSpPr>
          <p:spPr bwMode="auto">
            <a:xfrm>
              <a:off x="3053" y="2229"/>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18" name="Rectangle 107"/>
            <p:cNvSpPr>
              <a:spLocks noChangeArrowheads="1"/>
            </p:cNvSpPr>
            <p:nvPr/>
          </p:nvSpPr>
          <p:spPr bwMode="auto">
            <a:xfrm>
              <a:off x="4101" y="2229"/>
              <a:ext cx="328"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s6</a:t>
              </a:r>
            </a:p>
          </p:txBody>
        </p:sp>
        <p:sp>
          <p:nvSpPr>
            <p:cNvPr id="19" name="Rectangle 148"/>
            <p:cNvSpPr>
              <a:spLocks noChangeArrowheads="1"/>
            </p:cNvSpPr>
            <p:nvPr/>
          </p:nvSpPr>
          <p:spPr bwMode="auto">
            <a:xfrm>
              <a:off x="384" y="2246"/>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p>
          </p:txBody>
        </p:sp>
      </p:grpSp>
      <p:grpSp>
        <p:nvGrpSpPr>
          <p:cNvPr id="20" name="Group 188"/>
          <p:cNvGrpSpPr/>
          <p:nvPr/>
        </p:nvGrpSpPr>
        <p:grpSpPr bwMode="auto">
          <a:xfrm>
            <a:off x="427038" y="3740223"/>
            <a:ext cx="6421438" cy="401637"/>
            <a:chOff x="384" y="2387"/>
            <a:chExt cx="4045" cy="253"/>
          </a:xfrm>
        </p:grpSpPr>
        <p:sp>
          <p:nvSpPr>
            <p:cNvPr id="21" name="Rectangle 110"/>
            <p:cNvSpPr>
              <a:spLocks noChangeArrowheads="1"/>
            </p:cNvSpPr>
            <p:nvPr/>
          </p:nvSpPr>
          <p:spPr bwMode="auto">
            <a:xfrm>
              <a:off x="3053" y="2387"/>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22" name="Rectangle 111"/>
            <p:cNvSpPr>
              <a:spLocks noChangeArrowheads="1"/>
            </p:cNvSpPr>
            <p:nvPr/>
          </p:nvSpPr>
          <p:spPr bwMode="auto">
            <a:xfrm>
              <a:off x="4101" y="2387"/>
              <a:ext cx="328"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s5</a:t>
              </a:r>
            </a:p>
          </p:txBody>
        </p:sp>
        <p:sp>
          <p:nvSpPr>
            <p:cNvPr id="23" name="Rectangle 149"/>
            <p:cNvSpPr>
              <a:spLocks noChangeArrowheads="1"/>
            </p:cNvSpPr>
            <p:nvPr/>
          </p:nvSpPr>
          <p:spPr bwMode="auto">
            <a:xfrm>
              <a:off x="384" y="2390"/>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p>
          </p:txBody>
        </p:sp>
      </p:grpSp>
      <p:grpSp>
        <p:nvGrpSpPr>
          <p:cNvPr id="24" name="Group 191"/>
          <p:cNvGrpSpPr/>
          <p:nvPr/>
        </p:nvGrpSpPr>
        <p:grpSpPr bwMode="auto">
          <a:xfrm>
            <a:off x="427038" y="4567310"/>
            <a:ext cx="6497638" cy="412750"/>
            <a:chOff x="384" y="2908"/>
            <a:chExt cx="4093" cy="260"/>
          </a:xfrm>
        </p:grpSpPr>
        <p:sp>
          <p:nvSpPr>
            <p:cNvPr id="25" name="Rectangle 122"/>
            <p:cNvSpPr>
              <a:spLocks noChangeArrowheads="1"/>
            </p:cNvSpPr>
            <p:nvPr/>
          </p:nvSpPr>
          <p:spPr bwMode="auto">
            <a:xfrm>
              <a:off x="3053" y="2908"/>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26" name="Rectangle 123"/>
            <p:cNvSpPr>
              <a:spLocks noChangeArrowheads="1"/>
            </p:cNvSpPr>
            <p:nvPr/>
          </p:nvSpPr>
          <p:spPr bwMode="auto">
            <a:xfrm>
              <a:off x="4101" y="2908"/>
              <a:ext cx="376"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s7</a:t>
              </a:r>
            </a:p>
          </p:txBody>
        </p:sp>
        <p:sp>
          <p:nvSpPr>
            <p:cNvPr id="27" name="Rectangle 152"/>
            <p:cNvSpPr>
              <a:spLocks noChangeArrowheads="1"/>
            </p:cNvSpPr>
            <p:nvPr/>
          </p:nvSpPr>
          <p:spPr bwMode="auto">
            <a:xfrm>
              <a:off x="384" y="2918"/>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p>
          </p:txBody>
        </p:sp>
      </p:grpSp>
      <p:grpSp>
        <p:nvGrpSpPr>
          <p:cNvPr id="28" name="Group 192"/>
          <p:cNvGrpSpPr/>
          <p:nvPr/>
        </p:nvGrpSpPr>
        <p:grpSpPr bwMode="auto">
          <a:xfrm>
            <a:off x="427038" y="4827660"/>
            <a:ext cx="6421438" cy="425450"/>
            <a:chOff x="384" y="3072"/>
            <a:chExt cx="4045" cy="268"/>
          </a:xfrm>
        </p:grpSpPr>
        <p:sp>
          <p:nvSpPr>
            <p:cNvPr id="29" name="Rectangle 126"/>
            <p:cNvSpPr>
              <a:spLocks noChangeArrowheads="1"/>
            </p:cNvSpPr>
            <p:nvPr/>
          </p:nvSpPr>
          <p:spPr bwMode="auto">
            <a:xfrm>
              <a:off x="3053" y="3090"/>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30" name="Rectangle 127"/>
            <p:cNvSpPr>
              <a:spLocks noChangeArrowheads="1"/>
            </p:cNvSpPr>
            <p:nvPr/>
          </p:nvSpPr>
          <p:spPr bwMode="auto">
            <a:xfrm>
              <a:off x="4101" y="3090"/>
              <a:ext cx="328"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s5</a:t>
              </a:r>
            </a:p>
          </p:txBody>
        </p:sp>
        <p:sp>
          <p:nvSpPr>
            <p:cNvPr id="31" name="Rectangle 153"/>
            <p:cNvSpPr>
              <a:spLocks noChangeArrowheads="1"/>
            </p:cNvSpPr>
            <p:nvPr/>
          </p:nvSpPr>
          <p:spPr bwMode="auto">
            <a:xfrm>
              <a:off x="384" y="3072"/>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7 </a:t>
              </a:r>
              <a:r>
                <a:rPr lang="en-US" altLang="zh-CN" sz="2000" b="1" i="0" u="sng">
                  <a:solidFill>
                    <a:srgbClr val="333399"/>
                  </a:solidFill>
                  <a:latin typeface="Times New Roman" panose="02020603050405020304" pitchFamily="18" charset="0"/>
                  <a:sym typeface="Symbol" panose="05050102010706020507" pitchFamily="18" charset="2"/>
                </a:rPr>
                <a:t></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p>
          </p:txBody>
        </p:sp>
      </p:grpSp>
      <p:sp>
        <p:nvSpPr>
          <p:cNvPr id="32" name="Text Box 163"/>
          <p:cNvSpPr txBox="1">
            <a:spLocks noChangeArrowheads="1"/>
          </p:cNvSpPr>
          <p:nvPr/>
        </p:nvSpPr>
        <p:spPr bwMode="auto">
          <a:xfrm>
            <a:off x="6958013" y="2084460"/>
            <a:ext cx="1546225"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dirty="0">
                <a:solidFill>
                  <a:srgbClr val="FF0000"/>
                </a:solidFill>
                <a:latin typeface="Times New Roman" panose="02020603050405020304" pitchFamily="18" charset="0"/>
              </a:rPr>
              <a:t>语义动作</a:t>
            </a:r>
          </a:p>
        </p:txBody>
      </p:sp>
      <p:sp>
        <p:nvSpPr>
          <p:cNvPr id="33" name="Line 164"/>
          <p:cNvSpPr>
            <a:spLocks noChangeShapeType="1"/>
          </p:cNvSpPr>
          <p:nvPr/>
        </p:nvSpPr>
        <p:spPr bwMode="auto">
          <a:xfrm flipH="1">
            <a:off x="6904038" y="2160660"/>
            <a:ext cx="0" cy="434340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grpSp>
        <p:nvGrpSpPr>
          <p:cNvPr id="34" name="Group 184"/>
          <p:cNvGrpSpPr/>
          <p:nvPr/>
        </p:nvGrpSpPr>
        <p:grpSpPr bwMode="auto">
          <a:xfrm>
            <a:off x="425451" y="2732160"/>
            <a:ext cx="8307387" cy="396875"/>
            <a:chOff x="383" y="1752"/>
            <a:chExt cx="5233" cy="250"/>
          </a:xfrm>
        </p:grpSpPr>
        <p:sp>
          <p:nvSpPr>
            <p:cNvPr id="35" name="Rectangle 94"/>
            <p:cNvSpPr>
              <a:spLocks noChangeArrowheads="1"/>
            </p:cNvSpPr>
            <p:nvPr/>
          </p:nvSpPr>
          <p:spPr bwMode="auto">
            <a:xfrm>
              <a:off x="3053" y="1752"/>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36" name="Rectangle 95"/>
            <p:cNvSpPr>
              <a:spLocks noChangeArrowheads="1"/>
            </p:cNvSpPr>
            <p:nvPr/>
          </p:nvSpPr>
          <p:spPr bwMode="auto">
            <a:xfrm>
              <a:off x="4093" y="1752"/>
              <a:ext cx="288"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37" name="Rectangle 96"/>
            <p:cNvSpPr>
              <a:spLocks noChangeArrowheads="1"/>
            </p:cNvSpPr>
            <p:nvPr/>
          </p:nvSpPr>
          <p:spPr bwMode="auto">
            <a:xfrm>
              <a:off x="383" y="1752"/>
              <a:ext cx="2689"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2</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38" name="Rectangle 167"/>
            <p:cNvSpPr>
              <a:spLocks noChangeArrowheads="1"/>
            </p:cNvSpPr>
            <p:nvPr/>
          </p:nvSpPr>
          <p:spPr bwMode="auto">
            <a:xfrm>
              <a:off x="4464" y="1755"/>
              <a:ext cx="1152" cy="231"/>
            </a:xfrm>
            <a:prstGeom prst="rect">
              <a:avLst/>
            </a:prstGeom>
            <a:noFill/>
            <a:ln w="9525" algn="ctr">
              <a:noFill/>
              <a:miter lim="800000"/>
            </a:ln>
          </p:spPr>
          <p:txBody>
            <a:bodyPr>
              <a:spAutoFit/>
            </a:bodyPr>
            <a:lstStyle/>
            <a:p>
              <a:pPr algn="l"/>
              <a:r>
                <a:rPr lang="en-US" altLang="zh-CN" sz="1800" dirty="0" err="1">
                  <a:solidFill>
                    <a:srgbClr val="333399"/>
                  </a:solidFill>
                  <a:latin typeface="Times New Roman" panose="02020603050405020304" pitchFamily="18" charset="0"/>
                  <a:sym typeface="Symbol" panose="05050102010706020507" pitchFamily="18" charset="2"/>
                </a:rPr>
                <a:t>F</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val</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i="0" dirty="0">
                  <a:solidFill>
                    <a:srgbClr val="333399"/>
                  </a:solidFill>
                  <a:latin typeface="Times New Roman" panose="02020603050405020304" pitchFamily="18" charset="0"/>
                  <a:sym typeface="Symbol" panose="05050102010706020507" pitchFamily="18" charset="2"/>
                </a:rPr>
                <a:t>:=</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dirty="0" err="1">
                  <a:solidFill>
                    <a:srgbClr val="333399"/>
                  </a:solidFill>
                  <a:latin typeface="Times New Roman" panose="02020603050405020304" pitchFamily="18" charset="0"/>
                  <a:sym typeface="Symbol" panose="05050102010706020507" pitchFamily="18" charset="2"/>
                </a:rPr>
                <a:t>d</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lexval</a:t>
              </a:r>
              <a:endParaRPr lang="en-US" altLang="zh-CN" sz="1800" dirty="0">
                <a:solidFill>
                  <a:srgbClr val="333399"/>
                </a:solidFill>
                <a:latin typeface="Times New Roman" panose="02020603050405020304" pitchFamily="18" charset="0"/>
              </a:endParaRPr>
            </a:p>
          </p:txBody>
        </p:sp>
      </p:grpSp>
      <p:grpSp>
        <p:nvGrpSpPr>
          <p:cNvPr id="39" name="Group 185"/>
          <p:cNvGrpSpPr/>
          <p:nvPr/>
        </p:nvGrpSpPr>
        <p:grpSpPr bwMode="auto">
          <a:xfrm>
            <a:off x="427038" y="2982985"/>
            <a:ext cx="8001000" cy="412750"/>
            <a:chOff x="384" y="1910"/>
            <a:chExt cx="5040" cy="260"/>
          </a:xfrm>
        </p:grpSpPr>
        <p:sp>
          <p:nvSpPr>
            <p:cNvPr id="40" name="Rectangle 98"/>
            <p:cNvSpPr>
              <a:spLocks noChangeArrowheads="1"/>
            </p:cNvSpPr>
            <p:nvPr/>
          </p:nvSpPr>
          <p:spPr bwMode="auto">
            <a:xfrm>
              <a:off x="3037" y="1920"/>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41" name="Rectangle 99"/>
            <p:cNvSpPr>
              <a:spLocks noChangeArrowheads="1"/>
            </p:cNvSpPr>
            <p:nvPr/>
          </p:nvSpPr>
          <p:spPr bwMode="auto">
            <a:xfrm>
              <a:off x="4101" y="1911"/>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r4</a:t>
              </a:r>
            </a:p>
          </p:txBody>
        </p:sp>
        <p:sp>
          <p:nvSpPr>
            <p:cNvPr id="42" name="Rectangle 145"/>
            <p:cNvSpPr>
              <a:spLocks noChangeArrowheads="1"/>
            </p:cNvSpPr>
            <p:nvPr/>
          </p:nvSpPr>
          <p:spPr bwMode="auto">
            <a:xfrm>
              <a:off x="384" y="1910"/>
              <a:ext cx="2689"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3 </a:t>
              </a:r>
              <a:r>
                <a:rPr kumimoji="0" lang="en-US" altLang="zh-CN" sz="2000" u="sng" dirty="0">
                  <a:solidFill>
                    <a:srgbClr val="333399"/>
                  </a:solidFill>
                  <a:latin typeface="Times New Roman" panose="02020603050405020304" pitchFamily="18" charset="0"/>
                  <a:sym typeface="Symbol" panose="05050102010706020507" pitchFamily="18" charset="2"/>
                </a:rPr>
                <a:t>F 2</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43" name="Rectangle 168"/>
            <p:cNvSpPr>
              <a:spLocks noChangeArrowheads="1"/>
            </p:cNvSpPr>
            <p:nvPr/>
          </p:nvSpPr>
          <p:spPr bwMode="auto">
            <a:xfrm>
              <a:off x="4450" y="1913"/>
              <a:ext cx="974"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T</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a:solidFill>
                    <a:srgbClr val="333399"/>
                  </a:solidFill>
                  <a:latin typeface="Times New Roman" panose="02020603050405020304" pitchFamily="18" charset="0"/>
                  <a:sym typeface="Symbol" panose="05050102010706020507" pitchFamily="18" charset="2"/>
                </a:rPr>
                <a:t> </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 F</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p>
          </p:txBody>
        </p:sp>
      </p:grpSp>
      <p:grpSp>
        <p:nvGrpSpPr>
          <p:cNvPr id="44" name="Group 186"/>
          <p:cNvGrpSpPr/>
          <p:nvPr/>
        </p:nvGrpSpPr>
        <p:grpSpPr bwMode="auto">
          <a:xfrm>
            <a:off x="427038" y="3227460"/>
            <a:ext cx="8099425" cy="404813"/>
            <a:chOff x="384" y="2064"/>
            <a:chExt cx="5102" cy="255"/>
          </a:xfrm>
        </p:grpSpPr>
        <p:sp>
          <p:nvSpPr>
            <p:cNvPr id="45" name="Rectangle 102"/>
            <p:cNvSpPr>
              <a:spLocks noChangeArrowheads="1"/>
            </p:cNvSpPr>
            <p:nvPr/>
          </p:nvSpPr>
          <p:spPr bwMode="auto">
            <a:xfrm>
              <a:off x="3053" y="2069"/>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46" name="Rectangle 103"/>
            <p:cNvSpPr>
              <a:spLocks noChangeArrowheads="1"/>
            </p:cNvSpPr>
            <p:nvPr/>
          </p:nvSpPr>
          <p:spPr bwMode="auto">
            <a:xfrm>
              <a:off x="4101" y="2069"/>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r2</a:t>
              </a:r>
            </a:p>
          </p:txBody>
        </p:sp>
        <p:sp>
          <p:nvSpPr>
            <p:cNvPr id="47" name="Rectangle 146"/>
            <p:cNvSpPr>
              <a:spLocks noChangeArrowheads="1"/>
            </p:cNvSpPr>
            <p:nvPr/>
          </p:nvSpPr>
          <p:spPr bwMode="auto">
            <a:xfrm>
              <a:off x="384" y="2064"/>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2 </a:t>
              </a:r>
              <a:r>
                <a:rPr kumimoji="0" lang="en-US" altLang="zh-CN" sz="2000" u="sng">
                  <a:solidFill>
                    <a:srgbClr val="333399"/>
                  </a:solidFill>
                  <a:latin typeface="Times New Roman" panose="02020603050405020304" pitchFamily="18" charset="0"/>
                  <a:sym typeface="Symbol" panose="05050102010706020507" pitchFamily="18" charset="2"/>
                </a:rPr>
                <a:t>T 2</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48" name="Rectangle 169"/>
            <p:cNvSpPr>
              <a:spLocks noChangeArrowheads="1"/>
            </p:cNvSpPr>
            <p:nvPr/>
          </p:nvSpPr>
          <p:spPr bwMode="auto">
            <a:xfrm>
              <a:off x="4464" y="2073"/>
              <a:ext cx="1022"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E</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a:solidFill>
                    <a:srgbClr val="333399"/>
                  </a:solidFill>
                  <a:latin typeface="Times New Roman" panose="02020603050405020304" pitchFamily="18" charset="0"/>
                  <a:sym typeface="Symbol" panose="05050102010706020507" pitchFamily="18" charset="2"/>
                </a:rPr>
                <a:t> </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 T</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p>
          </p:txBody>
        </p:sp>
      </p:grpSp>
      <p:grpSp>
        <p:nvGrpSpPr>
          <p:cNvPr id="49" name="Group 194"/>
          <p:cNvGrpSpPr/>
          <p:nvPr/>
        </p:nvGrpSpPr>
        <p:grpSpPr bwMode="auto">
          <a:xfrm>
            <a:off x="427038" y="5421385"/>
            <a:ext cx="8534400" cy="412750"/>
            <a:chOff x="384" y="3446"/>
            <a:chExt cx="5376" cy="260"/>
          </a:xfrm>
        </p:grpSpPr>
        <p:sp>
          <p:nvSpPr>
            <p:cNvPr id="50" name="Rectangle 134"/>
            <p:cNvSpPr>
              <a:spLocks noChangeArrowheads="1"/>
            </p:cNvSpPr>
            <p:nvPr/>
          </p:nvSpPr>
          <p:spPr bwMode="auto">
            <a:xfrm>
              <a:off x="3053" y="3456"/>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51" name="Rectangle 135"/>
            <p:cNvSpPr>
              <a:spLocks noChangeArrowheads="1"/>
            </p:cNvSpPr>
            <p:nvPr/>
          </p:nvSpPr>
          <p:spPr bwMode="auto">
            <a:xfrm>
              <a:off x="4101" y="3453"/>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r3</a:t>
              </a:r>
            </a:p>
          </p:txBody>
        </p:sp>
        <p:sp>
          <p:nvSpPr>
            <p:cNvPr id="52" name="Rectangle 156"/>
            <p:cNvSpPr>
              <a:spLocks noChangeArrowheads="1"/>
            </p:cNvSpPr>
            <p:nvPr/>
          </p:nvSpPr>
          <p:spPr bwMode="auto">
            <a:xfrm>
              <a:off x="384" y="3446"/>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7 </a:t>
              </a:r>
              <a:r>
                <a:rPr lang="en-US" altLang="zh-CN" sz="2000" b="1" i="0" u="sng">
                  <a:solidFill>
                    <a:srgbClr val="333399"/>
                  </a:solidFill>
                  <a:latin typeface="Times New Roman" panose="02020603050405020304" pitchFamily="18" charset="0"/>
                  <a:sym typeface="Symbol" panose="05050102010706020507" pitchFamily="18" charset="2"/>
                </a:rPr>
                <a:t></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10 </a:t>
              </a:r>
              <a:r>
                <a:rPr lang="en-US" altLang="zh-CN" sz="2000" u="sng">
                  <a:solidFill>
                    <a:srgbClr val="333399"/>
                  </a:solidFill>
                  <a:latin typeface="Times New Roman" panose="02020603050405020304" pitchFamily="18" charset="0"/>
                  <a:sym typeface="Symbol" panose="05050102010706020507" pitchFamily="18" charset="2"/>
                </a:rPr>
                <a:t>F</a:t>
              </a:r>
              <a:r>
                <a:rPr kumimoji="0" lang="en-US" altLang="zh-CN" sz="2000" u="sng">
                  <a:solidFill>
                    <a:srgbClr val="333399"/>
                  </a:solidFill>
                  <a:latin typeface="Times New Roman" panose="02020603050405020304" pitchFamily="18" charset="0"/>
                  <a:sym typeface="Symbol" panose="05050102010706020507" pitchFamily="18" charset="2"/>
                </a:rPr>
                <a:t> 5</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53" name="Rectangle 176"/>
            <p:cNvSpPr>
              <a:spLocks noChangeArrowheads="1"/>
            </p:cNvSpPr>
            <p:nvPr/>
          </p:nvSpPr>
          <p:spPr bwMode="auto">
            <a:xfrm>
              <a:off x="4416" y="3453"/>
              <a:ext cx="1344"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T</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T</a:t>
              </a:r>
              <a:r>
                <a:rPr lang="en-US" altLang="zh-CN" sz="1800" i="0" baseline="-25000">
                  <a:solidFill>
                    <a:srgbClr val="333399"/>
                  </a:solidFill>
                  <a:latin typeface="Times New Roman" panose="02020603050405020304" pitchFamily="18" charset="0"/>
                  <a:sym typeface="Symbol" panose="05050102010706020507" pitchFamily="18" charset="2"/>
                </a:rPr>
                <a:t>1</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b="1"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F</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p>
          </p:txBody>
        </p:sp>
      </p:grpSp>
      <p:grpSp>
        <p:nvGrpSpPr>
          <p:cNvPr id="54" name="Group 196"/>
          <p:cNvGrpSpPr/>
          <p:nvPr/>
        </p:nvGrpSpPr>
        <p:grpSpPr bwMode="auto">
          <a:xfrm>
            <a:off x="427038" y="5970660"/>
            <a:ext cx="7924800" cy="457200"/>
            <a:chOff x="384" y="3792"/>
            <a:chExt cx="4992" cy="288"/>
          </a:xfrm>
        </p:grpSpPr>
        <p:sp>
          <p:nvSpPr>
            <p:cNvPr id="55" name="Rectangle 138"/>
            <p:cNvSpPr>
              <a:spLocks noChangeArrowheads="1"/>
            </p:cNvSpPr>
            <p:nvPr/>
          </p:nvSpPr>
          <p:spPr bwMode="auto">
            <a:xfrm>
              <a:off x="3053" y="3830"/>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56" name="Rectangle 139"/>
            <p:cNvSpPr>
              <a:spLocks noChangeArrowheads="1"/>
            </p:cNvSpPr>
            <p:nvPr/>
          </p:nvSpPr>
          <p:spPr bwMode="auto">
            <a:xfrm>
              <a:off x="4045" y="3815"/>
              <a:ext cx="376"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sym typeface="Symbol" panose="05050102010706020507" pitchFamily="18" charset="2"/>
                </a:rPr>
                <a:t>acc</a:t>
              </a:r>
            </a:p>
          </p:txBody>
        </p:sp>
        <p:sp>
          <p:nvSpPr>
            <p:cNvPr id="57" name="Rectangle 158"/>
            <p:cNvSpPr>
              <a:spLocks noChangeArrowheads="1"/>
            </p:cNvSpPr>
            <p:nvPr/>
          </p:nvSpPr>
          <p:spPr bwMode="auto">
            <a:xfrm>
              <a:off x="384" y="3792"/>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17</a:t>
              </a:r>
              <a:endParaRPr kumimoji="0" lang="en-US" altLang="zh-CN" sz="2000">
                <a:solidFill>
                  <a:srgbClr val="333399"/>
                </a:solidFill>
                <a:latin typeface="Times New Roman" panose="02020603050405020304" pitchFamily="18" charset="0"/>
                <a:sym typeface="Symbol" panose="05050102010706020507" pitchFamily="18" charset="2"/>
              </a:endParaRPr>
            </a:p>
          </p:txBody>
        </p:sp>
        <p:sp>
          <p:nvSpPr>
            <p:cNvPr id="58" name="Rectangle 177"/>
            <p:cNvSpPr>
              <a:spLocks noChangeArrowheads="1"/>
            </p:cNvSpPr>
            <p:nvPr/>
          </p:nvSpPr>
          <p:spPr bwMode="auto">
            <a:xfrm>
              <a:off x="4538" y="3849"/>
              <a:ext cx="838"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p</a:t>
              </a:r>
              <a:r>
                <a:rPr lang="en-US" altLang="zh-CN" sz="1800">
                  <a:solidFill>
                    <a:srgbClr val="333399"/>
                  </a:solidFill>
                  <a:latin typeface="Times New Roman" panose="02020603050405020304" pitchFamily="18" charset="0"/>
                </a:rPr>
                <a:t>rint(E</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p>
          </p:txBody>
        </p:sp>
      </p:grpSp>
      <p:grpSp>
        <p:nvGrpSpPr>
          <p:cNvPr id="59" name="Group 189"/>
          <p:cNvGrpSpPr/>
          <p:nvPr/>
        </p:nvGrpSpPr>
        <p:grpSpPr bwMode="auto">
          <a:xfrm>
            <a:off x="427038" y="3989460"/>
            <a:ext cx="8305800" cy="400050"/>
            <a:chOff x="384" y="2544"/>
            <a:chExt cx="5232" cy="252"/>
          </a:xfrm>
        </p:grpSpPr>
        <p:sp>
          <p:nvSpPr>
            <p:cNvPr id="60" name="Rectangle 114"/>
            <p:cNvSpPr>
              <a:spLocks noChangeArrowheads="1"/>
            </p:cNvSpPr>
            <p:nvPr/>
          </p:nvSpPr>
          <p:spPr bwMode="auto">
            <a:xfrm>
              <a:off x="3053" y="2546"/>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61" name="Rectangle 115"/>
            <p:cNvSpPr>
              <a:spLocks noChangeArrowheads="1"/>
            </p:cNvSpPr>
            <p:nvPr/>
          </p:nvSpPr>
          <p:spPr bwMode="auto">
            <a:xfrm>
              <a:off x="4101" y="2546"/>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62" name="Rectangle 150"/>
            <p:cNvSpPr>
              <a:spLocks noChangeArrowheads="1"/>
            </p:cNvSpPr>
            <p:nvPr/>
          </p:nvSpPr>
          <p:spPr bwMode="auto">
            <a:xfrm>
              <a:off x="384" y="2544"/>
              <a:ext cx="2689"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3</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63" name="Rectangle 179"/>
            <p:cNvSpPr>
              <a:spLocks noChangeArrowheads="1"/>
            </p:cNvSpPr>
            <p:nvPr/>
          </p:nvSpPr>
          <p:spPr bwMode="auto">
            <a:xfrm>
              <a:off x="4464" y="2544"/>
              <a:ext cx="1152"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F</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a:solidFill>
                    <a:srgbClr val="333399"/>
                  </a:solidFill>
                  <a:latin typeface="Times New Roman" panose="02020603050405020304" pitchFamily="18" charset="0"/>
                  <a:sym typeface="Symbol" panose="05050102010706020507" pitchFamily="18" charset="2"/>
                </a:rPr>
                <a:t> </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 d</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lexval</a:t>
              </a:r>
            </a:p>
          </p:txBody>
        </p:sp>
      </p:grpSp>
      <p:grpSp>
        <p:nvGrpSpPr>
          <p:cNvPr id="64" name="Group 190"/>
          <p:cNvGrpSpPr/>
          <p:nvPr/>
        </p:nvGrpSpPr>
        <p:grpSpPr bwMode="auto">
          <a:xfrm>
            <a:off x="427038" y="4278385"/>
            <a:ext cx="8001000" cy="398463"/>
            <a:chOff x="384" y="2726"/>
            <a:chExt cx="5040" cy="251"/>
          </a:xfrm>
        </p:grpSpPr>
        <p:sp>
          <p:nvSpPr>
            <p:cNvPr id="65" name="Rectangle 118"/>
            <p:cNvSpPr>
              <a:spLocks noChangeArrowheads="1"/>
            </p:cNvSpPr>
            <p:nvPr/>
          </p:nvSpPr>
          <p:spPr bwMode="auto">
            <a:xfrm>
              <a:off x="3053" y="2727"/>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66" name="Rectangle 119"/>
            <p:cNvSpPr>
              <a:spLocks noChangeArrowheads="1"/>
            </p:cNvSpPr>
            <p:nvPr/>
          </p:nvSpPr>
          <p:spPr bwMode="auto">
            <a:xfrm>
              <a:off x="4101" y="2727"/>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r4</a:t>
              </a:r>
            </a:p>
          </p:txBody>
        </p:sp>
        <p:sp>
          <p:nvSpPr>
            <p:cNvPr id="67" name="Rectangle 151"/>
            <p:cNvSpPr>
              <a:spLocks noChangeArrowheads="1"/>
            </p:cNvSpPr>
            <p:nvPr/>
          </p:nvSpPr>
          <p:spPr bwMode="auto">
            <a:xfrm>
              <a:off x="384" y="2726"/>
              <a:ext cx="2689"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3 </a:t>
              </a:r>
              <a:r>
                <a:rPr kumimoji="0" lang="en-US" altLang="zh-CN" sz="2000" u="sng" dirty="0">
                  <a:solidFill>
                    <a:srgbClr val="333399"/>
                  </a:solidFill>
                  <a:latin typeface="Times New Roman" panose="02020603050405020304" pitchFamily="18" charset="0"/>
                  <a:sym typeface="Symbol" panose="05050102010706020507" pitchFamily="18" charset="2"/>
                </a:rPr>
                <a:t>F</a:t>
              </a:r>
              <a:r>
                <a:rPr kumimoji="0" lang="en-US" altLang="zh-CN" sz="2000" i="0" u="sng" dirty="0">
                  <a:solidFill>
                    <a:srgbClr val="333399"/>
                  </a:solidFill>
                  <a:latin typeface="Times New Roman" panose="02020603050405020304" pitchFamily="18" charset="0"/>
                  <a:sym typeface="Symbol" panose="05050102010706020507" pitchFamily="18" charset="2"/>
                </a:rPr>
                <a:t> </a:t>
              </a:r>
              <a:r>
                <a:rPr kumimoji="0" lang="en-US" altLang="zh-CN" sz="2000" u="sng" dirty="0">
                  <a:solidFill>
                    <a:srgbClr val="333399"/>
                  </a:solidFill>
                  <a:latin typeface="Times New Roman" panose="02020603050405020304" pitchFamily="18" charset="0"/>
                  <a:sym typeface="Symbol" panose="05050102010706020507" pitchFamily="18" charset="2"/>
                </a:rPr>
                <a:t>3</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68" name="Rectangle 180"/>
            <p:cNvSpPr>
              <a:spLocks noChangeArrowheads="1"/>
            </p:cNvSpPr>
            <p:nvPr/>
          </p:nvSpPr>
          <p:spPr bwMode="auto">
            <a:xfrm>
              <a:off x="4450" y="2745"/>
              <a:ext cx="974" cy="231"/>
            </a:xfrm>
            <a:prstGeom prst="rect">
              <a:avLst/>
            </a:prstGeom>
            <a:noFill/>
            <a:ln w="9525" algn="ctr">
              <a:noFill/>
              <a:miter lim="800000"/>
            </a:ln>
          </p:spPr>
          <p:txBody>
            <a:bodyPr>
              <a:spAutoFit/>
            </a:bodyPr>
            <a:lstStyle/>
            <a:p>
              <a:pPr algn="l"/>
              <a:r>
                <a:rPr lang="en-US" altLang="zh-CN" sz="1800" dirty="0" err="1">
                  <a:solidFill>
                    <a:srgbClr val="333399"/>
                  </a:solidFill>
                  <a:latin typeface="Times New Roman" panose="02020603050405020304" pitchFamily="18" charset="0"/>
                  <a:sym typeface="Symbol" panose="05050102010706020507" pitchFamily="18" charset="2"/>
                </a:rPr>
                <a:t>T</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val</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i="0" dirty="0">
                  <a:solidFill>
                    <a:srgbClr val="333399"/>
                  </a:solidFill>
                  <a:latin typeface="Times New Roman" panose="02020603050405020304" pitchFamily="18" charset="0"/>
                  <a:sym typeface="Symbol" panose="05050102010706020507" pitchFamily="18" charset="2"/>
                </a:rPr>
                <a:t>:=</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dirty="0" err="1">
                  <a:solidFill>
                    <a:srgbClr val="333399"/>
                  </a:solidFill>
                  <a:latin typeface="Times New Roman" panose="02020603050405020304" pitchFamily="18" charset="0"/>
                  <a:sym typeface="Symbol" panose="05050102010706020507" pitchFamily="18" charset="2"/>
                </a:rPr>
                <a:t>F</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val</a:t>
              </a:r>
              <a:endParaRPr lang="en-US" altLang="zh-CN" sz="1800" dirty="0">
                <a:solidFill>
                  <a:srgbClr val="333399"/>
                </a:solidFill>
                <a:latin typeface="Times New Roman" panose="02020603050405020304" pitchFamily="18" charset="0"/>
              </a:endParaRPr>
            </a:p>
          </p:txBody>
        </p:sp>
      </p:grpSp>
      <p:grpSp>
        <p:nvGrpSpPr>
          <p:cNvPr id="69" name="Group 193"/>
          <p:cNvGrpSpPr/>
          <p:nvPr/>
        </p:nvGrpSpPr>
        <p:grpSpPr bwMode="auto">
          <a:xfrm>
            <a:off x="427038" y="5116585"/>
            <a:ext cx="8305800" cy="423863"/>
            <a:chOff x="384" y="3254"/>
            <a:chExt cx="5232" cy="267"/>
          </a:xfrm>
        </p:grpSpPr>
        <p:sp>
          <p:nvSpPr>
            <p:cNvPr id="70" name="Rectangle 130"/>
            <p:cNvSpPr>
              <a:spLocks noChangeArrowheads="1"/>
            </p:cNvSpPr>
            <p:nvPr/>
          </p:nvSpPr>
          <p:spPr bwMode="auto">
            <a:xfrm>
              <a:off x="3053" y="3271"/>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71" name="Rectangle 131"/>
            <p:cNvSpPr>
              <a:spLocks noChangeArrowheads="1"/>
            </p:cNvSpPr>
            <p:nvPr/>
          </p:nvSpPr>
          <p:spPr bwMode="auto">
            <a:xfrm>
              <a:off x="4101" y="3271"/>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72" name="Rectangle 154"/>
            <p:cNvSpPr>
              <a:spLocks noChangeArrowheads="1"/>
            </p:cNvSpPr>
            <p:nvPr/>
          </p:nvSpPr>
          <p:spPr bwMode="auto">
            <a:xfrm>
              <a:off x="384" y="3254"/>
              <a:ext cx="2689" cy="250"/>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9 </a:t>
              </a:r>
              <a:r>
                <a:rPr kumimoji="0" lang="en-US" altLang="zh-CN" sz="2000" u="sng" dirty="0">
                  <a:solidFill>
                    <a:srgbClr val="333399"/>
                  </a:solidFill>
                  <a:latin typeface="Times New Roman" panose="02020603050405020304" pitchFamily="18" charset="0"/>
                  <a:sym typeface="Symbol" panose="05050102010706020507" pitchFamily="18" charset="2"/>
                </a:rPr>
                <a:t>T</a:t>
              </a:r>
              <a:r>
                <a:rPr kumimoji="0" lang="en-US" altLang="zh-CN" sz="2000" i="0" u="sng" dirty="0">
                  <a:solidFill>
                    <a:srgbClr val="333399"/>
                  </a:solidFill>
                  <a:latin typeface="Times New Roman" panose="02020603050405020304" pitchFamily="18" charset="0"/>
                  <a:sym typeface="Symbol" panose="05050102010706020507" pitchFamily="18" charset="2"/>
                </a:rPr>
                <a:t> </a:t>
              </a:r>
              <a:r>
                <a:rPr kumimoji="0" lang="en-US" altLang="zh-CN" sz="2000" u="sng" dirty="0">
                  <a:solidFill>
                    <a:srgbClr val="333399"/>
                  </a:solidFill>
                  <a:latin typeface="Times New Roman" panose="02020603050405020304" pitchFamily="18" charset="0"/>
                  <a:sym typeface="Symbol" panose="05050102010706020507" pitchFamily="18" charset="2"/>
                </a:rPr>
                <a:t>3</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7 </a:t>
              </a:r>
              <a:r>
                <a:rPr lang="en-US" altLang="zh-CN" sz="2000" b="1" i="0" u="sng" dirty="0">
                  <a:solidFill>
                    <a:srgbClr val="333399"/>
                  </a:solidFill>
                  <a:latin typeface="Times New Roman" panose="02020603050405020304" pitchFamily="18" charset="0"/>
                  <a:sym typeface="Symbol" panose="05050102010706020507" pitchFamily="18" charset="2"/>
                </a:rPr>
                <a:t></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5</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73" name="Rectangle 181"/>
            <p:cNvSpPr>
              <a:spLocks noChangeArrowheads="1"/>
            </p:cNvSpPr>
            <p:nvPr/>
          </p:nvSpPr>
          <p:spPr bwMode="auto">
            <a:xfrm>
              <a:off x="4464" y="3264"/>
              <a:ext cx="1152"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F</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a:solidFill>
                    <a:srgbClr val="333399"/>
                  </a:solidFill>
                  <a:latin typeface="Times New Roman" panose="02020603050405020304" pitchFamily="18" charset="0"/>
                  <a:sym typeface="Symbol" panose="05050102010706020507" pitchFamily="18" charset="2"/>
                </a:rPr>
                <a:t> </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 d</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lexval</a:t>
              </a:r>
            </a:p>
          </p:txBody>
        </p:sp>
      </p:grpSp>
      <p:grpSp>
        <p:nvGrpSpPr>
          <p:cNvPr id="74" name="Group 195"/>
          <p:cNvGrpSpPr/>
          <p:nvPr/>
        </p:nvGrpSpPr>
        <p:grpSpPr bwMode="auto">
          <a:xfrm>
            <a:off x="427038" y="5726185"/>
            <a:ext cx="8534400" cy="412750"/>
            <a:chOff x="384" y="3638"/>
            <a:chExt cx="5376" cy="260"/>
          </a:xfrm>
        </p:grpSpPr>
        <p:sp>
          <p:nvSpPr>
            <p:cNvPr id="75" name="Rectangle 142"/>
            <p:cNvSpPr>
              <a:spLocks noChangeArrowheads="1"/>
            </p:cNvSpPr>
            <p:nvPr/>
          </p:nvSpPr>
          <p:spPr bwMode="auto">
            <a:xfrm>
              <a:off x="3053" y="3648"/>
              <a:ext cx="907" cy="250"/>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76" name="Rectangle 143"/>
            <p:cNvSpPr>
              <a:spLocks noChangeArrowheads="1"/>
            </p:cNvSpPr>
            <p:nvPr/>
          </p:nvSpPr>
          <p:spPr bwMode="auto">
            <a:xfrm>
              <a:off x="4101" y="3648"/>
              <a:ext cx="280" cy="250"/>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r1</a:t>
              </a:r>
            </a:p>
          </p:txBody>
        </p:sp>
        <p:sp>
          <p:nvSpPr>
            <p:cNvPr id="77" name="Rectangle 157"/>
            <p:cNvSpPr>
              <a:spLocks noChangeArrowheads="1"/>
            </p:cNvSpPr>
            <p:nvPr/>
          </p:nvSpPr>
          <p:spPr bwMode="auto">
            <a:xfrm>
              <a:off x="384" y="3638"/>
              <a:ext cx="2689" cy="250"/>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15</a:t>
              </a:r>
              <a:endParaRPr kumimoji="0" lang="en-US" altLang="zh-CN" sz="2000">
                <a:solidFill>
                  <a:srgbClr val="333399"/>
                </a:solidFill>
                <a:latin typeface="Times New Roman" panose="02020603050405020304" pitchFamily="18" charset="0"/>
                <a:sym typeface="Symbol" panose="05050102010706020507" pitchFamily="18" charset="2"/>
              </a:endParaRPr>
            </a:p>
          </p:txBody>
        </p:sp>
        <p:sp>
          <p:nvSpPr>
            <p:cNvPr id="78" name="Rectangle 182"/>
            <p:cNvSpPr>
              <a:spLocks noChangeArrowheads="1"/>
            </p:cNvSpPr>
            <p:nvPr/>
          </p:nvSpPr>
          <p:spPr bwMode="auto">
            <a:xfrm>
              <a:off x="4416" y="3657"/>
              <a:ext cx="1344" cy="231"/>
            </a:xfrm>
            <a:prstGeom prst="rect">
              <a:avLst/>
            </a:prstGeom>
            <a:noFill/>
            <a:ln w="9525" algn="ctr">
              <a:noFill/>
              <a:miter lim="800000"/>
            </a:ln>
          </p:spPr>
          <p:txBody>
            <a:bodyPr>
              <a:spAutoFit/>
            </a:bodyPr>
            <a:lstStyle/>
            <a:p>
              <a:pPr algn="l"/>
              <a:r>
                <a:rPr lang="en-US" altLang="zh-CN" sz="1800">
                  <a:solidFill>
                    <a:srgbClr val="333399"/>
                  </a:solidFill>
                  <a:latin typeface="Times New Roman" panose="02020603050405020304" pitchFamily="18" charset="0"/>
                  <a:sym typeface="Symbol" panose="05050102010706020507" pitchFamily="18" charset="2"/>
                </a:rPr>
                <a:t>E</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E</a:t>
              </a:r>
              <a:r>
                <a:rPr lang="en-US" altLang="zh-CN" sz="1800" i="0" baseline="-25000">
                  <a:solidFill>
                    <a:srgbClr val="333399"/>
                  </a:solidFill>
                  <a:latin typeface="Times New Roman" panose="02020603050405020304" pitchFamily="18" charset="0"/>
                  <a:sym typeface="Symbol" panose="05050102010706020507" pitchFamily="18" charset="2"/>
                </a:rPr>
                <a:t>1</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r>
                <a:rPr lang="en-US" altLang="zh-CN" sz="1800" i="0">
                  <a:solidFill>
                    <a:srgbClr val="333399"/>
                  </a:solidFill>
                  <a:latin typeface="Times New Roman" panose="02020603050405020304" pitchFamily="18" charset="0"/>
                  <a:sym typeface="Symbol" panose="05050102010706020507" pitchFamily="18" charset="2"/>
                </a:rPr>
                <a:t>+</a:t>
              </a:r>
              <a:r>
                <a:rPr lang="en-US" altLang="zh-CN" sz="1800">
                  <a:solidFill>
                    <a:srgbClr val="333399"/>
                  </a:solidFill>
                  <a:latin typeface="Times New Roman" panose="02020603050405020304" pitchFamily="18" charset="0"/>
                  <a:sym typeface="Symbol" panose="05050102010706020507" pitchFamily="18" charset="2"/>
                </a:rPr>
                <a:t>T</a:t>
              </a:r>
              <a:r>
                <a:rPr lang="en-US" altLang="zh-CN" sz="1800" b="1">
                  <a:solidFill>
                    <a:srgbClr val="333399"/>
                  </a:solidFill>
                  <a:latin typeface="Times New Roman" panose="02020603050405020304" pitchFamily="18" charset="0"/>
                </a:rPr>
                <a:t>.</a:t>
              </a:r>
              <a:r>
                <a:rPr lang="en-US" altLang="zh-CN" sz="1800">
                  <a:solidFill>
                    <a:srgbClr val="333399"/>
                  </a:solidFill>
                  <a:latin typeface="Times New Roman" panose="02020603050405020304" pitchFamily="18" charset="0"/>
                </a:rPr>
                <a:t>val</a:t>
              </a:r>
            </a:p>
          </p:txBody>
        </p:sp>
      </p:grpSp>
      <p:sp>
        <p:nvSpPr>
          <p:cNvPr id="2" name="灯片编号占位符 1"/>
          <p:cNvSpPr>
            <a:spLocks noGrp="1"/>
          </p:cNvSpPr>
          <p:nvPr>
            <p:ph type="sldNum" sz="quarter" idx="4"/>
          </p:nvPr>
        </p:nvSpPr>
        <p:spPr/>
        <p:txBody>
          <a:bodyPr/>
          <a:lstStyle/>
          <a:p>
            <a:fld id="{565CE74E-AB26-4998-AD42-012C4C1AD076}" type="slidenum">
              <a:rPr lang="zh-CN" altLang="en-US" smtClean="0"/>
              <a:t>44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lide(fromBottom)">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slide(fromBottom)">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slide(fromBottom)">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lide(fromBottom)">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slide(fromBottom)">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slide(fromBottom)">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4"/>
                                        </p:tgtEl>
                                        <p:attrNameLst>
                                          <p:attrName>style.visibility</p:attrName>
                                        </p:attrNameLst>
                                      </p:cBhvr>
                                      <p:to>
                                        <p:strVal val="visible"/>
                                      </p:to>
                                    </p:set>
                                    <p:animEffect transition="in" filter="slide(fromBottom)">
                                      <p:cBhvr>
                                        <p:cTn id="42" dur="500"/>
                                        <p:tgtEl>
                                          <p:spTgt spid="6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slide(fromBottom)">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slide(fromBottom)">
                                      <p:cBhvr>
                                        <p:cTn id="52" dur="500"/>
                                        <p:tgtEl>
                                          <p:spTgt spid="28"/>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slide(fromBottom)">
                                      <p:cBhvr>
                                        <p:cTn id="57" dur="500"/>
                                        <p:tgtEl>
                                          <p:spTgt spid="69"/>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slide(fromBottom)">
                                      <p:cBhvr>
                                        <p:cTn id="62" dur="500"/>
                                        <p:tgtEl>
                                          <p:spTgt spid="49"/>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nodeType="clickEffect">
                                  <p:stCondLst>
                                    <p:cond delay="0"/>
                                  </p:stCondLst>
                                  <p:childTnLst>
                                    <p:set>
                                      <p:cBhvr>
                                        <p:cTn id="66" dur="1" fill="hold">
                                          <p:stCondLst>
                                            <p:cond delay="0"/>
                                          </p:stCondLst>
                                        </p:cTn>
                                        <p:tgtEl>
                                          <p:spTgt spid="74"/>
                                        </p:tgtEl>
                                        <p:attrNameLst>
                                          <p:attrName>style.visibility</p:attrName>
                                        </p:attrNameLst>
                                      </p:cBhvr>
                                      <p:to>
                                        <p:strVal val="visible"/>
                                      </p:to>
                                    </p:set>
                                    <p:animEffect transition="in" filter="slide(fromBottom)">
                                      <p:cBhvr>
                                        <p:cTn id="67" dur="500"/>
                                        <p:tgtEl>
                                          <p:spTgt spid="74"/>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slide(fromBottom)">
                                      <p:cBhvr>
                                        <p:cTn id="7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10000"/>
          </a:bodyPr>
          <a:lstStyle/>
          <a:p>
            <a:r>
              <a:rPr lang="zh-CN" altLang="en-US" dirty="0">
                <a:latin typeface="Times New Roman" panose="02020603050405020304" pitchFamily="18" charset="0"/>
              </a:rPr>
              <a:t>（二）基于</a:t>
            </a:r>
            <a:r>
              <a:rPr lang="en-US" altLang="zh-CN" dirty="0">
                <a:latin typeface="Times New Roman" panose="02020603050405020304" pitchFamily="18" charset="0"/>
              </a:rPr>
              <a:t>L-</a:t>
            </a:r>
            <a:r>
              <a:rPr lang="zh-CN" altLang="en-US" dirty="0">
                <a:latin typeface="Times New Roman" panose="02020603050405020304" pitchFamily="18" charset="0"/>
              </a:rPr>
              <a:t>属性文法的语义计算</a:t>
            </a:r>
            <a:endParaRPr lang="en-US" altLang="zh-CN" dirty="0">
              <a:latin typeface="Times New Roman" panose="02020603050405020304" pitchFamily="18" charset="0"/>
            </a:endParaRPr>
          </a:p>
          <a:p>
            <a:r>
              <a:rPr lang="zh-CN" altLang="en-US" dirty="0">
                <a:solidFill>
                  <a:srgbClr val="FF0000"/>
                </a:solidFill>
                <a:latin typeface="Times New Roman" panose="02020603050405020304" pitchFamily="18" charset="0"/>
              </a:rPr>
              <a:t>自上而下</a:t>
            </a:r>
            <a:r>
              <a:rPr lang="zh-CN" altLang="en-US" dirty="0">
                <a:latin typeface="Times New Roman" panose="02020603050405020304" pitchFamily="18" charset="0"/>
              </a:rPr>
              <a:t>的分析方案：</a:t>
            </a:r>
            <a:r>
              <a:rPr lang="en-US" altLang="zh-CN" dirty="0">
                <a:solidFill>
                  <a:srgbClr val="FF0000"/>
                </a:solidFill>
                <a:latin typeface="Times New Roman" panose="02020603050405020304" pitchFamily="18" charset="0"/>
              </a:rPr>
              <a:t>LL</a:t>
            </a:r>
            <a:r>
              <a:rPr lang="zh-CN" altLang="en-US" dirty="0">
                <a:solidFill>
                  <a:srgbClr val="FF0000"/>
                </a:solidFill>
                <a:latin typeface="Times New Roman" panose="02020603050405020304" pitchFamily="18" charset="0"/>
              </a:rPr>
              <a:t>语法分析</a:t>
            </a:r>
            <a:endParaRPr lang="en-US" altLang="zh-CN" dirty="0">
              <a:solidFill>
                <a:srgbClr val="FF0000"/>
              </a:solidFill>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pPr>
              <a:buFont typeface="Symbol" panose="05050102010706020507" pitchFamily="18" charset="2"/>
              <a:buChar char="-"/>
            </a:pPr>
            <a:r>
              <a:rPr lang="en-US" altLang="zh-CN" dirty="0">
                <a:latin typeface="Times New Roman" panose="02020603050405020304" pitchFamily="18" charset="0"/>
              </a:rPr>
              <a:t> </a:t>
            </a:r>
            <a:r>
              <a:rPr lang="zh-CN" altLang="en-US" dirty="0">
                <a:solidFill>
                  <a:srgbClr val="333399"/>
                </a:solidFill>
                <a:latin typeface="Times New Roman" panose="02020603050405020304" pitchFamily="18" charset="0"/>
              </a:rPr>
              <a:t>该算法与自上而下预测分析过程对应。因此</a:t>
            </a:r>
            <a:r>
              <a:rPr lang="en-US" altLang="zh-CN" dirty="0">
                <a:solidFill>
                  <a:srgbClr val="333399"/>
                </a:solidFill>
                <a:latin typeface="Times New Roman" panose="02020603050405020304" pitchFamily="18" charset="0"/>
              </a:rPr>
              <a:t>,</a:t>
            </a:r>
            <a:r>
              <a:rPr lang="zh-CN" altLang="en-US" dirty="0">
                <a:solidFill>
                  <a:srgbClr val="333399"/>
                </a:solidFill>
                <a:latin typeface="Times New Roman" panose="02020603050405020304" pitchFamily="18" charset="0"/>
              </a:rPr>
              <a:t>基于 </a:t>
            </a:r>
            <a:r>
              <a:rPr lang="en-US" altLang="zh-CN" dirty="0">
                <a:solidFill>
                  <a:srgbClr val="333399"/>
                </a:solidFill>
                <a:latin typeface="Times New Roman" panose="02020603050405020304" pitchFamily="18" charset="0"/>
              </a:rPr>
              <a:t>LL(1)</a:t>
            </a:r>
            <a:r>
              <a:rPr lang="zh-CN" altLang="en-US" dirty="0">
                <a:solidFill>
                  <a:srgbClr val="333399"/>
                </a:solidFill>
                <a:latin typeface="Times New Roman" panose="02020603050405020304" pitchFamily="18" charset="0"/>
              </a:rPr>
              <a:t>文法的 </a:t>
            </a:r>
            <a:r>
              <a:rPr lang="en-US" altLang="zh-CN" dirty="0">
                <a:solidFill>
                  <a:srgbClr val="333399"/>
                </a:solidFill>
                <a:latin typeface="Times New Roman" panose="02020603050405020304" pitchFamily="18" charset="0"/>
              </a:rPr>
              <a:t>L-</a:t>
            </a:r>
            <a:r>
              <a:rPr lang="zh-CN" altLang="en-US" dirty="0">
                <a:solidFill>
                  <a:srgbClr val="333399"/>
                </a:solidFill>
                <a:latin typeface="Times New Roman" panose="02020603050405020304" pitchFamily="18" charset="0"/>
              </a:rPr>
              <a:t>属性文法可以采用这种方法进行语义计算。</a:t>
            </a:r>
            <a:endParaRPr lang="en-US" altLang="zh-CN" dirty="0">
              <a:latin typeface="Times New Roman" panose="02020603050405020304" pitchFamily="18" charset="0"/>
            </a:endParaRPr>
          </a:p>
        </p:txBody>
      </p:sp>
      <p:sp>
        <p:nvSpPr>
          <p:cNvPr id="3" name="标题 2"/>
          <p:cNvSpPr>
            <a:spLocks noGrp="1"/>
          </p:cNvSpPr>
          <p:nvPr>
            <p:ph type="title"/>
          </p:nvPr>
        </p:nvSpPr>
        <p:spPr/>
        <p:txBody>
          <a:bodyPr/>
          <a:lstStyle/>
          <a:p>
            <a:r>
              <a:rPr lang="zh-CN" altLang="en-US" dirty="0">
                <a:latin typeface="Times New Roman" panose="02020603050405020304" pitchFamily="18" charset="0"/>
              </a:rPr>
              <a:t>三、基于属性文法的语义计算</a:t>
            </a:r>
          </a:p>
        </p:txBody>
      </p:sp>
      <p:sp>
        <p:nvSpPr>
          <p:cNvPr id="4" name="矩形 3"/>
          <p:cNvSpPr/>
          <p:nvPr/>
        </p:nvSpPr>
        <p:spPr>
          <a:xfrm>
            <a:off x="2286000" y="1804911"/>
            <a:ext cx="4572000" cy="3139321"/>
          </a:xfrm>
          <a:prstGeom prst="rect">
            <a:avLst/>
          </a:prstGeom>
        </p:spPr>
        <p:txBody>
          <a:bodyPr>
            <a:spAutoFit/>
          </a:bodyPr>
          <a:lstStyle/>
          <a:p>
            <a:pPr>
              <a:buFont typeface="Symbol" panose="05050102010706020507" pitchFamily="18" charset="2"/>
              <a:buChar char="-"/>
            </a:pPr>
            <a:r>
              <a:rPr lang="zh-CN" altLang="en-US" b="1" dirty="0">
                <a:solidFill>
                  <a:srgbClr val="333399"/>
                </a:solidFill>
                <a:latin typeface="Times New Roman" panose="02020603050405020304" pitchFamily="18" charset="0"/>
              </a:rPr>
              <a:t>可以采用下列基于深度优先后序遍历的算法</a:t>
            </a:r>
          </a:p>
          <a:p>
            <a:r>
              <a:rPr lang="zh-CN" altLang="en-US" b="1" dirty="0">
                <a:solidFill>
                  <a:srgbClr val="333399"/>
                </a:solidFill>
                <a:latin typeface="Times New Roman" panose="02020603050405020304" pitchFamily="18" charset="0"/>
              </a:rPr>
              <a:t>       </a:t>
            </a:r>
            <a:r>
              <a:rPr lang="en-US" altLang="zh-CN" b="1" dirty="0">
                <a:solidFill>
                  <a:srgbClr val="333399"/>
                </a:solidFill>
                <a:latin typeface="Times New Roman" panose="02020603050405020304" pitchFamily="18" charset="0"/>
              </a:rPr>
              <a:t>procedure </a:t>
            </a:r>
            <a:r>
              <a:rPr lang="en-US" altLang="zh-CN" b="1" dirty="0" err="1">
                <a:solidFill>
                  <a:srgbClr val="333399"/>
                </a:solidFill>
                <a:latin typeface="Times New Roman" panose="02020603050405020304" pitchFamily="18" charset="0"/>
              </a:rPr>
              <a:t>dfvisit</a:t>
            </a:r>
            <a:r>
              <a:rPr lang="en-US" altLang="zh-CN" b="1" dirty="0">
                <a:solidFill>
                  <a:srgbClr val="333399"/>
                </a:solidFill>
                <a:latin typeface="Times New Roman" panose="02020603050405020304" pitchFamily="18" charset="0"/>
              </a:rPr>
              <a:t>(n: node);</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begin</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for n </a:t>
            </a:r>
            <a:r>
              <a:rPr lang="zh-CN" altLang="en-US" b="1" dirty="0">
                <a:solidFill>
                  <a:srgbClr val="333399"/>
                </a:solidFill>
                <a:latin typeface="Times New Roman" panose="02020603050405020304" pitchFamily="18" charset="0"/>
              </a:rPr>
              <a:t>的每一子节点</a:t>
            </a:r>
            <a:r>
              <a:rPr lang="en-US" altLang="zh-CN" b="1" dirty="0">
                <a:solidFill>
                  <a:srgbClr val="333399"/>
                </a:solidFill>
                <a:latin typeface="Times New Roman" panose="02020603050405020304" pitchFamily="18" charset="0"/>
              </a:rPr>
              <a:t>m, </a:t>
            </a:r>
            <a:r>
              <a:rPr lang="zh-CN" altLang="en-US" b="1" dirty="0">
                <a:solidFill>
                  <a:srgbClr val="333399"/>
                </a:solidFill>
                <a:latin typeface="Times New Roman" panose="02020603050405020304" pitchFamily="18" charset="0"/>
              </a:rPr>
              <a:t>从左到右 </a:t>
            </a:r>
            <a:r>
              <a:rPr lang="en-US" altLang="zh-CN" b="1" dirty="0">
                <a:solidFill>
                  <a:srgbClr val="333399"/>
                </a:solidFill>
                <a:latin typeface="Times New Roman" panose="02020603050405020304" pitchFamily="18" charset="0"/>
              </a:rPr>
              <a:t>do </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begin</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a:t>
            </a:r>
            <a:r>
              <a:rPr lang="zh-CN" altLang="en-US" b="1" dirty="0">
                <a:solidFill>
                  <a:srgbClr val="333399"/>
                </a:solidFill>
                <a:latin typeface="Times New Roman" panose="02020603050405020304" pitchFamily="18" charset="0"/>
              </a:rPr>
              <a:t>计算 </a:t>
            </a:r>
            <a:r>
              <a:rPr lang="en-US" altLang="zh-CN" b="1" dirty="0">
                <a:solidFill>
                  <a:srgbClr val="333399"/>
                </a:solidFill>
                <a:latin typeface="Times New Roman" panose="02020603050405020304" pitchFamily="18" charset="0"/>
              </a:rPr>
              <a:t>m </a:t>
            </a:r>
            <a:r>
              <a:rPr lang="zh-CN" altLang="en-US" b="1" dirty="0">
                <a:solidFill>
                  <a:srgbClr val="333399"/>
                </a:solidFill>
                <a:latin typeface="Times New Roman" panose="02020603050405020304" pitchFamily="18" charset="0"/>
              </a:rPr>
              <a:t>的继承属性值</a:t>
            </a:r>
            <a:r>
              <a:rPr lang="en-US" altLang="zh-CN" b="1" dirty="0">
                <a:solidFill>
                  <a:srgbClr val="333399"/>
                </a:solidFill>
                <a:latin typeface="Times New Roman" panose="02020603050405020304" pitchFamily="18" charset="0"/>
              </a:rPr>
              <a:t>;</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a:t>
            </a:r>
            <a:r>
              <a:rPr lang="en-US" altLang="zh-CN" b="1" dirty="0" err="1">
                <a:solidFill>
                  <a:srgbClr val="333399"/>
                </a:solidFill>
                <a:latin typeface="Times New Roman" panose="02020603050405020304" pitchFamily="18" charset="0"/>
              </a:rPr>
              <a:t>dfvisit</a:t>
            </a:r>
            <a:r>
              <a:rPr lang="en-US" altLang="zh-CN" b="1" dirty="0">
                <a:solidFill>
                  <a:srgbClr val="333399"/>
                </a:solidFill>
                <a:latin typeface="Times New Roman" panose="02020603050405020304" pitchFamily="18" charset="0"/>
              </a:rPr>
              <a:t>(m)</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end;</a:t>
            </a:r>
            <a:endParaRPr lang="en-US" altLang="zh-CN" b="1" dirty="0">
              <a:solidFill>
                <a:srgbClr val="333399"/>
              </a:solidFill>
              <a:latin typeface="Times New Roman" panose="02020603050405020304" pitchFamily="18" charset="0"/>
              <a:ea typeface="宋体" panose="02010600030101010101" pitchFamily="2" charset="-122"/>
            </a:endParaRPr>
          </a:p>
          <a:p>
            <a:pPr algn="just">
              <a:buClrTx/>
              <a:buFont typeface="Symbol" panose="05050102010706020507" pitchFamily="18" charset="2"/>
              <a:buNone/>
            </a:pPr>
            <a:r>
              <a:rPr lang="en-US" altLang="zh-CN" b="1" dirty="0">
                <a:solidFill>
                  <a:srgbClr val="333399"/>
                </a:solidFill>
                <a:latin typeface="Times New Roman" panose="02020603050405020304" pitchFamily="18" charset="0"/>
              </a:rPr>
              <a:t>                    </a:t>
            </a:r>
            <a:r>
              <a:rPr lang="zh-CN" altLang="en-US" b="1" dirty="0">
                <a:solidFill>
                  <a:srgbClr val="333399"/>
                </a:solidFill>
                <a:latin typeface="Times New Roman" panose="02020603050405020304" pitchFamily="18" charset="0"/>
              </a:rPr>
              <a:t>计算</a:t>
            </a:r>
            <a:r>
              <a:rPr lang="en-US" altLang="zh-CN" b="1" dirty="0">
                <a:solidFill>
                  <a:srgbClr val="333399"/>
                </a:solidFill>
                <a:latin typeface="Times New Roman" panose="02020603050405020304" pitchFamily="18" charset="0"/>
              </a:rPr>
              <a:t>n</a:t>
            </a:r>
            <a:r>
              <a:rPr lang="zh-CN" altLang="en-US" b="1" dirty="0">
                <a:solidFill>
                  <a:srgbClr val="333399"/>
                </a:solidFill>
                <a:latin typeface="Times New Roman" panose="02020603050405020304" pitchFamily="18" charset="0"/>
              </a:rPr>
              <a:t>的综合属性值</a:t>
            </a:r>
            <a:endParaRPr lang="zh-CN" altLang="en-US" b="1" dirty="0">
              <a:solidFill>
                <a:srgbClr val="333399"/>
              </a:solidFill>
              <a:latin typeface="Times New Roman" panose="02020603050405020304" pitchFamily="18" charset="0"/>
              <a:ea typeface="宋体" panose="02010600030101010101" pitchFamily="2" charset="-122"/>
            </a:endParaRPr>
          </a:p>
          <a:p>
            <a:r>
              <a:rPr lang="zh-CN" altLang="en-US" b="1" dirty="0">
                <a:solidFill>
                  <a:srgbClr val="333399"/>
                </a:solidFill>
                <a:latin typeface="Times New Roman" panose="02020603050405020304" pitchFamily="18" charset="0"/>
              </a:rPr>
              <a:t>          </a:t>
            </a:r>
            <a:r>
              <a:rPr lang="en-US" altLang="zh-CN" b="1" dirty="0">
                <a:solidFill>
                  <a:srgbClr val="333399"/>
                </a:solidFill>
                <a:latin typeface="Times New Roman" panose="02020603050405020304" pitchFamily="18" charset="0"/>
              </a:rPr>
              <a:t>end </a:t>
            </a:r>
          </a:p>
        </p:txBody>
      </p:sp>
      <p:sp>
        <p:nvSpPr>
          <p:cNvPr id="5" name="灯片编号占位符 4"/>
          <p:cNvSpPr>
            <a:spLocks noGrp="1"/>
          </p:cNvSpPr>
          <p:nvPr>
            <p:ph type="sldNum" sz="quarter" idx="4"/>
          </p:nvPr>
        </p:nvSpPr>
        <p:spPr/>
        <p:txBody>
          <a:bodyPr/>
          <a:lstStyle/>
          <a:p>
            <a:fld id="{565CE74E-AB26-4998-AD42-012C4C1AD076}"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Times New Roman" panose="02020603050405020304" pitchFamily="18" charset="0"/>
              </a:rPr>
              <a:t>举例：</a:t>
            </a:r>
            <a:r>
              <a:rPr lang="zh-CN" altLang="en-US" dirty="0">
                <a:solidFill>
                  <a:srgbClr val="333399"/>
                </a:solidFill>
                <a:latin typeface="Times New Roman" panose="02020603050405020304" pitchFamily="18" charset="0"/>
              </a:rPr>
              <a:t>输入串为</a:t>
            </a:r>
            <a:r>
              <a:rPr lang="zh-CN" altLang="en-US"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rPr>
              <a:t>.101 </a:t>
            </a:r>
            <a:r>
              <a:rPr lang="zh-CN" altLang="en-US" dirty="0">
                <a:solidFill>
                  <a:srgbClr val="333399"/>
                </a:solidFill>
                <a:latin typeface="Times New Roman" panose="02020603050405020304" pitchFamily="18" charset="0"/>
              </a:rPr>
              <a:t>的二进制转换成十进制的计算过程（</a:t>
            </a:r>
            <a:r>
              <a:rPr lang="en-US" altLang="zh-CN" dirty="0">
                <a:solidFill>
                  <a:srgbClr val="333399"/>
                </a:solidFill>
                <a:latin typeface="Times New Roman" panose="02020603050405020304" pitchFamily="18" charset="0"/>
              </a:rPr>
              <a:t>f</a:t>
            </a:r>
            <a:r>
              <a:rPr lang="zh-CN" altLang="en-US" dirty="0">
                <a:solidFill>
                  <a:srgbClr val="333399"/>
                </a:solidFill>
                <a:latin typeface="Times New Roman" panose="02020603050405020304" pitchFamily="18" charset="0"/>
              </a:rPr>
              <a:t>是继承属性，</a:t>
            </a:r>
            <a:r>
              <a:rPr lang="en-US" altLang="zh-CN" dirty="0">
                <a:solidFill>
                  <a:srgbClr val="333399"/>
                </a:solidFill>
                <a:latin typeface="Times New Roman" panose="02020603050405020304" pitchFamily="18" charset="0"/>
              </a:rPr>
              <a:t>v</a:t>
            </a:r>
            <a:r>
              <a:rPr lang="zh-CN" altLang="en-US" dirty="0">
                <a:solidFill>
                  <a:srgbClr val="333399"/>
                </a:solidFill>
                <a:latin typeface="Times New Roman" panose="02020603050405020304" pitchFamily="18" charset="0"/>
              </a:rPr>
              <a:t>是综合属性）</a:t>
            </a:r>
            <a:endParaRPr lang="zh-CN" altLang="en-US" dirty="0">
              <a:latin typeface="Times New Roman" panose="02020603050405020304" pitchFamily="18" charset="0"/>
            </a:endParaRPr>
          </a:p>
          <a:p>
            <a:endParaRPr lang="en-US" altLang="zh-CN" dirty="0">
              <a:latin typeface="Times New Roman" panose="02020603050405020304" pitchFamily="18" charset="0"/>
            </a:endParaRPr>
          </a:p>
          <a:p>
            <a:endParaRPr lang="zh-CN" altLang="en-US" dirty="0">
              <a:latin typeface="Times New Roman" panose="02020603050405020304" pitchFamily="18" charset="0"/>
            </a:endParaRPr>
          </a:p>
        </p:txBody>
      </p:sp>
      <p:sp>
        <p:nvSpPr>
          <p:cNvPr id="3" name="标题 2"/>
          <p:cNvSpPr>
            <a:spLocks noGrp="1"/>
          </p:cNvSpPr>
          <p:nvPr>
            <p:ph type="title"/>
          </p:nvPr>
        </p:nvSpPr>
        <p:spPr/>
        <p:txBody>
          <a:bodyPr/>
          <a:lstStyle/>
          <a:p>
            <a:r>
              <a:rPr lang="zh-CN" altLang="en-US" dirty="0">
                <a:latin typeface="Times New Roman" panose="02020603050405020304" pitchFamily="18" charset="0"/>
              </a:rPr>
              <a:t>三、基于属性文法的语义计算</a:t>
            </a:r>
          </a:p>
        </p:txBody>
      </p:sp>
      <p:sp>
        <p:nvSpPr>
          <p:cNvPr id="8" name="Text Box 8"/>
          <p:cNvSpPr txBox="1">
            <a:spLocks noChangeArrowheads="1"/>
          </p:cNvSpPr>
          <p:nvPr/>
        </p:nvSpPr>
        <p:spPr bwMode="auto">
          <a:xfrm>
            <a:off x="651102" y="2291556"/>
            <a:ext cx="1371600" cy="3001963"/>
          </a:xfrm>
          <a:prstGeom prst="rect">
            <a:avLst/>
          </a:prstGeom>
          <a:noFill/>
          <a:ln w="9525">
            <a:noFill/>
            <a:miter lim="800000"/>
          </a:ln>
        </p:spPr>
        <p:txBody>
          <a:bodyPr>
            <a:spAutoFit/>
          </a:bodyPr>
          <a:lstStyle/>
          <a:p>
            <a:pPr algn="l">
              <a:buClrTx/>
            </a:pPr>
            <a:r>
              <a:rPr kumimoji="0" lang="zh-CN" altLang="en-US" b="1" i="0" dirty="0">
                <a:latin typeface="Times New Roman" panose="02020603050405020304" pitchFamily="18" charset="0"/>
                <a:sym typeface="Symbol" panose="05050102010706020507" pitchFamily="18" charset="2"/>
              </a:rPr>
              <a:t>产生式</a:t>
            </a:r>
            <a:endParaRPr kumimoji="0" lang="zh-CN" altLang="en-US" i="0" dirty="0">
              <a:latin typeface="Times New Roman" panose="02020603050405020304" pitchFamily="18" charset="0"/>
              <a:cs typeface="Times New Roman" panose="02020603050405020304" charset="0"/>
              <a:sym typeface="Symbol" panose="05050102010706020507" pitchFamily="18" charset="2"/>
            </a:endParaRPr>
          </a:p>
          <a:p>
            <a:pPr algn="l">
              <a:buClrTx/>
            </a:pPr>
            <a:endParaRPr kumimoji="0" lang="zh-CN" altLang="en-US" sz="1000" i="0" dirty="0">
              <a:solidFill>
                <a:srgbClr val="333399"/>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N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b="1"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S</a:t>
            </a:r>
            <a:endParaRPr lang="en-US" altLang="zh-CN" sz="2000" i="0" baseline="-25000" dirty="0">
              <a:solidFill>
                <a:srgbClr val="333399"/>
              </a:solidFill>
              <a:latin typeface="Times New Roman" panose="02020603050405020304" pitchFamily="18" charset="0"/>
              <a:sym typeface="Symbol" panose="05050102010706020507" pitchFamily="18" charset="2"/>
            </a:endParaRPr>
          </a:p>
          <a:p>
            <a:pPr algn="l">
              <a:buClrTx/>
            </a:pPr>
            <a:endParaRPr lang="en-US" altLang="zh-CN" sz="1000" i="0" baseline="-2500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S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BS</a:t>
            </a:r>
            <a:r>
              <a:rPr lang="en-US" altLang="zh-CN" sz="2000" i="0" baseline="-25000" dirty="0">
                <a:solidFill>
                  <a:srgbClr val="333399"/>
                </a:solidFill>
                <a:latin typeface="Times New Roman" panose="02020603050405020304" pitchFamily="18" charset="0"/>
                <a:sym typeface="Symbol" panose="05050102010706020507" pitchFamily="18" charset="2"/>
              </a:rPr>
              <a:t>1</a:t>
            </a:r>
            <a:endParaRPr lang="en-US" altLang="zh-CN" sz="1000" baseline="-25000" dirty="0">
              <a:solidFill>
                <a:srgbClr val="333399"/>
              </a:solidFill>
              <a:latin typeface="Times New Roman" panose="02020603050405020304" pitchFamily="18" charset="0"/>
              <a:sym typeface="Symbol" panose="05050102010706020507" pitchFamily="18" charset="2"/>
            </a:endParaRPr>
          </a:p>
          <a:p>
            <a:pPr algn="l">
              <a:buClrTx/>
            </a:pPr>
            <a:endParaRPr lang="en-US" altLang="zh-CN" sz="2000" dirty="0">
              <a:solidFill>
                <a:srgbClr val="333399"/>
              </a:solidFill>
              <a:latin typeface="Times New Roman" panose="02020603050405020304" pitchFamily="18" charset="0"/>
              <a:sym typeface="Symbol" panose="05050102010706020507" pitchFamily="18" charset="2"/>
            </a:endParaRPr>
          </a:p>
          <a:p>
            <a:pPr algn="l">
              <a:buClrTx/>
            </a:pPr>
            <a:endParaRPr lang="en-US" altLang="zh-CN" sz="100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S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a:t>
            </a:r>
          </a:p>
          <a:p>
            <a:pPr algn="l">
              <a:buClrTx/>
            </a:pPr>
            <a:endParaRPr kumimoji="0" lang="en-US" altLang="zh-CN" sz="1000" b="1" dirty="0">
              <a:solidFill>
                <a:srgbClr val="333399"/>
              </a:solidFill>
              <a:latin typeface="Times New Roman" panose="02020603050405020304" pitchFamily="18" charset="0"/>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B </a:t>
            </a:r>
            <a:r>
              <a:rPr lang="en-US" altLang="zh-CN" sz="2000" i="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 </a:t>
            </a:r>
            <a:r>
              <a:rPr lang="en-US" altLang="zh-CN" sz="200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0</a:t>
            </a:r>
          </a:p>
          <a:p>
            <a:pPr algn="l">
              <a:buClrTx/>
            </a:pPr>
            <a:endParaRPr lang="en-US" altLang="zh-CN" sz="1000" u="sng"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B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1</a:t>
            </a:r>
          </a:p>
        </p:txBody>
      </p:sp>
      <p:sp>
        <p:nvSpPr>
          <p:cNvPr id="9" name="Text Box 9"/>
          <p:cNvSpPr txBox="1">
            <a:spLocks noChangeArrowheads="1"/>
          </p:cNvSpPr>
          <p:nvPr/>
        </p:nvSpPr>
        <p:spPr bwMode="auto">
          <a:xfrm>
            <a:off x="2075090" y="2285206"/>
            <a:ext cx="2919412" cy="2893100"/>
          </a:xfrm>
          <a:prstGeom prst="rect">
            <a:avLst/>
          </a:prstGeom>
          <a:noFill/>
          <a:ln w="9525">
            <a:noFill/>
            <a:miter lim="800000"/>
          </a:ln>
        </p:spPr>
        <p:txBody>
          <a:bodyPr>
            <a:spAutoFit/>
          </a:bodyPr>
          <a:lstStyle/>
          <a:p>
            <a:pPr algn="l">
              <a:buClrTx/>
            </a:pPr>
            <a:r>
              <a:rPr kumimoji="0" lang="zh-CN" altLang="en-US" b="1" i="0" dirty="0">
                <a:latin typeface="Times New Roman" panose="02020603050405020304" pitchFamily="18" charset="0"/>
                <a:sym typeface="Symbol" panose="05050102010706020507" pitchFamily="18" charset="2"/>
              </a:rPr>
              <a:t>语义动作</a:t>
            </a:r>
          </a:p>
          <a:p>
            <a:pPr algn="l">
              <a:buClrTx/>
            </a:pPr>
            <a:endParaRPr kumimoji="0" lang="zh-CN" altLang="en-US" sz="800" i="0" dirty="0">
              <a:solidFill>
                <a:srgbClr val="333399"/>
              </a:solidFill>
              <a:latin typeface="Times New Roman" panose="02020603050405020304" pitchFamily="18" charset="0"/>
              <a:cs typeface="Times New Roman" panose="02020603050405020304" charset="0"/>
              <a:sym typeface="Symbol" panose="05050102010706020507" pitchFamily="18" charset="2"/>
            </a:endParaRPr>
          </a:p>
          <a:p>
            <a:pPr algn="l">
              <a:buClrTx/>
            </a:pPr>
            <a:r>
              <a:rPr lang="en-US" altLang="zh-CN" sz="2000" i="0" dirty="0">
                <a:solidFill>
                  <a:srgbClr val="333399"/>
                </a:solidFill>
                <a:latin typeface="Times New Roman" panose="02020603050405020304" pitchFamily="18" charset="0"/>
                <a:cs typeface="Times New Roman" panose="02020603050405020304"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i="0"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 =1</a:t>
            </a:r>
            <a:r>
              <a:rPr lang="zh-CN" altLang="en-US"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p</a:t>
            </a:r>
            <a:r>
              <a:rPr lang="en-US" altLang="zh-CN" sz="2000" dirty="0">
                <a:solidFill>
                  <a:srgbClr val="333399"/>
                </a:solidFill>
                <a:latin typeface="Times New Roman" panose="02020603050405020304" pitchFamily="18" charset="0"/>
              </a:rPr>
              <a:t>rint(</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i="0"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rPr>
              <a:t>)</a:t>
            </a:r>
            <a:r>
              <a:rPr lang="en-US" altLang="zh-CN" dirty="0">
                <a:solidFill>
                  <a:srgbClr val="333399"/>
                </a:solidFill>
                <a:latin typeface="Times New Roman" panose="02020603050405020304" pitchFamily="18" charset="0"/>
              </a:rPr>
              <a:t> </a:t>
            </a:r>
            <a:r>
              <a:rPr lang="en-US" altLang="zh-CN" sz="2000" i="0" dirty="0">
                <a:solidFill>
                  <a:srgbClr val="333399"/>
                </a:solidFill>
                <a:latin typeface="Times New Roman" panose="02020603050405020304" pitchFamily="18" charset="0"/>
                <a:sym typeface="Symbol" panose="05050102010706020507" pitchFamily="18" charset="2"/>
              </a:rPr>
              <a:t>}</a:t>
            </a:r>
          </a:p>
          <a:p>
            <a:pPr algn="l">
              <a:buClrTx/>
            </a:pPr>
            <a:endParaRPr kumimoji="0" lang="en-US" altLang="zh-CN" sz="900" i="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i="0" baseline="-25000" dirty="0">
                <a:solidFill>
                  <a:srgbClr val="333399"/>
                </a:solidFill>
                <a:latin typeface="Times New Roman" panose="02020603050405020304" pitchFamily="18" charset="0"/>
                <a:sym typeface="Symbol" panose="05050102010706020507" pitchFamily="18" charset="2"/>
              </a:rPr>
              <a:t>1</a:t>
            </a:r>
            <a:r>
              <a:rPr lang="en-US" altLang="zh-CN" sz="2000" b="1" dirty="0">
                <a:solidFill>
                  <a:srgbClr val="333399"/>
                </a:solidFill>
                <a:latin typeface="Times New Roman" panose="02020603050405020304" pitchFamily="18" charset="0"/>
                <a:sym typeface="Symbol" panose="05050102010706020507" pitchFamily="18" charset="2"/>
              </a:rPr>
              <a:t>.</a:t>
            </a:r>
            <a:r>
              <a:rPr lang="en-US" altLang="zh-CN" sz="2000" dirty="0">
                <a:solidFill>
                  <a:srgbClr val="FF0000"/>
                </a:solidFill>
                <a:latin typeface="Times New Roman" panose="02020603050405020304" pitchFamily="18" charset="0"/>
                <a:sym typeface="Symbol" panose="05050102010706020507" pitchFamily="18" charset="2"/>
              </a:rPr>
              <a:t>f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b="1"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f+1</a:t>
            </a:r>
            <a:r>
              <a:rPr lang="en-US" altLang="zh-CN" sz="2000" i="0" dirty="0">
                <a:solidFill>
                  <a:srgbClr val="333399"/>
                </a:solidFill>
                <a:latin typeface="Times New Roman" panose="02020603050405020304" pitchFamily="18" charset="0"/>
              </a:rPr>
              <a:t>; </a:t>
            </a:r>
            <a:r>
              <a:rPr lang="en-US" altLang="zh-CN" sz="2000" dirty="0" err="1">
                <a:solidFill>
                  <a:srgbClr val="FF0000"/>
                </a:solidFill>
                <a:latin typeface="Times New Roman" panose="02020603050405020304" pitchFamily="18" charset="0"/>
                <a:sym typeface="Symbol" panose="05050102010706020507" pitchFamily="18" charset="2"/>
              </a:rPr>
              <a:t>B</a:t>
            </a:r>
            <a:r>
              <a:rPr lang="en-US" altLang="zh-CN" sz="2000" b="1" i="0" dirty="0" err="1">
                <a:solidFill>
                  <a:srgbClr val="FF0000"/>
                </a:solidFill>
                <a:latin typeface="Times New Roman" panose="02020603050405020304" pitchFamily="18" charset="0"/>
                <a:sym typeface="Symbol" panose="05050102010706020507" pitchFamily="18" charset="2"/>
              </a:rPr>
              <a:t>.</a:t>
            </a:r>
            <a:r>
              <a:rPr lang="en-US" altLang="zh-CN" sz="2000" dirty="0" err="1">
                <a:solidFill>
                  <a:srgbClr val="FF0000"/>
                </a:solidFill>
                <a:latin typeface="Times New Roman" panose="02020603050405020304" pitchFamily="18" charset="0"/>
              </a:rPr>
              <a:t>f</a:t>
            </a:r>
            <a:r>
              <a:rPr lang="en-US" altLang="zh-CN" sz="2000" i="0" dirty="0">
                <a:solidFill>
                  <a:srgbClr val="FF0000"/>
                </a:solidFill>
                <a:latin typeface="Times New Roman" panose="02020603050405020304" pitchFamily="18" charset="0"/>
              </a:rPr>
              <a:t> </a:t>
            </a: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f</a:t>
            </a:r>
            <a:r>
              <a:rPr lang="en-US" altLang="zh-CN" sz="2000" i="0" dirty="0">
                <a:solidFill>
                  <a:srgbClr val="333399"/>
                </a:solidFill>
                <a:latin typeface="Times New Roman" panose="02020603050405020304" pitchFamily="18" charset="0"/>
              </a:rPr>
              <a:t>; </a:t>
            </a:r>
          </a:p>
          <a:p>
            <a:pPr algn="l">
              <a:buClrTx/>
            </a:pP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0206AD"/>
                </a:solidFill>
                <a:latin typeface="Times New Roman" panose="02020603050405020304" pitchFamily="18" charset="0"/>
                <a:sym typeface="Symbol" panose="05050102010706020507" pitchFamily="18" charset="2"/>
              </a:rPr>
              <a:t>v</a:t>
            </a:r>
            <a:r>
              <a:rPr lang="en-US" altLang="zh-CN" sz="2000" dirty="0">
                <a:solidFill>
                  <a:srgbClr val="0206AD"/>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i="0" baseline="-25000" dirty="0">
                <a:solidFill>
                  <a:srgbClr val="333399"/>
                </a:solidFill>
                <a:latin typeface="Times New Roman" panose="02020603050405020304" pitchFamily="18" charset="0"/>
                <a:sym typeface="Symbol" panose="05050102010706020507" pitchFamily="18" charset="2"/>
              </a:rPr>
              <a:t>1</a:t>
            </a:r>
            <a:r>
              <a:rPr lang="en-US" altLang="zh-CN" sz="2000" b="1"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v</a:t>
            </a:r>
            <a:r>
              <a:rPr lang="en-US" altLang="zh-CN" sz="2000" i="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sym typeface="Symbol" panose="05050102010706020507" pitchFamily="18" charset="2"/>
              </a:rPr>
              <a:t>B</a:t>
            </a:r>
            <a:r>
              <a:rPr lang="en-US" altLang="zh-CN" sz="2000" b="1"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v </a:t>
            </a:r>
            <a:r>
              <a:rPr lang="en-US" altLang="zh-CN" sz="2000" i="0" dirty="0">
                <a:solidFill>
                  <a:srgbClr val="333399"/>
                </a:solidFill>
                <a:latin typeface="Times New Roman" panose="02020603050405020304" pitchFamily="18" charset="0"/>
                <a:sym typeface="Symbol" panose="05050102010706020507" pitchFamily="18" charset="2"/>
              </a:rPr>
              <a:t>}</a:t>
            </a:r>
          </a:p>
          <a:p>
            <a:pPr algn="l">
              <a:buClrTx/>
            </a:pPr>
            <a:endParaRPr lang="en-US" altLang="zh-CN" sz="900" i="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0</a:t>
            </a:r>
            <a:r>
              <a:rPr lang="en-US" altLang="zh-CN" sz="2000" i="0" dirty="0">
                <a:solidFill>
                  <a:srgbClr val="333399"/>
                </a:solidFill>
                <a:latin typeface="Times New Roman" panose="02020603050405020304" pitchFamily="18" charset="0"/>
              </a:rPr>
              <a:t> </a:t>
            </a:r>
            <a:r>
              <a:rPr lang="en-US" altLang="zh-CN" sz="2000" i="0" dirty="0">
                <a:solidFill>
                  <a:srgbClr val="333399"/>
                </a:solidFill>
                <a:latin typeface="Times New Roman" panose="02020603050405020304" pitchFamily="18" charset="0"/>
                <a:sym typeface="Symbol" panose="05050102010706020507" pitchFamily="18" charset="2"/>
              </a:rPr>
              <a:t>}</a:t>
            </a:r>
          </a:p>
          <a:p>
            <a:pPr algn="l">
              <a:buClrTx/>
            </a:pPr>
            <a:endParaRPr lang="en-US" altLang="zh-CN" sz="900" i="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0 </a:t>
            </a:r>
            <a:r>
              <a:rPr lang="en-US" altLang="zh-CN" sz="2000" i="0" dirty="0">
                <a:solidFill>
                  <a:srgbClr val="333399"/>
                </a:solidFill>
                <a:latin typeface="Times New Roman" panose="02020603050405020304" pitchFamily="18" charset="0"/>
                <a:sym typeface="Symbol" panose="05050102010706020507" pitchFamily="18" charset="2"/>
              </a:rPr>
              <a:t>}</a:t>
            </a:r>
          </a:p>
          <a:p>
            <a:pPr algn="l">
              <a:buClrTx/>
            </a:pPr>
            <a:endParaRPr lang="en-US" altLang="zh-CN" sz="900" i="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2</a:t>
            </a:r>
            <a:r>
              <a:rPr lang="en-US" altLang="zh-CN" sz="2000" i="0" baseline="30000" dirty="0">
                <a:solidFill>
                  <a:srgbClr val="0206AD"/>
                </a:solidFill>
                <a:latin typeface="Times New Roman" panose="02020603050405020304" pitchFamily="18" charset="0"/>
              </a:rPr>
              <a:t>-</a:t>
            </a:r>
            <a:r>
              <a:rPr lang="en-US" altLang="zh-CN" sz="2000" baseline="30000" dirty="0">
                <a:solidFill>
                  <a:srgbClr val="0206AD"/>
                </a:solidFill>
                <a:latin typeface="Times New Roman" panose="02020603050405020304" pitchFamily="18" charset="0"/>
                <a:sym typeface="Symbol" panose="05050102010706020507" pitchFamily="18" charset="2"/>
              </a:rPr>
              <a:t>B</a:t>
            </a:r>
            <a:r>
              <a:rPr lang="en-US" altLang="zh-CN" sz="2000" b="1" i="0" baseline="30000" dirty="0">
                <a:solidFill>
                  <a:srgbClr val="0206AD"/>
                </a:solidFill>
                <a:latin typeface="Times New Roman" panose="02020603050405020304" pitchFamily="18" charset="0"/>
                <a:sym typeface="Symbol" panose="05050102010706020507" pitchFamily="18" charset="2"/>
              </a:rPr>
              <a:t>.</a:t>
            </a:r>
            <a:r>
              <a:rPr lang="en-US" altLang="zh-CN" sz="2000" baseline="30000" dirty="0">
                <a:solidFill>
                  <a:srgbClr val="0206AD"/>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r>
              <a:rPr lang="en-US" altLang="zh-CN" sz="2000" i="0" dirty="0">
                <a:solidFill>
                  <a:srgbClr val="333399"/>
                </a:solidFill>
                <a:latin typeface="Times New Roman" panose="02020603050405020304" pitchFamily="18" charset="0"/>
                <a:sym typeface="Symbol" panose="05050102010706020507" pitchFamily="18" charset="2"/>
              </a:rPr>
              <a:t>}</a:t>
            </a:r>
          </a:p>
        </p:txBody>
      </p:sp>
      <p:grpSp>
        <p:nvGrpSpPr>
          <p:cNvPr id="23" name="Group 92"/>
          <p:cNvGrpSpPr/>
          <p:nvPr/>
        </p:nvGrpSpPr>
        <p:grpSpPr bwMode="auto">
          <a:xfrm>
            <a:off x="6008691" y="1711666"/>
            <a:ext cx="2349500" cy="2052638"/>
            <a:chOff x="2653" y="2908"/>
            <a:chExt cx="1480" cy="1293"/>
          </a:xfrm>
        </p:grpSpPr>
        <p:sp>
          <p:nvSpPr>
            <p:cNvPr id="24" name="Line 87"/>
            <p:cNvSpPr>
              <a:spLocks noChangeShapeType="1"/>
            </p:cNvSpPr>
            <p:nvPr/>
          </p:nvSpPr>
          <p:spPr bwMode="auto">
            <a:xfrm flipH="1" flipV="1">
              <a:off x="3198" y="3067"/>
              <a:ext cx="90"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25" name="Rectangle 53"/>
            <p:cNvSpPr>
              <a:spLocks noChangeArrowheads="1"/>
            </p:cNvSpPr>
            <p:nvPr/>
          </p:nvSpPr>
          <p:spPr bwMode="auto">
            <a:xfrm>
              <a:off x="3011" y="2908"/>
              <a:ext cx="232" cy="250"/>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N</a:t>
              </a:r>
            </a:p>
          </p:txBody>
        </p:sp>
        <p:sp>
          <p:nvSpPr>
            <p:cNvPr id="26" name="Rectangle 54"/>
            <p:cNvSpPr>
              <a:spLocks noChangeArrowheads="1"/>
            </p:cNvSpPr>
            <p:nvPr/>
          </p:nvSpPr>
          <p:spPr bwMode="auto">
            <a:xfrm>
              <a:off x="2744" y="3045"/>
              <a:ext cx="178" cy="327"/>
            </a:xfrm>
            <a:prstGeom prst="rect">
              <a:avLst/>
            </a:prstGeom>
            <a:noFill/>
            <a:ln w="9525">
              <a:noFill/>
              <a:miter lim="800000"/>
            </a:ln>
          </p:spPr>
          <p:txBody>
            <a:bodyPr wrap="none">
              <a:spAutoFit/>
            </a:bodyPr>
            <a:lstStyle/>
            <a:p>
              <a:pPr algn="l"/>
              <a:r>
                <a:rPr lang="en-US" altLang="zh-CN" sz="2800" b="1" i="0">
                  <a:solidFill>
                    <a:srgbClr val="333399"/>
                  </a:solidFill>
                  <a:latin typeface="Times New Roman" panose="02020603050405020304" pitchFamily="18" charset="0"/>
                  <a:sym typeface="Symbol" panose="05050102010706020507" pitchFamily="18" charset="2"/>
                </a:rPr>
                <a:t>.</a:t>
              </a:r>
            </a:p>
          </p:txBody>
        </p:sp>
        <p:sp>
          <p:nvSpPr>
            <p:cNvPr id="27" name="Rectangle 55"/>
            <p:cNvSpPr>
              <a:spLocks noChangeArrowheads="1"/>
            </p:cNvSpPr>
            <p:nvPr/>
          </p:nvSpPr>
          <p:spPr bwMode="auto">
            <a:xfrm>
              <a:off x="3243" y="3135"/>
              <a:ext cx="206" cy="252"/>
            </a:xfrm>
            <a:prstGeom prst="rect">
              <a:avLst/>
            </a:prstGeom>
            <a:noFill/>
            <a:ln w="9525">
              <a:noFill/>
              <a:miter lim="800000"/>
            </a:ln>
          </p:spPr>
          <p:txBody>
            <a:bodyPr wrap="none">
              <a:spAutoFit/>
            </a:bodyPr>
            <a:lstStyle/>
            <a:p>
              <a:pPr algn="l"/>
              <a:r>
                <a:rPr lang="en-US" altLang="zh-CN" sz="2000" dirty="0">
                  <a:solidFill>
                    <a:srgbClr val="333399"/>
                  </a:solidFill>
                  <a:latin typeface="Times New Roman" panose="02020603050405020304" pitchFamily="18" charset="0"/>
                  <a:sym typeface="Symbol" panose="05050102010706020507" pitchFamily="18" charset="2"/>
                </a:rPr>
                <a:t>S</a:t>
              </a:r>
            </a:p>
          </p:txBody>
        </p:sp>
        <p:sp>
          <p:nvSpPr>
            <p:cNvPr id="28" name="Rectangle 56"/>
            <p:cNvSpPr>
              <a:spLocks noChangeArrowheads="1"/>
            </p:cNvSpPr>
            <p:nvPr/>
          </p:nvSpPr>
          <p:spPr bwMode="auto">
            <a:xfrm>
              <a:off x="2922" y="3339"/>
              <a:ext cx="223" cy="250"/>
            </a:xfrm>
            <a:prstGeom prst="rect">
              <a:avLst/>
            </a:prstGeom>
            <a:noFill/>
            <a:ln w="9525">
              <a:noFill/>
              <a:miter lim="800000"/>
            </a:ln>
          </p:spPr>
          <p:txBody>
            <a:bodyPr wrap="none">
              <a:spAutoFit/>
            </a:bodyPr>
            <a:lstStyle/>
            <a:p>
              <a:pPr algn="l"/>
              <a:r>
                <a:rPr lang="en-US" altLang="zh-CN" sz="2000" dirty="0">
                  <a:solidFill>
                    <a:srgbClr val="333399"/>
                  </a:solidFill>
                  <a:latin typeface="Times New Roman" panose="02020603050405020304" pitchFamily="18" charset="0"/>
                  <a:sym typeface="Symbol" panose="05050102010706020507" pitchFamily="18" charset="2"/>
                </a:rPr>
                <a:t>B</a:t>
              </a:r>
            </a:p>
          </p:txBody>
        </p:sp>
        <p:sp>
          <p:nvSpPr>
            <p:cNvPr id="29" name="Rectangle 57"/>
            <p:cNvSpPr>
              <a:spLocks noChangeArrowheads="1"/>
            </p:cNvSpPr>
            <p:nvPr/>
          </p:nvSpPr>
          <p:spPr bwMode="auto">
            <a:xfrm>
              <a:off x="3470" y="3339"/>
              <a:ext cx="206" cy="252"/>
            </a:xfrm>
            <a:prstGeom prst="rect">
              <a:avLst/>
            </a:prstGeom>
            <a:noFill/>
            <a:ln w="9525">
              <a:noFill/>
              <a:miter lim="800000"/>
            </a:ln>
          </p:spPr>
          <p:txBody>
            <a:bodyPr wrap="none">
              <a:spAutoFit/>
            </a:bodyPr>
            <a:lstStyle/>
            <a:p>
              <a:pPr algn="l"/>
              <a:r>
                <a:rPr lang="en-US" altLang="zh-CN" sz="2000" dirty="0">
                  <a:solidFill>
                    <a:srgbClr val="333399"/>
                  </a:solidFill>
                  <a:latin typeface="Times New Roman" panose="02020603050405020304" pitchFamily="18" charset="0"/>
                  <a:sym typeface="Symbol" panose="05050102010706020507" pitchFamily="18" charset="2"/>
                </a:rPr>
                <a:t>S</a:t>
              </a:r>
            </a:p>
          </p:txBody>
        </p:sp>
        <p:sp>
          <p:nvSpPr>
            <p:cNvPr id="30" name="Rectangle 58"/>
            <p:cNvSpPr>
              <a:spLocks noChangeArrowheads="1"/>
            </p:cNvSpPr>
            <p:nvPr/>
          </p:nvSpPr>
          <p:spPr bwMode="auto">
            <a:xfrm>
              <a:off x="3149" y="3566"/>
              <a:ext cx="223" cy="250"/>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B</a:t>
              </a:r>
            </a:p>
          </p:txBody>
        </p:sp>
        <p:sp>
          <p:nvSpPr>
            <p:cNvPr id="31" name="Rectangle 59"/>
            <p:cNvSpPr>
              <a:spLocks noChangeArrowheads="1"/>
            </p:cNvSpPr>
            <p:nvPr/>
          </p:nvSpPr>
          <p:spPr bwMode="auto">
            <a:xfrm>
              <a:off x="3696" y="3566"/>
              <a:ext cx="206" cy="252"/>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a:t>
              </a:r>
            </a:p>
          </p:txBody>
        </p:sp>
        <p:sp>
          <p:nvSpPr>
            <p:cNvPr id="32" name="Rectangle 60"/>
            <p:cNvSpPr>
              <a:spLocks noChangeArrowheads="1"/>
            </p:cNvSpPr>
            <p:nvPr/>
          </p:nvSpPr>
          <p:spPr bwMode="auto">
            <a:xfrm>
              <a:off x="3379" y="3770"/>
              <a:ext cx="223" cy="250"/>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B</a:t>
              </a:r>
            </a:p>
          </p:txBody>
        </p:sp>
        <p:sp>
          <p:nvSpPr>
            <p:cNvPr id="33" name="Rectangle 61"/>
            <p:cNvSpPr>
              <a:spLocks noChangeArrowheads="1"/>
            </p:cNvSpPr>
            <p:nvPr/>
          </p:nvSpPr>
          <p:spPr bwMode="auto">
            <a:xfrm>
              <a:off x="3927" y="3748"/>
              <a:ext cx="206" cy="252"/>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a:t>
              </a:r>
            </a:p>
          </p:txBody>
        </p:sp>
        <p:sp>
          <p:nvSpPr>
            <p:cNvPr id="34" name="Rectangle 62"/>
            <p:cNvSpPr>
              <a:spLocks noChangeArrowheads="1"/>
            </p:cNvSpPr>
            <p:nvPr/>
          </p:nvSpPr>
          <p:spPr bwMode="auto">
            <a:xfrm>
              <a:off x="2653" y="3566"/>
              <a:ext cx="197" cy="252"/>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a:t>
              </a:r>
            </a:p>
          </p:txBody>
        </p:sp>
        <p:sp>
          <p:nvSpPr>
            <p:cNvPr id="35" name="Rectangle 63"/>
            <p:cNvSpPr>
              <a:spLocks noChangeArrowheads="1"/>
            </p:cNvSpPr>
            <p:nvPr/>
          </p:nvSpPr>
          <p:spPr bwMode="auto">
            <a:xfrm>
              <a:off x="2880" y="3748"/>
              <a:ext cx="197" cy="252"/>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0</a:t>
              </a:r>
            </a:p>
          </p:txBody>
        </p:sp>
        <p:sp>
          <p:nvSpPr>
            <p:cNvPr id="36" name="Rectangle 64"/>
            <p:cNvSpPr>
              <a:spLocks noChangeArrowheads="1"/>
            </p:cNvSpPr>
            <p:nvPr/>
          </p:nvSpPr>
          <p:spPr bwMode="auto">
            <a:xfrm>
              <a:off x="3107" y="3929"/>
              <a:ext cx="197" cy="252"/>
            </a:xfrm>
            <a:prstGeom prst="rect">
              <a:avLst/>
            </a:prstGeom>
            <a:noFill/>
            <a:ln w="9525">
              <a:noFill/>
              <a:miter lim="800000"/>
            </a:ln>
          </p:spPr>
          <p:txBody>
            <a:bodyPr wrap="none">
              <a:spAutoFit/>
            </a:bodyPr>
            <a:lstStyle/>
            <a:p>
              <a:pPr algn="l"/>
              <a:r>
                <a:rPr lang="en-US" altLang="zh-CN" sz="2000">
                  <a:solidFill>
                    <a:srgbClr val="333399"/>
                  </a:solidFill>
                  <a:latin typeface="Times New Roman" panose="02020603050405020304" pitchFamily="18" charset="0"/>
                  <a:sym typeface="Symbol" panose="05050102010706020507" pitchFamily="18" charset="2"/>
                </a:rPr>
                <a:t>1</a:t>
              </a:r>
            </a:p>
          </p:txBody>
        </p:sp>
        <p:sp>
          <p:nvSpPr>
            <p:cNvPr id="37" name="Rectangle 65"/>
            <p:cNvSpPr>
              <a:spLocks noChangeArrowheads="1"/>
            </p:cNvSpPr>
            <p:nvPr/>
          </p:nvSpPr>
          <p:spPr bwMode="auto">
            <a:xfrm>
              <a:off x="3601" y="3951"/>
              <a:ext cx="186" cy="250"/>
            </a:xfrm>
            <a:prstGeom prst="rect">
              <a:avLst/>
            </a:prstGeom>
            <a:noFill/>
            <a:ln w="9525">
              <a:noFill/>
              <a:miter lim="800000"/>
            </a:ln>
          </p:spPr>
          <p:txBody>
            <a:bodyPr wrap="none">
              <a:spAutoFit/>
            </a:bodyPr>
            <a:lstStyle/>
            <a:p>
              <a:pPr algn="l"/>
              <a:r>
                <a:rPr lang="en-US" altLang="zh-CN" sz="2000" b="1" i="0">
                  <a:solidFill>
                    <a:srgbClr val="333399"/>
                  </a:solidFill>
                  <a:latin typeface="Times New Roman" panose="02020603050405020304" pitchFamily="18" charset="0"/>
                  <a:sym typeface="Symbol" panose="05050102010706020507" pitchFamily="18" charset="2"/>
                </a:rPr>
                <a:t></a:t>
              </a:r>
              <a:endParaRPr lang="en-US" altLang="en-US" sz="2000" b="1" i="0">
                <a:solidFill>
                  <a:srgbClr val="333399"/>
                </a:solidFill>
                <a:latin typeface="Times New Roman" panose="02020603050405020304" pitchFamily="18" charset="0"/>
                <a:sym typeface="Symbol" panose="05050102010706020507" pitchFamily="18" charset="2"/>
              </a:endParaRPr>
            </a:p>
          </p:txBody>
        </p:sp>
        <p:sp>
          <p:nvSpPr>
            <p:cNvPr id="38" name="Line 79"/>
            <p:cNvSpPr>
              <a:spLocks noChangeShapeType="1"/>
            </p:cNvSpPr>
            <p:nvPr/>
          </p:nvSpPr>
          <p:spPr bwMode="auto">
            <a:xfrm flipV="1">
              <a:off x="2880" y="3113"/>
              <a:ext cx="181" cy="136"/>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39" name="Line 80"/>
            <p:cNvSpPr>
              <a:spLocks noChangeShapeType="1"/>
            </p:cNvSpPr>
            <p:nvPr/>
          </p:nvSpPr>
          <p:spPr bwMode="auto">
            <a:xfrm flipV="1">
              <a:off x="3107" y="3339"/>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0" name="Line 81"/>
            <p:cNvSpPr>
              <a:spLocks noChangeShapeType="1"/>
            </p:cNvSpPr>
            <p:nvPr/>
          </p:nvSpPr>
          <p:spPr bwMode="auto">
            <a:xfrm flipV="1">
              <a:off x="2835" y="3521"/>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1" name="Line 82"/>
            <p:cNvSpPr>
              <a:spLocks noChangeShapeType="1"/>
            </p:cNvSpPr>
            <p:nvPr/>
          </p:nvSpPr>
          <p:spPr bwMode="auto">
            <a:xfrm flipV="1">
              <a:off x="3061" y="3702"/>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2" name="Line 83"/>
            <p:cNvSpPr>
              <a:spLocks noChangeShapeType="1"/>
            </p:cNvSpPr>
            <p:nvPr/>
          </p:nvSpPr>
          <p:spPr bwMode="auto">
            <a:xfrm flipV="1">
              <a:off x="3288" y="3929"/>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3" name="Line 84"/>
            <p:cNvSpPr>
              <a:spLocks noChangeShapeType="1"/>
            </p:cNvSpPr>
            <p:nvPr/>
          </p:nvSpPr>
          <p:spPr bwMode="auto">
            <a:xfrm flipV="1">
              <a:off x="3334" y="3521"/>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4" name="Line 85"/>
            <p:cNvSpPr>
              <a:spLocks noChangeShapeType="1"/>
            </p:cNvSpPr>
            <p:nvPr/>
          </p:nvSpPr>
          <p:spPr bwMode="auto">
            <a:xfrm flipV="1">
              <a:off x="3560" y="3748"/>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5" name="Line 86"/>
            <p:cNvSpPr>
              <a:spLocks noChangeShapeType="1"/>
            </p:cNvSpPr>
            <p:nvPr/>
          </p:nvSpPr>
          <p:spPr bwMode="auto">
            <a:xfrm flipV="1">
              <a:off x="3787" y="3974"/>
              <a:ext cx="136"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6" name="Line 88"/>
            <p:cNvSpPr>
              <a:spLocks noChangeShapeType="1"/>
            </p:cNvSpPr>
            <p:nvPr/>
          </p:nvSpPr>
          <p:spPr bwMode="auto">
            <a:xfrm flipH="1" flipV="1">
              <a:off x="3424" y="3294"/>
              <a:ext cx="91"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7" name="Line 89"/>
            <p:cNvSpPr>
              <a:spLocks noChangeShapeType="1"/>
            </p:cNvSpPr>
            <p:nvPr/>
          </p:nvSpPr>
          <p:spPr bwMode="auto">
            <a:xfrm flipH="1" flipV="1">
              <a:off x="3651" y="3521"/>
              <a:ext cx="91" cy="90"/>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sp>
          <p:nvSpPr>
            <p:cNvPr id="48" name="Line 90"/>
            <p:cNvSpPr>
              <a:spLocks noChangeShapeType="1"/>
            </p:cNvSpPr>
            <p:nvPr/>
          </p:nvSpPr>
          <p:spPr bwMode="auto">
            <a:xfrm flipH="1" flipV="1">
              <a:off x="3879" y="3747"/>
              <a:ext cx="90" cy="91"/>
            </a:xfrm>
            <a:prstGeom prst="line">
              <a:avLst/>
            </a:prstGeom>
            <a:noFill/>
            <a:ln w="9525">
              <a:solidFill>
                <a:schemeClr val="tx1"/>
              </a:solidFill>
              <a:round/>
            </a:ln>
          </p:spPr>
          <p:txBody>
            <a:bodyPr>
              <a:spAutoFit/>
            </a:bodyPr>
            <a:lstStyle/>
            <a:p>
              <a:endParaRPr lang="zh-CN" altLang="en-US">
                <a:latin typeface="Times New Roman" panose="02020603050405020304" pitchFamily="18" charset="0"/>
              </a:endParaRPr>
            </a:p>
          </p:txBody>
        </p:sp>
      </p:grpSp>
      <p:graphicFrame>
        <p:nvGraphicFramePr>
          <p:cNvPr id="5" name="对象 4"/>
          <p:cNvGraphicFramePr>
            <a:graphicFrameLocks noChangeAspect="1"/>
          </p:cNvGraphicFramePr>
          <p:nvPr>
            <p:extLst>
              <p:ext uri="{D42A27DB-BD31-4B8C-83A1-F6EECF244321}">
                <p14:modId xmlns:p14="http://schemas.microsoft.com/office/powerpoint/2010/main" val="2770866671"/>
              </p:ext>
            </p:extLst>
          </p:nvPr>
        </p:nvGraphicFramePr>
        <p:xfrm>
          <a:off x="4093994" y="3764304"/>
          <a:ext cx="4669006" cy="2988978"/>
        </p:xfrm>
        <a:graphic>
          <a:graphicData uri="http://schemas.openxmlformats.org/presentationml/2006/ole">
            <mc:AlternateContent xmlns:mc="http://schemas.openxmlformats.org/markup-compatibility/2006">
              <mc:Choice xmlns:v="urn:schemas-microsoft-com:vml" Requires="v">
                <p:oleObj spid="_x0000_s3158" name="Visio" r:id="rId3" imgW="3313757" imgH="2026827" progId="Visio.Drawing.11">
                  <p:embed/>
                </p:oleObj>
              </mc:Choice>
              <mc:Fallback>
                <p:oleObj name="Visio" r:id="rId3" imgW="3313757" imgH="2026827" progId="Visio.Drawing.11">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3994" y="3764304"/>
                        <a:ext cx="4669006" cy="2988978"/>
                      </a:xfrm>
                      <a:prstGeom prst="rect">
                        <a:avLst/>
                      </a:prstGeom>
                      <a:noFill/>
                      <a:ln>
                        <a:noFill/>
                      </a:ln>
                    </p:spPr>
                  </p:pic>
                </p:oleObj>
              </mc:Fallback>
            </mc:AlternateContent>
          </a:graphicData>
        </a:graphic>
      </p:graphicFrame>
      <p:sp>
        <p:nvSpPr>
          <p:cNvPr id="4" name="灯片编号占位符 3"/>
          <p:cNvSpPr>
            <a:spLocks noGrp="1"/>
          </p:cNvSpPr>
          <p:nvPr>
            <p:ph type="sldNum" sz="quarter" idx="4"/>
          </p:nvPr>
        </p:nvSpPr>
        <p:spPr/>
        <p:txBody>
          <a:bodyPr/>
          <a:lstStyle/>
          <a:p>
            <a:fld id="{565CE74E-AB26-4998-AD42-012C4C1AD076}" type="slidenum">
              <a:rPr lang="zh-CN" altLang="en-US" smtClean="0"/>
              <a:t>46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课后练习：看懂</a:t>
            </a:r>
            <a:r>
              <a:rPr lang="en-US" altLang="zh-CN" dirty="0"/>
              <a:t>P170</a:t>
            </a:r>
            <a:r>
              <a:rPr lang="zh-CN" altLang="en-US" dirty="0"/>
              <a:t> 图</a:t>
            </a:r>
            <a:r>
              <a:rPr lang="en-US" altLang="zh-CN" dirty="0"/>
              <a:t>7.13 L-</a:t>
            </a:r>
            <a:r>
              <a:rPr lang="zh-CN" altLang="en-US" dirty="0"/>
              <a:t>属性文法的预测分析过程中穿插语义计算</a:t>
            </a:r>
            <a:endParaRPr lang="en-US" altLang="zh-CN" dirty="0"/>
          </a:p>
          <a:p>
            <a:pPr lvl="1"/>
            <a:r>
              <a:rPr lang="zh-CN" altLang="en-US" dirty="0"/>
              <a:t>画出对应的表驱动</a:t>
            </a:r>
            <a:r>
              <a:rPr lang="en-US" altLang="zh-CN" dirty="0"/>
              <a:t>LL</a:t>
            </a:r>
            <a:r>
              <a:rPr lang="zh-CN" altLang="en-US" dirty="0"/>
              <a:t>分析过程。</a:t>
            </a:r>
            <a:endParaRPr lang="en-US" altLang="zh-CN" dirty="0"/>
          </a:p>
          <a:p>
            <a:pPr lvl="1"/>
            <a:r>
              <a:rPr lang="zh-CN" altLang="en-US" dirty="0"/>
              <a:t>比较“表驱动</a:t>
            </a:r>
            <a:r>
              <a:rPr lang="en-US" altLang="zh-CN" dirty="0"/>
              <a:t>LL</a:t>
            </a:r>
            <a:r>
              <a:rPr lang="zh-CN" altLang="en-US" dirty="0"/>
              <a:t>分析过程”与“基于</a:t>
            </a:r>
            <a:r>
              <a:rPr lang="en-US" altLang="zh-CN" dirty="0"/>
              <a:t>L-</a:t>
            </a:r>
            <a:r>
              <a:rPr lang="zh-CN" altLang="en-US" dirty="0"/>
              <a:t>属性文法的语义计算过程”区别和联系？</a:t>
            </a:r>
            <a:endParaRPr lang="en-US" altLang="zh-CN" dirty="0"/>
          </a:p>
          <a:p>
            <a:endParaRPr lang="en-US" altLang="zh-CN" dirty="0"/>
          </a:p>
          <a:p>
            <a:pPr lvl="1"/>
            <a:endParaRPr lang="zh-CN" altLang="en-US" dirty="0"/>
          </a:p>
        </p:txBody>
      </p:sp>
      <p:sp>
        <p:nvSpPr>
          <p:cNvPr id="3" name="标题 2"/>
          <p:cNvSpPr>
            <a:spLocks noGrp="1"/>
          </p:cNvSpPr>
          <p:nvPr>
            <p:ph type="title"/>
          </p:nvPr>
        </p:nvSpPr>
        <p:spPr/>
        <p:txBody>
          <a:bodyPr/>
          <a:lstStyle/>
          <a:p>
            <a:pPr algn="ctr"/>
            <a:r>
              <a:rPr lang="zh-CN" altLang="en-US" dirty="0"/>
              <a:t>作业</a:t>
            </a:r>
            <a:r>
              <a:rPr lang="en-US" altLang="zh-CN" dirty="0"/>
              <a:t>1</a:t>
            </a:r>
            <a:endParaRPr lang="zh-CN" altLang="en-US" dirty="0"/>
          </a:p>
        </p:txBody>
      </p:sp>
      <p:sp>
        <p:nvSpPr>
          <p:cNvPr id="4" name="灯片编号占位符 3"/>
          <p:cNvSpPr>
            <a:spLocks noGrp="1"/>
          </p:cNvSpPr>
          <p:nvPr>
            <p:ph type="sldNum" sz="quarter" idx="4"/>
          </p:nvPr>
        </p:nvSpPr>
        <p:spPr/>
        <p:txBody>
          <a:bodyPr/>
          <a:lstStyle/>
          <a:p>
            <a:fld id="{565CE74E-AB26-4998-AD42-012C4C1AD076}" type="slidenum">
              <a:rPr lang="zh-CN" altLang="en-US" smtClean="0"/>
              <a:t>47</a:t>
            </a:fld>
            <a:endParaRPr lang="zh-CN" altLang="en-US"/>
          </a:p>
        </p:txBody>
      </p:sp>
    </p:spTree>
    <p:extLst>
      <p:ext uri="{BB962C8B-B14F-4D97-AF65-F5344CB8AC3E}">
        <p14:creationId xmlns:p14="http://schemas.microsoft.com/office/powerpoint/2010/main" val="2032571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与</a:t>
            </a:r>
            <a:r>
              <a:rPr lang="en-US" altLang="zh-CN" dirty="0"/>
              <a:t>LL</a:t>
            </a:r>
            <a:r>
              <a:rPr lang="zh-CN" altLang="en-US" dirty="0"/>
              <a:t>（</a:t>
            </a:r>
            <a:r>
              <a:rPr lang="en-US" altLang="zh-CN" dirty="0"/>
              <a:t>1</a:t>
            </a:r>
            <a:r>
              <a:rPr lang="zh-CN" altLang="en-US" dirty="0"/>
              <a:t>）文法的区别是：</a:t>
            </a:r>
            <a:endParaRPr lang="en-US" altLang="zh-CN" dirty="0"/>
          </a:p>
          <a:p>
            <a:r>
              <a:rPr lang="zh-CN" altLang="en-US" dirty="0"/>
              <a:t>将属性文法进一步改造文法，关键步骤包括：</a:t>
            </a:r>
            <a:endParaRPr lang="en-US" altLang="zh-CN" dirty="0"/>
          </a:p>
          <a:p>
            <a:pPr lvl="1"/>
            <a:r>
              <a:rPr lang="zh-CN" altLang="en-US" dirty="0"/>
              <a:t>语义动作编号：</a:t>
            </a:r>
            <a:endParaRPr lang="en-US" altLang="zh-CN" dirty="0"/>
          </a:p>
          <a:p>
            <a:pPr lvl="2"/>
            <a:r>
              <a:rPr lang="zh-CN" altLang="en-US" dirty="0"/>
              <a:t>综合属性（自底向上）的语义动作编号</a:t>
            </a:r>
            <a:endParaRPr lang="en-US" altLang="zh-CN" dirty="0"/>
          </a:p>
          <a:p>
            <a:pPr lvl="2"/>
            <a:r>
              <a:rPr lang="zh-CN" altLang="en-US" dirty="0"/>
              <a:t>继承属性（自顶向下）的语义动作编号</a:t>
            </a:r>
            <a:endParaRPr lang="en-US" altLang="zh-CN" dirty="0"/>
          </a:p>
          <a:p>
            <a:pPr lvl="1"/>
            <a:r>
              <a:rPr lang="zh-CN" altLang="en-US" dirty="0"/>
              <a:t>入栈顺序</a:t>
            </a:r>
            <a:endParaRPr lang="en-US" altLang="zh-CN" dirty="0"/>
          </a:p>
          <a:p>
            <a:pPr lvl="2"/>
            <a:r>
              <a:rPr lang="zh-CN" altLang="en-US" dirty="0"/>
              <a:t>计算综合属性的语义动作，右部符号逐一入栈，同时对应的求继承属性的语义动作入栈。</a:t>
            </a:r>
            <a:endParaRPr lang="en-US" altLang="zh-CN" dirty="0"/>
          </a:p>
          <a:p>
            <a:pPr lvl="1"/>
            <a:r>
              <a:rPr lang="zh-CN" altLang="en-US" dirty="0"/>
              <a:t>属性栈维护</a:t>
            </a:r>
            <a:endParaRPr lang="en-US" altLang="zh-CN" dirty="0"/>
          </a:p>
          <a:p>
            <a:pPr lvl="2"/>
            <a:r>
              <a:rPr lang="zh-CN" altLang="en-US" dirty="0"/>
              <a:t>非终结符涉及的所有属性列表入栈。</a:t>
            </a:r>
            <a:endParaRPr lang="en-US" altLang="zh-CN" dirty="0"/>
          </a:p>
          <a:p>
            <a:endParaRPr lang="zh-CN" altLang="en-US" dirty="0"/>
          </a:p>
        </p:txBody>
      </p:sp>
      <p:sp>
        <p:nvSpPr>
          <p:cNvPr id="3" name="标题 2"/>
          <p:cNvSpPr>
            <a:spLocks noGrp="1"/>
          </p:cNvSpPr>
          <p:nvPr>
            <p:ph type="title"/>
          </p:nvPr>
        </p:nvSpPr>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48</a:t>
            </a:fld>
            <a:endParaRPr lang="zh-CN" altLang="en-US"/>
          </a:p>
        </p:txBody>
      </p:sp>
    </p:spTree>
    <p:extLst>
      <p:ext uri="{BB962C8B-B14F-4D97-AF65-F5344CB8AC3E}">
        <p14:creationId xmlns:p14="http://schemas.microsoft.com/office/powerpoint/2010/main" val="3193597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递归下降</a:t>
            </a:r>
            <a:r>
              <a:rPr lang="en-US" altLang="zh-CN" dirty="0"/>
              <a:t>LL</a:t>
            </a:r>
            <a:r>
              <a:rPr lang="zh-CN" altLang="en-US" dirty="0"/>
              <a:t>分析程序（自学）</a:t>
            </a:r>
            <a:endParaRPr lang="en-US" altLang="zh-CN" dirty="0"/>
          </a:p>
          <a:p>
            <a:endParaRPr lang="en-US" altLang="zh-CN" dirty="0"/>
          </a:p>
          <a:p>
            <a:r>
              <a:rPr lang="zh-CN" altLang="en-US" dirty="0"/>
              <a:t>请参考：</a:t>
            </a:r>
            <a:endParaRPr lang="en-US" altLang="zh-CN" dirty="0"/>
          </a:p>
          <a:p>
            <a:pPr lvl="1"/>
            <a:r>
              <a:rPr lang="zh-CN" altLang="en-US" dirty="0"/>
              <a:t>第</a:t>
            </a:r>
            <a:r>
              <a:rPr lang="en-US" altLang="zh-CN" dirty="0"/>
              <a:t>10</a:t>
            </a:r>
            <a:r>
              <a:rPr lang="zh-CN" altLang="en-US" dirty="0"/>
              <a:t>讲 语法制导翻译</a:t>
            </a:r>
            <a:endParaRPr lang="en-US" altLang="zh-CN" dirty="0"/>
          </a:p>
          <a:p>
            <a:pPr lvl="2"/>
            <a:r>
              <a:rPr lang="en-US" altLang="zh-CN" dirty="0"/>
              <a:t>5-7</a:t>
            </a:r>
            <a:r>
              <a:rPr lang="zh-CN" altLang="en-US" dirty="0"/>
              <a:t>：在递归的预测分析过程中进行翻译。</a:t>
            </a:r>
            <a:endParaRPr lang="en-US" altLang="zh-CN" dirty="0"/>
          </a:p>
          <a:p>
            <a:pPr lvl="2"/>
            <a:endParaRPr lang="en-US" altLang="zh-CN" dirty="0"/>
          </a:p>
          <a:p>
            <a:pPr lvl="2"/>
            <a:endParaRPr lang="en-US" altLang="zh-CN" dirty="0"/>
          </a:p>
          <a:p>
            <a:pPr lvl="1"/>
            <a:r>
              <a:rPr lang="zh-CN" altLang="en-US" dirty="0">
                <a:solidFill>
                  <a:srgbClr val="FF0000"/>
                </a:solidFill>
              </a:rPr>
              <a:t>思考：此部分讲解与翻译模式的联系？</a:t>
            </a:r>
          </a:p>
        </p:txBody>
      </p:sp>
      <p:sp>
        <p:nvSpPr>
          <p:cNvPr id="3" name="标题 2"/>
          <p:cNvSpPr>
            <a:spLocks noGrp="1"/>
          </p:cNvSpPr>
          <p:nvPr>
            <p:ph type="title"/>
          </p:nvPr>
        </p:nvSpPr>
        <p:spPr/>
        <p:txBody>
          <a:bodyPr/>
          <a:lstStyle/>
          <a:p>
            <a:endParaRPr lang="zh-CN" altLang="en-US"/>
          </a:p>
        </p:txBody>
      </p:sp>
      <p:sp>
        <p:nvSpPr>
          <p:cNvPr id="4" name="灯片编号占位符 3"/>
          <p:cNvSpPr>
            <a:spLocks noGrp="1"/>
          </p:cNvSpPr>
          <p:nvPr>
            <p:ph type="sldNum" sz="quarter" idx="4"/>
          </p:nvPr>
        </p:nvSpPr>
        <p:spPr/>
        <p:txBody>
          <a:bodyPr/>
          <a:lstStyle/>
          <a:p>
            <a:fld id="{565CE74E-AB26-4998-AD42-012C4C1AD076}" type="slidenum">
              <a:rPr lang="zh-CN" altLang="en-US" smtClean="0"/>
              <a:t>49</a:t>
            </a:fld>
            <a:endParaRPr lang="zh-CN" altLang="en-US"/>
          </a:p>
        </p:txBody>
      </p:sp>
    </p:spTree>
    <p:extLst>
      <p:ext uri="{BB962C8B-B14F-4D97-AF65-F5344CB8AC3E}">
        <p14:creationId xmlns:p14="http://schemas.microsoft.com/office/powerpoint/2010/main" val="40467337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0000" lnSpcReduction="10000"/>
          </a:bodyPr>
          <a:lstStyle/>
          <a:p>
            <a:r>
              <a:rPr lang="zh-CN" altLang="en-US" dirty="0"/>
              <a:t>一、语法制导翻译概述</a:t>
            </a:r>
          </a:p>
          <a:p>
            <a:pPr lvl="0"/>
            <a:r>
              <a:rPr lang="zh-CN" altLang="en-US" dirty="0"/>
              <a:t>二、属性文法</a:t>
            </a:r>
          </a:p>
          <a:p>
            <a:pPr lvl="1"/>
            <a:r>
              <a:rPr lang="zh-CN" altLang="en-US" dirty="0"/>
              <a:t>综合属性与继承属性</a:t>
            </a:r>
          </a:p>
          <a:p>
            <a:pPr lvl="1"/>
            <a:r>
              <a:rPr lang="en-US" altLang="zh-CN" dirty="0"/>
              <a:t>S-</a:t>
            </a:r>
            <a:r>
              <a:rPr lang="zh-CN" altLang="en-US" dirty="0"/>
              <a:t>属性文法</a:t>
            </a:r>
          </a:p>
          <a:p>
            <a:pPr lvl="1"/>
            <a:r>
              <a:rPr lang="en-US" altLang="zh-CN" dirty="0"/>
              <a:t>L-</a:t>
            </a:r>
            <a:r>
              <a:rPr lang="zh-CN" altLang="en-US" dirty="0"/>
              <a:t>属性文法</a:t>
            </a:r>
          </a:p>
          <a:p>
            <a:pPr lvl="0"/>
            <a:r>
              <a:rPr lang="zh-CN" altLang="en-US" sz="3200" dirty="0"/>
              <a:t>三、基于属性文法的语义计算</a:t>
            </a:r>
          </a:p>
          <a:p>
            <a:pPr lvl="1"/>
            <a:r>
              <a:rPr lang="zh-CN" altLang="en-US" dirty="0">
                <a:sym typeface="+mn-ea"/>
              </a:rPr>
              <a:t>基于</a:t>
            </a:r>
            <a:r>
              <a:rPr lang="en-US" altLang="zh-CN" dirty="0">
                <a:sym typeface="+mn-ea"/>
              </a:rPr>
              <a:t>S-</a:t>
            </a:r>
            <a:r>
              <a:rPr lang="zh-CN" altLang="en-US" dirty="0">
                <a:sym typeface="+mn-ea"/>
              </a:rPr>
              <a:t>属性文法的语义计算</a:t>
            </a:r>
            <a:endParaRPr lang="zh-CN" altLang="en-US" dirty="0"/>
          </a:p>
          <a:p>
            <a:pPr lvl="1"/>
            <a:r>
              <a:rPr lang="zh-CN" altLang="en-US" dirty="0">
                <a:sym typeface="+mn-ea"/>
              </a:rPr>
              <a:t>基于</a:t>
            </a:r>
            <a:r>
              <a:rPr lang="en-US" altLang="zh-CN" dirty="0">
                <a:sym typeface="+mn-ea"/>
              </a:rPr>
              <a:t>L-</a:t>
            </a:r>
            <a:r>
              <a:rPr lang="zh-CN" altLang="en-US" dirty="0">
                <a:sym typeface="+mn-ea"/>
              </a:rPr>
              <a:t>属性文法的语义计算</a:t>
            </a:r>
            <a:endParaRPr lang="zh-CN" altLang="en-US" dirty="0"/>
          </a:p>
          <a:p>
            <a:pPr lvl="0"/>
            <a:r>
              <a:rPr lang="zh-CN" altLang="en-US" sz="3200" dirty="0">
                <a:solidFill>
                  <a:srgbClr val="FF0000"/>
                </a:solidFill>
              </a:rPr>
              <a:t>四、基于翻译模式的语义计算</a:t>
            </a:r>
          </a:p>
          <a:p>
            <a:pPr lvl="1"/>
            <a:r>
              <a:rPr lang="zh-CN" altLang="en-US" dirty="0">
                <a:sym typeface="+mn-ea"/>
              </a:rPr>
              <a:t>基于</a:t>
            </a:r>
            <a:r>
              <a:rPr lang="en-US" altLang="zh-CN" dirty="0">
                <a:sym typeface="+mn-ea"/>
              </a:rPr>
              <a:t>S-</a:t>
            </a:r>
            <a:r>
              <a:rPr lang="zh-CN" altLang="en-US" dirty="0">
                <a:sym typeface="+mn-ea"/>
              </a:rPr>
              <a:t>翻译模式的语义计算</a:t>
            </a:r>
            <a:endParaRPr lang="zh-CN" altLang="en-US" dirty="0"/>
          </a:p>
          <a:p>
            <a:pPr lvl="1"/>
            <a:r>
              <a:rPr lang="zh-CN" altLang="en-US" dirty="0">
                <a:sym typeface="+mn-ea"/>
              </a:rPr>
              <a:t>基于</a:t>
            </a:r>
            <a:r>
              <a:rPr lang="en-US" altLang="zh-CN" dirty="0">
                <a:sym typeface="+mn-ea"/>
              </a:rPr>
              <a:t>L-</a:t>
            </a:r>
            <a:r>
              <a:rPr lang="zh-CN" altLang="en-US" dirty="0">
                <a:sym typeface="+mn-ea"/>
              </a:rPr>
              <a:t>翻译模式的自顶向下语义计算</a:t>
            </a:r>
          </a:p>
          <a:p>
            <a:pPr lvl="1"/>
            <a:r>
              <a:rPr lang="zh-CN" altLang="en-US" dirty="0">
                <a:sym typeface="+mn-ea"/>
              </a:rPr>
              <a:t>基于</a:t>
            </a:r>
            <a:r>
              <a:rPr lang="en-US" altLang="zh-CN" dirty="0">
                <a:sym typeface="+mn-ea"/>
              </a:rPr>
              <a:t>S-</a:t>
            </a:r>
            <a:r>
              <a:rPr lang="zh-CN" altLang="en-US" dirty="0">
                <a:sym typeface="+mn-ea"/>
              </a:rPr>
              <a:t>翻译模式的自底向上语义计算</a:t>
            </a:r>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a:t>教学内容</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翻译模式</a:t>
            </a:r>
            <a:endParaRPr lang="en-US" altLang="zh-CN" dirty="0"/>
          </a:p>
          <a:p>
            <a:pPr lvl="1" algn="just"/>
            <a:r>
              <a:rPr lang="zh-CN" altLang="en-US" sz="3000" dirty="0"/>
              <a:t>翻译模式是指把和文法符号相关的</a:t>
            </a:r>
            <a:r>
              <a:rPr lang="zh-CN" altLang="en-US" sz="3000" dirty="0">
                <a:solidFill>
                  <a:srgbClr val="FF0000"/>
                </a:solidFill>
              </a:rPr>
              <a:t>属性和语义规则</a:t>
            </a:r>
            <a:r>
              <a:rPr lang="zh-CN" altLang="en-US" sz="3000" dirty="0"/>
              <a:t>（这里我们也称</a:t>
            </a:r>
            <a:r>
              <a:rPr lang="zh-CN" altLang="en-US" sz="3000" dirty="0">
                <a:solidFill>
                  <a:srgbClr val="FF3300"/>
                </a:solidFill>
              </a:rPr>
              <a:t>语义动作</a:t>
            </a:r>
            <a:r>
              <a:rPr lang="zh-CN" altLang="en-US" sz="3000" dirty="0"/>
              <a:t>），</a:t>
            </a:r>
            <a:r>
              <a:rPr lang="zh-CN" altLang="en-US" sz="3000" dirty="0">
                <a:solidFill>
                  <a:srgbClr val="FF0000"/>
                </a:solidFill>
              </a:rPr>
              <a:t>用花括号</a:t>
            </a:r>
            <a:r>
              <a:rPr lang="en-US" altLang="zh-CN" sz="3000" dirty="0">
                <a:solidFill>
                  <a:srgbClr val="FF0000"/>
                </a:solidFill>
              </a:rPr>
              <a:t>{ }</a:t>
            </a:r>
            <a:r>
              <a:rPr lang="zh-CN" altLang="en-US" sz="3000" dirty="0">
                <a:solidFill>
                  <a:srgbClr val="FF0000"/>
                </a:solidFill>
              </a:rPr>
              <a:t>括起来，</a:t>
            </a:r>
            <a:r>
              <a:rPr lang="zh-CN" altLang="en-US" sz="3000" dirty="0">
                <a:solidFill>
                  <a:srgbClr val="0206AD"/>
                </a:solidFill>
              </a:rPr>
              <a:t>插入到产生式右部的</a:t>
            </a:r>
            <a:r>
              <a:rPr lang="zh-CN" altLang="en-US" sz="3000" dirty="0">
                <a:solidFill>
                  <a:srgbClr val="FF0000"/>
                </a:solidFill>
              </a:rPr>
              <a:t>合适位置</a:t>
            </a:r>
            <a:r>
              <a:rPr lang="zh-CN" altLang="en-US" sz="3000" dirty="0">
                <a:solidFill>
                  <a:srgbClr val="0206AD"/>
                </a:solidFill>
              </a:rPr>
              <a:t>上。</a:t>
            </a:r>
          </a:p>
          <a:p>
            <a:pPr lvl="1" algn="just"/>
            <a:r>
              <a:rPr lang="zh-CN" altLang="en-US" sz="3000" dirty="0">
                <a:solidFill>
                  <a:srgbClr val="FF0000"/>
                </a:solidFill>
              </a:rPr>
              <a:t>可将语义动作当成终结符</a:t>
            </a:r>
            <a:endParaRPr lang="zh-CN" altLang="en-US" sz="2800" dirty="0">
              <a:solidFill>
                <a:srgbClr val="FF0000"/>
              </a:solidFill>
            </a:endParaRPr>
          </a:p>
          <a:p>
            <a:pPr lvl="1" algn="just"/>
            <a:r>
              <a:rPr lang="zh-CN" altLang="en-US" sz="3000" dirty="0">
                <a:solidFill>
                  <a:srgbClr val="FF3300"/>
                </a:solidFill>
              </a:rPr>
              <a:t>翻译模式</a:t>
            </a:r>
            <a:r>
              <a:rPr lang="zh-CN" altLang="en-US" sz="3000" dirty="0"/>
              <a:t>：给出了使用语义规则进行计算的次序，这样就可把某些实现细节表示出来</a:t>
            </a:r>
          </a:p>
          <a:p>
            <a:pPr lvl="1"/>
            <a:endParaRPr lang="zh-CN" altLang="en-US" dirty="0"/>
          </a:p>
        </p:txBody>
      </p:sp>
      <p:sp>
        <p:nvSpPr>
          <p:cNvPr id="3" name="标题 2"/>
          <p:cNvSpPr>
            <a:spLocks noGrp="1"/>
          </p:cNvSpPr>
          <p:nvPr>
            <p:ph type="title"/>
          </p:nvPr>
        </p:nvSpPr>
        <p:spPr/>
        <p:txBody>
          <a:bodyPr/>
          <a:lstStyle/>
          <a:p>
            <a:r>
              <a:rPr lang="zh-CN" altLang="en-US" dirty="0"/>
              <a:t>四、基于翻译模式的语义计算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lnSpcReduction="10000"/>
          </a:bodyPr>
          <a:lstStyle/>
          <a:p>
            <a:pPr>
              <a:buFontTx/>
              <a:buChar char="•"/>
            </a:pPr>
            <a:r>
              <a:rPr lang="en-US" altLang="zh-CN" sz="2800" dirty="0">
                <a:solidFill>
                  <a:srgbClr val="333399"/>
                </a:solidFill>
              </a:rPr>
              <a:t>S-</a:t>
            </a:r>
            <a:r>
              <a:rPr lang="zh-CN" altLang="en-US" sz="2800" dirty="0">
                <a:solidFill>
                  <a:srgbClr val="333399"/>
                </a:solidFill>
              </a:rPr>
              <a:t>翻译模式：仅涉及</a:t>
            </a:r>
            <a:r>
              <a:rPr lang="zh-CN" altLang="en-US" sz="2800" dirty="0"/>
              <a:t>综合属性的情形</a:t>
            </a:r>
            <a:r>
              <a:rPr lang="zh-CN" altLang="en-US" sz="2800" dirty="0">
                <a:solidFill>
                  <a:srgbClr val="333399"/>
                </a:solidFill>
              </a:rPr>
              <a:t>，通常将语义动作集合放在相应</a:t>
            </a:r>
            <a:r>
              <a:rPr lang="zh-CN" altLang="en-US" sz="2800" dirty="0">
                <a:solidFill>
                  <a:srgbClr val="FF0000"/>
                </a:solidFill>
              </a:rPr>
              <a:t>产生式右端的末尾。</a:t>
            </a:r>
            <a:endParaRPr lang="zh-CN" altLang="en-US" sz="1800" dirty="0">
              <a:solidFill>
                <a:srgbClr val="FF0000"/>
              </a:solidFill>
            </a:endParaRPr>
          </a:p>
          <a:p>
            <a:pPr>
              <a:buFontTx/>
              <a:buChar char="•"/>
            </a:pPr>
            <a:r>
              <a:rPr lang="en-US" altLang="zh-CN" sz="2800" dirty="0">
                <a:solidFill>
                  <a:srgbClr val="333399"/>
                </a:solidFill>
              </a:rPr>
              <a:t>L-</a:t>
            </a:r>
            <a:r>
              <a:rPr lang="zh-CN" altLang="en-US" sz="2800" dirty="0">
                <a:solidFill>
                  <a:srgbClr val="333399"/>
                </a:solidFill>
              </a:rPr>
              <a:t>翻译模式：</a:t>
            </a:r>
            <a:r>
              <a:rPr lang="zh-CN" altLang="en-US" sz="2800" dirty="0"/>
              <a:t>对于既包含继承属性又包含综合属性的情形</a:t>
            </a:r>
            <a:r>
              <a:rPr lang="zh-CN" altLang="en-US" sz="2800" dirty="0">
                <a:solidFill>
                  <a:srgbClr val="333399"/>
                </a:solidFill>
              </a:rPr>
              <a:t>，但需要满足：</a:t>
            </a:r>
            <a:endParaRPr lang="en-US" altLang="zh-CN" sz="2800" dirty="0">
              <a:solidFill>
                <a:srgbClr val="333399"/>
              </a:solidFill>
            </a:endParaRPr>
          </a:p>
          <a:p>
            <a:pPr marL="914400" lvl="1" indent="-457200">
              <a:buFont typeface="+mj-ea"/>
              <a:buAutoNum type="circleNumDbPlain"/>
            </a:pPr>
            <a:r>
              <a:rPr lang="zh-CN" altLang="en-US" dirty="0">
                <a:solidFill>
                  <a:srgbClr val="333399"/>
                </a:solidFill>
              </a:rPr>
              <a:t>产生式右端某个符号</a:t>
            </a:r>
            <a:r>
              <a:rPr lang="zh-CN" altLang="en-US" dirty="0">
                <a:solidFill>
                  <a:srgbClr val="FF0000"/>
                </a:solidFill>
              </a:rPr>
              <a:t>继承属性</a:t>
            </a:r>
            <a:r>
              <a:rPr lang="zh-CN" altLang="en-US" dirty="0">
                <a:solidFill>
                  <a:srgbClr val="333399"/>
                </a:solidFill>
              </a:rPr>
              <a:t>的计算必须位于</a:t>
            </a:r>
            <a:r>
              <a:rPr lang="zh-CN" altLang="en-US" dirty="0">
                <a:solidFill>
                  <a:srgbClr val="FF0000"/>
                </a:solidFill>
              </a:rPr>
              <a:t>该符号之前</a:t>
            </a:r>
            <a:r>
              <a:rPr lang="zh-CN" altLang="en-US" dirty="0">
                <a:solidFill>
                  <a:srgbClr val="333399"/>
                </a:solidFill>
              </a:rPr>
              <a:t>，其语义动作</a:t>
            </a:r>
            <a:r>
              <a:rPr lang="zh-CN" altLang="en-US" dirty="0">
                <a:solidFill>
                  <a:srgbClr val="FF0000"/>
                </a:solidFill>
              </a:rPr>
              <a:t>不访问</a:t>
            </a:r>
            <a:r>
              <a:rPr lang="zh-CN" altLang="en-US" dirty="0">
                <a:solidFill>
                  <a:srgbClr val="333399"/>
                </a:solidFill>
              </a:rPr>
              <a:t>位于它</a:t>
            </a:r>
            <a:r>
              <a:rPr lang="zh-CN" altLang="en-US" dirty="0">
                <a:solidFill>
                  <a:srgbClr val="FF0000"/>
                </a:solidFill>
              </a:rPr>
              <a:t>右边 符号的属性</a:t>
            </a:r>
            <a:r>
              <a:rPr lang="zh-CN" altLang="en-US" dirty="0">
                <a:solidFill>
                  <a:srgbClr val="333399"/>
                </a:solidFill>
              </a:rPr>
              <a:t>，只依赖于该符号左边符号的属性 （对于产生式左部的符号，只能是继承属性）；</a:t>
            </a:r>
            <a:endParaRPr lang="en-US" altLang="zh-CN" dirty="0">
              <a:solidFill>
                <a:srgbClr val="333399"/>
              </a:solidFill>
            </a:endParaRPr>
          </a:p>
          <a:p>
            <a:pPr marL="914400" lvl="1" indent="-457200">
              <a:buFont typeface="+mj-ea"/>
              <a:buAutoNum type="circleNumDbPlain"/>
            </a:pPr>
            <a:r>
              <a:rPr lang="zh-CN" altLang="en-US" dirty="0">
                <a:solidFill>
                  <a:srgbClr val="333399"/>
                </a:solidFill>
              </a:rPr>
              <a:t>产生式</a:t>
            </a:r>
            <a:r>
              <a:rPr lang="zh-CN" altLang="en-US" dirty="0">
                <a:solidFill>
                  <a:srgbClr val="FF0000"/>
                </a:solidFill>
              </a:rPr>
              <a:t>左部非终结符</a:t>
            </a:r>
            <a:r>
              <a:rPr lang="zh-CN" altLang="en-US" dirty="0">
                <a:solidFill>
                  <a:srgbClr val="333399"/>
                </a:solidFill>
              </a:rPr>
              <a:t>的</a:t>
            </a:r>
            <a:r>
              <a:rPr lang="zh-CN" altLang="en-US" dirty="0">
                <a:solidFill>
                  <a:srgbClr val="FF0000"/>
                </a:solidFill>
              </a:rPr>
              <a:t>综合属性</a:t>
            </a:r>
            <a:r>
              <a:rPr lang="zh-CN" altLang="en-US" dirty="0">
                <a:solidFill>
                  <a:srgbClr val="333399"/>
                </a:solidFill>
              </a:rPr>
              <a:t>的</a:t>
            </a:r>
            <a:r>
              <a:rPr lang="zh-CN" altLang="en-US" dirty="0">
                <a:solidFill>
                  <a:srgbClr val="FF0000"/>
                </a:solidFill>
              </a:rPr>
              <a:t>计算</a:t>
            </a:r>
            <a:r>
              <a:rPr lang="zh-CN" altLang="en-US" dirty="0">
                <a:solidFill>
                  <a:srgbClr val="333399"/>
                </a:solidFill>
              </a:rPr>
              <a:t>只能在所用到的属性都已计算出来之后进行，通常将相应的语义动作</a:t>
            </a:r>
            <a:r>
              <a:rPr lang="zh-CN" altLang="en-US" dirty="0">
                <a:solidFill>
                  <a:srgbClr val="FF0000"/>
                </a:solidFill>
              </a:rPr>
              <a:t>置于产生式的尾部</a:t>
            </a:r>
            <a:r>
              <a:rPr lang="zh-CN" altLang="en-US" dirty="0">
                <a:solidFill>
                  <a:srgbClr val="333399"/>
                </a:solidFill>
              </a:rPr>
              <a:t>。 </a:t>
            </a:r>
          </a:p>
          <a:p>
            <a:endParaRPr lang="zh-CN" altLang="en-US" dirty="0"/>
          </a:p>
        </p:txBody>
      </p:sp>
      <p:sp>
        <p:nvSpPr>
          <p:cNvPr id="3" name="标题 2"/>
          <p:cNvSpPr>
            <a:spLocks noGrp="1"/>
          </p:cNvSpPr>
          <p:nvPr>
            <p:ph type="title"/>
          </p:nvPr>
        </p:nvSpPr>
        <p:spPr/>
        <p:txBody>
          <a:bodyPr/>
          <a:lstStyle/>
          <a:p>
            <a:r>
              <a:rPr lang="zh-CN" altLang="en-US" dirty="0"/>
              <a:t>四、基于翻译模式的语义计算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Times New Roman" panose="02020603050405020304" pitchFamily="18" charset="0"/>
              </a:rPr>
              <a:t>翻译模式举例</a:t>
            </a:r>
            <a:endParaRPr lang="en-US" altLang="zh-CN" dirty="0">
              <a:latin typeface="Times New Roman" panose="02020603050405020304" pitchFamily="18" charset="0"/>
            </a:endParaRPr>
          </a:p>
          <a:p>
            <a:pPr lvl="1"/>
            <a:r>
              <a:rPr lang="zh-CN" altLang="en-US" dirty="0">
                <a:latin typeface="Times New Roman" panose="02020603050405020304" pitchFamily="18" charset="0"/>
              </a:rPr>
              <a:t>定点二进制小数转换成十进制小数</a:t>
            </a:r>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zh-CN" altLang="en-US" dirty="0">
              <a:latin typeface="Times New Roman" panose="02020603050405020304" pitchFamily="18" charset="0"/>
            </a:endParaRPr>
          </a:p>
        </p:txBody>
      </p:sp>
      <p:sp>
        <p:nvSpPr>
          <p:cNvPr id="3" name="标题 2"/>
          <p:cNvSpPr>
            <a:spLocks noGrp="1"/>
          </p:cNvSpPr>
          <p:nvPr>
            <p:ph type="title"/>
          </p:nvPr>
        </p:nvSpPr>
        <p:spPr/>
        <p:txBody>
          <a:bodyPr/>
          <a:lstStyle/>
          <a:p>
            <a:r>
              <a:rPr lang="zh-CN" altLang="en-US" dirty="0">
                <a:latin typeface="Times New Roman" panose="02020603050405020304" pitchFamily="18" charset="0"/>
              </a:rPr>
              <a:t>四、基于翻译模式的语义计算 </a:t>
            </a:r>
          </a:p>
        </p:txBody>
      </p:sp>
      <p:sp>
        <p:nvSpPr>
          <p:cNvPr id="4" name="Text Box 32"/>
          <p:cNvSpPr txBox="1">
            <a:spLocks noChangeArrowheads="1"/>
          </p:cNvSpPr>
          <p:nvPr/>
        </p:nvSpPr>
        <p:spPr bwMode="auto">
          <a:xfrm>
            <a:off x="859970" y="2114323"/>
            <a:ext cx="7837715" cy="3724096"/>
          </a:xfrm>
          <a:prstGeom prst="rect">
            <a:avLst/>
          </a:prstGeom>
          <a:noFill/>
          <a:ln w="9525">
            <a:noFill/>
            <a:miter lim="800000"/>
          </a:ln>
        </p:spPr>
        <p:txBody>
          <a:bodyPr wrap="square">
            <a:spAutoFit/>
          </a:bodyPr>
          <a:lstStyle/>
          <a:p>
            <a:pPr algn="l">
              <a:buClrTx/>
            </a:pPr>
            <a:r>
              <a:rPr lang="en-US" altLang="zh-CN" sz="3200" dirty="0">
                <a:solidFill>
                  <a:srgbClr val="333399"/>
                </a:solidFill>
                <a:latin typeface="Times New Roman" panose="02020603050405020304" pitchFamily="18" charset="0"/>
                <a:sym typeface="Symbol" panose="05050102010706020507" pitchFamily="18" charset="2"/>
              </a:rPr>
              <a:t>N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b="1" i="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cs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i="0"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rPr>
              <a:t>f</a:t>
            </a:r>
            <a:r>
              <a:rPr lang="en-US" altLang="zh-CN" sz="3200" i="0" dirty="0">
                <a:solidFill>
                  <a:srgbClr val="333399"/>
                </a:solidFill>
                <a:latin typeface="Times New Roman" panose="02020603050405020304" pitchFamily="18" charset="0"/>
              </a:rPr>
              <a:t> : =1</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b="1" i="0" dirty="0">
                <a:solidFill>
                  <a:srgbClr val="333399"/>
                </a:solidFill>
                <a:latin typeface="Times New Roman" panose="02020603050405020304" pitchFamily="18" charset="0"/>
                <a:sym typeface="Symbol" panose="05050102010706020507" pitchFamily="18" charset="2"/>
              </a:rPr>
              <a:t>  </a:t>
            </a:r>
            <a:r>
              <a:rPr lang="en-US" altLang="zh-CN" sz="3200" dirty="0">
                <a:solidFill>
                  <a:srgbClr val="333399"/>
                </a:solidFill>
                <a:latin typeface="Times New Roman" panose="02020603050405020304" pitchFamily="18" charset="0"/>
                <a:sym typeface="Symbol" panose="05050102010706020507" pitchFamily="18" charset="2"/>
              </a:rPr>
              <a:t>S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a:solidFill>
                  <a:srgbClr val="333399"/>
                </a:solidFill>
                <a:latin typeface="Times New Roman" panose="02020603050405020304" pitchFamily="18" charset="0"/>
                <a:sym typeface="Symbol" panose="05050102010706020507" pitchFamily="18" charset="2"/>
              </a:rPr>
              <a:t>p</a:t>
            </a:r>
            <a:r>
              <a:rPr lang="en-US" altLang="zh-CN" sz="3200" dirty="0">
                <a:solidFill>
                  <a:srgbClr val="333399"/>
                </a:solidFill>
                <a:latin typeface="Times New Roman" panose="02020603050405020304" pitchFamily="18" charset="0"/>
              </a:rPr>
              <a:t>rint(</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i="0"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v</a:t>
            </a:r>
            <a:r>
              <a:rPr lang="en-US" altLang="zh-CN" sz="3200" dirty="0">
                <a:solidFill>
                  <a:srgbClr val="333399"/>
                </a:solidFill>
                <a:latin typeface="Times New Roman" panose="02020603050405020304" pitchFamily="18" charset="0"/>
              </a:rPr>
              <a:t>)</a:t>
            </a:r>
            <a:r>
              <a:rPr lang="en-US" altLang="zh-CN" sz="2800" dirty="0">
                <a:solidFill>
                  <a:srgbClr val="333399"/>
                </a:solidFill>
                <a:latin typeface="Times New Roman" panose="02020603050405020304" pitchFamily="18" charset="0"/>
              </a:rPr>
              <a:t> </a:t>
            </a:r>
            <a:r>
              <a:rPr lang="en-US" altLang="zh-CN" sz="3200" i="0" dirty="0">
                <a:solidFill>
                  <a:srgbClr val="333399"/>
                </a:solidFill>
                <a:latin typeface="Times New Roman" panose="02020603050405020304" pitchFamily="18" charset="0"/>
                <a:sym typeface="Symbol" panose="05050102010706020507" pitchFamily="18" charset="2"/>
              </a:rPr>
              <a:t>}</a:t>
            </a:r>
            <a:endParaRPr lang="en-US" altLang="zh-CN" sz="3200" i="0" baseline="-25000" dirty="0">
              <a:solidFill>
                <a:srgbClr val="333399"/>
              </a:solidFill>
              <a:latin typeface="Times New Roman" panose="02020603050405020304" pitchFamily="18" charset="0"/>
              <a:sym typeface="Symbol" panose="05050102010706020507" pitchFamily="18" charset="2"/>
            </a:endParaRPr>
          </a:p>
          <a:p>
            <a:pPr algn="l">
              <a:buClrTx/>
            </a:pPr>
            <a:endParaRPr lang="en-US" altLang="zh-CN" sz="1200" i="0" baseline="-25000" dirty="0">
              <a:solidFill>
                <a:srgbClr val="333399"/>
              </a:solidFill>
              <a:latin typeface="Times New Roman" panose="02020603050405020304" pitchFamily="18" charset="0"/>
              <a:sym typeface="Symbol" panose="05050102010706020507" pitchFamily="18" charset="2"/>
            </a:endParaRPr>
          </a:p>
          <a:p>
            <a:pPr algn="l">
              <a:buClrTx/>
            </a:pPr>
            <a:r>
              <a:rPr lang="en-US" altLang="zh-CN" sz="3200" dirty="0">
                <a:solidFill>
                  <a:srgbClr val="333399"/>
                </a:solidFill>
                <a:latin typeface="Times New Roman" panose="02020603050405020304" pitchFamily="18" charset="0"/>
                <a:sym typeface="Symbol" panose="05050102010706020507" pitchFamily="18" charset="2"/>
              </a:rPr>
              <a:t>S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err="1">
                <a:solidFill>
                  <a:srgbClr val="333399"/>
                </a:solidFill>
                <a:latin typeface="Times New Roman" panose="02020603050405020304" pitchFamily="18" charset="0"/>
                <a:sym typeface="Symbol" panose="05050102010706020507" pitchFamily="18" charset="2"/>
              </a:rPr>
              <a:t>B</a:t>
            </a:r>
            <a:r>
              <a:rPr lang="en-US" altLang="zh-CN" sz="3200" b="1" i="0"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rPr>
              <a:t>f</a:t>
            </a:r>
            <a:r>
              <a:rPr lang="en-US" altLang="zh-CN" sz="3200" i="0" dirty="0">
                <a:solidFill>
                  <a:srgbClr val="333399"/>
                </a:solidFill>
                <a:latin typeface="Times New Roman" panose="02020603050405020304" pitchFamily="18" charset="0"/>
              </a:rPr>
              <a:t> : =</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f</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B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a:solidFill>
                  <a:srgbClr val="333399"/>
                </a:solidFill>
                <a:latin typeface="Times New Roman" panose="02020603050405020304" pitchFamily="18" charset="0"/>
                <a:sym typeface="Symbol" panose="05050102010706020507" pitchFamily="18" charset="2"/>
              </a:rPr>
              <a:t>S</a:t>
            </a:r>
            <a:r>
              <a:rPr lang="en-US" altLang="zh-CN" sz="3200" i="0" baseline="-25000" dirty="0">
                <a:solidFill>
                  <a:srgbClr val="333399"/>
                </a:solidFill>
                <a:latin typeface="Times New Roman" panose="02020603050405020304" pitchFamily="18" charset="0"/>
                <a:sym typeface="Symbol" panose="05050102010706020507" pitchFamily="18" charset="2"/>
              </a:rPr>
              <a:t>1</a:t>
            </a:r>
            <a:r>
              <a:rPr lang="en-US" altLang="zh-CN" sz="3200" b="1"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f </a:t>
            </a:r>
            <a:r>
              <a:rPr lang="en-US" altLang="zh-CN" sz="3200" i="0" dirty="0">
                <a:solidFill>
                  <a:srgbClr val="333399"/>
                </a:solidFill>
                <a:latin typeface="Times New Roman" panose="02020603050405020304" pitchFamily="18" charset="0"/>
              </a:rPr>
              <a:t>:= </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f</a:t>
            </a:r>
            <a:r>
              <a:rPr lang="en-US" altLang="zh-CN" sz="3200" dirty="0">
                <a:solidFill>
                  <a:srgbClr val="333399"/>
                </a:solidFill>
                <a:latin typeface="Times New Roman" panose="02020603050405020304" pitchFamily="18" charset="0"/>
                <a:sym typeface="Symbol" panose="05050102010706020507" pitchFamily="18" charset="2"/>
              </a:rPr>
              <a:t> +1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S</a:t>
            </a:r>
            <a:r>
              <a:rPr lang="en-US" altLang="zh-CN" sz="3200" i="0" baseline="-25000" dirty="0">
                <a:solidFill>
                  <a:srgbClr val="333399"/>
                </a:solidFill>
                <a:latin typeface="Times New Roman" panose="02020603050405020304" pitchFamily="18" charset="0"/>
                <a:sym typeface="Symbol" panose="05050102010706020507" pitchFamily="18" charset="2"/>
              </a:rPr>
              <a:t>1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v</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rPr>
              <a:t>:= </a:t>
            </a:r>
            <a:r>
              <a:rPr lang="en-US" altLang="zh-CN" sz="3200" dirty="0">
                <a:solidFill>
                  <a:srgbClr val="333399"/>
                </a:solidFill>
                <a:latin typeface="Times New Roman" panose="02020603050405020304" pitchFamily="18" charset="0"/>
                <a:sym typeface="Symbol" panose="05050102010706020507" pitchFamily="18" charset="2"/>
              </a:rPr>
              <a:t>S</a:t>
            </a:r>
            <a:r>
              <a:rPr lang="en-US" altLang="zh-CN" sz="3200" i="0" baseline="-25000" dirty="0">
                <a:solidFill>
                  <a:srgbClr val="333399"/>
                </a:solidFill>
                <a:latin typeface="Times New Roman" panose="02020603050405020304" pitchFamily="18" charset="0"/>
                <a:sym typeface="Symbol" panose="05050102010706020507" pitchFamily="18" charset="2"/>
              </a:rPr>
              <a:t>1</a:t>
            </a:r>
            <a:r>
              <a:rPr lang="en-US" altLang="zh-CN" sz="3200" b="1"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v</a:t>
            </a:r>
            <a:r>
              <a:rPr lang="en-US" altLang="zh-CN" sz="3200" i="0" dirty="0">
                <a:solidFill>
                  <a:srgbClr val="333399"/>
                </a:solidFill>
                <a:latin typeface="Times New Roman" panose="02020603050405020304" pitchFamily="18" charset="0"/>
              </a:rPr>
              <a:t>+</a:t>
            </a:r>
            <a:r>
              <a:rPr lang="en-US" altLang="zh-CN" sz="3200" dirty="0">
                <a:solidFill>
                  <a:srgbClr val="333399"/>
                </a:solidFill>
                <a:latin typeface="Times New Roman" panose="02020603050405020304" pitchFamily="18" charset="0"/>
                <a:sym typeface="Symbol" panose="05050102010706020507" pitchFamily="18" charset="2"/>
              </a:rPr>
              <a:t>B</a:t>
            </a:r>
            <a:r>
              <a:rPr lang="en-US" altLang="zh-CN" sz="3200" b="1"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v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a:t>
            </a:r>
            <a:endParaRPr lang="en-US" altLang="zh-CN" sz="1200" baseline="-25000" dirty="0">
              <a:solidFill>
                <a:srgbClr val="333399"/>
              </a:solidFill>
              <a:latin typeface="Times New Roman" panose="02020603050405020304" pitchFamily="18" charset="0"/>
              <a:sym typeface="Symbol" panose="05050102010706020507" pitchFamily="18" charset="2"/>
            </a:endParaRPr>
          </a:p>
          <a:p>
            <a:pPr algn="l">
              <a:buClrTx/>
            </a:pPr>
            <a:endParaRPr lang="en-US" altLang="zh-CN" sz="1200" dirty="0">
              <a:solidFill>
                <a:srgbClr val="333399"/>
              </a:solidFill>
              <a:latin typeface="Times New Roman" panose="02020603050405020304" pitchFamily="18" charset="0"/>
              <a:sym typeface="Symbol" panose="05050102010706020507" pitchFamily="18" charset="2"/>
            </a:endParaRPr>
          </a:p>
          <a:p>
            <a:pPr algn="l">
              <a:buClrTx/>
            </a:pPr>
            <a:r>
              <a:rPr lang="en-US" altLang="zh-CN" sz="3200" dirty="0">
                <a:solidFill>
                  <a:srgbClr val="333399"/>
                </a:solidFill>
                <a:latin typeface="Times New Roman" panose="02020603050405020304" pitchFamily="18" charset="0"/>
                <a:sym typeface="Symbol" panose="05050102010706020507" pitchFamily="18" charset="2"/>
              </a:rPr>
              <a:t>S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err="1">
                <a:solidFill>
                  <a:srgbClr val="333399"/>
                </a:solidFill>
                <a:latin typeface="Times New Roman" panose="02020603050405020304" pitchFamily="18" charset="0"/>
                <a:sym typeface="Symbol" panose="05050102010706020507" pitchFamily="18" charset="2"/>
              </a:rPr>
              <a:t>S</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v</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rPr>
              <a:t>:= </a:t>
            </a:r>
            <a:r>
              <a:rPr lang="en-US" altLang="zh-CN" sz="3200" dirty="0">
                <a:solidFill>
                  <a:srgbClr val="333399"/>
                </a:solidFill>
                <a:latin typeface="Times New Roman" panose="02020603050405020304" pitchFamily="18" charset="0"/>
                <a:sym typeface="Symbol" panose="05050102010706020507" pitchFamily="18" charset="2"/>
              </a:rPr>
              <a:t>0 </a:t>
            </a:r>
            <a:r>
              <a:rPr lang="en-US" altLang="zh-CN" sz="3200" i="0" dirty="0">
                <a:solidFill>
                  <a:srgbClr val="333399"/>
                </a:solidFill>
                <a:latin typeface="Times New Roman" panose="02020603050405020304" pitchFamily="18" charset="0"/>
                <a:sym typeface="Symbol" panose="05050102010706020507" pitchFamily="18" charset="2"/>
              </a:rPr>
              <a:t>}</a:t>
            </a:r>
            <a:r>
              <a:rPr lang="en-US" altLang="zh-CN" sz="3200" dirty="0">
                <a:solidFill>
                  <a:srgbClr val="333399"/>
                </a:solidFill>
                <a:latin typeface="Times New Roman" panose="02020603050405020304" pitchFamily="18" charset="0"/>
                <a:sym typeface="Symbol" panose="05050102010706020507" pitchFamily="18" charset="2"/>
              </a:rPr>
              <a:t> </a:t>
            </a:r>
          </a:p>
          <a:p>
            <a:pPr algn="l">
              <a:buClrTx/>
            </a:pPr>
            <a:endParaRPr kumimoji="0" lang="en-US" altLang="zh-CN" sz="1200" b="1" dirty="0">
              <a:solidFill>
                <a:srgbClr val="333399"/>
              </a:solidFill>
              <a:latin typeface="Times New Roman" panose="02020603050405020304" pitchFamily="18" charset="0"/>
              <a:sym typeface="Symbol" panose="05050102010706020507" pitchFamily="18" charset="2"/>
            </a:endParaRPr>
          </a:p>
          <a:p>
            <a:pPr algn="l">
              <a:buClrTx/>
            </a:pPr>
            <a:r>
              <a:rPr lang="en-US" altLang="zh-CN" sz="3200" dirty="0">
                <a:solidFill>
                  <a:srgbClr val="333399"/>
                </a:solidFill>
                <a:latin typeface="Times New Roman" panose="02020603050405020304" pitchFamily="18" charset="0"/>
                <a:sym typeface="Symbol" panose="05050102010706020507" pitchFamily="18" charset="2"/>
              </a:rPr>
              <a:t>B </a:t>
            </a:r>
            <a:r>
              <a:rPr lang="en-US" altLang="zh-CN" sz="3200" i="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 </a:t>
            </a:r>
            <a:r>
              <a:rPr lang="en-US" altLang="zh-CN" sz="320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0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err="1">
                <a:solidFill>
                  <a:srgbClr val="333399"/>
                </a:solidFill>
                <a:latin typeface="Times New Roman" panose="02020603050405020304" pitchFamily="18" charset="0"/>
                <a:sym typeface="Symbol" panose="05050102010706020507" pitchFamily="18" charset="2"/>
              </a:rPr>
              <a:t>B</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v</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rPr>
              <a:t>:= 0 </a:t>
            </a:r>
            <a:r>
              <a:rPr lang="en-US" altLang="zh-CN" sz="3200" i="0" dirty="0">
                <a:solidFill>
                  <a:srgbClr val="333399"/>
                </a:solidFill>
                <a:latin typeface="Times New Roman" panose="02020603050405020304" pitchFamily="18" charset="0"/>
                <a:sym typeface="Symbol" panose="05050102010706020507" pitchFamily="18" charset="2"/>
              </a:rPr>
              <a:t>}</a:t>
            </a:r>
            <a:endParaRPr lang="en-US" altLang="zh-CN" sz="3200"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endParaRPr lang="en-US" altLang="zh-CN" sz="1200" u="sng"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3200" dirty="0">
                <a:solidFill>
                  <a:srgbClr val="333399"/>
                </a:solidFill>
                <a:latin typeface="Times New Roman" panose="02020603050405020304" pitchFamily="18" charset="0"/>
                <a:sym typeface="Symbol" panose="05050102010706020507" pitchFamily="18" charset="2"/>
              </a:rPr>
              <a:t>B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a:solidFill>
                  <a:srgbClr val="333399"/>
                </a:solidFill>
                <a:latin typeface="Times New Roman" panose="02020603050405020304" pitchFamily="18" charset="0"/>
                <a:sym typeface="Symbol" panose="05050102010706020507" pitchFamily="18" charset="2"/>
              </a:rPr>
              <a:t>1  </a:t>
            </a:r>
            <a:r>
              <a:rPr lang="en-US" altLang="zh-CN" sz="3200" i="0" dirty="0">
                <a:solidFill>
                  <a:srgbClr val="333399"/>
                </a:solidFill>
                <a:latin typeface="Times New Roman" panose="02020603050405020304" pitchFamily="18" charset="0"/>
                <a:sym typeface="Symbol" panose="05050102010706020507" pitchFamily="18" charset="2"/>
              </a:rPr>
              <a:t>{ </a:t>
            </a:r>
            <a:r>
              <a:rPr lang="en-US" altLang="zh-CN" sz="3200" dirty="0" err="1">
                <a:solidFill>
                  <a:srgbClr val="333399"/>
                </a:solidFill>
                <a:latin typeface="Times New Roman" panose="02020603050405020304" pitchFamily="18" charset="0"/>
                <a:sym typeface="Symbol" panose="05050102010706020507" pitchFamily="18" charset="2"/>
              </a:rPr>
              <a:t>B</a:t>
            </a:r>
            <a:r>
              <a:rPr lang="en-US" altLang="zh-CN" sz="3200" b="1" dirty="0" err="1">
                <a:solidFill>
                  <a:srgbClr val="333399"/>
                </a:solidFill>
                <a:latin typeface="Times New Roman" panose="02020603050405020304" pitchFamily="18" charset="0"/>
                <a:sym typeface="Symbol" panose="05050102010706020507" pitchFamily="18" charset="2"/>
              </a:rPr>
              <a:t>.</a:t>
            </a:r>
            <a:r>
              <a:rPr lang="en-US" altLang="zh-CN" sz="3200" dirty="0" err="1">
                <a:solidFill>
                  <a:srgbClr val="333399"/>
                </a:solidFill>
                <a:latin typeface="Times New Roman" panose="02020603050405020304" pitchFamily="18" charset="0"/>
                <a:sym typeface="Symbol" panose="05050102010706020507" pitchFamily="18" charset="2"/>
              </a:rPr>
              <a:t>v</a:t>
            </a:r>
            <a:r>
              <a:rPr lang="en-US" altLang="zh-CN" sz="3200" dirty="0">
                <a:solidFill>
                  <a:srgbClr val="333399"/>
                </a:solidFill>
                <a:latin typeface="Times New Roman" panose="02020603050405020304" pitchFamily="18" charset="0"/>
                <a:sym typeface="Symbol" panose="05050102010706020507" pitchFamily="18" charset="2"/>
              </a:rPr>
              <a:t> </a:t>
            </a:r>
            <a:r>
              <a:rPr lang="en-US" altLang="zh-CN" sz="3200" i="0" dirty="0">
                <a:solidFill>
                  <a:srgbClr val="333399"/>
                </a:solidFill>
                <a:latin typeface="Times New Roman" panose="02020603050405020304" pitchFamily="18" charset="0"/>
              </a:rPr>
              <a:t>:= 2</a:t>
            </a:r>
            <a:r>
              <a:rPr lang="en-US" altLang="zh-CN" sz="3200" i="0" baseline="30000" dirty="0">
                <a:solidFill>
                  <a:srgbClr val="333399"/>
                </a:solidFill>
                <a:latin typeface="Times New Roman" panose="02020603050405020304" pitchFamily="18" charset="0"/>
              </a:rPr>
              <a:t>-</a:t>
            </a:r>
            <a:r>
              <a:rPr lang="en-US" altLang="zh-CN" sz="3200" baseline="30000" dirty="0">
                <a:solidFill>
                  <a:srgbClr val="333399"/>
                </a:solidFill>
                <a:latin typeface="Times New Roman" panose="02020603050405020304" pitchFamily="18" charset="0"/>
                <a:sym typeface="Symbol" panose="05050102010706020507" pitchFamily="18" charset="2"/>
              </a:rPr>
              <a:t>B</a:t>
            </a:r>
            <a:r>
              <a:rPr lang="en-US" altLang="zh-CN" sz="3200" b="1" i="0" baseline="30000" dirty="0">
                <a:solidFill>
                  <a:srgbClr val="333399"/>
                </a:solidFill>
                <a:latin typeface="Times New Roman" panose="02020603050405020304" pitchFamily="18" charset="0"/>
                <a:sym typeface="Symbol" panose="05050102010706020507" pitchFamily="18" charset="2"/>
              </a:rPr>
              <a:t>.</a:t>
            </a:r>
            <a:r>
              <a:rPr lang="en-US" altLang="zh-CN" sz="3200" baseline="30000" dirty="0">
                <a:solidFill>
                  <a:srgbClr val="333399"/>
                </a:solidFill>
                <a:latin typeface="Times New Roman" panose="02020603050405020304" pitchFamily="18" charset="0"/>
              </a:rPr>
              <a:t>f</a:t>
            </a:r>
            <a:r>
              <a:rPr lang="en-US" altLang="zh-CN" sz="3200" i="0" dirty="0">
                <a:solidFill>
                  <a:srgbClr val="333399"/>
                </a:solidFill>
                <a:latin typeface="Times New Roman" panose="02020603050405020304" pitchFamily="18" charset="0"/>
              </a:rPr>
              <a:t> </a:t>
            </a:r>
            <a:r>
              <a:rPr lang="en-US" altLang="zh-CN" sz="3200" i="0" dirty="0">
                <a:solidFill>
                  <a:srgbClr val="333399"/>
                </a:solidFill>
                <a:latin typeface="Times New Roman" panose="02020603050405020304" pitchFamily="18" charset="0"/>
                <a:sym typeface="Symbol" panose="05050102010706020507" pitchFamily="18" charset="2"/>
              </a:rPr>
              <a:t>}</a:t>
            </a:r>
          </a:p>
        </p:txBody>
      </p:sp>
      <p:sp>
        <p:nvSpPr>
          <p:cNvPr id="6" name="灯片编号占位符 5"/>
          <p:cNvSpPr>
            <a:spLocks noGrp="1"/>
          </p:cNvSpPr>
          <p:nvPr>
            <p:ph type="sldNum" sz="quarter" idx="4"/>
          </p:nvPr>
        </p:nvSpPr>
        <p:spPr/>
        <p:txBody>
          <a:bodyPr/>
          <a:lstStyle/>
          <a:p>
            <a:fld id="{565CE74E-AB26-4998-AD42-012C4C1AD076}" type="slidenum">
              <a:rPr lang="zh-CN" altLang="en-US" smtClean="0"/>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a:xfrm>
            <a:off x="375920" y="793750"/>
            <a:ext cx="8460072" cy="5563235"/>
          </a:xfrm>
        </p:spPr>
        <p:txBody>
          <a:bodyPr>
            <a:normAutofit lnSpcReduction="10000"/>
          </a:bodyPr>
          <a:lstStyle/>
          <a:p>
            <a:r>
              <a:rPr lang="zh-CN" altLang="en-US" dirty="0"/>
              <a:t>（一）基于</a:t>
            </a:r>
            <a:r>
              <a:rPr lang="en-US" altLang="zh-CN" dirty="0"/>
              <a:t>S-</a:t>
            </a:r>
            <a:r>
              <a:rPr lang="zh-CN" altLang="en-US" dirty="0"/>
              <a:t>翻译模式的语义计算</a:t>
            </a:r>
            <a:endParaRPr lang="en-US" altLang="zh-CN" dirty="0"/>
          </a:p>
          <a:p>
            <a:pPr lvl="1"/>
            <a:r>
              <a:rPr lang="zh-CN" altLang="en-US" dirty="0"/>
              <a:t>与</a:t>
            </a:r>
            <a:r>
              <a:rPr lang="en-US" altLang="zh-CN" dirty="0"/>
              <a:t>S-</a:t>
            </a:r>
            <a:r>
              <a:rPr lang="zh-CN" altLang="en-US" dirty="0"/>
              <a:t>翻译文法与</a:t>
            </a:r>
            <a:r>
              <a:rPr lang="en-US" altLang="zh-CN" dirty="0"/>
              <a:t>S-</a:t>
            </a:r>
            <a:r>
              <a:rPr lang="zh-CN" altLang="en-US" dirty="0"/>
              <a:t>属性文法一致。</a:t>
            </a:r>
            <a:endParaRPr lang="en-US" altLang="zh-CN" dirty="0"/>
          </a:p>
          <a:p>
            <a:pPr lvl="1"/>
            <a:r>
              <a:rPr lang="zh-CN" altLang="en-US" dirty="0"/>
              <a:t>该模式将每个产生式归约时转化成对</a:t>
            </a:r>
            <a:r>
              <a:rPr lang="zh-CN" altLang="en-US" dirty="0">
                <a:solidFill>
                  <a:srgbClr val="FF0000"/>
                </a:solidFill>
              </a:rPr>
              <a:t>语义栈</a:t>
            </a:r>
            <a:r>
              <a:rPr lang="zh-CN" altLang="en-US" dirty="0"/>
              <a:t>上操作。假设语义栈由</a:t>
            </a:r>
            <a:r>
              <a:rPr lang="zh-CN" altLang="en-US" dirty="0">
                <a:solidFill>
                  <a:srgbClr val="FF0000"/>
                </a:solidFill>
              </a:rPr>
              <a:t>向量</a:t>
            </a:r>
            <a:r>
              <a:rPr lang="en-US" altLang="zh-CN" dirty="0">
                <a:solidFill>
                  <a:srgbClr val="FF0000"/>
                </a:solidFill>
              </a:rPr>
              <a:t>v</a:t>
            </a:r>
            <a:r>
              <a:rPr lang="zh-CN" altLang="en-US" dirty="0"/>
              <a:t>表示，归约前</a:t>
            </a:r>
            <a:r>
              <a:rPr lang="zh-CN" altLang="en-US" dirty="0">
                <a:solidFill>
                  <a:srgbClr val="FF0000"/>
                </a:solidFill>
              </a:rPr>
              <a:t>栈顶位置为</a:t>
            </a:r>
            <a:r>
              <a:rPr lang="en-US" altLang="zh-CN" dirty="0">
                <a:solidFill>
                  <a:srgbClr val="FF0000"/>
                </a:solidFill>
              </a:rPr>
              <a:t>top</a:t>
            </a:r>
            <a:r>
              <a:rPr lang="zh-CN" altLang="en-US" dirty="0"/>
              <a:t>，栈上第</a:t>
            </a:r>
            <a:r>
              <a:rPr lang="en-US" altLang="zh-CN" dirty="0" err="1"/>
              <a:t>i</a:t>
            </a:r>
            <a:r>
              <a:rPr lang="zh-CN" altLang="en-US" dirty="0"/>
              <a:t>个位置所对应符号的</a:t>
            </a:r>
            <a:r>
              <a:rPr lang="zh-CN" altLang="en-US" dirty="0">
                <a:solidFill>
                  <a:srgbClr val="FF0000"/>
                </a:solidFill>
              </a:rPr>
              <a:t>综合属性值</a:t>
            </a:r>
            <a:r>
              <a:rPr lang="en-US" altLang="zh-CN" dirty="0">
                <a:solidFill>
                  <a:srgbClr val="FF0000"/>
                </a:solidFill>
              </a:rPr>
              <a:t>x</a:t>
            </a:r>
            <a:r>
              <a:rPr lang="zh-CN" altLang="en-US" dirty="0"/>
              <a:t>用</a:t>
            </a:r>
            <a:r>
              <a:rPr lang="en-US" altLang="zh-CN" dirty="0">
                <a:solidFill>
                  <a:srgbClr val="FF0000"/>
                </a:solidFill>
              </a:rPr>
              <a:t>v[</a:t>
            </a:r>
            <a:r>
              <a:rPr lang="en-US" altLang="zh-CN" dirty="0" err="1">
                <a:solidFill>
                  <a:srgbClr val="FF0000"/>
                </a:solidFill>
              </a:rPr>
              <a:t>i</a:t>
            </a:r>
            <a:r>
              <a:rPr lang="en-US" altLang="zh-CN" dirty="0">
                <a:solidFill>
                  <a:srgbClr val="FF0000"/>
                </a:solidFill>
              </a:rPr>
              <a:t>].x</a:t>
            </a:r>
            <a:r>
              <a:rPr lang="zh-CN" altLang="en-US" dirty="0">
                <a:solidFill>
                  <a:srgbClr val="FF0000"/>
                </a:solidFill>
              </a:rPr>
              <a:t>（</a:t>
            </a:r>
            <a:r>
              <a:rPr lang="en-US" altLang="zh-CN" dirty="0">
                <a:solidFill>
                  <a:srgbClr val="FF0000"/>
                </a:solidFill>
              </a:rPr>
              <a:t>stack[</a:t>
            </a:r>
            <a:r>
              <a:rPr lang="en-US" altLang="zh-CN" dirty="0" err="1">
                <a:solidFill>
                  <a:srgbClr val="FF0000"/>
                </a:solidFill>
              </a:rPr>
              <a:t>i</a:t>
            </a:r>
            <a:r>
              <a:rPr lang="en-US" altLang="zh-CN" dirty="0">
                <a:solidFill>
                  <a:srgbClr val="FF0000"/>
                </a:solidFill>
              </a:rPr>
              <a:t>].x</a:t>
            </a:r>
            <a:r>
              <a:rPr lang="zh-CN" altLang="en-US" dirty="0">
                <a:solidFill>
                  <a:srgbClr val="FF0000"/>
                </a:solidFill>
              </a:rPr>
              <a:t>）</a:t>
            </a:r>
            <a:r>
              <a:rPr lang="zh-CN" altLang="en-US" dirty="0"/>
              <a:t>表示。</a:t>
            </a:r>
            <a:endParaRPr lang="en-US" altLang="zh-CN" dirty="0"/>
          </a:p>
          <a:p>
            <a:pPr>
              <a:buFont typeface="Symbol" pitchFamily="18" charset="2"/>
              <a:buChar char="-"/>
            </a:pPr>
            <a:r>
              <a:rPr lang="zh-CN" altLang="en-US" sz="2800" dirty="0">
                <a:solidFill>
                  <a:srgbClr val="333399"/>
                </a:solidFill>
              </a:rPr>
              <a:t>例如产生式： </a:t>
            </a:r>
            <a:r>
              <a:rPr lang="en-US" altLang="zh-CN" sz="2800" dirty="0">
                <a:solidFill>
                  <a:srgbClr val="333399"/>
                </a:solidFill>
              </a:rPr>
              <a:t>A</a:t>
            </a:r>
            <a:r>
              <a:rPr lang="en-US" altLang="zh-CN" sz="2800" dirty="0">
                <a:solidFill>
                  <a:srgbClr val="333399"/>
                </a:solidFill>
                <a:sym typeface="Symbol" pitchFamily="18" charset="2"/>
              </a:rPr>
              <a:t></a:t>
            </a:r>
            <a:r>
              <a:rPr lang="en-US" altLang="zh-CN" sz="2800" dirty="0">
                <a:solidFill>
                  <a:srgbClr val="333399"/>
                </a:solidFill>
              </a:rPr>
              <a:t>XYZ</a:t>
            </a:r>
            <a:r>
              <a:rPr lang="zh-CN" altLang="en-US" sz="2800" dirty="0">
                <a:solidFill>
                  <a:srgbClr val="333399"/>
                </a:solidFill>
              </a:rPr>
              <a:t>    </a:t>
            </a:r>
            <a:r>
              <a:rPr lang="en-US" altLang="zh-CN" sz="2800" dirty="0">
                <a:solidFill>
                  <a:srgbClr val="333399"/>
                </a:solidFill>
              </a:rPr>
              <a:t>{</a:t>
            </a:r>
            <a:r>
              <a:rPr lang="en-US" altLang="zh-CN" sz="2800" dirty="0" err="1">
                <a:solidFill>
                  <a:srgbClr val="333399"/>
                </a:solidFill>
              </a:rPr>
              <a:t>A.a</a:t>
            </a:r>
            <a:r>
              <a:rPr lang="en-US" altLang="zh-CN" sz="2800" dirty="0">
                <a:solidFill>
                  <a:srgbClr val="333399"/>
                </a:solidFill>
              </a:rPr>
              <a:t> := f</a:t>
            </a:r>
            <a:r>
              <a:rPr lang="zh-CN" altLang="en-US" sz="2800" dirty="0">
                <a:solidFill>
                  <a:srgbClr val="333399"/>
                </a:solidFill>
              </a:rPr>
              <a:t>（</a:t>
            </a:r>
            <a:r>
              <a:rPr lang="en-US" altLang="zh-CN" sz="2800" dirty="0" err="1">
                <a:solidFill>
                  <a:srgbClr val="333399"/>
                </a:solidFill>
              </a:rPr>
              <a:t>X.x</a:t>
            </a:r>
            <a:r>
              <a:rPr lang="en-US" altLang="zh-CN" sz="2800" dirty="0">
                <a:solidFill>
                  <a:srgbClr val="333399"/>
                </a:solidFill>
              </a:rPr>
              <a:t>, </a:t>
            </a:r>
            <a:r>
              <a:rPr lang="en-US" altLang="zh-CN" sz="2800" dirty="0" err="1">
                <a:solidFill>
                  <a:srgbClr val="333399"/>
                </a:solidFill>
              </a:rPr>
              <a:t>Y.y</a:t>
            </a:r>
            <a:r>
              <a:rPr lang="en-US" altLang="zh-CN" sz="2800" dirty="0">
                <a:solidFill>
                  <a:srgbClr val="333399"/>
                </a:solidFill>
              </a:rPr>
              <a:t>, </a:t>
            </a:r>
            <a:r>
              <a:rPr lang="en-US" altLang="zh-CN" sz="2800" dirty="0" err="1">
                <a:solidFill>
                  <a:srgbClr val="333399"/>
                </a:solidFill>
              </a:rPr>
              <a:t>Z.z</a:t>
            </a:r>
            <a:r>
              <a:rPr lang="zh-CN" altLang="en-US" sz="2800" dirty="0">
                <a:solidFill>
                  <a:srgbClr val="333399"/>
                </a:solidFill>
              </a:rPr>
              <a:t>）</a:t>
            </a:r>
            <a:r>
              <a:rPr lang="en-US" altLang="zh-CN" sz="2800" dirty="0">
                <a:solidFill>
                  <a:srgbClr val="333399"/>
                </a:solidFill>
              </a:rPr>
              <a:t>}</a:t>
            </a:r>
          </a:p>
          <a:p>
            <a:pPr>
              <a:lnSpc>
                <a:spcPct val="100000"/>
              </a:lnSpc>
              <a:buFont typeface="Symbol" pitchFamily="18" charset="2"/>
              <a:buChar char="-"/>
            </a:pPr>
            <a:r>
              <a:rPr lang="zh-CN" altLang="en-US" sz="2800" dirty="0">
                <a:solidFill>
                  <a:srgbClr val="333399"/>
                </a:solidFill>
              </a:rPr>
              <a:t>在 </a:t>
            </a:r>
            <a:r>
              <a:rPr lang="en-US" altLang="zh-CN" sz="2800" dirty="0">
                <a:solidFill>
                  <a:srgbClr val="333399"/>
                </a:solidFill>
              </a:rPr>
              <a:t>XYZ </a:t>
            </a:r>
            <a:r>
              <a:rPr lang="zh-CN" altLang="en-US" sz="2800" dirty="0">
                <a:solidFill>
                  <a:srgbClr val="333399"/>
                </a:solidFill>
              </a:rPr>
              <a:t>归约为 </a:t>
            </a:r>
            <a:r>
              <a:rPr lang="en-US" altLang="zh-CN" sz="2800" dirty="0">
                <a:solidFill>
                  <a:srgbClr val="333399"/>
                </a:solidFill>
              </a:rPr>
              <a:t>A </a:t>
            </a:r>
            <a:r>
              <a:rPr lang="zh-CN" altLang="en-US" sz="2800" dirty="0">
                <a:solidFill>
                  <a:srgbClr val="333399"/>
                </a:solidFill>
              </a:rPr>
              <a:t>之前，</a:t>
            </a:r>
            <a:r>
              <a:rPr lang="en-US" altLang="zh-CN" sz="2800" dirty="0" err="1">
                <a:solidFill>
                  <a:srgbClr val="333399"/>
                </a:solidFill>
              </a:rPr>
              <a:t>Z.z</a:t>
            </a:r>
            <a:r>
              <a:rPr lang="en-US" altLang="zh-CN" sz="2800" dirty="0">
                <a:solidFill>
                  <a:srgbClr val="333399"/>
                </a:solidFill>
              </a:rPr>
              <a:t>, </a:t>
            </a:r>
            <a:r>
              <a:rPr lang="en-US" altLang="zh-CN" sz="2800" dirty="0" err="1">
                <a:solidFill>
                  <a:srgbClr val="333399"/>
                </a:solidFill>
              </a:rPr>
              <a:t>Y.y</a:t>
            </a:r>
            <a:r>
              <a:rPr lang="en-US" altLang="zh-CN" sz="2800" dirty="0">
                <a:solidFill>
                  <a:srgbClr val="333399"/>
                </a:solidFill>
              </a:rPr>
              <a:t>, </a:t>
            </a:r>
            <a:r>
              <a:rPr lang="zh-CN" altLang="en-US" sz="2800" dirty="0">
                <a:solidFill>
                  <a:srgbClr val="333399"/>
                </a:solidFill>
              </a:rPr>
              <a:t>和 </a:t>
            </a:r>
            <a:r>
              <a:rPr lang="en-US" altLang="zh-CN" sz="2800" dirty="0" err="1">
                <a:solidFill>
                  <a:srgbClr val="333399"/>
                </a:solidFill>
              </a:rPr>
              <a:t>X.x</a:t>
            </a:r>
            <a:r>
              <a:rPr lang="en-US" altLang="zh-CN" sz="2800" dirty="0">
                <a:solidFill>
                  <a:srgbClr val="333399"/>
                </a:solidFill>
              </a:rPr>
              <a:t> </a:t>
            </a:r>
            <a:r>
              <a:rPr lang="zh-CN" altLang="en-US" sz="2800" dirty="0">
                <a:solidFill>
                  <a:srgbClr val="333399"/>
                </a:solidFill>
              </a:rPr>
              <a:t>分别存放于语义栈的 </a:t>
            </a:r>
            <a:r>
              <a:rPr lang="en-US" altLang="zh-CN" sz="2800" dirty="0">
                <a:solidFill>
                  <a:srgbClr val="333399"/>
                </a:solidFill>
              </a:rPr>
              <a:t>top</a:t>
            </a:r>
            <a:r>
              <a:rPr lang="zh-CN" altLang="en-US" sz="2800" dirty="0">
                <a:solidFill>
                  <a:srgbClr val="333399"/>
                </a:solidFill>
              </a:rPr>
              <a:t>，</a:t>
            </a:r>
            <a:r>
              <a:rPr lang="en-US" altLang="zh-CN" sz="2800" dirty="0">
                <a:solidFill>
                  <a:srgbClr val="333399"/>
                </a:solidFill>
              </a:rPr>
              <a:t>top-1 </a:t>
            </a:r>
            <a:r>
              <a:rPr lang="zh-CN" altLang="en-US" sz="2800" dirty="0">
                <a:solidFill>
                  <a:srgbClr val="333399"/>
                </a:solidFill>
              </a:rPr>
              <a:t>和 </a:t>
            </a:r>
            <a:r>
              <a:rPr lang="en-US" altLang="zh-CN" sz="2800" dirty="0">
                <a:solidFill>
                  <a:srgbClr val="333399"/>
                </a:solidFill>
              </a:rPr>
              <a:t>top-2 </a:t>
            </a:r>
            <a:r>
              <a:rPr lang="zh-CN" altLang="en-US" sz="2800" dirty="0">
                <a:solidFill>
                  <a:srgbClr val="333399"/>
                </a:solidFill>
              </a:rPr>
              <a:t>的相应域。</a:t>
            </a:r>
            <a:endParaRPr lang="en-US" altLang="zh-CN" sz="2800" dirty="0">
              <a:solidFill>
                <a:srgbClr val="333399"/>
              </a:solidFill>
            </a:endParaRPr>
          </a:p>
          <a:p>
            <a:pPr>
              <a:lnSpc>
                <a:spcPct val="100000"/>
              </a:lnSpc>
              <a:buFont typeface="Symbol" pitchFamily="18" charset="2"/>
              <a:buChar char="-"/>
            </a:pPr>
            <a:r>
              <a:rPr lang="en-US" altLang="zh-CN" sz="2800" dirty="0">
                <a:solidFill>
                  <a:srgbClr val="333399"/>
                </a:solidFill>
              </a:rPr>
              <a:t>A</a:t>
            </a:r>
            <a:r>
              <a:rPr lang="en-US" altLang="zh-CN" sz="2800" dirty="0">
                <a:solidFill>
                  <a:srgbClr val="333399"/>
                </a:solidFill>
                <a:sym typeface="Symbol" pitchFamily="18" charset="2"/>
              </a:rPr>
              <a:t></a:t>
            </a:r>
            <a:r>
              <a:rPr lang="en-US" altLang="zh-CN" sz="2800" dirty="0">
                <a:solidFill>
                  <a:srgbClr val="333399"/>
                </a:solidFill>
              </a:rPr>
              <a:t>XYZ</a:t>
            </a:r>
            <a:r>
              <a:rPr lang="zh-CN" altLang="en-US" sz="2800" dirty="0">
                <a:solidFill>
                  <a:srgbClr val="333399"/>
                </a:solidFill>
              </a:rPr>
              <a:t>    </a:t>
            </a:r>
            <a:r>
              <a:rPr lang="en-US" altLang="zh-CN" sz="2800" dirty="0">
                <a:solidFill>
                  <a:srgbClr val="333399"/>
                </a:solidFill>
              </a:rPr>
              <a:t>{v[top-2].a := f</a:t>
            </a:r>
            <a:r>
              <a:rPr lang="zh-CN" altLang="en-US" sz="2800" dirty="0">
                <a:solidFill>
                  <a:srgbClr val="333399"/>
                </a:solidFill>
              </a:rPr>
              <a:t>（</a:t>
            </a:r>
            <a:r>
              <a:rPr lang="en-US" altLang="zh-CN" sz="2800" dirty="0">
                <a:solidFill>
                  <a:srgbClr val="333399"/>
                </a:solidFill>
              </a:rPr>
              <a:t>v[top-2].x, v[top-1].y, v[top].z</a:t>
            </a:r>
            <a:r>
              <a:rPr lang="zh-CN" altLang="en-US" sz="2800" dirty="0">
                <a:solidFill>
                  <a:srgbClr val="333399"/>
                </a:solidFill>
              </a:rPr>
              <a:t>）</a:t>
            </a:r>
            <a:r>
              <a:rPr lang="en-US" altLang="zh-CN" sz="2800" dirty="0">
                <a:solidFill>
                  <a:srgbClr val="333399"/>
                </a:solidFill>
              </a:rPr>
              <a:t>}</a:t>
            </a:r>
            <a:endParaRPr lang="zh-CN" altLang="en-US" sz="2800" dirty="0">
              <a:solidFill>
                <a:srgbClr val="333399"/>
              </a:solidFill>
            </a:endParaRPr>
          </a:p>
          <a:p>
            <a:pPr lvl="1"/>
            <a:endParaRPr lang="en-US" altLang="zh-CN" dirty="0"/>
          </a:p>
        </p:txBody>
      </p:sp>
      <p:sp>
        <p:nvSpPr>
          <p:cNvPr id="3" name="标题 2"/>
          <p:cNvSpPr>
            <a:spLocks noGrp="1"/>
          </p:cNvSpPr>
          <p:nvPr>
            <p:ph type="title"/>
          </p:nvPr>
        </p:nvSpPr>
        <p:spPr/>
        <p:txBody>
          <a:bodyPr/>
          <a:lstStyle/>
          <a:p>
            <a:r>
              <a:rPr lang="zh-CN" altLang="en-US" dirty="0"/>
              <a:t>四、基于翻译模式的语义计算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875085159"/>
              </p:ext>
            </p:extLst>
          </p:nvPr>
        </p:nvGraphicFramePr>
        <p:xfrm>
          <a:off x="2559503" y="1559832"/>
          <a:ext cx="9466263" cy="2074863"/>
        </p:xfrm>
        <a:graphic>
          <a:graphicData uri="http://schemas.openxmlformats.org/presentationml/2006/ole">
            <mc:AlternateContent xmlns:mc="http://schemas.openxmlformats.org/markup-compatibility/2006">
              <mc:Choice xmlns:v="urn:schemas-microsoft-com:vml" Requires="v">
                <p:oleObj spid="_x0000_s5222" name="Document" r:id="rId3" imgW="5628637" imgH="1237130" progId="Word.Document.8">
                  <p:embed/>
                </p:oleObj>
              </mc:Choice>
              <mc:Fallback>
                <p:oleObj name="Document" r:id="rId3" imgW="5628637" imgH="1237130" progId="Word.Document.8">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9503" y="1559832"/>
                        <a:ext cx="9466263"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278218317"/>
              </p:ext>
            </p:extLst>
          </p:nvPr>
        </p:nvGraphicFramePr>
        <p:xfrm>
          <a:off x="2559503" y="3864882"/>
          <a:ext cx="9102725" cy="1965325"/>
        </p:xfrm>
        <a:graphic>
          <a:graphicData uri="http://schemas.openxmlformats.org/presentationml/2006/ole">
            <mc:AlternateContent xmlns:mc="http://schemas.openxmlformats.org/markup-compatibility/2006">
              <mc:Choice xmlns:v="urn:schemas-microsoft-com:vml" Requires="v">
                <p:oleObj spid="_x0000_s5223" name="Document" r:id="rId5" imgW="5628637" imgH="1218020" progId="Word.Document.8">
                  <p:embed/>
                </p:oleObj>
              </mc:Choice>
              <mc:Fallback>
                <p:oleObj name="Document" r:id="rId5" imgW="5628637" imgH="1218020" progId="Word.Document.8">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9503" y="3864882"/>
                        <a:ext cx="9102725"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灯片编号占位符 5"/>
          <p:cNvSpPr>
            <a:spLocks noGrp="1"/>
          </p:cNvSpPr>
          <p:nvPr>
            <p:ph type="sldNum" sz="quarter" idx="4"/>
          </p:nvPr>
        </p:nvSpPr>
        <p:spPr/>
        <p:txBody>
          <a:bodyPr/>
          <a:lstStyle/>
          <a:p>
            <a:fld id="{565CE74E-AB26-4998-AD42-012C4C1AD076}" type="slidenum">
              <a:rPr lang="zh-CN" altLang="en-US" smtClean="0"/>
              <a:t>55</a:t>
            </a:fld>
            <a:endParaRPr lang="zh-CN" altLang="en-US"/>
          </a:p>
        </p:txBody>
      </p:sp>
    </p:spTree>
    <p:extLst>
      <p:ext uri="{BB962C8B-B14F-4D97-AF65-F5344CB8AC3E}">
        <p14:creationId xmlns:p14="http://schemas.microsoft.com/office/powerpoint/2010/main" val="36831365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通过下列</a:t>
            </a:r>
            <a:r>
              <a:rPr lang="en-US" altLang="zh-CN" dirty="0"/>
              <a:t>S-</a:t>
            </a:r>
            <a:r>
              <a:rPr lang="zh-CN" altLang="en-US" dirty="0"/>
              <a:t>属性文法</a:t>
            </a:r>
            <a:r>
              <a:rPr lang="en-US" altLang="zh-CN" dirty="0"/>
              <a:t>G’[S]</a:t>
            </a:r>
            <a:r>
              <a:rPr lang="zh-CN" altLang="en-US" dirty="0"/>
              <a:t>为常量表达式求值</a:t>
            </a:r>
          </a:p>
          <a:p>
            <a:endParaRPr lang="zh-CN" altLang="en-US" dirty="0"/>
          </a:p>
        </p:txBody>
      </p:sp>
      <p:sp>
        <p:nvSpPr>
          <p:cNvPr id="3" name="标题 2"/>
          <p:cNvSpPr>
            <a:spLocks noGrp="1"/>
          </p:cNvSpPr>
          <p:nvPr>
            <p:ph type="title"/>
          </p:nvPr>
        </p:nvSpPr>
        <p:spPr/>
        <p:txBody>
          <a:bodyPr/>
          <a:lstStyle/>
          <a:p>
            <a:r>
              <a:rPr lang="zh-CN" altLang="en-US" dirty="0"/>
              <a:t>四、基于翻译模式的语义计算</a:t>
            </a:r>
          </a:p>
        </p:txBody>
      </p:sp>
      <p:sp>
        <p:nvSpPr>
          <p:cNvPr id="5" name="Text Box 2"/>
          <p:cNvSpPr txBox="1">
            <a:spLocks noChangeArrowheads="1"/>
          </p:cNvSpPr>
          <p:nvPr/>
        </p:nvSpPr>
        <p:spPr bwMode="auto">
          <a:xfrm>
            <a:off x="316820" y="2264303"/>
            <a:ext cx="3421416" cy="3701013"/>
          </a:xfrm>
          <a:prstGeom prst="rect">
            <a:avLst/>
          </a:prstGeom>
          <a:noFill/>
          <a:ln w="9525">
            <a:noFill/>
            <a:miter lim="800000"/>
          </a:ln>
        </p:spPr>
        <p:txBody>
          <a:bodyPr wrap="square">
            <a:spAutoFit/>
          </a:bodyPr>
          <a:lstStyle/>
          <a:p>
            <a:pPr algn="l">
              <a:buClrTx/>
            </a:pPr>
            <a:r>
              <a:rPr kumimoji="0" lang="zh-CN" altLang="en-US" sz="2800" b="1" i="0" dirty="0">
                <a:solidFill>
                  <a:srgbClr val="0206AD"/>
                </a:solidFill>
                <a:latin typeface="Times New Roman" panose="02020603050405020304" charset="0"/>
                <a:sym typeface="Symbol" panose="05050102010706020507" pitchFamily="18" charset="2"/>
              </a:rPr>
              <a:t>产生式</a:t>
            </a:r>
            <a:endParaRPr kumimoji="0" lang="zh-CN" altLang="en-US" sz="2800" i="0" dirty="0">
              <a:solidFill>
                <a:srgbClr val="0206AD"/>
              </a:solidFill>
              <a:latin typeface="Times New Roman" panose="02020603050405020304" charset="0"/>
              <a:cs typeface="Times New Roman" panose="02020603050405020304" charset="0"/>
              <a:sym typeface="Symbol" panose="05050102010706020507" pitchFamily="18" charset="2"/>
            </a:endParaRPr>
          </a:p>
          <a:p>
            <a:pPr algn="l">
              <a:buClrTx/>
            </a:pPr>
            <a:endParaRPr kumimoji="0" lang="zh-CN" altLang="en-US" sz="1050" i="0" dirty="0">
              <a:solidFill>
                <a:srgbClr val="0206AD"/>
              </a:solidFill>
              <a:latin typeface="Times New Roman" panose="02020603050405020304" charset="0"/>
              <a:cs typeface="Times New Roman" panose="02020603050405020304" charset="0"/>
              <a:sym typeface="Symbol" panose="05050102010706020507" pitchFamily="18" charset="2"/>
            </a:endParaRPr>
          </a:p>
          <a:p>
            <a:pPr algn="l">
              <a:buClrTx/>
            </a:pP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S </a:t>
            </a:r>
            <a:r>
              <a:rPr lang="en-US" altLang="zh-CN" sz="2800" i="0" dirty="0">
                <a:solidFill>
                  <a:srgbClr val="0206AD"/>
                </a:solidFill>
                <a:latin typeface="Times New Roman" panose="02020603050405020304" charset="0"/>
                <a:cs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 E</a:t>
            </a:r>
            <a:endParaRPr kumimoji="0" lang="en-US" altLang="zh-CN" sz="2800" i="0" dirty="0">
              <a:solidFill>
                <a:srgbClr val="0206AD"/>
              </a:solidFill>
              <a:latin typeface="Times New Roman" panose="02020603050405020304" charset="0"/>
              <a:cs typeface="Times New Roman" panose="02020603050405020304" charset="0"/>
              <a:sym typeface="Symbol" panose="05050102010706020507" pitchFamily="18" charset="2"/>
            </a:endParaRPr>
          </a:p>
          <a:p>
            <a:pPr algn="l">
              <a:buClrTx/>
            </a:pP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E </a:t>
            </a:r>
            <a:r>
              <a:rPr lang="en-US" altLang="zh-CN" sz="2800" i="0" dirty="0">
                <a:solidFill>
                  <a:srgbClr val="0206AD"/>
                </a:solidFill>
                <a:latin typeface="Times New Roman" panose="02020603050405020304" charset="0"/>
                <a:ea typeface="华文行楷" panose="02010800040101010101" pitchFamily="2" charset="-122"/>
                <a:cs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ea typeface="华文行楷" panose="02010800040101010101" pitchFamily="2" charset="-122"/>
                <a:cs typeface="Times New Roman" panose="02020603050405020304" charset="0"/>
                <a:sym typeface="Symbol" panose="05050102010706020507" pitchFamily="18" charset="2"/>
              </a:rPr>
              <a:t> E</a:t>
            </a:r>
            <a:r>
              <a:rPr lang="en-US" altLang="zh-CN" sz="2800" i="0" baseline="-25000" dirty="0">
                <a:solidFill>
                  <a:srgbClr val="0206AD"/>
                </a:solidFill>
                <a:latin typeface="Times New Roman" panose="02020603050405020304" charset="0"/>
                <a:ea typeface="华文行楷" panose="02010800040101010101" pitchFamily="2" charset="-122"/>
                <a:cs typeface="Times New Roman" panose="02020603050405020304" charset="0"/>
                <a:sym typeface="Symbol" panose="05050102010706020507" pitchFamily="18" charset="2"/>
              </a:rPr>
              <a:t>1</a:t>
            </a:r>
            <a:r>
              <a:rPr lang="en-US" altLang="zh-CN" sz="2800" dirty="0">
                <a:solidFill>
                  <a:srgbClr val="0206AD"/>
                </a:solidFill>
                <a:latin typeface="Times New Roman" panose="02020603050405020304" charset="0"/>
                <a:ea typeface="华文行楷" panose="02010800040101010101" pitchFamily="2" charset="-122"/>
                <a:cs typeface="Times New Roman" panose="02020603050405020304" charset="0"/>
                <a:sym typeface="Symbol" panose="05050102010706020507" pitchFamily="18" charset="2"/>
              </a:rPr>
              <a:t> + T</a:t>
            </a:r>
          </a:p>
          <a:p>
            <a:pPr algn="l">
              <a:buClrTx/>
            </a:pP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E </a:t>
            </a:r>
            <a:r>
              <a:rPr lang="en-US" altLang="zh-CN" sz="2800" i="0" dirty="0">
                <a:solidFill>
                  <a:srgbClr val="0206AD"/>
                </a:solidFill>
                <a:latin typeface="Times New Roman" panose="02020603050405020304" charset="0"/>
                <a:cs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 T</a:t>
            </a:r>
            <a:endPar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endParaRPr>
          </a:p>
          <a:p>
            <a:pPr algn="l">
              <a:buClrTx/>
            </a:pP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T </a:t>
            </a:r>
            <a:r>
              <a:rPr lang="en-US" altLang="zh-CN" sz="2800" i="0" dirty="0">
                <a:solidFill>
                  <a:srgbClr val="0206AD"/>
                </a:solidFill>
                <a:latin typeface="Times New Roman" panose="02020603050405020304" charset="0"/>
                <a:ea typeface="华文行楷" panose="02010800040101010101" pitchFamily="2" charset="-122"/>
                <a:sym typeface="Symbol" panose="05050102010706020507" pitchFamily="18" charset="2"/>
              </a:rPr>
              <a:t></a:t>
            </a:r>
            <a:r>
              <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rPr>
              <a:t> T</a:t>
            </a:r>
            <a:r>
              <a:rPr lang="en-US" altLang="zh-CN" sz="2800" i="0" baseline="-25000" dirty="0">
                <a:solidFill>
                  <a:srgbClr val="0206AD"/>
                </a:solidFill>
                <a:latin typeface="Times New Roman" panose="02020603050405020304" charset="0"/>
                <a:sym typeface="Symbol" panose="05050102010706020507" pitchFamily="18" charset="2"/>
              </a:rPr>
              <a:t>1</a:t>
            </a:r>
            <a:r>
              <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F</a:t>
            </a:r>
          </a:p>
          <a:p>
            <a:pPr algn="l">
              <a:buClrTx/>
            </a:pPr>
            <a:r>
              <a:rPr lang="en-US" altLang="zh-CN" sz="2800" dirty="0">
                <a:solidFill>
                  <a:srgbClr val="0206AD"/>
                </a:solidFill>
                <a:latin typeface="Times New Roman" panose="02020603050405020304" charset="0"/>
                <a:sym typeface="Symbol" panose="05050102010706020507" pitchFamily="18" charset="2"/>
              </a:rPr>
              <a:t>T </a:t>
            </a:r>
            <a:r>
              <a:rPr lang="en-US" altLang="zh-CN" sz="2800" i="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sym typeface="Symbol" panose="05050102010706020507" pitchFamily="18" charset="2"/>
              </a:rPr>
              <a:t>F</a:t>
            </a:r>
          </a:p>
          <a:p>
            <a:pPr algn="l">
              <a:buClrTx/>
            </a:pPr>
            <a:r>
              <a:rPr lang="en-US" altLang="zh-CN" sz="2800" dirty="0">
                <a:solidFill>
                  <a:srgbClr val="0206AD"/>
                </a:solidFill>
                <a:latin typeface="Times New Roman" panose="02020603050405020304" charset="0"/>
                <a:sym typeface="Symbol" panose="05050102010706020507" pitchFamily="18" charset="2"/>
              </a:rPr>
              <a:t>F </a:t>
            </a:r>
            <a:r>
              <a:rPr lang="en-US" altLang="zh-CN" sz="2800" i="0" dirty="0">
                <a:solidFill>
                  <a:srgbClr val="0206AD"/>
                </a:solidFill>
                <a:latin typeface="Times New Roman" panose="02020603050405020304" charset="0"/>
                <a:ea typeface="华文行楷" panose="02010800040101010101" pitchFamily="2" charset="-122"/>
                <a:sym typeface="Symbol" panose="05050102010706020507" pitchFamily="18" charset="2"/>
              </a:rPr>
              <a:t></a:t>
            </a:r>
            <a:r>
              <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rPr>
              <a:t> ( E )</a:t>
            </a:r>
          </a:p>
          <a:p>
            <a:pPr algn="l">
              <a:buClrTx/>
            </a:pPr>
            <a:r>
              <a:rPr lang="en-US" altLang="zh-CN" sz="2800" dirty="0">
                <a:solidFill>
                  <a:srgbClr val="0206AD"/>
                </a:solidFill>
                <a:latin typeface="Times New Roman" panose="02020603050405020304" charset="0"/>
                <a:sym typeface="Symbol" panose="05050102010706020507" pitchFamily="18" charset="2"/>
              </a:rPr>
              <a:t>F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d</a:t>
            </a:r>
            <a:endParaRPr lang="en-US" altLang="zh-CN" sz="2800" i="0" dirty="0">
              <a:solidFill>
                <a:srgbClr val="0206AD"/>
              </a:solidFill>
              <a:latin typeface="Times New Roman" panose="02020603050405020304" charset="0"/>
              <a:sym typeface="Symbol" panose="05050102010706020507" pitchFamily="18" charset="2"/>
            </a:endParaRPr>
          </a:p>
        </p:txBody>
      </p:sp>
      <p:sp>
        <p:nvSpPr>
          <p:cNvPr id="6" name="Text Box 3"/>
          <p:cNvSpPr txBox="1">
            <a:spLocks noChangeArrowheads="1"/>
          </p:cNvSpPr>
          <p:nvPr/>
        </p:nvSpPr>
        <p:spPr bwMode="auto">
          <a:xfrm>
            <a:off x="2837769" y="2264303"/>
            <a:ext cx="6915831" cy="3701013"/>
          </a:xfrm>
          <a:prstGeom prst="rect">
            <a:avLst/>
          </a:prstGeom>
          <a:noFill/>
          <a:ln w="9525">
            <a:noFill/>
            <a:miter lim="800000"/>
          </a:ln>
        </p:spPr>
        <p:txBody>
          <a:bodyPr wrap="square">
            <a:spAutoFit/>
          </a:bodyPr>
          <a:lstStyle/>
          <a:p>
            <a:pPr algn="l">
              <a:buClrTx/>
            </a:pPr>
            <a:r>
              <a:rPr kumimoji="0" lang="zh-CN" altLang="en-US" sz="2800" b="1" i="0" dirty="0">
                <a:solidFill>
                  <a:srgbClr val="0206AD"/>
                </a:solidFill>
                <a:latin typeface="Times New Roman" panose="02020603050405020304" charset="0"/>
                <a:sym typeface="Symbol" panose="05050102010706020507" pitchFamily="18" charset="2"/>
              </a:rPr>
              <a:t>语义动作</a:t>
            </a:r>
            <a:endParaRPr kumimoji="0" lang="zh-CN" altLang="en-US" sz="2800" i="0" dirty="0">
              <a:solidFill>
                <a:srgbClr val="0206AD"/>
              </a:solidFill>
              <a:latin typeface="Times New Roman" panose="02020603050405020304" charset="0"/>
              <a:cs typeface="Times New Roman" panose="02020603050405020304" charset="0"/>
              <a:sym typeface="Symbol" panose="05050102010706020507" pitchFamily="18" charset="2"/>
            </a:endParaRPr>
          </a:p>
          <a:p>
            <a:pPr algn="l">
              <a:buClrTx/>
            </a:pPr>
            <a:endParaRPr kumimoji="0" lang="zh-CN" altLang="en-US" sz="1050" i="0" dirty="0">
              <a:solidFill>
                <a:srgbClr val="0206AD"/>
              </a:solidFill>
              <a:latin typeface="Times New Roman" panose="02020603050405020304" charset="0"/>
              <a:cs typeface="Times New Roman" panose="02020603050405020304" charset="0"/>
              <a:sym typeface="Symbol" panose="05050102010706020507" pitchFamily="18" charset="2"/>
            </a:endParaRPr>
          </a:p>
          <a:p>
            <a:pPr algn="l">
              <a:buClrTx/>
            </a:pPr>
            <a:r>
              <a:rPr lang="en-US" altLang="zh-CN" sz="2800" i="0" dirty="0">
                <a:solidFill>
                  <a:srgbClr val="0206AD"/>
                </a:solidFill>
                <a:latin typeface="Times New Roman" panose="02020603050405020304" charset="0"/>
                <a:cs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cs typeface="Times New Roman" panose="02020603050405020304" charset="0"/>
                <a:sym typeface="Symbol" panose="05050102010706020507" pitchFamily="18" charset="2"/>
              </a:rPr>
              <a:t>p</a:t>
            </a:r>
            <a:r>
              <a:rPr lang="en-US" altLang="zh-CN" sz="2800" dirty="0">
                <a:solidFill>
                  <a:srgbClr val="0206AD"/>
                </a:solidFill>
                <a:latin typeface="Times New Roman" panose="02020603050405020304" charset="0"/>
              </a:rPr>
              <a:t>rint(v[top]</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rPr>
              <a:t>) </a:t>
            </a:r>
            <a:r>
              <a:rPr lang="en-US" altLang="zh-CN" sz="2800" i="0" dirty="0">
                <a:solidFill>
                  <a:srgbClr val="0206AD"/>
                </a:solidFill>
                <a:latin typeface="Times New Roman" panose="02020603050405020304" charset="0"/>
                <a:sym typeface="Symbol" panose="05050102010706020507" pitchFamily="18" charset="2"/>
              </a:rPr>
              <a:t>}</a:t>
            </a:r>
            <a:endParaRPr kumimoji="0" lang="en-US" altLang="zh-CN" sz="2800" i="0" dirty="0">
              <a:solidFill>
                <a:srgbClr val="0206AD"/>
              </a:solidFill>
              <a:latin typeface="Times New Roman" panose="02020603050405020304" charset="0"/>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v[top-2]</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v[top-2]</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 </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i="0" dirty="0">
                <a:solidFill>
                  <a:srgbClr val="0206AD"/>
                </a:solidFill>
                <a:latin typeface="Times New Roman" panose="02020603050405020304" charset="0"/>
                <a:sym typeface="Symbol" panose="05050102010706020507" pitchFamily="18" charset="2"/>
              </a:rPr>
              <a:t> }</a:t>
            </a:r>
            <a:endPar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i="0" dirty="0">
                <a:solidFill>
                  <a:srgbClr val="0206AD"/>
                </a:solidFill>
                <a:latin typeface="Times New Roman" panose="02020603050405020304" charset="0"/>
                <a:sym typeface="Symbol" panose="05050102010706020507" pitchFamily="18" charset="2"/>
              </a:rPr>
              <a:t> }</a:t>
            </a:r>
            <a:endPar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v[top-2]</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v[top-2]</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b="1"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i="0" dirty="0">
                <a:solidFill>
                  <a:srgbClr val="0206AD"/>
                </a:solidFill>
                <a:latin typeface="Times New Roman" panose="02020603050405020304" charset="0"/>
                <a:sym typeface="Symbol" panose="05050102010706020507" pitchFamily="18" charset="2"/>
              </a:rPr>
              <a:t> }</a:t>
            </a:r>
            <a:endParaRPr lang="en-US" altLang="zh-CN" sz="2800" dirty="0">
              <a:solidFill>
                <a:srgbClr val="0206AD"/>
              </a:solidFill>
              <a:latin typeface="Times New Roman" panose="02020603050405020304" charset="0"/>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i="0" dirty="0">
                <a:solidFill>
                  <a:srgbClr val="0206AD"/>
                </a:solidFill>
                <a:latin typeface="Times New Roman" panose="02020603050405020304" charset="0"/>
                <a:sym typeface="Symbol" panose="05050102010706020507" pitchFamily="18" charset="2"/>
              </a:rPr>
              <a:t> }</a:t>
            </a:r>
            <a:endParaRPr lang="en-US" altLang="zh-CN" sz="2800" dirty="0">
              <a:solidFill>
                <a:srgbClr val="0206AD"/>
              </a:solidFill>
              <a:latin typeface="Times New Roman" panose="02020603050405020304" charset="0"/>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v[top-2]</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a:solidFill>
                  <a:srgbClr val="0206AD"/>
                </a:solidFill>
                <a:latin typeface="Times New Roman" panose="02020603050405020304" charset="0"/>
              </a:rPr>
              <a:t>v[top-1]</a:t>
            </a:r>
            <a:r>
              <a:rPr lang="en-US" altLang="zh-CN" sz="2800" b="1" dirty="0">
                <a:solidFill>
                  <a:srgbClr val="0206AD"/>
                </a:solidFill>
                <a:latin typeface="Times New Roman" panose="02020603050405020304" charset="0"/>
              </a:rPr>
              <a:t>. </a:t>
            </a:r>
            <a:r>
              <a:rPr lang="en-US" altLang="zh-CN" sz="2800" dirty="0" err="1">
                <a:solidFill>
                  <a:srgbClr val="0206AD"/>
                </a:solidFill>
                <a:latin typeface="Times New Roman" panose="02020603050405020304" charset="0"/>
              </a:rPr>
              <a:t>val</a:t>
            </a:r>
            <a:r>
              <a:rPr lang="en-US" altLang="zh-CN" sz="2800" i="0" dirty="0">
                <a:solidFill>
                  <a:srgbClr val="0206AD"/>
                </a:solidFill>
                <a:latin typeface="Times New Roman" panose="02020603050405020304" charset="0"/>
                <a:sym typeface="Symbol" panose="05050102010706020507" pitchFamily="18" charset="2"/>
              </a:rPr>
              <a:t> }</a:t>
            </a:r>
            <a:endParaRPr lang="en-US" altLang="zh-CN" sz="2800" dirty="0">
              <a:solidFill>
                <a:srgbClr val="0206AD"/>
              </a:solidFill>
              <a:latin typeface="Times New Roman" panose="02020603050405020304" charset="0"/>
              <a:ea typeface="华文行楷" panose="02010800040101010101" pitchFamily="2" charset="-122"/>
              <a:sym typeface="Symbol" panose="05050102010706020507" pitchFamily="18" charset="2"/>
            </a:endParaRPr>
          </a:p>
          <a:p>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rPr>
              <a:t>v[top]</a:t>
            </a:r>
            <a:r>
              <a:rPr lang="en-US" altLang="zh-CN" sz="2800" b="1" dirty="0">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val</a:t>
            </a:r>
            <a:r>
              <a:rPr lang="en-US" altLang="zh-CN" sz="2800" dirty="0">
                <a:solidFill>
                  <a:srgbClr val="0206AD"/>
                </a:solidFill>
                <a:latin typeface="Times New Roman" panose="02020603050405020304" charset="0"/>
                <a:sym typeface="Symbol" panose="05050102010706020507" pitchFamily="18" charset="2"/>
              </a:rPr>
              <a:t> </a:t>
            </a:r>
            <a:r>
              <a:rPr lang="en-US" altLang="zh-CN" sz="2800" i="0" dirty="0">
                <a:solidFill>
                  <a:srgbClr val="0206AD"/>
                </a:solidFill>
                <a:latin typeface="Times New Roman" panose="02020603050405020304" charset="0"/>
                <a:sym typeface="Symbol" panose="05050102010706020507" pitchFamily="18" charset="2"/>
              </a:rPr>
              <a:t>:=</a:t>
            </a:r>
            <a:r>
              <a:rPr lang="en-US" altLang="zh-CN" sz="2800" dirty="0">
                <a:solidFill>
                  <a:srgbClr val="0206AD"/>
                </a:solidFill>
                <a:latin typeface="Times New Roman" panose="02020603050405020304" charset="0"/>
                <a:sym typeface="Symbol" panose="05050102010706020507" pitchFamily="18" charset="2"/>
              </a:rPr>
              <a:t> </a:t>
            </a:r>
            <a:r>
              <a:rPr lang="en-US" altLang="zh-CN" sz="2800" dirty="0" err="1">
                <a:solidFill>
                  <a:srgbClr val="0206AD"/>
                </a:solidFill>
                <a:latin typeface="Times New Roman" panose="02020603050405020304" charset="0"/>
                <a:sym typeface="Symbol" panose="05050102010706020507" pitchFamily="18" charset="2"/>
              </a:rPr>
              <a:t>d</a:t>
            </a:r>
            <a:r>
              <a:rPr lang="en-US" altLang="zh-CN" sz="2800" b="1" dirty="0" err="1">
                <a:solidFill>
                  <a:srgbClr val="0206AD"/>
                </a:solidFill>
                <a:latin typeface="Times New Roman" panose="02020603050405020304" charset="0"/>
              </a:rPr>
              <a:t>.</a:t>
            </a:r>
            <a:r>
              <a:rPr lang="en-US" altLang="zh-CN" sz="2800" dirty="0" err="1">
                <a:solidFill>
                  <a:srgbClr val="0206AD"/>
                </a:solidFill>
                <a:latin typeface="Times New Roman" panose="02020603050405020304" charset="0"/>
              </a:rPr>
              <a:t>lexval</a:t>
            </a:r>
            <a:r>
              <a:rPr lang="en-US" altLang="zh-CN" sz="2800" i="0" dirty="0">
                <a:solidFill>
                  <a:srgbClr val="0206AD"/>
                </a:solidFill>
                <a:latin typeface="Times New Roman" panose="02020603050405020304" charset="0"/>
                <a:sym typeface="Symbol" panose="05050102010706020507" pitchFamily="18" charset="2"/>
              </a:rPr>
              <a:t> }</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Times New Roman" panose="02020603050405020304" pitchFamily="18" charset="0"/>
              </a:rPr>
              <a:t>四、基于翻译模式的语义计算</a:t>
            </a:r>
          </a:p>
        </p:txBody>
      </p:sp>
      <p:sp>
        <p:nvSpPr>
          <p:cNvPr id="79" name="Text Box 2"/>
          <p:cNvSpPr txBox="1">
            <a:spLocks noChangeArrowheads="1"/>
          </p:cNvSpPr>
          <p:nvPr/>
        </p:nvSpPr>
        <p:spPr bwMode="auto">
          <a:xfrm>
            <a:off x="274638" y="1017660"/>
            <a:ext cx="4191000" cy="946150"/>
          </a:xfrm>
          <a:prstGeom prst="rect">
            <a:avLst/>
          </a:prstGeom>
          <a:noFill/>
          <a:ln w="9525">
            <a:noFill/>
            <a:miter lim="800000"/>
          </a:ln>
        </p:spPr>
        <p:txBody>
          <a:bodyPr>
            <a:spAutoFit/>
          </a:bodyPr>
          <a:lstStyle/>
          <a:p>
            <a:pPr algn="l">
              <a:buFont typeface="Wingdings" panose="05000000000000000000" pitchFamily="2" charset="2"/>
              <a:buChar char="²"/>
            </a:pPr>
            <a:r>
              <a:rPr lang="en-US" altLang="zh-CN" sz="2800" b="1" i="0" dirty="0">
                <a:latin typeface="Times New Roman" panose="02020603050405020304" pitchFamily="18" charset="0"/>
              </a:rPr>
              <a:t>  </a:t>
            </a:r>
            <a:r>
              <a:rPr lang="en-US" altLang="zh-CN" sz="2800" i="0" dirty="0">
                <a:solidFill>
                  <a:srgbClr val="333399"/>
                </a:solidFill>
                <a:latin typeface="Times New Roman" panose="02020603050405020304" pitchFamily="18" charset="0"/>
              </a:rPr>
              <a:t>LR</a:t>
            </a:r>
            <a:r>
              <a:rPr lang="zh-CN" altLang="en-US" sz="2800" b="1" i="0" dirty="0">
                <a:solidFill>
                  <a:srgbClr val="333399"/>
                </a:solidFill>
                <a:latin typeface="Times New Roman" panose="02020603050405020304" pitchFamily="18" charset="0"/>
              </a:rPr>
              <a:t>分析过程伴随常量</a:t>
            </a:r>
          </a:p>
          <a:p>
            <a:pPr algn="l"/>
            <a:r>
              <a:rPr lang="zh-CN" altLang="en-US" sz="2800" b="1" i="0" dirty="0">
                <a:solidFill>
                  <a:srgbClr val="333399"/>
                </a:solidFill>
                <a:latin typeface="Times New Roman" panose="02020603050405020304" pitchFamily="18" charset="0"/>
              </a:rPr>
              <a:t>     表达式</a:t>
            </a:r>
            <a:r>
              <a:rPr lang="en-US" altLang="zh-CN" sz="2800" b="1" i="0" dirty="0">
                <a:solidFill>
                  <a:srgbClr val="FF0000"/>
                </a:solidFill>
                <a:latin typeface="Times New Roman" panose="02020603050405020304" pitchFamily="18" charset="0"/>
                <a:ea typeface="宋体" panose="02010600030101010101" pitchFamily="2" charset="-122"/>
              </a:rPr>
              <a:t>2 + 3 </a:t>
            </a:r>
            <a:r>
              <a:rPr lang="en-US" altLang="zh-CN" sz="2800" b="1" i="0" dirty="0">
                <a:solidFill>
                  <a:srgbClr val="FF0000"/>
                </a:solidFill>
                <a:latin typeface="Times New Roman" panose="02020603050405020304" pitchFamily="18" charset="0"/>
                <a:sym typeface="Symbol" panose="05050102010706020507" pitchFamily="18" charset="2"/>
              </a:rPr>
              <a:t> </a:t>
            </a:r>
            <a:r>
              <a:rPr lang="en-US" altLang="zh-CN" sz="2800" b="1" i="0" dirty="0">
                <a:solidFill>
                  <a:srgbClr val="FF0000"/>
                </a:solidFill>
                <a:latin typeface="Times New Roman" panose="02020603050405020304" pitchFamily="18" charset="0"/>
                <a:ea typeface="宋体" panose="02010600030101010101" pitchFamily="2" charset="-122"/>
              </a:rPr>
              <a:t>5</a:t>
            </a:r>
            <a:r>
              <a:rPr lang="zh-CN" altLang="en-US" sz="2800" b="1" i="0" dirty="0">
                <a:solidFill>
                  <a:srgbClr val="333399"/>
                </a:solidFill>
                <a:latin typeface="Times New Roman" panose="02020603050405020304" pitchFamily="18" charset="0"/>
              </a:rPr>
              <a:t>的求值</a:t>
            </a:r>
          </a:p>
        </p:txBody>
      </p:sp>
      <p:sp>
        <p:nvSpPr>
          <p:cNvPr id="80" name="Text Box 80"/>
          <p:cNvSpPr txBox="1">
            <a:spLocks noChangeArrowheads="1"/>
          </p:cNvSpPr>
          <p:nvPr/>
        </p:nvSpPr>
        <p:spPr bwMode="auto">
          <a:xfrm>
            <a:off x="4208463" y="1017660"/>
            <a:ext cx="4752975" cy="1015663"/>
          </a:xfrm>
          <a:prstGeom prst="rect">
            <a:avLst/>
          </a:prstGeom>
          <a:noFill/>
          <a:ln w="9525">
            <a:noFill/>
            <a:miter lim="800000"/>
          </a:ln>
        </p:spPr>
        <p:txBody>
          <a:bodyPr>
            <a:spAutoFit/>
          </a:bodyPr>
          <a:lstStyle/>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0</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S</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1</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E</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E+T</a:t>
            </a:r>
            <a:r>
              <a:rPr lang="en-US" altLang="zh-CN" i="0">
                <a:solidFill>
                  <a:srgbClr val="333399"/>
                </a:solidFill>
                <a:latin typeface="Times New Roman" panose="02020603050405020304" pitchFamily="18" charset="0"/>
                <a:sym typeface="Symbol" panose="05050102010706020507" pitchFamily="18" charset="2"/>
              </a:rPr>
              <a:t>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2</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E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T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3</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T</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4</a:t>
            </a:r>
            <a:r>
              <a:rPr lang="zh-CN" altLang="en-US" sz="2000" i="0">
                <a:solidFill>
                  <a:srgbClr val="333399"/>
                </a:solidFill>
                <a:latin typeface="Times New Roman" panose="02020603050405020304" pitchFamily="18" charset="0"/>
                <a:sym typeface="Symbol" panose="05050102010706020507" pitchFamily="18" charset="2"/>
              </a:rPr>
              <a:t>） </a:t>
            </a:r>
            <a:r>
              <a:rPr lang="en-US" altLang="zh-CN" sz="2000">
                <a:solidFill>
                  <a:srgbClr val="333399"/>
                </a:solidFill>
                <a:latin typeface="Times New Roman" panose="02020603050405020304" pitchFamily="18" charset="0"/>
                <a:sym typeface="Symbol" panose="05050102010706020507" pitchFamily="18" charset="2"/>
              </a:rPr>
              <a:t>T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F </a:t>
            </a:r>
          </a:p>
          <a:p>
            <a:pPr algn="l">
              <a:buClrTx/>
            </a:pP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5</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 (E) </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sym typeface="Symbol" panose="05050102010706020507" pitchFamily="18" charset="2"/>
              </a:rPr>
              <a:t>6</a:t>
            </a:r>
            <a:r>
              <a:rPr lang="zh-CN" altLang="en-US" sz="2000" i="0">
                <a:solidFill>
                  <a:srgbClr val="333399"/>
                </a:solidFill>
                <a:latin typeface="Times New Roman" panose="02020603050405020304" pitchFamily="18" charset="0"/>
                <a:sym typeface="Symbol" panose="05050102010706020507" pitchFamily="18" charset="2"/>
              </a:rPr>
              <a:t>）</a:t>
            </a:r>
            <a:r>
              <a:rPr lang="en-US" altLang="zh-CN" sz="2000">
                <a:solidFill>
                  <a:srgbClr val="333399"/>
                </a:solidFill>
                <a:latin typeface="Times New Roman" panose="02020603050405020304" pitchFamily="18" charset="0"/>
                <a:sym typeface="Symbol" panose="05050102010706020507" pitchFamily="18" charset="2"/>
              </a:rPr>
              <a:t>F </a:t>
            </a:r>
            <a:r>
              <a:rPr lang="en-US" altLang="zh-CN" sz="2000" i="0">
                <a:solidFill>
                  <a:srgbClr val="333399"/>
                </a:solidFill>
                <a:latin typeface="Times New Roman" panose="02020603050405020304" pitchFamily="18" charset="0"/>
                <a:sym typeface="Symbol" panose="05050102010706020507" pitchFamily="18" charset="2"/>
              </a:rPr>
              <a:t></a:t>
            </a:r>
            <a:r>
              <a:rPr lang="en-US" altLang="zh-CN" sz="2000" i="0">
                <a:solidFill>
                  <a:srgbClr val="333399"/>
                </a:solidFill>
                <a:latin typeface="Times New Roman" panose="02020603050405020304" pitchFamily="18" charset="0"/>
              </a:rPr>
              <a:t> </a:t>
            </a:r>
            <a:r>
              <a:rPr lang="en-US" altLang="zh-CN" sz="2000">
                <a:solidFill>
                  <a:srgbClr val="333399"/>
                </a:solidFill>
                <a:latin typeface="Times New Roman" panose="02020603050405020304" pitchFamily="18" charset="0"/>
                <a:sym typeface="Symbol" panose="05050102010706020507" pitchFamily="18" charset="2"/>
              </a:rPr>
              <a:t>d</a:t>
            </a:r>
          </a:p>
        </p:txBody>
      </p:sp>
      <p:sp>
        <p:nvSpPr>
          <p:cNvPr id="81" name="Text Box 84"/>
          <p:cNvSpPr txBox="1">
            <a:spLocks noChangeArrowheads="1"/>
          </p:cNvSpPr>
          <p:nvPr/>
        </p:nvSpPr>
        <p:spPr bwMode="auto">
          <a:xfrm>
            <a:off x="274638" y="2084460"/>
            <a:ext cx="4572000"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分析栈（状态，符号，语义值）</a:t>
            </a:r>
          </a:p>
        </p:txBody>
      </p:sp>
      <p:sp>
        <p:nvSpPr>
          <p:cNvPr id="82" name="Text Box 85"/>
          <p:cNvSpPr txBox="1">
            <a:spLocks noChangeArrowheads="1"/>
          </p:cNvSpPr>
          <p:nvPr/>
        </p:nvSpPr>
        <p:spPr bwMode="auto">
          <a:xfrm>
            <a:off x="4465638" y="2084460"/>
            <a:ext cx="1728788"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余留输入串</a:t>
            </a:r>
          </a:p>
        </p:txBody>
      </p:sp>
      <p:sp>
        <p:nvSpPr>
          <p:cNvPr id="83" name="Text Box 86"/>
          <p:cNvSpPr txBox="1">
            <a:spLocks noChangeArrowheads="1"/>
          </p:cNvSpPr>
          <p:nvPr/>
        </p:nvSpPr>
        <p:spPr bwMode="auto">
          <a:xfrm>
            <a:off x="6142038" y="2084460"/>
            <a:ext cx="804863"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a:solidFill>
                  <a:srgbClr val="333399"/>
                </a:solidFill>
                <a:latin typeface="Times New Roman" panose="02020603050405020304" pitchFamily="18" charset="0"/>
              </a:rPr>
              <a:t>动作</a:t>
            </a:r>
          </a:p>
        </p:txBody>
      </p:sp>
      <p:sp>
        <p:nvSpPr>
          <p:cNvPr id="84" name="Line 87"/>
          <p:cNvSpPr>
            <a:spLocks noChangeShapeType="1"/>
          </p:cNvSpPr>
          <p:nvPr/>
        </p:nvSpPr>
        <p:spPr bwMode="auto">
          <a:xfrm>
            <a:off x="4537076" y="2155898"/>
            <a:ext cx="0" cy="4321175"/>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85" name="Line 88"/>
          <p:cNvSpPr>
            <a:spLocks noChangeShapeType="1"/>
          </p:cNvSpPr>
          <p:nvPr/>
        </p:nvSpPr>
        <p:spPr bwMode="auto">
          <a:xfrm flipH="1">
            <a:off x="6121401" y="2160660"/>
            <a:ext cx="0" cy="434340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86" name="Line 83"/>
          <p:cNvSpPr>
            <a:spLocks noChangeShapeType="1"/>
          </p:cNvSpPr>
          <p:nvPr/>
        </p:nvSpPr>
        <p:spPr bwMode="auto">
          <a:xfrm>
            <a:off x="352426" y="2516260"/>
            <a:ext cx="8228012" cy="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88" name="Rectangle 90"/>
          <p:cNvSpPr>
            <a:spLocks noChangeArrowheads="1"/>
          </p:cNvSpPr>
          <p:nvPr/>
        </p:nvSpPr>
        <p:spPr bwMode="auto">
          <a:xfrm>
            <a:off x="425451" y="2444823"/>
            <a:ext cx="863600" cy="396875"/>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endParaRPr lang="en-US" altLang="zh-CN" sz="2000" b="1" u="sng" dirty="0">
              <a:solidFill>
                <a:srgbClr val="333399"/>
              </a:solidFill>
              <a:latin typeface="Times New Roman" panose="02020603050405020304" pitchFamily="18" charset="0"/>
            </a:endParaRPr>
          </a:p>
        </p:txBody>
      </p:sp>
      <p:sp>
        <p:nvSpPr>
          <p:cNvPr id="89" name="Rectangle 91"/>
          <p:cNvSpPr>
            <a:spLocks noChangeArrowheads="1"/>
          </p:cNvSpPr>
          <p:nvPr/>
        </p:nvSpPr>
        <p:spPr bwMode="auto">
          <a:xfrm>
            <a:off x="4629151" y="2444823"/>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2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90" name="Rectangle 92"/>
          <p:cNvSpPr>
            <a:spLocks noChangeArrowheads="1"/>
          </p:cNvSpPr>
          <p:nvPr/>
        </p:nvSpPr>
        <p:spPr bwMode="auto">
          <a:xfrm>
            <a:off x="6315076" y="2444823"/>
            <a:ext cx="4572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sym typeface="Symbol" panose="05050102010706020507" pitchFamily="18" charset="2"/>
              </a:rPr>
              <a:t>s5</a:t>
            </a:r>
          </a:p>
        </p:txBody>
      </p:sp>
      <p:sp>
        <p:nvSpPr>
          <p:cNvPr id="92" name="Rectangle 106"/>
          <p:cNvSpPr>
            <a:spLocks noChangeArrowheads="1"/>
          </p:cNvSpPr>
          <p:nvPr/>
        </p:nvSpPr>
        <p:spPr bwMode="auto">
          <a:xfrm>
            <a:off x="4664076" y="3489398"/>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93" name="Rectangle 107"/>
          <p:cNvSpPr>
            <a:spLocks noChangeArrowheads="1"/>
          </p:cNvSpPr>
          <p:nvPr/>
        </p:nvSpPr>
        <p:spPr bwMode="auto">
          <a:xfrm>
            <a:off x="6327776" y="3489398"/>
            <a:ext cx="5207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s6</a:t>
            </a:r>
          </a:p>
        </p:txBody>
      </p:sp>
      <p:sp>
        <p:nvSpPr>
          <p:cNvPr id="94" name="Rectangle 148"/>
          <p:cNvSpPr>
            <a:spLocks noChangeArrowheads="1"/>
          </p:cNvSpPr>
          <p:nvPr/>
        </p:nvSpPr>
        <p:spPr bwMode="auto">
          <a:xfrm>
            <a:off x="427038" y="3516385"/>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96" name="Rectangle 110"/>
          <p:cNvSpPr>
            <a:spLocks noChangeArrowheads="1"/>
          </p:cNvSpPr>
          <p:nvPr/>
        </p:nvSpPr>
        <p:spPr bwMode="auto">
          <a:xfrm>
            <a:off x="4664076" y="3740223"/>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97" name="Rectangle 111"/>
          <p:cNvSpPr>
            <a:spLocks noChangeArrowheads="1"/>
          </p:cNvSpPr>
          <p:nvPr/>
        </p:nvSpPr>
        <p:spPr bwMode="auto">
          <a:xfrm>
            <a:off x="6327776" y="3740223"/>
            <a:ext cx="5207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s5</a:t>
            </a:r>
          </a:p>
        </p:txBody>
      </p:sp>
      <p:sp>
        <p:nvSpPr>
          <p:cNvPr id="98" name="Rectangle 149"/>
          <p:cNvSpPr>
            <a:spLocks noChangeArrowheads="1"/>
          </p:cNvSpPr>
          <p:nvPr/>
        </p:nvSpPr>
        <p:spPr bwMode="auto">
          <a:xfrm>
            <a:off x="427038" y="3744985"/>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100" name="Rectangle 122"/>
          <p:cNvSpPr>
            <a:spLocks noChangeArrowheads="1"/>
          </p:cNvSpPr>
          <p:nvPr/>
        </p:nvSpPr>
        <p:spPr bwMode="auto">
          <a:xfrm>
            <a:off x="4664076" y="4567310"/>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101" name="Rectangle 123"/>
          <p:cNvSpPr>
            <a:spLocks noChangeArrowheads="1"/>
          </p:cNvSpPr>
          <p:nvPr/>
        </p:nvSpPr>
        <p:spPr bwMode="auto">
          <a:xfrm>
            <a:off x="6327776" y="4567310"/>
            <a:ext cx="5969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s7</a:t>
            </a:r>
          </a:p>
        </p:txBody>
      </p:sp>
      <p:sp>
        <p:nvSpPr>
          <p:cNvPr id="102" name="Rectangle 152"/>
          <p:cNvSpPr>
            <a:spLocks noChangeArrowheads="1"/>
          </p:cNvSpPr>
          <p:nvPr/>
        </p:nvSpPr>
        <p:spPr bwMode="auto">
          <a:xfrm>
            <a:off x="427038" y="4583185"/>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104" name="Rectangle 126"/>
          <p:cNvSpPr>
            <a:spLocks noChangeArrowheads="1"/>
          </p:cNvSpPr>
          <p:nvPr/>
        </p:nvSpPr>
        <p:spPr bwMode="auto">
          <a:xfrm>
            <a:off x="4664076" y="4856235"/>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105" name="Rectangle 127"/>
          <p:cNvSpPr>
            <a:spLocks noChangeArrowheads="1"/>
          </p:cNvSpPr>
          <p:nvPr/>
        </p:nvSpPr>
        <p:spPr bwMode="auto">
          <a:xfrm>
            <a:off x="6327776" y="4856235"/>
            <a:ext cx="5207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s5</a:t>
            </a:r>
          </a:p>
        </p:txBody>
      </p:sp>
      <p:sp>
        <p:nvSpPr>
          <p:cNvPr id="106" name="Rectangle 153"/>
          <p:cNvSpPr>
            <a:spLocks noChangeArrowheads="1"/>
          </p:cNvSpPr>
          <p:nvPr/>
        </p:nvSpPr>
        <p:spPr bwMode="auto">
          <a:xfrm>
            <a:off x="427038" y="4827660"/>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7 </a:t>
            </a:r>
            <a:r>
              <a:rPr lang="en-US" altLang="zh-CN" sz="2000" b="1" i="0" u="sng">
                <a:solidFill>
                  <a:srgbClr val="333399"/>
                </a:solidFill>
                <a:latin typeface="Times New Roman" panose="02020603050405020304" pitchFamily="18" charset="0"/>
                <a:sym typeface="Symbol" panose="05050102010706020507" pitchFamily="18" charset="2"/>
              </a:rPr>
              <a:t></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107" name="Text Box 163"/>
          <p:cNvSpPr txBox="1">
            <a:spLocks noChangeArrowheads="1"/>
          </p:cNvSpPr>
          <p:nvPr/>
        </p:nvSpPr>
        <p:spPr bwMode="auto">
          <a:xfrm>
            <a:off x="6958013" y="2084460"/>
            <a:ext cx="1546225" cy="369332"/>
          </a:xfrm>
          <a:prstGeom prst="rect">
            <a:avLst/>
          </a:prstGeom>
          <a:noFill/>
          <a:ln w="9525">
            <a:noFill/>
            <a:miter lim="800000"/>
          </a:ln>
        </p:spPr>
        <p:txBody>
          <a:bodyPr>
            <a:spAutoFit/>
          </a:bodyPr>
          <a:lstStyle/>
          <a:p>
            <a:pPr algn="l" eaLnBrk="0" hangingPunct="0">
              <a:spcBef>
                <a:spcPct val="50000"/>
              </a:spcBef>
              <a:buClrTx/>
              <a:buFontTx/>
              <a:buNone/>
            </a:pPr>
            <a:r>
              <a:rPr kumimoji="0" lang="zh-CN" altLang="en-US" b="1" i="0" dirty="0">
                <a:solidFill>
                  <a:srgbClr val="FF0000"/>
                </a:solidFill>
                <a:latin typeface="Times New Roman" panose="02020603050405020304" pitchFamily="18" charset="0"/>
              </a:rPr>
              <a:t>语义动作</a:t>
            </a:r>
          </a:p>
        </p:txBody>
      </p:sp>
      <p:sp>
        <p:nvSpPr>
          <p:cNvPr id="108" name="Line 164"/>
          <p:cNvSpPr>
            <a:spLocks noChangeShapeType="1"/>
          </p:cNvSpPr>
          <p:nvPr/>
        </p:nvSpPr>
        <p:spPr bwMode="auto">
          <a:xfrm flipH="1">
            <a:off x="6904038" y="2160660"/>
            <a:ext cx="0" cy="4343400"/>
          </a:xfrm>
          <a:prstGeom prst="line">
            <a:avLst/>
          </a:prstGeom>
          <a:noFill/>
          <a:ln w="9525">
            <a:solidFill>
              <a:srgbClr val="333399"/>
            </a:solidFill>
            <a:round/>
          </a:ln>
        </p:spPr>
        <p:txBody>
          <a:bodyPr>
            <a:spAutoFit/>
          </a:bodyPr>
          <a:lstStyle/>
          <a:p>
            <a:endParaRPr lang="zh-CN" altLang="en-US">
              <a:latin typeface="Times New Roman" panose="02020603050405020304" pitchFamily="18" charset="0"/>
            </a:endParaRPr>
          </a:p>
        </p:txBody>
      </p:sp>
      <p:sp>
        <p:nvSpPr>
          <p:cNvPr id="110" name="Rectangle 94"/>
          <p:cNvSpPr>
            <a:spLocks noChangeArrowheads="1"/>
          </p:cNvSpPr>
          <p:nvPr/>
        </p:nvSpPr>
        <p:spPr bwMode="auto">
          <a:xfrm>
            <a:off x="4664076" y="2732160"/>
            <a:ext cx="1439862"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111" name="Rectangle 95"/>
          <p:cNvSpPr>
            <a:spLocks noChangeArrowheads="1"/>
          </p:cNvSpPr>
          <p:nvPr/>
        </p:nvSpPr>
        <p:spPr bwMode="auto">
          <a:xfrm>
            <a:off x="6315076" y="2732160"/>
            <a:ext cx="4572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112" name="Rectangle 96"/>
          <p:cNvSpPr>
            <a:spLocks noChangeArrowheads="1"/>
          </p:cNvSpPr>
          <p:nvPr/>
        </p:nvSpPr>
        <p:spPr bwMode="auto">
          <a:xfrm>
            <a:off x="425451" y="2732160"/>
            <a:ext cx="4268787" cy="396875"/>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2</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113" name="Rectangle 167"/>
          <p:cNvSpPr>
            <a:spLocks noChangeArrowheads="1"/>
          </p:cNvSpPr>
          <p:nvPr/>
        </p:nvSpPr>
        <p:spPr bwMode="auto">
          <a:xfrm>
            <a:off x="6904037" y="2736923"/>
            <a:ext cx="2958419"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sym typeface="Symbol" panose="05050102010706020507" pitchFamily="18" charset="2"/>
              </a:rPr>
              <a:t> := </a:t>
            </a:r>
            <a:r>
              <a:rPr lang="en-US" altLang="zh-CN" dirty="0" err="1">
                <a:solidFill>
                  <a:srgbClr val="0206AD"/>
                </a:solidFill>
                <a:latin typeface="Times New Roman" panose="02020603050405020304" pitchFamily="18" charset="0"/>
                <a:sym typeface="Symbol" panose="05050102010706020507" pitchFamily="18" charset="2"/>
              </a:rPr>
              <a:t>d</a:t>
            </a:r>
            <a:r>
              <a:rPr lang="en-US" altLang="zh-CN" b="1" dirty="0" err="1">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lexval</a:t>
            </a:r>
            <a:endParaRPr lang="en-US" altLang="zh-CN" sz="1800" dirty="0">
              <a:solidFill>
                <a:srgbClr val="333399"/>
              </a:solidFill>
              <a:latin typeface="Times New Roman" panose="02020603050405020304" pitchFamily="18" charset="0"/>
            </a:endParaRPr>
          </a:p>
        </p:txBody>
      </p:sp>
      <p:sp>
        <p:nvSpPr>
          <p:cNvPr id="115" name="Rectangle 98"/>
          <p:cNvSpPr>
            <a:spLocks noChangeArrowheads="1"/>
          </p:cNvSpPr>
          <p:nvPr/>
        </p:nvSpPr>
        <p:spPr bwMode="auto">
          <a:xfrm>
            <a:off x="4638676" y="2998868"/>
            <a:ext cx="1439863" cy="396876"/>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116" name="Rectangle 99"/>
          <p:cNvSpPr>
            <a:spLocks noChangeArrowheads="1"/>
          </p:cNvSpPr>
          <p:nvPr/>
        </p:nvSpPr>
        <p:spPr bwMode="auto">
          <a:xfrm>
            <a:off x="6327776" y="2984581"/>
            <a:ext cx="444500" cy="396876"/>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r4</a:t>
            </a:r>
          </a:p>
        </p:txBody>
      </p:sp>
      <p:sp>
        <p:nvSpPr>
          <p:cNvPr id="117" name="Rectangle 145"/>
          <p:cNvSpPr>
            <a:spLocks noChangeArrowheads="1"/>
          </p:cNvSpPr>
          <p:nvPr/>
        </p:nvSpPr>
        <p:spPr bwMode="auto">
          <a:xfrm>
            <a:off x="427038" y="2982993"/>
            <a:ext cx="4268788" cy="396876"/>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3 </a:t>
            </a:r>
            <a:r>
              <a:rPr kumimoji="0" lang="en-US" altLang="zh-CN" sz="2000" u="sng" dirty="0">
                <a:solidFill>
                  <a:srgbClr val="333399"/>
                </a:solidFill>
                <a:latin typeface="Times New Roman" panose="02020603050405020304" pitchFamily="18" charset="0"/>
                <a:sym typeface="Symbol" panose="05050102010706020507" pitchFamily="18" charset="2"/>
              </a:rPr>
              <a:t>F 2</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118" name="Rectangle 168"/>
          <p:cNvSpPr>
            <a:spLocks noChangeArrowheads="1"/>
          </p:cNvSpPr>
          <p:nvPr/>
        </p:nvSpPr>
        <p:spPr bwMode="auto">
          <a:xfrm>
            <a:off x="6881813" y="2987756"/>
            <a:ext cx="1546225" cy="366713"/>
          </a:xfrm>
          <a:prstGeom prst="rect">
            <a:avLst/>
          </a:prstGeom>
          <a:noFill/>
          <a:ln w="9525" algn="ctr">
            <a:noFill/>
            <a:miter lim="800000"/>
          </a:ln>
        </p:spPr>
        <p:txBody>
          <a:bodyPr>
            <a:spAutoFit/>
          </a:bodyPr>
          <a:lstStyle/>
          <a:p>
            <a:pPr algn="l"/>
            <a:r>
              <a:rPr lang="en-US" altLang="zh-CN" sz="1800" dirty="0" err="1">
                <a:solidFill>
                  <a:srgbClr val="333399"/>
                </a:solidFill>
                <a:latin typeface="Times New Roman" panose="02020603050405020304" pitchFamily="18" charset="0"/>
                <a:sym typeface="Symbol" panose="05050102010706020507" pitchFamily="18" charset="2"/>
              </a:rPr>
              <a:t>T</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val</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i="0" dirty="0">
                <a:solidFill>
                  <a:srgbClr val="333399"/>
                </a:solidFill>
                <a:latin typeface="Times New Roman" panose="02020603050405020304" pitchFamily="18" charset="0"/>
                <a:sym typeface="Symbol" panose="05050102010706020507" pitchFamily="18" charset="2"/>
              </a:rPr>
              <a:t>:=</a:t>
            </a:r>
            <a:r>
              <a:rPr lang="en-US" altLang="zh-CN" sz="1800" dirty="0">
                <a:solidFill>
                  <a:srgbClr val="333399"/>
                </a:solidFill>
                <a:latin typeface="Times New Roman" panose="02020603050405020304" pitchFamily="18" charset="0"/>
                <a:sym typeface="Symbol" panose="05050102010706020507" pitchFamily="18" charset="2"/>
              </a:rPr>
              <a:t> </a:t>
            </a:r>
            <a:r>
              <a:rPr lang="en-US" altLang="zh-CN" sz="1800" dirty="0" err="1">
                <a:solidFill>
                  <a:srgbClr val="333399"/>
                </a:solidFill>
                <a:latin typeface="Times New Roman" panose="02020603050405020304" pitchFamily="18" charset="0"/>
                <a:sym typeface="Symbol" panose="05050102010706020507" pitchFamily="18" charset="2"/>
              </a:rPr>
              <a:t>F</a:t>
            </a:r>
            <a:r>
              <a:rPr lang="en-US" altLang="zh-CN" sz="1800" b="1" dirty="0" err="1">
                <a:solidFill>
                  <a:srgbClr val="333399"/>
                </a:solidFill>
                <a:latin typeface="Times New Roman" panose="02020603050405020304" pitchFamily="18" charset="0"/>
              </a:rPr>
              <a:t>.</a:t>
            </a:r>
            <a:r>
              <a:rPr lang="en-US" altLang="zh-CN" sz="1800" dirty="0" err="1">
                <a:solidFill>
                  <a:srgbClr val="333399"/>
                </a:solidFill>
                <a:latin typeface="Times New Roman" panose="02020603050405020304" pitchFamily="18" charset="0"/>
              </a:rPr>
              <a:t>val</a:t>
            </a:r>
            <a:endParaRPr lang="en-US" altLang="zh-CN" sz="1800" dirty="0">
              <a:solidFill>
                <a:srgbClr val="333399"/>
              </a:solidFill>
              <a:latin typeface="Times New Roman" panose="02020603050405020304" pitchFamily="18" charset="0"/>
            </a:endParaRPr>
          </a:p>
        </p:txBody>
      </p:sp>
      <p:sp>
        <p:nvSpPr>
          <p:cNvPr id="120" name="Rectangle 102"/>
          <p:cNvSpPr>
            <a:spLocks noChangeArrowheads="1"/>
          </p:cNvSpPr>
          <p:nvPr/>
        </p:nvSpPr>
        <p:spPr bwMode="auto">
          <a:xfrm>
            <a:off x="4664076" y="3235398"/>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3</a:t>
            </a:r>
            <a:r>
              <a:rPr lang="en-US" altLang="zh-CN" sz="2000" b="1" i="0">
                <a:solidFill>
                  <a:srgbClr val="333399"/>
                </a:solidFill>
                <a:latin typeface="Times New Roman" panose="02020603050405020304" pitchFamily="18" charset="0"/>
                <a:sym typeface="Symbol" panose="05050102010706020507" pitchFamily="18" charset="2"/>
              </a:rPr>
              <a:t>  </a:t>
            </a:r>
            <a:r>
              <a:rPr lang="en-US" altLang="zh-CN" sz="2000" b="1">
                <a:solidFill>
                  <a:srgbClr val="333399"/>
                </a:solidFill>
                <a:latin typeface="Times New Roman" panose="02020603050405020304" pitchFamily="18" charset="0"/>
              </a:rPr>
              <a:t>5 #</a:t>
            </a:r>
          </a:p>
        </p:txBody>
      </p:sp>
      <p:sp>
        <p:nvSpPr>
          <p:cNvPr id="121" name="Rectangle 103"/>
          <p:cNvSpPr>
            <a:spLocks noChangeArrowheads="1"/>
          </p:cNvSpPr>
          <p:nvPr/>
        </p:nvSpPr>
        <p:spPr bwMode="auto">
          <a:xfrm>
            <a:off x="6327776" y="3235398"/>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r2</a:t>
            </a:r>
          </a:p>
        </p:txBody>
      </p:sp>
      <p:sp>
        <p:nvSpPr>
          <p:cNvPr id="122" name="Rectangle 146"/>
          <p:cNvSpPr>
            <a:spLocks noChangeArrowheads="1"/>
          </p:cNvSpPr>
          <p:nvPr/>
        </p:nvSpPr>
        <p:spPr bwMode="auto">
          <a:xfrm>
            <a:off x="427038" y="3227460"/>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2 </a:t>
            </a:r>
            <a:r>
              <a:rPr kumimoji="0" lang="en-US" altLang="zh-CN" sz="2000" u="sng">
                <a:solidFill>
                  <a:srgbClr val="333399"/>
                </a:solidFill>
                <a:latin typeface="Times New Roman" panose="02020603050405020304" pitchFamily="18" charset="0"/>
                <a:sym typeface="Symbol" panose="05050102010706020507" pitchFamily="18" charset="2"/>
              </a:rPr>
              <a:t>T 2</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123" name="Rectangle 169"/>
          <p:cNvSpPr>
            <a:spLocks noChangeArrowheads="1"/>
          </p:cNvSpPr>
          <p:nvPr/>
        </p:nvSpPr>
        <p:spPr bwMode="auto">
          <a:xfrm>
            <a:off x="6904038" y="3241748"/>
            <a:ext cx="2522991"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 </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sym typeface="Symbol" panose="05050102010706020507" pitchFamily="18" charset="2"/>
              </a:rPr>
              <a:t> := </a:t>
            </a:r>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 </a:t>
            </a:r>
            <a:r>
              <a:rPr lang="en-US" altLang="zh-CN" dirty="0" err="1">
                <a:solidFill>
                  <a:srgbClr val="0206AD"/>
                </a:solidFill>
                <a:latin typeface="Times New Roman" panose="02020603050405020304" pitchFamily="18" charset="0"/>
              </a:rPr>
              <a:t>val</a:t>
            </a:r>
            <a:endParaRPr lang="en-US" altLang="zh-CN" sz="1800" dirty="0">
              <a:solidFill>
                <a:srgbClr val="333399"/>
              </a:solidFill>
              <a:latin typeface="Times New Roman" panose="02020603050405020304" pitchFamily="18" charset="0"/>
            </a:endParaRPr>
          </a:p>
        </p:txBody>
      </p:sp>
      <p:sp>
        <p:nvSpPr>
          <p:cNvPr id="125" name="Rectangle 134"/>
          <p:cNvSpPr>
            <a:spLocks noChangeArrowheads="1"/>
          </p:cNvSpPr>
          <p:nvPr/>
        </p:nvSpPr>
        <p:spPr bwMode="auto">
          <a:xfrm>
            <a:off x="4664076" y="5437260"/>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126" name="Rectangle 135"/>
          <p:cNvSpPr>
            <a:spLocks noChangeArrowheads="1"/>
          </p:cNvSpPr>
          <p:nvPr/>
        </p:nvSpPr>
        <p:spPr bwMode="auto">
          <a:xfrm>
            <a:off x="6327776" y="5432498"/>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r3</a:t>
            </a:r>
          </a:p>
        </p:txBody>
      </p:sp>
      <p:sp>
        <p:nvSpPr>
          <p:cNvPr id="127" name="Rectangle 156"/>
          <p:cNvSpPr>
            <a:spLocks noChangeArrowheads="1"/>
          </p:cNvSpPr>
          <p:nvPr/>
        </p:nvSpPr>
        <p:spPr bwMode="auto">
          <a:xfrm>
            <a:off x="427038" y="5421385"/>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3</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7 </a:t>
            </a:r>
            <a:r>
              <a:rPr lang="en-US" altLang="zh-CN" sz="2000" b="1" i="0" u="sng">
                <a:solidFill>
                  <a:srgbClr val="333399"/>
                </a:solidFill>
                <a:latin typeface="Times New Roman" panose="02020603050405020304" pitchFamily="18" charset="0"/>
                <a:sym typeface="Symbol" panose="05050102010706020507" pitchFamily="18" charset="2"/>
              </a:rPr>
              <a:t></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10 </a:t>
            </a:r>
            <a:r>
              <a:rPr lang="en-US" altLang="zh-CN" sz="2000" u="sng">
                <a:solidFill>
                  <a:srgbClr val="333399"/>
                </a:solidFill>
                <a:latin typeface="Times New Roman" panose="02020603050405020304" pitchFamily="18" charset="0"/>
                <a:sym typeface="Symbol" panose="05050102010706020507" pitchFamily="18" charset="2"/>
              </a:rPr>
              <a:t>F</a:t>
            </a:r>
            <a:r>
              <a:rPr kumimoji="0" lang="en-US" altLang="zh-CN" sz="2000" u="sng">
                <a:solidFill>
                  <a:srgbClr val="333399"/>
                </a:solidFill>
                <a:latin typeface="Times New Roman" panose="02020603050405020304" pitchFamily="18" charset="0"/>
                <a:sym typeface="Symbol" panose="05050102010706020507" pitchFamily="18" charset="2"/>
              </a:rPr>
              <a:t> 5</a:t>
            </a:r>
            <a:r>
              <a:rPr kumimoji="0" lang="en-US" altLang="zh-CN" sz="2000">
                <a:solidFill>
                  <a:srgbClr val="333399"/>
                </a:solidFill>
                <a:latin typeface="Times New Roman" panose="02020603050405020304" pitchFamily="18" charset="0"/>
                <a:sym typeface="Symbol" panose="05050102010706020507" pitchFamily="18" charset="2"/>
              </a:rPr>
              <a:t> </a:t>
            </a:r>
          </a:p>
        </p:txBody>
      </p:sp>
      <p:sp>
        <p:nvSpPr>
          <p:cNvPr id="128" name="Rectangle 176"/>
          <p:cNvSpPr>
            <a:spLocks noChangeArrowheads="1"/>
          </p:cNvSpPr>
          <p:nvPr/>
        </p:nvSpPr>
        <p:spPr bwMode="auto">
          <a:xfrm>
            <a:off x="6848476" y="5444750"/>
            <a:ext cx="3263219" cy="461665"/>
          </a:xfrm>
          <a:prstGeom prst="rect">
            <a:avLst/>
          </a:prstGeom>
          <a:noFill/>
          <a:ln w="9525" algn="ctr">
            <a:noFill/>
            <a:miter lim="800000"/>
          </a:ln>
        </p:spPr>
        <p:txBody>
          <a:bodyPr wrap="square">
            <a:spAutoFit/>
          </a:bodyPr>
          <a:lstStyle/>
          <a:p>
            <a:r>
              <a:rPr lang="en-US" altLang="zh-CN" sz="1200" dirty="0">
                <a:solidFill>
                  <a:srgbClr val="333399"/>
                </a:solidFill>
                <a:latin typeface="Times New Roman" panose="02020603050405020304" pitchFamily="18" charset="0"/>
                <a:sym typeface="Symbol" panose="05050102010706020507" pitchFamily="18" charset="2"/>
              </a:rPr>
              <a:t>v[top-2].</a:t>
            </a:r>
            <a:r>
              <a:rPr lang="en-US" altLang="zh-CN" sz="1200" dirty="0" err="1">
                <a:solidFill>
                  <a:srgbClr val="333399"/>
                </a:solidFill>
                <a:latin typeface="Times New Roman" panose="02020603050405020304" pitchFamily="18" charset="0"/>
                <a:sym typeface="Symbol" panose="05050102010706020507" pitchFamily="18" charset="2"/>
              </a:rPr>
              <a:t>val</a:t>
            </a:r>
            <a:r>
              <a:rPr lang="en-US" altLang="zh-CN" sz="1200" dirty="0">
                <a:solidFill>
                  <a:srgbClr val="333399"/>
                </a:solidFill>
                <a:latin typeface="Times New Roman" panose="02020603050405020304" pitchFamily="18" charset="0"/>
                <a:sym typeface="Symbol" panose="05050102010706020507" pitchFamily="18" charset="2"/>
              </a:rPr>
              <a:t> := v[top-2].</a:t>
            </a:r>
            <a:r>
              <a:rPr lang="en-US" altLang="zh-CN" sz="1200" dirty="0" err="1">
                <a:solidFill>
                  <a:srgbClr val="333399"/>
                </a:solidFill>
                <a:latin typeface="Times New Roman" panose="02020603050405020304" pitchFamily="18" charset="0"/>
                <a:sym typeface="Symbol" panose="05050102010706020507" pitchFamily="18" charset="2"/>
              </a:rPr>
              <a:t>val</a:t>
            </a:r>
            <a:r>
              <a:rPr lang="en-US" altLang="zh-CN" sz="1200" dirty="0">
                <a:solidFill>
                  <a:srgbClr val="333399"/>
                </a:solidFill>
                <a:latin typeface="Times New Roman" panose="02020603050405020304" pitchFamily="18" charset="0"/>
                <a:sym typeface="Symbol" panose="05050102010706020507" pitchFamily="18" charset="2"/>
              </a:rPr>
              <a:t> </a:t>
            </a:r>
          </a:p>
          <a:p>
            <a:r>
              <a:rPr lang="en-US" altLang="zh-CN" sz="1200" dirty="0">
                <a:solidFill>
                  <a:srgbClr val="333399"/>
                </a:solidFill>
                <a:latin typeface="Times New Roman" panose="02020603050405020304" pitchFamily="18" charset="0"/>
                <a:sym typeface="Symbol" panose="05050102010706020507" pitchFamily="18" charset="2"/>
              </a:rPr>
              <a:t> v[top]. </a:t>
            </a:r>
            <a:r>
              <a:rPr lang="en-US" altLang="zh-CN" sz="1200" dirty="0" err="1">
                <a:solidFill>
                  <a:srgbClr val="333399"/>
                </a:solidFill>
                <a:latin typeface="Times New Roman" panose="02020603050405020304" pitchFamily="18" charset="0"/>
                <a:sym typeface="Symbol" panose="05050102010706020507" pitchFamily="18" charset="2"/>
              </a:rPr>
              <a:t>val</a:t>
            </a:r>
            <a:r>
              <a:rPr lang="en-US" altLang="zh-CN" sz="1200" dirty="0">
                <a:solidFill>
                  <a:srgbClr val="333399"/>
                </a:solidFill>
                <a:latin typeface="Times New Roman" panose="02020603050405020304" pitchFamily="18" charset="0"/>
                <a:sym typeface="Symbol" panose="05050102010706020507" pitchFamily="18" charset="2"/>
              </a:rPr>
              <a:t> </a:t>
            </a:r>
            <a:endParaRPr lang="en-US" altLang="zh-CN" sz="1200" dirty="0">
              <a:solidFill>
                <a:srgbClr val="333399"/>
              </a:solidFill>
              <a:latin typeface="Times New Roman" panose="02020603050405020304" pitchFamily="18" charset="0"/>
            </a:endParaRPr>
          </a:p>
        </p:txBody>
      </p:sp>
      <p:sp>
        <p:nvSpPr>
          <p:cNvPr id="130" name="Rectangle 138"/>
          <p:cNvSpPr>
            <a:spLocks noChangeArrowheads="1"/>
          </p:cNvSpPr>
          <p:nvPr/>
        </p:nvSpPr>
        <p:spPr bwMode="auto">
          <a:xfrm>
            <a:off x="4664076" y="6030985"/>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131" name="Rectangle 139"/>
          <p:cNvSpPr>
            <a:spLocks noChangeArrowheads="1"/>
          </p:cNvSpPr>
          <p:nvPr/>
        </p:nvSpPr>
        <p:spPr bwMode="auto">
          <a:xfrm>
            <a:off x="6238876" y="6007173"/>
            <a:ext cx="5969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sym typeface="Symbol" panose="05050102010706020507" pitchFamily="18" charset="2"/>
              </a:rPr>
              <a:t>acc</a:t>
            </a:r>
          </a:p>
        </p:txBody>
      </p:sp>
      <p:sp>
        <p:nvSpPr>
          <p:cNvPr id="132" name="Rectangle 158"/>
          <p:cNvSpPr>
            <a:spLocks noChangeArrowheads="1"/>
          </p:cNvSpPr>
          <p:nvPr/>
        </p:nvSpPr>
        <p:spPr bwMode="auto">
          <a:xfrm>
            <a:off x="427038" y="5970660"/>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17</a:t>
            </a:r>
            <a:endParaRPr kumimoji="0" lang="en-US" altLang="zh-CN" sz="2000">
              <a:solidFill>
                <a:srgbClr val="333399"/>
              </a:solidFill>
              <a:latin typeface="Times New Roman" panose="02020603050405020304" pitchFamily="18" charset="0"/>
              <a:sym typeface="Symbol" panose="05050102010706020507" pitchFamily="18" charset="2"/>
            </a:endParaRPr>
          </a:p>
        </p:txBody>
      </p:sp>
      <p:sp>
        <p:nvSpPr>
          <p:cNvPr id="133" name="Rectangle 177"/>
          <p:cNvSpPr>
            <a:spLocks noChangeArrowheads="1"/>
          </p:cNvSpPr>
          <p:nvPr/>
        </p:nvSpPr>
        <p:spPr bwMode="auto">
          <a:xfrm>
            <a:off x="7014484" y="6107741"/>
            <a:ext cx="2318429"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cs typeface="Times New Roman" panose="02020603050405020304" charset="0"/>
                <a:sym typeface="Symbol" panose="05050102010706020507" pitchFamily="18" charset="2"/>
              </a:rPr>
              <a:t>p</a:t>
            </a:r>
            <a:r>
              <a:rPr lang="en-US" altLang="zh-CN" dirty="0">
                <a:solidFill>
                  <a:srgbClr val="0206AD"/>
                </a:solidFill>
                <a:latin typeface="Times New Roman" panose="02020603050405020304" pitchFamily="18" charset="0"/>
              </a:rPr>
              <a:t>rint(v[top]</a:t>
            </a:r>
            <a:r>
              <a:rPr lang="en-US" altLang="zh-CN" b="1" dirty="0">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rPr>
              <a:t>)</a:t>
            </a:r>
            <a:endParaRPr lang="en-US" altLang="zh-CN" sz="1800" dirty="0">
              <a:solidFill>
                <a:srgbClr val="333399"/>
              </a:solidFill>
              <a:latin typeface="Times New Roman" panose="02020603050405020304" pitchFamily="18" charset="0"/>
            </a:endParaRPr>
          </a:p>
        </p:txBody>
      </p:sp>
      <p:sp>
        <p:nvSpPr>
          <p:cNvPr id="135" name="Rectangle 114"/>
          <p:cNvSpPr>
            <a:spLocks noChangeArrowheads="1"/>
          </p:cNvSpPr>
          <p:nvPr/>
        </p:nvSpPr>
        <p:spPr bwMode="auto">
          <a:xfrm>
            <a:off x="4664076" y="3992635"/>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136" name="Rectangle 115"/>
          <p:cNvSpPr>
            <a:spLocks noChangeArrowheads="1"/>
          </p:cNvSpPr>
          <p:nvPr/>
        </p:nvSpPr>
        <p:spPr bwMode="auto">
          <a:xfrm>
            <a:off x="6327776" y="3992635"/>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137" name="Rectangle 150"/>
          <p:cNvSpPr>
            <a:spLocks noChangeArrowheads="1"/>
          </p:cNvSpPr>
          <p:nvPr/>
        </p:nvSpPr>
        <p:spPr bwMode="auto">
          <a:xfrm>
            <a:off x="427038" y="3989460"/>
            <a:ext cx="4268788" cy="396875"/>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3</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138" name="Rectangle 179"/>
          <p:cNvSpPr>
            <a:spLocks noChangeArrowheads="1"/>
          </p:cNvSpPr>
          <p:nvPr/>
        </p:nvSpPr>
        <p:spPr bwMode="auto">
          <a:xfrm>
            <a:off x="6904037" y="3989460"/>
            <a:ext cx="2435905"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sym typeface="Symbol" panose="05050102010706020507" pitchFamily="18" charset="2"/>
              </a:rPr>
              <a:t> := </a:t>
            </a:r>
            <a:r>
              <a:rPr lang="en-US" altLang="zh-CN" dirty="0" err="1">
                <a:solidFill>
                  <a:srgbClr val="0206AD"/>
                </a:solidFill>
                <a:latin typeface="Times New Roman" panose="02020603050405020304" pitchFamily="18" charset="0"/>
                <a:sym typeface="Symbol" panose="05050102010706020507" pitchFamily="18" charset="2"/>
              </a:rPr>
              <a:t>d</a:t>
            </a:r>
            <a:r>
              <a:rPr lang="en-US" altLang="zh-CN" b="1" dirty="0" err="1">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lexval</a:t>
            </a:r>
            <a:endParaRPr lang="en-US" altLang="zh-CN" sz="1800" dirty="0">
              <a:solidFill>
                <a:srgbClr val="333399"/>
              </a:solidFill>
              <a:latin typeface="Times New Roman" panose="02020603050405020304" pitchFamily="18" charset="0"/>
            </a:endParaRPr>
          </a:p>
        </p:txBody>
      </p:sp>
      <p:sp>
        <p:nvSpPr>
          <p:cNvPr id="140" name="Rectangle 118"/>
          <p:cNvSpPr>
            <a:spLocks noChangeArrowheads="1"/>
          </p:cNvSpPr>
          <p:nvPr/>
        </p:nvSpPr>
        <p:spPr bwMode="auto">
          <a:xfrm>
            <a:off x="4664076" y="4279973"/>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5 #</a:t>
            </a:r>
          </a:p>
        </p:txBody>
      </p:sp>
      <p:sp>
        <p:nvSpPr>
          <p:cNvPr id="141" name="Rectangle 119"/>
          <p:cNvSpPr>
            <a:spLocks noChangeArrowheads="1"/>
          </p:cNvSpPr>
          <p:nvPr/>
        </p:nvSpPr>
        <p:spPr bwMode="auto">
          <a:xfrm>
            <a:off x="6327776" y="4279973"/>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r4</a:t>
            </a:r>
          </a:p>
        </p:txBody>
      </p:sp>
      <p:sp>
        <p:nvSpPr>
          <p:cNvPr id="142" name="Rectangle 151"/>
          <p:cNvSpPr>
            <a:spLocks noChangeArrowheads="1"/>
          </p:cNvSpPr>
          <p:nvPr/>
        </p:nvSpPr>
        <p:spPr bwMode="auto">
          <a:xfrm>
            <a:off x="427038" y="4278385"/>
            <a:ext cx="4268788" cy="396875"/>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3 </a:t>
            </a:r>
            <a:r>
              <a:rPr kumimoji="0" lang="en-US" altLang="zh-CN" sz="2000" u="sng" dirty="0">
                <a:solidFill>
                  <a:srgbClr val="333399"/>
                </a:solidFill>
                <a:latin typeface="Times New Roman" panose="02020603050405020304" pitchFamily="18" charset="0"/>
                <a:sym typeface="Symbol" panose="05050102010706020507" pitchFamily="18" charset="2"/>
              </a:rPr>
              <a:t>F</a:t>
            </a:r>
            <a:r>
              <a:rPr kumimoji="0" lang="en-US" altLang="zh-CN" sz="2000" i="0" u="sng" dirty="0">
                <a:solidFill>
                  <a:srgbClr val="333399"/>
                </a:solidFill>
                <a:latin typeface="Times New Roman" panose="02020603050405020304" pitchFamily="18" charset="0"/>
                <a:sym typeface="Symbol" panose="05050102010706020507" pitchFamily="18" charset="2"/>
              </a:rPr>
              <a:t> </a:t>
            </a:r>
            <a:r>
              <a:rPr kumimoji="0" lang="en-US" altLang="zh-CN" sz="2000" u="sng" dirty="0">
                <a:solidFill>
                  <a:srgbClr val="333399"/>
                </a:solidFill>
                <a:latin typeface="Times New Roman" panose="02020603050405020304" pitchFamily="18" charset="0"/>
                <a:sym typeface="Symbol" panose="05050102010706020507" pitchFamily="18" charset="2"/>
              </a:rPr>
              <a:t>3</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143" name="Rectangle 180"/>
          <p:cNvSpPr>
            <a:spLocks noChangeArrowheads="1"/>
          </p:cNvSpPr>
          <p:nvPr/>
        </p:nvSpPr>
        <p:spPr bwMode="auto">
          <a:xfrm>
            <a:off x="6881813" y="4308548"/>
            <a:ext cx="2741158"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 </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sym typeface="Symbol" panose="05050102010706020507" pitchFamily="18" charset="2"/>
              </a:rPr>
              <a:t> := </a:t>
            </a:r>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 </a:t>
            </a:r>
            <a:r>
              <a:rPr lang="en-US" altLang="zh-CN" dirty="0" err="1">
                <a:solidFill>
                  <a:srgbClr val="0206AD"/>
                </a:solidFill>
                <a:latin typeface="Times New Roman" panose="02020603050405020304" pitchFamily="18" charset="0"/>
              </a:rPr>
              <a:t>val</a:t>
            </a:r>
            <a:endParaRPr lang="en-US" altLang="zh-CN" sz="1800" dirty="0">
              <a:solidFill>
                <a:srgbClr val="333399"/>
              </a:solidFill>
              <a:latin typeface="Times New Roman" panose="02020603050405020304" pitchFamily="18" charset="0"/>
            </a:endParaRPr>
          </a:p>
        </p:txBody>
      </p:sp>
      <p:sp>
        <p:nvSpPr>
          <p:cNvPr id="145" name="Rectangle 130"/>
          <p:cNvSpPr>
            <a:spLocks noChangeArrowheads="1"/>
          </p:cNvSpPr>
          <p:nvPr/>
        </p:nvSpPr>
        <p:spPr bwMode="auto">
          <a:xfrm>
            <a:off x="4664076" y="5143573"/>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146" name="Rectangle 131"/>
          <p:cNvSpPr>
            <a:spLocks noChangeArrowheads="1"/>
          </p:cNvSpPr>
          <p:nvPr/>
        </p:nvSpPr>
        <p:spPr bwMode="auto">
          <a:xfrm>
            <a:off x="6327776" y="5143573"/>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r6</a:t>
            </a:r>
          </a:p>
        </p:txBody>
      </p:sp>
      <p:sp>
        <p:nvSpPr>
          <p:cNvPr id="147" name="Rectangle 154"/>
          <p:cNvSpPr>
            <a:spLocks noChangeArrowheads="1"/>
          </p:cNvSpPr>
          <p:nvPr/>
        </p:nvSpPr>
        <p:spPr bwMode="auto">
          <a:xfrm>
            <a:off x="427038" y="5116585"/>
            <a:ext cx="4268788" cy="396875"/>
          </a:xfrm>
          <a:prstGeom prst="rect">
            <a:avLst/>
          </a:prstGeom>
          <a:noFill/>
          <a:ln w="9525" algn="ctr">
            <a:noFill/>
            <a:miter lim="800000"/>
          </a:ln>
        </p:spPr>
        <p:txBody>
          <a:bodyPr>
            <a:spAutoFit/>
          </a:bodyPr>
          <a:lstStyle/>
          <a:p>
            <a:pPr algn="l"/>
            <a:r>
              <a:rPr kumimoji="0" lang="en-US" altLang="zh-CN" sz="2000" i="0" u="sng" dirty="0">
                <a:solidFill>
                  <a:srgbClr val="333399"/>
                </a:solidFill>
                <a:latin typeface="Times New Roman" panose="02020603050405020304" pitchFamily="18" charset="0"/>
                <a:sym typeface="Symbol" panose="05050102010706020507" pitchFamily="18" charset="2"/>
              </a:rPr>
              <a:t>0 # </a:t>
            </a:r>
            <a:r>
              <a:rPr kumimoji="0" lang="en-US" altLang="zh-CN" sz="2000" i="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1 </a:t>
            </a:r>
            <a:r>
              <a:rPr kumimoji="0" lang="en-US" altLang="zh-CN" sz="2000" u="sng" dirty="0">
                <a:solidFill>
                  <a:srgbClr val="333399"/>
                </a:solidFill>
                <a:latin typeface="Times New Roman" panose="02020603050405020304" pitchFamily="18" charset="0"/>
                <a:sym typeface="Symbol" panose="05050102010706020507" pitchFamily="18" charset="2"/>
              </a:rPr>
              <a:t>E 2</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6 +</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9 </a:t>
            </a:r>
            <a:r>
              <a:rPr kumimoji="0" lang="en-US" altLang="zh-CN" sz="2000" u="sng" dirty="0">
                <a:solidFill>
                  <a:srgbClr val="333399"/>
                </a:solidFill>
                <a:latin typeface="Times New Roman" panose="02020603050405020304" pitchFamily="18" charset="0"/>
                <a:sym typeface="Symbol" panose="05050102010706020507" pitchFamily="18" charset="2"/>
              </a:rPr>
              <a:t>T</a:t>
            </a:r>
            <a:r>
              <a:rPr kumimoji="0" lang="en-US" altLang="zh-CN" sz="2000" i="0" u="sng" dirty="0">
                <a:solidFill>
                  <a:srgbClr val="333399"/>
                </a:solidFill>
                <a:latin typeface="Times New Roman" panose="02020603050405020304" pitchFamily="18" charset="0"/>
                <a:sym typeface="Symbol" panose="05050102010706020507" pitchFamily="18" charset="2"/>
              </a:rPr>
              <a:t> </a:t>
            </a:r>
            <a:r>
              <a:rPr kumimoji="0" lang="en-US" altLang="zh-CN" sz="2000" u="sng" dirty="0">
                <a:solidFill>
                  <a:srgbClr val="333399"/>
                </a:solidFill>
                <a:latin typeface="Times New Roman" panose="02020603050405020304" pitchFamily="18" charset="0"/>
                <a:sym typeface="Symbol" panose="05050102010706020507" pitchFamily="18" charset="2"/>
              </a:rPr>
              <a:t>3</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7 </a:t>
            </a:r>
            <a:r>
              <a:rPr lang="en-US" altLang="zh-CN" sz="2000" b="1" i="0" u="sng" dirty="0">
                <a:solidFill>
                  <a:srgbClr val="333399"/>
                </a:solidFill>
                <a:latin typeface="Times New Roman" panose="02020603050405020304" pitchFamily="18" charset="0"/>
                <a:sym typeface="Symbol" panose="05050102010706020507" pitchFamily="18" charset="2"/>
              </a:rPr>
              <a:t></a:t>
            </a:r>
            <a:r>
              <a:rPr kumimoji="0" lang="en-US" altLang="zh-CN" sz="2000" u="sng"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a:t>
            </a:r>
            <a:r>
              <a:rPr kumimoji="0" lang="en-US" altLang="zh-CN" sz="2000" dirty="0">
                <a:solidFill>
                  <a:srgbClr val="333399"/>
                </a:solidFill>
                <a:latin typeface="Times New Roman" panose="02020603050405020304" pitchFamily="18" charset="0"/>
                <a:sym typeface="Symbol" panose="05050102010706020507" pitchFamily="18" charset="2"/>
              </a:rPr>
              <a:t> </a:t>
            </a:r>
            <a:r>
              <a:rPr kumimoji="0" lang="en-US" altLang="zh-CN" sz="2000" i="0" u="sng" dirty="0">
                <a:solidFill>
                  <a:srgbClr val="333399"/>
                </a:solidFill>
                <a:latin typeface="Times New Roman" panose="02020603050405020304" pitchFamily="18" charset="0"/>
                <a:sym typeface="Symbol" panose="05050102010706020507" pitchFamily="18" charset="2"/>
              </a:rPr>
              <a:t>5 d</a:t>
            </a:r>
            <a:r>
              <a:rPr kumimoji="0" lang="en-US" altLang="zh-CN" sz="2000" u="sng" dirty="0">
                <a:solidFill>
                  <a:srgbClr val="333399"/>
                </a:solidFill>
                <a:latin typeface="Times New Roman" panose="02020603050405020304" pitchFamily="18" charset="0"/>
                <a:sym typeface="Symbol" panose="05050102010706020507" pitchFamily="18" charset="2"/>
              </a:rPr>
              <a:t> 5</a:t>
            </a:r>
            <a:r>
              <a:rPr kumimoji="0" lang="en-US" altLang="zh-CN" sz="2000" dirty="0">
                <a:solidFill>
                  <a:srgbClr val="333399"/>
                </a:solidFill>
                <a:latin typeface="Times New Roman" panose="02020603050405020304" pitchFamily="18" charset="0"/>
                <a:sym typeface="Symbol" panose="05050102010706020507" pitchFamily="18" charset="2"/>
              </a:rPr>
              <a:t> </a:t>
            </a:r>
          </a:p>
        </p:txBody>
      </p:sp>
      <p:sp>
        <p:nvSpPr>
          <p:cNvPr id="148" name="Rectangle 181"/>
          <p:cNvSpPr>
            <a:spLocks noChangeArrowheads="1"/>
          </p:cNvSpPr>
          <p:nvPr/>
        </p:nvSpPr>
        <p:spPr bwMode="auto">
          <a:xfrm>
            <a:off x="6904037" y="5132460"/>
            <a:ext cx="2522991" cy="369332"/>
          </a:xfrm>
          <a:prstGeom prst="rect">
            <a:avLst/>
          </a:prstGeom>
          <a:noFill/>
          <a:ln w="9525" algn="ctr">
            <a:noFill/>
            <a:miter lim="800000"/>
          </a:ln>
        </p:spPr>
        <p:txBody>
          <a:bodyPr wrap="square">
            <a:spAutoFit/>
          </a:bodyPr>
          <a:lstStyle/>
          <a:p>
            <a:r>
              <a:rPr lang="en-US" altLang="zh-CN" dirty="0">
                <a:solidFill>
                  <a:srgbClr val="0206AD"/>
                </a:solidFill>
                <a:latin typeface="Times New Roman" panose="02020603050405020304" pitchFamily="18" charset="0"/>
              </a:rPr>
              <a:t>v[top]</a:t>
            </a:r>
            <a:r>
              <a:rPr lang="en-US" altLang="zh-CN" b="1" dirty="0">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val</a:t>
            </a:r>
            <a:r>
              <a:rPr lang="en-US" altLang="zh-CN" dirty="0">
                <a:solidFill>
                  <a:srgbClr val="0206AD"/>
                </a:solidFill>
                <a:latin typeface="Times New Roman" panose="02020603050405020304" pitchFamily="18" charset="0"/>
                <a:sym typeface="Symbol" panose="05050102010706020507" pitchFamily="18" charset="2"/>
              </a:rPr>
              <a:t> := </a:t>
            </a:r>
            <a:r>
              <a:rPr lang="en-US" altLang="zh-CN" dirty="0" err="1">
                <a:solidFill>
                  <a:srgbClr val="0206AD"/>
                </a:solidFill>
                <a:latin typeface="Times New Roman" panose="02020603050405020304" pitchFamily="18" charset="0"/>
                <a:sym typeface="Symbol" panose="05050102010706020507" pitchFamily="18" charset="2"/>
              </a:rPr>
              <a:t>d</a:t>
            </a:r>
            <a:r>
              <a:rPr lang="en-US" altLang="zh-CN" b="1" dirty="0" err="1">
                <a:solidFill>
                  <a:srgbClr val="0206AD"/>
                </a:solidFill>
                <a:latin typeface="Times New Roman" panose="02020603050405020304" pitchFamily="18" charset="0"/>
              </a:rPr>
              <a:t>.</a:t>
            </a:r>
            <a:r>
              <a:rPr lang="en-US" altLang="zh-CN" dirty="0" err="1">
                <a:solidFill>
                  <a:srgbClr val="0206AD"/>
                </a:solidFill>
                <a:latin typeface="Times New Roman" panose="02020603050405020304" pitchFamily="18" charset="0"/>
              </a:rPr>
              <a:t>lexval</a:t>
            </a:r>
            <a:endParaRPr lang="en-US" altLang="zh-CN" dirty="0">
              <a:solidFill>
                <a:srgbClr val="333399"/>
              </a:solidFill>
              <a:latin typeface="Times New Roman" panose="02020603050405020304" pitchFamily="18" charset="0"/>
            </a:endParaRPr>
          </a:p>
        </p:txBody>
      </p:sp>
      <p:sp>
        <p:nvSpPr>
          <p:cNvPr id="150" name="Rectangle 142"/>
          <p:cNvSpPr>
            <a:spLocks noChangeArrowheads="1"/>
          </p:cNvSpPr>
          <p:nvPr/>
        </p:nvSpPr>
        <p:spPr bwMode="auto">
          <a:xfrm>
            <a:off x="4664076" y="5742060"/>
            <a:ext cx="1439863" cy="396875"/>
          </a:xfrm>
          <a:prstGeom prst="rect">
            <a:avLst/>
          </a:prstGeom>
          <a:noFill/>
          <a:ln w="9525" algn="ctr">
            <a:noFill/>
            <a:miter lim="800000"/>
          </a:ln>
        </p:spPr>
        <p:txBody>
          <a:bodyPr>
            <a:spAutoFit/>
          </a:bodyPr>
          <a:lstStyle/>
          <a:p>
            <a:pPr algn="r"/>
            <a:r>
              <a:rPr lang="en-US" altLang="zh-CN" sz="2000" b="1">
                <a:solidFill>
                  <a:srgbClr val="333399"/>
                </a:solidFill>
                <a:latin typeface="Times New Roman" panose="02020603050405020304" pitchFamily="18" charset="0"/>
              </a:rPr>
              <a:t> </a:t>
            </a:r>
            <a:r>
              <a:rPr lang="en-US" altLang="zh-CN" sz="2000" b="1" i="0">
                <a:solidFill>
                  <a:srgbClr val="333399"/>
                </a:solidFill>
                <a:latin typeface="Times New Roman" panose="02020603050405020304" pitchFamily="18" charset="0"/>
                <a:sym typeface="Symbol" panose="05050102010706020507" pitchFamily="18" charset="2"/>
              </a:rPr>
              <a:t> </a:t>
            </a:r>
            <a:r>
              <a:rPr lang="en-US" altLang="zh-CN" sz="2000" b="1">
                <a:solidFill>
                  <a:srgbClr val="333399"/>
                </a:solidFill>
                <a:latin typeface="Times New Roman" panose="02020603050405020304" pitchFamily="18" charset="0"/>
              </a:rPr>
              <a:t> #</a:t>
            </a:r>
          </a:p>
        </p:txBody>
      </p:sp>
      <p:sp>
        <p:nvSpPr>
          <p:cNvPr id="151" name="Rectangle 143"/>
          <p:cNvSpPr>
            <a:spLocks noChangeArrowheads="1"/>
          </p:cNvSpPr>
          <p:nvPr/>
        </p:nvSpPr>
        <p:spPr bwMode="auto">
          <a:xfrm>
            <a:off x="6327776" y="5742060"/>
            <a:ext cx="444500" cy="396875"/>
          </a:xfrm>
          <a:prstGeom prst="rect">
            <a:avLst/>
          </a:prstGeom>
          <a:noFill/>
          <a:ln w="9525" algn="ctr">
            <a:noFill/>
            <a:miter lim="800000"/>
          </a:ln>
        </p:spPr>
        <p:txBody>
          <a:bodyPr>
            <a:spAutoFit/>
          </a:bodyPr>
          <a:lstStyle/>
          <a:p>
            <a:pPr algn="l"/>
            <a:r>
              <a:rPr lang="en-US" altLang="zh-CN" sz="2000">
                <a:solidFill>
                  <a:srgbClr val="333399"/>
                </a:solidFill>
                <a:latin typeface="Times New Roman" panose="02020603050405020304" pitchFamily="18" charset="0"/>
              </a:rPr>
              <a:t>r1</a:t>
            </a:r>
          </a:p>
        </p:txBody>
      </p:sp>
      <p:sp>
        <p:nvSpPr>
          <p:cNvPr id="152" name="Rectangle 157"/>
          <p:cNvSpPr>
            <a:spLocks noChangeArrowheads="1"/>
          </p:cNvSpPr>
          <p:nvPr/>
        </p:nvSpPr>
        <p:spPr bwMode="auto">
          <a:xfrm>
            <a:off x="427038" y="5726185"/>
            <a:ext cx="4268788" cy="396875"/>
          </a:xfrm>
          <a:prstGeom prst="rect">
            <a:avLst/>
          </a:prstGeom>
          <a:noFill/>
          <a:ln w="9525" algn="ctr">
            <a:noFill/>
            <a:miter lim="800000"/>
          </a:ln>
        </p:spPr>
        <p:txBody>
          <a:bodyPr>
            <a:spAutoFit/>
          </a:bodyPr>
          <a:lstStyle/>
          <a:p>
            <a:pPr algn="l"/>
            <a:r>
              <a:rPr kumimoji="0" lang="en-US" altLang="zh-CN" sz="2000" i="0" u="sng">
                <a:solidFill>
                  <a:srgbClr val="333399"/>
                </a:solidFill>
                <a:latin typeface="Times New Roman" panose="02020603050405020304" pitchFamily="18" charset="0"/>
                <a:sym typeface="Symbol" panose="05050102010706020507" pitchFamily="18" charset="2"/>
              </a:rPr>
              <a:t>0 # </a:t>
            </a:r>
            <a:r>
              <a:rPr kumimoji="0" lang="en-US" altLang="zh-CN" sz="2000" i="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1 </a:t>
            </a:r>
            <a:r>
              <a:rPr kumimoji="0" lang="en-US" altLang="zh-CN" sz="2000" u="sng">
                <a:solidFill>
                  <a:srgbClr val="333399"/>
                </a:solidFill>
                <a:latin typeface="Times New Roman" panose="02020603050405020304" pitchFamily="18" charset="0"/>
                <a:sym typeface="Symbol" panose="05050102010706020507" pitchFamily="18" charset="2"/>
              </a:rPr>
              <a:t>E 2</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6 +</a:t>
            </a:r>
            <a:r>
              <a:rPr kumimoji="0" lang="en-US" altLang="zh-CN" sz="2000" u="sng">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a:t>
            </a:r>
            <a:r>
              <a:rPr kumimoji="0" lang="en-US" altLang="zh-CN" sz="2000">
                <a:solidFill>
                  <a:srgbClr val="333399"/>
                </a:solidFill>
                <a:latin typeface="Times New Roman" panose="02020603050405020304" pitchFamily="18" charset="0"/>
                <a:sym typeface="Symbol" panose="05050102010706020507" pitchFamily="18" charset="2"/>
              </a:rPr>
              <a:t> </a:t>
            </a:r>
            <a:r>
              <a:rPr kumimoji="0" lang="en-US" altLang="zh-CN" sz="2000" i="0" u="sng">
                <a:solidFill>
                  <a:srgbClr val="333399"/>
                </a:solidFill>
                <a:latin typeface="Times New Roman" panose="02020603050405020304" pitchFamily="18" charset="0"/>
                <a:sym typeface="Symbol" panose="05050102010706020507" pitchFamily="18" charset="2"/>
              </a:rPr>
              <a:t>9 </a:t>
            </a:r>
            <a:r>
              <a:rPr kumimoji="0" lang="en-US" altLang="zh-CN" sz="2000" u="sng">
                <a:solidFill>
                  <a:srgbClr val="333399"/>
                </a:solidFill>
                <a:latin typeface="Times New Roman" panose="02020603050405020304" pitchFamily="18" charset="0"/>
                <a:sym typeface="Symbol" panose="05050102010706020507" pitchFamily="18" charset="2"/>
              </a:rPr>
              <a:t>T</a:t>
            </a:r>
            <a:r>
              <a:rPr kumimoji="0" lang="en-US" altLang="zh-CN" sz="2000" i="0" u="sng">
                <a:solidFill>
                  <a:srgbClr val="333399"/>
                </a:solidFill>
                <a:latin typeface="Times New Roman" panose="02020603050405020304" pitchFamily="18" charset="0"/>
                <a:sym typeface="Symbol" panose="05050102010706020507" pitchFamily="18" charset="2"/>
              </a:rPr>
              <a:t> </a:t>
            </a:r>
            <a:r>
              <a:rPr kumimoji="0" lang="en-US" altLang="zh-CN" sz="2000" u="sng">
                <a:solidFill>
                  <a:srgbClr val="333399"/>
                </a:solidFill>
                <a:latin typeface="Times New Roman" panose="02020603050405020304" pitchFamily="18" charset="0"/>
                <a:sym typeface="Symbol" panose="05050102010706020507" pitchFamily="18" charset="2"/>
              </a:rPr>
              <a:t>15</a:t>
            </a:r>
            <a:endParaRPr kumimoji="0" lang="en-US" altLang="zh-CN" sz="2000">
              <a:solidFill>
                <a:srgbClr val="333399"/>
              </a:solidFill>
              <a:latin typeface="Times New Roman" panose="02020603050405020304" pitchFamily="18" charset="0"/>
              <a:sym typeface="Symbol" panose="05050102010706020507" pitchFamily="18" charset="2"/>
            </a:endParaRPr>
          </a:p>
        </p:txBody>
      </p:sp>
      <p:sp>
        <p:nvSpPr>
          <p:cNvPr id="153" name="Rectangle 182"/>
          <p:cNvSpPr>
            <a:spLocks noChangeArrowheads="1"/>
          </p:cNvSpPr>
          <p:nvPr/>
        </p:nvSpPr>
        <p:spPr bwMode="auto">
          <a:xfrm>
            <a:off x="6938057" y="5818260"/>
            <a:ext cx="2133600" cy="430887"/>
          </a:xfrm>
          <a:prstGeom prst="rect">
            <a:avLst/>
          </a:prstGeom>
          <a:noFill/>
          <a:ln w="9525" algn="ctr">
            <a:noFill/>
            <a:miter lim="800000"/>
          </a:ln>
        </p:spPr>
        <p:txBody>
          <a:bodyPr>
            <a:spAutoFit/>
          </a:bodyPr>
          <a:lstStyle/>
          <a:p>
            <a:r>
              <a:rPr lang="en-US" altLang="zh-CN" sz="1100" dirty="0">
                <a:solidFill>
                  <a:srgbClr val="333399"/>
                </a:solidFill>
                <a:latin typeface="Times New Roman" panose="02020603050405020304" pitchFamily="18" charset="0"/>
                <a:sym typeface="Symbol" panose="05050102010706020507" pitchFamily="18" charset="2"/>
              </a:rPr>
              <a:t>v[top-2].</a:t>
            </a:r>
            <a:r>
              <a:rPr lang="en-US" altLang="zh-CN" sz="1100" dirty="0" err="1">
                <a:solidFill>
                  <a:srgbClr val="333399"/>
                </a:solidFill>
                <a:latin typeface="Times New Roman" panose="02020603050405020304" pitchFamily="18" charset="0"/>
                <a:sym typeface="Symbol" panose="05050102010706020507" pitchFamily="18" charset="2"/>
              </a:rPr>
              <a:t>val</a:t>
            </a:r>
            <a:r>
              <a:rPr lang="en-US" altLang="zh-CN" sz="1100" dirty="0">
                <a:solidFill>
                  <a:srgbClr val="333399"/>
                </a:solidFill>
                <a:latin typeface="Times New Roman" panose="02020603050405020304" pitchFamily="18" charset="0"/>
                <a:sym typeface="Symbol" panose="05050102010706020507" pitchFamily="18" charset="2"/>
              </a:rPr>
              <a:t> := v[top-2].</a:t>
            </a:r>
            <a:r>
              <a:rPr lang="en-US" altLang="zh-CN" sz="1100" dirty="0" err="1">
                <a:solidFill>
                  <a:srgbClr val="333399"/>
                </a:solidFill>
                <a:latin typeface="Times New Roman" panose="02020603050405020304" pitchFamily="18" charset="0"/>
                <a:sym typeface="Symbol" panose="05050102010706020507" pitchFamily="18" charset="2"/>
              </a:rPr>
              <a:t>val</a:t>
            </a:r>
            <a:r>
              <a:rPr lang="en-US" altLang="zh-CN" sz="1100" dirty="0">
                <a:solidFill>
                  <a:srgbClr val="333399"/>
                </a:solidFill>
                <a:latin typeface="Times New Roman" panose="02020603050405020304" pitchFamily="18" charset="0"/>
                <a:sym typeface="Symbol" panose="05050102010706020507" pitchFamily="18" charset="2"/>
              </a:rPr>
              <a:t> + v[top].</a:t>
            </a:r>
            <a:r>
              <a:rPr lang="en-US" altLang="zh-CN" sz="1100" dirty="0" err="1">
                <a:solidFill>
                  <a:srgbClr val="333399"/>
                </a:solidFill>
                <a:latin typeface="Times New Roman" panose="02020603050405020304" pitchFamily="18" charset="0"/>
                <a:sym typeface="Symbol" panose="05050102010706020507" pitchFamily="18" charset="2"/>
              </a:rPr>
              <a:t>val</a:t>
            </a:r>
            <a:r>
              <a:rPr lang="en-US" altLang="zh-CN" sz="1100" dirty="0">
                <a:solidFill>
                  <a:srgbClr val="333399"/>
                </a:solidFill>
                <a:latin typeface="Times New Roman" panose="02020603050405020304" pitchFamily="18" charset="0"/>
                <a:sym typeface="Symbol" panose="05050102010706020507" pitchFamily="18" charset="2"/>
              </a:rPr>
              <a:t> </a:t>
            </a:r>
            <a:endParaRPr lang="en-US" altLang="zh-CN" sz="1100" dirty="0">
              <a:solidFill>
                <a:srgbClr val="333399"/>
              </a:solidFill>
              <a:latin typeface="Times New Roman" panose="02020603050405020304" pitchFamily="18" charset="0"/>
            </a:endParaRPr>
          </a:p>
        </p:txBody>
      </p:sp>
      <p:sp>
        <p:nvSpPr>
          <p:cNvPr id="2" name="灯片编号占位符 1"/>
          <p:cNvSpPr>
            <a:spLocks noGrp="1"/>
          </p:cNvSpPr>
          <p:nvPr>
            <p:ph type="sldNum" sz="quarter" idx="4"/>
          </p:nvPr>
        </p:nvSpPr>
        <p:spPr/>
        <p:txBody>
          <a:bodyPr/>
          <a:lstStyle/>
          <a:p>
            <a:fld id="{565CE74E-AB26-4998-AD42-012C4C1AD076}"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（三）基于</a:t>
            </a:r>
            <a:r>
              <a:rPr lang="en-US" altLang="zh-CN" dirty="0"/>
              <a:t>L-</a:t>
            </a:r>
            <a:r>
              <a:rPr lang="zh-CN" altLang="en-US" dirty="0"/>
              <a:t>翻译模式的自顶向下语义计算（以递归下降</a:t>
            </a:r>
            <a:r>
              <a:rPr lang="en-US" altLang="zh-CN" dirty="0"/>
              <a:t>LL(1)</a:t>
            </a:r>
            <a:r>
              <a:rPr lang="zh-CN" altLang="en-US" dirty="0"/>
              <a:t>为例）</a:t>
            </a:r>
            <a:endParaRPr lang="en-US" altLang="zh-CN" dirty="0"/>
          </a:p>
          <a:p>
            <a:pPr lvl="1">
              <a:buFont typeface="Symbol" panose="05050102010706020507" pitchFamily="18" charset="2"/>
              <a:buChar char="-"/>
            </a:pPr>
            <a:r>
              <a:rPr lang="zh-CN" altLang="en-US" dirty="0">
                <a:solidFill>
                  <a:srgbClr val="333399"/>
                </a:solidFill>
                <a:latin typeface="Times New Roman" panose="02020603050405020304" charset="0"/>
              </a:rPr>
              <a:t>语法制导的语义计算程序构造思路</a:t>
            </a:r>
            <a:endParaRPr lang="en-US" altLang="zh-CN" dirty="0">
              <a:solidFill>
                <a:srgbClr val="333399"/>
              </a:solidFill>
              <a:latin typeface="Times New Roman" panose="02020603050405020304" charset="0"/>
            </a:endParaRPr>
          </a:p>
          <a:p>
            <a:pPr lvl="2">
              <a:buFontTx/>
              <a:buChar char="•"/>
            </a:pPr>
            <a:r>
              <a:rPr lang="zh-CN" altLang="en-US" dirty="0">
                <a:solidFill>
                  <a:srgbClr val="333399"/>
                </a:solidFill>
              </a:rPr>
              <a:t>对每个非终结符 </a:t>
            </a:r>
            <a:r>
              <a:rPr lang="en-US" altLang="zh-CN" dirty="0">
                <a:solidFill>
                  <a:srgbClr val="333399"/>
                </a:solidFill>
                <a:ea typeface="宋体" panose="02010600030101010101" pitchFamily="2" charset="-122"/>
                <a:cs typeface="Times New Roman" panose="02020603050405020304" charset="0"/>
              </a:rPr>
              <a:t>A</a:t>
            </a:r>
            <a:r>
              <a:rPr lang="zh-CN" altLang="en-US" dirty="0">
                <a:solidFill>
                  <a:srgbClr val="333399"/>
                </a:solidFill>
              </a:rPr>
              <a:t>，构造一个函数，以 </a:t>
            </a:r>
            <a:r>
              <a:rPr lang="en-US" altLang="zh-CN" dirty="0">
                <a:solidFill>
                  <a:srgbClr val="333399"/>
                </a:solidFill>
                <a:ea typeface="宋体" panose="02010600030101010101" pitchFamily="2" charset="-122"/>
              </a:rPr>
              <a:t>A </a:t>
            </a:r>
            <a:r>
              <a:rPr lang="zh-CN" altLang="en-US" dirty="0">
                <a:solidFill>
                  <a:srgbClr val="333399"/>
                </a:solidFill>
              </a:rPr>
              <a:t>的每个</a:t>
            </a:r>
            <a:r>
              <a:rPr lang="zh-CN" altLang="en-US" dirty="0">
                <a:solidFill>
                  <a:srgbClr val="FF0000"/>
                </a:solidFill>
              </a:rPr>
              <a:t>继承属性为形参</a:t>
            </a:r>
            <a:r>
              <a:rPr lang="zh-CN" altLang="en-US" dirty="0">
                <a:solidFill>
                  <a:srgbClr val="333399"/>
                </a:solidFill>
              </a:rPr>
              <a:t>，以 </a:t>
            </a:r>
            <a:r>
              <a:rPr lang="en-US" altLang="zh-CN" dirty="0">
                <a:solidFill>
                  <a:srgbClr val="333399"/>
                </a:solidFill>
                <a:ea typeface="宋体" panose="02010600030101010101" pitchFamily="2" charset="-122"/>
              </a:rPr>
              <a:t>A </a:t>
            </a:r>
            <a:r>
              <a:rPr lang="zh-CN" altLang="en-US" dirty="0">
                <a:solidFill>
                  <a:srgbClr val="333399"/>
                </a:solidFill>
              </a:rPr>
              <a:t>的</a:t>
            </a:r>
            <a:r>
              <a:rPr lang="zh-CN" altLang="en-US" dirty="0">
                <a:solidFill>
                  <a:srgbClr val="FF0000"/>
                </a:solidFill>
              </a:rPr>
              <a:t>综合属性为返回值</a:t>
            </a:r>
            <a:r>
              <a:rPr lang="zh-CN" altLang="en-US" dirty="0">
                <a:solidFill>
                  <a:srgbClr val="333399"/>
                </a:solidFill>
              </a:rPr>
              <a:t>（若有多个综合属性，可返回记录类型的值） 。如同</a:t>
            </a:r>
            <a:r>
              <a:rPr lang="zh-CN" altLang="en-US" dirty="0">
                <a:solidFill>
                  <a:srgbClr val="FF0000"/>
                </a:solidFill>
              </a:rPr>
              <a:t>预测分析程序的构造</a:t>
            </a:r>
            <a:r>
              <a:rPr lang="zh-CN" altLang="en-US" dirty="0">
                <a:solidFill>
                  <a:srgbClr val="333399"/>
                </a:solidFill>
              </a:rPr>
              <a:t>，该函数代码的流程是根据当前的输入符号来决定调用哪个产生式。</a:t>
            </a:r>
          </a:p>
          <a:p>
            <a:pPr lvl="2">
              <a:buFont typeface="Symbol" panose="05050102010706020507" pitchFamily="18" charset="2"/>
              <a:buChar char="-"/>
            </a:pPr>
            <a:r>
              <a:rPr lang="zh-CN" altLang="en-US" dirty="0">
                <a:solidFill>
                  <a:srgbClr val="333399"/>
                </a:solidFill>
                <a:latin typeface="Times New Roman" panose="02020603050405020304" charset="0"/>
              </a:rPr>
              <a:t>与每个产生式相关的代码根据其右端的结构来构造</a:t>
            </a:r>
            <a:endParaRPr lang="zh-CN" altLang="en-US" dirty="0"/>
          </a:p>
          <a:p>
            <a:pPr lvl="1"/>
            <a:endParaRPr lang="zh-CN" altLang="en-US" dirty="0"/>
          </a:p>
        </p:txBody>
      </p:sp>
      <p:sp>
        <p:nvSpPr>
          <p:cNvPr id="3" name="标题 2"/>
          <p:cNvSpPr>
            <a:spLocks noGrp="1"/>
          </p:cNvSpPr>
          <p:nvPr>
            <p:ph type="title"/>
          </p:nvPr>
        </p:nvSpPr>
        <p:spPr/>
        <p:txBody>
          <a:bodyPr/>
          <a:lstStyle/>
          <a:p>
            <a:r>
              <a:rPr lang="zh-CN" altLang="en-US" dirty="0"/>
              <a:t>四、基于翻译模式的语义计算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pPr>
              <a:lnSpc>
                <a:spcPct val="100000"/>
              </a:lnSpc>
            </a:pPr>
            <a:r>
              <a:rPr lang="zh-CN" altLang="en-US" dirty="0"/>
              <a:t>在程序的构造中，根据产生式右端的</a:t>
            </a:r>
            <a:r>
              <a:rPr lang="zh-CN" altLang="en-US" dirty="0">
                <a:solidFill>
                  <a:srgbClr val="FF0000"/>
                </a:solidFill>
              </a:rPr>
              <a:t>终结符，非终结符和语义动作，</a:t>
            </a:r>
            <a:r>
              <a:rPr lang="zh-CN" altLang="en-US" dirty="0"/>
              <a:t>依左到右的次序完成相关的代码：</a:t>
            </a:r>
            <a:endParaRPr lang="en-US" altLang="zh-CN" dirty="0"/>
          </a:p>
          <a:p>
            <a:pPr lvl="1">
              <a:lnSpc>
                <a:spcPct val="100000"/>
              </a:lnSpc>
              <a:buFontTx/>
              <a:buChar char="•"/>
            </a:pPr>
            <a:r>
              <a:rPr lang="zh-CN" altLang="en-US" sz="2400" dirty="0">
                <a:solidFill>
                  <a:srgbClr val="333399"/>
                </a:solidFill>
              </a:rPr>
              <a:t>对终结符 </a:t>
            </a:r>
            <a:r>
              <a:rPr lang="en-US" altLang="zh-CN" sz="2400" dirty="0">
                <a:solidFill>
                  <a:srgbClr val="333399"/>
                </a:solidFill>
                <a:ea typeface="宋体" panose="02010600030101010101" pitchFamily="2" charset="-122"/>
                <a:cs typeface="Times New Roman" panose="02020603050405020304" charset="0"/>
              </a:rPr>
              <a:t>x</a:t>
            </a:r>
            <a:r>
              <a:rPr lang="zh-CN" altLang="en-US" sz="2400" dirty="0">
                <a:solidFill>
                  <a:srgbClr val="333399"/>
                </a:solidFill>
              </a:rPr>
              <a:t>，保存其综合属性</a:t>
            </a:r>
            <a:r>
              <a:rPr lang="en-US" altLang="zh-CN" sz="2400" dirty="0">
                <a:solidFill>
                  <a:srgbClr val="333399"/>
                </a:solidFill>
                <a:ea typeface="宋体" panose="02010600030101010101" pitchFamily="2" charset="-122"/>
              </a:rPr>
              <a:t>x</a:t>
            </a:r>
            <a:r>
              <a:rPr lang="zh-CN" altLang="en-US" sz="2400" dirty="0">
                <a:solidFill>
                  <a:srgbClr val="333399"/>
                </a:solidFill>
              </a:rPr>
              <a:t>的值；然后调用匹配终结符（</a:t>
            </a:r>
            <a:r>
              <a:rPr lang="en-US" altLang="zh-CN" sz="2400" dirty="0" err="1">
                <a:solidFill>
                  <a:srgbClr val="333399"/>
                </a:solidFill>
                <a:ea typeface="宋体" panose="02010600030101010101" pitchFamily="2" charset="-122"/>
              </a:rPr>
              <a:t>match_token</a:t>
            </a:r>
            <a:r>
              <a:rPr lang="zh-CN" altLang="en-US" sz="2400" dirty="0">
                <a:solidFill>
                  <a:srgbClr val="333399"/>
                </a:solidFill>
              </a:rPr>
              <a:t>） 和取下一输入符号（</a:t>
            </a:r>
            <a:r>
              <a:rPr lang="en-US" altLang="zh-CN" sz="2400" dirty="0" err="1">
                <a:solidFill>
                  <a:srgbClr val="333399"/>
                </a:solidFill>
                <a:ea typeface="宋体" panose="02010600030101010101" pitchFamily="2" charset="-122"/>
              </a:rPr>
              <a:t>next_token</a:t>
            </a:r>
            <a:r>
              <a:rPr lang="zh-CN" altLang="en-US" sz="2400" dirty="0">
                <a:solidFill>
                  <a:srgbClr val="333399"/>
                </a:solidFill>
              </a:rPr>
              <a:t>）的函数；  </a:t>
            </a:r>
          </a:p>
          <a:p>
            <a:pPr lvl="1">
              <a:lnSpc>
                <a:spcPct val="100000"/>
              </a:lnSpc>
              <a:buFontTx/>
              <a:buChar char="•"/>
            </a:pPr>
            <a:r>
              <a:rPr lang="zh-CN" altLang="en-US" sz="2400" dirty="0"/>
              <a:t> </a:t>
            </a:r>
            <a:r>
              <a:rPr lang="zh-CN" altLang="en-US" sz="2400" dirty="0">
                <a:solidFill>
                  <a:srgbClr val="333399"/>
                </a:solidFill>
              </a:rPr>
              <a:t>对非终结符 </a:t>
            </a:r>
            <a:r>
              <a:rPr lang="en-US" altLang="zh-CN" sz="2400" dirty="0">
                <a:solidFill>
                  <a:srgbClr val="333399"/>
                </a:solidFill>
              </a:rPr>
              <a:t>B</a:t>
            </a:r>
            <a:r>
              <a:rPr lang="zh-CN" altLang="en-US" sz="2400" dirty="0">
                <a:solidFill>
                  <a:srgbClr val="333399"/>
                </a:solidFill>
              </a:rPr>
              <a:t>，利用相应于 </a:t>
            </a:r>
            <a:r>
              <a:rPr lang="en-US" altLang="zh-CN" sz="2400" dirty="0">
                <a:solidFill>
                  <a:srgbClr val="333399"/>
                </a:solidFill>
              </a:rPr>
              <a:t>B </a:t>
            </a:r>
            <a:r>
              <a:rPr lang="zh-CN" altLang="en-US" sz="2400" dirty="0">
                <a:solidFill>
                  <a:srgbClr val="333399"/>
                </a:solidFill>
              </a:rPr>
              <a:t>的函数 </a:t>
            </a:r>
            <a:r>
              <a:rPr lang="en-US" altLang="zh-CN" sz="2400" dirty="0" err="1">
                <a:solidFill>
                  <a:srgbClr val="333399"/>
                </a:solidFill>
              </a:rPr>
              <a:t>ParseB</a:t>
            </a:r>
            <a:r>
              <a:rPr lang="en-US" altLang="zh-CN" sz="2400" dirty="0">
                <a:solidFill>
                  <a:srgbClr val="333399"/>
                </a:solidFill>
              </a:rPr>
              <a:t> </a:t>
            </a:r>
            <a:r>
              <a:rPr lang="zh-CN" altLang="en-US" sz="2400" dirty="0">
                <a:solidFill>
                  <a:srgbClr val="333399"/>
                </a:solidFill>
              </a:rPr>
              <a:t>产生赋值语句 </a:t>
            </a:r>
            <a:r>
              <a:rPr lang="en-US" altLang="zh-CN" sz="2400" dirty="0">
                <a:solidFill>
                  <a:srgbClr val="333399"/>
                </a:solidFill>
              </a:rPr>
              <a:t>c:=B(b</a:t>
            </a:r>
            <a:r>
              <a:rPr lang="en-US" altLang="zh-CN" sz="2400" baseline="-30000" dirty="0">
                <a:solidFill>
                  <a:srgbClr val="333399"/>
                </a:solidFill>
              </a:rPr>
              <a:t>1</a:t>
            </a:r>
            <a:r>
              <a:rPr lang="en-US" altLang="zh-CN" sz="2400" dirty="0">
                <a:solidFill>
                  <a:srgbClr val="333399"/>
                </a:solidFill>
              </a:rPr>
              <a:t>, b</a:t>
            </a:r>
            <a:r>
              <a:rPr lang="en-US" altLang="zh-CN" sz="2400" baseline="-30000" dirty="0">
                <a:solidFill>
                  <a:srgbClr val="333399"/>
                </a:solidFill>
              </a:rPr>
              <a:t>2</a:t>
            </a:r>
            <a:r>
              <a:rPr lang="en-US" altLang="zh-CN" sz="2400" dirty="0">
                <a:solidFill>
                  <a:srgbClr val="333399"/>
                </a:solidFill>
              </a:rPr>
              <a:t>, …, </a:t>
            </a:r>
            <a:r>
              <a:rPr lang="en-US" altLang="zh-CN" sz="2400" dirty="0" err="1">
                <a:solidFill>
                  <a:srgbClr val="333399"/>
                </a:solidFill>
              </a:rPr>
              <a:t>b</a:t>
            </a:r>
            <a:r>
              <a:rPr lang="en-US" altLang="zh-CN" sz="2400" baseline="-30000" dirty="0" err="1">
                <a:solidFill>
                  <a:srgbClr val="333399"/>
                </a:solidFill>
              </a:rPr>
              <a:t>k</a:t>
            </a:r>
            <a:r>
              <a:rPr lang="en-US" altLang="zh-CN" sz="2400" dirty="0">
                <a:solidFill>
                  <a:srgbClr val="333399"/>
                </a:solidFill>
              </a:rPr>
              <a:t>)</a:t>
            </a:r>
            <a:r>
              <a:rPr lang="zh-CN" altLang="en-US" sz="2400" dirty="0">
                <a:solidFill>
                  <a:srgbClr val="333399"/>
                </a:solidFill>
              </a:rPr>
              <a:t>，其中变量 </a:t>
            </a:r>
            <a:r>
              <a:rPr lang="en-US" altLang="zh-CN" sz="2400" dirty="0">
                <a:solidFill>
                  <a:srgbClr val="333399"/>
                </a:solidFill>
              </a:rPr>
              <a:t>b</a:t>
            </a:r>
            <a:r>
              <a:rPr lang="en-US" altLang="zh-CN" sz="2400" baseline="-30000" dirty="0">
                <a:solidFill>
                  <a:srgbClr val="333399"/>
                </a:solidFill>
              </a:rPr>
              <a:t>1</a:t>
            </a:r>
            <a:r>
              <a:rPr lang="en-US" altLang="zh-CN" sz="2400" dirty="0">
                <a:solidFill>
                  <a:srgbClr val="333399"/>
                </a:solidFill>
              </a:rPr>
              <a:t>, b</a:t>
            </a:r>
            <a:r>
              <a:rPr lang="en-US" altLang="zh-CN" sz="2400" baseline="-30000" dirty="0">
                <a:solidFill>
                  <a:srgbClr val="333399"/>
                </a:solidFill>
              </a:rPr>
              <a:t>2</a:t>
            </a:r>
            <a:r>
              <a:rPr lang="en-US" altLang="zh-CN" sz="2400" dirty="0">
                <a:solidFill>
                  <a:srgbClr val="333399"/>
                </a:solidFill>
              </a:rPr>
              <a:t>, …, </a:t>
            </a:r>
            <a:r>
              <a:rPr lang="en-US" altLang="zh-CN" sz="2400" dirty="0" err="1">
                <a:solidFill>
                  <a:srgbClr val="333399"/>
                </a:solidFill>
              </a:rPr>
              <a:t>b</a:t>
            </a:r>
            <a:r>
              <a:rPr lang="en-US" altLang="zh-CN" sz="2400" baseline="-30000" dirty="0" err="1">
                <a:solidFill>
                  <a:srgbClr val="333399"/>
                </a:solidFill>
              </a:rPr>
              <a:t>k</a:t>
            </a:r>
            <a:r>
              <a:rPr lang="en-US" altLang="zh-CN" sz="2400" baseline="-30000" dirty="0">
                <a:solidFill>
                  <a:srgbClr val="333399"/>
                </a:solidFill>
              </a:rPr>
              <a:t> </a:t>
            </a:r>
            <a:r>
              <a:rPr lang="zh-CN" altLang="en-US" sz="2400" dirty="0">
                <a:solidFill>
                  <a:srgbClr val="333399"/>
                </a:solidFill>
              </a:rPr>
              <a:t>对应 </a:t>
            </a:r>
            <a:r>
              <a:rPr lang="en-US" altLang="zh-CN" sz="2400" dirty="0">
                <a:solidFill>
                  <a:srgbClr val="333399"/>
                </a:solidFill>
              </a:rPr>
              <a:t>B</a:t>
            </a:r>
            <a:r>
              <a:rPr lang="zh-CN" altLang="en-US" sz="2400" dirty="0">
                <a:solidFill>
                  <a:srgbClr val="333399"/>
                </a:solidFill>
              </a:rPr>
              <a:t>的各继承属性，变量</a:t>
            </a:r>
            <a:r>
              <a:rPr lang="en-US" altLang="zh-CN" sz="2400" dirty="0">
                <a:solidFill>
                  <a:srgbClr val="333399"/>
                </a:solidFill>
              </a:rPr>
              <a:t>c</a:t>
            </a:r>
            <a:r>
              <a:rPr lang="zh-CN" altLang="en-US" sz="2400" dirty="0">
                <a:solidFill>
                  <a:srgbClr val="333399"/>
                </a:solidFill>
              </a:rPr>
              <a:t>对应</a:t>
            </a:r>
            <a:r>
              <a:rPr lang="en-US" altLang="zh-CN" sz="2400" dirty="0">
                <a:solidFill>
                  <a:srgbClr val="333399"/>
                </a:solidFill>
              </a:rPr>
              <a:t>B</a:t>
            </a:r>
            <a:r>
              <a:rPr lang="zh-CN" altLang="en-US" sz="2400" dirty="0">
                <a:solidFill>
                  <a:srgbClr val="333399"/>
                </a:solidFill>
              </a:rPr>
              <a:t>的综合属性</a:t>
            </a:r>
            <a:r>
              <a:rPr lang="zh-CN" altLang="en-US" sz="1400" dirty="0">
                <a:solidFill>
                  <a:srgbClr val="333399"/>
                </a:solidFill>
              </a:rPr>
              <a:t> </a:t>
            </a:r>
          </a:p>
          <a:p>
            <a:pPr lvl="1">
              <a:lnSpc>
                <a:spcPct val="100000"/>
              </a:lnSpc>
              <a:buFontTx/>
              <a:buChar char="•"/>
            </a:pPr>
            <a:r>
              <a:rPr lang="zh-CN" altLang="en-US" sz="2400" dirty="0"/>
              <a:t> </a:t>
            </a:r>
            <a:r>
              <a:rPr lang="zh-CN" altLang="en-US" sz="2400" dirty="0">
                <a:solidFill>
                  <a:srgbClr val="333399"/>
                </a:solidFill>
              </a:rPr>
              <a:t>对语义规则集，直接</a:t>
            </a:r>
            <a:r>
              <a:rPr lang="en-US" altLang="zh-CN" sz="2400" dirty="0">
                <a:solidFill>
                  <a:srgbClr val="333399"/>
                </a:solidFill>
                <a:ea typeface="宋体" panose="02010600030101010101" pitchFamily="2" charset="-122"/>
              </a:rPr>
              <a:t>copy</a:t>
            </a:r>
            <a:r>
              <a:rPr lang="zh-CN" altLang="en-US" sz="2400" dirty="0">
                <a:solidFill>
                  <a:srgbClr val="333399"/>
                </a:solidFill>
              </a:rPr>
              <a:t>其中每一语义规则来产生代码，只是将对属性的访问替换为对相应变量的访问。</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四、基于翻译模式的语义计算</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举例：自上而下递归下降（预测）翻译程序（</a:t>
            </a:r>
            <a:r>
              <a:rPr lang="en-US" altLang="zh-CN" dirty="0"/>
              <a:t>LL</a:t>
            </a:r>
            <a:r>
              <a:rPr lang="zh-CN" altLang="en-US" dirty="0"/>
              <a:t>（</a:t>
            </a:r>
            <a:r>
              <a:rPr lang="en-US" altLang="zh-CN" dirty="0"/>
              <a:t>1</a:t>
            </a:r>
            <a:r>
              <a:rPr lang="zh-CN" altLang="en-US" dirty="0"/>
              <a:t>）文法）</a:t>
            </a:r>
          </a:p>
        </p:txBody>
      </p:sp>
      <p:sp>
        <p:nvSpPr>
          <p:cNvPr id="3" name="标题 2"/>
          <p:cNvSpPr>
            <a:spLocks noGrp="1"/>
          </p:cNvSpPr>
          <p:nvPr>
            <p:ph type="title"/>
          </p:nvPr>
        </p:nvSpPr>
        <p:spPr/>
        <p:txBody>
          <a:bodyPr/>
          <a:lstStyle/>
          <a:p>
            <a:r>
              <a:rPr lang="zh-CN" altLang="en-US" dirty="0"/>
              <a:t>四、基于翻译模式的语义计算</a:t>
            </a:r>
          </a:p>
        </p:txBody>
      </p:sp>
      <p:sp>
        <p:nvSpPr>
          <p:cNvPr id="4" name="Text Box 25"/>
          <p:cNvSpPr txBox="1">
            <a:spLocks noChangeArrowheads="1"/>
          </p:cNvSpPr>
          <p:nvPr/>
        </p:nvSpPr>
        <p:spPr bwMode="auto">
          <a:xfrm>
            <a:off x="1404256" y="2179638"/>
            <a:ext cx="6958693" cy="3724096"/>
          </a:xfrm>
          <a:prstGeom prst="rect">
            <a:avLst/>
          </a:prstGeom>
          <a:noFill/>
          <a:ln w="9525">
            <a:noFill/>
            <a:miter lim="800000"/>
          </a:ln>
        </p:spPr>
        <p:txBody>
          <a:bodyPr wrap="square">
            <a:spAutoFit/>
          </a:bodyPr>
          <a:lstStyle/>
          <a:p>
            <a:pPr algn="l">
              <a:buClrTx/>
            </a:pPr>
            <a:r>
              <a:rPr lang="en-US" altLang="zh-CN" sz="3200" dirty="0">
                <a:solidFill>
                  <a:srgbClr val="333399"/>
                </a:solidFill>
                <a:latin typeface="Times New Roman" panose="02020603050405020304" charset="0"/>
                <a:sym typeface="Symbol" panose="05050102010706020507" pitchFamily="18" charset="2"/>
              </a:rPr>
              <a:t>N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a:t>
            </a:r>
            <a:r>
              <a:rPr lang="en-US" altLang="zh-CN" sz="3200" b="1" i="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cs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i="0"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rPr>
              <a:t>f</a:t>
            </a:r>
            <a:r>
              <a:rPr lang="en-US" altLang="zh-CN" sz="3200" i="0" dirty="0">
                <a:solidFill>
                  <a:srgbClr val="333399"/>
                </a:solidFill>
                <a:latin typeface="Times New Roman" panose="02020603050405020304" charset="0"/>
              </a:rPr>
              <a:t> : =1</a:t>
            </a:r>
            <a:r>
              <a:rPr lang="en-US" altLang="zh-CN" sz="3200" i="0" dirty="0">
                <a:solidFill>
                  <a:srgbClr val="333399"/>
                </a:solidFill>
                <a:latin typeface="Times New Roman" panose="02020603050405020304" charset="0"/>
                <a:sym typeface="Symbol" panose="05050102010706020507" pitchFamily="18" charset="2"/>
              </a:rPr>
              <a:t>}</a:t>
            </a:r>
            <a:r>
              <a:rPr lang="en-US" altLang="zh-CN" sz="3200" b="1" i="0" dirty="0">
                <a:solidFill>
                  <a:srgbClr val="333399"/>
                </a:solidFill>
                <a:latin typeface="Times New Roman" panose="02020603050405020304" charset="0"/>
                <a:sym typeface="Symbol" panose="05050102010706020507" pitchFamily="18" charset="2"/>
              </a:rPr>
              <a:t>  </a:t>
            </a:r>
            <a:r>
              <a:rPr lang="en-US" altLang="zh-CN" sz="3200" dirty="0">
                <a:solidFill>
                  <a:srgbClr val="333399"/>
                </a:solidFill>
                <a:latin typeface="Times New Roman" panose="02020603050405020304" charset="0"/>
                <a:sym typeface="Symbol" panose="05050102010706020507" pitchFamily="18" charset="2"/>
              </a:rPr>
              <a:t>S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a:solidFill>
                  <a:srgbClr val="333399"/>
                </a:solidFill>
                <a:latin typeface="Times New Roman" panose="02020603050405020304" charset="0"/>
                <a:sym typeface="Symbol" panose="05050102010706020507" pitchFamily="18" charset="2"/>
              </a:rPr>
              <a:t>p</a:t>
            </a:r>
            <a:r>
              <a:rPr lang="en-US" altLang="zh-CN" sz="3200" dirty="0">
                <a:solidFill>
                  <a:srgbClr val="333399"/>
                </a:solidFill>
                <a:latin typeface="Times New Roman" panose="02020603050405020304" charset="0"/>
              </a:rPr>
              <a:t>rint(</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i="0"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v</a:t>
            </a:r>
            <a:r>
              <a:rPr lang="en-US" altLang="zh-CN" sz="3200" dirty="0">
                <a:solidFill>
                  <a:srgbClr val="333399"/>
                </a:solidFill>
                <a:latin typeface="Times New Roman" panose="02020603050405020304" charset="0"/>
              </a:rPr>
              <a:t>)</a:t>
            </a:r>
            <a:r>
              <a:rPr lang="en-US" altLang="zh-CN" sz="2800" dirty="0">
                <a:solidFill>
                  <a:srgbClr val="333399"/>
                </a:solidFill>
                <a:latin typeface="Times New Roman" panose="02020603050405020304" charset="0"/>
              </a:rPr>
              <a:t> </a:t>
            </a:r>
            <a:r>
              <a:rPr lang="en-US" altLang="zh-CN" sz="3200" i="0" dirty="0">
                <a:solidFill>
                  <a:srgbClr val="333399"/>
                </a:solidFill>
                <a:latin typeface="Times New Roman" panose="02020603050405020304" charset="0"/>
                <a:sym typeface="Symbol" panose="05050102010706020507" pitchFamily="18" charset="2"/>
              </a:rPr>
              <a:t>}</a:t>
            </a:r>
            <a:endParaRPr lang="en-US" altLang="zh-CN" sz="3200" i="0" baseline="-25000" dirty="0">
              <a:solidFill>
                <a:srgbClr val="333399"/>
              </a:solidFill>
              <a:latin typeface="Times New Roman" panose="02020603050405020304" charset="0"/>
              <a:sym typeface="Symbol" panose="05050102010706020507" pitchFamily="18" charset="2"/>
            </a:endParaRPr>
          </a:p>
          <a:p>
            <a:pPr algn="l">
              <a:buClrTx/>
            </a:pPr>
            <a:endParaRPr lang="en-US" altLang="zh-CN" sz="1200" i="0" baseline="-25000" dirty="0">
              <a:solidFill>
                <a:srgbClr val="333399"/>
              </a:solidFill>
              <a:latin typeface="Times New Roman" panose="02020603050405020304" charset="0"/>
              <a:sym typeface="Symbol" panose="05050102010706020507" pitchFamily="18" charset="2"/>
            </a:endParaRPr>
          </a:p>
          <a:p>
            <a:pPr algn="l">
              <a:buClrTx/>
            </a:pPr>
            <a:r>
              <a:rPr lang="en-US" altLang="zh-CN" sz="3200" dirty="0">
                <a:solidFill>
                  <a:srgbClr val="333399"/>
                </a:solidFill>
                <a:latin typeface="Times New Roman" panose="02020603050405020304" charset="0"/>
                <a:sym typeface="Symbol" panose="05050102010706020507" pitchFamily="18" charset="2"/>
              </a:rPr>
              <a:t>S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charset="0"/>
                <a:sym typeface="Symbol" panose="05050102010706020507" pitchFamily="18" charset="2"/>
              </a:rPr>
              <a:t>B</a:t>
            </a:r>
            <a:r>
              <a:rPr lang="en-US" altLang="zh-CN" sz="3200" b="1" i="0"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rPr>
              <a:t>f</a:t>
            </a:r>
            <a:r>
              <a:rPr lang="en-US" altLang="zh-CN" sz="3200" i="0" dirty="0">
                <a:solidFill>
                  <a:srgbClr val="333399"/>
                </a:solidFill>
                <a:latin typeface="Times New Roman" panose="02020603050405020304" charset="0"/>
              </a:rPr>
              <a:t> : =</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f</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B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a:solidFill>
                  <a:srgbClr val="333399"/>
                </a:solidFill>
                <a:latin typeface="Times New Roman" panose="02020603050405020304" charset="0"/>
                <a:sym typeface="Symbol" panose="05050102010706020507" pitchFamily="18" charset="2"/>
              </a:rPr>
              <a:t>S</a:t>
            </a:r>
            <a:r>
              <a:rPr lang="en-US" altLang="zh-CN" sz="3200" i="0" baseline="-25000" dirty="0">
                <a:solidFill>
                  <a:srgbClr val="333399"/>
                </a:solidFill>
                <a:latin typeface="Times New Roman" panose="02020603050405020304" charset="0"/>
                <a:sym typeface="Symbol" panose="05050102010706020507" pitchFamily="18" charset="2"/>
              </a:rPr>
              <a:t>1</a:t>
            </a:r>
            <a:r>
              <a:rPr lang="en-US" altLang="zh-CN" sz="3200" b="1"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f </a:t>
            </a:r>
            <a:r>
              <a:rPr lang="en-US" altLang="zh-CN" sz="3200" i="0" dirty="0">
                <a:solidFill>
                  <a:srgbClr val="333399"/>
                </a:solidFill>
                <a:latin typeface="Times New Roman" panose="02020603050405020304" charset="0"/>
              </a:rPr>
              <a:t>:= </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f</a:t>
            </a:r>
            <a:r>
              <a:rPr lang="en-US" altLang="zh-CN" sz="3200" dirty="0">
                <a:solidFill>
                  <a:srgbClr val="333399"/>
                </a:solidFill>
                <a:latin typeface="Times New Roman" panose="02020603050405020304" charset="0"/>
                <a:sym typeface="Symbol" panose="05050102010706020507" pitchFamily="18" charset="2"/>
              </a:rPr>
              <a:t> +1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S</a:t>
            </a:r>
            <a:r>
              <a:rPr lang="en-US" altLang="zh-CN" sz="3200" i="0" baseline="-25000" dirty="0">
                <a:solidFill>
                  <a:srgbClr val="333399"/>
                </a:solidFill>
                <a:latin typeface="Times New Roman" panose="02020603050405020304" charset="0"/>
                <a:sym typeface="Symbol" panose="05050102010706020507" pitchFamily="18" charset="2"/>
              </a:rPr>
              <a:t>1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v</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rPr>
              <a:t>:= </a:t>
            </a:r>
            <a:r>
              <a:rPr lang="en-US" altLang="zh-CN" sz="3200" dirty="0">
                <a:solidFill>
                  <a:srgbClr val="333399"/>
                </a:solidFill>
                <a:latin typeface="Times New Roman" panose="02020603050405020304" charset="0"/>
                <a:sym typeface="Symbol" panose="05050102010706020507" pitchFamily="18" charset="2"/>
              </a:rPr>
              <a:t>S</a:t>
            </a:r>
            <a:r>
              <a:rPr lang="en-US" altLang="zh-CN" sz="3200" i="0" baseline="-25000" dirty="0">
                <a:solidFill>
                  <a:srgbClr val="333399"/>
                </a:solidFill>
                <a:latin typeface="Times New Roman" panose="02020603050405020304" charset="0"/>
                <a:sym typeface="Symbol" panose="05050102010706020507" pitchFamily="18" charset="2"/>
              </a:rPr>
              <a:t>1</a:t>
            </a:r>
            <a:r>
              <a:rPr lang="en-US" altLang="zh-CN" sz="3200" b="1"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v</a:t>
            </a:r>
            <a:r>
              <a:rPr lang="en-US" altLang="zh-CN" sz="3200" i="0" dirty="0">
                <a:solidFill>
                  <a:srgbClr val="333399"/>
                </a:solidFill>
                <a:latin typeface="Times New Roman" panose="02020603050405020304" charset="0"/>
              </a:rPr>
              <a:t>+</a:t>
            </a:r>
            <a:r>
              <a:rPr lang="en-US" altLang="zh-CN" sz="3200" dirty="0">
                <a:solidFill>
                  <a:srgbClr val="333399"/>
                </a:solidFill>
                <a:latin typeface="Times New Roman" panose="02020603050405020304" charset="0"/>
                <a:sym typeface="Symbol" panose="05050102010706020507" pitchFamily="18" charset="2"/>
              </a:rPr>
              <a:t>B</a:t>
            </a:r>
            <a:r>
              <a:rPr lang="en-US" altLang="zh-CN" sz="3200" b="1"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v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a:t>
            </a:r>
            <a:endParaRPr lang="en-US" altLang="zh-CN" sz="1200" baseline="-25000" dirty="0">
              <a:solidFill>
                <a:srgbClr val="333399"/>
              </a:solidFill>
              <a:latin typeface="Times New Roman" panose="02020603050405020304" charset="0"/>
              <a:sym typeface="Symbol" panose="05050102010706020507" pitchFamily="18" charset="2"/>
            </a:endParaRPr>
          </a:p>
          <a:p>
            <a:pPr algn="l">
              <a:buClrTx/>
            </a:pPr>
            <a:endParaRPr lang="en-US" altLang="zh-CN" sz="1200" dirty="0">
              <a:solidFill>
                <a:srgbClr val="333399"/>
              </a:solidFill>
              <a:latin typeface="Times New Roman" panose="02020603050405020304" charset="0"/>
              <a:sym typeface="Symbol" panose="05050102010706020507" pitchFamily="18" charset="2"/>
            </a:endParaRPr>
          </a:p>
          <a:p>
            <a:pPr algn="l">
              <a:buClrTx/>
            </a:pPr>
            <a:r>
              <a:rPr lang="en-US" altLang="zh-CN" sz="3200" dirty="0">
                <a:solidFill>
                  <a:srgbClr val="333399"/>
                </a:solidFill>
                <a:latin typeface="Times New Roman" panose="02020603050405020304" charset="0"/>
                <a:sym typeface="Symbol" panose="05050102010706020507" pitchFamily="18" charset="2"/>
              </a:rPr>
              <a:t>S </a:t>
            </a:r>
            <a:r>
              <a:rPr lang="en-US" altLang="zh-CN" sz="3200" i="0" dirty="0">
                <a:solidFill>
                  <a:srgbClr val="333399"/>
                </a:solidFill>
                <a:latin typeface="Times New Roman" panose="02020603050405020304" charset="0"/>
                <a:sym typeface="Symbol" panose="05050102010706020507" pitchFamily="18" charset="2"/>
              </a:rPr>
              <a:t></a:t>
            </a:r>
            <a:r>
              <a:rPr lang="en-US" altLang="zh-CN" sz="3200" dirty="0">
                <a:solidFill>
                  <a:srgbClr val="333399"/>
                </a:solidFill>
                <a:latin typeface="Times New Roman" panose="02020603050405020304" charset="0"/>
                <a:sym typeface="Symbol" panose="05050102010706020507" pitchFamily="18" charset="2"/>
              </a:rPr>
              <a:t> 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charset="0"/>
                <a:sym typeface="Symbol" panose="05050102010706020507" pitchFamily="18" charset="2"/>
              </a:rPr>
              <a:t>S</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v</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rPr>
              <a:t>:= </a:t>
            </a:r>
            <a:r>
              <a:rPr lang="en-US" altLang="zh-CN" sz="3200" dirty="0">
                <a:solidFill>
                  <a:srgbClr val="333399"/>
                </a:solidFill>
                <a:latin typeface="Times New Roman" panose="02020603050405020304" charset="0"/>
                <a:sym typeface="Symbol" panose="05050102010706020507" pitchFamily="18" charset="2"/>
              </a:rPr>
              <a:t>0 </a:t>
            </a:r>
            <a:r>
              <a:rPr lang="en-US" altLang="zh-CN" sz="3200" i="0" dirty="0">
                <a:solidFill>
                  <a:srgbClr val="333399"/>
                </a:solidFill>
                <a:latin typeface="Times New Roman" panose="02020603050405020304" charset="0"/>
                <a:sym typeface="Symbol" panose="05050102010706020507" pitchFamily="18" charset="2"/>
              </a:rPr>
              <a:t>}</a:t>
            </a:r>
            <a:endParaRPr lang="en-US" altLang="zh-CN" sz="3200" dirty="0">
              <a:solidFill>
                <a:srgbClr val="333399"/>
              </a:solidFill>
              <a:latin typeface="Times New Roman" panose="02020603050405020304" charset="0"/>
              <a:sym typeface="Symbol" panose="05050102010706020507" pitchFamily="18" charset="2"/>
            </a:endParaRPr>
          </a:p>
          <a:p>
            <a:pPr algn="l">
              <a:buClrTx/>
            </a:pPr>
            <a:endParaRPr kumimoji="0" lang="en-US" altLang="zh-CN" sz="1200" b="1" dirty="0">
              <a:solidFill>
                <a:srgbClr val="333399"/>
              </a:solidFill>
              <a:latin typeface="Times New Roman" panose="02020603050405020304" charset="0"/>
              <a:sym typeface="Symbol" panose="05050102010706020507" pitchFamily="18" charset="2"/>
            </a:endParaRPr>
          </a:p>
          <a:p>
            <a:pPr algn="l">
              <a:buClrTx/>
            </a:pPr>
            <a:r>
              <a:rPr lang="en-US" altLang="zh-CN" sz="3200" dirty="0">
                <a:solidFill>
                  <a:srgbClr val="333399"/>
                </a:solidFill>
                <a:latin typeface="Times New Roman" panose="02020603050405020304" charset="0"/>
                <a:sym typeface="Symbol" panose="05050102010706020507" pitchFamily="18" charset="2"/>
              </a:rPr>
              <a:t>B </a:t>
            </a:r>
            <a:r>
              <a:rPr lang="en-US" altLang="zh-CN" sz="3200" i="0" dirty="0">
                <a:solidFill>
                  <a:srgbClr val="333399"/>
                </a:solidFill>
                <a:latin typeface="Times New Roman" panose="02020603050405020304" charset="0"/>
                <a:ea typeface="华文行楷" panose="02010800040101010101" pitchFamily="2" charset="-122"/>
                <a:sym typeface="Symbol" panose="05050102010706020507" pitchFamily="18" charset="2"/>
              </a:rPr>
              <a:t> </a:t>
            </a:r>
            <a:r>
              <a:rPr lang="en-US" altLang="zh-CN" sz="3200" dirty="0">
                <a:solidFill>
                  <a:srgbClr val="333399"/>
                </a:solidFill>
                <a:latin typeface="Times New Roman" panose="02020603050405020304" charset="0"/>
                <a:ea typeface="华文行楷" panose="02010800040101010101" pitchFamily="2" charset="-122"/>
                <a:sym typeface="Symbol" panose="05050102010706020507" pitchFamily="18" charset="2"/>
              </a:rPr>
              <a:t>0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charset="0"/>
                <a:sym typeface="Symbol" panose="05050102010706020507" pitchFamily="18" charset="2"/>
              </a:rPr>
              <a:t>B</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v</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rPr>
              <a:t>:= 0 </a:t>
            </a:r>
            <a:r>
              <a:rPr lang="en-US" altLang="zh-CN" sz="3200" i="0" dirty="0">
                <a:solidFill>
                  <a:srgbClr val="333399"/>
                </a:solidFill>
                <a:latin typeface="Times New Roman" panose="02020603050405020304" charset="0"/>
                <a:sym typeface="Symbol" panose="05050102010706020507" pitchFamily="18" charset="2"/>
              </a:rPr>
              <a:t>}</a:t>
            </a:r>
            <a:endParaRPr lang="en-US" altLang="zh-CN" sz="3200" dirty="0">
              <a:solidFill>
                <a:srgbClr val="333399"/>
              </a:solidFill>
              <a:latin typeface="Times New Roman" panose="02020603050405020304" charset="0"/>
              <a:ea typeface="华文行楷" panose="02010800040101010101" pitchFamily="2" charset="-122"/>
              <a:sym typeface="Symbol" panose="05050102010706020507" pitchFamily="18" charset="2"/>
            </a:endParaRPr>
          </a:p>
          <a:p>
            <a:pPr algn="l">
              <a:buClrTx/>
            </a:pPr>
            <a:endParaRPr lang="en-US" altLang="zh-CN" sz="1200" u="sng" dirty="0">
              <a:solidFill>
                <a:srgbClr val="333399"/>
              </a:solidFill>
              <a:latin typeface="Times New Roman" panose="02020603050405020304" charset="0"/>
              <a:ea typeface="华文行楷" panose="02010800040101010101" pitchFamily="2" charset="-122"/>
              <a:sym typeface="Symbol" panose="05050102010706020507" pitchFamily="18" charset="2"/>
            </a:endParaRPr>
          </a:p>
          <a:p>
            <a:pPr algn="l">
              <a:buClrTx/>
            </a:pPr>
            <a:r>
              <a:rPr lang="en-US" altLang="zh-CN" sz="3200" dirty="0">
                <a:solidFill>
                  <a:srgbClr val="333399"/>
                </a:solidFill>
                <a:latin typeface="Times New Roman" panose="02020603050405020304" charset="0"/>
                <a:sym typeface="Symbol" panose="05050102010706020507" pitchFamily="18" charset="2"/>
              </a:rPr>
              <a:t>B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a:solidFill>
                  <a:srgbClr val="333399"/>
                </a:solidFill>
                <a:latin typeface="Times New Roman" panose="02020603050405020304" charset="0"/>
                <a:sym typeface="Symbol" panose="05050102010706020507" pitchFamily="18" charset="2"/>
              </a:rPr>
              <a:t>1  </a:t>
            </a:r>
            <a:r>
              <a:rPr lang="en-US" altLang="zh-CN" sz="3200" i="0" dirty="0">
                <a:solidFill>
                  <a:srgbClr val="333399"/>
                </a:solidFill>
                <a:latin typeface="Times New Roman" panose="02020603050405020304" charset="0"/>
                <a:sym typeface="Symbol" panose="05050102010706020507" pitchFamily="18" charset="2"/>
              </a:rPr>
              <a:t>{ </a:t>
            </a:r>
            <a:r>
              <a:rPr lang="en-US" altLang="zh-CN" sz="3200" dirty="0" err="1">
                <a:solidFill>
                  <a:srgbClr val="333399"/>
                </a:solidFill>
                <a:latin typeface="Times New Roman" panose="02020603050405020304" charset="0"/>
                <a:sym typeface="Symbol" panose="05050102010706020507" pitchFamily="18" charset="2"/>
              </a:rPr>
              <a:t>B</a:t>
            </a:r>
            <a:r>
              <a:rPr lang="en-US" altLang="zh-CN" sz="3200" b="1" dirty="0" err="1">
                <a:solidFill>
                  <a:srgbClr val="333399"/>
                </a:solidFill>
                <a:latin typeface="Times New Roman" panose="02020603050405020304" charset="0"/>
                <a:sym typeface="Symbol" panose="05050102010706020507" pitchFamily="18" charset="2"/>
              </a:rPr>
              <a:t>.</a:t>
            </a:r>
            <a:r>
              <a:rPr lang="en-US" altLang="zh-CN" sz="3200" dirty="0" err="1">
                <a:solidFill>
                  <a:srgbClr val="333399"/>
                </a:solidFill>
                <a:latin typeface="Times New Roman" panose="02020603050405020304" charset="0"/>
                <a:sym typeface="Symbol" panose="05050102010706020507" pitchFamily="18" charset="2"/>
              </a:rPr>
              <a:t>v</a:t>
            </a:r>
            <a:r>
              <a:rPr lang="en-US" altLang="zh-CN" sz="3200" dirty="0">
                <a:solidFill>
                  <a:srgbClr val="333399"/>
                </a:solidFill>
                <a:latin typeface="Times New Roman" panose="02020603050405020304" charset="0"/>
                <a:sym typeface="Symbol" panose="05050102010706020507" pitchFamily="18" charset="2"/>
              </a:rPr>
              <a:t> </a:t>
            </a:r>
            <a:r>
              <a:rPr lang="en-US" altLang="zh-CN" sz="3200" i="0" dirty="0">
                <a:solidFill>
                  <a:srgbClr val="333399"/>
                </a:solidFill>
                <a:latin typeface="Times New Roman" panose="02020603050405020304" charset="0"/>
              </a:rPr>
              <a:t>:= 2</a:t>
            </a:r>
            <a:r>
              <a:rPr lang="en-US" altLang="zh-CN" sz="3200" i="0" baseline="30000" dirty="0">
                <a:solidFill>
                  <a:srgbClr val="333399"/>
                </a:solidFill>
                <a:latin typeface="Times New Roman" panose="02020603050405020304" charset="0"/>
              </a:rPr>
              <a:t>-</a:t>
            </a:r>
            <a:r>
              <a:rPr lang="en-US" altLang="zh-CN" sz="3200" baseline="30000" dirty="0">
                <a:solidFill>
                  <a:srgbClr val="333399"/>
                </a:solidFill>
                <a:latin typeface="Times New Roman" panose="02020603050405020304" charset="0"/>
                <a:sym typeface="Symbol" panose="05050102010706020507" pitchFamily="18" charset="2"/>
              </a:rPr>
              <a:t>B</a:t>
            </a:r>
            <a:r>
              <a:rPr lang="en-US" altLang="zh-CN" sz="3200" b="1" i="0" baseline="30000" dirty="0">
                <a:solidFill>
                  <a:srgbClr val="333399"/>
                </a:solidFill>
                <a:latin typeface="Times New Roman" panose="02020603050405020304" charset="0"/>
                <a:sym typeface="Symbol" panose="05050102010706020507" pitchFamily="18" charset="2"/>
              </a:rPr>
              <a:t>.</a:t>
            </a:r>
            <a:r>
              <a:rPr lang="en-US" altLang="zh-CN" sz="3200" baseline="30000" dirty="0">
                <a:solidFill>
                  <a:srgbClr val="333399"/>
                </a:solidFill>
                <a:latin typeface="Times New Roman" panose="02020603050405020304" charset="0"/>
              </a:rPr>
              <a:t>f</a:t>
            </a:r>
            <a:r>
              <a:rPr lang="en-US" altLang="zh-CN" sz="3200" i="0" dirty="0">
                <a:solidFill>
                  <a:srgbClr val="333399"/>
                </a:solidFill>
                <a:latin typeface="Times New Roman" panose="02020603050405020304" charset="0"/>
              </a:rPr>
              <a:t> </a:t>
            </a:r>
            <a:r>
              <a:rPr lang="en-US" altLang="zh-CN" sz="3200" i="0" dirty="0">
                <a:solidFill>
                  <a:srgbClr val="333399"/>
                </a:solidFill>
                <a:latin typeface="Times New Roman" panose="02020603050405020304" charset="0"/>
                <a:sym typeface="Symbol" panose="05050102010706020507" pitchFamily="18" charset="2"/>
              </a:rPr>
              <a:t>}</a:t>
            </a:r>
          </a:p>
        </p:txBody>
      </p:sp>
      <p:sp>
        <p:nvSpPr>
          <p:cNvPr id="5" name="灯片编号占位符 4"/>
          <p:cNvSpPr>
            <a:spLocks noGrp="1"/>
          </p:cNvSpPr>
          <p:nvPr>
            <p:ph type="sldNum" sz="quarter" idx="4"/>
          </p:nvPr>
        </p:nvSpPr>
        <p:spPr/>
        <p:txBody>
          <a:bodyPr/>
          <a:lstStyle/>
          <a:p>
            <a:fld id="{565CE74E-AB26-4998-AD42-012C4C1AD076}"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四、基于翻译模式的语义计算</a:t>
            </a:r>
            <a:endParaRPr lang="zh-CN" altLang="en-US" dirty="0">
              <a:latin typeface="Times New Roman" panose="02020603050405020304" pitchFamily="18" charset="0"/>
            </a:endParaRPr>
          </a:p>
        </p:txBody>
      </p:sp>
      <p:sp>
        <p:nvSpPr>
          <p:cNvPr id="4" name="Text Box 15"/>
          <p:cNvSpPr txBox="1">
            <a:spLocks noChangeArrowheads="1"/>
          </p:cNvSpPr>
          <p:nvPr/>
        </p:nvSpPr>
        <p:spPr bwMode="auto">
          <a:xfrm>
            <a:off x="289718" y="823109"/>
            <a:ext cx="7842250" cy="2239074"/>
          </a:xfrm>
          <a:prstGeom prst="rect">
            <a:avLst/>
          </a:prstGeom>
          <a:noFill/>
          <a:ln w="9525">
            <a:noFill/>
            <a:miter lim="800000"/>
          </a:ln>
        </p:spPr>
        <p:txBody>
          <a:bodyPr>
            <a:spAutoFit/>
          </a:bodyPr>
          <a:lstStyle/>
          <a:p>
            <a:pPr algn="l">
              <a:buClrTx/>
              <a:buFont typeface="Wingdings" panose="05000000000000000000" pitchFamily="2" charset="2"/>
              <a:buChar char="²"/>
            </a:pPr>
            <a:r>
              <a:rPr lang="en-US" altLang="zh-CN" sz="3200" b="1" i="0" dirty="0">
                <a:latin typeface="Times New Roman" panose="02020603050405020304" pitchFamily="18" charset="0"/>
              </a:rPr>
              <a:t> </a:t>
            </a:r>
            <a:r>
              <a:rPr lang="zh-CN" altLang="en-US" sz="3200" b="1" i="0" dirty="0">
                <a:solidFill>
                  <a:srgbClr val="333399"/>
                </a:solidFill>
                <a:latin typeface="Times New Roman" panose="02020603050405020304" pitchFamily="18" charset="0"/>
              </a:rPr>
              <a:t>基于翻译模式的自上而下语义计算</a:t>
            </a:r>
            <a:r>
              <a:rPr lang="zh-CN" altLang="en-US" sz="3200" b="1" i="0" dirty="0">
                <a:solidFill>
                  <a:srgbClr val="FF0000"/>
                </a:solidFill>
                <a:latin typeface="Times New Roman" panose="02020603050405020304" pitchFamily="18" charset="0"/>
              </a:rPr>
              <a:t>举例</a:t>
            </a:r>
          </a:p>
          <a:p>
            <a:pPr algn="l">
              <a:buClrTx/>
            </a:pPr>
            <a:endParaRPr lang="zh-CN" altLang="en-US" sz="1050" b="1" i="0" dirty="0">
              <a:latin typeface="Times New Roman" panose="02020603050405020304" pitchFamily="18" charset="0"/>
            </a:endParaRPr>
          </a:p>
          <a:p>
            <a:pPr lvl="1" algn="l">
              <a:buClrTx/>
              <a:buFont typeface="Symbol" panose="05050102010706020507" pitchFamily="18" charset="2"/>
              <a:buChar char="-"/>
            </a:pPr>
            <a:r>
              <a:rPr lang="zh-CN" altLang="en-US" sz="3200" b="1" i="0" dirty="0">
                <a:latin typeface="Times New Roman" panose="02020603050405020304" pitchFamily="18" charset="0"/>
              </a:rPr>
              <a:t>  </a:t>
            </a:r>
            <a:r>
              <a:rPr lang="zh-CN" altLang="en-US" sz="2000" b="1" i="0" dirty="0">
                <a:solidFill>
                  <a:srgbClr val="333399"/>
                </a:solidFill>
                <a:latin typeface="Times New Roman" panose="02020603050405020304" pitchFamily="18" charset="0"/>
              </a:rPr>
              <a:t>根据产生式</a:t>
            </a:r>
          </a:p>
          <a:p>
            <a:pPr lvl="1" algn="l">
              <a:buClrTx/>
              <a:buFont typeface="Symbol" panose="05050102010706020507" pitchFamily="18" charset="2"/>
              <a:buNone/>
            </a:pPr>
            <a:endParaRPr lang="zh-CN" altLang="en-US" sz="1050" b="1" i="0" dirty="0">
              <a:solidFill>
                <a:srgbClr val="333399"/>
              </a:solidFill>
              <a:latin typeface="Times New Roman" panose="02020603050405020304" pitchFamily="18" charset="0"/>
            </a:endParaRPr>
          </a:p>
          <a:p>
            <a:pPr algn="l">
              <a:buClrTx/>
            </a:pPr>
            <a:r>
              <a:rPr lang="zh-CN" altLang="en-US" sz="2400" dirty="0">
                <a:solidFill>
                  <a:srgbClr val="333399"/>
                </a:solidFill>
                <a:latin typeface="Times New Roman" panose="02020603050405020304" pitchFamily="18" charset="0"/>
                <a:sym typeface="Symbol" panose="05050102010706020507" pitchFamily="18" charset="2"/>
              </a:rPr>
              <a:t>                      </a:t>
            </a:r>
            <a:r>
              <a:rPr lang="en-US" altLang="zh-CN" sz="2400" dirty="0">
                <a:solidFill>
                  <a:srgbClr val="333399"/>
                </a:solidFill>
                <a:latin typeface="Times New Roman" panose="02020603050405020304" pitchFamily="18" charset="0"/>
                <a:sym typeface="Symbol" panose="05050102010706020507" pitchFamily="18" charset="2"/>
              </a:rPr>
              <a:t>N </a:t>
            </a:r>
            <a:r>
              <a:rPr lang="en-US" altLang="zh-CN" sz="2400" i="0" dirty="0">
                <a:solidFill>
                  <a:srgbClr val="333399"/>
                </a:solidFill>
                <a:latin typeface="Times New Roman" panose="02020603050405020304" pitchFamily="18" charset="0"/>
                <a:sym typeface="Symbol" panose="05050102010706020507" pitchFamily="18" charset="2"/>
              </a:rPr>
              <a:t></a:t>
            </a:r>
            <a:r>
              <a:rPr lang="en-US" altLang="zh-CN" sz="2400" dirty="0">
                <a:solidFill>
                  <a:srgbClr val="333399"/>
                </a:solidFill>
                <a:latin typeface="Times New Roman" panose="02020603050405020304" pitchFamily="18" charset="0"/>
                <a:sym typeface="Symbol" panose="05050102010706020507" pitchFamily="18" charset="2"/>
              </a:rPr>
              <a:t> </a:t>
            </a:r>
            <a:r>
              <a:rPr lang="en-US" altLang="zh-CN" sz="2400" b="1" i="0" dirty="0">
                <a:solidFill>
                  <a:srgbClr val="333399"/>
                </a:solidFill>
                <a:latin typeface="Times New Roman" panose="02020603050405020304" pitchFamily="18" charset="0"/>
                <a:sym typeface="Symbol" panose="05050102010706020507" pitchFamily="18" charset="2"/>
              </a:rPr>
              <a:t>.  </a:t>
            </a:r>
            <a:r>
              <a:rPr lang="en-US" altLang="zh-CN" sz="2400" i="0" dirty="0">
                <a:solidFill>
                  <a:srgbClr val="333399"/>
                </a:solidFill>
                <a:latin typeface="Times New Roman" panose="02020603050405020304" pitchFamily="18" charset="0"/>
                <a:sym typeface="Symbol" panose="05050102010706020507" pitchFamily="18" charset="2"/>
              </a:rPr>
              <a:t>{ </a:t>
            </a:r>
            <a:r>
              <a:rPr lang="en-US" altLang="zh-CN" sz="2400" dirty="0" err="1">
                <a:solidFill>
                  <a:srgbClr val="333399"/>
                </a:solidFill>
                <a:latin typeface="Times New Roman" panose="02020603050405020304" pitchFamily="18" charset="0"/>
                <a:sym typeface="Symbol" panose="05050102010706020507" pitchFamily="18" charset="2"/>
              </a:rPr>
              <a:t>S</a:t>
            </a:r>
            <a:r>
              <a:rPr lang="en-US" altLang="zh-CN" sz="2400" b="1" i="0" dirty="0" err="1">
                <a:solidFill>
                  <a:srgbClr val="333399"/>
                </a:solidFill>
                <a:latin typeface="Times New Roman" panose="02020603050405020304" pitchFamily="18" charset="0"/>
                <a:sym typeface="Symbol" panose="05050102010706020507" pitchFamily="18" charset="2"/>
              </a:rPr>
              <a:t>.</a:t>
            </a:r>
            <a:r>
              <a:rPr lang="en-US" altLang="zh-CN" sz="2400" dirty="0" err="1">
                <a:solidFill>
                  <a:srgbClr val="333399"/>
                </a:solidFill>
                <a:latin typeface="Times New Roman" panose="02020603050405020304" pitchFamily="18" charset="0"/>
              </a:rPr>
              <a:t>f</a:t>
            </a:r>
            <a:r>
              <a:rPr lang="en-US" altLang="zh-CN" sz="2400" i="0" dirty="0">
                <a:solidFill>
                  <a:srgbClr val="333399"/>
                </a:solidFill>
                <a:latin typeface="Times New Roman" panose="02020603050405020304" pitchFamily="18" charset="0"/>
              </a:rPr>
              <a:t> : =1</a:t>
            </a:r>
            <a:r>
              <a:rPr lang="en-US" altLang="zh-CN" sz="2400" i="0" dirty="0">
                <a:solidFill>
                  <a:srgbClr val="333399"/>
                </a:solidFill>
                <a:latin typeface="Times New Roman" panose="02020603050405020304" pitchFamily="18" charset="0"/>
                <a:sym typeface="Symbol" panose="05050102010706020507" pitchFamily="18" charset="2"/>
              </a:rPr>
              <a:t>}</a:t>
            </a:r>
            <a:r>
              <a:rPr lang="en-US" altLang="zh-CN" sz="2400" b="1" i="0" dirty="0">
                <a:solidFill>
                  <a:srgbClr val="333399"/>
                </a:solidFill>
                <a:latin typeface="Times New Roman" panose="02020603050405020304" pitchFamily="18" charset="0"/>
                <a:sym typeface="Symbol" panose="05050102010706020507" pitchFamily="18" charset="2"/>
              </a:rPr>
              <a:t>  </a:t>
            </a:r>
            <a:r>
              <a:rPr lang="en-US" altLang="zh-CN" sz="2400" dirty="0">
                <a:solidFill>
                  <a:srgbClr val="333399"/>
                </a:solidFill>
                <a:latin typeface="Times New Roman" panose="02020603050405020304" pitchFamily="18" charset="0"/>
                <a:sym typeface="Symbol" panose="05050102010706020507" pitchFamily="18" charset="2"/>
              </a:rPr>
              <a:t>S  </a:t>
            </a:r>
            <a:r>
              <a:rPr lang="en-US" altLang="zh-CN" sz="2400" i="0" dirty="0">
                <a:solidFill>
                  <a:srgbClr val="333399"/>
                </a:solidFill>
                <a:latin typeface="Times New Roman" panose="02020603050405020304" pitchFamily="18" charset="0"/>
                <a:sym typeface="Symbol" panose="05050102010706020507" pitchFamily="18" charset="2"/>
              </a:rPr>
              <a:t>{ </a:t>
            </a:r>
            <a:r>
              <a:rPr lang="en-US" altLang="zh-CN" sz="2400" dirty="0">
                <a:solidFill>
                  <a:srgbClr val="333399"/>
                </a:solidFill>
                <a:latin typeface="Times New Roman" panose="02020603050405020304" pitchFamily="18" charset="0"/>
                <a:sym typeface="Symbol" panose="05050102010706020507" pitchFamily="18" charset="2"/>
              </a:rPr>
              <a:t>p</a:t>
            </a:r>
            <a:r>
              <a:rPr lang="en-US" altLang="zh-CN" sz="2400" dirty="0">
                <a:solidFill>
                  <a:srgbClr val="333399"/>
                </a:solidFill>
                <a:latin typeface="Times New Roman" panose="02020603050405020304" pitchFamily="18" charset="0"/>
              </a:rPr>
              <a:t>rint(</a:t>
            </a:r>
            <a:r>
              <a:rPr lang="en-US" altLang="zh-CN" sz="2400" dirty="0" err="1">
                <a:solidFill>
                  <a:srgbClr val="333399"/>
                </a:solidFill>
                <a:latin typeface="Times New Roman" panose="02020603050405020304" pitchFamily="18" charset="0"/>
                <a:sym typeface="Symbol" panose="05050102010706020507" pitchFamily="18" charset="2"/>
              </a:rPr>
              <a:t>S</a:t>
            </a:r>
            <a:r>
              <a:rPr lang="en-US" altLang="zh-CN" sz="2400" b="1" i="0" dirty="0" err="1">
                <a:solidFill>
                  <a:srgbClr val="333399"/>
                </a:solidFill>
                <a:latin typeface="Times New Roman" panose="02020603050405020304" pitchFamily="18" charset="0"/>
                <a:sym typeface="Symbol" panose="05050102010706020507" pitchFamily="18" charset="2"/>
              </a:rPr>
              <a:t>.</a:t>
            </a:r>
            <a:r>
              <a:rPr lang="en-US" altLang="zh-CN" sz="2400" dirty="0" err="1">
                <a:solidFill>
                  <a:srgbClr val="333399"/>
                </a:solidFill>
                <a:latin typeface="Times New Roman" panose="02020603050405020304" pitchFamily="18" charset="0"/>
                <a:sym typeface="Symbol" panose="05050102010706020507" pitchFamily="18" charset="2"/>
              </a:rPr>
              <a:t>v</a:t>
            </a:r>
            <a:r>
              <a:rPr lang="en-US" altLang="zh-CN" sz="240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rPr>
              <a:t> </a:t>
            </a:r>
            <a:r>
              <a:rPr lang="en-US" altLang="zh-CN" sz="2400" i="0" dirty="0">
                <a:solidFill>
                  <a:srgbClr val="333399"/>
                </a:solidFill>
                <a:latin typeface="Times New Roman" panose="02020603050405020304" pitchFamily="18" charset="0"/>
                <a:sym typeface="Symbol" panose="05050102010706020507" pitchFamily="18" charset="2"/>
              </a:rPr>
              <a:t>}</a:t>
            </a:r>
            <a:endParaRPr lang="en-US" altLang="zh-CN" sz="2400" i="0" baseline="-25000" dirty="0">
              <a:solidFill>
                <a:srgbClr val="333399"/>
              </a:solidFill>
              <a:latin typeface="Times New Roman" panose="02020603050405020304" pitchFamily="18" charset="0"/>
              <a:sym typeface="Symbol" panose="05050102010706020507" pitchFamily="18" charset="2"/>
            </a:endParaRPr>
          </a:p>
          <a:p>
            <a:pPr lvl="1" algn="l">
              <a:buClrTx/>
              <a:buFont typeface="Symbol" panose="05050102010706020507" pitchFamily="18" charset="2"/>
              <a:buNone/>
            </a:pPr>
            <a:endParaRPr lang="en-US" altLang="zh-CN" sz="1050" b="1" i="0" dirty="0">
              <a:solidFill>
                <a:srgbClr val="333399"/>
              </a:solidFill>
              <a:latin typeface="Times New Roman" panose="02020603050405020304" pitchFamily="18" charset="0"/>
            </a:endParaRPr>
          </a:p>
          <a:p>
            <a:pPr lvl="1" algn="l">
              <a:buClrTx/>
              <a:buFont typeface="Symbol" panose="05050102010706020507" pitchFamily="18" charset="2"/>
              <a:buNone/>
            </a:pPr>
            <a:r>
              <a:rPr lang="en-US" altLang="zh-CN" sz="2000" b="1" i="0" dirty="0">
                <a:solidFill>
                  <a:srgbClr val="333399"/>
                </a:solidFill>
                <a:latin typeface="Times New Roman" panose="02020603050405020304" pitchFamily="18" charset="0"/>
              </a:rPr>
              <a:t>     </a:t>
            </a:r>
            <a:r>
              <a:rPr lang="zh-CN" altLang="en-US" sz="2000" b="1" i="0" dirty="0">
                <a:solidFill>
                  <a:srgbClr val="333399"/>
                </a:solidFill>
                <a:latin typeface="Times New Roman" panose="02020603050405020304" pitchFamily="18" charset="0"/>
              </a:rPr>
              <a:t>对非终结符 </a:t>
            </a:r>
            <a:r>
              <a:rPr lang="en-US" altLang="zh-CN" sz="2000" dirty="0">
                <a:solidFill>
                  <a:srgbClr val="333399"/>
                </a:solidFill>
                <a:latin typeface="Times New Roman" panose="02020603050405020304" pitchFamily="18" charset="0"/>
                <a:ea typeface="宋体" panose="02010600030101010101" pitchFamily="2" charset="-122"/>
              </a:rPr>
              <a:t>N</a:t>
            </a:r>
            <a:r>
              <a:rPr lang="zh-CN" altLang="en-US" sz="2000" b="1" i="0" dirty="0">
                <a:solidFill>
                  <a:srgbClr val="333399"/>
                </a:solidFill>
                <a:latin typeface="Times New Roman" panose="02020603050405020304" pitchFamily="18" charset="0"/>
              </a:rPr>
              <a:t>，构造如下函数</a:t>
            </a:r>
          </a:p>
        </p:txBody>
      </p:sp>
      <p:sp>
        <p:nvSpPr>
          <p:cNvPr id="9" name="Rectangle 21"/>
          <p:cNvSpPr>
            <a:spLocks noChangeArrowheads="1"/>
          </p:cNvSpPr>
          <p:nvPr/>
        </p:nvSpPr>
        <p:spPr bwMode="auto">
          <a:xfrm>
            <a:off x="1025525" y="3180637"/>
            <a:ext cx="6461125" cy="2369880"/>
          </a:xfrm>
          <a:prstGeom prst="rect">
            <a:avLst/>
          </a:prstGeom>
          <a:noFill/>
          <a:ln w="9525">
            <a:noFill/>
            <a:miter lim="800000"/>
          </a:ln>
        </p:spPr>
        <p:txBody>
          <a:bodyPr>
            <a:spAutoFit/>
          </a:bodyPr>
          <a:lstStyle/>
          <a:p>
            <a:pPr algn="l"/>
            <a:r>
              <a:rPr lang="en-US" altLang="zh-CN" sz="2000" i="0" dirty="0">
                <a:solidFill>
                  <a:srgbClr val="333399"/>
                </a:solidFill>
                <a:latin typeface="Times New Roman" panose="02020603050405020304" pitchFamily="18" charset="0"/>
              </a:rPr>
              <a:t>void </a:t>
            </a:r>
            <a:r>
              <a:rPr lang="en-US" altLang="zh-CN" sz="2000" i="0" dirty="0" err="1">
                <a:solidFill>
                  <a:srgbClr val="333399"/>
                </a:solidFill>
                <a:latin typeface="Times New Roman" panose="02020603050405020304" pitchFamily="18" charset="0"/>
              </a:rPr>
              <a:t>ParseN</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    </a:t>
            </a:r>
            <a:r>
              <a:rPr lang="en-US" altLang="zh-CN" sz="2000" i="0" dirty="0" err="1">
                <a:solidFill>
                  <a:srgbClr val="333399"/>
                </a:solidFill>
                <a:latin typeface="Times New Roman" panose="02020603050405020304" pitchFamily="18" charset="0"/>
              </a:rPr>
              <a:t>MatchToken</a:t>
            </a:r>
            <a:r>
              <a:rPr lang="en-US" altLang="zh-CN" sz="2000" i="0" dirty="0">
                <a:solidFill>
                  <a:srgbClr val="333399"/>
                </a:solidFill>
                <a:latin typeface="Times New Roman" panose="02020603050405020304" pitchFamily="18" charset="0"/>
              </a:rPr>
              <a:t>(‘</a:t>
            </a:r>
            <a:r>
              <a:rPr lang="en-US" altLang="zh-CN" sz="2000" b="1" i="0" dirty="0">
                <a:solidFill>
                  <a:srgbClr val="333399"/>
                </a:solidFill>
                <a:latin typeface="Times New Roman" panose="02020603050405020304" pitchFamily="18" charset="0"/>
              </a:rPr>
              <a:t>.</a:t>
            </a:r>
            <a:r>
              <a:rPr lang="en-US" altLang="zh-CN" sz="2000" i="0" dirty="0">
                <a:solidFill>
                  <a:srgbClr val="333399"/>
                </a:solidFill>
                <a:latin typeface="Times New Roman" panose="02020603050405020304" pitchFamily="18" charset="0"/>
              </a:rPr>
              <a:t>’);       //</a:t>
            </a:r>
            <a:r>
              <a:rPr lang="zh-CN" altLang="en-US" sz="2000" b="1" i="0" dirty="0">
                <a:solidFill>
                  <a:srgbClr val="333399"/>
                </a:solidFill>
                <a:latin typeface="Times New Roman" panose="02020603050405020304" pitchFamily="18" charset="0"/>
              </a:rPr>
              <a:t>匹配</a:t>
            </a:r>
            <a:r>
              <a:rPr lang="zh-CN" altLang="en-US" sz="2000" i="0" dirty="0">
                <a:solidFill>
                  <a:srgbClr val="333399"/>
                </a:solidFill>
                <a:latin typeface="Times New Roman" panose="02020603050405020304" pitchFamily="18" charset="0"/>
              </a:rPr>
              <a:t>‘</a:t>
            </a:r>
            <a:r>
              <a:rPr lang="en-US" altLang="zh-CN" sz="2000" b="1" i="0" dirty="0">
                <a:solidFill>
                  <a:srgbClr val="333399"/>
                </a:solidFill>
                <a:latin typeface="Times New Roman" panose="02020603050405020304" pitchFamily="18" charset="0"/>
              </a:rPr>
              <a:t>.</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 =1;                     //</a:t>
            </a:r>
            <a:r>
              <a:rPr lang="zh-CN" altLang="en-US" sz="2000" b="1" i="0" dirty="0">
                <a:solidFill>
                  <a:srgbClr val="333399"/>
                </a:solidFill>
                <a:latin typeface="Times New Roman" panose="02020603050405020304" pitchFamily="18" charset="0"/>
              </a:rPr>
              <a:t>变量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dirty="0">
                <a:solidFill>
                  <a:srgbClr val="333399"/>
                </a:solidFill>
                <a:latin typeface="Times New Roman" panose="02020603050405020304" pitchFamily="18" charset="0"/>
              </a:rPr>
              <a:t>f </a:t>
            </a:r>
            <a:r>
              <a:rPr lang="zh-CN" altLang="en-US" sz="2000" b="1" i="0" dirty="0">
                <a:solidFill>
                  <a:srgbClr val="333399"/>
                </a:solidFill>
                <a:latin typeface="Times New Roman" panose="02020603050405020304" pitchFamily="18" charset="0"/>
              </a:rPr>
              <a:t>对应属性</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i="0"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rPr>
              <a:t>f</a:t>
            </a:r>
            <a:r>
              <a:rPr lang="en-US" altLang="zh-CN" sz="2400" i="0" dirty="0">
                <a:solidFill>
                  <a:srgbClr val="333399"/>
                </a:solidFill>
                <a:latin typeface="Times New Roman" panose="02020603050405020304" pitchFamily="18" charset="0"/>
              </a:rPr>
              <a:t> </a:t>
            </a:r>
            <a:endParaRPr lang="en-US" altLang="zh-CN" sz="2000" i="0" dirty="0">
              <a:solidFill>
                <a:srgbClr val="333399"/>
              </a:solidFill>
              <a:latin typeface="Times New Roman" panose="02020603050405020304" pitchFamily="18" charset="0"/>
            </a:endParaRPr>
          </a:p>
          <a:p>
            <a:pPr algn="l"/>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dirty="0" err="1">
                <a:solidFill>
                  <a:srgbClr val="333399"/>
                </a:solidFill>
                <a:latin typeface="Times New Roman" panose="02020603050405020304" pitchFamily="18" charset="0"/>
              </a:rPr>
              <a:t>v</a:t>
            </a:r>
            <a:r>
              <a:rPr lang="en-US" altLang="zh-CN" sz="2000" i="0" dirty="0">
                <a:solidFill>
                  <a:srgbClr val="333399"/>
                </a:solidFill>
                <a:latin typeface="Times New Roman" panose="02020603050405020304" pitchFamily="18" charset="0"/>
              </a:rPr>
              <a:t> : = </a:t>
            </a:r>
            <a:r>
              <a:rPr lang="en-US" altLang="zh-CN" sz="2000" i="0" dirty="0" err="1">
                <a:solidFill>
                  <a:srgbClr val="333399"/>
                </a:solidFill>
                <a:latin typeface="Times New Roman" panose="02020603050405020304" pitchFamily="18" charset="0"/>
              </a:rPr>
              <a:t>ParseS</a:t>
            </a:r>
            <a:r>
              <a:rPr lang="en-US" altLang="zh-CN" sz="2000" i="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r>
              <a:rPr lang="zh-CN" altLang="en-US" sz="2000" b="1" i="0" dirty="0">
                <a:solidFill>
                  <a:srgbClr val="333399"/>
                </a:solidFill>
                <a:latin typeface="Times New Roman" panose="02020603050405020304" pitchFamily="18" charset="0"/>
              </a:rPr>
              <a:t>变量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dirty="0" err="1">
                <a:solidFill>
                  <a:srgbClr val="333399"/>
                </a:solidFill>
                <a:latin typeface="Times New Roman" panose="02020603050405020304" pitchFamily="18" charset="0"/>
              </a:rPr>
              <a:t>v</a:t>
            </a:r>
            <a:r>
              <a:rPr lang="en-US" altLang="zh-CN" sz="2000" dirty="0">
                <a:solidFill>
                  <a:srgbClr val="333399"/>
                </a:solidFill>
                <a:latin typeface="Times New Roman" panose="02020603050405020304" pitchFamily="18" charset="0"/>
              </a:rPr>
              <a:t> </a:t>
            </a:r>
            <a:r>
              <a:rPr lang="zh-CN" altLang="en-US" sz="2000" b="1" i="0" dirty="0">
                <a:solidFill>
                  <a:srgbClr val="333399"/>
                </a:solidFill>
                <a:latin typeface="Times New Roman" panose="02020603050405020304" pitchFamily="18" charset="0"/>
              </a:rPr>
              <a:t>对应属性</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i="0"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rPr>
              <a:t>v</a:t>
            </a:r>
            <a:r>
              <a:rPr lang="en-US" altLang="zh-CN" sz="2400" i="0" dirty="0">
                <a:solidFill>
                  <a:srgbClr val="333399"/>
                </a:solidFill>
                <a:latin typeface="Times New Roman" panose="02020603050405020304" pitchFamily="18" charset="0"/>
              </a:rPr>
              <a:t> </a:t>
            </a:r>
            <a:endParaRPr lang="en-US" altLang="zh-CN" sz="2000" b="1" i="0" dirty="0">
              <a:solidFill>
                <a:srgbClr val="333399"/>
              </a:solidFill>
              <a:latin typeface="Times New Roman" panose="02020603050405020304" pitchFamily="18" charset="0"/>
            </a:endParaRPr>
          </a:p>
          <a:p>
            <a:pPr algn="l"/>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p</a:t>
            </a:r>
            <a:r>
              <a:rPr lang="en-US" altLang="zh-CN" sz="2000" dirty="0">
                <a:solidFill>
                  <a:srgbClr val="333399"/>
                </a:solidFill>
                <a:latin typeface="Times New Roman" panose="02020603050405020304" pitchFamily="18" charset="0"/>
              </a:rPr>
              <a:t>rint(</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dirty="0" err="1">
                <a:solidFill>
                  <a:srgbClr val="333399"/>
                </a:solidFill>
                <a:latin typeface="Times New Roman" panose="02020603050405020304" pitchFamily="18" charset="0"/>
              </a:rPr>
              <a:t>v</a:t>
            </a:r>
            <a:r>
              <a:rPr lang="en-US" altLang="zh-CN" sz="2000" dirty="0">
                <a:solidFill>
                  <a:srgbClr val="333399"/>
                </a:solidFill>
                <a:latin typeface="Times New Roman" panose="02020603050405020304" pitchFamily="18" charset="0"/>
              </a:rPr>
              <a:t>)</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a:t>
            </a:r>
          </a:p>
        </p:txBody>
      </p:sp>
      <p:sp>
        <p:nvSpPr>
          <p:cNvPr id="2" name="灯片编号占位符 1"/>
          <p:cNvSpPr>
            <a:spLocks noGrp="1"/>
          </p:cNvSpPr>
          <p:nvPr>
            <p:ph type="sldNum" sz="quarter" idx="4"/>
          </p:nvPr>
        </p:nvSpPr>
        <p:spPr/>
        <p:txBody>
          <a:bodyPr/>
          <a:lstStyle/>
          <a:p>
            <a:fld id="{565CE74E-AB26-4998-AD42-012C4C1AD076}" type="slidenum">
              <a:rPr lang="zh-CN" altLang="en-US" smtClean="0"/>
              <a:t>61</a:t>
            </a:fld>
            <a:endParaRPr lang="zh-CN" altLang="en-US"/>
          </a:p>
        </p:txBody>
      </p:sp>
      <p:sp>
        <p:nvSpPr>
          <p:cNvPr id="6" name="Text Box 25"/>
          <p:cNvSpPr txBox="1">
            <a:spLocks noChangeArrowheads="1"/>
          </p:cNvSpPr>
          <p:nvPr/>
        </p:nvSpPr>
        <p:spPr bwMode="auto">
          <a:xfrm>
            <a:off x="5588453" y="4973678"/>
            <a:ext cx="6958693" cy="1959511"/>
          </a:xfrm>
          <a:prstGeom prst="rect">
            <a:avLst/>
          </a:prstGeom>
          <a:noFill/>
          <a:ln w="9525">
            <a:noFill/>
            <a:miter lim="800000"/>
          </a:ln>
        </p:spPr>
        <p:txBody>
          <a:bodyPr wrap="square">
            <a:spAutoFit/>
          </a:bodyPr>
          <a:lstStyle/>
          <a:p>
            <a:pPr algn="l">
              <a:lnSpc>
                <a:spcPts val="1600"/>
              </a:lnSpc>
              <a:buClrTx/>
            </a:pPr>
            <a:r>
              <a:rPr lang="en-US" altLang="zh-CN" sz="1400" dirty="0">
                <a:solidFill>
                  <a:srgbClr val="333399"/>
                </a:solidFill>
                <a:latin typeface="Times New Roman" panose="02020603050405020304" charset="0"/>
                <a:sym typeface="Symbol" panose="05050102010706020507" pitchFamily="18" charset="2"/>
              </a:rPr>
              <a:t>N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a:t>
            </a:r>
            <a:r>
              <a:rPr lang="en-US" altLang="zh-CN" sz="1400" b="1" i="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cs typeface="Times New Roman" panose="02020603050405020304" charset="0"/>
                <a:sym typeface="Symbol" panose="05050102010706020507" pitchFamily="18" charset="2"/>
              </a:rPr>
              <a:t>{ </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i="0"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rPr>
              <a:t>f</a:t>
            </a:r>
            <a:r>
              <a:rPr lang="en-US" altLang="zh-CN" sz="1400" i="0" dirty="0">
                <a:solidFill>
                  <a:srgbClr val="333399"/>
                </a:solidFill>
                <a:latin typeface="Times New Roman" panose="02020603050405020304" charset="0"/>
              </a:rPr>
              <a:t> : =1</a:t>
            </a:r>
            <a:r>
              <a:rPr lang="en-US" altLang="zh-CN" sz="1400" i="0" dirty="0">
                <a:solidFill>
                  <a:srgbClr val="333399"/>
                </a:solidFill>
                <a:latin typeface="Times New Roman" panose="02020603050405020304" charset="0"/>
                <a:sym typeface="Symbol" panose="05050102010706020507" pitchFamily="18" charset="2"/>
              </a:rPr>
              <a:t>}</a:t>
            </a:r>
            <a:r>
              <a:rPr lang="en-US" altLang="zh-CN" sz="1400" b="1" i="0" dirty="0">
                <a:solidFill>
                  <a:srgbClr val="333399"/>
                </a:solidFill>
                <a:latin typeface="Times New Roman" panose="02020603050405020304" charset="0"/>
                <a:sym typeface="Symbol" panose="05050102010706020507" pitchFamily="18" charset="2"/>
              </a:rPr>
              <a:t>  </a:t>
            </a:r>
            <a:r>
              <a:rPr lang="en-US" altLang="zh-CN" sz="1400" dirty="0">
                <a:solidFill>
                  <a:srgbClr val="333399"/>
                </a:solidFill>
                <a:latin typeface="Times New Roman" panose="02020603050405020304" charset="0"/>
                <a:sym typeface="Symbol" panose="05050102010706020507" pitchFamily="18" charset="2"/>
              </a:rPr>
              <a:t>S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a:solidFill>
                  <a:srgbClr val="333399"/>
                </a:solidFill>
                <a:latin typeface="Times New Roman" panose="02020603050405020304" charset="0"/>
                <a:sym typeface="Symbol" panose="05050102010706020507" pitchFamily="18" charset="2"/>
              </a:rPr>
              <a:t>p</a:t>
            </a:r>
            <a:r>
              <a:rPr lang="en-US" altLang="zh-CN" sz="1400" dirty="0">
                <a:solidFill>
                  <a:srgbClr val="333399"/>
                </a:solidFill>
                <a:latin typeface="Times New Roman" panose="02020603050405020304" charset="0"/>
              </a:rPr>
              <a:t>rint(</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i="0"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v</a:t>
            </a:r>
            <a:r>
              <a:rPr lang="en-US" altLang="zh-CN" sz="1400" dirty="0">
                <a:solidFill>
                  <a:srgbClr val="333399"/>
                </a:solidFill>
                <a:latin typeface="Times New Roman" panose="02020603050405020304" charset="0"/>
              </a:rPr>
              <a:t>) </a:t>
            </a:r>
            <a:r>
              <a:rPr lang="en-US" altLang="zh-CN" sz="1400" i="0" dirty="0">
                <a:solidFill>
                  <a:srgbClr val="333399"/>
                </a:solidFill>
                <a:latin typeface="Times New Roman" panose="02020603050405020304" charset="0"/>
                <a:sym typeface="Symbol" panose="05050102010706020507" pitchFamily="18" charset="2"/>
              </a:rPr>
              <a:t>}</a:t>
            </a:r>
            <a:endParaRPr lang="en-US" altLang="zh-CN" sz="1400" i="0" baseline="-25000" dirty="0">
              <a:solidFill>
                <a:srgbClr val="333399"/>
              </a:solidFill>
              <a:latin typeface="Times New Roman" panose="02020603050405020304" charset="0"/>
              <a:sym typeface="Symbol" panose="05050102010706020507" pitchFamily="18" charset="2"/>
            </a:endParaRPr>
          </a:p>
          <a:p>
            <a:pPr algn="l">
              <a:lnSpc>
                <a:spcPts val="1600"/>
              </a:lnSpc>
              <a:buClrTx/>
            </a:pPr>
            <a:endParaRPr lang="en-US" altLang="zh-CN" sz="1400" i="0" baseline="-25000" dirty="0">
              <a:solidFill>
                <a:srgbClr val="333399"/>
              </a:solidFill>
              <a:latin typeface="Times New Roman" panose="02020603050405020304" charset="0"/>
              <a:sym typeface="Symbol" panose="05050102010706020507" pitchFamily="18" charset="2"/>
            </a:endParaRPr>
          </a:p>
          <a:p>
            <a:pPr algn="l">
              <a:lnSpc>
                <a:spcPts val="1600"/>
              </a:lnSpc>
              <a:buClrTx/>
            </a:pPr>
            <a:r>
              <a:rPr lang="en-US" altLang="zh-CN" sz="1400" dirty="0">
                <a:solidFill>
                  <a:srgbClr val="333399"/>
                </a:solidFill>
                <a:latin typeface="Times New Roman" panose="02020603050405020304" charset="0"/>
                <a:sym typeface="Symbol" panose="05050102010706020507" pitchFamily="18" charset="2"/>
              </a:rPr>
              <a:t>S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err="1">
                <a:solidFill>
                  <a:srgbClr val="333399"/>
                </a:solidFill>
                <a:latin typeface="Times New Roman" panose="02020603050405020304" charset="0"/>
                <a:sym typeface="Symbol" panose="05050102010706020507" pitchFamily="18" charset="2"/>
              </a:rPr>
              <a:t>B</a:t>
            </a:r>
            <a:r>
              <a:rPr lang="en-US" altLang="zh-CN" sz="1400" b="1" i="0"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rPr>
              <a:t>f</a:t>
            </a:r>
            <a:r>
              <a:rPr lang="en-US" altLang="zh-CN" sz="1400" i="0" dirty="0">
                <a:solidFill>
                  <a:srgbClr val="333399"/>
                </a:solidFill>
                <a:latin typeface="Times New Roman" panose="02020603050405020304" charset="0"/>
              </a:rPr>
              <a:t> : =</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f</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B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a:solidFill>
                  <a:srgbClr val="333399"/>
                </a:solidFill>
                <a:latin typeface="Times New Roman" panose="02020603050405020304" charset="0"/>
                <a:sym typeface="Symbol" panose="05050102010706020507" pitchFamily="18" charset="2"/>
              </a:rPr>
              <a:t>S</a:t>
            </a:r>
            <a:r>
              <a:rPr lang="en-US" altLang="zh-CN" sz="1400" i="0" baseline="-25000" dirty="0">
                <a:solidFill>
                  <a:srgbClr val="333399"/>
                </a:solidFill>
                <a:latin typeface="Times New Roman" panose="02020603050405020304" charset="0"/>
                <a:sym typeface="Symbol" panose="05050102010706020507" pitchFamily="18" charset="2"/>
              </a:rPr>
              <a:t>1</a:t>
            </a:r>
            <a:r>
              <a:rPr lang="en-US" altLang="zh-CN" sz="1400" b="1"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f </a:t>
            </a:r>
            <a:r>
              <a:rPr lang="en-US" altLang="zh-CN" sz="1400" i="0" dirty="0">
                <a:solidFill>
                  <a:srgbClr val="333399"/>
                </a:solidFill>
                <a:latin typeface="Times New Roman" panose="02020603050405020304" charset="0"/>
              </a:rPr>
              <a:t>:= </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f</a:t>
            </a:r>
            <a:r>
              <a:rPr lang="en-US" altLang="zh-CN" sz="1400" dirty="0">
                <a:solidFill>
                  <a:srgbClr val="333399"/>
                </a:solidFill>
                <a:latin typeface="Times New Roman" panose="02020603050405020304" charset="0"/>
                <a:sym typeface="Symbol" panose="05050102010706020507" pitchFamily="18" charset="2"/>
              </a:rPr>
              <a:t> +1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S</a:t>
            </a:r>
            <a:r>
              <a:rPr lang="en-US" altLang="zh-CN" sz="1400" i="0" baseline="-25000" dirty="0">
                <a:solidFill>
                  <a:srgbClr val="333399"/>
                </a:solidFill>
                <a:latin typeface="Times New Roman" panose="02020603050405020304" charset="0"/>
                <a:sym typeface="Symbol" panose="05050102010706020507" pitchFamily="18" charset="2"/>
              </a:rPr>
              <a:t>1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v</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rPr>
              <a:t>:= </a:t>
            </a:r>
            <a:r>
              <a:rPr lang="en-US" altLang="zh-CN" sz="1400" dirty="0">
                <a:solidFill>
                  <a:srgbClr val="333399"/>
                </a:solidFill>
                <a:latin typeface="Times New Roman" panose="02020603050405020304" charset="0"/>
                <a:sym typeface="Symbol" panose="05050102010706020507" pitchFamily="18" charset="2"/>
              </a:rPr>
              <a:t>S</a:t>
            </a:r>
            <a:r>
              <a:rPr lang="en-US" altLang="zh-CN" sz="1400" i="0" baseline="-25000" dirty="0">
                <a:solidFill>
                  <a:srgbClr val="333399"/>
                </a:solidFill>
                <a:latin typeface="Times New Roman" panose="02020603050405020304" charset="0"/>
                <a:sym typeface="Symbol" panose="05050102010706020507" pitchFamily="18" charset="2"/>
              </a:rPr>
              <a:t>1</a:t>
            </a:r>
            <a:r>
              <a:rPr lang="en-US" altLang="zh-CN" sz="1400" b="1"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v</a:t>
            </a:r>
            <a:r>
              <a:rPr lang="en-US" altLang="zh-CN" sz="1400" i="0" dirty="0">
                <a:solidFill>
                  <a:srgbClr val="333399"/>
                </a:solidFill>
                <a:latin typeface="Times New Roman" panose="02020603050405020304" charset="0"/>
              </a:rPr>
              <a:t>+</a:t>
            </a:r>
            <a:r>
              <a:rPr lang="en-US" altLang="zh-CN" sz="1400" dirty="0">
                <a:solidFill>
                  <a:srgbClr val="333399"/>
                </a:solidFill>
                <a:latin typeface="Times New Roman" panose="02020603050405020304" charset="0"/>
                <a:sym typeface="Symbol" panose="05050102010706020507" pitchFamily="18" charset="2"/>
              </a:rPr>
              <a:t>B</a:t>
            </a:r>
            <a:r>
              <a:rPr lang="en-US" altLang="zh-CN" sz="1400" b="1"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v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a:t>
            </a:r>
            <a:endParaRPr lang="en-US" altLang="zh-CN" sz="1400" baseline="-25000" dirty="0">
              <a:solidFill>
                <a:srgbClr val="333399"/>
              </a:solidFill>
              <a:latin typeface="Times New Roman" panose="02020603050405020304" charset="0"/>
              <a:sym typeface="Symbol" panose="05050102010706020507" pitchFamily="18" charset="2"/>
            </a:endParaRPr>
          </a:p>
          <a:p>
            <a:pPr algn="l">
              <a:lnSpc>
                <a:spcPts val="1600"/>
              </a:lnSpc>
              <a:buClrTx/>
            </a:pPr>
            <a:endParaRPr lang="en-US" altLang="zh-CN" sz="1400" dirty="0">
              <a:solidFill>
                <a:srgbClr val="333399"/>
              </a:solidFill>
              <a:latin typeface="Times New Roman" panose="02020603050405020304" charset="0"/>
              <a:sym typeface="Symbol" panose="05050102010706020507" pitchFamily="18" charset="2"/>
            </a:endParaRPr>
          </a:p>
          <a:p>
            <a:pPr algn="l">
              <a:lnSpc>
                <a:spcPts val="1600"/>
              </a:lnSpc>
              <a:buClrTx/>
            </a:pPr>
            <a:r>
              <a:rPr lang="en-US" altLang="zh-CN" sz="1400" dirty="0">
                <a:solidFill>
                  <a:srgbClr val="333399"/>
                </a:solidFill>
                <a:latin typeface="Times New Roman" panose="02020603050405020304" charset="0"/>
                <a:sym typeface="Symbol" panose="05050102010706020507" pitchFamily="18" charset="2"/>
              </a:rPr>
              <a:t>S </a:t>
            </a:r>
            <a:r>
              <a:rPr lang="en-US" altLang="zh-CN" sz="1400" i="0" dirty="0">
                <a:solidFill>
                  <a:srgbClr val="333399"/>
                </a:solidFill>
                <a:latin typeface="Times New Roman" panose="02020603050405020304" charset="0"/>
                <a:sym typeface="Symbol" panose="05050102010706020507" pitchFamily="18" charset="2"/>
              </a:rPr>
              <a:t></a:t>
            </a:r>
            <a:r>
              <a:rPr lang="en-US" altLang="zh-CN" sz="1400" dirty="0">
                <a:solidFill>
                  <a:srgbClr val="333399"/>
                </a:solidFill>
                <a:latin typeface="Times New Roman" panose="02020603050405020304" charset="0"/>
                <a:sym typeface="Symbol" panose="05050102010706020507" pitchFamily="18" charset="2"/>
              </a:rPr>
              <a:t> 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err="1">
                <a:solidFill>
                  <a:srgbClr val="333399"/>
                </a:solidFill>
                <a:latin typeface="Times New Roman" panose="02020603050405020304" charset="0"/>
                <a:sym typeface="Symbol" panose="05050102010706020507" pitchFamily="18" charset="2"/>
              </a:rPr>
              <a:t>S</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v</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rPr>
              <a:t>:= </a:t>
            </a:r>
            <a:r>
              <a:rPr lang="en-US" altLang="zh-CN" sz="1400" dirty="0">
                <a:solidFill>
                  <a:srgbClr val="333399"/>
                </a:solidFill>
                <a:latin typeface="Times New Roman" panose="02020603050405020304" charset="0"/>
                <a:sym typeface="Symbol" panose="05050102010706020507" pitchFamily="18" charset="2"/>
              </a:rPr>
              <a:t>0 </a:t>
            </a:r>
            <a:r>
              <a:rPr lang="en-US" altLang="zh-CN" sz="1400" i="0" dirty="0">
                <a:solidFill>
                  <a:srgbClr val="333399"/>
                </a:solidFill>
                <a:latin typeface="Times New Roman" panose="02020603050405020304" charset="0"/>
                <a:sym typeface="Symbol" panose="05050102010706020507" pitchFamily="18" charset="2"/>
              </a:rPr>
              <a:t>}</a:t>
            </a:r>
            <a:endParaRPr lang="en-US" altLang="zh-CN" sz="1400" dirty="0">
              <a:solidFill>
                <a:srgbClr val="333399"/>
              </a:solidFill>
              <a:latin typeface="Times New Roman" panose="02020603050405020304" charset="0"/>
              <a:sym typeface="Symbol" panose="05050102010706020507" pitchFamily="18" charset="2"/>
            </a:endParaRPr>
          </a:p>
          <a:p>
            <a:pPr algn="l">
              <a:lnSpc>
                <a:spcPts val="1600"/>
              </a:lnSpc>
              <a:buClrTx/>
            </a:pPr>
            <a:endParaRPr kumimoji="0" lang="en-US" altLang="zh-CN" sz="1400" b="1" dirty="0">
              <a:solidFill>
                <a:srgbClr val="333399"/>
              </a:solidFill>
              <a:latin typeface="Times New Roman" panose="02020603050405020304" charset="0"/>
              <a:sym typeface="Symbol" panose="05050102010706020507" pitchFamily="18" charset="2"/>
            </a:endParaRPr>
          </a:p>
          <a:p>
            <a:pPr algn="l">
              <a:lnSpc>
                <a:spcPts val="1600"/>
              </a:lnSpc>
              <a:buClrTx/>
            </a:pPr>
            <a:r>
              <a:rPr lang="en-US" altLang="zh-CN" sz="1400" dirty="0">
                <a:solidFill>
                  <a:srgbClr val="333399"/>
                </a:solidFill>
                <a:latin typeface="Times New Roman" panose="02020603050405020304" charset="0"/>
                <a:sym typeface="Symbol" panose="05050102010706020507" pitchFamily="18" charset="2"/>
              </a:rPr>
              <a:t>B </a:t>
            </a:r>
            <a:r>
              <a:rPr lang="en-US" altLang="zh-CN" sz="1400" i="0" dirty="0">
                <a:solidFill>
                  <a:srgbClr val="333399"/>
                </a:solidFill>
                <a:latin typeface="Times New Roman" panose="02020603050405020304" charset="0"/>
                <a:ea typeface="华文行楷" panose="02010800040101010101" pitchFamily="2" charset="-122"/>
                <a:sym typeface="Symbol" panose="05050102010706020507" pitchFamily="18" charset="2"/>
              </a:rPr>
              <a:t> </a:t>
            </a:r>
            <a:r>
              <a:rPr lang="en-US" altLang="zh-CN" sz="1400" dirty="0">
                <a:solidFill>
                  <a:srgbClr val="333399"/>
                </a:solidFill>
                <a:latin typeface="Times New Roman" panose="02020603050405020304" charset="0"/>
                <a:ea typeface="华文行楷" panose="02010800040101010101" pitchFamily="2" charset="-122"/>
                <a:sym typeface="Symbol" panose="05050102010706020507" pitchFamily="18" charset="2"/>
              </a:rPr>
              <a:t>0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err="1">
                <a:solidFill>
                  <a:srgbClr val="333399"/>
                </a:solidFill>
                <a:latin typeface="Times New Roman" panose="02020603050405020304" charset="0"/>
                <a:sym typeface="Symbol" panose="05050102010706020507" pitchFamily="18" charset="2"/>
              </a:rPr>
              <a:t>B</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v</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rPr>
              <a:t>:= 0 </a:t>
            </a:r>
            <a:r>
              <a:rPr lang="en-US" altLang="zh-CN" sz="1400" i="0" dirty="0">
                <a:solidFill>
                  <a:srgbClr val="333399"/>
                </a:solidFill>
                <a:latin typeface="Times New Roman" panose="02020603050405020304" charset="0"/>
                <a:sym typeface="Symbol" panose="05050102010706020507" pitchFamily="18" charset="2"/>
              </a:rPr>
              <a:t>}</a:t>
            </a:r>
            <a:endParaRPr lang="en-US" altLang="zh-CN" sz="1400" dirty="0">
              <a:solidFill>
                <a:srgbClr val="333399"/>
              </a:solidFill>
              <a:latin typeface="Times New Roman" panose="02020603050405020304" charset="0"/>
              <a:ea typeface="华文行楷" panose="02010800040101010101" pitchFamily="2" charset="-122"/>
              <a:sym typeface="Symbol" panose="05050102010706020507" pitchFamily="18" charset="2"/>
            </a:endParaRPr>
          </a:p>
          <a:p>
            <a:pPr algn="l">
              <a:lnSpc>
                <a:spcPts val="1600"/>
              </a:lnSpc>
              <a:buClrTx/>
            </a:pPr>
            <a:endParaRPr lang="en-US" altLang="zh-CN" sz="1400" u="sng" dirty="0">
              <a:solidFill>
                <a:srgbClr val="333399"/>
              </a:solidFill>
              <a:latin typeface="Times New Roman" panose="02020603050405020304" charset="0"/>
              <a:ea typeface="华文行楷" panose="02010800040101010101" pitchFamily="2" charset="-122"/>
              <a:sym typeface="Symbol" panose="05050102010706020507" pitchFamily="18" charset="2"/>
            </a:endParaRPr>
          </a:p>
          <a:p>
            <a:pPr algn="l">
              <a:lnSpc>
                <a:spcPts val="1600"/>
              </a:lnSpc>
              <a:buClrTx/>
            </a:pPr>
            <a:r>
              <a:rPr lang="en-US" altLang="zh-CN" sz="1400" dirty="0">
                <a:solidFill>
                  <a:srgbClr val="333399"/>
                </a:solidFill>
                <a:latin typeface="Times New Roman" panose="02020603050405020304" charset="0"/>
                <a:sym typeface="Symbol" panose="05050102010706020507" pitchFamily="18" charset="2"/>
              </a:rPr>
              <a:t>B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a:solidFill>
                  <a:srgbClr val="333399"/>
                </a:solidFill>
                <a:latin typeface="Times New Roman" panose="02020603050405020304" charset="0"/>
                <a:sym typeface="Symbol" panose="05050102010706020507" pitchFamily="18" charset="2"/>
              </a:rPr>
              <a:t>1  </a:t>
            </a:r>
            <a:r>
              <a:rPr lang="en-US" altLang="zh-CN" sz="1400" i="0" dirty="0">
                <a:solidFill>
                  <a:srgbClr val="333399"/>
                </a:solidFill>
                <a:latin typeface="Times New Roman" panose="02020603050405020304" charset="0"/>
                <a:sym typeface="Symbol" panose="05050102010706020507" pitchFamily="18" charset="2"/>
              </a:rPr>
              <a:t>{ </a:t>
            </a:r>
            <a:r>
              <a:rPr lang="en-US" altLang="zh-CN" sz="1400" dirty="0" err="1">
                <a:solidFill>
                  <a:srgbClr val="333399"/>
                </a:solidFill>
                <a:latin typeface="Times New Roman" panose="02020603050405020304" charset="0"/>
                <a:sym typeface="Symbol" panose="05050102010706020507" pitchFamily="18" charset="2"/>
              </a:rPr>
              <a:t>B</a:t>
            </a:r>
            <a:r>
              <a:rPr lang="en-US" altLang="zh-CN" sz="1400" b="1" dirty="0" err="1">
                <a:solidFill>
                  <a:srgbClr val="333399"/>
                </a:solidFill>
                <a:latin typeface="Times New Roman" panose="02020603050405020304" charset="0"/>
                <a:sym typeface="Symbol" panose="05050102010706020507" pitchFamily="18" charset="2"/>
              </a:rPr>
              <a:t>.</a:t>
            </a:r>
            <a:r>
              <a:rPr lang="en-US" altLang="zh-CN" sz="1400" dirty="0" err="1">
                <a:solidFill>
                  <a:srgbClr val="333399"/>
                </a:solidFill>
                <a:latin typeface="Times New Roman" panose="02020603050405020304" charset="0"/>
                <a:sym typeface="Symbol" panose="05050102010706020507" pitchFamily="18" charset="2"/>
              </a:rPr>
              <a:t>v</a:t>
            </a:r>
            <a:r>
              <a:rPr lang="en-US" altLang="zh-CN" sz="1400" dirty="0">
                <a:solidFill>
                  <a:srgbClr val="333399"/>
                </a:solidFill>
                <a:latin typeface="Times New Roman" panose="02020603050405020304" charset="0"/>
                <a:sym typeface="Symbol" panose="05050102010706020507" pitchFamily="18" charset="2"/>
              </a:rPr>
              <a:t> </a:t>
            </a:r>
            <a:r>
              <a:rPr lang="en-US" altLang="zh-CN" sz="1400" i="0" dirty="0">
                <a:solidFill>
                  <a:srgbClr val="333399"/>
                </a:solidFill>
                <a:latin typeface="Times New Roman" panose="02020603050405020304" charset="0"/>
              </a:rPr>
              <a:t>:= 2</a:t>
            </a:r>
            <a:r>
              <a:rPr lang="en-US" altLang="zh-CN" sz="1400" i="0" baseline="30000" dirty="0">
                <a:solidFill>
                  <a:srgbClr val="333399"/>
                </a:solidFill>
                <a:latin typeface="Times New Roman" panose="02020603050405020304" charset="0"/>
              </a:rPr>
              <a:t>-</a:t>
            </a:r>
            <a:r>
              <a:rPr lang="en-US" altLang="zh-CN" sz="1400" baseline="30000" dirty="0">
                <a:solidFill>
                  <a:srgbClr val="333399"/>
                </a:solidFill>
                <a:latin typeface="Times New Roman" panose="02020603050405020304" charset="0"/>
                <a:sym typeface="Symbol" panose="05050102010706020507" pitchFamily="18" charset="2"/>
              </a:rPr>
              <a:t>B</a:t>
            </a:r>
            <a:r>
              <a:rPr lang="en-US" altLang="zh-CN" sz="1400" b="1" i="0" baseline="30000" dirty="0">
                <a:solidFill>
                  <a:srgbClr val="333399"/>
                </a:solidFill>
                <a:latin typeface="Times New Roman" panose="02020603050405020304" charset="0"/>
                <a:sym typeface="Symbol" panose="05050102010706020507" pitchFamily="18" charset="2"/>
              </a:rPr>
              <a:t>.</a:t>
            </a:r>
            <a:r>
              <a:rPr lang="en-US" altLang="zh-CN" sz="1400" baseline="30000" dirty="0">
                <a:solidFill>
                  <a:srgbClr val="333399"/>
                </a:solidFill>
                <a:latin typeface="Times New Roman" panose="02020603050405020304" charset="0"/>
              </a:rPr>
              <a:t>f</a:t>
            </a:r>
            <a:r>
              <a:rPr lang="en-US" altLang="zh-CN" sz="1400" i="0" dirty="0">
                <a:solidFill>
                  <a:srgbClr val="333399"/>
                </a:solidFill>
                <a:latin typeface="Times New Roman" panose="02020603050405020304" charset="0"/>
              </a:rPr>
              <a:t> </a:t>
            </a:r>
            <a:r>
              <a:rPr lang="en-US" altLang="zh-CN" sz="1400" i="0" dirty="0">
                <a:solidFill>
                  <a:srgbClr val="333399"/>
                </a:solidFill>
                <a:latin typeface="Times New Roman" panose="02020603050405020304" charset="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四、基于翻译模式的语义计算</a:t>
            </a:r>
            <a:endParaRPr lang="zh-CN" altLang="en-US" dirty="0">
              <a:latin typeface="Times New Roman" panose="02020603050405020304" pitchFamily="18" charset="0"/>
            </a:endParaRPr>
          </a:p>
        </p:txBody>
      </p:sp>
      <p:sp>
        <p:nvSpPr>
          <p:cNvPr id="4" name="Text Box 20"/>
          <p:cNvSpPr txBox="1">
            <a:spLocks noChangeArrowheads="1"/>
          </p:cNvSpPr>
          <p:nvPr/>
        </p:nvSpPr>
        <p:spPr bwMode="auto">
          <a:xfrm>
            <a:off x="768350" y="1050925"/>
            <a:ext cx="8070850" cy="2287588"/>
          </a:xfrm>
          <a:prstGeom prst="rect">
            <a:avLst/>
          </a:prstGeom>
          <a:noFill/>
          <a:ln w="9525">
            <a:noFill/>
            <a:miter lim="800000"/>
          </a:ln>
        </p:spPr>
        <p:txBody>
          <a:bodyPr>
            <a:spAutoFit/>
          </a:bodyPr>
          <a:lstStyle/>
          <a:p>
            <a:pPr algn="l">
              <a:buClrTx/>
              <a:buFont typeface="Wingdings" panose="05000000000000000000" pitchFamily="2" charset="2"/>
              <a:buChar char="²"/>
            </a:pPr>
            <a:r>
              <a:rPr lang="en-US" altLang="zh-CN" sz="2800" b="1" i="0" dirty="0">
                <a:latin typeface="Times New Roman" panose="02020603050405020304" pitchFamily="18" charset="0"/>
              </a:rPr>
              <a:t> </a:t>
            </a:r>
            <a:r>
              <a:rPr lang="zh-CN" altLang="en-US" sz="2800" b="1" i="0" dirty="0">
                <a:solidFill>
                  <a:srgbClr val="333399"/>
                </a:solidFill>
                <a:latin typeface="Times New Roman" panose="02020603050405020304" pitchFamily="18" charset="0"/>
              </a:rPr>
              <a:t>基于翻译模式的自上而下语义计算</a:t>
            </a:r>
            <a:r>
              <a:rPr lang="zh-CN" altLang="en-US" sz="2800" b="1" i="0" dirty="0">
                <a:solidFill>
                  <a:srgbClr val="FF0000"/>
                </a:solidFill>
                <a:latin typeface="Times New Roman" panose="02020603050405020304" pitchFamily="18" charset="0"/>
              </a:rPr>
              <a:t>举例</a:t>
            </a:r>
          </a:p>
          <a:p>
            <a:pPr algn="l">
              <a:buClrTx/>
            </a:pPr>
            <a:endParaRPr lang="zh-CN" altLang="en-US" sz="800" b="1" i="0" dirty="0">
              <a:latin typeface="Times New Roman" panose="02020603050405020304" pitchFamily="18" charset="0"/>
            </a:endParaRPr>
          </a:p>
          <a:p>
            <a:pPr lvl="1" algn="l">
              <a:buClrTx/>
              <a:buFont typeface="Symbol" panose="05050102010706020507" pitchFamily="18" charset="2"/>
              <a:buChar char="-"/>
            </a:pPr>
            <a:r>
              <a:rPr lang="zh-CN" altLang="en-US" sz="2800" b="1" i="0" dirty="0">
                <a:latin typeface="Times New Roman" panose="02020603050405020304" pitchFamily="18" charset="0"/>
              </a:rPr>
              <a:t>  </a:t>
            </a:r>
            <a:r>
              <a:rPr lang="zh-CN" altLang="en-US" b="1" i="0" dirty="0">
                <a:solidFill>
                  <a:srgbClr val="333399"/>
                </a:solidFill>
                <a:latin typeface="Times New Roman" panose="02020603050405020304" pitchFamily="18" charset="0"/>
              </a:rPr>
              <a:t>根据产生式</a:t>
            </a:r>
          </a:p>
          <a:p>
            <a:pPr lvl="1" algn="l">
              <a:buClrTx/>
              <a:buFont typeface="Symbol" panose="05050102010706020507" pitchFamily="18" charset="2"/>
              <a:buNone/>
            </a:pPr>
            <a:endParaRPr lang="zh-CN" altLang="en-US" sz="800" b="1" i="0" dirty="0">
              <a:solidFill>
                <a:srgbClr val="333399"/>
              </a:solidFill>
              <a:latin typeface="Times New Roman" panose="02020603050405020304" pitchFamily="18" charset="0"/>
            </a:endParaRPr>
          </a:p>
          <a:p>
            <a:pPr algn="l">
              <a:buClrTx/>
            </a:pPr>
            <a:r>
              <a:rPr lang="zh-CN" altLang="en-US" sz="200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S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b="1" i="0"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f</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B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i="0" baseline="-25000" dirty="0">
                <a:solidFill>
                  <a:srgbClr val="333399"/>
                </a:solidFill>
                <a:latin typeface="Times New Roman" panose="02020603050405020304" pitchFamily="18" charset="0"/>
                <a:sym typeface="Symbol" panose="05050102010706020507" pitchFamily="18" charset="2"/>
              </a:rPr>
              <a:t>1</a:t>
            </a:r>
            <a:r>
              <a:rPr lang="en-US" altLang="zh-CN" sz="2000" b="1"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f </a:t>
            </a: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f</a:t>
            </a:r>
            <a:r>
              <a:rPr lang="en-US" altLang="zh-CN" sz="2000" dirty="0">
                <a:solidFill>
                  <a:srgbClr val="333399"/>
                </a:solidFill>
                <a:latin typeface="Times New Roman" panose="02020603050405020304" pitchFamily="18" charset="0"/>
                <a:sym typeface="Symbol" panose="05050102010706020507" pitchFamily="18" charset="2"/>
              </a:rPr>
              <a:t> +1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S</a:t>
            </a:r>
            <a:r>
              <a:rPr lang="en-US" altLang="zh-CN" sz="2000" i="0" baseline="-25000" dirty="0">
                <a:solidFill>
                  <a:srgbClr val="333399"/>
                </a:solidFill>
                <a:latin typeface="Times New Roman" panose="02020603050405020304" pitchFamily="18" charset="0"/>
                <a:sym typeface="Symbol" panose="05050102010706020507" pitchFamily="18" charset="2"/>
              </a:rPr>
              <a:t>1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a:t>
            </a:r>
            <a:r>
              <a:rPr lang="en-US" altLang="zh-CN" sz="2000" i="0" baseline="-25000" dirty="0">
                <a:solidFill>
                  <a:srgbClr val="333399"/>
                </a:solidFill>
                <a:latin typeface="Times New Roman" panose="02020603050405020304" pitchFamily="18" charset="0"/>
                <a:sym typeface="Symbol" panose="05050102010706020507" pitchFamily="18" charset="2"/>
              </a:rPr>
              <a:t>1</a:t>
            </a:r>
            <a:r>
              <a:rPr lang="en-US" altLang="zh-CN" sz="2000" b="1"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v</a:t>
            </a:r>
            <a:r>
              <a:rPr lang="en-US" altLang="zh-CN" sz="2000" i="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sym typeface="Symbol" panose="05050102010706020507" pitchFamily="18" charset="2"/>
              </a:rPr>
              <a:t>B</a:t>
            </a:r>
            <a:r>
              <a:rPr lang="en-US" altLang="zh-CN" sz="2000" b="1"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v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a:t>
            </a:r>
            <a:endParaRPr lang="en-US" altLang="zh-CN" sz="1000" baseline="-25000" dirty="0">
              <a:solidFill>
                <a:srgbClr val="333399"/>
              </a:solidFill>
              <a:latin typeface="Times New Roman" panose="02020603050405020304" pitchFamily="18" charset="0"/>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                   S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S</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0 </a:t>
            </a:r>
            <a:r>
              <a:rPr lang="en-US" altLang="zh-CN" sz="2000" i="0" dirty="0">
                <a:solidFill>
                  <a:srgbClr val="333399"/>
                </a:solidFill>
                <a:latin typeface="Times New Roman" panose="02020603050405020304" pitchFamily="18" charset="0"/>
                <a:sym typeface="Symbol" panose="05050102010706020507" pitchFamily="18" charset="2"/>
              </a:rPr>
              <a:t>}</a:t>
            </a:r>
            <a:r>
              <a:rPr lang="en-US" altLang="zh-CN" sz="2000" dirty="0">
                <a:solidFill>
                  <a:srgbClr val="333399"/>
                </a:solidFill>
                <a:latin typeface="Times New Roman" panose="02020603050405020304" pitchFamily="18" charset="0"/>
                <a:sym typeface="Symbol" panose="05050102010706020507" pitchFamily="18" charset="2"/>
              </a:rPr>
              <a:t> </a:t>
            </a:r>
          </a:p>
          <a:p>
            <a:pPr algn="l">
              <a:buClrTx/>
            </a:pPr>
            <a:endParaRPr lang="en-US" altLang="zh-CN" sz="800" b="1" i="0" dirty="0">
              <a:solidFill>
                <a:srgbClr val="333399"/>
              </a:solidFill>
              <a:latin typeface="Times New Roman" panose="02020603050405020304" pitchFamily="18" charset="0"/>
            </a:endParaRPr>
          </a:p>
          <a:p>
            <a:pPr lvl="1" algn="l">
              <a:buClrTx/>
              <a:buFont typeface="Symbol" panose="05050102010706020507" pitchFamily="18" charset="2"/>
              <a:buNone/>
            </a:pPr>
            <a:r>
              <a:rPr lang="en-US" altLang="zh-CN" b="1" i="0" dirty="0">
                <a:solidFill>
                  <a:srgbClr val="333399"/>
                </a:solidFill>
                <a:latin typeface="Times New Roman" panose="02020603050405020304" pitchFamily="18" charset="0"/>
              </a:rPr>
              <a:t>     </a:t>
            </a:r>
            <a:r>
              <a:rPr lang="zh-CN" altLang="en-US" b="1" i="0" dirty="0">
                <a:solidFill>
                  <a:srgbClr val="333399"/>
                </a:solidFill>
                <a:latin typeface="Times New Roman" panose="02020603050405020304" pitchFamily="18" charset="0"/>
              </a:rPr>
              <a:t>对非终结符 </a:t>
            </a:r>
            <a:r>
              <a:rPr lang="en-US" altLang="zh-CN" dirty="0">
                <a:solidFill>
                  <a:srgbClr val="333399"/>
                </a:solidFill>
                <a:latin typeface="Times New Roman" panose="02020603050405020304" pitchFamily="18" charset="0"/>
                <a:ea typeface="宋体" panose="02010600030101010101" pitchFamily="2" charset="-122"/>
              </a:rPr>
              <a:t>S</a:t>
            </a:r>
            <a:r>
              <a:rPr lang="zh-CN" altLang="en-US" b="1" i="0" dirty="0">
                <a:solidFill>
                  <a:srgbClr val="333399"/>
                </a:solidFill>
                <a:latin typeface="Times New Roman" panose="02020603050405020304" pitchFamily="18" charset="0"/>
              </a:rPr>
              <a:t>，构造如下函数</a:t>
            </a:r>
          </a:p>
        </p:txBody>
      </p:sp>
      <p:sp>
        <p:nvSpPr>
          <p:cNvPr id="5" name="AutoShape 21">
            <a:hlinkClick r:id="" action="ppaction://hlinkshowjump?jump=nextslide" highlightClick="1"/>
          </p:cNvPr>
          <p:cNvSpPr>
            <a:spLocks noChangeArrowheads="1"/>
          </p:cNvSpPr>
          <p:nvPr/>
        </p:nvSpPr>
        <p:spPr bwMode="auto">
          <a:xfrm>
            <a:off x="8382000" y="6553200"/>
            <a:ext cx="179388" cy="107950"/>
          </a:xfrm>
          <a:prstGeom prst="actionButtonForwardNext">
            <a:avLst/>
          </a:prstGeom>
          <a:solidFill>
            <a:schemeClr val="accent1"/>
          </a:solidFill>
          <a:ln w="12700">
            <a:solidFill>
              <a:schemeClr val="tx1"/>
            </a:solidFill>
            <a:miter lim="800000"/>
            <a:headEnd type="none" w="sm" len="sm"/>
            <a:tailEnd type="none" w="sm" len="sm"/>
          </a:ln>
        </p:spPr>
        <p:txBody>
          <a:bodyPr wrap="none" anchor="ctr"/>
          <a:lstStyle/>
          <a:p>
            <a:endParaRPr lang="zh-CN" altLang="en-US">
              <a:latin typeface="Times New Roman" panose="02020603050405020304" pitchFamily="18" charset="0"/>
            </a:endParaRPr>
          </a:p>
        </p:txBody>
      </p:sp>
      <p:sp>
        <p:nvSpPr>
          <p:cNvPr id="6" name="AutoShape 22">
            <a:hlinkClick r:id="" action="ppaction://hlinkshowjump?jump=previousslide" highlightClick="1"/>
          </p:cNvPr>
          <p:cNvSpPr>
            <a:spLocks noChangeArrowheads="1"/>
          </p:cNvSpPr>
          <p:nvPr/>
        </p:nvSpPr>
        <p:spPr bwMode="auto">
          <a:xfrm>
            <a:off x="8077200" y="6553200"/>
            <a:ext cx="179388" cy="107950"/>
          </a:xfrm>
          <a:prstGeom prst="actionButtonBackPrevious">
            <a:avLst/>
          </a:prstGeom>
          <a:solidFill>
            <a:schemeClr val="accent1"/>
          </a:solidFill>
          <a:ln w="12700">
            <a:solidFill>
              <a:schemeClr val="tx1"/>
            </a:solidFill>
            <a:miter lim="800000"/>
            <a:headEnd type="none" w="sm" len="sm"/>
            <a:tailEnd type="none" w="sm" len="sm"/>
          </a:ln>
        </p:spPr>
        <p:txBody>
          <a:bodyPr wrap="none" anchor="ctr"/>
          <a:lstStyle/>
          <a:p>
            <a:endParaRPr lang="zh-CN" altLang="en-US">
              <a:latin typeface="Times New Roman" panose="02020603050405020304" pitchFamily="18" charset="0"/>
            </a:endParaRPr>
          </a:p>
        </p:txBody>
      </p:sp>
      <p:sp>
        <p:nvSpPr>
          <p:cNvPr id="7" name="AutoShape 23">
            <a:hlinkClick r:id="" action="ppaction://hlinkshowjump?jump=firstslide" highlightClick="1"/>
          </p:cNvPr>
          <p:cNvSpPr>
            <a:spLocks noChangeArrowheads="1"/>
          </p:cNvSpPr>
          <p:nvPr/>
        </p:nvSpPr>
        <p:spPr bwMode="auto">
          <a:xfrm>
            <a:off x="7772400" y="6553200"/>
            <a:ext cx="179388" cy="107950"/>
          </a:xfrm>
          <a:prstGeom prst="actionButtonBeginning">
            <a:avLst/>
          </a:prstGeom>
          <a:solidFill>
            <a:schemeClr val="accent1"/>
          </a:solidFill>
          <a:ln w="12700">
            <a:solidFill>
              <a:schemeClr val="tx1"/>
            </a:solidFill>
            <a:miter lim="800000"/>
            <a:headEnd type="none" w="sm" len="sm"/>
            <a:tailEnd type="none" w="sm" len="sm"/>
          </a:ln>
        </p:spPr>
        <p:txBody>
          <a:bodyPr wrap="none" anchor="ctr"/>
          <a:lstStyle/>
          <a:p>
            <a:endParaRPr lang="zh-CN" altLang="en-US">
              <a:latin typeface="Times New Roman" panose="02020603050405020304" pitchFamily="18" charset="0"/>
            </a:endParaRPr>
          </a:p>
        </p:txBody>
      </p:sp>
      <p:sp>
        <p:nvSpPr>
          <p:cNvPr id="8" name="AutoShape 24">
            <a:hlinkClick r:id="" action="ppaction://hlinkshowjump?jump=lastslide" highlightClick="1"/>
          </p:cNvPr>
          <p:cNvSpPr>
            <a:spLocks noChangeArrowheads="1"/>
          </p:cNvSpPr>
          <p:nvPr/>
        </p:nvSpPr>
        <p:spPr bwMode="auto">
          <a:xfrm>
            <a:off x="8686800" y="6553200"/>
            <a:ext cx="179388" cy="107950"/>
          </a:xfrm>
          <a:prstGeom prst="actionButtonEnd">
            <a:avLst/>
          </a:prstGeom>
          <a:solidFill>
            <a:schemeClr val="accent1"/>
          </a:solidFill>
          <a:ln w="12700">
            <a:solidFill>
              <a:schemeClr val="tx1"/>
            </a:solidFill>
            <a:miter lim="800000"/>
            <a:headEnd type="none" w="sm" len="sm"/>
            <a:tailEnd type="none" w="sm" len="sm"/>
          </a:ln>
        </p:spPr>
        <p:txBody>
          <a:bodyPr wrap="none" anchor="ctr"/>
          <a:lstStyle/>
          <a:p>
            <a:endParaRPr lang="zh-CN" altLang="en-US">
              <a:latin typeface="Times New Roman" panose="02020603050405020304" pitchFamily="18" charset="0"/>
            </a:endParaRPr>
          </a:p>
        </p:txBody>
      </p:sp>
      <p:sp>
        <p:nvSpPr>
          <p:cNvPr id="9" name="Rectangle 25"/>
          <p:cNvSpPr>
            <a:spLocks noChangeArrowheads="1"/>
          </p:cNvSpPr>
          <p:nvPr/>
        </p:nvSpPr>
        <p:spPr bwMode="auto">
          <a:xfrm>
            <a:off x="1692275" y="3352800"/>
            <a:ext cx="6461125" cy="3140075"/>
          </a:xfrm>
          <a:prstGeom prst="rect">
            <a:avLst/>
          </a:prstGeom>
          <a:noFill/>
          <a:ln w="9525">
            <a:noFill/>
            <a:miter lim="800000"/>
          </a:ln>
        </p:spPr>
        <p:txBody>
          <a:bodyPr>
            <a:spAutoFit/>
          </a:bodyPr>
          <a:lstStyle/>
          <a:p>
            <a:pPr algn="l"/>
            <a:r>
              <a:rPr lang="en-US" altLang="zh-CN" sz="2000" i="0" dirty="0">
                <a:solidFill>
                  <a:srgbClr val="333399"/>
                </a:solidFill>
                <a:latin typeface="Times New Roman" panose="02020603050405020304" pitchFamily="18" charset="0"/>
              </a:rPr>
              <a:t>float </a:t>
            </a:r>
            <a:r>
              <a:rPr lang="en-US" altLang="zh-CN" sz="2000" i="0" dirty="0" err="1">
                <a:solidFill>
                  <a:srgbClr val="333399"/>
                </a:solidFill>
                <a:latin typeface="Times New Roman" panose="02020603050405020304" pitchFamily="18" charset="0"/>
              </a:rPr>
              <a:t>ParseS</a:t>
            </a:r>
            <a:r>
              <a:rPr lang="en-US" altLang="zh-CN" sz="2000" i="0" dirty="0">
                <a:solidFill>
                  <a:srgbClr val="333399"/>
                </a:solidFill>
                <a:latin typeface="Times New Roman" panose="02020603050405020304" pitchFamily="18" charset="0"/>
              </a:rPr>
              <a:t>( </a:t>
            </a:r>
            <a:r>
              <a:rPr lang="en-US" altLang="zh-CN" sz="2000" i="0" dirty="0" err="1">
                <a:solidFill>
                  <a:srgbClr val="333399"/>
                </a:solidFill>
                <a:latin typeface="Times New Roman" panose="02020603050405020304" pitchFamily="18" charset="0"/>
              </a:rPr>
              <a:t>int</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p>
          <a:p>
            <a:pPr algn="l"/>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    if (</a:t>
            </a:r>
            <a:r>
              <a:rPr lang="en-US" altLang="zh-CN" sz="2000" i="0" dirty="0" err="1">
                <a:solidFill>
                  <a:srgbClr val="333399"/>
                </a:solidFill>
                <a:latin typeface="Times New Roman" panose="02020603050405020304" pitchFamily="18" charset="0"/>
              </a:rPr>
              <a:t>lookahead</a:t>
            </a:r>
            <a:r>
              <a:rPr lang="en-US" altLang="zh-CN" sz="2000" i="0" dirty="0">
                <a:solidFill>
                  <a:srgbClr val="333399"/>
                </a:solidFill>
                <a:latin typeface="Times New Roman" panose="02020603050405020304" pitchFamily="18" charset="0"/>
              </a:rPr>
              <a:t>==‘0’ or </a:t>
            </a:r>
            <a:r>
              <a:rPr lang="en-US" altLang="zh-CN" sz="2000" i="0" dirty="0" err="1">
                <a:solidFill>
                  <a:srgbClr val="333399"/>
                </a:solidFill>
                <a:latin typeface="Times New Roman" panose="02020603050405020304" pitchFamily="18" charset="0"/>
              </a:rPr>
              <a:t>lookahead</a:t>
            </a:r>
            <a:r>
              <a:rPr lang="en-US" altLang="zh-CN" sz="2000" i="0" dirty="0">
                <a:solidFill>
                  <a:srgbClr val="333399"/>
                </a:solidFill>
                <a:latin typeface="Times New Roman" panose="02020603050405020304" pitchFamily="18" charset="0"/>
              </a:rPr>
              <a:t>==‘1’ )  {</a:t>
            </a:r>
          </a:p>
          <a:p>
            <a:pPr algn="l"/>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B</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 = </a:t>
            </a:r>
            <a:r>
              <a:rPr lang="en-US" altLang="zh-CN" sz="2000" dirty="0">
                <a:solidFill>
                  <a:srgbClr val="333399"/>
                </a:solidFill>
                <a:latin typeface="Times New Roman" panose="02020603050405020304" pitchFamily="18" charset="0"/>
                <a:sym typeface="Symbol" panose="05050102010706020507" pitchFamily="18" charset="2"/>
              </a:rPr>
              <a:t>f</a:t>
            </a: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dirty="0" err="1">
                <a:solidFill>
                  <a:srgbClr val="333399"/>
                </a:solidFill>
                <a:latin typeface="Times New Roman" panose="02020603050405020304" pitchFamily="18" charset="0"/>
              </a:rPr>
              <a:t>v</a:t>
            </a:r>
            <a:r>
              <a:rPr lang="en-US" altLang="zh-CN" sz="2000" i="0" dirty="0">
                <a:solidFill>
                  <a:srgbClr val="333399"/>
                </a:solidFill>
                <a:latin typeface="Times New Roman" panose="02020603050405020304" pitchFamily="18" charset="0"/>
              </a:rPr>
              <a:t> : = </a:t>
            </a:r>
            <a:r>
              <a:rPr lang="en-US" altLang="zh-CN" sz="2000" i="0" dirty="0" err="1">
                <a:solidFill>
                  <a:srgbClr val="333399"/>
                </a:solidFill>
                <a:latin typeface="Times New Roman" panose="02020603050405020304" pitchFamily="18" charset="0"/>
              </a:rPr>
              <a:t>ParseB</a:t>
            </a:r>
            <a:r>
              <a:rPr lang="en-US" altLang="zh-CN" sz="2000" i="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sym typeface="Symbol" panose="05050102010706020507" pitchFamily="18" charset="2"/>
              </a:rPr>
              <a:t>B</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S1f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f+1 </a:t>
            </a:r>
            <a:r>
              <a:rPr lang="en-US" altLang="zh-CN" sz="2000" i="0" dirty="0">
                <a:solidFill>
                  <a:srgbClr val="333399"/>
                </a:solidFill>
                <a:latin typeface="Times New Roman" panose="02020603050405020304" pitchFamily="18" charset="0"/>
              </a:rPr>
              <a:t>;</a:t>
            </a:r>
          </a:p>
          <a:p>
            <a:pPr algn="l"/>
            <a:r>
              <a:rPr lang="en-US" altLang="zh-CN" sz="2000" dirty="0">
                <a:solidFill>
                  <a:srgbClr val="333399"/>
                </a:solidFill>
                <a:latin typeface="Times New Roman" panose="02020603050405020304" pitchFamily="18" charset="0"/>
                <a:sym typeface="Symbol" panose="05050102010706020507" pitchFamily="18" charset="2"/>
              </a:rPr>
              <a:t>                S1v </a:t>
            </a:r>
            <a:r>
              <a:rPr lang="en-US" altLang="zh-CN" sz="2000" i="0" dirty="0">
                <a:solidFill>
                  <a:srgbClr val="333399"/>
                </a:solidFill>
                <a:latin typeface="Times New Roman" panose="02020603050405020304" pitchFamily="18" charset="0"/>
              </a:rPr>
              <a:t>:= </a:t>
            </a:r>
            <a:r>
              <a:rPr lang="en-US" altLang="zh-CN" sz="2000" i="0" dirty="0" err="1">
                <a:solidFill>
                  <a:srgbClr val="333399"/>
                </a:solidFill>
                <a:latin typeface="Times New Roman" panose="02020603050405020304" pitchFamily="18" charset="0"/>
              </a:rPr>
              <a:t>ParseS</a:t>
            </a:r>
            <a:r>
              <a:rPr lang="en-US" altLang="zh-CN" sz="2000" i="0" dirty="0">
                <a:solidFill>
                  <a:srgbClr val="333399"/>
                </a:solidFill>
                <a:latin typeface="Times New Roman" panose="02020603050405020304" pitchFamily="18" charset="0"/>
              </a:rPr>
              <a:t>(</a:t>
            </a:r>
            <a:r>
              <a:rPr lang="en-US" altLang="zh-CN" sz="2000" dirty="0">
                <a:solidFill>
                  <a:srgbClr val="333399"/>
                </a:solidFill>
                <a:latin typeface="Times New Roman" panose="02020603050405020304" pitchFamily="18" charset="0"/>
                <a:sym typeface="Symbol" panose="05050102010706020507" pitchFamily="18" charset="2"/>
              </a:rPr>
              <a:t>S1f</a:t>
            </a: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Sv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S1v </a:t>
            </a:r>
            <a:r>
              <a:rPr lang="en-US" altLang="zh-CN" sz="2000" i="0" dirty="0">
                <a:solidFill>
                  <a:srgbClr val="333399"/>
                </a:solidFill>
                <a:latin typeface="Times New Roman" panose="02020603050405020304" pitchFamily="18" charset="0"/>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dirty="0" err="1">
                <a:solidFill>
                  <a:srgbClr val="333399"/>
                </a:solidFill>
                <a:latin typeface="Times New Roman" panose="02020603050405020304" pitchFamily="18" charset="0"/>
              </a:rPr>
              <a:t>v</a:t>
            </a:r>
            <a:r>
              <a:rPr lang="en-US" altLang="zh-CN" sz="2000" dirty="0">
                <a:solidFill>
                  <a:srgbClr val="333399"/>
                </a:solidFill>
                <a:latin typeface="Times New Roman" panose="02020603050405020304" pitchFamily="18" charset="0"/>
              </a:rPr>
              <a:t>;</a:t>
            </a:r>
            <a:endParaRPr lang="en-US" altLang="zh-CN" sz="2000" i="0" dirty="0">
              <a:solidFill>
                <a:srgbClr val="333399"/>
              </a:solidFill>
              <a:latin typeface="Times New Roman" panose="02020603050405020304" pitchFamily="18" charset="0"/>
            </a:endParaRPr>
          </a:p>
          <a:p>
            <a:pPr algn="l"/>
            <a:r>
              <a:rPr lang="en-US" altLang="zh-CN" sz="2000" i="0" dirty="0">
                <a:solidFill>
                  <a:srgbClr val="333399"/>
                </a:solidFill>
                <a:latin typeface="Times New Roman" panose="02020603050405020304" pitchFamily="18" charset="0"/>
              </a:rPr>
              <a:t>    }</a:t>
            </a:r>
          </a:p>
          <a:p>
            <a:pPr algn="l"/>
            <a:r>
              <a:rPr lang="en-US" altLang="zh-CN" sz="2000" i="0" dirty="0">
                <a:solidFill>
                  <a:srgbClr val="333399"/>
                </a:solidFill>
                <a:latin typeface="Times New Roman" panose="02020603050405020304" pitchFamily="18" charset="0"/>
              </a:rPr>
              <a:t>    else if (</a:t>
            </a:r>
            <a:r>
              <a:rPr lang="en-US" altLang="zh-CN" sz="2000" i="0" dirty="0" err="1">
                <a:solidFill>
                  <a:srgbClr val="333399"/>
                </a:solidFill>
                <a:latin typeface="Times New Roman" panose="02020603050405020304" pitchFamily="18" charset="0"/>
              </a:rPr>
              <a:t>lookahead</a:t>
            </a:r>
            <a:r>
              <a:rPr lang="en-US" altLang="zh-CN" sz="2000" i="0" dirty="0">
                <a:solidFill>
                  <a:srgbClr val="333399"/>
                </a:solidFill>
                <a:latin typeface="Times New Roman" panose="02020603050405020304" pitchFamily="18" charset="0"/>
              </a:rPr>
              <a:t>== ‘#’ )  </a:t>
            </a:r>
            <a:r>
              <a:rPr lang="en-US" altLang="zh-CN" sz="2000" dirty="0" err="1">
                <a:solidFill>
                  <a:srgbClr val="333399"/>
                </a:solidFill>
                <a:latin typeface="Times New Roman" panose="02020603050405020304" pitchFamily="18" charset="0"/>
                <a:sym typeface="Symbol" panose="05050102010706020507" pitchFamily="18" charset="2"/>
              </a:rPr>
              <a:t>Sv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0</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    else { </a:t>
            </a:r>
            <a:r>
              <a:rPr lang="en-US" altLang="zh-CN" sz="2000" i="0" dirty="0" err="1">
                <a:solidFill>
                  <a:srgbClr val="333399"/>
                </a:solidFill>
                <a:latin typeface="Times New Roman" panose="02020603050405020304" pitchFamily="18" charset="0"/>
              </a:rPr>
              <a:t>printf</a:t>
            </a:r>
            <a:r>
              <a:rPr lang="en-US" altLang="zh-CN" sz="2000" i="0" dirty="0">
                <a:solidFill>
                  <a:srgbClr val="333399"/>
                </a:solidFill>
                <a:latin typeface="Times New Roman" panose="02020603050405020304" pitchFamily="18" charset="0"/>
              </a:rPr>
              <a:t>("syntax error \n"); exit(0); }</a:t>
            </a:r>
          </a:p>
          <a:p>
            <a:pPr algn="l"/>
            <a:r>
              <a:rPr lang="en-US" altLang="zh-CN" sz="2000" i="0" dirty="0">
                <a:solidFill>
                  <a:srgbClr val="333399"/>
                </a:solidFill>
                <a:latin typeface="Times New Roman" panose="02020603050405020304" pitchFamily="18" charset="0"/>
              </a:rPr>
              <a:t>    return </a:t>
            </a:r>
            <a:r>
              <a:rPr lang="en-US" altLang="zh-CN" sz="2000" dirty="0" err="1">
                <a:solidFill>
                  <a:srgbClr val="333399"/>
                </a:solidFill>
                <a:latin typeface="Times New Roman" panose="02020603050405020304" pitchFamily="18" charset="0"/>
                <a:sym typeface="Symbol" panose="05050102010706020507" pitchFamily="18" charset="2"/>
              </a:rPr>
              <a:t>Sv</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a:t>
            </a:r>
          </a:p>
        </p:txBody>
      </p:sp>
      <p:sp>
        <p:nvSpPr>
          <p:cNvPr id="2" name="灯片编号占位符 1"/>
          <p:cNvSpPr>
            <a:spLocks noGrp="1"/>
          </p:cNvSpPr>
          <p:nvPr>
            <p:ph type="sldNum" sz="quarter" idx="4"/>
          </p:nvPr>
        </p:nvSpPr>
        <p:spPr/>
        <p:txBody>
          <a:bodyPr/>
          <a:lstStyle/>
          <a:p>
            <a:fld id="{565CE74E-AB26-4998-AD42-012C4C1AD076}" type="slidenum">
              <a:rPr lang="zh-CN" altLang="en-US" smtClean="0"/>
              <a:t>62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Times New Roman" panose="02020603050405020304" pitchFamily="18" charset="0"/>
              </a:rPr>
              <a:t>四、基于翻译模式的语义计算</a:t>
            </a:r>
          </a:p>
        </p:txBody>
      </p:sp>
      <p:sp>
        <p:nvSpPr>
          <p:cNvPr id="4" name="Text Box 3"/>
          <p:cNvSpPr txBox="1">
            <a:spLocks noChangeArrowheads="1"/>
          </p:cNvSpPr>
          <p:nvPr/>
        </p:nvSpPr>
        <p:spPr bwMode="auto">
          <a:xfrm>
            <a:off x="517979" y="925286"/>
            <a:ext cx="8070850" cy="2378075"/>
          </a:xfrm>
          <a:prstGeom prst="rect">
            <a:avLst/>
          </a:prstGeom>
          <a:noFill/>
          <a:ln w="9525">
            <a:noFill/>
            <a:miter lim="800000"/>
          </a:ln>
        </p:spPr>
        <p:txBody>
          <a:bodyPr>
            <a:spAutoFit/>
          </a:bodyPr>
          <a:lstStyle/>
          <a:p>
            <a:pPr algn="l">
              <a:buClrTx/>
              <a:buFont typeface="Wingdings" panose="05000000000000000000" pitchFamily="2" charset="2"/>
              <a:buChar char="²"/>
            </a:pPr>
            <a:r>
              <a:rPr lang="en-US" altLang="zh-CN" sz="2800" b="1" i="0" dirty="0">
                <a:latin typeface="Times New Roman" panose="02020603050405020304" pitchFamily="18" charset="0"/>
              </a:rPr>
              <a:t> </a:t>
            </a:r>
            <a:r>
              <a:rPr lang="zh-CN" altLang="en-US" sz="2800" b="1" i="0" dirty="0">
                <a:solidFill>
                  <a:srgbClr val="333399"/>
                </a:solidFill>
                <a:latin typeface="Times New Roman" panose="02020603050405020304" pitchFamily="18" charset="0"/>
              </a:rPr>
              <a:t>基于翻译模式的自上而下语义计算</a:t>
            </a:r>
            <a:r>
              <a:rPr lang="zh-CN" altLang="en-US" sz="2800" b="1" i="0" dirty="0">
                <a:solidFill>
                  <a:srgbClr val="FF0000"/>
                </a:solidFill>
                <a:latin typeface="Times New Roman" panose="02020603050405020304" pitchFamily="18" charset="0"/>
              </a:rPr>
              <a:t>举例</a:t>
            </a:r>
          </a:p>
          <a:p>
            <a:pPr algn="l">
              <a:buClrTx/>
            </a:pPr>
            <a:endParaRPr lang="zh-CN" altLang="en-US" sz="1000" b="1" i="0" dirty="0">
              <a:latin typeface="Times New Roman" panose="02020603050405020304" pitchFamily="18" charset="0"/>
            </a:endParaRPr>
          </a:p>
          <a:p>
            <a:pPr lvl="1" algn="l">
              <a:buClrTx/>
              <a:buFont typeface="Symbol" panose="05050102010706020507" pitchFamily="18" charset="2"/>
              <a:buChar char="-"/>
            </a:pPr>
            <a:r>
              <a:rPr lang="zh-CN" altLang="en-US" sz="2800" b="1" i="0" dirty="0">
                <a:latin typeface="Times New Roman" panose="02020603050405020304" pitchFamily="18" charset="0"/>
              </a:rPr>
              <a:t>  </a:t>
            </a:r>
            <a:r>
              <a:rPr lang="zh-CN" altLang="en-US" b="1" i="0" dirty="0">
                <a:solidFill>
                  <a:srgbClr val="333399"/>
                </a:solidFill>
                <a:latin typeface="Times New Roman" panose="02020603050405020304" pitchFamily="18" charset="0"/>
              </a:rPr>
              <a:t>根据产生式</a:t>
            </a:r>
          </a:p>
          <a:p>
            <a:pPr lvl="1" algn="l">
              <a:buClrTx/>
              <a:buFont typeface="Symbol" panose="05050102010706020507" pitchFamily="18" charset="2"/>
              <a:buNone/>
            </a:pPr>
            <a:endParaRPr lang="zh-CN" altLang="en-US" sz="1000" b="1" i="0" dirty="0">
              <a:solidFill>
                <a:srgbClr val="333399"/>
              </a:solidFill>
              <a:latin typeface="Times New Roman" panose="02020603050405020304" pitchFamily="18" charset="0"/>
            </a:endParaRPr>
          </a:p>
          <a:p>
            <a:pPr algn="l">
              <a:buClrTx/>
            </a:pPr>
            <a:r>
              <a:rPr lang="zh-CN" altLang="en-US" sz="200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B </a:t>
            </a:r>
            <a:r>
              <a:rPr lang="en-US" altLang="zh-CN" sz="2000" i="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 </a:t>
            </a:r>
            <a:r>
              <a:rPr lang="en-US" altLang="zh-CN" sz="2000" dirty="0">
                <a:solidFill>
                  <a:srgbClr val="333399"/>
                </a:solidFill>
                <a:latin typeface="Times New Roman" panose="02020603050405020304" pitchFamily="18" charset="0"/>
                <a:ea typeface="华文行楷" panose="02010800040101010101" pitchFamily="2" charset="-122"/>
                <a:sym typeface="Symbol" panose="05050102010706020507" pitchFamily="18" charset="2"/>
              </a:rPr>
              <a:t>0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0 </a:t>
            </a:r>
            <a:r>
              <a:rPr lang="en-US" altLang="zh-CN" sz="2000" i="0" dirty="0">
                <a:solidFill>
                  <a:srgbClr val="333399"/>
                </a:solidFill>
                <a:latin typeface="Times New Roman" panose="02020603050405020304" pitchFamily="18" charset="0"/>
                <a:sym typeface="Symbol" panose="05050102010706020507" pitchFamily="18" charset="2"/>
              </a:rPr>
              <a:t>}</a:t>
            </a:r>
            <a:endParaRPr lang="en-US" altLang="zh-CN" sz="1000" u="sng" dirty="0">
              <a:solidFill>
                <a:srgbClr val="333399"/>
              </a:solidFill>
              <a:latin typeface="Times New Roman" panose="02020603050405020304" pitchFamily="18" charset="0"/>
              <a:ea typeface="华文行楷" panose="02010800040101010101" pitchFamily="2" charset="-122"/>
              <a:sym typeface="Symbol" panose="05050102010706020507" pitchFamily="18" charset="2"/>
            </a:endParaRPr>
          </a:p>
          <a:p>
            <a:pPr algn="l">
              <a:buClrTx/>
            </a:pPr>
            <a:r>
              <a:rPr lang="en-US" altLang="zh-CN" sz="2000" dirty="0">
                <a:solidFill>
                  <a:srgbClr val="333399"/>
                </a:solidFill>
                <a:latin typeface="Times New Roman" panose="02020603050405020304" pitchFamily="18" charset="0"/>
                <a:sym typeface="Symbol" panose="05050102010706020507" pitchFamily="18" charset="2"/>
              </a:rPr>
              <a:t>                   B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a:solidFill>
                  <a:srgbClr val="333399"/>
                </a:solidFill>
                <a:latin typeface="Times New Roman" panose="02020603050405020304" pitchFamily="18" charset="0"/>
                <a:sym typeface="Symbol" panose="05050102010706020507" pitchFamily="18" charset="2"/>
              </a:rPr>
              <a:t>1  </a:t>
            </a:r>
            <a:r>
              <a:rPr lang="en-US" altLang="zh-CN" sz="2000" i="0" dirty="0">
                <a:solidFill>
                  <a:srgbClr val="333399"/>
                </a:solidFill>
                <a:latin typeface="Times New Roman" panose="02020603050405020304" pitchFamily="18" charset="0"/>
                <a:sym typeface="Symbol" panose="05050102010706020507" pitchFamily="18" charset="2"/>
              </a:rPr>
              <a:t>{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b="1" dirty="0" err="1">
                <a:solidFill>
                  <a:srgbClr val="333399"/>
                </a:solidFill>
                <a:latin typeface="Times New Roman" panose="02020603050405020304" pitchFamily="18" charset="0"/>
                <a:sym typeface="Symbol" panose="05050102010706020507" pitchFamily="18" charset="2"/>
              </a:rPr>
              <a:t>.</a:t>
            </a:r>
            <a:r>
              <a:rPr lang="en-US" altLang="zh-CN" sz="2000" dirty="0" err="1">
                <a:solidFill>
                  <a:srgbClr val="333399"/>
                </a:solidFill>
                <a:latin typeface="Times New Roman" panose="02020603050405020304" pitchFamily="18" charset="0"/>
                <a:sym typeface="Symbol" panose="05050102010706020507" pitchFamily="18" charset="2"/>
              </a:rPr>
              <a:t>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2</a:t>
            </a:r>
            <a:r>
              <a:rPr lang="en-US" altLang="zh-CN" sz="2000" i="0" baseline="30000" dirty="0">
                <a:solidFill>
                  <a:srgbClr val="333399"/>
                </a:solidFill>
                <a:latin typeface="Times New Roman" panose="02020603050405020304" pitchFamily="18" charset="0"/>
              </a:rPr>
              <a:t>-</a:t>
            </a:r>
            <a:r>
              <a:rPr lang="en-US" altLang="zh-CN" sz="2000" baseline="30000" dirty="0">
                <a:solidFill>
                  <a:srgbClr val="333399"/>
                </a:solidFill>
                <a:latin typeface="Times New Roman" panose="02020603050405020304" pitchFamily="18" charset="0"/>
                <a:sym typeface="Symbol" panose="05050102010706020507" pitchFamily="18" charset="2"/>
              </a:rPr>
              <a:t>B</a:t>
            </a:r>
            <a:r>
              <a:rPr lang="en-US" altLang="zh-CN" sz="2000" b="1" i="0" baseline="30000" dirty="0">
                <a:solidFill>
                  <a:srgbClr val="333399"/>
                </a:solidFill>
                <a:latin typeface="Times New Roman" panose="02020603050405020304" pitchFamily="18" charset="0"/>
                <a:sym typeface="Symbol" panose="05050102010706020507" pitchFamily="18" charset="2"/>
              </a:rPr>
              <a:t>.</a:t>
            </a:r>
            <a:r>
              <a:rPr lang="en-US" altLang="zh-CN" sz="2000" baseline="30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r>
              <a:rPr lang="en-US" altLang="zh-CN" sz="2000" i="0" dirty="0">
                <a:solidFill>
                  <a:srgbClr val="333399"/>
                </a:solidFill>
                <a:latin typeface="Times New Roman" panose="02020603050405020304" pitchFamily="18" charset="0"/>
                <a:sym typeface="Symbol" panose="05050102010706020507" pitchFamily="18" charset="2"/>
              </a:rPr>
              <a:t>}</a:t>
            </a:r>
          </a:p>
          <a:p>
            <a:pPr algn="l">
              <a:buClrTx/>
            </a:pPr>
            <a:endParaRPr lang="en-US" altLang="zh-CN" sz="1000" b="1" i="0" dirty="0">
              <a:solidFill>
                <a:srgbClr val="333399"/>
              </a:solidFill>
              <a:latin typeface="Times New Roman" panose="02020603050405020304" pitchFamily="18" charset="0"/>
            </a:endParaRPr>
          </a:p>
          <a:p>
            <a:pPr lvl="1" algn="l">
              <a:buClrTx/>
              <a:buFont typeface="Symbol" panose="05050102010706020507" pitchFamily="18" charset="2"/>
              <a:buNone/>
            </a:pPr>
            <a:r>
              <a:rPr lang="en-US" altLang="zh-CN" b="1" i="0" dirty="0">
                <a:solidFill>
                  <a:srgbClr val="333399"/>
                </a:solidFill>
                <a:latin typeface="Times New Roman" panose="02020603050405020304" pitchFamily="18" charset="0"/>
              </a:rPr>
              <a:t>     </a:t>
            </a:r>
            <a:r>
              <a:rPr lang="zh-CN" altLang="en-US" b="1" i="0" dirty="0">
                <a:solidFill>
                  <a:srgbClr val="333399"/>
                </a:solidFill>
                <a:latin typeface="Times New Roman" panose="02020603050405020304" pitchFamily="18" charset="0"/>
              </a:rPr>
              <a:t>对非终结符 </a:t>
            </a:r>
            <a:r>
              <a:rPr lang="en-US" altLang="zh-CN" dirty="0">
                <a:solidFill>
                  <a:srgbClr val="333399"/>
                </a:solidFill>
                <a:latin typeface="Times New Roman" panose="02020603050405020304" pitchFamily="18" charset="0"/>
                <a:ea typeface="宋体" panose="02010600030101010101" pitchFamily="2" charset="-122"/>
              </a:rPr>
              <a:t>B</a:t>
            </a:r>
            <a:r>
              <a:rPr lang="zh-CN" altLang="en-US" b="1" i="0" dirty="0">
                <a:solidFill>
                  <a:srgbClr val="333399"/>
                </a:solidFill>
                <a:latin typeface="Times New Roman" panose="02020603050405020304" pitchFamily="18" charset="0"/>
              </a:rPr>
              <a:t>，构造如下函数</a:t>
            </a:r>
          </a:p>
        </p:txBody>
      </p:sp>
      <p:sp>
        <p:nvSpPr>
          <p:cNvPr id="5" name="Rectangle 8"/>
          <p:cNvSpPr>
            <a:spLocks noChangeArrowheads="1"/>
          </p:cNvSpPr>
          <p:nvPr/>
        </p:nvSpPr>
        <p:spPr bwMode="auto">
          <a:xfrm>
            <a:off x="1441904" y="3424011"/>
            <a:ext cx="6461125" cy="2835275"/>
          </a:xfrm>
          <a:prstGeom prst="rect">
            <a:avLst/>
          </a:prstGeom>
          <a:noFill/>
          <a:ln w="9525">
            <a:noFill/>
            <a:miter lim="800000"/>
          </a:ln>
        </p:spPr>
        <p:txBody>
          <a:bodyPr>
            <a:spAutoFit/>
          </a:bodyPr>
          <a:lstStyle/>
          <a:p>
            <a:pPr algn="l"/>
            <a:r>
              <a:rPr lang="en-US" altLang="zh-CN" sz="2000" i="0" dirty="0">
                <a:solidFill>
                  <a:srgbClr val="333399"/>
                </a:solidFill>
                <a:latin typeface="Times New Roman" panose="02020603050405020304" pitchFamily="18" charset="0"/>
              </a:rPr>
              <a:t>float </a:t>
            </a:r>
            <a:r>
              <a:rPr lang="en-US" altLang="zh-CN" sz="2000" i="0" dirty="0" err="1">
                <a:solidFill>
                  <a:srgbClr val="333399"/>
                </a:solidFill>
                <a:latin typeface="Times New Roman" panose="02020603050405020304" pitchFamily="18" charset="0"/>
              </a:rPr>
              <a:t>ParseB</a:t>
            </a:r>
            <a:r>
              <a:rPr lang="en-US" altLang="zh-CN" sz="2000" i="0" dirty="0">
                <a:solidFill>
                  <a:srgbClr val="333399"/>
                </a:solidFill>
                <a:latin typeface="Times New Roman" panose="02020603050405020304" pitchFamily="18" charset="0"/>
              </a:rPr>
              <a:t>( </a:t>
            </a:r>
            <a:r>
              <a:rPr lang="en-US" altLang="zh-CN" sz="2000" i="0" dirty="0" err="1">
                <a:solidFill>
                  <a:srgbClr val="333399"/>
                </a:solidFill>
                <a:latin typeface="Times New Roman" panose="02020603050405020304" pitchFamily="18" charset="0"/>
              </a:rPr>
              <a:t>int</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rPr>
              <a:t>f</a:t>
            </a:r>
            <a:r>
              <a:rPr lang="en-US" altLang="zh-CN" sz="2000" i="0" dirty="0">
                <a:solidFill>
                  <a:srgbClr val="333399"/>
                </a:solidFill>
                <a:latin typeface="Times New Roman" panose="02020603050405020304" pitchFamily="18" charset="0"/>
              </a:rPr>
              <a:t> )</a:t>
            </a:r>
          </a:p>
          <a:p>
            <a:pPr algn="l"/>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    if (</a:t>
            </a:r>
            <a:r>
              <a:rPr lang="en-US" altLang="zh-CN" sz="2000" i="0" dirty="0" err="1">
                <a:solidFill>
                  <a:srgbClr val="333399"/>
                </a:solidFill>
                <a:latin typeface="Times New Roman" panose="02020603050405020304" pitchFamily="18" charset="0"/>
              </a:rPr>
              <a:t>lookahead</a:t>
            </a:r>
            <a:r>
              <a:rPr lang="en-US" altLang="zh-CN" sz="2000" i="0" dirty="0">
                <a:solidFill>
                  <a:srgbClr val="333399"/>
                </a:solidFill>
                <a:latin typeface="Times New Roman" panose="02020603050405020304" pitchFamily="18" charset="0"/>
              </a:rPr>
              <a:t>==‘0’)  { </a:t>
            </a:r>
            <a:r>
              <a:rPr lang="en-US" altLang="zh-CN" sz="2000" i="0" dirty="0" err="1">
                <a:solidFill>
                  <a:srgbClr val="333399"/>
                </a:solidFill>
                <a:latin typeface="Times New Roman" panose="02020603050405020304" pitchFamily="18" charset="0"/>
              </a:rPr>
              <a:t>MatchToken</a:t>
            </a:r>
            <a:r>
              <a:rPr lang="en-US" altLang="zh-CN" sz="2000" i="0" dirty="0">
                <a:solidFill>
                  <a:srgbClr val="333399"/>
                </a:solidFill>
                <a:latin typeface="Times New Roman" panose="02020603050405020304" pitchFamily="18" charset="0"/>
              </a:rPr>
              <a:t>(‘0’); </a:t>
            </a:r>
            <a:r>
              <a:rPr lang="en-US" altLang="zh-CN" sz="2000" dirty="0" err="1">
                <a:solidFill>
                  <a:srgbClr val="333399"/>
                </a:solidFill>
                <a:latin typeface="Times New Roman" panose="02020603050405020304" pitchFamily="18" charset="0"/>
                <a:sym typeface="Symbol" panose="05050102010706020507" pitchFamily="18" charset="2"/>
              </a:rPr>
              <a:t>B</a:t>
            </a:r>
            <a:r>
              <a:rPr lang="en-US" altLang="zh-CN" sz="2000" dirty="0" err="1">
                <a:solidFill>
                  <a:srgbClr val="333399"/>
                </a:solidFill>
                <a:latin typeface="Times New Roman" panose="02020603050405020304" pitchFamily="18" charset="0"/>
              </a:rPr>
              <a:t>v</a:t>
            </a:r>
            <a:r>
              <a:rPr lang="en-US" altLang="zh-CN" sz="2000" i="0" dirty="0">
                <a:solidFill>
                  <a:srgbClr val="333399"/>
                </a:solidFill>
                <a:latin typeface="Times New Roman" panose="02020603050405020304" pitchFamily="18" charset="0"/>
              </a:rPr>
              <a:t> : = 0 } </a:t>
            </a:r>
          </a:p>
          <a:p>
            <a:pPr algn="l"/>
            <a:r>
              <a:rPr lang="en-US" altLang="zh-CN" sz="2000" i="0" dirty="0">
                <a:solidFill>
                  <a:srgbClr val="333399"/>
                </a:solidFill>
                <a:latin typeface="Times New Roman" panose="02020603050405020304" pitchFamily="18" charset="0"/>
              </a:rPr>
              <a:t>    else if  (</a:t>
            </a:r>
            <a:r>
              <a:rPr lang="en-US" altLang="zh-CN" sz="2000" i="0" dirty="0" err="1">
                <a:solidFill>
                  <a:srgbClr val="333399"/>
                </a:solidFill>
                <a:latin typeface="Times New Roman" panose="02020603050405020304" pitchFamily="18" charset="0"/>
              </a:rPr>
              <a:t>lookahead</a:t>
            </a:r>
            <a:r>
              <a:rPr lang="en-US" altLang="zh-CN" sz="2000" i="0" dirty="0">
                <a:solidFill>
                  <a:srgbClr val="333399"/>
                </a:solidFill>
                <a:latin typeface="Times New Roman" panose="02020603050405020304" pitchFamily="18" charset="0"/>
              </a:rPr>
              <a:t>== ‘1’ )  { </a:t>
            </a:r>
          </a:p>
          <a:p>
            <a:pPr algn="l"/>
            <a:r>
              <a:rPr lang="en-US" altLang="zh-CN" sz="2000" i="0" dirty="0">
                <a:solidFill>
                  <a:srgbClr val="333399"/>
                </a:solidFill>
                <a:latin typeface="Times New Roman" panose="02020603050405020304" pitchFamily="18" charset="0"/>
              </a:rPr>
              <a:t>            </a:t>
            </a:r>
            <a:r>
              <a:rPr lang="en-US" altLang="zh-CN" sz="2000" i="0" dirty="0" err="1">
                <a:solidFill>
                  <a:srgbClr val="333399"/>
                </a:solidFill>
                <a:latin typeface="Times New Roman" panose="02020603050405020304" pitchFamily="18" charset="0"/>
              </a:rPr>
              <a:t>MatchToken</a:t>
            </a:r>
            <a:r>
              <a:rPr lang="en-US" altLang="zh-CN" sz="2000" i="0" dirty="0">
                <a:solidFill>
                  <a:srgbClr val="333399"/>
                </a:solidFill>
                <a:latin typeface="Times New Roman" panose="02020603050405020304" pitchFamily="18" charset="0"/>
              </a:rPr>
              <a:t>(‘1’);   </a:t>
            </a:r>
            <a:r>
              <a:rPr lang="en-US" altLang="zh-CN" sz="2000" dirty="0" err="1">
                <a:solidFill>
                  <a:srgbClr val="333399"/>
                </a:solidFill>
                <a:latin typeface="Times New Roman" panose="02020603050405020304" pitchFamily="18" charset="0"/>
                <a:sym typeface="Symbol" panose="05050102010706020507" pitchFamily="18" charset="2"/>
              </a:rPr>
              <a:t>Bv</a:t>
            </a:r>
            <a:r>
              <a:rPr lang="en-US" altLang="zh-CN" sz="2000" dirty="0">
                <a:solidFill>
                  <a:srgbClr val="333399"/>
                </a:solidFill>
                <a:latin typeface="Times New Roman" panose="02020603050405020304" pitchFamily="18" charset="0"/>
                <a:sym typeface="Symbol" panose="05050102010706020507" pitchFamily="18" charset="2"/>
              </a:rPr>
              <a:t> </a:t>
            </a:r>
            <a:r>
              <a:rPr lang="en-US" altLang="zh-CN" sz="2000" i="0" dirty="0">
                <a:solidFill>
                  <a:srgbClr val="333399"/>
                </a:solidFill>
                <a:latin typeface="Times New Roman" panose="02020603050405020304" pitchFamily="18" charset="0"/>
              </a:rPr>
              <a:t>:= </a:t>
            </a:r>
            <a:r>
              <a:rPr lang="en-US" altLang="zh-CN" sz="2000" dirty="0">
                <a:solidFill>
                  <a:srgbClr val="333399"/>
                </a:solidFill>
                <a:latin typeface="Times New Roman" panose="02020603050405020304" pitchFamily="18" charset="0"/>
                <a:sym typeface="Symbol" panose="05050102010706020507" pitchFamily="18" charset="2"/>
              </a:rPr>
              <a:t>2^(-f)</a:t>
            </a:r>
            <a:endParaRPr lang="en-US" altLang="zh-CN" sz="2000" i="0" dirty="0">
              <a:solidFill>
                <a:srgbClr val="333399"/>
              </a:solidFill>
              <a:latin typeface="Times New Roman" panose="02020603050405020304" pitchFamily="18" charset="0"/>
            </a:endParaRPr>
          </a:p>
          <a:p>
            <a:pPr algn="l"/>
            <a:r>
              <a:rPr lang="en-US" altLang="zh-CN" sz="2000" i="0" dirty="0">
                <a:solidFill>
                  <a:srgbClr val="333399"/>
                </a:solidFill>
                <a:latin typeface="Times New Roman" panose="02020603050405020304" pitchFamily="18" charset="0"/>
              </a:rPr>
              <a:t>    }</a:t>
            </a:r>
          </a:p>
          <a:p>
            <a:pPr algn="l"/>
            <a:r>
              <a:rPr lang="en-US" altLang="zh-CN" sz="2000" i="0" dirty="0">
                <a:solidFill>
                  <a:srgbClr val="333399"/>
                </a:solidFill>
                <a:latin typeface="Times New Roman" panose="02020603050405020304" pitchFamily="18" charset="0"/>
              </a:rPr>
              <a:t>    else { </a:t>
            </a:r>
            <a:r>
              <a:rPr lang="en-US" altLang="zh-CN" sz="2000" i="0" dirty="0" err="1">
                <a:solidFill>
                  <a:srgbClr val="333399"/>
                </a:solidFill>
                <a:latin typeface="Times New Roman" panose="02020603050405020304" pitchFamily="18" charset="0"/>
              </a:rPr>
              <a:t>printf</a:t>
            </a:r>
            <a:r>
              <a:rPr lang="en-US" altLang="zh-CN" sz="2000" i="0" dirty="0">
                <a:solidFill>
                  <a:srgbClr val="333399"/>
                </a:solidFill>
                <a:latin typeface="Times New Roman" panose="02020603050405020304" pitchFamily="18" charset="0"/>
              </a:rPr>
              <a:t>("syntax error \n"); exit(0); }</a:t>
            </a:r>
          </a:p>
          <a:p>
            <a:pPr algn="l"/>
            <a:r>
              <a:rPr lang="en-US" altLang="zh-CN" sz="2000" i="0" dirty="0">
                <a:solidFill>
                  <a:srgbClr val="333399"/>
                </a:solidFill>
                <a:latin typeface="Times New Roman" panose="02020603050405020304" pitchFamily="18" charset="0"/>
              </a:rPr>
              <a:t>    return </a:t>
            </a:r>
            <a:r>
              <a:rPr lang="en-US" altLang="zh-CN" sz="2000" dirty="0" err="1">
                <a:solidFill>
                  <a:srgbClr val="333399"/>
                </a:solidFill>
                <a:latin typeface="Times New Roman" panose="02020603050405020304" pitchFamily="18" charset="0"/>
                <a:sym typeface="Symbol" panose="05050102010706020507" pitchFamily="18" charset="2"/>
              </a:rPr>
              <a:t>Bv</a:t>
            </a:r>
            <a:r>
              <a:rPr lang="en-US" altLang="zh-CN" sz="2000" i="0" dirty="0">
                <a:solidFill>
                  <a:srgbClr val="333399"/>
                </a:solidFill>
                <a:latin typeface="Times New Roman" panose="02020603050405020304" pitchFamily="18" charset="0"/>
              </a:rPr>
              <a:t>;</a:t>
            </a:r>
          </a:p>
          <a:p>
            <a:pPr algn="l"/>
            <a:r>
              <a:rPr lang="en-US" altLang="zh-CN" sz="2000" i="0" dirty="0">
                <a:solidFill>
                  <a:srgbClr val="333399"/>
                </a:solidFill>
                <a:latin typeface="Times New Roman" panose="02020603050405020304" pitchFamily="18" charset="0"/>
              </a:rPr>
              <a:t>}</a:t>
            </a:r>
          </a:p>
        </p:txBody>
      </p:sp>
      <p:sp>
        <p:nvSpPr>
          <p:cNvPr id="2" name="灯片编号占位符 1"/>
          <p:cNvSpPr>
            <a:spLocks noGrp="1"/>
          </p:cNvSpPr>
          <p:nvPr>
            <p:ph type="sldNum" sz="quarter" idx="4"/>
          </p:nvPr>
        </p:nvSpPr>
        <p:spPr/>
        <p:txBody>
          <a:bodyPr/>
          <a:lstStyle/>
          <a:p>
            <a:fld id="{565CE74E-AB26-4998-AD42-012C4C1AD076}" type="slidenum">
              <a:rPr lang="zh-CN" altLang="en-US" smtClean="0"/>
              <a:t>63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latin typeface="楷体_GB2312" pitchFamily="49" charset="-122"/>
              </a:rPr>
              <a:t>消除翻译模式中左递归的一种变换方法</a:t>
            </a:r>
          </a:p>
          <a:p>
            <a:endParaRPr lang="zh-CN" altLang="en-US" dirty="0"/>
          </a:p>
        </p:txBody>
      </p:sp>
      <p:sp>
        <p:nvSpPr>
          <p:cNvPr id="3" name="标题 2"/>
          <p:cNvSpPr>
            <a:spLocks noGrp="1"/>
          </p:cNvSpPr>
          <p:nvPr>
            <p:ph type="title"/>
          </p:nvPr>
        </p:nvSpPr>
        <p:spPr/>
        <p:txBody>
          <a:bodyPr/>
          <a:lstStyle/>
          <a:p>
            <a:r>
              <a:rPr lang="zh-CN" altLang="en-US" dirty="0">
                <a:latin typeface="Times New Roman" panose="02020603050405020304" pitchFamily="18" charset="0"/>
              </a:rPr>
              <a:t>四、基于翻译模式的语义计算</a:t>
            </a:r>
            <a:endParaRPr lang="zh-CN" altLang="en-US" dirty="0"/>
          </a:p>
        </p:txBody>
      </p:sp>
      <p:sp>
        <p:nvSpPr>
          <p:cNvPr id="6" name="文本占位符 131084"/>
          <p:cNvSpPr txBox="1">
            <a:spLocks noRot="1" noChangeArrowheads="1"/>
          </p:cNvSpPr>
          <p:nvPr/>
        </p:nvSpPr>
        <p:spPr>
          <a:xfrm>
            <a:off x="457200" y="1469572"/>
            <a:ext cx="7924800" cy="2286000"/>
          </a:xfrm>
          <a:prstGeom prst="rect">
            <a:avLst/>
          </a:prstGeom>
        </p:spPr>
        <p:txBody>
          <a:bodyPr vert="horz" lIns="92075" tIns="46038" rIns="92075" bIns="46038" rtlCol="0">
            <a:normAutofit lnSpcReduction="10000"/>
          </a:bodyPr>
          <a:lstStyle>
            <a:lvl1pPr marL="228600" indent="-228600" algn="l" defTabSz="914400" rtl="0" eaLnBrk="1" latinLnBrk="0" hangingPunct="1">
              <a:lnSpc>
                <a:spcPct val="90000"/>
              </a:lnSpc>
              <a:spcBef>
                <a:spcPts val="1000"/>
              </a:spcBef>
              <a:buFont typeface="Wingdings" panose="05000000000000000000" charset="0"/>
              <a:buChar char="n"/>
              <a:defRPr sz="3600" b="1" u="none" strike="noStrike" kern="1200" cap="none" spc="0" normalizeH="0">
                <a:solidFill>
                  <a:srgbClr val="0206AD"/>
                </a:solidFill>
                <a:uFillTx/>
                <a:latin typeface="Times New Roman" panose="02020603050405020304" charset="0"/>
                <a:ea typeface="+mn-ea"/>
                <a:cs typeface="+mn-cs"/>
              </a:defRPr>
            </a:lvl1pPr>
            <a:lvl2pPr marL="685800" indent="-228600" algn="l" defTabSz="914400" rtl="0" eaLnBrk="1" latinLnBrk="0" hangingPunct="1">
              <a:lnSpc>
                <a:spcPct val="90000"/>
              </a:lnSpc>
              <a:spcBef>
                <a:spcPts val="500"/>
              </a:spcBef>
              <a:buFont typeface="Wingdings" panose="05000000000000000000" charset="0"/>
              <a:buChar char="u"/>
              <a:defRPr sz="3200" b="1" u="none" strike="noStrike" kern="1200" cap="none" spc="0" normalizeH="0">
                <a:solidFill>
                  <a:srgbClr val="0066FF"/>
                </a:solidFill>
                <a:uFillTx/>
                <a:latin typeface="Times New Roman" panose="02020603050405020304" charset="0"/>
                <a:ea typeface="+mn-ea"/>
                <a:cs typeface="+mn-cs"/>
              </a:defRPr>
            </a:lvl2pPr>
            <a:lvl3pPr marL="1143000" indent="-228600" algn="l" defTabSz="914400" rtl="0" eaLnBrk="1" latinLnBrk="0" hangingPunct="1">
              <a:lnSpc>
                <a:spcPct val="90000"/>
              </a:lnSpc>
              <a:spcBef>
                <a:spcPts val="500"/>
              </a:spcBef>
              <a:buFont typeface="Wingdings" panose="05000000000000000000" charset="0"/>
              <a:buChar char="l"/>
              <a:defRPr sz="2800" b="1" u="none" strike="noStrike" kern="1200" cap="none" spc="0" normalizeH="0">
                <a:solidFill>
                  <a:srgbClr val="0206AD"/>
                </a:solidFill>
                <a:uFillTx/>
                <a:latin typeface="Times New Roman" panose="0202060305040502030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rgbClr val="0066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solidFill>
                  <a:srgbClr val="000000"/>
                </a:solidFill>
              </a:rPr>
              <a:t>假设有翻译模式</a:t>
            </a:r>
            <a:r>
              <a:rPr lang="en-US" altLang="zh-CN" sz="2800" dirty="0">
                <a:solidFill>
                  <a:srgbClr val="000000"/>
                </a:solidFill>
                <a:sym typeface="Wingdings" panose="05000000000000000000" pitchFamily="2" charset="2"/>
              </a:rPr>
              <a:t>(</a:t>
            </a:r>
            <a:r>
              <a:rPr lang="zh-CN" altLang="en-US" sz="2800" dirty="0">
                <a:solidFill>
                  <a:srgbClr val="000000"/>
                </a:solidFill>
                <a:sym typeface="Wingdings" panose="05000000000000000000" pitchFamily="2" charset="2"/>
              </a:rPr>
              <a:t>了解</a:t>
            </a:r>
            <a:r>
              <a:rPr lang="en-US" altLang="zh-CN" sz="2800" dirty="0">
                <a:solidFill>
                  <a:srgbClr val="000000"/>
                </a:solidFill>
                <a:sym typeface="Wingdings" panose="05000000000000000000" pitchFamily="2" charset="2"/>
              </a:rPr>
              <a:t>)</a:t>
            </a:r>
            <a:endParaRPr lang="zh-CN" altLang="en-US" sz="2800" dirty="0">
              <a:solidFill>
                <a:srgbClr val="000000"/>
              </a:solidFill>
            </a:endParaRPr>
          </a:p>
          <a:p>
            <a:pPr>
              <a:buFont typeface="Wingdings" panose="05000000000000000000" pitchFamily="2" charset="2"/>
              <a:buNone/>
            </a:pPr>
            <a:r>
              <a:rPr lang="zh-CN" altLang="en-US" sz="2800" dirty="0">
                <a:solidFill>
                  <a:srgbClr val="000000"/>
                </a:solidFill>
              </a:rPr>
              <a:t>          </a:t>
            </a:r>
            <a:r>
              <a:rPr lang="en-US" altLang="zh-CN" sz="2800" dirty="0">
                <a:solidFill>
                  <a:srgbClr val="000000"/>
                </a:solidFill>
              </a:rPr>
              <a:t>A→A</a:t>
            </a:r>
            <a:r>
              <a:rPr lang="en-US" altLang="zh-CN" sz="2800" baseline="-30000" dirty="0">
                <a:solidFill>
                  <a:srgbClr val="000000"/>
                </a:solidFill>
              </a:rPr>
              <a:t>1</a:t>
            </a:r>
            <a:r>
              <a:rPr lang="en-US" altLang="zh-CN" sz="2800" dirty="0">
                <a:solidFill>
                  <a:srgbClr val="000000"/>
                </a:solidFill>
              </a:rPr>
              <a:t>Y	{</a:t>
            </a:r>
            <a:r>
              <a:rPr lang="en-US" altLang="zh-CN" sz="2800" dirty="0" err="1">
                <a:solidFill>
                  <a:srgbClr val="000000"/>
                </a:solidFill>
              </a:rPr>
              <a:t>A.a</a:t>
            </a:r>
            <a:r>
              <a:rPr lang="en-US" altLang="zh-CN" sz="2800" dirty="0">
                <a:solidFill>
                  <a:srgbClr val="000000"/>
                </a:solidFill>
              </a:rPr>
              <a:t>:=</a:t>
            </a:r>
            <a:r>
              <a:rPr lang="en-US" altLang="zh-CN" sz="2800" dirty="0">
                <a:solidFill>
                  <a:srgbClr val="0099FF"/>
                </a:solidFill>
              </a:rPr>
              <a:t>g(A</a:t>
            </a:r>
            <a:r>
              <a:rPr lang="en-US" altLang="zh-CN" sz="2800" baseline="-30000" dirty="0">
                <a:solidFill>
                  <a:srgbClr val="0099FF"/>
                </a:solidFill>
              </a:rPr>
              <a:t>1</a:t>
            </a:r>
            <a:r>
              <a:rPr lang="en-US" altLang="zh-CN" sz="2800" dirty="0">
                <a:solidFill>
                  <a:srgbClr val="0099FF"/>
                </a:solidFill>
              </a:rPr>
              <a:t>.a,Y.y)</a:t>
            </a:r>
            <a:r>
              <a:rPr lang="en-US" altLang="zh-CN" sz="2800" dirty="0">
                <a:solidFill>
                  <a:srgbClr val="000000"/>
                </a:solidFill>
              </a:rPr>
              <a:t>}</a:t>
            </a:r>
          </a:p>
          <a:p>
            <a:pPr>
              <a:buFont typeface="Wingdings" panose="05000000000000000000" pitchFamily="2" charset="2"/>
              <a:buNone/>
            </a:pPr>
            <a:r>
              <a:rPr lang="en-US" altLang="zh-CN" sz="2800" dirty="0">
                <a:solidFill>
                  <a:srgbClr val="000000"/>
                </a:solidFill>
              </a:rPr>
              <a:t>          A→X	{</a:t>
            </a:r>
            <a:r>
              <a:rPr lang="en-US" altLang="zh-CN" sz="2800" dirty="0" err="1">
                <a:solidFill>
                  <a:srgbClr val="000000"/>
                </a:solidFill>
              </a:rPr>
              <a:t>A.a</a:t>
            </a:r>
            <a:r>
              <a:rPr lang="en-US" altLang="zh-CN" sz="2800" dirty="0">
                <a:solidFill>
                  <a:srgbClr val="000000"/>
                </a:solidFill>
              </a:rPr>
              <a:t>:=</a:t>
            </a:r>
            <a:r>
              <a:rPr lang="en-US" altLang="zh-CN" sz="2800" dirty="0">
                <a:solidFill>
                  <a:srgbClr val="FF3300"/>
                </a:solidFill>
              </a:rPr>
              <a:t>f(</a:t>
            </a:r>
            <a:r>
              <a:rPr lang="en-US" altLang="zh-CN" sz="2800" dirty="0" err="1">
                <a:solidFill>
                  <a:srgbClr val="FF3300"/>
                </a:solidFill>
              </a:rPr>
              <a:t>X.x</a:t>
            </a:r>
            <a:r>
              <a:rPr lang="en-US" altLang="zh-CN" sz="2800" dirty="0">
                <a:solidFill>
                  <a:srgbClr val="FF3300"/>
                </a:solidFill>
              </a:rPr>
              <a:t>)</a:t>
            </a:r>
            <a:r>
              <a:rPr lang="en-US" altLang="zh-CN" sz="2800" dirty="0">
                <a:solidFill>
                  <a:srgbClr val="000000"/>
                </a:solidFill>
              </a:rPr>
              <a:t>}</a:t>
            </a:r>
          </a:p>
          <a:p>
            <a:pPr>
              <a:buFont typeface="Wingdings" panose="05000000000000000000" pitchFamily="2" charset="2"/>
              <a:buNone/>
            </a:pPr>
            <a:r>
              <a:rPr lang="en-US" altLang="zh-CN" sz="2800" dirty="0">
                <a:solidFill>
                  <a:srgbClr val="000000"/>
                </a:solidFill>
              </a:rPr>
              <a:t>	</a:t>
            </a:r>
            <a:r>
              <a:rPr lang="zh-CN" altLang="en-US" sz="2800" dirty="0">
                <a:solidFill>
                  <a:srgbClr val="000000"/>
                </a:solidFill>
              </a:rPr>
              <a:t>它的每个文法符号都有一个综合属性，用小写字母表示，</a:t>
            </a:r>
            <a:r>
              <a:rPr lang="en-US" altLang="zh-CN" sz="2800" dirty="0">
                <a:solidFill>
                  <a:srgbClr val="000000"/>
                </a:solidFill>
              </a:rPr>
              <a:t>g</a:t>
            </a:r>
            <a:r>
              <a:rPr lang="zh-CN" altLang="en-US" sz="2800" dirty="0">
                <a:solidFill>
                  <a:srgbClr val="000000"/>
                </a:solidFill>
              </a:rPr>
              <a:t>和</a:t>
            </a:r>
            <a:r>
              <a:rPr lang="en-US" altLang="zh-CN" sz="2800" dirty="0">
                <a:solidFill>
                  <a:srgbClr val="000000"/>
                </a:solidFill>
              </a:rPr>
              <a:t>f</a:t>
            </a:r>
            <a:r>
              <a:rPr lang="zh-CN" altLang="en-US" sz="2800" dirty="0">
                <a:solidFill>
                  <a:srgbClr val="000000"/>
                </a:solidFill>
              </a:rPr>
              <a:t>是任意函数。</a:t>
            </a:r>
          </a:p>
        </p:txBody>
      </p:sp>
      <p:sp>
        <p:nvSpPr>
          <p:cNvPr id="7" name="矩形 131085"/>
          <p:cNvSpPr>
            <a:spLocks noChangeArrowheads="1"/>
          </p:cNvSpPr>
          <p:nvPr/>
        </p:nvSpPr>
        <p:spPr bwMode="auto">
          <a:xfrm>
            <a:off x="457200" y="3907972"/>
            <a:ext cx="3657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SzPct val="75000"/>
              <a:buFont typeface="Wingdings" panose="05000000000000000000" pitchFamily="2" charset="2"/>
              <a:buChar char="q"/>
            </a:pPr>
            <a:r>
              <a:rPr lang="zh-CN" altLang="en-US" sz="2800" b="1" dirty="0">
                <a:solidFill>
                  <a:srgbClr val="000000"/>
                </a:solidFill>
                <a:latin typeface="Times New Roman" panose="02020603050405020304" charset="0"/>
              </a:rPr>
              <a:t>消除左递归：</a:t>
            </a:r>
          </a:p>
          <a:p>
            <a:pPr>
              <a:lnSpc>
                <a:spcPct val="90000"/>
              </a:lnSpc>
              <a:spcBef>
                <a:spcPct val="20000"/>
              </a:spcBef>
              <a:buClr>
                <a:schemeClr val="hlink"/>
              </a:buClr>
              <a:buSzPct val="75000"/>
              <a:buFont typeface="Wingdings" panose="05000000000000000000" pitchFamily="2" charset="2"/>
              <a:buNone/>
            </a:pPr>
            <a:r>
              <a:rPr lang="zh-CN" altLang="en-US" sz="2800" b="1" dirty="0">
                <a:solidFill>
                  <a:srgbClr val="000000"/>
                </a:solidFill>
                <a:latin typeface="Times New Roman" panose="02020603050405020304" charset="0"/>
              </a:rPr>
              <a:t>          </a:t>
            </a:r>
            <a:r>
              <a:rPr lang="en-US" altLang="zh-CN" sz="2800" b="1" dirty="0">
                <a:solidFill>
                  <a:srgbClr val="000000"/>
                </a:solidFill>
                <a:latin typeface="Times New Roman" panose="02020603050405020304" charset="0"/>
              </a:rPr>
              <a:t>A→XR</a:t>
            </a:r>
          </a:p>
          <a:p>
            <a:pPr>
              <a:lnSpc>
                <a:spcPct val="90000"/>
              </a:lnSpc>
              <a:spcBef>
                <a:spcPct val="20000"/>
              </a:spcBef>
              <a:buClr>
                <a:schemeClr val="hlink"/>
              </a:buClr>
              <a:buSzPct val="75000"/>
              <a:buFont typeface="Wingdings" panose="05000000000000000000" pitchFamily="2" charset="2"/>
              <a:buNone/>
            </a:pPr>
            <a:r>
              <a:rPr lang="en-US" altLang="zh-CN" sz="2800" b="1" dirty="0">
                <a:solidFill>
                  <a:srgbClr val="000000"/>
                </a:solidFill>
                <a:latin typeface="Times New Roman" panose="02020603050405020304" charset="0"/>
              </a:rPr>
              <a:t>          R→YR | </a:t>
            </a:r>
            <a:r>
              <a:rPr lang="en-US" altLang="zh-CN" sz="2800" b="1" dirty="0">
                <a:solidFill>
                  <a:srgbClr val="000000"/>
                </a:solidFill>
                <a:latin typeface="Times New Roman" panose="02020603050405020304" charset="0"/>
                <a:sym typeface="Symbol" panose="05050102010706020507" pitchFamily="18" charset="2"/>
              </a:rPr>
              <a:t></a:t>
            </a:r>
            <a:r>
              <a:rPr lang="en-US" altLang="zh-CN" sz="2800" b="1" dirty="0">
                <a:solidFill>
                  <a:srgbClr val="000000"/>
                </a:solidFill>
                <a:latin typeface="Times New Roman" panose="02020603050405020304" charset="0"/>
              </a:rPr>
              <a:t>	</a:t>
            </a:r>
          </a:p>
        </p:txBody>
      </p:sp>
      <p:sp>
        <p:nvSpPr>
          <p:cNvPr id="8" name="矩形 131086"/>
          <p:cNvSpPr>
            <a:spLocks noChangeArrowheads="1"/>
          </p:cNvSpPr>
          <p:nvPr/>
        </p:nvSpPr>
        <p:spPr bwMode="auto">
          <a:xfrm>
            <a:off x="3886200" y="3907972"/>
            <a:ext cx="4648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Clr>
                <a:schemeClr val="hlink"/>
              </a:buClr>
              <a:buSzPct val="75000"/>
              <a:buFont typeface="Wingdings" panose="05000000000000000000" pitchFamily="2" charset="2"/>
              <a:buChar char="q"/>
            </a:pPr>
            <a:r>
              <a:rPr lang="zh-CN" altLang="en-US" sz="2800" b="1" dirty="0">
                <a:solidFill>
                  <a:srgbClr val="000000"/>
                </a:solidFill>
                <a:latin typeface="Times New Roman" panose="02020603050405020304" charset="0"/>
              </a:rPr>
              <a:t>翻译模式变为 ：</a:t>
            </a:r>
          </a:p>
          <a:p>
            <a:pPr>
              <a:lnSpc>
                <a:spcPct val="90000"/>
              </a:lnSpc>
              <a:spcBef>
                <a:spcPct val="20000"/>
              </a:spcBef>
              <a:buClr>
                <a:schemeClr val="hlink"/>
              </a:buClr>
              <a:buSzPct val="75000"/>
              <a:buFont typeface="Wingdings" panose="05000000000000000000" pitchFamily="2" charset="2"/>
              <a:buNone/>
            </a:pPr>
            <a:r>
              <a:rPr lang="zh-CN" altLang="en-US" sz="2800" b="1" dirty="0">
                <a:solidFill>
                  <a:srgbClr val="000000"/>
                </a:solidFill>
                <a:latin typeface="Times New Roman" panose="02020603050405020304" charset="0"/>
              </a:rPr>
              <a:t>	</a:t>
            </a:r>
            <a:r>
              <a:rPr lang="en-US" altLang="zh-CN" sz="2800" b="1" dirty="0">
                <a:solidFill>
                  <a:srgbClr val="000000"/>
                </a:solidFill>
                <a:latin typeface="Times New Roman" panose="02020603050405020304" charset="0"/>
              </a:rPr>
              <a:t>A → X	{</a:t>
            </a:r>
            <a:r>
              <a:rPr lang="en-US" altLang="zh-CN" sz="2800" b="1" dirty="0" err="1">
                <a:solidFill>
                  <a:srgbClr val="000000"/>
                </a:solidFill>
                <a:latin typeface="Times New Roman" panose="02020603050405020304" charset="0"/>
              </a:rPr>
              <a:t>R.i</a:t>
            </a:r>
            <a:r>
              <a:rPr lang="en-US" altLang="zh-CN" sz="2800" b="1" dirty="0">
                <a:solidFill>
                  <a:srgbClr val="000000"/>
                </a:solidFill>
                <a:latin typeface="Times New Roman" panose="02020603050405020304" charset="0"/>
              </a:rPr>
              <a:t>:=</a:t>
            </a:r>
            <a:r>
              <a:rPr lang="en-US" altLang="zh-CN" sz="2800" b="1" dirty="0">
                <a:solidFill>
                  <a:srgbClr val="FF3300"/>
                </a:solidFill>
                <a:latin typeface="Times New Roman" panose="02020603050405020304" charset="0"/>
              </a:rPr>
              <a:t>f (</a:t>
            </a:r>
            <a:r>
              <a:rPr lang="en-US" altLang="zh-CN" sz="2800" b="1" dirty="0" err="1">
                <a:solidFill>
                  <a:srgbClr val="FF3300"/>
                </a:solidFill>
                <a:latin typeface="Times New Roman" panose="02020603050405020304" charset="0"/>
              </a:rPr>
              <a:t>X.x</a:t>
            </a:r>
            <a:r>
              <a:rPr lang="en-US" altLang="zh-CN" sz="2800" b="1" dirty="0">
                <a:solidFill>
                  <a:srgbClr val="FF3300"/>
                </a:solidFill>
                <a:latin typeface="Times New Roman" panose="02020603050405020304" charset="0"/>
              </a:rPr>
              <a:t>)</a:t>
            </a:r>
            <a:r>
              <a:rPr lang="en-US" altLang="zh-CN" sz="2800" b="1" dirty="0">
                <a:solidFill>
                  <a:srgbClr val="000000"/>
                </a:solidFill>
                <a:latin typeface="Times New Roman" panose="02020603050405020304" charset="0"/>
              </a:rPr>
              <a:t>}</a:t>
            </a:r>
          </a:p>
          <a:p>
            <a:pPr>
              <a:lnSpc>
                <a:spcPct val="90000"/>
              </a:lnSpc>
              <a:spcBef>
                <a:spcPct val="20000"/>
              </a:spcBef>
              <a:buClr>
                <a:schemeClr val="hlink"/>
              </a:buClr>
              <a:buSzPct val="75000"/>
              <a:buFont typeface="Wingdings" panose="05000000000000000000" pitchFamily="2" charset="2"/>
              <a:buNone/>
            </a:pPr>
            <a:r>
              <a:rPr lang="en-US" altLang="zh-CN" sz="2800" b="1" dirty="0">
                <a:solidFill>
                  <a:srgbClr val="000000"/>
                </a:solidFill>
                <a:latin typeface="Times New Roman" panose="02020603050405020304" charset="0"/>
              </a:rPr>
              <a:t>             R	{</a:t>
            </a:r>
            <a:r>
              <a:rPr lang="en-US" altLang="zh-CN" sz="2800" b="1" dirty="0" err="1">
                <a:solidFill>
                  <a:srgbClr val="000000"/>
                </a:solidFill>
                <a:latin typeface="Times New Roman" panose="02020603050405020304" charset="0"/>
              </a:rPr>
              <a:t>A.a</a:t>
            </a:r>
            <a:r>
              <a:rPr lang="en-US" altLang="zh-CN" sz="2800" b="1" dirty="0">
                <a:solidFill>
                  <a:srgbClr val="000000"/>
                </a:solidFill>
                <a:latin typeface="Times New Roman" panose="02020603050405020304" charset="0"/>
              </a:rPr>
              <a:t>:=R.s}	</a:t>
            </a:r>
          </a:p>
          <a:p>
            <a:pPr>
              <a:lnSpc>
                <a:spcPct val="90000"/>
              </a:lnSpc>
              <a:spcBef>
                <a:spcPct val="20000"/>
              </a:spcBef>
              <a:buClr>
                <a:schemeClr val="hlink"/>
              </a:buClr>
              <a:buSzPct val="75000"/>
              <a:buFont typeface="Wingdings" panose="05000000000000000000" pitchFamily="2" charset="2"/>
              <a:buNone/>
            </a:pPr>
            <a:r>
              <a:rPr lang="en-US" altLang="zh-CN" sz="2800" b="1" dirty="0">
                <a:solidFill>
                  <a:srgbClr val="000000"/>
                </a:solidFill>
                <a:latin typeface="Times New Roman" panose="02020603050405020304" charset="0"/>
              </a:rPr>
              <a:t>	R → Y   	{R</a:t>
            </a:r>
            <a:r>
              <a:rPr lang="en-US" altLang="zh-CN" sz="2800" b="1" baseline="-30000" dirty="0">
                <a:solidFill>
                  <a:srgbClr val="000000"/>
                </a:solidFill>
                <a:latin typeface="Times New Roman" panose="02020603050405020304" charset="0"/>
              </a:rPr>
              <a:t>1</a:t>
            </a:r>
            <a:r>
              <a:rPr lang="en-US" altLang="zh-CN" sz="2800" b="1" dirty="0">
                <a:solidFill>
                  <a:srgbClr val="000000"/>
                </a:solidFill>
                <a:latin typeface="Times New Roman" panose="02020603050405020304" charset="0"/>
              </a:rPr>
              <a:t>.i:=</a:t>
            </a:r>
            <a:r>
              <a:rPr lang="en-US" altLang="zh-CN" sz="2800" b="1" dirty="0">
                <a:solidFill>
                  <a:srgbClr val="0099FF"/>
                </a:solidFill>
                <a:latin typeface="Times New Roman" panose="02020603050405020304" charset="0"/>
              </a:rPr>
              <a:t>g(</a:t>
            </a:r>
            <a:r>
              <a:rPr lang="en-US" altLang="zh-CN" sz="2800" b="1" dirty="0" err="1">
                <a:solidFill>
                  <a:srgbClr val="0099FF"/>
                </a:solidFill>
                <a:latin typeface="Times New Roman" panose="02020603050405020304" charset="0"/>
              </a:rPr>
              <a:t>R.i,Y.y</a:t>
            </a:r>
            <a:r>
              <a:rPr lang="en-US" altLang="zh-CN" sz="2800" b="1" dirty="0">
                <a:solidFill>
                  <a:srgbClr val="0099FF"/>
                </a:solidFill>
                <a:latin typeface="Times New Roman" panose="02020603050405020304" charset="0"/>
              </a:rPr>
              <a:t>)</a:t>
            </a:r>
            <a:r>
              <a:rPr lang="en-US" altLang="zh-CN" sz="2800" b="1" dirty="0">
                <a:solidFill>
                  <a:srgbClr val="000000"/>
                </a:solidFill>
                <a:latin typeface="Times New Roman" panose="02020603050405020304" charset="0"/>
              </a:rPr>
              <a:t>} 	  R</a:t>
            </a:r>
            <a:r>
              <a:rPr lang="en-US" altLang="zh-CN" sz="2800" b="1" baseline="-30000" dirty="0">
                <a:solidFill>
                  <a:srgbClr val="000000"/>
                </a:solidFill>
                <a:latin typeface="Times New Roman" panose="02020603050405020304" charset="0"/>
              </a:rPr>
              <a:t>1</a:t>
            </a:r>
            <a:r>
              <a:rPr lang="en-US" altLang="zh-CN" sz="2800" b="1" dirty="0">
                <a:solidFill>
                  <a:srgbClr val="000000"/>
                </a:solidFill>
                <a:latin typeface="Times New Roman" panose="02020603050405020304" charset="0"/>
              </a:rPr>
              <a:t>	{R.s:=R</a:t>
            </a:r>
            <a:r>
              <a:rPr lang="en-US" altLang="zh-CN" sz="2800" b="1" baseline="-30000" dirty="0">
                <a:solidFill>
                  <a:srgbClr val="000000"/>
                </a:solidFill>
                <a:latin typeface="Times New Roman" panose="02020603050405020304" charset="0"/>
              </a:rPr>
              <a:t>1</a:t>
            </a:r>
            <a:r>
              <a:rPr lang="en-US" altLang="zh-CN" sz="2800" b="1" dirty="0">
                <a:solidFill>
                  <a:srgbClr val="000000"/>
                </a:solidFill>
                <a:latin typeface="Times New Roman" panose="02020603050405020304" charset="0"/>
              </a:rPr>
              <a:t>.s}</a:t>
            </a:r>
          </a:p>
          <a:p>
            <a:pPr>
              <a:lnSpc>
                <a:spcPct val="90000"/>
              </a:lnSpc>
              <a:spcBef>
                <a:spcPct val="20000"/>
              </a:spcBef>
              <a:buClr>
                <a:schemeClr val="hlink"/>
              </a:buClr>
              <a:buSzPct val="75000"/>
              <a:buFont typeface="Wingdings" panose="05000000000000000000" pitchFamily="2" charset="2"/>
              <a:buNone/>
            </a:pPr>
            <a:r>
              <a:rPr lang="en-US" altLang="zh-CN" sz="2800" b="1" dirty="0">
                <a:solidFill>
                  <a:srgbClr val="000000"/>
                </a:solidFill>
                <a:latin typeface="Times New Roman" panose="02020603050405020304" charset="0"/>
              </a:rPr>
              <a:t>	R → </a:t>
            </a:r>
            <a:r>
              <a:rPr lang="en-US" altLang="zh-CN" sz="2800" b="1" dirty="0">
                <a:solidFill>
                  <a:srgbClr val="000000"/>
                </a:solidFill>
                <a:latin typeface="Times New Roman" panose="02020603050405020304" charset="0"/>
                <a:sym typeface="Symbol" panose="05050102010706020507" pitchFamily="18" charset="2"/>
              </a:rPr>
              <a:t></a:t>
            </a:r>
            <a:r>
              <a:rPr lang="en-US" altLang="zh-CN" sz="2800" b="1" dirty="0">
                <a:solidFill>
                  <a:srgbClr val="000000"/>
                </a:solidFill>
                <a:latin typeface="Times New Roman" panose="02020603050405020304" charset="0"/>
              </a:rPr>
              <a:t>	{R.s:=</a:t>
            </a:r>
            <a:r>
              <a:rPr lang="en-US" altLang="zh-CN" sz="2800" b="1" dirty="0" err="1">
                <a:solidFill>
                  <a:srgbClr val="000000"/>
                </a:solidFill>
                <a:latin typeface="Times New Roman" panose="02020603050405020304" charset="0"/>
              </a:rPr>
              <a:t>R.i</a:t>
            </a:r>
            <a:r>
              <a:rPr lang="en-US" altLang="zh-CN" sz="2800" b="1" dirty="0">
                <a:solidFill>
                  <a:srgbClr val="000000"/>
                </a:solidFill>
                <a:latin typeface="Times New Roman" panose="02020603050405020304" charset="0"/>
              </a:rPr>
              <a:t>}</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r>
              <a:rPr lang="zh-CN" altLang="en-US" dirty="0"/>
              <a:t>看懂</a:t>
            </a:r>
            <a:r>
              <a:rPr lang="en-US" altLang="zh-CN" dirty="0"/>
              <a:t>P182</a:t>
            </a:r>
            <a:r>
              <a:rPr lang="zh-CN" altLang="en-US" dirty="0"/>
              <a:t>“基于某个</a:t>
            </a:r>
            <a:r>
              <a:rPr lang="en-US" altLang="zh-CN" dirty="0"/>
              <a:t>L-</a:t>
            </a:r>
            <a:r>
              <a:rPr lang="zh-CN" altLang="en-US" dirty="0"/>
              <a:t>翻译模式的</a:t>
            </a:r>
            <a:r>
              <a:rPr lang="en-US" altLang="zh-CN" dirty="0"/>
              <a:t>LR</a:t>
            </a:r>
            <a:r>
              <a:rPr lang="zh-CN" altLang="en-US" dirty="0"/>
              <a:t>分析过程和语义计算过程”。</a:t>
            </a:r>
            <a:endParaRPr lang="en-US" altLang="zh-CN" dirty="0"/>
          </a:p>
          <a:p>
            <a:pPr lvl="1"/>
            <a:r>
              <a:rPr lang="zh-CN" altLang="en-US" dirty="0"/>
              <a:t>画出基于</a:t>
            </a:r>
            <a:r>
              <a:rPr lang="en-US" altLang="zh-CN" dirty="0"/>
              <a:t>LR</a:t>
            </a:r>
            <a:r>
              <a:rPr lang="zh-CN" altLang="en-US" dirty="0"/>
              <a:t>分析表（图</a:t>
            </a:r>
            <a:r>
              <a:rPr lang="en-US" altLang="zh-CN" dirty="0"/>
              <a:t>7.16</a:t>
            </a:r>
            <a:r>
              <a:rPr lang="zh-CN" altLang="en-US" dirty="0"/>
              <a:t>）的分析过程。</a:t>
            </a:r>
            <a:endParaRPr lang="en-US" altLang="zh-CN" dirty="0"/>
          </a:p>
          <a:p>
            <a:pPr lvl="1"/>
            <a:r>
              <a:rPr lang="zh-CN" altLang="en-US" dirty="0"/>
              <a:t>比较“</a:t>
            </a:r>
            <a:r>
              <a:rPr lang="en-US" altLang="zh-CN" dirty="0"/>
              <a:t>LR</a:t>
            </a:r>
            <a:r>
              <a:rPr lang="zh-CN" altLang="en-US" dirty="0"/>
              <a:t>分析过程”与“基于</a:t>
            </a:r>
            <a:r>
              <a:rPr lang="en-US" altLang="zh-CN" dirty="0"/>
              <a:t>L-</a:t>
            </a:r>
            <a:r>
              <a:rPr lang="zh-CN" altLang="en-US" dirty="0"/>
              <a:t>翻译模式的语义分析过程区别和联系”？</a:t>
            </a:r>
            <a:endParaRPr lang="en-US" altLang="zh-CN" dirty="0"/>
          </a:p>
        </p:txBody>
      </p:sp>
      <p:sp>
        <p:nvSpPr>
          <p:cNvPr id="3" name="标题 2"/>
          <p:cNvSpPr>
            <a:spLocks noGrp="1"/>
          </p:cNvSpPr>
          <p:nvPr>
            <p:ph type="title"/>
          </p:nvPr>
        </p:nvSpPr>
        <p:spPr/>
        <p:txBody>
          <a:bodyPr/>
          <a:lstStyle/>
          <a:p>
            <a:pPr algn="ctr"/>
            <a:r>
              <a:rPr lang="zh-CN" altLang="en-US" dirty="0"/>
              <a:t>作业</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65</a:t>
            </a:fld>
            <a:endParaRPr lang="zh-CN" altLang="en-US"/>
          </a:p>
        </p:txBody>
      </p:sp>
    </p:spTree>
    <p:extLst>
      <p:ext uri="{BB962C8B-B14F-4D97-AF65-F5344CB8AC3E}">
        <p14:creationId xmlns:p14="http://schemas.microsoft.com/office/powerpoint/2010/main" val="20669577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fontScale="92500" lnSpcReduction="10000"/>
          </a:bodyPr>
          <a:lstStyle/>
          <a:p>
            <a:r>
              <a:rPr lang="zh-CN" altLang="en-US" dirty="0"/>
              <a:t>一、语法制导翻译概述</a:t>
            </a:r>
          </a:p>
          <a:p>
            <a:pPr lvl="0"/>
            <a:r>
              <a:rPr lang="zh-CN" altLang="en-US" dirty="0"/>
              <a:t>二、属性文法</a:t>
            </a:r>
          </a:p>
          <a:p>
            <a:pPr lvl="1"/>
            <a:r>
              <a:rPr lang="zh-CN" altLang="en-US" dirty="0"/>
              <a:t>综合属性与继承属性</a:t>
            </a:r>
          </a:p>
          <a:p>
            <a:pPr lvl="1"/>
            <a:r>
              <a:rPr lang="en-US" altLang="zh-CN" dirty="0"/>
              <a:t>S-</a:t>
            </a:r>
            <a:r>
              <a:rPr lang="zh-CN" altLang="en-US" dirty="0"/>
              <a:t>属性文法</a:t>
            </a:r>
          </a:p>
          <a:p>
            <a:pPr lvl="1"/>
            <a:r>
              <a:rPr lang="en-US" altLang="zh-CN" dirty="0"/>
              <a:t>L-</a:t>
            </a:r>
            <a:r>
              <a:rPr lang="zh-CN" altLang="en-US" dirty="0"/>
              <a:t>属性文法</a:t>
            </a:r>
          </a:p>
          <a:p>
            <a:pPr lvl="0"/>
            <a:r>
              <a:rPr lang="zh-CN" altLang="en-US" sz="3200" dirty="0"/>
              <a:t>三、基于属性文法的语义计算</a:t>
            </a:r>
          </a:p>
          <a:p>
            <a:pPr lvl="1"/>
            <a:r>
              <a:rPr lang="zh-CN" altLang="en-US" dirty="0">
                <a:sym typeface="+mn-ea"/>
              </a:rPr>
              <a:t>基于</a:t>
            </a:r>
            <a:r>
              <a:rPr lang="en-US" altLang="zh-CN" dirty="0">
                <a:sym typeface="+mn-ea"/>
              </a:rPr>
              <a:t>S-</a:t>
            </a:r>
            <a:r>
              <a:rPr lang="zh-CN" altLang="en-US" dirty="0">
                <a:sym typeface="+mn-ea"/>
              </a:rPr>
              <a:t>属性文法的语义计算</a:t>
            </a:r>
            <a:endParaRPr lang="zh-CN" altLang="en-US" dirty="0"/>
          </a:p>
          <a:p>
            <a:pPr lvl="1"/>
            <a:r>
              <a:rPr lang="zh-CN" altLang="en-US" dirty="0">
                <a:sym typeface="+mn-ea"/>
              </a:rPr>
              <a:t>基于</a:t>
            </a:r>
            <a:r>
              <a:rPr lang="en-US" altLang="zh-CN" dirty="0">
                <a:sym typeface="+mn-ea"/>
              </a:rPr>
              <a:t>L-</a:t>
            </a:r>
            <a:r>
              <a:rPr lang="zh-CN" altLang="en-US" dirty="0">
                <a:sym typeface="+mn-ea"/>
              </a:rPr>
              <a:t>属性文法的语义计算</a:t>
            </a:r>
            <a:endParaRPr lang="zh-CN" altLang="en-US" dirty="0"/>
          </a:p>
          <a:p>
            <a:pPr lvl="0"/>
            <a:r>
              <a:rPr lang="zh-CN" altLang="en-US" sz="3200" dirty="0"/>
              <a:t>四、基于翻译模式的语义计算</a:t>
            </a:r>
          </a:p>
          <a:p>
            <a:pPr lvl="1"/>
            <a:r>
              <a:rPr lang="zh-CN" altLang="en-US" dirty="0">
                <a:sym typeface="+mn-ea"/>
              </a:rPr>
              <a:t>基于</a:t>
            </a:r>
            <a:r>
              <a:rPr lang="en-US" altLang="zh-CN" dirty="0">
                <a:sym typeface="+mn-ea"/>
              </a:rPr>
              <a:t>S-</a:t>
            </a:r>
            <a:r>
              <a:rPr lang="zh-CN" altLang="en-US" dirty="0">
                <a:sym typeface="+mn-ea"/>
              </a:rPr>
              <a:t>翻译模式的语义计算</a:t>
            </a:r>
            <a:endParaRPr lang="zh-CN" altLang="en-US" dirty="0"/>
          </a:p>
          <a:p>
            <a:pPr lvl="1"/>
            <a:r>
              <a:rPr lang="zh-CN" altLang="en-US" dirty="0">
                <a:sym typeface="+mn-ea"/>
              </a:rPr>
              <a:t>基于</a:t>
            </a:r>
            <a:r>
              <a:rPr lang="en-US" altLang="zh-CN" dirty="0">
                <a:sym typeface="+mn-ea"/>
              </a:rPr>
              <a:t>L-</a:t>
            </a:r>
            <a:r>
              <a:rPr lang="zh-CN" altLang="en-US" dirty="0">
                <a:sym typeface="+mn-ea"/>
              </a:rPr>
              <a:t>翻译模式的自顶向下语义计算</a:t>
            </a:r>
          </a:p>
          <a:p>
            <a:pPr lvl="1"/>
            <a:r>
              <a:rPr lang="zh-CN" altLang="en-US" dirty="0">
                <a:sym typeface="+mn-ea"/>
              </a:rPr>
              <a:t>基于</a:t>
            </a:r>
            <a:r>
              <a:rPr lang="en-US" altLang="zh-CN" dirty="0">
                <a:sym typeface="+mn-ea"/>
              </a:rPr>
              <a:t>S-</a:t>
            </a:r>
            <a:r>
              <a:rPr lang="zh-CN" altLang="en-US" dirty="0">
                <a:sym typeface="+mn-ea"/>
              </a:rPr>
              <a:t>翻译模式的自底向上语义计算</a:t>
            </a:r>
            <a:endParaRPr lang="zh-CN" altLang="en-US" dirty="0"/>
          </a:p>
          <a:p>
            <a:endParaRPr lang="zh-CN" altLang="en-US" dirty="0"/>
          </a:p>
        </p:txBody>
      </p:sp>
      <p:sp>
        <p:nvSpPr>
          <p:cNvPr id="3" name="标题 2"/>
          <p:cNvSpPr>
            <a:spLocks noGrp="1"/>
          </p:cNvSpPr>
          <p:nvPr>
            <p:ph type="title"/>
          </p:nvPr>
        </p:nvSpPr>
        <p:spPr/>
        <p:txBody>
          <a:bodyPr/>
          <a:lstStyle/>
          <a:p>
            <a:pPr algn="ctr"/>
            <a:r>
              <a:rPr lang="zh-CN" altLang="en-US" dirty="0"/>
              <a:t>本章小结</a:t>
            </a:r>
          </a:p>
        </p:txBody>
      </p:sp>
      <p:sp>
        <p:nvSpPr>
          <p:cNvPr id="4" name="灯片编号占位符 3"/>
          <p:cNvSpPr>
            <a:spLocks noGrp="1"/>
          </p:cNvSpPr>
          <p:nvPr>
            <p:ph type="sldNum" sz="quarter" idx="4"/>
          </p:nvPr>
        </p:nvSpPr>
        <p:spPr/>
        <p:txBody>
          <a:bodyPr/>
          <a:lstStyle/>
          <a:p>
            <a:fld id="{565CE74E-AB26-4998-AD42-012C4C1AD076}" type="slidenum">
              <a:rPr lang="zh-CN" altLang="en-US" smtClean="0"/>
              <a:t>66</a:t>
            </a:fld>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normAutofit/>
          </a:bodyPr>
          <a:lstStyle/>
          <a:p>
            <a:endParaRPr lang="en-US" altLang="zh-CN" sz="6600" dirty="0"/>
          </a:p>
          <a:p>
            <a:endParaRPr lang="en-US" altLang="zh-CN" sz="6600" dirty="0"/>
          </a:p>
          <a:p>
            <a:pPr algn="ctr"/>
            <a:r>
              <a:rPr lang="zh-CN" altLang="en-US" sz="6600" dirty="0"/>
              <a:t>谢谢听讲！</a:t>
            </a:r>
          </a:p>
        </p:txBody>
      </p:sp>
      <p:sp>
        <p:nvSpPr>
          <p:cNvPr id="3" name="标题 2"/>
          <p:cNvSpPr>
            <a:spLocks noGrp="1"/>
          </p:cNvSpPr>
          <p:nvPr>
            <p:ph type="title"/>
          </p:nvPr>
        </p:nvSpPr>
        <p:spPr/>
        <p:txBody>
          <a:bodyPr/>
          <a:lstStyle/>
          <a:p>
            <a:endParaRPr lang="zh-CN" altLang="en-US" dirty="0"/>
          </a:p>
        </p:txBody>
      </p:sp>
      <p:sp>
        <p:nvSpPr>
          <p:cNvPr id="4" name="灯片编号占位符 3"/>
          <p:cNvSpPr>
            <a:spLocks noGrp="1"/>
          </p:cNvSpPr>
          <p:nvPr>
            <p:ph type="sldNum" sz="quarter" idx="4"/>
          </p:nvPr>
        </p:nvSpPr>
        <p:spPr/>
        <p:txBody>
          <a:bodyPr/>
          <a:lstStyle/>
          <a:p>
            <a:fld id="{565CE74E-AB26-4998-AD42-012C4C1AD076}" type="slidenum">
              <a:rPr lang="zh-CN" altLang="en-US" smtClean="0"/>
              <a:t>67</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1827</TotalTime>
  <Words>6804</Words>
  <Application>Microsoft Office PowerPoint</Application>
  <PresentationFormat>全屏显示(4:3)</PresentationFormat>
  <Paragraphs>1014</Paragraphs>
  <Slides>67</Slides>
  <Notes>6</Notes>
  <HiddenSlides>2</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67</vt:i4>
      </vt:variant>
    </vt:vector>
  </HeadingPairs>
  <TitlesOfParts>
    <vt:vector size="80" baseType="lpstr">
      <vt:lpstr>黑体</vt:lpstr>
      <vt:lpstr>华文行楷</vt:lpstr>
      <vt:lpstr>楷体_GB2312</vt:lpstr>
      <vt:lpstr>宋体</vt:lpstr>
      <vt:lpstr>微软雅黑</vt:lpstr>
      <vt:lpstr>Arial</vt:lpstr>
      <vt:lpstr>Calibri</vt:lpstr>
      <vt:lpstr>Symbol</vt:lpstr>
      <vt:lpstr>Times New Roman</vt:lpstr>
      <vt:lpstr>Wingdings</vt:lpstr>
      <vt:lpstr>Office 主题</vt:lpstr>
      <vt:lpstr>Visio</vt:lpstr>
      <vt:lpstr>Document</vt:lpstr>
      <vt:lpstr>PowerPoint 演示文稿</vt:lpstr>
      <vt:lpstr>PowerPoint 演示文稿</vt:lpstr>
      <vt:lpstr>简单回顾</vt:lpstr>
      <vt:lpstr>简单回顾</vt:lpstr>
      <vt:lpstr>简单回顾</vt:lpstr>
      <vt:lpstr>导言</vt:lpstr>
      <vt:lpstr>教学内容</vt:lpstr>
      <vt:lpstr>一、语法制导翻译概述</vt:lpstr>
      <vt:lpstr>一、语法制导翻译概述</vt:lpstr>
      <vt:lpstr>一、语法制导翻译概述</vt:lpstr>
      <vt:lpstr>教学内容</vt:lpstr>
      <vt:lpstr>二、属性文法                      概念和内涵</vt:lpstr>
      <vt:lpstr>二、属性文法                      概念和内涵</vt:lpstr>
      <vt:lpstr>二、属性文法                      概念和内涵</vt:lpstr>
      <vt:lpstr>二、属性文法                      概念和内涵</vt:lpstr>
      <vt:lpstr>二、属性文法                      综合属性</vt:lpstr>
      <vt:lpstr>二、属性文法                      综合属性</vt:lpstr>
      <vt:lpstr>二、属性文法                      综合属性</vt:lpstr>
      <vt:lpstr>二、属性文法                      继承属性</vt:lpstr>
      <vt:lpstr>二、属性文法                      继承属性</vt:lpstr>
      <vt:lpstr>二、属性文法                      继承属性</vt:lpstr>
      <vt:lpstr>二、属性文法</vt:lpstr>
      <vt:lpstr>二、属性文法</vt:lpstr>
      <vt:lpstr>二、属性文法                      S-属性文法</vt:lpstr>
      <vt:lpstr>二、属性文法                      L-属性文法</vt:lpstr>
      <vt:lpstr>二、属性文法                   属性计算顺序</vt:lpstr>
      <vt:lpstr>简单回顾</vt:lpstr>
      <vt:lpstr>二、属性文法                   属性计算顺序</vt:lpstr>
      <vt:lpstr>二、属性文法                   属性计算顺序</vt:lpstr>
      <vt:lpstr>二、属性文法                   属性计算顺序</vt:lpstr>
      <vt:lpstr>二、属性文法                   属性计算顺序</vt:lpstr>
      <vt:lpstr>二、属性文法                   属性计算顺序</vt:lpstr>
      <vt:lpstr>参考学习网址：</vt:lpstr>
      <vt:lpstr>二、属性文法                   属性计算顺序</vt:lpstr>
      <vt:lpstr>二、属性文法                   属性计算顺序</vt:lpstr>
      <vt:lpstr>教学内容</vt:lpstr>
      <vt:lpstr>三、基于属性文法的语义计算</vt:lpstr>
      <vt:lpstr>三、基于属性文法的语义计算</vt:lpstr>
      <vt:lpstr>PowerPoint 演示文稿</vt:lpstr>
      <vt:lpstr>三、基于属性文法的语义计算</vt:lpstr>
      <vt:lpstr>三、基于属性文法的语义计算</vt:lpstr>
      <vt:lpstr>三、基于属性文法的语义计算</vt:lpstr>
      <vt:lpstr>三、基于属性文法的语义计算</vt:lpstr>
      <vt:lpstr>三、基于属性文法的语义计算</vt:lpstr>
      <vt:lpstr>三、基于属性文法的语义计算</vt:lpstr>
      <vt:lpstr>三、基于属性文法的语义计算</vt:lpstr>
      <vt:lpstr>作业1</vt:lpstr>
      <vt:lpstr>PowerPoint 演示文稿</vt:lpstr>
      <vt:lpstr>PowerPoint 演示文稿</vt:lpstr>
      <vt:lpstr>教学内容</vt:lpstr>
      <vt:lpstr>四、基于翻译模式的语义计算</vt:lpstr>
      <vt:lpstr>四、基于翻译模式的语义计算</vt:lpstr>
      <vt:lpstr>四、基于翻译模式的语义计算 </vt:lpstr>
      <vt:lpstr>四、基于翻译模式的语义计算</vt:lpstr>
      <vt:lpstr>PowerPoint 演示文稿</vt:lpstr>
      <vt:lpstr>四、基于翻译模式的语义计算</vt:lpstr>
      <vt:lpstr>四、基于翻译模式的语义计算</vt:lpstr>
      <vt:lpstr>四、基于翻译模式的语义计算</vt:lpstr>
      <vt:lpstr>四、基于翻译模式的语义计算</vt:lpstr>
      <vt:lpstr>四、基于翻译模式的语义计算</vt:lpstr>
      <vt:lpstr>四、基于翻译模式的语义计算</vt:lpstr>
      <vt:lpstr>四、基于翻译模式的语义计算</vt:lpstr>
      <vt:lpstr>四、基于翻译模式的语义计算</vt:lpstr>
      <vt:lpstr>四、基于翻译模式的语义计算</vt:lpstr>
      <vt:lpstr>作业</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cyy-pc</dc:creator>
  <cp:lastModifiedBy>DELL</cp:lastModifiedBy>
  <cp:revision>260</cp:revision>
  <cp:lastPrinted>2024-02-20T12:04:27Z</cp:lastPrinted>
  <dcterms:created xsi:type="dcterms:W3CDTF">2018-04-28T06:20:00Z</dcterms:created>
  <dcterms:modified xsi:type="dcterms:W3CDTF">2025-04-16T08:59:42Z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2052-10.1.0.7346</vt:lpwstr>
  </property>
</Properties>
</file>