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4" r:id="rId1"/>
    <p:sldMasterId id="2147483774" r:id="rId2"/>
    <p:sldMasterId id="2147483695" r:id="rId3"/>
    <p:sldMasterId id="2147483761" r:id="rId4"/>
  </p:sldMasterIdLst>
  <p:notesMasterIdLst>
    <p:notesMasterId r:id="rId55"/>
  </p:notesMasterIdLst>
  <p:handoutMasterIdLst>
    <p:handoutMasterId r:id="rId56"/>
  </p:handoutMasterIdLst>
  <p:sldIdLst>
    <p:sldId id="290" r:id="rId5"/>
    <p:sldId id="271" r:id="rId6"/>
    <p:sldId id="480" r:id="rId7"/>
    <p:sldId id="358" r:id="rId8"/>
    <p:sldId id="660" r:id="rId9"/>
    <p:sldId id="730" r:id="rId10"/>
    <p:sldId id="661" r:id="rId11"/>
    <p:sldId id="664" r:id="rId12"/>
    <p:sldId id="490" r:id="rId13"/>
    <p:sldId id="665" r:id="rId14"/>
    <p:sldId id="685" r:id="rId15"/>
    <p:sldId id="699" r:id="rId16"/>
    <p:sldId id="700" r:id="rId17"/>
    <p:sldId id="746" r:id="rId18"/>
    <p:sldId id="701" r:id="rId19"/>
    <p:sldId id="702" r:id="rId20"/>
    <p:sldId id="698" r:id="rId21"/>
    <p:sldId id="687" r:id="rId22"/>
    <p:sldId id="689" r:id="rId23"/>
    <p:sldId id="690" r:id="rId24"/>
    <p:sldId id="677" r:id="rId25"/>
    <p:sldId id="745" r:id="rId26"/>
    <p:sldId id="708" r:id="rId27"/>
    <p:sldId id="679" r:id="rId28"/>
    <p:sldId id="707" r:id="rId29"/>
    <p:sldId id="678" r:id="rId30"/>
    <p:sldId id="692" r:id="rId31"/>
    <p:sldId id="704" r:id="rId32"/>
    <p:sldId id="703" r:id="rId33"/>
    <p:sldId id="705" r:id="rId34"/>
    <p:sldId id="733" r:id="rId35"/>
    <p:sldId id="732" r:id="rId36"/>
    <p:sldId id="693" r:id="rId37"/>
    <p:sldId id="743" r:id="rId38"/>
    <p:sldId id="706" r:id="rId39"/>
    <p:sldId id="735" r:id="rId40"/>
    <p:sldId id="734" r:id="rId41"/>
    <p:sldId id="682" r:id="rId42"/>
    <p:sldId id="723" r:id="rId43"/>
    <p:sldId id="676" r:id="rId44"/>
    <p:sldId id="717" r:id="rId45"/>
    <p:sldId id="719" r:id="rId46"/>
    <p:sldId id="720" r:id="rId47"/>
    <p:sldId id="722" r:id="rId48"/>
    <p:sldId id="714" r:id="rId49"/>
    <p:sldId id="716" r:id="rId50"/>
    <p:sldId id="710" r:id="rId51"/>
    <p:sldId id="711" r:id="rId52"/>
    <p:sldId id="747" r:id="rId53"/>
    <p:sldId id="729" r:id="rId54"/>
  </p:sldIdLst>
  <p:sldSz cx="12192000" cy="6858000"/>
  <p:notesSz cx="6858000" cy="9144000"/>
  <p:defaultTextStyle>
    <a:defPPr>
      <a:defRPr lang="zh-CN"/>
    </a:defPPr>
    <a:lvl1pPr algn="ctr" rtl="0" fontAlgn="base">
      <a:spcBef>
        <a:spcPct val="0"/>
      </a:spcBef>
      <a:spcAft>
        <a:spcPct val="0"/>
      </a:spcAft>
      <a:defRPr b="1" kern="1200">
        <a:solidFill>
          <a:schemeClr val="tx1"/>
        </a:solidFill>
        <a:latin typeface="Arial" charset="0"/>
        <a:ea typeface="宋体" pitchFamily="2" charset="-122"/>
        <a:cs typeface="+mn-cs"/>
      </a:defRPr>
    </a:lvl1pPr>
    <a:lvl2pPr marL="457200" algn="ctr" rtl="0" fontAlgn="base">
      <a:spcBef>
        <a:spcPct val="0"/>
      </a:spcBef>
      <a:spcAft>
        <a:spcPct val="0"/>
      </a:spcAft>
      <a:defRPr b="1" kern="1200">
        <a:solidFill>
          <a:schemeClr val="tx1"/>
        </a:solidFill>
        <a:latin typeface="Arial" charset="0"/>
        <a:ea typeface="宋体" pitchFamily="2" charset="-122"/>
        <a:cs typeface="+mn-cs"/>
      </a:defRPr>
    </a:lvl2pPr>
    <a:lvl3pPr marL="914400" algn="ctr" rtl="0" fontAlgn="base">
      <a:spcBef>
        <a:spcPct val="0"/>
      </a:spcBef>
      <a:spcAft>
        <a:spcPct val="0"/>
      </a:spcAft>
      <a:defRPr b="1" kern="1200">
        <a:solidFill>
          <a:schemeClr val="tx1"/>
        </a:solidFill>
        <a:latin typeface="Arial" charset="0"/>
        <a:ea typeface="宋体" pitchFamily="2" charset="-122"/>
        <a:cs typeface="+mn-cs"/>
      </a:defRPr>
    </a:lvl3pPr>
    <a:lvl4pPr marL="1371600" algn="ctr" rtl="0" fontAlgn="base">
      <a:spcBef>
        <a:spcPct val="0"/>
      </a:spcBef>
      <a:spcAft>
        <a:spcPct val="0"/>
      </a:spcAft>
      <a:defRPr b="1" kern="1200">
        <a:solidFill>
          <a:schemeClr val="tx1"/>
        </a:solidFill>
        <a:latin typeface="Arial" charset="0"/>
        <a:ea typeface="宋体" pitchFamily="2" charset="-122"/>
        <a:cs typeface="+mn-cs"/>
      </a:defRPr>
    </a:lvl4pPr>
    <a:lvl5pPr marL="1828800" algn="ctr" rtl="0" fontAlgn="base">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CC0099"/>
    <a:srgbClr val="0000FF"/>
    <a:srgbClr val="CCECFF"/>
    <a:srgbClr val="FF3300"/>
    <a:srgbClr val="6699FF"/>
    <a:srgbClr val="00FFFF"/>
    <a:srgbClr val="33CC33"/>
    <a:srgbClr val="FF99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3" autoAdjust="0"/>
    <p:restoredTop sz="90201" autoAdjust="0"/>
  </p:normalViewPr>
  <p:slideViewPr>
    <p:cSldViewPr>
      <p:cViewPr varScale="1">
        <p:scale>
          <a:sx n="60" d="100"/>
          <a:sy n="60" d="100"/>
        </p:scale>
        <p:origin x="720" y="56"/>
      </p:cViewPr>
      <p:guideLst>
        <p:guide orient="horz" pos="2160"/>
        <p:guide pos="3840"/>
      </p:guideLst>
    </p:cSldViewPr>
  </p:slideViewPr>
  <p:outlineViewPr>
    <p:cViewPr>
      <p:scale>
        <a:sx n="33" d="100"/>
        <a:sy n="33" d="100"/>
      </p:scale>
      <p:origin x="0" y="39552"/>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90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7B4B9BB-6DE8-4551-91B0-1D212BA0667C}" type="datetimeFigureOut">
              <a:rPr lang="zh-CN" altLang="en-US" smtClean="0"/>
              <a:pPr/>
              <a:t>2024/9/9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7379E54-6977-419B-BC40-D913703F14B0}" type="slidenum">
              <a:rPr lang="zh-CN" altLang="en-US" smtClean="0"/>
              <a:pPr/>
              <a:t>‹#›</a:t>
            </a:fld>
            <a:endParaRPr lang="zh-CN" altLang="en-US"/>
          </a:p>
        </p:txBody>
      </p:sp>
    </p:spTree>
    <p:extLst>
      <p:ext uri="{BB962C8B-B14F-4D97-AF65-F5344CB8AC3E}">
        <p14:creationId xmlns:p14="http://schemas.microsoft.com/office/powerpoint/2010/main" val="2811045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vl1pPr>
          </a:lstStyle>
          <a:p>
            <a:pPr>
              <a:defRPr/>
            </a:pPr>
            <a:endParaRPr lang="en-US" altLang="zh-CN"/>
          </a:p>
        </p:txBody>
      </p:sp>
      <p:sp>
        <p:nvSpPr>
          <p:cNvPr id="1095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ltLang="zh-CN"/>
          </a:p>
        </p:txBody>
      </p:sp>
      <p:sp>
        <p:nvSpPr>
          <p:cNvPr id="9728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1095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095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vl1pPr>
          </a:lstStyle>
          <a:p>
            <a:pPr>
              <a:defRPr/>
            </a:pPr>
            <a:endParaRPr lang="en-US" altLang="zh-CN"/>
          </a:p>
        </p:txBody>
      </p:sp>
      <p:sp>
        <p:nvSpPr>
          <p:cNvPr id="1095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pPr>
              <a:defRPr/>
            </a:pPr>
            <a:fld id="{7470E5E1-4843-4932-A191-9860DB39C7B3}" type="slidenum">
              <a:rPr lang="en-US" altLang="zh-CN"/>
              <a:pPr>
                <a:defRPr/>
              </a:pPr>
              <a:t>‹#›</a:t>
            </a:fld>
            <a:endParaRPr lang="en-US" altLang="zh-CN"/>
          </a:p>
        </p:txBody>
      </p:sp>
    </p:spTree>
    <p:extLst>
      <p:ext uri="{BB962C8B-B14F-4D97-AF65-F5344CB8AC3E}">
        <p14:creationId xmlns:p14="http://schemas.microsoft.com/office/powerpoint/2010/main" val="9137970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A8C8EFA-96ED-4A18-B46D-8BDC030E3AF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27453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A8C8EFA-96ED-4A18-B46D-8BDC030E3AF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26516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6</a:t>
            </a:fld>
            <a:endParaRPr lang="en-US" altLang="zh-CN"/>
          </a:p>
        </p:txBody>
      </p:sp>
    </p:spTree>
    <p:extLst>
      <p:ext uri="{BB962C8B-B14F-4D97-AF65-F5344CB8AC3E}">
        <p14:creationId xmlns:p14="http://schemas.microsoft.com/office/powerpoint/2010/main" val="2987521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fld id="{2C0713A1-DC7F-45B3-8A49-51069A1A8D35}" type="slidenum">
              <a:rPr lang="zh-CN" altLang="en-US" sz="1200"/>
              <a:pPr eaLnBrk="1" hangingPunct="1"/>
              <a:t>7</a:t>
            </a:fld>
            <a:endParaRPr lang="en-US" altLang="zh-CN" sz="1200"/>
          </a:p>
        </p:txBody>
      </p:sp>
      <p:sp>
        <p:nvSpPr>
          <p:cNvPr id="37891" name="Rectangle 2"/>
          <p:cNvSpPr>
            <a:spLocks noGrp="1" noRot="1" noChangeAspect="1" noChangeArrowheads="1" noTextEdit="1"/>
          </p:cNvSpPr>
          <p:nvPr>
            <p:ph type="sldImg"/>
          </p:nvPr>
        </p:nvSpPr>
        <p:spPr>
          <a:xfrm>
            <a:off x="381000" y="685800"/>
            <a:ext cx="6096000" cy="3429000"/>
          </a:xfrm>
          <a:ln/>
        </p:spPr>
      </p:sp>
      <p:sp>
        <p:nvSpPr>
          <p:cNvPr id="37892" name="Rectangle 3"/>
          <p:cNvSpPr>
            <a:spLocks noGrp="1" noChangeArrowheads="1"/>
          </p:cNvSpPr>
          <p:nvPr>
            <p:ph type="body" idx="1"/>
          </p:nvPr>
        </p:nvSpPr>
        <p:spPr>
          <a:noFill/>
        </p:spPr>
        <p:txBody>
          <a:bodyPr/>
          <a:lstStyle/>
          <a:p>
            <a:pPr eaLnBrk="1" hangingPunct="1"/>
            <a:endParaRPr lang="zh-CN" altLang="en-US">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服务器专用的</a:t>
            </a:r>
            <a:r>
              <a:rPr lang="en-US" altLang="zh-CN" dirty="0"/>
              <a:t>UNIX</a:t>
            </a:r>
            <a:r>
              <a:rPr lang="zh-CN" altLang="en-US" dirty="0"/>
              <a:t>操作系统。</a:t>
            </a:r>
            <a:endParaRPr lang="en-US" altLang="zh-CN" dirty="0"/>
          </a:p>
          <a:p>
            <a:r>
              <a:rPr lang="en-US" altLang="zh-CN" dirty="0"/>
              <a:t>1975</a:t>
            </a:r>
            <a:r>
              <a:rPr lang="zh-CN" altLang="en-US" dirty="0"/>
              <a:t>年发表的</a:t>
            </a:r>
            <a:r>
              <a:rPr lang="en-US" altLang="zh-CN" dirty="0"/>
              <a:t>UNIX V6</a:t>
            </a:r>
            <a:r>
              <a:rPr lang="zh-CN" altLang="en-US" dirty="0"/>
              <a:t>版是比较成熟的版本，贝尔实验室免费向美国各大学提供该版本。</a:t>
            </a:r>
            <a:endParaRPr lang="en-US" altLang="zh-CN" dirty="0"/>
          </a:p>
          <a:p>
            <a:r>
              <a:rPr lang="zh-CN" altLang="en-US" dirty="0"/>
              <a:t>美国加州大学贝克利分校开发的</a:t>
            </a:r>
            <a:r>
              <a:rPr lang="en-US" altLang="zh-CN" dirty="0"/>
              <a:t>BSD UNIX</a:t>
            </a:r>
            <a:r>
              <a:rPr lang="zh-CN" altLang="en-US" dirty="0"/>
              <a:t>，该版本大量安装在</a:t>
            </a:r>
            <a:r>
              <a:rPr lang="en-US" altLang="zh-CN" dirty="0"/>
              <a:t>SUN</a:t>
            </a:r>
            <a:r>
              <a:rPr lang="zh-CN" altLang="en-US" dirty="0"/>
              <a:t>工作站上。</a:t>
            </a:r>
            <a:r>
              <a:rPr lang="en-US" altLang="zh-CN" dirty="0"/>
              <a:t>1993</a:t>
            </a:r>
            <a:r>
              <a:rPr lang="zh-CN" altLang="en-US" dirty="0"/>
              <a:t>年推出了</a:t>
            </a:r>
            <a:r>
              <a:rPr lang="en-US" altLang="zh-CN" dirty="0"/>
              <a:t>4.4BSD</a:t>
            </a:r>
            <a:r>
              <a:rPr lang="zh-CN" altLang="en-US" dirty="0"/>
              <a:t>版本。</a:t>
            </a:r>
          </a:p>
          <a:p>
            <a:r>
              <a:rPr lang="en-US" altLang="zh-CN" dirty="0" err="1"/>
              <a:t>Xenix</a:t>
            </a:r>
            <a:r>
              <a:rPr lang="en-US" altLang="zh-CN" dirty="0"/>
              <a:t>(x86)</a:t>
            </a:r>
            <a:r>
              <a:rPr lang="zh-CN" altLang="en-US" dirty="0"/>
              <a:t>：</a:t>
            </a:r>
            <a:r>
              <a:rPr lang="en-US" altLang="zh-CN" dirty="0"/>
              <a:t>Intel</a:t>
            </a:r>
            <a:r>
              <a:rPr lang="zh-CN" altLang="en-US" dirty="0"/>
              <a:t>硬件平台上的</a:t>
            </a:r>
            <a:r>
              <a:rPr lang="en-US" altLang="zh-CN" dirty="0"/>
              <a:t>UNIX</a:t>
            </a:r>
            <a:r>
              <a:rPr lang="zh-CN" altLang="en-US" dirty="0"/>
              <a:t>，以</a:t>
            </a:r>
            <a:r>
              <a:rPr lang="en-US" altLang="zh-CN" dirty="0"/>
              <a:t>SVR2</a:t>
            </a:r>
            <a:r>
              <a:rPr lang="zh-CN" altLang="en-US" dirty="0"/>
              <a:t>为基础。</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11</a:t>
            </a:fld>
            <a:endParaRPr lang="en-US" altLang="zh-CN"/>
          </a:p>
        </p:txBody>
      </p:sp>
    </p:spTree>
    <p:extLst>
      <p:ext uri="{BB962C8B-B14F-4D97-AF65-F5344CB8AC3E}">
        <p14:creationId xmlns:p14="http://schemas.microsoft.com/office/powerpoint/2010/main" val="25359736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POSIX1.0</a:t>
            </a:r>
            <a:r>
              <a:rPr lang="zh-CN" altLang="en-US" dirty="0"/>
              <a:t>标准‌是</a:t>
            </a:r>
            <a:r>
              <a:rPr lang="en-US" altLang="zh-CN" dirty="0"/>
              <a:t>IEEE</a:t>
            </a:r>
            <a:r>
              <a:rPr lang="zh-CN" altLang="en-US" dirty="0"/>
              <a:t>和</a:t>
            </a:r>
            <a:r>
              <a:rPr lang="en-US" altLang="zh-CN" dirty="0"/>
              <a:t>ISO/IEC</a:t>
            </a:r>
            <a:r>
              <a:rPr lang="zh-CN" altLang="en-US" dirty="0"/>
              <a:t>为要在各种</a:t>
            </a:r>
            <a:r>
              <a:rPr lang="en-US" altLang="zh-CN" dirty="0"/>
              <a:t>UNIX</a:t>
            </a:r>
            <a:r>
              <a:rPr lang="zh-CN" altLang="en-US" dirty="0"/>
              <a:t>操作系统上运行的软件而定义的一系列</a:t>
            </a:r>
            <a:r>
              <a:rPr lang="en-US" altLang="zh-CN" dirty="0"/>
              <a:t>API</a:t>
            </a:r>
            <a:r>
              <a:rPr lang="zh-CN" altLang="en-US" dirty="0"/>
              <a:t>标准的总称。它基于现有的</a:t>
            </a:r>
            <a:r>
              <a:rPr lang="en-US" altLang="zh-CN" dirty="0"/>
              <a:t>UNIX</a:t>
            </a:r>
            <a:r>
              <a:rPr lang="zh-CN" altLang="en-US" dirty="0"/>
              <a:t>实践和经验，描述了操作系统的调用服务接口，用于保证编制的应用程序可以在源代码一级上在多种操作系统上移植运行。</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23</a:t>
            </a:fld>
            <a:endParaRPr lang="en-US" altLang="zh-CN"/>
          </a:p>
        </p:txBody>
      </p:sp>
    </p:spTree>
    <p:extLst>
      <p:ext uri="{BB962C8B-B14F-4D97-AF65-F5344CB8AC3E}">
        <p14:creationId xmlns:p14="http://schemas.microsoft.com/office/powerpoint/2010/main" val="381481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2022</a:t>
            </a:r>
            <a:r>
              <a:rPr lang="zh-CN" altLang="en-US" dirty="0"/>
              <a:t>年，中国的神威</a:t>
            </a:r>
            <a:r>
              <a:rPr lang="en-US" altLang="zh-CN" dirty="0"/>
              <a:t>·</a:t>
            </a:r>
            <a:r>
              <a:rPr lang="zh-CN" altLang="en-US" dirty="0"/>
              <a:t>太湖之光全球超级计算机</a:t>
            </a:r>
            <a:r>
              <a:rPr lang="en-US" altLang="zh-CN" dirty="0"/>
              <a:t>500</a:t>
            </a:r>
            <a:r>
              <a:rPr lang="zh-CN" altLang="en-US" dirty="0"/>
              <a:t>强排名位列前十 </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44</a:t>
            </a:fld>
            <a:endParaRPr lang="en-US" altLang="zh-CN"/>
          </a:p>
        </p:txBody>
      </p:sp>
    </p:spTree>
    <p:extLst>
      <p:ext uri="{BB962C8B-B14F-4D97-AF65-F5344CB8AC3E}">
        <p14:creationId xmlns:p14="http://schemas.microsoft.com/office/powerpoint/2010/main" val="3624142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9753600" y="1066800"/>
            <a:ext cx="0" cy="4495800"/>
          </a:xfrm>
          <a:prstGeom prst="line">
            <a:avLst/>
          </a:prstGeom>
          <a:noFill/>
          <a:ln w="9525">
            <a:solidFill>
              <a:schemeClr val="tx1"/>
            </a:solidFill>
            <a:round/>
            <a:headEnd/>
            <a:tailEnd/>
          </a:ln>
          <a:effectLst/>
        </p:spPr>
        <p:txBody>
          <a:bodyPr/>
          <a:lstStyle/>
          <a:p>
            <a:pPr>
              <a:defRPr/>
            </a:pPr>
            <a:endParaRPr lang="zh-CN" altLang="en-US" b="0"/>
          </a:p>
        </p:txBody>
      </p:sp>
      <p:sp>
        <p:nvSpPr>
          <p:cNvPr id="5" name="Line 40"/>
          <p:cNvSpPr>
            <a:spLocks noChangeShapeType="1"/>
          </p:cNvSpPr>
          <p:nvPr/>
        </p:nvSpPr>
        <p:spPr bwMode="auto">
          <a:xfrm>
            <a:off x="406400" y="2819400"/>
            <a:ext cx="10972800" cy="0"/>
          </a:xfrm>
          <a:prstGeom prst="line">
            <a:avLst/>
          </a:prstGeom>
          <a:noFill/>
          <a:ln w="6350">
            <a:solidFill>
              <a:schemeClr val="tx1"/>
            </a:solidFill>
            <a:round/>
            <a:headEnd/>
            <a:tailEnd/>
          </a:ln>
          <a:effectLst/>
        </p:spPr>
        <p:txBody>
          <a:bodyPr/>
          <a:lstStyle/>
          <a:p>
            <a:pPr>
              <a:defRPr/>
            </a:pPr>
            <a:endParaRPr lang="zh-CN" altLang="en-US" b="0"/>
          </a:p>
        </p:txBody>
      </p:sp>
      <p:sp>
        <p:nvSpPr>
          <p:cNvPr id="28675" name="Rectangle 3"/>
          <p:cNvSpPr>
            <a:spLocks noGrp="1" noChangeArrowheads="1"/>
          </p:cNvSpPr>
          <p:nvPr>
            <p:ph type="ctrTitle"/>
          </p:nvPr>
        </p:nvSpPr>
        <p:spPr>
          <a:xfrm>
            <a:off x="421217" y="466725"/>
            <a:ext cx="9042400" cy="2133600"/>
          </a:xfrm>
        </p:spPr>
        <p:txBody>
          <a:bodyPr/>
          <a:lstStyle>
            <a:lvl1pPr algn="r">
              <a:defRPr sz="5200"/>
            </a:lvl1pPr>
          </a:lstStyle>
          <a:p>
            <a:r>
              <a:rPr lang="zh-CN" altLang="en-US"/>
              <a:t>单击此处编辑母版标题样式</a:t>
            </a:r>
          </a:p>
        </p:txBody>
      </p:sp>
      <p:sp>
        <p:nvSpPr>
          <p:cNvPr id="28676" name="Rectangle 4"/>
          <p:cNvSpPr>
            <a:spLocks noGrp="1" noChangeArrowheads="1"/>
          </p:cNvSpPr>
          <p:nvPr>
            <p:ph type="subTitle" idx="1"/>
          </p:nvPr>
        </p:nvSpPr>
        <p:spPr>
          <a:xfrm>
            <a:off x="1132417" y="3049588"/>
            <a:ext cx="8331200" cy="2362200"/>
          </a:xfrm>
        </p:spPr>
        <p:txBody>
          <a:bodyPr/>
          <a:lstStyle>
            <a:lvl1pPr marL="0" indent="0" algn="r">
              <a:buFont typeface="Wingdings" pitchFamily="2" charset="2"/>
              <a:buNone/>
              <a:defRPr sz="3200"/>
            </a:lvl1pPr>
          </a:lstStyle>
          <a:p>
            <a:r>
              <a:rPr lang="zh-CN" altLang="en-US"/>
              <a:t>单击此处编辑母版副标题样式</a:t>
            </a:r>
          </a:p>
        </p:txBody>
      </p:sp>
      <p:sp>
        <p:nvSpPr>
          <p:cNvPr id="38" name="Rectangle 5"/>
          <p:cNvSpPr>
            <a:spLocks noGrp="1" noChangeArrowheads="1"/>
          </p:cNvSpPr>
          <p:nvPr>
            <p:ph type="dt" sz="half" idx="10"/>
          </p:nvPr>
        </p:nvSpPr>
        <p:spPr bwMode="auto">
          <a:xfrm>
            <a:off x="609600" y="6248400"/>
            <a:ext cx="28448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l">
              <a:defRPr sz="1000" b="0"/>
            </a:lvl1pPr>
          </a:lstStyle>
          <a:p>
            <a:pPr>
              <a:defRPr/>
            </a:pPr>
            <a:endParaRPr lang="en-US" altLang="zh-CN"/>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B733C3D4-D835-CFCC-8E05-AEAFC2163F19}"/>
              </a:ext>
            </a:extLst>
          </p:cNvPr>
          <p:cNvSpPr/>
          <p:nvPr userDrawn="1"/>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1121048" y="584836"/>
            <a:ext cx="10058400" cy="858837"/>
          </a:xfrm>
        </p:spPr>
        <p:txBody>
          <a:bodyPr/>
          <a:lstStyle>
            <a:lvl1pPr algn="ctr">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5" name="Rectangle 7"/>
          <p:cNvSpPr>
            <a:spLocks noGrp="1" noChangeArrowheads="1"/>
          </p:cNvSpPr>
          <p:nvPr>
            <p:ph type="sldNum" sz="quarter" idx="11"/>
          </p:nvPr>
        </p:nvSpPr>
        <p:spPr>
          <a:xfrm>
            <a:off x="4727848" y="5821680"/>
            <a:ext cx="2844800" cy="457200"/>
          </a:xfrm>
        </p:spPr>
        <p:txBody>
          <a:bodyPr/>
          <a:lstStyle>
            <a:lvl1pPr>
              <a:defRPr/>
            </a:lvl1pPr>
          </a:lstStyle>
          <a:p>
            <a:pPr>
              <a:defRPr/>
            </a:pPr>
            <a:fld id="{110871B5-850E-4E14-A636-3EC679EBF038}" type="slidenum">
              <a:rPr lang="en-US" altLang="zh-CN"/>
              <a:pPr>
                <a:defRPr/>
              </a:pPr>
              <a:t>‹#›</a:t>
            </a:fld>
            <a:endParaRPr lang="en-US" altLang="zh-CN" dirty="0"/>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896DE24E-1EFA-0883-2224-618BE758C267}"/>
              </a:ext>
            </a:extLst>
          </p:cNvPr>
          <p:cNvSpPr/>
          <p:nvPr userDrawn="1"/>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5" name="Rectangle 7"/>
          <p:cNvSpPr>
            <a:spLocks noGrp="1" noChangeArrowheads="1"/>
          </p:cNvSpPr>
          <p:nvPr>
            <p:ph type="sldNum" sz="quarter" idx="11"/>
          </p:nvPr>
        </p:nvSpPr>
        <p:spPr>
          <a:xfrm>
            <a:off x="4871864" y="5812949"/>
            <a:ext cx="2844800" cy="457200"/>
          </a:xfrm>
        </p:spPr>
        <p:txBody>
          <a:bodyPr/>
          <a:lstStyle>
            <a:lvl1pPr>
              <a:defRPr/>
            </a:lvl1pPr>
          </a:lstStyle>
          <a:p>
            <a:pPr>
              <a:defRPr/>
            </a:pPr>
            <a:fld id="{67DF4681-0EF9-4093-ADCE-209947C6A470}" type="slidenum">
              <a:rPr lang="en-US" altLang="zh-CN"/>
              <a:pPr>
                <a:defRPr/>
              </a:pPr>
              <a:t>‹#›</a:t>
            </a:fld>
            <a:endParaRPr lang="en-US" altLang="zh-CN" dirty="0"/>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1A7FCAD2-F1FD-4699-0A83-6436DA173A86}"/>
              </a:ext>
            </a:extLst>
          </p:cNvPr>
          <p:cNvSpPr/>
          <p:nvPr userDrawn="1"/>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1066800" y="579120"/>
            <a:ext cx="10058400" cy="858837"/>
          </a:xfrm>
        </p:spPr>
        <p:txBody>
          <a:bodyPr/>
          <a:lstStyle/>
          <a:p>
            <a:r>
              <a:rPr lang="zh-CN" altLang="en-US"/>
              <a:t>单击此处编辑母版标题样式</a:t>
            </a:r>
          </a:p>
        </p:txBody>
      </p:sp>
      <p:sp>
        <p:nvSpPr>
          <p:cNvPr id="3" name="内容占位符 2"/>
          <p:cNvSpPr>
            <a:spLocks noGrp="1"/>
          </p:cNvSpPr>
          <p:nvPr>
            <p:ph sz="half" idx="1"/>
          </p:nvPr>
        </p:nvSpPr>
        <p:spPr>
          <a:xfrm>
            <a:off x="609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ftr" sz="quarter" idx="10"/>
          </p:nvPr>
        </p:nvSpPr>
        <p:spPr>
          <a:xfrm>
            <a:off x="502712" y="5902325"/>
            <a:ext cx="3860800" cy="457200"/>
          </a:xfrm>
        </p:spPr>
        <p:txBody>
          <a:bodyPr/>
          <a:lstStyle>
            <a:lvl1pPr>
              <a:defRPr/>
            </a:lvl1pPr>
          </a:lstStyle>
          <a:p>
            <a:pPr>
              <a:defRPr/>
            </a:pPr>
            <a:endParaRPr lang="en-US" altLang="zh-CN" dirty="0"/>
          </a:p>
        </p:txBody>
      </p:sp>
      <p:sp>
        <p:nvSpPr>
          <p:cNvPr id="6" name="Rectangle 7"/>
          <p:cNvSpPr>
            <a:spLocks noGrp="1" noChangeArrowheads="1"/>
          </p:cNvSpPr>
          <p:nvPr>
            <p:ph type="sldNum" sz="quarter" idx="11"/>
          </p:nvPr>
        </p:nvSpPr>
        <p:spPr>
          <a:xfrm>
            <a:off x="4699000" y="5812949"/>
            <a:ext cx="2844800" cy="457200"/>
          </a:xfrm>
        </p:spPr>
        <p:txBody>
          <a:bodyPr/>
          <a:lstStyle>
            <a:lvl1pPr>
              <a:defRPr/>
            </a:lvl1pPr>
          </a:lstStyle>
          <a:p>
            <a:pPr>
              <a:defRPr/>
            </a:pPr>
            <a:fld id="{12FDFE95-E975-478F-A645-7C4EB3F7594E}" type="slidenum">
              <a:rPr lang="en-US" altLang="zh-CN"/>
              <a:pPr>
                <a:defRPr/>
              </a:pPr>
              <a:t>‹#›</a:t>
            </a:fld>
            <a:endParaRPr lang="en-US" altLang="zh-CN"/>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497A1E0F-D069-3924-E635-0BFBC2F10FFF}"/>
              </a:ext>
            </a:extLst>
          </p:cNvPr>
          <p:cNvSpPr/>
          <p:nvPr userDrawn="1"/>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8" name="Rectangle 7"/>
          <p:cNvSpPr>
            <a:spLocks noGrp="1" noChangeArrowheads="1"/>
          </p:cNvSpPr>
          <p:nvPr>
            <p:ph type="sldNum" sz="quarter" idx="11"/>
          </p:nvPr>
        </p:nvSpPr>
        <p:spPr>
          <a:xfrm>
            <a:off x="4770968" y="5821680"/>
            <a:ext cx="2844800" cy="457200"/>
          </a:xfrm>
        </p:spPr>
        <p:txBody>
          <a:bodyPr/>
          <a:lstStyle>
            <a:lvl1pPr>
              <a:defRPr/>
            </a:lvl1pPr>
          </a:lstStyle>
          <a:p>
            <a:pPr>
              <a:defRPr/>
            </a:pPr>
            <a:fld id="{74E65B35-C933-4A04-A71C-03F9021F5B4F}" type="slidenum">
              <a:rPr lang="en-US" altLang="zh-CN"/>
              <a:pPr>
                <a:defRPr/>
              </a:pPr>
              <a:t>‹#›</a:t>
            </a:fld>
            <a:endParaRPr lang="en-US" altLang="zh-CN" dirty="0"/>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03C7B01-EFB9-12DE-1A59-A0DE1CF64758}"/>
              </a:ext>
            </a:extLst>
          </p:cNvPr>
          <p:cNvSpPr/>
          <p:nvPr userDrawn="1"/>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1098551" y="579120"/>
            <a:ext cx="10058400" cy="858837"/>
          </a:xfrm>
        </p:spPr>
        <p:txBody>
          <a:bodyPr/>
          <a:lstStyle/>
          <a:p>
            <a:r>
              <a:rPr lang="zh-CN" altLang="en-US" dirty="0"/>
              <a:t>单击此处编辑母版标题样式</a:t>
            </a:r>
          </a:p>
        </p:txBody>
      </p:sp>
      <p:sp>
        <p:nvSpPr>
          <p:cNvPr id="3"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4" name="Rectangle 7"/>
          <p:cNvSpPr>
            <a:spLocks noGrp="1" noChangeArrowheads="1"/>
          </p:cNvSpPr>
          <p:nvPr>
            <p:ph type="sldNum" sz="quarter" idx="11"/>
          </p:nvPr>
        </p:nvSpPr>
        <p:spPr/>
        <p:txBody>
          <a:bodyPr/>
          <a:lstStyle>
            <a:lvl1pPr>
              <a:defRPr/>
            </a:lvl1pPr>
          </a:lstStyle>
          <a:p>
            <a:pPr>
              <a:defRPr/>
            </a:pPr>
            <a:fld id="{BBBB0021-1471-4A19-B058-3F89A7DAB666}" type="slidenum">
              <a:rPr lang="en-US" altLang="zh-CN"/>
              <a:pPr>
                <a:defRPr/>
              </a:pPr>
              <a:t>‹#›</a:t>
            </a:fld>
            <a:endParaRPr lang="en-US" altLang="zh-CN"/>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FA46408-9737-4BEC-D961-97A95798EC4E}"/>
              </a:ext>
            </a:extLst>
          </p:cNvPr>
          <p:cNvSpPr/>
          <p:nvPr userDrawn="1"/>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3" name="Rectangle 7"/>
          <p:cNvSpPr>
            <a:spLocks noGrp="1" noChangeArrowheads="1"/>
          </p:cNvSpPr>
          <p:nvPr>
            <p:ph type="sldNum" sz="quarter" idx="11"/>
          </p:nvPr>
        </p:nvSpPr>
        <p:spPr>
          <a:xfrm>
            <a:off x="4871864" y="5772309"/>
            <a:ext cx="2844800" cy="457200"/>
          </a:xfrm>
        </p:spPr>
        <p:txBody>
          <a:bodyPr/>
          <a:lstStyle>
            <a:lvl1pPr>
              <a:defRPr/>
            </a:lvl1pPr>
          </a:lstStyle>
          <a:p>
            <a:pPr>
              <a:defRPr/>
            </a:pPr>
            <a:fld id="{700C099A-6552-4724-AD39-B0EE2F003FA2}" type="slidenum">
              <a:rPr lang="en-US" altLang="zh-CN"/>
              <a:pPr>
                <a:defRPr/>
              </a:pPr>
              <a:t>‹#›</a:t>
            </a:fld>
            <a:endParaRPr lang="en-US" altLang="zh-CN"/>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9032D3C2-0440-378B-6C23-9B348826C29D}"/>
              </a:ext>
            </a:extLst>
          </p:cNvPr>
          <p:cNvSpPr/>
          <p:nvPr userDrawn="1"/>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73548" y="73056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6" name="Rectangle 7"/>
          <p:cNvSpPr>
            <a:spLocks noGrp="1" noChangeArrowheads="1"/>
          </p:cNvSpPr>
          <p:nvPr>
            <p:ph type="sldNum" sz="quarter" idx="11"/>
          </p:nvPr>
        </p:nvSpPr>
        <p:spPr>
          <a:xfrm>
            <a:off x="4732733" y="5812949"/>
            <a:ext cx="2844800" cy="457200"/>
          </a:xfrm>
        </p:spPr>
        <p:txBody>
          <a:bodyPr/>
          <a:lstStyle>
            <a:lvl1pPr>
              <a:defRPr/>
            </a:lvl1pPr>
          </a:lstStyle>
          <a:p>
            <a:pPr>
              <a:defRPr/>
            </a:pPr>
            <a:fld id="{7ACCEEF5-A4E8-4B38-9B9A-645F7197AB0D}" type="slidenum">
              <a:rPr lang="en-US" altLang="zh-CN"/>
              <a:pPr>
                <a:defRPr/>
              </a:pPr>
              <a:t>‹#›</a:t>
            </a:fld>
            <a:endParaRPr lang="en-US" altLang="zh-CN"/>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96C572B-08F4-F616-F5D4-F8B407A94EC2}"/>
              </a:ext>
            </a:extLst>
          </p:cNvPr>
          <p:cNvSpPr/>
          <p:nvPr userDrawn="1"/>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6" name="Rectangle 7"/>
          <p:cNvSpPr>
            <a:spLocks noGrp="1" noChangeArrowheads="1"/>
          </p:cNvSpPr>
          <p:nvPr>
            <p:ph type="sldNum" sz="quarter" idx="11"/>
          </p:nvPr>
        </p:nvSpPr>
        <p:spPr>
          <a:xfrm>
            <a:off x="4727848" y="5947569"/>
            <a:ext cx="2844800" cy="457200"/>
          </a:xfrm>
        </p:spPr>
        <p:txBody>
          <a:bodyPr/>
          <a:lstStyle>
            <a:lvl1pPr>
              <a:defRPr/>
            </a:lvl1pPr>
          </a:lstStyle>
          <a:p>
            <a:pPr>
              <a:defRPr/>
            </a:pPr>
            <a:fld id="{0440781A-A4F2-4A76-904B-091E0D892C1E}" type="slidenum">
              <a:rPr lang="en-US" altLang="zh-CN"/>
              <a:pPr>
                <a:defRPr/>
              </a:pPr>
              <a:t>‹#›</a:t>
            </a:fld>
            <a:endParaRPr lang="en-US" altLang="zh-CN"/>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F0BB92F-0A94-E246-1FBF-63763BF5E5F0}"/>
              </a:ext>
            </a:extLst>
          </p:cNvPr>
          <p:cNvSpPr/>
          <p:nvPr userDrawn="1"/>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1066800" y="701071"/>
            <a:ext cx="10058400" cy="858837"/>
          </a:xfrm>
        </p:spPr>
        <p:txBody>
          <a:bodyPr/>
          <a:lstStyle/>
          <a:p>
            <a:r>
              <a:rPr lang="zh-CN" altLang="en-US" dirty="0"/>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5" name="Rectangle 7"/>
          <p:cNvSpPr>
            <a:spLocks noGrp="1" noChangeArrowheads="1"/>
          </p:cNvSpPr>
          <p:nvPr>
            <p:ph type="sldNum" sz="quarter" idx="11"/>
          </p:nvPr>
        </p:nvSpPr>
        <p:spPr>
          <a:xfrm>
            <a:off x="4673600" y="5846287"/>
            <a:ext cx="2844800" cy="457200"/>
          </a:xfrm>
        </p:spPr>
        <p:txBody>
          <a:bodyPr/>
          <a:lstStyle>
            <a:lvl1pPr>
              <a:defRPr/>
            </a:lvl1pPr>
          </a:lstStyle>
          <a:p>
            <a:pPr>
              <a:defRPr/>
            </a:pPr>
            <a:fld id="{673C00A0-2C46-4087-9057-200FC475DE87}" type="slidenum">
              <a:rPr lang="en-US" altLang="zh-CN"/>
              <a:pPr>
                <a:defRPr/>
              </a:pPr>
              <a:t>‹#›</a:t>
            </a:fld>
            <a:endParaRPr lang="en-US" altLang="zh-CN"/>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5703CE2-1B99-71F8-B525-F9B66C54FF34}"/>
              </a:ext>
            </a:extLst>
          </p:cNvPr>
          <p:cNvSpPr/>
          <p:nvPr userDrawn="1"/>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竖排标题 1"/>
          <p:cNvSpPr>
            <a:spLocks noGrp="1"/>
          </p:cNvSpPr>
          <p:nvPr>
            <p:ph type="title" orient="vert"/>
          </p:nvPr>
        </p:nvSpPr>
        <p:spPr>
          <a:xfrm>
            <a:off x="8864600" y="579120"/>
            <a:ext cx="2743200" cy="5630228"/>
          </a:xfrm>
        </p:spPr>
        <p:txBody>
          <a:bodyPr vert="eaVert"/>
          <a:lstStyle/>
          <a:p>
            <a:r>
              <a:rPr lang="zh-CN" altLang="en-US" dirty="0"/>
              <a:t>单击此处编辑母版标题样式</a:t>
            </a:r>
          </a:p>
        </p:txBody>
      </p:sp>
      <p:sp>
        <p:nvSpPr>
          <p:cNvPr id="3" name="竖排文字占位符 2"/>
          <p:cNvSpPr>
            <a:spLocks noGrp="1"/>
          </p:cNvSpPr>
          <p:nvPr>
            <p:ph type="body" orient="vert" idx="1"/>
          </p:nvPr>
        </p:nvSpPr>
        <p:spPr>
          <a:xfrm>
            <a:off x="615176" y="747713"/>
            <a:ext cx="8026400" cy="6008687"/>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5" name="Rectangle 7"/>
          <p:cNvSpPr>
            <a:spLocks noGrp="1" noChangeArrowheads="1"/>
          </p:cNvSpPr>
          <p:nvPr>
            <p:ph type="sldNum" sz="quarter" idx="11"/>
          </p:nvPr>
        </p:nvSpPr>
        <p:spPr>
          <a:xfrm>
            <a:off x="4799856" y="5812949"/>
            <a:ext cx="2844800" cy="457200"/>
          </a:xfrm>
        </p:spPr>
        <p:txBody>
          <a:bodyPr/>
          <a:lstStyle>
            <a:lvl1pPr>
              <a:defRPr/>
            </a:lvl1pPr>
          </a:lstStyle>
          <a:p>
            <a:pPr>
              <a:defRPr/>
            </a:pPr>
            <a:fld id="{BECDF150-94D8-4D32-8C0D-14E98644416A}" type="slidenum">
              <a:rPr lang="en-US" altLang="zh-CN"/>
              <a:pPr>
                <a:defRPr/>
              </a:pPr>
              <a:t>‹#›</a:t>
            </a:fld>
            <a:endParaRPr lang="en-US" altLang="zh-CN"/>
          </a:p>
        </p:txBody>
      </p:sp>
    </p:spTree>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B2CD58D-8C7B-79BD-0E11-6829DE40E554}"/>
              </a:ext>
            </a:extLst>
          </p:cNvPr>
          <p:cNvSpPr/>
          <p:nvPr userDrawn="1"/>
        </p:nvSpPr>
        <p:spPr>
          <a:xfrm>
            <a:off x="533400" y="623412"/>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1066800" y="687864"/>
            <a:ext cx="10058400" cy="858837"/>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719263"/>
            <a:ext cx="53848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6" name="Rectangle 7"/>
          <p:cNvSpPr>
            <a:spLocks noGrp="1" noChangeArrowheads="1"/>
          </p:cNvSpPr>
          <p:nvPr>
            <p:ph type="sldNum" sz="quarter" idx="11"/>
          </p:nvPr>
        </p:nvSpPr>
        <p:spPr>
          <a:xfrm>
            <a:off x="4775200" y="5846287"/>
            <a:ext cx="2844800" cy="457200"/>
          </a:xfrm>
        </p:spPr>
        <p:txBody>
          <a:bodyPr/>
          <a:lstStyle>
            <a:lvl1pPr>
              <a:defRPr/>
            </a:lvl1pPr>
          </a:lstStyle>
          <a:p>
            <a:pPr>
              <a:defRPr/>
            </a:pPr>
            <a:fld id="{B79023B1-0CB4-4C69-A1E8-9B75F5986AF7}" type="slidenum">
              <a:rPr lang="en-US" altLang="zh-CN"/>
              <a:pPr>
                <a:defRPr/>
              </a:pPr>
              <a:t>‹#›</a:t>
            </a:fld>
            <a:endParaRPr lang="en-US" altLang="zh-CN" dirty="0"/>
          </a:p>
        </p:txBody>
      </p:sp>
    </p:spTree>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AndMedia" preserve="1">
  <p:cSld name="标题，文本与媒体剪辑">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B5283C8D-1330-4025-C06A-4408D80BD2B4}"/>
              </a:ext>
            </a:extLst>
          </p:cNvPr>
          <p:cNvSpPr/>
          <p:nvPr userDrawn="1"/>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983432" y="699453"/>
            <a:ext cx="10058400" cy="858837"/>
          </a:xfrm>
        </p:spPr>
        <p:txBody>
          <a:bodyPr/>
          <a:lstStyle/>
          <a:p>
            <a:r>
              <a:rPr lang="zh-CN" altLang="en-US" dirty="0"/>
              <a:t>单击此处编辑母版标题样式</a:t>
            </a:r>
          </a:p>
        </p:txBody>
      </p:sp>
      <p:sp>
        <p:nvSpPr>
          <p:cNvPr id="3" name="文本占位符 2"/>
          <p:cNvSpPr>
            <a:spLocks noGrp="1"/>
          </p:cNvSpPr>
          <p:nvPr>
            <p:ph type="body" sz="half" idx="1"/>
          </p:nvPr>
        </p:nvSpPr>
        <p:spPr>
          <a:xfrm>
            <a:off x="609600" y="1719263"/>
            <a:ext cx="53848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媒体占位符 3"/>
          <p:cNvSpPr>
            <a:spLocks noGrp="1"/>
          </p:cNvSpPr>
          <p:nvPr>
            <p:ph type="media" sz="half" idx="2"/>
          </p:nvPr>
        </p:nvSpPr>
        <p:spPr>
          <a:xfrm>
            <a:off x="6197600" y="1719263"/>
            <a:ext cx="5384800" cy="4411662"/>
          </a:xfrm>
        </p:spPr>
        <p:txBody>
          <a:bodyPr/>
          <a:lstStyle/>
          <a:p>
            <a:pPr lvl="0"/>
            <a:endParaRPr lang="zh-CN" altLang="en-US" noProof="0"/>
          </a:p>
        </p:txBody>
      </p:sp>
      <p:sp>
        <p:nvSpPr>
          <p:cNvPr id="5"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6" name="Rectangle 7"/>
          <p:cNvSpPr>
            <a:spLocks noGrp="1" noChangeArrowheads="1"/>
          </p:cNvSpPr>
          <p:nvPr>
            <p:ph type="sldNum" sz="quarter" idx="11"/>
          </p:nvPr>
        </p:nvSpPr>
        <p:spPr>
          <a:xfrm>
            <a:off x="4699000" y="5821680"/>
            <a:ext cx="2844800" cy="457200"/>
          </a:xfrm>
        </p:spPr>
        <p:txBody>
          <a:bodyPr/>
          <a:lstStyle>
            <a:lvl1pPr>
              <a:defRPr/>
            </a:lvl1pPr>
          </a:lstStyle>
          <a:p>
            <a:pPr>
              <a:defRPr/>
            </a:pPr>
            <a:fld id="{C16F5EE4-F81D-4B65-813D-8973884A9E34}" type="slidenum">
              <a:rPr lang="en-US" altLang="zh-CN"/>
              <a:pPr>
                <a:defRPr/>
              </a:pPr>
              <a:t>‹#›</a:t>
            </a:fld>
            <a:endParaRPr lang="en-US" altLang="zh-CN" dirty="0"/>
          </a:p>
        </p:txBody>
      </p:sp>
    </p:spTree>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6B20623C-2B25-8BC1-9DCD-13287E335A65}"/>
              </a:ext>
            </a:extLst>
          </p:cNvPr>
          <p:cNvSpPr/>
          <p:nvPr userDrawn="1"/>
        </p:nvSpPr>
        <p:spPr>
          <a:xfrm>
            <a:off x="685800" y="7315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a:extLst>
              <a:ext uri="{FF2B5EF4-FFF2-40B4-BE49-F238E27FC236}">
                <a16:creationId xmlns:a16="http://schemas.microsoft.com/office/drawing/2014/main" id="{89B663CD-23FA-BCCE-175C-18BF36893F8D}"/>
              </a:ext>
            </a:extLst>
          </p:cNvPr>
          <p:cNvSpPr/>
          <p:nvPr userDrawn="1"/>
        </p:nvSpPr>
        <p:spPr>
          <a:xfrm>
            <a:off x="685800" y="7315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a:extLst>
              <a:ext uri="{FF2B5EF4-FFF2-40B4-BE49-F238E27FC236}">
                <a16:creationId xmlns:a16="http://schemas.microsoft.com/office/drawing/2014/main" id="{A219310D-6CB6-FCF9-DB24-00FA2238B185}"/>
              </a:ext>
            </a:extLst>
          </p:cNvPr>
          <p:cNvSpPr/>
          <p:nvPr userDrawn="1"/>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609600" y="122239"/>
            <a:ext cx="10058400" cy="858837"/>
          </a:xfrm>
        </p:spPr>
        <p:txBody>
          <a:bodyPr/>
          <a:lstStyle/>
          <a:p>
            <a:r>
              <a:rPr lang="zh-CN" altLang="en-US"/>
              <a:t>单击此处编辑母版标题样式</a:t>
            </a:r>
          </a:p>
        </p:txBody>
      </p:sp>
      <p:sp>
        <p:nvSpPr>
          <p:cNvPr id="3" name="表格占位符 2"/>
          <p:cNvSpPr>
            <a:spLocks noGrp="1"/>
          </p:cNvSpPr>
          <p:nvPr>
            <p:ph type="tbl" idx="1"/>
          </p:nvPr>
        </p:nvSpPr>
        <p:spPr>
          <a:xfrm>
            <a:off x="609600" y="1719263"/>
            <a:ext cx="10972800" cy="4411662"/>
          </a:xfrm>
        </p:spPr>
        <p:txBody>
          <a:bodyPr/>
          <a:lstStyle/>
          <a:p>
            <a:pPr lvl="0"/>
            <a:endParaRPr lang="zh-CN" altLang="en-US" noProof="0"/>
          </a:p>
        </p:txBody>
      </p:sp>
      <p:sp>
        <p:nvSpPr>
          <p:cNvPr id="4"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5" name="Rectangle 7"/>
          <p:cNvSpPr>
            <a:spLocks noGrp="1" noChangeArrowheads="1"/>
          </p:cNvSpPr>
          <p:nvPr>
            <p:ph type="sldNum" sz="quarter" idx="11"/>
          </p:nvPr>
        </p:nvSpPr>
        <p:spPr/>
        <p:txBody>
          <a:bodyPr/>
          <a:lstStyle>
            <a:lvl1pPr>
              <a:defRPr/>
            </a:lvl1pPr>
          </a:lstStyle>
          <a:p>
            <a:pPr>
              <a:defRPr/>
            </a:pPr>
            <a:fld id="{6614ACCD-D9C7-48A9-AF67-F346CBBA37AF}" type="slidenum">
              <a:rPr lang="en-US" altLang="zh-CN"/>
              <a:pPr>
                <a:defRPr/>
              </a:pPr>
              <a:t>‹#›</a:t>
            </a:fld>
            <a:endParaRPr lang="en-US" altLang="zh-CN"/>
          </a:p>
        </p:txBody>
      </p:sp>
      <p:pic>
        <p:nvPicPr>
          <p:cNvPr id="9" name="图片 8">
            <a:extLst>
              <a:ext uri="{FF2B5EF4-FFF2-40B4-BE49-F238E27FC236}">
                <a16:creationId xmlns:a16="http://schemas.microsoft.com/office/drawing/2014/main" id="{5E27388D-B0B2-0563-C975-BE949A0873B4}"/>
              </a:ext>
            </a:extLst>
          </p:cNvPr>
          <p:cNvPicPr>
            <a:picLocks noChangeAspect="1"/>
          </p:cNvPicPr>
          <p:nvPr userDrawn="1"/>
        </p:nvPicPr>
        <p:blipFill>
          <a:blip r:embed="rId2"/>
          <a:stretch>
            <a:fillRect/>
          </a:stretch>
        </p:blipFill>
        <p:spPr>
          <a:xfrm>
            <a:off x="0" y="43390"/>
            <a:ext cx="12192000" cy="6771220"/>
          </a:xfrm>
          <a:prstGeom prst="rect">
            <a:avLst/>
          </a:prstGeom>
        </p:spPr>
      </p:pic>
    </p:spTree>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dirty="0"/>
              <a:t>单击此处编辑母版标题样式</a:t>
            </a:r>
          </a:p>
        </p:txBody>
      </p:sp>
      <p:sp>
        <p:nvSpPr>
          <p:cNvPr id="4" name="TextBox 3"/>
          <p:cNvSpPr txBox="1"/>
          <p:nvPr userDrawn="1"/>
        </p:nvSpPr>
        <p:spPr>
          <a:xfrm>
            <a:off x="218605" y="6590169"/>
            <a:ext cx="1800200" cy="118430"/>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altLang="zh-CN" sz="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hlinkClick r:id="rId2"/>
              </a:rPr>
              <a:t>PPT</a:t>
            </a:r>
            <a:r>
              <a:rPr kumimoji="0" lang="zh-CN" altLang="en-US" sz="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hlinkClick r:id="rId2"/>
              </a:rPr>
              <a:t>模板</a:t>
            </a:r>
            <a:r>
              <a:rPr kumimoji="0" lang="zh-CN" altLang="en-US" sz="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http://www.1ppt.com/moban/</a:t>
            </a:r>
            <a:r>
              <a:rPr kumimoji="0" lang="zh-CN" altLang="en-US" sz="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endParaRPr kumimoji="0" lang="en-US" altLang="zh-CN" sz="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342457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6"/>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7"/>
          <p:cNvSpPr>
            <a:spLocks noGrp="1" noChangeArrowheads="1"/>
          </p:cNvSpPr>
          <p:nvPr>
            <p:ph type="sldNum" sz="quarter" idx="11"/>
          </p:nvPr>
        </p:nvSpPr>
        <p:spPr>
          <a:ln/>
        </p:spPr>
        <p:txBody>
          <a:bodyPr/>
          <a:lstStyle>
            <a:lvl1pPr>
              <a:defRPr/>
            </a:lvl1pPr>
          </a:lstStyle>
          <a:p>
            <a:pPr>
              <a:defRPr/>
            </a:pPr>
            <a:fld id="{D7E199F4-F9C2-47F3-A9CF-C7E61E01A2A8}" type="slidenum">
              <a:rPr lang="en-US" altLang="zh-CN"/>
              <a:pPr>
                <a:defRPr/>
              </a:pPr>
              <a:t>‹#›</a:t>
            </a:fld>
            <a:endParaRPr lang="en-US" altLang="zh-CN"/>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7"/>
          <p:cNvSpPr>
            <a:spLocks noGrp="1" noChangeArrowheads="1"/>
          </p:cNvSpPr>
          <p:nvPr>
            <p:ph type="sldNum" sz="quarter" idx="11"/>
          </p:nvPr>
        </p:nvSpPr>
        <p:spPr>
          <a:ln/>
        </p:spPr>
        <p:txBody>
          <a:bodyPr/>
          <a:lstStyle>
            <a:lvl1pPr>
              <a:defRPr/>
            </a:lvl1pPr>
          </a:lstStyle>
          <a:p>
            <a:pPr>
              <a:defRPr/>
            </a:pPr>
            <a:fld id="{46CF5370-F617-452E-810F-51450643CFF6}" type="slidenum">
              <a:rPr lang="en-US" altLang="zh-CN"/>
              <a:pPr>
                <a:defRPr/>
              </a:pPr>
              <a:t>‹#›</a:t>
            </a:fld>
            <a:endParaRPr lang="en-US" altLang="zh-CN"/>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7"/>
          <p:cNvSpPr>
            <a:spLocks noGrp="1" noChangeArrowheads="1"/>
          </p:cNvSpPr>
          <p:nvPr>
            <p:ph type="sldNum" sz="quarter" idx="11"/>
          </p:nvPr>
        </p:nvSpPr>
        <p:spPr>
          <a:ln/>
        </p:spPr>
        <p:txBody>
          <a:bodyPr/>
          <a:lstStyle>
            <a:lvl1pPr>
              <a:defRPr/>
            </a:lvl1pPr>
          </a:lstStyle>
          <a:p>
            <a:pPr>
              <a:defRPr/>
            </a:pPr>
            <a:fld id="{0DC2A26A-A11D-4C40-BEE9-C2540F45426C}" type="slidenum">
              <a:rPr lang="en-US" altLang="zh-CN"/>
              <a:pPr>
                <a:defRPr/>
              </a:pPr>
              <a:t>‹#›</a:t>
            </a:fld>
            <a:endParaRPr lang="en-US" altLang="zh-CN"/>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ftr" sz="quarter" idx="10"/>
          </p:nvPr>
        </p:nvSpPr>
        <p:spPr>
          <a:ln/>
        </p:spPr>
        <p:txBody>
          <a:bodyPr/>
          <a:lstStyle>
            <a:lvl1pPr>
              <a:defRPr/>
            </a:lvl1pPr>
          </a:lstStyle>
          <a:p>
            <a:pPr>
              <a:defRPr/>
            </a:pPr>
            <a:endParaRPr lang="en-US" altLang="zh-CN" dirty="0"/>
          </a:p>
        </p:txBody>
      </p:sp>
      <p:sp>
        <p:nvSpPr>
          <p:cNvPr id="6" name="Rectangle 7"/>
          <p:cNvSpPr>
            <a:spLocks noGrp="1" noChangeArrowheads="1"/>
          </p:cNvSpPr>
          <p:nvPr>
            <p:ph type="sldNum" sz="quarter" idx="11"/>
          </p:nvPr>
        </p:nvSpPr>
        <p:spPr>
          <a:ln/>
        </p:spPr>
        <p:txBody>
          <a:bodyPr/>
          <a:lstStyle>
            <a:lvl1pPr>
              <a:defRPr/>
            </a:lvl1pPr>
          </a:lstStyle>
          <a:p>
            <a:pPr>
              <a:defRPr/>
            </a:pPr>
            <a:fld id="{60250AA8-0700-402F-A230-C897B65B06C7}" type="slidenum">
              <a:rPr lang="en-US" altLang="zh-CN"/>
              <a:pPr>
                <a:defRPr/>
              </a:pPr>
              <a:t>‹#›</a:t>
            </a:fld>
            <a:endParaRPr lang="en-US" altLang="zh-CN"/>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ftr" sz="quarter" idx="10"/>
          </p:nvPr>
        </p:nvSpPr>
        <p:spPr>
          <a:ln/>
        </p:spPr>
        <p:txBody>
          <a:bodyPr/>
          <a:lstStyle>
            <a:lvl1pPr>
              <a:defRPr/>
            </a:lvl1pPr>
          </a:lstStyle>
          <a:p>
            <a:pPr>
              <a:defRPr/>
            </a:pPr>
            <a:endParaRPr lang="en-US" altLang="zh-CN" dirty="0"/>
          </a:p>
        </p:txBody>
      </p:sp>
      <p:sp>
        <p:nvSpPr>
          <p:cNvPr id="8" name="Rectangle 7"/>
          <p:cNvSpPr>
            <a:spLocks noGrp="1" noChangeArrowheads="1"/>
          </p:cNvSpPr>
          <p:nvPr>
            <p:ph type="sldNum" sz="quarter" idx="11"/>
          </p:nvPr>
        </p:nvSpPr>
        <p:spPr>
          <a:ln/>
        </p:spPr>
        <p:txBody>
          <a:bodyPr/>
          <a:lstStyle>
            <a:lvl1pPr>
              <a:defRPr/>
            </a:lvl1pPr>
          </a:lstStyle>
          <a:p>
            <a:pPr>
              <a:defRPr/>
            </a:pPr>
            <a:fld id="{E78EC45F-5BC3-4AFD-AE53-C02A6CCE0A72}" type="slidenum">
              <a:rPr lang="en-US" altLang="zh-CN"/>
              <a:pPr>
                <a:defRPr/>
              </a:pPr>
              <a:t>‹#›</a:t>
            </a:fld>
            <a:endParaRPr lang="en-US" altLang="zh-CN"/>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ftr" sz="quarter" idx="10"/>
          </p:nvPr>
        </p:nvSpPr>
        <p:spPr>
          <a:ln/>
        </p:spPr>
        <p:txBody>
          <a:bodyPr/>
          <a:lstStyle>
            <a:lvl1pPr>
              <a:defRPr/>
            </a:lvl1pPr>
          </a:lstStyle>
          <a:p>
            <a:pPr>
              <a:defRPr/>
            </a:pPr>
            <a:endParaRPr lang="en-US" altLang="zh-CN" dirty="0"/>
          </a:p>
        </p:txBody>
      </p:sp>
      <p:sp>
        <p:nvSpPr>
          <p:cNvPr id="4" name="Rectangle 7"/>
          <p:cNvSpPr>
            <a:spLocks noGrp="1" noChangeArrowheads="1"/>
          </p:cNvSpPr>
          <p:nvPr>
            <p:ph type="sldNum" sz="quarter" idx="11"/>
          </p:nvPr>
        </p:nvSpPr>
        <p:spPr>
          <a:ln/>
        </p:spPr>
        <p:txBody>
          <a:bodyPr/>
          <a:lstStyle>
            <a:lvl1pPr>
              <a:defRPr/>
            </a:lvl1pPr>
          </a:lstStyle>
          <a:p>
            <a:pPr>
              <a:defRPr/>
            </a:pPr>
            <a:fld id="{FCA8214C-F769-43E3-96E2-59F4E44E6C02}" type="slidenum">
              <a:rPr lang="en-US" altLang="zh-CN"/>
              <a:pPr>
                <a:defRPr/>
              </a:pPr>
              <a:t>‹#›</a:t>
            </a:fld>
            <a:endParaRPr lang="en-US" altLang="zh-CN"/>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ln/>
        </p:spPr>
        <p:txBody>
          <a:bodyPr/>
          <a:lstStyle>
            <a:lvl1pPr>
              <a:defRPr/>
            </a:lvl1pPr>
          </a:lstStyle>
          <a:p>
            <a:pPr>
              <a:defRPr/>
            </a:pPr>
            <a:endParaRPr lang="en-US" altLang="zh-CN" dirty="0"/>
          </a:p>
        </p:txBody>
      </p:sp>
      <p:sp>
        <p:nvSpPr>
          <p:cNvPr id="3" name="Rectangle 7"/>
          <p:cNvSpPr>
            <a:spLocks noGrp="1" noChangeArrowheads="1"/>
          </p:cNvSpPr>
          <p:nvPr>
            <p:ph type="sldNum" sz="quarter" idx="11"/>
          </p:nvPr>
        </p:nvSpPr>
        <p:spPr>
          <a:ln/>
        </p:spPr>
        <p:txBody>
          <a:bodyPr/>
          <a:lstStyle>
            <a:lvl1pPr>
              <a:defRPr/>
            </a:lvl1pPr>
          </a:lstStyle>
          <a:p>
            <a:pPr>
              <a:defRPr/>
            </a:pPr>
            <a:fld id="{76CE68C6-869C-40A5-9B67-E3B41CE595A1}" type="slidenum">
              <a:rPr lang="en-US" altLang="zh-CN"/>
              <a:pPr>
                <a:defRPr/>
              </a:pPr>
              <a:t>‹#›</a:t>
            </a:fld>
            <a:endParaRPr lang="en-US" altLang="zh-CN"/>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ln/>
        </p:spPr>
        <p:txBody>
          <a:bodyPr/>
          <a:lstStyle>
            <a:lvl1pPr>
              <a:defRPr/>
            </a:lvl1pPr>
          </a:lstStyle>
          <a:p>
            <a:pPr>
              <a:defRPr/>
            </a:pPr>
            <a:endParaRPr lang="en-US" altLang="zh-CN" dirty="0"/>
          </a:p>
        </p:txBody>
      </p:sp>
      <p:sp>
        <p:nvSpPr>
          <p:cNvPr id="3" name="Rectangle 7"/>
          <p:cNvSpPr>
            <a:spLocks noGrp="1" noChangeArrowheads="1"/>
          </p:cNvSpPr>
          <p:nvPr>
            <p:ph type="sldNum" sz="quarter" idx="11"/>
          </p:nvPr>
        </p:nvSpPr>
        <p:spPr>
          <a:ln/>
        </p:spPr>
        <p:txBody>
          <a:bodyPr/>
          <a:lstStyle>
            <a:lvl1pPr>
              <a:defRPr/>
            </a:lvl1pPr>
          </a:lstStyle>
          <a:p>
            <a:pPr>
              <a:defRPr/>
            </a:pPr>
            <a:fld id="{76CE68C6-869C-40A5-9B67-E3B41CE595A1}" type="slidenum">
              <a:rPr lang="en-US" altLang="zh-CN"/>
              <a:pPr>
                <a:defRPr/>
              </a:pPr>
              <a:t>‹#›</a:t>
            </a:fld>
            <a:endParaRPr lang="en-US" altLang="zh-CN"/>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ftr" sz="quarter" idx="10"/>
          </p:nvPr>
        </p:nvSpPr>
        <p:spPr>
          <a:ln/>
        </p:spPr>
        <p:txBody>
          <a:bodyPr/>
          <a:lstStyle>
            <a:lvl1pPr>
              <a:defRPr/>
            </a:lvl1pPr>
          </a:lstStyle>
          <a:p>
            <a:pPr>
              <a:defRPr/>
            </a:pPr>
            <a:endParaRPr lang="en-US" altLang="zh-CN" dirty="0"/>
          </a:p>
        </p:txBody>
      </p:sp>
      <p:sp>
        <p:nvSpPr>
          <p:cNvPr id="6" name="Rectangle 7"/>
          <p:cNvSpPr>
            <a:spLocks noGrp="1" noChangeArrowheads="1"/>
          </p:cNvSpPr>
          <p:nvPr>
            <p:ph type="sldNum" sz="quarter" idx="11"/>
          </p:nvPr>
        </p:nvSpPr>
        <p:spPr>
          <a:ln/>
        </p:spPr>
        <p:txBody>
          <a:bodyPr/>
          <a:lstStyle>
            <a:lvl1pPr>
              <a:defRPr/>
            </a:lvl1pPr>
          </a:lstStyle>
          <a:p>
            <a:pPr>
              <a:defRPr/>
            </a:pPr>
            <a:fld id="{4015DD36-B387-4528-8554-6653607938B2}" type="slidenum">
              <a:rPr lang="en-US" altLang="zh-CN"/>
              <a:pPr>
                <a:defRPr/>
              </a:pPr>
              <a:t>‹#›</a:t>
            </a:fld>
            <a:endParaRPr lang="en-US" altLang="zh-CN"/>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ftr" sz="quarter" idx="10"/>
          </p:nvPr>
        </p:nvSpPr>
        <p:spPr>
          <a:ln/>
        </p:spPr>
        <p:txBody>
          <a:bodyPr/>
          <a:lstStyle>
            <a:lvl1pPr>
              <a:defRPr/>
            </a:lvl1pPr>
          </a:lstStyle>
          <a:p>
            <a:pPr>
              <a:defRPr/>
            </a:pPr>
            <a:endParaRPr lang="en-US" altLang="zh-CN" dirty="0"/>
          </a:p>
        </p:txBody>
      </p:sp>
      <p:sp>
        <p:nvSpPr>
          <p:cNvPr id="6" name="Rectangle 7"/>
          <p:cNvSpPr>
            <a:spLocks noGrp="1" noChangeArrowheads="1"/>
          </p:cNvSpPr>
          <p:nvPr>
            <p:ph type="sldNum" sz="quarter" idx="11"/>
          </p:nvPr>
        </p:nvSpPr>
        <p:spPr>
          <a:ln/>
        </p:spPr>
        <p:txBody>
          <a:bodyPr/>
          <a:lstStyle>
            <a:lvl1pPr>
              <a:defRPr/>
            </a:lvl1pPr>
          </a:lstStyle>
          <a:p>
            <a:pPr>
              <a:defRPr/>
            </a:pPr>
            <a:fld id="{1983FD14-5D83-42E5-805D-56005BCDE088}" type="slidenum">
              <a:rPr lang="en-US" altLang="zh-CN"/>
              <a:pPr>
                <a:defRPr/>
              </a:pPr>
              <a:t>‹#›</a:t>
            </a:fld>
            <a:endParaRPr lang="en-US" altLang="zh-CN"/>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7"/>
          <p:cNvSpPr>
            <a:spLocks noGrp="1" noChangeArrowheads="1"/>
          </p:cNvSpPr>
          <p:nvPr>
            <p:ph type="sldNum" sz="quarter" idx="11"/>
          </p:nvPr>
        </p:nvSpPr>
        <p:spPr>
          <a:ln/>
        </p:spPr>
        <p:txBody>
          <a:bodyPr/>
          <a:lstStyle>
            <a:lvl1pPr>
              <a:defRPr/>
            </a:lvl1pPr>
          </a:lstStyle>
          <a:p>
            <a:pPr>
              <a:defRPr/>
            </a:pPr>
            <a:fld id="{55D4D261-371C-478E-9D92-CC4BEDE0F769}" type="slidenum">
              <a:rPr lang="en-US" altLang="zh-CN"/>
              <a:pPr>
                <a:defRPr/>
              </a:pPr>
              <a:t>‹#›</a:t>
            </a:fld>
            <a:endParaRPr lang="en-US" altLang="zh-CN"/>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122239"/>
            <a:ext cx="2743200" cy="6008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122239"/>
            <a:ext cx="8026400" cy="60086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7"/>
          <p:cNvSpPr>
            <a:spLocks noGrp="1" noChangeArrowheads="1"/>
          </p:cNvSpPr>
          <p:nvPr>
            <p:ph type="sldNum" sz="quarter" idx="11"/>
          </p:nvPr>
        </p:nvSpPr>
        <p:spPr>
          <a:ln/>
        </p:spPr>
        <p:txBody>
          <a:bodyPr/>
          <a:lstStyle>
            <a:lvl1pPr>
              <a:defRPr/>
            </a:lvl1pPr>
          </a:lstStyle>
          <a:p>
            <a:pPr>
              <a:defRPr/>
            </a:pPr>
            <a:fld id="{126A5805-CF17-4D74-92E1-6F9D498D634E}" type="slidenum">
              <a:rPr lang="en-US" altLang="zh-CN"/>
              <a:pPr>
                <a:defRPr/>
              </a:pPr>
              <a:t>‹#›</a:t>
            </a:fld>
            <a:endParaRPr lang="en-US" altLang="zh-CN"/>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92691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99BCA5-D8FF-460C-88E7-84B01E2792DC}"/>
              </a:ext>
            </a:extLst>
          </p:cNvPr>
          <p:cNvSpPr>
            <a:spLocks noGrp="1"/>
          </p:cNvSpPr>
          <p:nvPr>
            <p:ph type="title"/>
          </p:nvPr>
        </p:nvSpPr>
        <p:spPr>
          <a:xfrm>
            <a:off x="838200" y="365125"/>
            <a:ext cx="10515600" cy="1325563"/>
          </a:xfrm>
          <a:prstGeom prst="rect">
            <a:avLst/>
          </a:prstGeom>
        </p:spPr>
        <p:txBody>
          <a:bodyPr/>
          <a:lstStyle/>
          <a:p>
            <a:r>
              <a:rPr lang="zh-CN" altLang="en-US" dirty="0"/>
              <a:t>单击此处编辑母版标题样式</a:t>
            </a:r>
          </a:p>
        </p:txBody>
      </p:sp>
    </p:spTree>
    <p:extLst>
      <p:ext uri="{BB962C8B-B14F-4D97-AF65-F5344CB8AC3E}">
        <p14:creationId xmlns:p14="http://schemas.microsoft.com/office/powerpoint/2010/main" val="29164123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096365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3440431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880929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0022763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697323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650942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800415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5833530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TextBox 3"/>
          <p:cNvSpPr txBox="1"/>
          <p:nvPr userDrawn="1"/>
        </p:nvSpPr>
        <p:spPr>
          <a:xfrm>
            <a:off x="218605" y="6590169"/>
            <a:ext cx="1800200" cy="118430"/>
          </a:xfrm>
          <a:prstGeom prst="rect">
            <a:avLst/>
          </a:prstGeom>
          <a:noFill/>
        </p:spPr>
        <p:txBody>
          <a:bodyPr wrap="square" rtlCol="0">
            <a:spAutoFit/>
          </a:bodyPr>
          <a:lstStyle/>
          <a:p>
            <a:pPr defTabSz="914400">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0174196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198764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theme" Target="../theme/theme4.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l="-1000" r="-1000"/>
          </a:stretch>
        </a:blipFill>
        <a:effectLst/>
      </p:bgPr>
    </p:bg>
    <p:spTree>
      <p:nvGrpSpPr>
        <p:cNvPr id="1" name=""/>
        <p:cNvGrpSpPr/>
        <p:nvPr/>
      </p:nvGrpSpPr>
      <p:grpSpPr>
        <a:xfrm>
          <a:off x="0" y="0"/>
          <a:ext cx="0" cy="0"/>
          <a:chOff x="0" y="0"/>
          <a:chExt cx="0" cy="0"/>
        </a:xfrm>
      </p:grpSpPr>
      <p:sp>
        <p:nvSpPr>
          <p:cNvPr id="2050" name="Rectangle 3"/>
          <p:cNvSpPr>
            <a:spLocks noGrp="1" noChangeArrowheads="1"/>
          </p:cNvSpPr>
          <p:nvPr>
            <p:ph type="title"/>
          </p:nvPr>
        </p:nvSpPr>
        <p:spPr bwMode="auto">
          <a:xfrm>
            <a:off x="1098551" y="297656"/>
            <a:ext cx="10058400" cy="8588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2051" name="Rectangle 4"/>
          <p:cNvSpPr>
            <a:spLocks noGrp="1" noChangeArrowheads="1"/>
          </p:cNvSpPr>
          <p:nvPr>
            <p:ph type="body" idx="1"/>
          </p:nvPr>
        </p:nvSpPr>
        <p:spPr bwMode="auto">
          <a:xfrm>
            <a:off x="609600" y="1719263"/>
            <a:ext cx="109728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7654" name="Rectangle 6"/>
          <p:cNvSpPr>
            <a:spLocks noGrp="1" noChangeArrowheads="1"/>
          </p:cNvSpPr>
          <p:nvPr>
            <p:ph type="ftr" sz="quarter" idx="3"/>
          </p:nvPr>
        </p:nvSpPr>
        <p:spPr bwMode="auto">
          <a:xfrm>
            <a:off x="304800" y="6180138"/>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2000" b="0">
                <a:ea typeface="+mn-ea"/>
              </a:defRPr>
            </a:lvl1pPr>
          </a:lstStyle>
          <a:p>
            <a:pPr>
              <a:defRPr/>
            </a:pPr>
            <a:endParaRPr lang="en-US" altLang="zh-CN" dirty="0"/>
          </a:p>
        </p:txBody>
      </p:sp>
      <p:sp>
        <p:nvSpPr>
          <p:cNvPr id="27655" name="Rectangle 7"/>
          <p:cNvSpPr>
            <a:spLocks noGrp="1" noChangeArrowheads="1"/>
          </p:cNvSpPr>
          <p:nvPr>
            <p:ph type="sldNum" sz="quarter" idx="4"/>
          </p:nvPr>
        </p:nvSpPr>
        <p:spPr bwMode="auto">
          <a:xfrm>
            <a:off x="4705351" y="6240463"/>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600" b="1"/>
            </a:lvl1pPr>
          </a:lstStyle>
          <a:p>
            <a:pPr>
              <a:defRPr/>
            </a:pPr>
            <a:fld id="{F1DF145E-C5AF-4A14-B9F0-BF7FA680051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Lst>
  <p:transition/>
  <p:hf hdr="0" ftr="0" dt="0"/>
  <p:txStyles>
    <p:titleStyle>
      <a:lvl1pPr algn="ctr"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黑体" pitchFamily="2" charset="-122"/>
        </a:defRPr>
      </a:lvl2pPr>
      <a:lvl3pPr algn="l" rtl="0" eaLnBrk="0" fontAlgn="base" hangingPunct="0">
        <a:spcBef>
          <a:spcPct val="0"/>
        </a:spcBef>
        <a:spcAft>
          <a:spcPct val="0"/>
        </a:spcAft>
        <a:defRPr sz="4200" b="1">
          <a:solidFill>
            <a:schemeClr val="tx1"/>
          </a:solidFill>
          <a:latin typeface="Arial" charset="0"/>
          <a:ea typeface="黑体" pitchFamily="2" charset="-122"/>
        </a:defRPr>
      </a:lvl3pPr>
      <a:lvl4pPr algn="l" rtl="0" eaLnBrk="0" fontAlgn="base" hangingPunct="0">
        <a:spcBef>
          <a:spcPct val="0"/>
        </a:spcBef>
        <a:spcAft>
          <a:spcPct val="0"/>
        </a:spcAft>
        <a:defRPr sz="4200" b="1">
          <a:solidFill>
            <a:schemeClr val="tx1"/>
          </a:solidFill>
          <a:latin typeface="Arial" charset="0"/>
          <a:ea typeface="黑体" pitchFamily="2" charset="-122"/>
        </a:defRPr>
      </a:lvl4pPr>
      <a:lvl5pPr algn="l" rtl="0" eaLnBrk="0" fontAlgn="base" hangingPunct="0">
        <a:spcBef>
          <a:spcPct val="0"/>
        </a:spcBef>
        <a:spcAft>
          <a:spcPct val="0"/>
        </a:spcAft>
        <a:defRPr sz="4200" b="1">
          <a:solidFill>
            <a:schemeClr val="tx1"/>
          </a:solidFill>
          <a:latin typeface="Arial" charset="0"/>
          <a:ea typeface="黑体" pitchFamily="2" charset="-122"/>
        </a:defRPr>
      </a:lvl5pPr>
      <a:lvl6pPr marL="457200" algn="l" rtl="0" fontAlgn="base">
        <a:spcBef>
          <a:spcPct val="0"/>
        </a:spcBef>
        <a:spcAft>
          <a:spcPct val="0"/>
        </a:spcAft>
        <a:defRPr sz="4200" b="1">
          <a:solidFill>
            <a:schemeClr val="tx1"/>
          </a:solidFill>
          <a:latin typeface="Arial" charset="0"/>
          <a:ea typeface="黑体" pitchFamily="2" charset="-122"/>
        </a:defRPr>
      </a:lvl6pPr>
      <a:lvl7pPr marL="914400" algn="l" rtl="0" fontAlgn="base">
        <a:spcBef>
          <a:spcPct val="0"/>
        </a:spcBef>
        <a:spcAft>
          <a:spcPct val="0"/>
        </a:spcAft>
        <a:defRPr sz="4200" b="1">
          <a:solidFill>
            <a:schemeClr val="tx1"/>
          </a:solidFill>
          <a:latin typeface="Arial" charset="0"/>
          <a:ea typeface="黑体" pitchFamily="2" charset="-122"/>
        </a:defRPr>
      </a:lvl7pPr>
      <a:lvl8pPr marL="1371600" algn="l" rtl="0" fontAlgn="base">
        <a:spcBef>
          <a:spcPct val="0"/>
        </a:spcBef>
        <a:spcAft>
          <a:spcPct val="0"/>
        </a:spcAft>
        <a:defRPr sz="4200" b="1">
          <a:solidFill>
            <a:schemeClr val="tx1"/>
          </a:solidFill>
          <a:latin typeface="Arial" charset="0"/>
          <a:ea typeface="黑体" pitchFamily="2" charset="-122"/>
        </a:defRPr>
      </a:lvl8pPr>
      <a:lvl9pPr marL="1828800" algn="l" rtl="0" fontAlgn="base">
        <a:spcBef>
          <a:spcPct val="0"/>
        </a:spcBef>
        <a:spcAft>
          <a:spcPct val="0"/>
        </a:spcAft>
        <a:defRPr sz="4200" b="1">
          <a:solidFill>
            <a:schemeClr val="tx1"/>
          </a:solidFill>
          <a:latin typeface="Arial" charset="0"/>
          <a:ea typeface="黑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b="1">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b="1">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b="1">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b="1">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693199"/>
      </p:ext>
    </p:extLst>
  </p:cSld>
  <p:clrMap bg1="lt1" tx1="dk1" bg2="lt2" tx2="dk2" accent1="accent1" accent2="accent2" accent3="accent3" accent4="accent4" accent5="accent5" accent6="accent6" hlink="hlink" folHlink="folHlink"/>
  <p:sldLayoutIdLst>
    <p:sldLayoutId id="2147483775" r:id="rId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l="-1000" r="-1000"/>
          </a:stretch>
        </a:blipFill>
        <a:effectLst/>
      </p:bgPr>
    </p:bg>
    <p:spTree>
      <p:nvGrpSpPr>
        <p:cNvPr id="1" name=""/>
        <p:cNvGrpSpPr/>
        <p:nvPr/>
      </p:nvGrpSpPr>
      <p:grpSpPr>
        <a:xfrm>
          <a:off x="0" y="0"/>
          <a:ext cx="0" cy="0"/>
          <a:chOff x="0" y="0"/>
          <a:chExt cx="0" cy="0"/>
        </a:xfrm>
      </p:grpSpPr>
      <p:sp>
        <p:nvSpPr>
          <p:cNvPr id="3074" name="Rectangle 3"/>
          <p:cNvSpPr>
            <a:spLocks noGrp="1" noChangeArrowheads="1"/>
          </p:cNvSpPr>
          <p:nvPr>
            <p:ph type="title"/>
          </p:nvPr>
        </p:nvSpPr>
        <p:spPr bwMode="auto">
          <a:xfrm>
            <a:off x="609600" y="122239"/>
            <a:ext cx="10058400" cy="8588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3075" name="Rectangle 4"/>
          <p:cNvSpPr>
            <a:spLocks noGrp="1" noChangeArrowheads="1"/>
          </p:cNvSpPr>
          <p:nvPr>
            <p:ph type="body" idx="1"/>
          </p:nvPr>
        </p:nvSpPr>
        <p:spPr bwMode="auto">
          <a:xfrm>
            <a:off x="609600" y="1719263"/>
            <a:ext cx="109728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7654" name="Rectangle 6"/>
          <p:cNvSpPr>
            <a:spLocks noGrp="1" noChangeArrowheads="1"/>
          </p:cNvSpPr>
          <p:nvPr>
            <p:ph type="ftr" sz="quarter" idx="3"/>
          </p:nvPr>
        </p:nvSpPr>
        <p:spPr bwMode="auto">
          <a:xfrm>
            <a:off x="304800" y="6180138"/>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2000" b="0">
                <a:ea typeface="+mn-ea"/>
              </a:defRPr>
            </a:lvl1pPr>
          </a:lstStyle>
          <a:p>
            <a:pPr>
              <a:defRPr/>
            </a:pPr>
            <a:endParaRPr lang="en-US" altLang="zh-CN" dirty="0"/>
          </a:p>
        </p:txBody>
      </p:sp>
      <p:sp>
        <p:nvSpPr>
          <p:cNvPr id="27655" name="Rectangle 7"/>
          <p:cNvSpPr>
            <a:spLocks noGrp="1" noChangeArrowheads="1"/>
          </p:cNvSpPr>
          <p:nvPr>
            <p:ph type="sldNum" sz="quarter" idx="4"/>
          </p:nvPr>
        </p:nvSpPr>
        <p:spPr bwMode="auto">
          <a:xfrm>
            <a:off x="4705351" y="6240463"/>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600" b="1"/>
            </a:lvl1pPr>
          </a:lstStyle>
          <a:p>
            <a:pPr>
              <a:defRPr/>
            </a:pPr>
            <a:fld id="{49D54238-E30E-46E7-B70F-7CD95595695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60" r:id="rId8"/>
    <p:sldLayoutId id="2147483742" r:id="rId9"/>
    <p:sldLayoutId id="2147483743" r:id="rId10"/>
    <p:sldLayoutId id="2147483744" r:id="rId11"/>
    <p:sldLayoutId id="2147483745" r:id="rId12"/>
  </p:sldLayoutIdLst>
  <p:transition/>
  <p:hf hdr="0" ftr="0" dt="0"/>
  <p:txStyles>
    <p:titleStyle>
      <a:lvl1pPr algn="l" rtl="0" eaLnBrk="0" fontAlgn="base" hangingPunct="0">
        <a:spcBef>
          <a:spcPct val="0"/>
        </a:spcBef>
        <a:spcAft>
          <a:spcPct val="0"/>
        </a:spcAft>
        <a:defRPr sz="42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宋体" pitchFamily="2" charset="-122"/>
        </a:defRPr>
      </a:lvl2pPr>
      <a:lvl3pPr algn="l" rtl="0" eaLnBrk="0" fontAlgn="base" hangingPunct="0">
        <a:spcBef>
          <a:spcPct val="0"/>
        </a:spcBef>
        <a:spcAft>
          <a:spcPct val="0"/>
        </a:spcAft>
        <a:defRPr sz="4200" b="1">
          <a:solidFill>
            <a:schemeClr val="tx1"/>
          </a:solidFill>
          <a:latin typeface="Arial" charset="0"/>
          <a:ea typeface="宋体" pitchFamily="2" charset="-122"/>
        </a:defRPr>
      </a:lvl3pPr>
      <a:lvl4pPr algn="l" rtl="0" eaLnBrk="0" fontAlgn="base" hangingPunct="0">
        <a:spcBef>
          <a:spcPct val="0"/>
        </a:spcBef>
        <a:spcAft>
          <a:spcPct val="0"/>
        </a:spcAft>
        <a:defRPr sz="4200" b="1">
          <a:solidFill>
            <a:schemeClr val="tx1"/>
          </a:solidFill>
          <a:latin typeface="Arial" charset="0"/>
          <a:ea typeface="宋体" pitchFamily="2" charset="-122"/>
        </a:defRPr>
      </a:lvl4pPr>
      <a:lvl5pPr algn="l" rtl="0" eaLnBrk="0" fontAlgn="base" hangingPunct="0">
        <a:spcBef>
          <a:spcPct val="0"/>
        </a:spcBef>
        <a:spcAft>
          <a:spcPct val="0"/>
        </a:spcAft>
        <a:defRPr sz="4200" b="1">
          <a:solidFill>
            <a:schemeClr val="tx1"/>
          </a:solidFill>
          <a:latin typeface="Arial" charset="0"/>
          <a:ea typeface="宋体" pitchFamily="2" charset="-122"/>
        </a:defRPr>
      </a:lvl5pPr>
      <a:lvl6pPr marL="457200" algn="l" rtl="0" fontAlgn="base">
        <a:spcBef>
          <a:spcPct val="0"/>
        </a:spcBef>
        <a:spcAft>
          <a:spcPct val="0"/>
        </a:spcAft>
        <a:defRPr sz="4200" b="1">
          <a:solidFill>
            <a:schemeClr val="tx1"/>
          </a:solidFill>
          <a:latin typeface="Arial" charset="0"/>
          <a:ea typeface="宋体" pitchFamily="2" charset="-122"/>
        </a:defRPr>
      </a:lvl6pPr>
      <a:lvl7pPr marL="914400" algn="l" rtl="0" fontAlgn="base">
        <a:spcBef>
          <a:spcPct val="0"/>
        </a:spcBef>
        <a:spcAft>
          <a:spcPct val="0"/>
        </a:spcAft>
        <a:defRPr sz="4200" b="1">
          <a:solidFill>
            <a:schemeClr val="tx1"/>
          </a:solidFill>
          <a:latin typeface="Arial" charset="0"/>
          <a:ea typeface="宋体" pitchFamily="2" charset="-122"/>
        </a:defRPr>
      </a:lvl7pPr>
      <a:lvl8pPr marL="1371600" algn="l" rtl="0" fontAlgn="base">
        <a:spcBef>
          <a:spcPct val="0"/>
        </a:spcBef>
        <a:spcAft>
          <a:spcPct val="0"/>
        </a:spcAft>
        <a:defRPr sz="4200" b="1">
          <a:solidFill>
            <a:schemeClr val="tx1"/>
          </a:solidFill>
          <a:latin typeface="Arial" charset="0"/>
          <a:ea typeface="宋体" pitchFamily="2" charset="-122"/>
        </a:defRPr>
      </a:lvl8pPr>
      <a:lvl9pPr marL="1828800" algn="l" rtl="0" fontAlgn="base">
        <a:spcBef>
          <a:spcPct val="0"/>
        </a:spcBef>
        <a:spcAft>
          <a:spcPct val="0"/>
        </a:spcAft>
        <a:defRPr sz="4200" b="1">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b="1">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b="1">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b="1">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b="1">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l="-1000" r="-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2317007"/>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50549A0-2E4B-4D43-BB79-6C364AF6C5FD}"/>
              </a:ext>
            </a:extLst>
          </p:cNvPr>
          <p:cNvSpPr/>
          <p:nvPr/>
        </p:nvSpPr>
        <p:spPr>
          <a:xfrm>
            <a:off x="518160" y="609600"/>
            <a:ext cx="11125200" cy="5699760"/>
          </a:xfrm>
          <a:prstGeom prst="rect">
            <a:avLst/>
          </a:prstGeom>
          <a:no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方正正黑简体"/>
              <a:cs typeface="+mn-ea"/>
              <a:sym typeface="+mn-lt"/>
            </a:endParaRPr>
          </a:p>
        </p:txBody>
      </p:sp>
      <p:sp>
        <p:nvSpPr>
          <p:cNvPr id="2" name="文本框 1">
            <a:extLst>
              <a:ext uri="{FF2B5EF4-FFF2-40B4-BE49-F238E27FC236}">
                <a16:creationId xmlns:a16="http://schemas.microsoft.com/office/drawing/2014/main" id="{E1146071-80DA-42DC-B794-3183D24BF741}"/>
              </a:ext>
            </a:extLst>
          </p:cNvPr>
          <p:cNvSpPr txBox="1"/>
          <p:nvPr/>
        </p:nvSpPr>
        <p:spPr>
          <a:xfrm>
            <a:off x="1388349" y="1500519"/>
            <a:ext cx="10555323" cy="144655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a:noFill/>
                </a:ln>
                <a:solidFill>
                  <a:prstClr val="white"/>
                </a:solidFill>
                <a:effectLst/>
                <a:uLnTx/>
                <a:uFillTx/>
                <a:latin typeface="Arial Unicode MS" panose="020B0604020202020204" pitchFamily="34" charset="-122"/>
                <a:ea typeface="Arial Unicode MS" panose="020B0604020202020204" pitchFamily="34" charset="-122"/>
                <a:cs typeface="Arial Unicode MS" panose="020B0604020202020204" pitchFamily="34" charset="-122"/>
                <a:sym typeface="+mn-lt"/>
              </a:rPr>
              <a:t> </a:t>
            </a:r>
            <a:r>
              <a:rPr kumimoji="0" lang="en-US" altLang="zh-CN" sz="8800" b="0" i="0" u="none" strike="noStrike" kern="1200" cap="none" spc="0" normalizeH="0" baseline="0" noProof="0" dirty="0">
                <a:ln>
                  <a:noFill/>
                </a:ln>
                <a:solidFill>
                  <a:prstClr val="white"/>
                </a:solidFill>
                <a:effectLst/>
                <a:uLnTx/>
                <a:uFillTx/>
                <a:latin typeface="Arial Unicode MS" panose="020B0604020202020204" pitchFamily="34" charset="-122"/>
                <a:ea typeface="Arial Unicode MS" panose="020B0604020202020204" pitchFamily="34" charset="-122"/>
                <a:cs typeface="Arial Unicode MS" panose="020B0604020202020204" pitchFamily="34" charset="-122"/>
                <a:sym typeface="+mn-lt"/>
              </a:rPr>
              <a:t>Linux</a:t>
            </a:r>
            <a:r>
              <a:rPr kumimoji="0" lang="zh-CN" altLang="en-US" sz="8800" b="0" i="0" u="none" strike="noStrike" kern="1200" cap="none" spc="0" normalizeH="0" baseline="0" noProof="0" dirty="0">
                <a:ln>
                  <a:noFill/>
                </a:ln>
                <a:solidFill>
                  <a:prstClr val="white"/>
                </a:solidFill>
                <a:effectLst/>
                <a:uLnTx/>
                <a:uFillTx/>
                <a:latin typeface="Arial Unicode MS" panose="020B0604020202020204" pitchFamily="34" charset="-122"/>
                <a:ea typeface="Arial Unicode MS" panose="020B0604020202020204" pitchFamily="34" charset="-122"/>
                <a:cs typeface="Arial Unicode MS" panose="020B0604020202020204" pitchFamily="34" charset="-122"/>
                <a:sym typeface="+mn-lt"/>
              </a:rPr>
              <a:t>应用</a:t>
            </a:r>
          </a:p>
        </p:txBody>
      </p:sp>
      <p:sp>
        <p:nvSpPr>
          <p:cNvPr id="14" name="矩形 13">
            <a:extLst>
              <a:ext uri="{FF2B5EF4-FFF2-40B4-BE49-F238E27FC236}">
                <a16:creationId xmlns:a16="http://schemas.microsoft.com/office/drawing/2014/main" id="{A0365F41-7732-4B54-AA03-BE78CE9B6587}"/>
              </a:ext>
            </a:extLst>
          </p:cNvPr>
          <p:cNvSpPr/>
          <p:nvPr/>
        </p:nvSpPr>
        <p:spPr>
          <a:xfrm>
            <a:off x="2698847" y="3212976"/>
            <a:ext cx="7934325" cy="270189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200" b="0" i="0" u="none" strike="noStrike" kern="1200" cap="none" spc="0" normalizeH="0" baseline="0" noProof="0" dirty="0">
                <a:ln>
                  <a:noFill/>
                </a:ln>
                <a:solidFill>
                  <a:srgbClr val="302C3D"/>
                </a:solidFill>
                <a:effectLst/>
                <a:uLnTx/>
                <a:uFillTx/>
                <a:latin typeface="华文楷体" panose="02010600040101010101" pitchFamily="2" charset="-122"/>
                <a:ea typeface="华文楷体" panose="02010600040101010101" pitchFamily="2" charset="-122"/>
                <a:cs typeface="+mn-ea"/>
              </a:rPr>
              <a:t>	 </a:t>
            </a:r>
            <a:r>
              <a:rPr kumimoji="0" lang="zh-CN" altLang="en-US" sz="6600" b="0" i="0" u="none" strike="noStrike" kern="1200" cap="none" spc="0" normalizeH="0" baseline="0" noProof="0" dirty="0">
                <a:ln>
                  <a:noFill/>
                </a:ln>
                <a:solidFill>
                  <a:srgbClr val="302C3D"/>
                </a:solidFill>
                <a:effectLst/>
                <a:uLnTx/>
                <a:uFillTx/>
                <a:latin typeface="华文楷体" panose="02010600040101010101" pitchFamily="2" charset="-122"/>
                <a:ea typeface="华文楷体" panose="02010600040101010101" pitchFamily="2" charset="-122"/>
                <a:cs typeface="+mn-ea"/>
              </a:rPr>
              <a:t>李群</a:t>
            </a:r>
            <a:endParaRPr kumimoji="0" lang="en-US" altLang="zh-CN" sz="6600" b="0" i="0" u="none" strike="noStrike" kern="1200" cap="none" spc="0" normalizeH="0" baseline="0" noProof="0" dirty="0">
              <a:ln>
                <a:noFill/>
              </a:ln>
              <a:solidFill>
                <a:srgbClr val="302C3D"/>
              </a:solidFill>
              <a:effectLst/>
              <a:uLnTx/>
              <a:uFillTx/>
              <a:latin typeface="华文楷体" panose="02010600040101010101" pitchFamily="2" charset="-122"/>
              <a:ea typeface="华文楷体" panose="02010600040101010101" pitchFamily="2" charset="-122"/>
              <a:cs typeface="+mn-ea"/>
            </a:endParaRPr>
          </a:p>
          <a:p>
            <a:pPr defTabSz="457200" fontAlgn="auto">
              <a:spcBef>
                <a:spcPts val="0"/>
              </a:spcBef>
              <a:spcAft>
                <a:spcPts val="0"/>
              </a:spcAft>
            </a:pPr>
            <a:r>
              <a:rPr lang="en-US" altLang="zh-CN" sz="4400" dirty="0">
                <a:latin typeface="Times New Roman" pitchFamily="18" charset="0"/>
              </a:rPr>
              <a:t>liqun@bjfu.edu.cn</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zh-CN" sz="4200" b="0" i="0" u="none" strike="noStrike" kern="1200" cap="none" spc="0" normalizeH="0" baseline="0" noProof="0" dirty="0">
              <a:ln>
                <a:noFill/>
              </a:ln>
              <a:solidFill>
                <a:srgbClr val="302C3D"/>
              </a:solidFill>
              <a:effectLst/>
              <a:uLnTx/>
              <a:uFillTx/>
              <a:latin typeface="华文楷体" panose="02010600040101010101" pitchFamily="2" charset="-122"/>
              <a:ea typeface="华文楷体" panose="02010600040101010101" pitchFamily="2" charset="-122"/>
              <a:cs typeface="+mn-ea"/>
            </a:endParaRPr>
          </a:p>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white"/>
              </a:solidFill>
              <a:effectLst/>
              <a:uLnTx/>
              <a:uFillTx/>
              <a:latin typeface="方正正黑简体"/>
              <a:cs typeface="+mn-ea"/>
              <a:sym typeface="+mn-lt"/>
            </a:endParaRPr>
          </a:p>
        </p:txBody>
      </p:sp>
      <p:pic>
        <p:nvPicPr>
          <p:cNvPr id="5" name="图片 4">
            <a:extLst>
              <a:ext uri="{FF2B5EF4-FFF2-40B4-BE49-F238E27FC236}">
                <a16:creationId xmlns:a16="http://schemas.microsoft.com/office/drawing/2014/main" id="{95C1F174-1895-7756-6068-66F9AF48C2C4}"/>
              </a:ext>
            </a:extLst>
          </p:cNvPr>
          <p:cNvPicPr>
            <a:picLocks noChangeAspect="1"/>
          </p:cNvPicPr>
          <p:nvPr/>
        </p:nvPicPr>
        <p:blipFill>
          <a:blip r:embed="rId3"/>
          <a:stretch>
            <a:fillRect/>
          </a:stretch>
        </p:blipFill>
        <p:spPr>
          <a:xfrm>
            <a:off x="695400" y="838237"/>
            <a:ext cx="1888387" cy="1726667"/>
          </a:xfrm>
          <a:prstGeom prst="rect">
            <a:avLst/>
          </a:prstGeom>
          <a:ln>
            <a:noFill/>
          </a:ln>
          <a:effectLst>
            <a:softEdge rad="112500"/>
          </a:effectLst>
        </p:spPr>
      </p:pic>
    </p:spTree>
    <p:extLst>
      <p:ext uri="{BB962C8B-B14F-4D97-AF65-F5344CB8AC3E}">
        <p14:creationId xmlns:p14="http://schemas.microsoft.com/office/powerpoint/2010/main" val="8599012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50549A0-2E4B-4D43-BB79-6C364AF6C5FD}"/>
              </a:ext>
            </a:extLst>
          </p:cNvPr>
          <p:cNvSpPr/>
          <p:nvPr/>
        </p:nvSpPr>
        <p:spPr>
          <a:xfrm>
            <a:off x="518160" y="609600"/>
            <a:ext cx="11125200" cy="5699760"/>
          </a:xfrm>
          <a:prstGeom prst="rect">
            <a:avLst/>
          </a:prstGeom>
          <a:no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方正正黑简体"/>
              <a:cs typeface="+mn-ea"/>
              <a:sym typeface="+mn-lt"/>
            </a:endParaRPr>
          </a:p>
        </p:txBody>
      </p:sp>
      <p:sp>
        <p:nvSpPr>
          <p:cNvPr id="6" name="文本框 5">
            <a:extLst>
              <a:ext uri="{FF2B5EF4-FFF2-40B4-BE49-F238E27FC236}">
                <a16:creationId xmlns:a16="http://schemas.microsoft.com/office/drawing/2014/main" id="{06EA46E4-FBC0-436C-91FC-E3490D90B7E9}"/>
              </a:ext>
            </a:extLst>
          </p:cNvPr>
          <p:cNvSpPr txBox="1"/>
          <p:nvPr/>
        </p:nvSpPr>
        <p:spPr>
          <a:xfrm>
            <a:off x="3300748" y="878093"/>
            <a:ext cx="7394073" cy="1015663"/>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zh-CN" altLang="en-US" sz="6000" i="0" u="none" strike="noStrike" kern="1200" cap="none" spc="0" normalizeH="0" baseline="0" noProof="0" dirty="0">
                <a:ln>
                  <a:noFill/>
                </a:ln>
                <a:solidFill>
                  <a:prstClr val="white"/>
                </a:solidFill>
                <a:effectLst/>
                <a:uLnTx/>
                <a:uFillTx/>
                <a:latin typeface="方正正黑简体"/>
                <a:cs typeface="+mn-ea"/>
                <a:sym typeface="+mn-lt"/>
              </a:rPr>
              <a:t>课程注意事项</a:t>
            </a:r>
          </a:p>
        </p:txBody>
      </p:sp>
      <p:grpSp>
        <p:nvGrpSpPr>
          <p:cNvPr id="4" name="组合 3">
            <a:extLst>
              <a:ext uri="{FF2B5EF4-FFF2-40B4-BE49-F238E27FC236}">
                <a16:creationId xmlns:a16="http://schemas.microsoft.com/office/drawing/2014/main" id="{37D0B325-5D1B-B27B-5354-17B223B71521}"/>
              </a:ext>
            </a:extLst>
          </p:cNvPr>
          <p:cNvGrpSpPr/>
          <p:nvPr/>
        </p:nvGrpSpPr>
        <p:grpSpPr>
          <a:xfrm>
            <a:off x="3719736" y="2276872"/>
            <a:ext cx="7488833" cy="3703035"/>
            <a:chOff x="5457801" y="1044599"/>
            <a:chExt cx="6101825" cy="2910947"/>
          </a:xfrm>
        </p:grpSpPr>
        <p:sp>
          <p:nvSpPr>
            <p:cNvPr id="2" name="椭圆 1">
              <a:extLst>
                <a:ext uri="{FF2B5EF4-FFF2-40B4-BE49-F238E27FC236}">
                  <a16:creationId xmlns:a16="http://schemas.microsoft.com/office/drawing/2014/main" id="{8025BF19-8069-4482-B8C4-E2C18B9B7AB2}"/>
                </a:ext>
              </a:extLst>
            </p:cNvPr>
            <p:cNvSpPr/>
            <p:nvPr/>
          </p:nvSpPr>
          <p:spPr>
            <a:xfrm>
              <a:off x="5457801" y="1044599"/>
              <a:ext cx="790665" cy="7467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方正正黑简体"/>
                <a:cs typeface="+mn-ea"/>
                <a:sym typeface="+mn-lt"/>
              </a:endParaRPr>
            </a:p>
          </p:txBody>
        </p:sp>
        <p:sp>
          <p:nvSpPr>
            <p:cNvPr id="5" name="文本框 4">
              <a:extLst>
                <a:ext uri="{FF2B5EF4-FFF2-40B4-BE49-F238E27FC236}">
                  <a16:creationId xmlns:a16="http://schemas.microsoft.com/office/drawing/2014/main" id="{D91D9E07-C2E7-4F53-93C3-9025193DE325}"/>
                </a:ext>
              </a:extLst>
            </p:cNvPr>
            <p:cNvSpPr txBox="1"/>
            <p:nvPr/>
          </p:nvSpPr>
          <p:spPr>
            <a:xfrm>
              <a:off x="5562976" y="1110791"/>
              <a:ext cx="857778" cy="55646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8AC59E"/>
                  </a:solidFill>
                  <a:effectLst/>
                  <a:uLnTx/>
                  <a:uFillTx/>
                  <a:latin typeface="方正正黑简体"/>
                  <a:cs typeface="+mn-ea"/>
                  <a:sym typeface="+mn-lt"/>
                </a:rPr>
                <a:t>01</a:t>
              </a:r>
              <a:endParaRPr kumimoji="0" lang="zh-CN" altLang="en-US" sz="4000" b="0" i="0" u="none" strike="noStrike" kern="1200" cap="none" spc="0" normalizeH="0" baseline="0" noProof="0" dirty="0">
                <a:ln>
                  <a:noFill/>
                </a:ln>
                <a:solidFill>
                  <a:srgbClr val="8AC59E"/>
                </a:solidFill>
                <a:effectLst/>
                <a:uLnTx/>
                <a:uFillTx/>
                <a:latin typeface="方正正黑简体"/>
                <a:cs typeface="+mn-ea"/>
                <a:sym typeface="+mn-lt"/>
              </a:endParaRPr>
            </a:p>
          </p:txBody>
        </p:sp>
        <p:sp>
          <p:nvSpPr>
            <p:cNvPr id="7" name="文本框 6">
              <a:extLst>
                <a:ext uri="{FF2B5EF4-FFF2-40B4-BE49-F238E27FC236}">
                  <a16:creationId xmlns:a16="http://schemas.microsoft.com/office/drawing/2014/main" id="{390E4D17-DCEA-47AB-B7DE-A525CC570FDD}"/>
                </a:ext>
              </a:extLst>
            </p:cNvPr>
            <p:cNvSpPr txBox="1"/>
            <p:nvPr/>
          </p:nvSpPr>
          <p:spPr>
            <a:xfrm>
              <a:off x="6701944" y="1139088"/>
              <a:ext cx="4857682" cy="55646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4000" i="0" u="none" strike="noStrike" kern="1200" cap="none" spc="0" normalizeH="0" baseline="0" noProof="0" dirty="0">
                  <a:ln>
                    <a:noFill/>
                  </a:ln>
                  <a:solidFill>
                    <a:prstClr val="white"/>
                  </a:solidFill>
                  <a:effectLst/>
                  <a:uLnTx/>
                  <a:uFillTx/>
                  <a:latin typeface="方正正黑简体"/>
                  <a:cs typeface="+mn-ea"/>
                  <a:sym typeface="+mn-lt"/>
                </a:rPr>
                <a:t>课程考核方式</a:t>
              </a:r>
            </a:p>
          </p:txBody>
        </p:sp>
        <p:sp>
          <p:nvSpPr>
            <p:cNvPr id="8" name="椭圆 7">
              <a:extLst>
                <a:ext uri="{FF2B5EF4-FFF2-40B4-BE49-F238E27FC236}">
                  <a16:creationId xmlns:a16="http://schemas.microsoft.com/office/drawing/2014/main" id="{8A041111-BB11-4E27-B0DB-7E8A16906CAA}"/>
                </a:ext>
              </a:extLst>
            </p:cNvPr>
            <p:cNvSpPr/>
            <p:nvPr/>
          </p:nvSpPr>
          <p:spPr>
            <a:xfrm>
              <a:off x="5501706" y="2109330"/>
              <a:ext cx="836165" cy="7467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方正正黑简体"/>
                <a:cs typeface="+mn-ea"/>
                <a:sym typeface="+mn-lt"/>
              </a:endParaRPr>
            </a:p>
          </p:txBody>
        </p:sp>
        <p:sp>
          <p:nvSpPr>
            <p:cNvPr id="9" name="文本框 8">
              <a:extLst>
                <a:ext uri="{FF2B5EF4-FFF2-40B4-BE49-F238E27FC236}">
                  <a16:creationId xmlns:a16="http://schemas.microsoft.com/office/drawing/2014/main" id="{19DA35A8-54C3-4552-8011-CCA31EAA5B6E}"/>
                </a:ext>
              </a:extLst>
            </p:cNvPr>
            <p:cNvSpPr txBox="1"/>
            <p:nvPr/>
          </p:nvSpPr>
          <p:spPr>
            <a:xfrm>
              <a:off x="5619049" y="2159544"/>
              <a:ext cx="836166" cy="55646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srgbClr val="8AC59E"/>
                  </a:solidFill>
                  <a:effectLst/>
                  <a:uLnTx/>
                  <a:uFillTx/>
                  <a:latin typeface="方正正黑简体"/>
                  <a:cs typeface="+mn-ea"/>
                  <a:sym typeface="+mn-lt"/>
                </a:rPr>
                <a:t>02</a:t>
              </a:r>
              <a:endParaRPr kumimoji="0" lang="zh-CN" altLang="en-US" sz="4000" b="0" i="0" u="none" strike="noStrike" kern="1200" cap="none" spc="0" normalizeH="0" baseline="0" noProof="0" dirty="0">
                <a:ln>
                  <a:noFill/>
                </a:ln>
                <a:solidFill>
                  <a:srgbClr val="8AC59E"/>
                </a:solidFill>
                <a:effectLst/>
                <a:uLnTx/>
                <a:uFillTx/>
                <a:latin typeface="方正正黑简体"/>
                <a:cs typeface="+mn-ea"/>
                <a:sym typeface="+mn-lt"/>
              </a:endParaRPr>
            </a:p>
          </p:txBody>
        </p:sp>
        <p:sp>
          <p:nvSpPr>
            <p:cNvPr id="10" name="文本框 9">
              <a:extLst>
                <a:ext uri="{FF2B5EF4-FFF2-40B4-BE49-F238E27FC236}">
                  <a16:creationId xmlns:a16="http://schemas.microsoft.com/office/drawing/2014/main" id="{DC1148D8-71D4-40AB-B085-89FA786C2927}"/>
                </a:ext>
              </a:extLst>
            </p:cNvPr>
            <p:cNvSpPr txBox="1"/>
            <p:nvPr/>
          </p:nvSpPr>
          <p:spPr>
            <a:xfrm>
              <a:off x="6675171" y="2125109"/>
              <a:ext cx="4857682" cy="1040352"/>
            </a:xfrm>
            <a:prstGeom prst="rect">
              <a:avLst/>
            </a:prstGeom>
            <a:noFill/>
          </p:spPr>
          <p:txBody>
            <a:bodyPr wrap="square" rtlCol="0">
              <a:spAutoFit/>
            </a:bodyPr>
            <a:lstStyle/>
            <a:p>
              <a:pPr algn="l" defTabSz="457200" fontAlgn="auto">
                <a:spcBef>
                  <a:spcPts val="0"/>
                </a:spcBef>
                <a:spcAft>
                  <a:spcPts val="0"/>
                </a:spcAft>
                <a:defRPr/>
              </a:pPr>
              <a:r>
                <a:rPr kumimoji="0" lang="zh-CN" altLang="en-US" sz="4000" i="0" u="none" strike="noStrike" kern="1200" cap="none" spc="0" normalizeH="0" baseline="0" noProof="0" dirty="0">
                  <a:ln>
                    <a:noFill/>
                  </a:ln>
                  <a:solidFill>
                    <a:prstClr val="white"/>
                  </a:solidFill>
                  <a:effectLst/>
                  <a:uLnTx/>
                  <a:uFillTx/>
                  <a:latin typeface="方正正黑简体"/>
                  <a:cs typeface="+mn-ea"/>
                  <a:sym typeface="+mn-lt"/>
                </a:rPr>
                <a:t>作业和实验报告</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4000" i="0" u="none" strike="noStrike" kern="1200" cap="none" spc="0" normalizeH="0" baseline="0" noProof="0" dirty="0">
                <a:ln>
                  <a:noFill/>
                </a:ln>
                <a:solidFill>
                  <a:prstClr val="white"/>
                </a:solidFill>
                <a:effectLst/>
                <a:uLnTx/>
                <a:uFillTx/>
                <a:latin typeface="方正正黑简体"/>
                <a:cs typeface="+mn-ea"/>
                <a:sym typeface="+mn-lt"/>
              </a:endParaRPr>
            </a:p>
          </p:txBody>
        </p:sp>
        <p:sp>
          <p:nvSpPr>
            <p:cNvPr id="11" name="椭圆 10">
              <a:extLst>
                <a:ext uri="{FF2B5EF4-FFF2-40B4-BE49-F238E27FC236}">
                  <a16:creationId xmlns:a16="http://schemas.microsoft.com/office/drawing/2014/main" id="{214F98CA-097C-4914-A60C-B48B792BC5CD}"/>
                </a:ext>
              </a:extLst>
            </p:cNvPr>
            <p:cNvSpPr/>
            <p:nvPr/>
          </p:nvSpPr>
          <p:spPr>
            <a:xfrm>
              <a:off x="5501705" y="3208786"/>
              <a:ext cx="857777" cy="7467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white"/>
                </a:solidFill>
                <a:effectLst/>
                <a:uLnTx/>
                <a:uFillTx/>
                <a:latin typeface="方正正黑简体"/>
                <a:cs typeface="+mn-ea"/>
                <a:sym typeface="+mn-lt"/>
              </a:endParaRPr>
            </a:p>
          </p:txBody>
        </p:sp>
        <p:sp>
          <p:nvSpPr>
            <p:cNvPr id="12" name="文本框 11">
              <a:extLst>
                <a:ext uri="{FF2B5EF4-FFF2-40B4-BE49-F238E27FC236}">
                  <a16:creationId xmlns:a16="http://schemas.microsoft.com/office/drawing/2014/main" id="{D3B69027-6D43-461D-B206-EB2E26B5D82E}"/>
                </a:ext>
              </a:extLst>
            </p:cNvPr>
            <p:cNvSpPr txBox="1"/>
            <p:nvPr/>
          </p:nvSpPr>
          <p:spPr>
            <a:xfrm>
              <a:off x="5619050" y="3318398"/>
              <a:ext cx="836165" cy="55646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4000" b="0" dirty="0">
                  <a:solidFill>
                    <a:srgbClr val="8AC59E"/>
                  </a:solidFill>
                  <a:latin typeface="方正正黑简体"/>
                  <a:cs typeface="+mn-ea"/>
                  <a:sym typeface="+mn-lt"/>
                </a:rPr>
                <a:t>03</a:t>
              </a:r>
              <a:endParaRPr kumimoji="0" lang="zh-CN" altLang="en-US" sz="4000" b="0" i="0" u="none" strike="noStrike" kern="1200" cap="none" spc="0" normalizeH="0" baseline="0" noProof="0" dirty="0">
                <a:ln>
                  <a:noFill/>
                </a:ln>
                <a:solidFill>
                  <a:srgbClr val="8AC59E"/>
                </a:solidFill>
                <a:effectLst/>
                <a:uLnTx/>
                <a:uFillTx/>
                <a:latin typeface="方正正黑简体"/>
                <a:cs typeface="+mn-ea"/>
                <a:sym typeface="+mn-lt"/>
              </a:endParaRPr>
            </a:p>
          </p:txBody>
        </p:sp>
        <p:sp>
          <p:nvSpPr>
            <p:cNvPr id="13" name="文本框 12">
              <a:extLst>
                <a:ext uri="{FF2B5EF4-FFF2-40B4-BE49-F238E27FC236}">
                  <a16:creationId xmlns:a16="http://schemas.microsoft.com/office/drawing/2014/main" id="{0FBC7E64-04FD-470E-8D6B-AD7952C64AC0}"/>
                </a:ext>
              </a:extLst>
            </p:cNvPr>
            <p:cNvSpPr txBox="1"/>
            <p:nvPr/>
          </p:nvSpPr>
          <p:spPr>
            <a:xfrm>
              <a:off x="6689900" y="3193060"/>
              <a:ext cx="4465924" cy="55646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4000" dirty="0">
                  <a:solidFill>
                    <a:prstClr val="white"/>
                  </a:solidFill>
                  <a:latin typeface="方正正黑简体"/>
                  <a:cs typeface="+mn-ea"/>
                  <a:sym typeface="+mn-lt"/>
                </a:rPr>
                <a:t>考勤要求</a:t>
              </a:r>
              <a:endParaRPr kumimoji="0" lang="zh-CN" altLang="en-US" sz="4000" i="0" u="none" strike="noStrike" kern="1200" cap="none" spc="0" normalizeH="0" baseline="0" noProof="0" dirty="0">
                <a:ln>
                  <a:noFill/>
                </a:ln>
                <a:solidFill>
                  <a:prstClr val="white"/>
                </a:solidFill>
                <a:effectLst/>
                <a:uLnTx/>
                <a:uFillTx/>
                <a:latin typeface="方正正黑简体"/>
                <a:cs typeface="+mn-ea"/>
                <a:sym typeface="+mn-lt"/>
              </a:endParaRPr>
            </a:p>
          </p:txBody>
        </p:sp>
      </p:grpSp>
      <p:pic>
        <p:nvPicPr>
          <p:cNvPr id="20" name="图片 19">
            <a:extLst>
              <a:ext uri="{FF2B5EF4-FFF2-40B4-BE49-F238E27FC236}">
                <a16:creationId xmlns:a16="http://schemas.microsoft.com/office/drawing/2014/main" id="{CF19531C-7F4D-2B8C-ABBE-60B7D622AD97}"/>
              </a:ext>
            </a:extLst>
          </p:cNvPr>
          <p:cNvPicPr>
            <a:picLocks noChangeAspect="1"/>
          </p:cNvPicPr>
          <p:nvPr/>
        </p:nvPicPr>
        <p:blipFill>
          <a:blip r:embed="rId3"/>
          <a:stretch>
            <a:fillRect/>
          </a:stretch>
        </p:blipFill>
        <p:spPr>
          <a:xfrm>
            <a:off x="741313" y="878093"/>
            <a:ext cx="1923550" cy="1758819"/>
          </a:xfrm>
          <a:prstGeom prst="rect">
            <a:avLst/>
          </a:prstGeom>
          <a:ln>
            <a:noFill/>
          </a:ln>
          <a:effectLst>
            <a:softEdge rad="112500"/>
          </a:effectLst>
        </p:spPr>
      </p:pic>
    </p:spTree>
    <p:extLst>
      <p:ext uri="{BB962C8B-B14F-4D97-AF65-F5344CB8AC3E}">
        <p14:creationId xmlns:p14="http://schemas.microsoft.com/office/powerpoint/2010/main" val="33518477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灯片编号占位符 4"/>
          <p:cNvSpPr>
            <a:spLocks noGrp="1"/>
          </p:cNvSpPr>
          <p:nvPr>
            <p:ph type="sldNum" sz="quarter" idx="11"/>
          </p:nvPr>
        </p:nvSpPr>
        <p:spPr>
          <a:xfrm>
            <a:off x="4727848" y="6011863"/>
            <a:ext cx="2844800" cy="457200"/>
          </a:xfrm>
          <a:noFill/>
        </p:spPr>
        <p:txBody>
          <a:bodyPr/>
          <a:lstStyle/>
          <a:p>
            <a:fld id="{B31B2E18-B838-46A5-BF0E-F082CD086CDF}" type="slidenum">
              <a:rPr lang="en-US" altLang="zh-CN" smtClean="0"/>
              <a:pPr/>
              <a:t>3</a:t>
            </a:fld>
            <a:endParaRPr lang="en-US" altLang="zh-CN" dirty="0"/>
          </a:p>
        </p:txBody>
      </p:sp>
      <p:sp>
        <p:nvSpPr>
          <p:cNvPr id="22532" name="Rectangle 2"/>
          <p:cNvSpPr>
            <a:spLocks noGrp="1" noChangeArrowheads="1"/>
          </p:cNvSpPr>
          <p:nvPr>
            <p:ph type="title"/>
          </p:nvPr>
        </p:nvSpPr>
        <p:spPr>
          <a:xfrm>
            <a:off x="1847528" y="604168"/>
            <a:ext cx="8208912" cy="736600"/>
          </a:xfrm>
        </p:spPr>
        <p:txBody>
          <a:bodyPr/>
          <a:lstStyle/>
          <a:p>
            <a:pPr algn="ctr" eaLnBrk="1" hangingPunct="1"/>
            <a:r>
              <a:rPr lang="zh-CN" altLang="en-US" sz="4400" dirty="0"/>
              <a:t>课程考核方式</a:t>
            </a:r>
          </a:p>
        </p:txBody>
      </p:sp>
      <p:sp>
        <p:nvSpPr>
          <p:cNvPr id="22533" name="Rectangle 3"/>
          <p:cNvSpPr>
            <a:spLocks noGrp="1" noChangeArrowheads="1"/>
          </p:cNvSpPr>
          <p:nvPr>
            <p:ph type="body" idx="1"/>
          </p:nvPr>
        </p:nvSpPr>
        <p:spPr>
          <a:xfrm>
            <a:off x="983432" y="1679841"/>
            <a:ext cx="10081120" cy="4365625"/>
          </a:xfrm>
        </p:spPr>
        <p:txBody>
          <a:bodyPr/>
          <a:lstStyle/>
          <a:p>
            <a:pPr eaLnBrk="1" hangingPunct="1">
              <a:lnSpc>
                <a:spcPct val="150000"/>
              </a:lnSpc>
              <a:spcAft>
                <a:spcPct val="10000"/>
              </a:spcAft>
            </a:pPr>
            <a:r>
              <a:rPr lang="zh-CN" altLang="en-US" sz="3200" dirty="0">
                <a:latin typeface="黑体" pitchFamily="2" charset="-122"/>
              </a:rPr>
              <a:t>本课程期末考试的考核方式是</a:t>
            </a:r>
            <a:r>
              <a:rPr lang="zh-CN" altLang="en-US" sz="3200" dirty="0">
                <a:solidFill>
                  <a:srgbClr val="CC0099"/>
                </a:solidFill>
                <a:latin typeface="黑体" pitchFamily="2" charset="-122"/>
              </a:rPr>
              <a:t>闭卷考试</a:t>
            </a:r>
            <a:r>
              <a:rPr lang="zh-CN" altLang="en-US" sz="3200" dirty="0">
                <a:latin typeface="黑体" pitchFamily="2" charset="-122"/>
              </a:rPr>
              <a:t>。</a:t>
            </a:r>
          </a:p>
          <a:p>
            <a:pPr eaLnBrk="1" hangingPunct="1">
              <a:lnSpc>
                <a:spcPct val="150000"/>
              </a:lnSpc>
              <a:spcAft>
                <a:spcPct val="10000"/>
              </a:spcAft>
            </a:pPr>
            <a:r>
              <a:rPr lang="zh-CN" altLang="en-US" sz="3200" dirty="0">
                <a:latin typeface="黑体" pitchFamily="2" charset="-122"/>
              </a:rPr>
              <a:t>总评成绩比例：</a:t>
            </a:r>
          </a:p>
          <a:p>
            <a:pPr lvl="1" eaLnBrk="1" hangingPunct="1">
              <a:lnSpc>
                <a:spcPct val="150000"/>
              </a:lnSpc>
              <a:spcAft>
                <a:spcPct val="10000"/>
              </a:spcAft>
            </a:pPr>
            <a:r>
              <a:rPr lang="zh-CN" altLang="en-US" sz="2800" dirty="0">
                <a:latin typeface="黑体" pitchFamily="2" charset="-122"/>
              </a:rPr>
              <a:t>期末考试占</a:t>
            </a:r>
            <a:r>
              <a:rPr lang="en-US" altLang="zh-CN" sz="2800" dirty="0">
                <a:solidFill>
                  <a:srgbClr val="CC0099"/>
                </a:solidFill>
                <a:latin typeface="黑体" pitchFamily="2" charset="-122"/>
              </a:rPr>
              <a:t>60%</a:t>
            </a:r>
          </a:p>
          <a:p>
            <a:pPr lvl="1" eaLnBrk="1" hangingPunct="1">
              <a:lnSpc>
                <a:spcPct val="150000"/>
              </a:lnSpc>
              <a:spcAft>
                <a:spcPct val="10000"/>
              </a:spcAft>
            </a:pPr>
            <a:r>
              <a:rPr lang="zh-CN" altLang="en-US" sz="2800" dirty="0">
                <a:latin typeface="黑体" pitchFamily="2" charset="-122"/>
              </a:rPr>
              <a:t>作业、实验、出勤占</a:t>
            </a:r>
            <a:r>
              <a:rPr lang="en-US" altLang="zh-CN" sz="2800" dirty="0">
                <a:solidFill>
                  <a:srgbClr val="CC0099"/>
                </a:solidFill>
                <a:latin typeface="黑体" pitchFamily="2" charset="-122"/>
              </a:rPr>
              <a:t>40%</a:t>
            </a:r>
            <a:br>
              <a:rPr lang="en-US" altLang="zh-CN" sz="2400" dirty="0">
                <a:latin typeface="黑体" pitchFamily="2" charset="-122"/>
              </a:rPr>
            </a:br>
            <a:endParaRPr lang="en-US" altLang="zh-CN" sz="2400" dirty="0">
              <a:latin typeface="黑体" pitchFamily="2" charset="-122"/>
            </a:endParaRPr>
          </a:p>
          <a:p>
            <a:pPr eaLnBrk="1" hangingPunct="1">
              <a:spcAft>
                <a:spcPct val="10000"/>
              </a:spcAft>
            </a:pPr>
            <a:endParaRPr lang="zh-CN" altLang="en-US" sz="2800" dirty="0">
              <a:latin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灯片编号占位符 4"/>
          <p:cNvSpPr>
            <a:spLocks noGrp="1"/>
          </p:cNvSpPr>
          <p:nvPr>
            <p:ph type="sldNum" sz="quarter" idx="11"/>
          </p:nvPr>
        </p:nvSpPr>
        <p:spPr>
          <a:noFill/>
        </p:spPr>
        <p:txBody>
          <a:bodyPr/>
          <a:lstStyle/>
          <a:p>
            <a:fld id="{4C865EB4-E0DA-4B6D-9545-504A0860C62A}" type="slidenum">
              <a:rPr lang="en-US" altLang="zh-CN" smtClean="0"/>
              <a:pPr/>
              <a:t>4</a:t>
            </a:fld>
            <a:endParaRPr lang="en-US" altLang="zh-CN"/>
          </a:p>
        </p:txBody>
      </p:sp>
      <p:sp>
        <p:nvSpPr>
          <p:cNvPr id="24580" name="Rectangle 2"/>
          <p:cNvSpPr>
            <a:spLocks noGrp="1" noChangeArrowheads="1"/>
          </p:cNvSpPr>
          <p:nvPr>
            <p:ph type="title"/>
          </p:nvPr>
        </p:nvSpPr>
        <p:spPr>
          <a:xfrm>
            <a:off x="1631504" y="476672"/>
            <a:ext cx="7848600" cy="885825"/>
          </a:xfrm>
        </p:spPr>
        <p:txBody>
          <a:bodyPr/>
          <a:lstStyle/>
          <a:p>
            <a:pPr eaLnBrk="1" hangingPunct="1"/>
            <a:r>
              <a:rPr lang="zh-CN" altLang="en-US" sz="4600" dirty="0"/>
              <a:t>作业和实验报告</a:t>
            </a:r>
          </a:p>
        </p:txBody>
      </p:sp>
      <p:sp>
        <p:nvSpPr>
          <p:cNvPr id="24581" name="Rectangle 3"/>
          <p:cNvSpPr>
            <a:spLocks noGrp="1" noChangeArrowheads="1"/>
          </p:cNvSpPr>
          <p:nvPr>
            <p:ph type="body" idx="1"/>
          </p:nvPr>
        </p:nvSpPr>
        <p:spPr>
          <a:xfrm>
            <a:off x="1199456" y="1556793"/>
            <a:ext cx="9793088" cy="4179901"/>
          </a:xfrm>
        </p:spPr>
        <p:txBody>
          <a:bodyPr/>
          <a:lstStyle/>
          <a:p>
            <a:pPr algn="just" eaLnBrk="1" hangingPunct="1">
              <a:spcAft>
                <a:spcPct val="20000"/>
              </a:spcAft>
            </a:pPr>
            <a:r>
              <a:rPr lang="zh-CN" altLang="en-US" sz="3200" dirty="0">
                <a:latin typeface="黑体" pitchFamily="2" charset="-122"/>
              </a:rPr>
              <a:t>上传作业和实验报告时，请按照以下格式给你的文件取名：</a:t>
            </a:r>
          </a:p>
          <a:p>
            <a:pPr lvl="1" algn="ctr" eaLnBrk="1" hangingPunct="1">
              <a:spcAft>
                <a:spcPct val="20000"/>
              </a:spcAft>
              <a:buFont typeface="Wingdings" pitchFamily="2" charset="2"/>
              <a:buNone/>
            </a:pPr>
            <a:r>
              <a:rPr lang="zh-CN" altLang="en-US" sz="3200" dirty="0">
                <a:solidFill>
                  <a:srgbClr val="0000FF"/>
                </a:solidFill>
                <a:latin typeface="黑体" pitchFamily="2" charset="-122"/>
              </a:rPr>
              <a:t>学号姓名</a:t>
            </a:r>
            <a:r>
              <a:rPr lang="en-US" altLang="zh-CN" sz="3200" dirty="0">
                <a:solidFill>
                  <a:srgbClr val="0000FF"/>
                </a:solidFill>
                <a:latin typeface="黑体" pitchFamily="2" charset="-122"/>
              </a:rPr>
              <a:t>.docx</a:t>
            </a:r>
          </a:p>
          <a:p>
            <a:pPr algn="just" eaLnBrk="1" hangingPunct="1">
              <a:spcAft>
                <a:spcPct val="20000"/>
              </a:spcAft>
            </a:pPr>
            <a:r>
              <a:rPr lang="zh-CN" altLang="en-US" sz="3200" dirty="0">
                <a:latin typeface="黑体" pitchFamily="2" charset="-122"/>
              </a:rPr>
              <a:t>上交到作业文件夹下各自班级的子文件夹内</a:t>
            </a:r>
            <a:endParaRPr lang="en-US" altLang="zh-CN" sz="3200" dirty="0">
              <a:latin typeface="黑体" pitchFamily="2" charset="-122"/>
            </a:endParaRPr>
          </a:p>
          <a:p>
            <a:pPr algn="just" eaLnBrk="1" hangingPunct="1">
              <a:spcAft>
                <a:spcPct val="20000"/>
              </a:spcAft>
            </a:pPr>
            <a:r>
              <a:rPr lang="zh-CN" altLang="en-US" sz="3200" dirty="0">
                <a:latin typeface="黑体" pitchFamily="2" charset="-122"/>
              </a:rPr>
              <a:t>每次作业和实验报告都要</a:t>
            </a:r>
            <a:r>
              <a:rPr lang="zh-CN" altLang="en-US" sz="3200" dirty="0">
                <a:solidFill>
                  <a:srgbClr val="0000CC"/>
                </a:solidFill>
                <a:latin typeface="黑体" pitchFamily="2" charset="-122"/>
              </a:rPr>
              <a:t>按照规定的时间按时提交</a:t>
            </a:r>
            <a:r>
              <a:rPr lang="zh-CN" altLang="en-US" sz="3200" dirty="0">
                <a:latin typeface="黑体" pitchFamily="2" charset="-122"/>
              </a:rPr>
              <a:t>，否则扣分。</a:t>
            </a:r>
          </a:p>
          <a:p>
            <a:pPr marL="0" indent="0" algn="just" eaLnBrk="1" hangingPunct="1">
              <a:spcAft>
                <a:spcPct val="20000"/>
              </a:spcAft>
              <a:buNone/>
            </a:pPr>
            <a:endParaRPr lang="en-US" altLang="zh-CN" sz="3800" dirty="0">
              <a:latin typeface="黑体" pitchFamily="2"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703512" y="553028"/>
            <a:ext cx="8784976" cy="858837"/>
          </a:xfrm>
        </p:spPr>
        <p:txBody>
          <a:bodyPr/>
          <a:lstStyle/>
          <a:p>
            <a:pPr algn="ctr" eaLnBrk="1" hangingPunct="1"/>
            <a:r>
              <a:rPr lang="zh-CN" altLang="en-US" sz="4400" dirty="0"/>
              <a:t>考勤要求</a:t>
            </a:r>
          </a:p>
        </p:txBody>
      </p:sp>
      <p:sp>
        <p:nvSpPr>
          <p:cNvPr id="14339" name="Rectangle 3"/>
          <p:cNvSpPr>
            <a:spLocks noGrp="1" noChangeArrowheads="1"/>
          </p:cNvSpPr>
          <p:nvPr>
            <p:ph idx="1"/>
          </p:nvPr>
        </p:nvSpPr>
        <p:spPr>
          <a:xfrm>
            <a:off x="1019436" y="1556792"/>
            <a:ext cx="10153128" cy="4290980"/>
          </a:xfrm>
          <a:ln>
            <a:solidFill>
              <a:schemeClr val="bg1"/>
            </a:solidFill>
            <a:miter lim="800000"/>
            <a:headEnd/>
            <a:tailEnd/>
          </a:ln>
        </p:spPr>
        <p:txBody>
          <a:bodyPr/>
          <a:lstStyle/>
          <a:p>
            <a:pPr eaLnBrk="1" hangingPunct="1">
              <a:lnSpc>
                <a:spcPct val="150000"/>
              </a:lnSpc>
            </a:pPr>
            <a:r>
              <a:rPr lang="zh-CN" altLang="en-US" sz="3200" dirty="0">
                <a:latin typeface="+mn-ea"/>
              </a:rPr>
              <a:t>形式：</a:t>
            </a:r>
            <a:r>
              <a:rPr lang="zh-CN" altLang="en-US" sz="3200" dirty="0">
                <a:solidFill>
                  <a:srgbClr val="CC0099"/>
                </a:solidFill>
                <a:latin typeface="+mn-ea"/>
              </a:rPr>
              <a:t>点名，课堂小作业</a:t>
            </a:r>
          </a:p>
          <a:p>
            <a:pPr eaLnBrk="1" hangingPunct="1">
              <a:lnSpc>
                <a:spcPct val="150000"/>
              </a:lnSpc>
            </a:pPr>
            <a:r>
              <a:rPr lang="zh-CN" altLang="en-US" sz="3200" dirty="0">
                <a:latin typeface="+mn-ea"/>
              </a:rPr>
              <a:t>特殊：</a:t>
            </a:r>
          </a:p>
          <a:p>
            <a:pPr lvl="1" eaLnBrk="1" hangingPunct="1">
              <a:lnSpc>
                <a:spcPct val="150000"/>
              </a:lnSpc>
            </a:pPr>
            <a:r>
              <a:rPr lang="zh-CN" altLang="en-US" sz="3200" dirty="0">
                <a:latin typeface="+mn-ea"/>
              </a:rPr>
              <a:t>代写者和被代写者，</a:t>
            </a:r>
            <a:r>
              <a:rPr lang="zh-CN" altLang="en-US" sz="3200" dirty="0">
                <a:solidFill>
                  <a:srgbClr val="CC0099"/>
                </a:solidFill>
                <a:latin typeface="+mn-ea"/>
              </a:rPr>
              <a:t>平时成绩取消</a:t>
            </a:r>
          </a:p>
          <a:p>
            <a:pPr lvl="1" eaLnBrk="1" hangingPunct="1">
              <a:lnSpc>
                <a:spcPct val="150000"/>
              </a:lnSpc>
            </a:pPr>
            <a:r>
              <a:rPr lang="zh-CN" altLang="en-US" sz="3200" dirty="0">
                <a:latin typeface="+mn-ea"/>
              </a:rPr>
              <a:t>病假、事假提前打招呼</a:t>
            </a:r>
          </a:p>
          <a:p>
            <a:pPr lvl="1" eaLnBrk="1" hangingPunct="1">
              <a:lnSpc>
                <a:spcPct val="150000"/>
              </a:lnSpc>
            </a:pPr>
            <a:r>
              <a:rPr lang="zh-CN" altLang="en-US" sz="3200" dirty="0">
                <a:latin typeface="+mn-ea"/>
              </a:rPr>
              <a:t>考勤缺席</a:t>
            </a:r>
            <a:r>
              <a:rPr lang="en-US" altLang="zh-CN" sz="3200" dirty="0">
                <a:latin typeface="+mn-ea"/>
              </a:rPr>
              <a:t>1/3</a:t>
            </a:r>
            <a:r>
              <a:rPr lang="zh-CN" altLang="en-US" sz="3200" dirty="0">
                <a:latin typeface="+mn-ea"/>
              </a:rPr>
              <a:t>者，平时成绩取消</a:t>
            </a:r>
          </a:p>
        </p:txBody>
      </p:sp>
      <p:sp>
        <p:nvSpPr>
          <p:cNvPr id="6" name="灯片编号占位符 4"/>
          <p:cNvSpPr>
            <a:spLocks noGrp="1"/>
          </p:cNvSpPr>
          <p:nvPr>
            <p:ph type="sldNum" sz="quarter" idx="11"/>
          </p:nvPr>
        </p:nvSpPr>
        <p:spPr>
          <a:xfrm>
            <a:off x="5029200" y="5847772"/>
            <a:ext cx="2133600" cy="457200"/>
          </a:xfrm>
          <a:noFill/>
        </p:spPr>
        <p:txBody>
          <a:bodyPr/>
          <a:lstStyle/>
          <a:p>
            <a:fld id="{2DA03007-1E44-40B9-B8E4-560919918108}" type="slidenum">
              <a:rPr lang="en-US" altLang="zh-CN" smtClean="0"/>
              <a:pPr/>
              <a:t>5</a:t>
            </a:fld>
            <a:endParaRPr lang="en-US" altLang="zh-CN" dirty="0"/>
          </a:p>
        </p:txBody>
      </p:sp>
    </p:spTree>
    <p:extLst>
      <p:ext uri="{BB962C8B-B14F-4D97-AF65-F5344CB8AC3E}">
        <p14:creationId xmlns:p14="http://schemas.microsoft.com/office/powerpoint/2010/main" val="123103828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p:nvGrpSpPr>
        <p:grpSpPr>
          <a:xfrm>
            <a:off x="1812008" y="2580828"/>
            <a:ext cx="8713787" cy="792162"/>
            <a:chOff x="179388" y="1773238"/>
            <a:chExt cx="8713787" cy="792162"/>
          </a:xfrm>
        </p:grpSpPr>
        <p:sp>
          <p:nvSpPr>
            <p:cNvPr id="189507" name="Rectangle 67"/>
            <p:cNvSpPr>
              <a:spLocks noChangeArrowheads="1"/>
            </p:cNvSpPr>
            <p:nvPr/>
          </p:nvSpPr>
          <p:spPr bwMode="auto">
            <a:xfrm>
              <a:off x="179388" y="1773238"/>
              <a:ext cx="8713787" cy="792162"/>
            </a:xfrm>
            <a:prstGeom prst="rect">
              <a:avLst/>
            </a:prstGeom>
            <a:solidFill>
              <a:schemeClr val="bg1">
                <a:lumMod val="85000"/>
              </a:schemeClr>
            </a:solidFill>
            <a:ln w="19050">
              <a:solidFill>
                <a:schemeClr val="tx1"/>
              </a:solidFill>
              <a:prstDash val="dash"/>
              <a:miter lim="800000"/>
              <a:headEnd/>
              <a:tailEnd/>
            </a:ln>
          </p:spPr>
          <p:txBody>
            <a:bodyPr wrap="none" anchor="ctr"/>
            <a:lstStyle/>
            <a:p>
              <a:pPr algn="l"/>
              <a:endParaRPr lang="zh-CN" altLang="zh-CN" sz="2400" b="0" dirty="0">
                <a:latin typeface="Tahoma" pitchFamily="34" charset="0"/>
              </a:endParaRPr>
            </a:p>
          </p:txBody>
        </p:sp>
        <p:sp>
          <p:nvSpPr>
            <p:cNvPr id="189473" name="Rectangle 33"/>
            <p:cNvSpPr>
              <a:spLocks noChangeArrowheads="1"/>
            </p:cNvSpPr>
            <p:nvPr/>
          </p:nvSpPr>
          <p:spPr bwMode="auto">
            <a:xfrm>
              <a:off x="390079" y="1916113"/>
              <a:ext cx="1807172" cy="504825"/>
            </a:xfrm>
            <a:prstGeom prst="rect">
              <a:avLst/>
            </a:prstGeom>
            <a:solidFill>
              <a:schemeClr val="accent2">
                <a:lumMod val="20000"/>
                <a:lumOff val="80000"/>
              </a:schemeClr>
            </a:solidFill>
            <a:ln w="19050">
              <a:solidFill>
                <a:schemeClr val="tx1"/>
              </a:solidFill>
              <a:miter lim="800000"/>
              <a:headEnd/>
              <a:tailEnd/>
            </a:ln>
          </p:spPr>
          <p:txBody>
            <a:bodyPr wrap="none" anchor="ctr"/>
            <a:lstStyle/>
            <a:p>
              <a:r>
                <a:rPr lang="en-US" altLang="zh-CN" dirty="0">
                  <a:latin typeface="Tahoma" pitchFamily="34" charset="0"/>
                  <a:ea typeface="楷体_GB2312" pitchFamily="49" charset="-122"/>
                </a:rPr>
                <a:t>Linux</a:t>
              </a:r>
              <a:r>
                <a:rPr lang="zh-CN" altLang="en-US" dirty="0">
                  <a:latin typeface="Tahoma" pitchFamily="34" charset="0"/>
                  <a:ea typeface="楷体_GB2312" pitchFamily="49" charset="-122"/>
                </a:rPr>
                <a:t>概述</a:t>
              </a:r>
            </a:p>
          </p:txBody>
        </p:sp>
        <p:sp>
          <p:nvSpPr>
            <p:cNvPr id="189476" name="Rectangle 36"/>
            <p:cNvSpPr>
              <a:spLocks noChangeArrowheads="1"/>
            </p:cNvSpPr>
            <p:nvPr/>
          </p:nvSpPr>
          <p:spPr bwMode="auto">
            <a:xfrm>
              <a:off x="2340250" y="1916113"/>
              <a:ext cx="2555177" cy="504825"/>
            </a:xfrm>
            <a:prstGeom prst="rect">
              <a:avLst/>
            </a:prstGeom>
            <a:solidFill>
              <a:schemeClr val="accent2">
                <a:lumMod val="20000"/>
                <a:lumOff val="80000"/>
              </a:schemeClr>
            </a:solidFill>
            <a:ln w="19050">
              <a:solidFill>
                <a:schemeClr val="tx1"/>
              </a:solidFill>
              <a:miter lim="800000"/>
              <a:headEnd/>
              <a:tailEnd/>
            </a:ln>
          </p:spPr>
          <p:txBody>
            <a:bodyPr wrap="none" anchor="ctr"/>
            <a:lstStyle/>
            <a:p>
              <a:r>
                <a:rPr lang="zh-CN" altLang="en-US" dirty="0">
                  <a:latin typeface="Tahoma" pitchFamily="34" charset="0"/>
                  <a:ea typeface="楷体_GB2312" pitchFamily="49" charset="-122"/>
                </a:rPr>
                <a:t>安装</a:t>
              </a:r>
              <a:r>
                <a:rPr lang="en-US" altLang="zh-CN" dirty="0">
                  <a:latin typeface="Tahoma" pitchFamily="34" charset="0"/>
                  <a:ea typeface="楷体_GB2312" pitchFamily="49" charset="-122"/>
                </a:rPr>
                <a:t>Linux</a:t>
              </a:r>
              <a:r>
                <a:rPr lang="zh-CN" altLang="en-US" dirty="0">
                  <a:latin typeface="Tahoma" pitchFamily="34" charset="0"/>
                  <a:ea typeface="楷体_GB2312" pitchFamily="49" charset="-122"/>
                </a:rPr>
                <a:t>操作系统</a:t>
              </a:r>
            </a:p>
          </p:txBody>
        </p:sp>
        <p:sp>
          <p:nvSpPr>
            <p:cNvPr id="189477" name="Rectangle 37"/>
            <p:cNvSpPr>
              <a:spLocks noChangeArrowheads="1"/>
            </p:cNvSpPr>
            <p:nvPr/>
          </p:nvSpPr>
          <p:spPr bwMode="auto">
            <a:xfrm>
              <a:off x="5038427" y="1917254"/>
              <a:ext cx="1801217" cy="504825"/>
            </a:xfrm>
            <a:prstGeom prst="rect">
              <a:avLst/>
            </a:prstGeom>
            <a:solidFill>
              <a:schemeClr val="accent2">
                <a:lumMod val="20000"/>
                <a:lumOff val="80000"/>
              </a:schemeClr>
            </a:solidFill>
            <a:ln w="19050">
              <a:solidFill>
                <a:schemeClr val="tx1"/>
              </a:solidFill>
              <a:miter lim="800000"/>
              <a:headEnd/>
              <a:tailEnd/>
            </a:ln>
          </p:spPr>
          <p:txBody>
            <a:bodyPr wrap="none" anchor="ctr"/>
            <a:lstStyle/>
            <a:p>
              <a:r>
                <a:rPr lang="en-US" altLang="zh-CN" dirty="0">
                  <a:ea typeface="楷体_GB2312" pitchFamily="49" charset="-122"/>
                </a:rPr>
                <a:t>Linux</a:t>
              </a:r>
              <a:r>
                <a:rPr lang="zh-CN" altLang="en-US" dirty="0">
                  <a:ea typeface="楷体_GB2312" pitchFamily="49" charset="-122"/>
                </a:rPr>
                <a:t> 常用命令</a:t>
              </a:r>
            </a:p>
          </p:txBody>
        </p:sp>
        <p:sp>
          <p:nvSpPr>
            <p:cNvPr id="189479" name="Rectangle 39"/>
            <p:cNvSpPr>
              <a:spLocks noChangeArrowheads="1"/>
            </p:cNvSpPr>
            <p:nvPr/>
          </p:nvSpPr>
          <p:spPr bwMode="auto">
            <a:xfrm>
              <a:off x="6982643" y="1916113"/>
              <a:ext cx="1801217" cy="504825"/>
            </a:xfrm>
            <a:prstGeom prst="rect">
              <a:avLst/>
            </a:prstGeom>
            <a:solidFill>
              <a:schemeClr val="accent2">
                <a:lumMod val="20000"/>
                <a:lumOff val="80000"/>
              </a:schemeClr>
            </a:solidFill>
            <a:ln w="19050">
              <a:solidFill>
                <a:schemeClr val="tx1"/>
              </a:solidFill>
              <a:miter lim="800000"/>
              <a:headEnd/>
              <a:tailEnd/>
            </a:ln>
          </p:spPr>
          <p:txBody>
            <a:bodyPr wrap="none" anchor="ctr"/>
            <a:lstStyle/>
            <a:p>
              <a:pPr algn="l"/>
              <a:r>
                <a:rPr lang="zh-CN" altLang="en-US" dirty="0">
                  <a:latin typeface="Tahoma" pitchFamily="34" charset="0"/>
                  <a:ea typeface="楷体_GB2312" pitchFamily="49" charset="-122"/>
                </a:rPr>
                <a:t>用户与组群管理</a:t>
              </a:r>
            </a:p>
          </p:txBody>
        </p:sp>
      </p:grpSp>
      <p:sp>
        <p:nvSpPr>
          <p:cNvPr id="24" name="Rectangle 3"/>
          <p:cNvSpPr txBox="1">
            <a:spLocks noChangeArrowheads="1"/>
          </p:cNvSpPr>
          <p:nvPr/>
        </p:nvSpPr>
        <p:spPr>
          <a:xfrm>
            <a:off x="2057400" y="-50200"/>
            <a:ext cx="8077200" cy="864096"/>
          </a:xfrm>
          <a:prstGeom prst="rect">
            <a:avLst/>
          </a:prstGeom>
        </p:spPr>
        <p:txBody>
          <a:bodyPr/>
          <a:lstStyle>
            <a:lvl1pPr algn="l"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000" b="1">
                <a:solidFill>
                  <a:schemeClr val="tx1"/>
                </a:solidFill>
                <a:latin typeface="Arial" charset="0"/>
                <a:ea typeface="华文新魏" pitchFamily="2" charset="-122"/>
              </a:defRPr>
            </a:lvl2pPr>
            <a:lvl3pPr algn="l" rtl="0" fontAlgn="base">
              <a:spcBef>
                <a:spcPct val="0"/>
              </a:spcBef>
              <a:spcAft>
                <a:spcPct val="0"/>
              </a:spcAft>
              <a:defRPr sz="4000" b="1">
                <a:solidFill>
                  <a:schemeClr val="tx1"/>
                </a:solidFill>
                <a:latin typeface="Arial" charset="0"/>
                <a:ea typeface="华文新魏" pitchFamily="2" charset="-122"/>
              </a:defRPr>
            </a:lvl3pPr>
            <a:lvl4pPr algn="l" rtl="0" fontAlgn="base">
              <a:spcBef>
                <a:spcPct val="0"/>
              </a:spcBef>
              <a:spcAft>
                <a:spcPct val="0"/>
              </a:spcAft>
              <a:defRPr sz="4000" b="1">
                <a:solidFill>
                  <a:schemeClr val="tx1"/>
                </a:solidFill>
                <a:latin typeface="Arial" charset="0"/>
                <a:ea typeface="华文新魏" pitchFamily="2" charset="-122"/>
              </a:defRPr>
            </a:lvl4pPr>
            <a:lvl5pPr algn="l" rtl="0" fontAlgn="base">
              <a:spcBef>
                <a:spcPct val="0"/>
              </a:spcBef>
              <a:spcAft>
                <a:spcPct val="0"/>
              </a:spcAft>
              <a:defRPr sz="4000" b="1">
                <a:solidFill>
                  <a:schemeClr val="tx1"/>
                </a:solidFill>
                <a:latin typeface="Arial" charset="0"/>
                <a:ea typeface="华文新魏" pitchFamily="2" charset="-122"/>
              </a:defRPr>
            </a:lvl5pPr>
            <a:lvl6pPr marL="457200" algn="l" rtl="0" fontAlgn="base">
              <a:spcBef>
                <a:spcPct val="0"/>
              </a:spcBef>
              <a:spcAft>
                <a:spcPct val="0"/>
              </a:spcAft>
              <a:defRPr sz="4000" b="1">
                <a:solidFill>
                  <a:schemeClr val="tx1"/>
                </a:solidFill>
                <a:latin typeface="Arial" charset="0"/>
                <a:ea typeface="华文新魏" pitchFamily="2" charset="-122"/>
              </a:defRPr>
            </a:lvl6pPr>
            <a:lvl7pPr marL="914400" algn="l" rtl="0" fontAlgn="base">
              <a:spcBef>
                <a:spcPct val="0"/>
              </a:spcBef>
              <a:spcAft>
                <a:spcPct val="0"/>
              </a:spcAft>
              <a:defRPr sz="4000" b="1">
                <a:solidFill>
                  <a:schemeClr val="tx1"/>
                </a:solidFill>
                <a:latin typeface="Arial" charset="0"/>
                <a:ea typeface="华文新魏" pitchFamily="2" charset="-122"/>
              </a:defRPr>
            </a:lvl7pPr>
            <a:lvl8pPr marL="1371600" algn="l" rtl="0" fontAlgn="base">
              <a:spcBef>
                <a:spcPct val="0"/>
              </a:spcBef>
              <a:spcAft>
                <a:spcPct val="0"/>
              </a:spcAft>
              <a:defRPr sz="4000" b="1">
                <a:solidFill>
                  <a:schemeClr val="tx1"/>
                </a:solidFill>
                <a:latin typeface="Arial" charset="0"/>
                <a:ea typeface="华文新魏" pitchFamily="2" charset="-122"/>
              </a:defRPr>
            </a:lvl8pPr>
            <a:lvl9pPr marL="1828800" algn="l" rtl="0" fontAlgn="base">
              <a:spcBef>
                <a:spcPct val="0"/>
              </a:spcBef>
              <a:spcAft>
                <a:spcPct val="0"/>
              </a:spcAft>
              <a:defRPr sz="4000" b="1">
                <a:solidFill>
                  <a:schemeClr val="tx1"/>
                </a:solidFill>
                <a:latin typeface="Arial" charset="0"/>
                <a:ea typeface="华文新魏" pitchFamily="2" charset="-122"/>
              </a:defRPr>
            </a:lvl9pPr>
          </a:lstStyle>
          <a:p>
            <a:pPr algn="ctr"/>
            <a:r>
              <a:rPr lang="zh-CN" altLang="en-US" sz="4600" dirty="0"/>
              <a:t>教学内容安排</a:t>
            </a:r>
            <a:endParaRPr kumimoji="1" lang="zh-CN" altLang="en-US" sz="4600" dirty="0"/>
          </a:p>
        </p:txBody>
      </p:sp>
      <p:grpSp>
        <p:nvGrpSpPr>
          <p:cNvPr id="26" name="组合 25"/>
          <p:cNvGrpSpPr/>
          <p:nvPr/>
        </p:nvGrpSpPr>
        <p:grpSpPr>
          <a:xfrm>
            <a:off x="1774701" y="3881091"/>
            <a:ext cx="8713787" cy="792162"/>
            <a:chOff x="179265" y="1773238"/>
            <a:chExt cx="8713787" cy="792162"/>
          </a:xfrm>
        </p:grpSpPr>
        <p:sp>
          <p:nvSpPr>
            <p:cNvPr id="27" name="Rectangle 67"/>
            <p:cNvSpPr>
              <a:spLocks noChangeArrowheads="1"/>
            </p:cNvSpPr>
            <p:nvPr/>
          </p:nvSpPr>
          <p:spPr bwMode="auto">
            <a:xfrm>
              <a:off x="179265" y="1773238"/>
              <a:ext cx="8713787" cy="792162"/>
            </a:xfrm>
            <a:prstGeom prst="rect">
              <a:avLst/>
            </a:prstGeom>
            <a:solidFill>
              <a:schemeClr val="bg1">
                <a:lumMod val="85000"/>
              </a:schemeClr>
            </a:solidFill>
            <a:ln w="19050">
              <a:solidFill>
                <a:schemeClr val="tx1"/>
              </a:solidFill>
              <a:prstDash val="dash"/>
              <a:miter lim="800000"/>
              <a:headEnd/>
              <a:tailEnd/>
            </a:ln>
          </p:spPr>
          <p:txBody>
            <a:bodyPr wrap="none" anchor="ctr"/>
            <a:lstStyle/>
            <a:p>
              <a:pPr algn="l"/>
              <a:endParaRPr lang="zh-CN" altLang="zh-CN" sz="2400" b="0">
                <a:latin typeface="Tahoma" pitchFamily="34" charset="0"/>
              </a:endParaRPr>
            </a:p>
          </p:txBody>
        </p:sp>
        <p:sp>
          <p:nvSpPr>
            <p:cNvPr id="28" name="Rectangle 33"/>
            <p:cNvSpPr>
              <a:spLocks noChangeArrowheads="1"/>
            </p:cNvSpPr>
            <p:nvPr/>
          </p:nvSpPr>
          <p:spPr bwMode="auto">
            <a:xfrm>
              <a:off x="324100" y="1916113"/>
              <a:ext cx="1728192" cy="504825"/>
            </a:xfrm>
            <a:prstGeom prst="rect">
              <a:avLst/>
            </a:prstGeom>
            <a:solidFill>
              <a:schemeClr val="accent2">
                <a:lumMod val="20000"/>
                <a:lumOff val="80000"/>
              </a:schemeClr>
            </a:solidFill>
            <a:ln w="19050">
              <a:solidFill>
                <a:schemeClr val="tx1"/>
              </a:solidFill>
              <a:miter lim="800000"/>
              <a:headEnd/>
              <a:tailEnd/>
            </a:ln>
          </p:spPr>
          <p:txBody>
            <a:bodyPr wrap="none" anchor="ctr"/>
            <a:lstStyle/>
            <a:p>
              <a:pPr algn="l"/>
              <a:r>
                <a:rPr lang="en-US" altLang="zh-CN" dirty="0">
                  <a:latin typeface="Tahoma" pitchFamily="34" charset="0"/>
                  <a:ea typeface="楷体_GB2312" pitchFamily="49" charset="-122"/>
                </a:rPr>
                <a:t>Linux</a:t>
              </a:r>
              <a:r>
                <a:rPr lang="zh-CN" altLang="en-US" dirty="0">
                  <a:latin typeface="Tahoma" pitchFamily="34" charset="0"/>
                  <a:ea typeface="楷体_GB2312" pitchFamily="49" charset="-122"/>
                </a:rPr>
                <a:t>文件系统</a:t>
              </a:r>
            </a:p>
          </p:txBody>
        </p:sp>
        <p:sp>
          <p:nvSpPr>
            <p:cNvPr id="30" name="Rectangle 36"/>
            <p:cNvSpPr>
              <a:spLocks noChangeArrowheads="1"/>
            </p:cNvSpPr>
            <p:nvPr/>
          </p:nvSpPr>
          <p:spPr bwMode="auto">
            <a:xfrm>
              <a:off x="4099095" y="1920460"/>
              <a:ext cx="1385636" cy="491796"/>
            </a:xfrm>
            <a:prstGeom prst="rect">
              <a:avLst/>
            </a:prstGeom>
            <a:solidFill>
              <a:schemeClr val="accent2">
                <a:lumMod val="20000"/>
                <a:lumOff val="80000"/>
              </a:schemeClr>
            </a:solidFill>
            <a:ln w="19050">
              <a:solidFill>
                <a:schemeClr val="tx1"/>
              </a:solidFill>
              <a:miter lim="800000"/>
              <a:headEnd/>
              <a:tailEnd/>
            </a:ln>
          </p:spPr>
          <p:txBody>
            <a:bodyPr wrap="none" anchor="ctr"/>
            <a:lstStyle/>
            <a:p>
              <a:r>
                <a:rPr lang="en-US" altLang="zh-CN" dirty="0">
                  <a:latin typeface="Tahoma" pitchFamily="34" charset="0"/>
                  <a:ea typeface="楷体_GB2312" pitchFamily="49" charset="-122"/>
                </a:rPr>
                <a:t>Linux</a:t>
              </a:r>
              <a:r>
                <a:rPr lang="zh-CN" altLang="en-US" dirty="0">
                  <a:latin typeface="Tahoma" pitchFamily="34" charset="0"/>
                  <a:ea typeface="楷体_GB2312" pitchFamily="49" charset="-122"/>
                </a:rPr>
                <a:t>进程</a:t>
              </a:r>
            </a:p>
          </p:txBody>
        </p:sp>
        <p:sp>
          <p:nvSpPr>
            <p:cNvPr id="31" name="Rectangle 37"/>
            <p:cNvSpPr>
              <a:spLocks noChangeArrowheads="1"/>
            </p:cNvSpPr>
            <p:nvPr/>
          </p:nvSpPr>
          <p:spPr bwMode="auto">
            <a:xfrm>
              <a:off x="2197697" y="1916112"/>
              <a:ext cx="1685375" cy="504825"/>
            </a:xfrm>
            <a:prstGeom prst="rect">
              <a:avLst/>
            </a:prstGeom>
            <a:solidFill>
              <a:schemeClr val="accent2">
                <a:lumMod val="20000"/>
                <a:lumOff val="80000"/>
              </a:schemeClr>
            </a:solidFill>
            <a:ln w="19050">
              <a:solidFill>
                <a:schemeClr val="tx1"/>
              </a:solidFill>
              <a:miter lim="800000"/>
              <a:headEnd/>
              <a:tailEnd/>
            </a:ln>
          </p:spPr>
          <p:txBody>
            <a:bodyPr wrap="none" anchor="ctr"/>
            <a:lstStyle/>
            <a:p>
              <a:pPr algn="l"/>
              <a:r>
                <a:rPr lang="en-US" altLang="zh-CN" dirty="0">
                  <a:ea typeface="楷体_GB2312" pitchFamily="49" charset="-122"/>
                </a:rPr>
                <a:t>Linux</a:t>
              </a:r>
              <a:r>
                <a:rPr lang="zh-CN" altLang="en-US" dirty="0">
                  <a:ea typeface="楷体_GB2312" pitchFamily="49" charset="-122"/>
                </a:rPr>
                <a:t>下</a:t>
              </a:r>
              <a:r>
                <a:rPr lang="en-US" altLang="zh-CN" dirty="0">
                  <a:ea typeface="楷体_GB2312" pitchFamily="49" charset="-122"/>
                </a:rPr>
                <a:t>C</a:t>
              </a:r>
              <a:r>
                <a:rPr lang="zh-CN" altLang="en-US" dirty="0">
                  <a:ea typeface="楷体_GB2312" pitchFamily="49" charset="-122"/>
                </a:rPr>
                <a:t>编程</a:t>
              </a:r>
            </a:p>
          </p:txBody>
        </p:sp>
        <p:sp>
          <p:nvSpPr>
            <p:cNvPr id="32" name="Rectangle 38"/>
            <p:cNvSpPr>
              <a:spLocks noChangeArrowheads="1"/>
            </p:cNvSpPr>
            <p:nvPr/>
          </p:nvSpPr>
          <p:spPr bwMode="auto">
            <a:xfrm>
              <a:off x="5622114" y="1932059"/>
              <a:ext cx="1525264" cy="504825"/>
            </a:xfrm>
            <a:prstGeom prst="rect">
              <a:avLst/>
            </a:prstGeom>
            <a:solidFill>
              <a:schemeClr val="accent2">
                <a:lumMod val="20000"/>
                <a:lumOff val="80000"/>
              </a:schemeClr>
            </a:solidFill>
            <a:ln w="19050">
              <a:solidFill>
                <a:schemeClr val="tx1"/>
              </a:solidFill>
              <a:miter lim="800000"/>
              <a:headEnd/>
              <a:tailEnd/>
            </a:ln>
          </p:spPr>
          <p:txBody>
            <a:bodyPr wrap="none" anchor="ctr"/>
            <a:lstStyle/>
            <a:p>
              <a:pPr algn="l"/>
              <a:r>
                <a:rPr lang="en-US" altLang="zh-CN" dirty="0">
                  <a:latin typeface="Tahoma" pitchFamily="34" charset="0"/>
                  <a:ea typeface="楷体_GB2312" pitchFamily="49" charset="-122"/>
                </a:rPr>
                <a:t>Linux</a:t>
              </a:r>
              <a:r>
                <a:rPr lang="zh-CN" altLang="en-US" dirty="0">
                  <a:latin typeface="Tahoma" pitchFamily="34" charset="0"/>
                  <a:ea typeface="楷体_GB2312" pitchFamily="49" charset="-122"/>
                </a:rPr>
                <a:t>网络</a:t>
              </a:r>
            </a:p>
          </p:txBody>
        </p:sp>
        <p:sp>
          <p:nvSpPr>
            <p:cNvPr id="33" name="Rectangle 39"/>
            <p:cNvSpPr>
              <a:spLocks noChangeArrowheads="1"/>
            </p:cNvSpPr>
            <p:nvPr/>
          </p:nvSpPr>
          <p:spPr bwMode="auto">
            <a:xfrm>
              <a:off x="7291393" y="1916113"/>
              <a:ext cx="1385636" cy="504825"/>
            </a:xfrm>
            <a:prstGeom prst="rect">
              <a:avLst/>
            </a:prstGeom>
            <a:solidFill>
              <a:schemeClr val="accent2">
                <a:lumMod val="20000"/>
                <a:lumOff val="80000"/>
              </a:schemeClr>
            </a:solidFill>
            <a:ln w="19050">
              <a:solidFill>
                <a:schemeClr val="tx1"/>
              </a:solidFill>
              <a:miter lim="800000"/>
              <a:headEnd/>
              <a:tailEnd/>
            </a:ln>
          </p:spPr>
          <p:txBody>
            <a:bodyPr wrap="none" anchor="ctr"/>
            <a:lstStyle/>
            <a:p>
              <a:pPr algn="l"/>
              <a:r>
                <a:rPr lang="en-US" altLang="zh-CN">
                  <a:latin typeface="Tahoma" pitchFamily="34" charset="0"/>
                  <a:ea typeface="楷体_GB2312" pitchFamily="49" charset="-122"/>
                </a:rPr>
                <a:t>Shell</a:t>
              </a:r>
              <a:r>
                <a:rPr lang="zh-CN" altLang="en-US">
                  <a:latin typeface="Tahoma" pitchFamily="34" charset="0"/>
                  <a:ea typeface="楷体_GB2312" pitchFamily="49" charset="-122"/>
                </a:rPr>
                <a:t>编程</a:t>
              </a:r>
            </a:p>
          </p:txBody>
        </p:sp>
      </p:grpSp>
      <p:sp>
        <p:nvSpPr>
          <p:cNvPr id="189506" name="Line 66"/>
          <p:cNvSpPr>
            <a:spLocks noChangeShapeType="1"/>
          </p:cNvSpPr>
          <p:nvPr/>
        </p:nvSpPr>
        <p:spPr bwMode="auto">
          <a:xfrm flipH="1">
            <a:off x="9505018" y="4504134"/>
            <a:ext cx="0" cy="581051"/>
          </a:xfrm>
          <a:prstGeom prst="line">
            <a:avLst/>
          </a:prstGeom>
          <a:noFill/>
          <a:ln w="28575">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7" name="组合 6">
            <a:extLst>
              <a:ext uri="{FF2B5EF4-FFF2-40B4-BE49-F238E27FC236}">
                <a16:creationId xmlns:a16="http://schemas.microsoft.com/office/drawing/2014/main" id="{97460678-0C07-F5B7-948A-DC3C2F6CB39C}"/>
              </a:ext>
            </a:extLst>
          </p:cNvPr>
          <p:cNvGrpSpPr/>
          <p:nvPr/>
        </p:nvGrpSpPr>
        <p:grpSpPr>
          <a:xfrm>
            <a:off x="1632200" y="692697"/>
            <a:ext cx="8879153" cy="5832645"/>
            <a:chOff x="179512" y="692698"/>
            <a:chExt cx="8879153" cy="5832645"/>
          </a:xfrm>
        </p:grpSpPr>
        <p:sp>
          <p:nvSpPr>
            <p:cNvPr id="189482" name="Rectangle 42"/>
            <p:cNvSpPr>
              <a:spLocks noChangeArrowheads="1"/>
            </p:cNvSpPr>
            <p:nvPr/>
          </p:nvSpPr>
          <p:spPr bwMode="auto">
            <a:xfrm>
              <a:off x="322832" y="764706"/>
              <a:ext cx="1679048" cy="1384727"/>
            </a:xfrm>
            <a:prstGeom prst="rect">
              <a:avLst/>
            </a:prstGeom>
            <a:solidFill>
              <a:schemeClr val="accent2"/>
            </a:solidFill>
            <a:ln w="19050">
              <a:solidFill>
                <a:schemeClr val="tx1"/>
              </a:solidFill>
              <a:miter lim="800000"/>
              <a:headEnd/>
              <a:tailEnd/>
            </a:ln>
          </p:spPr>
          <p:txBody>
            <a:bodyPr wrap="none" anchor="ctr"/>
            <a:lstStyle/>
            <a:p>
              <a:pPr algn="l"/>
              <a:r>
                <a:rPr lang="en-US" altLang="zh-CN" sz="1600" dirty="0">
                  <a:latin typeface="楷体_GB2312" pitchFamily="49" charset="-122"/>
                  <a:ea typeface="楷体_GB2312" pitchFamily="49" charset="-122"/>
                </a:rPr>
                <a:t>Linux</a:t>
              </a:r>
              <a:r>
                <a:rPr lang="zh-CN" altLang="en-US" sz="1600" dirty="0">
                  <a:latin typeface="楷体_GB2312" pitchFamily="49" charset="-122"/>
                  <a:ea typeface="楷体_GB2312" pitchFamily="49" charset="-122"/>
                </a:rPr>
                <a:t>发展史</a:t>
              </a:r>
            </a:p>
            <a:p>
              <a:pPr algn="l"/>
              <a:r>
                <a:rPr lang="en-US" altLang="zh-CN" sz="1600" dirty="0">
                  <a:latin typeface="楷体_GB2312" pitchFamily="49" charset="-122"/>
                  <a:ea typeface="楷体_GB2312" pitchFamily="49" charset="-122"/>
                </a:rPr>
                <a:t>Linux</a:t>
              </a:r>
              <a:r>
                <a:rPr lang="zh-CN" altLang="en-US" sz="1600" dirty="0">
                  <a:latin typeface="楷体_GB2312" pitchFamily="49" charset="-122"/>
                  <a:ea typeface="楷体_GB2312" pitchFamily="49" charset="-122"/>
                </a:rPr>
                <a:t>版本</a:t>
              </a:r>
              <a:endParaRPr lang="en-US" altLang="zh-CN" sz="1600" dirty="0">
                <a:latin typeface="楷体_GB2312" pitchFamily="49" charset="-122"/>
                <a:ea typeface="楷体_GB2312" pitchFamily="49" charset="-122"/>
              </a:endParaRPr>
            </a:p>
            <a:p>
              <a:pPr algn="l"/>
              <a:r>
                <a:rPr lang="en-US" altLang="zh-CN" sz="1600" dirty="0">
                  <a:latin typeface="楷体_GB2312" pitchFamily="49" charset="-122"/>
                  <a:ea typeface="楷体_GB2312" pitchFamily="49" charset="-122"/>
                </a:rPr>
                <a:t>Linux</a:t>
              </a:r>
              <a:r>
                <a:rPr lang="zh-CN" altLang="en-US" sz="1600" dirty="0">
                  <a:latin typeface="楷体_GB2312" pitchFamily="49" charset="-122"/>
                  <a:ea typeface="楷体_GB2312" pitchFamily="49" charset="-122"/>
                </a:rPr>
                <a:t>特点</a:t>
              </a:r>
              <a:endParaRPr lang="en-US" altLang="zh-CN" sz="1600" dirty="0">
                <a:latin typeface="楷体_GB2312" pitchFamily="49" charset="-122"/>
                <a:ea typeface="楷体_GB2312" pitchFamily="49" charset="-122"/>
              </a:endParaRPr>
            </a:p>
            <a:p>
              <a:pPr algn="l"/>
              <a:r>
                <a:rPr lang="en-US" altLang="zh-CN" sz="1600" dirty="0">
                  <a:latin typeface="楷体_GB2312" pitchFamily="49" charset="-122"/>
                  <a:ea typeface="楷体_GB2312" pitchFamily="49" charset="-122"/>
                </a:rPr>
                <a:t>Linux</a:t>
              </a:r>
              <a:r>
                <a:rPr lang="zh-CN" altLang="en-US" sz="1600" dirty="0">
                  <a:latin typeface="楷体_GB2312" pitchFamily="49" charset="-122"/>
                  <a:ea typeface="楷体_GB2312" pitchFamily="49" charset="-122"/>
                </a:rPr>
                <a:t>内核</a:t>
              </a:r>
            </a:p>
            <a:p>
              <a:pPr algn="l"/>
              <a:r>
                <a:rPr lang="zh-CN" altLang="en-US" sz="1600" dirty="0">
                  <a:latin typeface="楷体_GB2312" pitchFamily="49" charset="-122"/>
                  <a:ea typeface="楷体_GB2312" pitchFamily="49" charset="-122"/>
                </a:rPr>
                <a:t>现状与前景</a:t>
              </a:r>
              <a:endParaRPr lang="en-US" altLang="zh-CN" sz="1600" dirty="0">
                <a:solidFill>
                  <a:schemeClr val="bg1"/>
                </a:solidFill>
                <a:latin typeface="楷体_GB2312" pitchFamily="49" charset="-122"/>
                <a:ea typeface="楷体_GB2312" pitchFamily="49" charset="-122"/>
              </a:endParaRPr>
            </a:p>
          </p:txBody>
        </p:sp>
        <p:sp>
          <p:nvSpPr>
            <p:cNvPr id="189484" name="Rectangle 44"/>
            <p:cNvSpPr>
              <a:spLocks noChangeArrowheads="1"/>
            </p:cNvSpPr>
            <p:nvPr/>
          </p:nvSpPr>
          <p:spPr bwMode="auto">
            <a:xfrm>
              <a:off x="2123033" y="763544"/>
              <a:ext cx="2760946" cy="1384726"/>
            </a:xfrm>
            <a:prstGeom prst="rect">
              <a:avLst/>
            </a:prstGeom>
            <a:solidFill>
              <a:schemeClr val="accent2"/>
            </a:solidFill>
            <a:ln w="19050">
              <a:solidFill>
                <a:schemeClr val="tx1"/>
              </a:solidFill>
              <a:miter lim="800000"/>
              <a:headEnd/>
              <a:tailEnd/>
            </a:ln>
          </p:spPr>
          <p:txBody>
            <a:bodyPr wrap="none" anchor="ctr"/>
            <a:lstStyle/>
            <a:p>
              <a:pPr algn="l" eaLnBrk="0" hangingPunct="0"/>
              <a:endParaRPr lang="en-US" altLang="zh-CN" sz="1600" dirty="0">
                <a:solidFill>
                  <a:schemeClr val="bg1"/>
                </a:solidFill>
                <a:ea typeface="楷体_GB2312" pitchFamily="49" charset="-122"/>
              </a:endParaRPr>
            </a:p>
            <a:p>
              <a:pPr algn="l" eaLnBrk="0" hangingPunct="0"/>
              <a:endParaRPr lang="en-US" altLang="zh-CN" sz="1600" dirty="0">
                <a:solidFill>
                  <a:schemeClr val="bg1"/>
                </a:solidFill>
                <a:ea typeface="楷体_GB2312" pitchFamily="49" charset="-122"/>
              </a:endParaRPr>
            </a:p>
            <a:p>
              <a:pPr algn="l" eaLnBrk="0" hangingPunct="0"/>
              <a:r>
                <a:rPr lang="zh-CN" altLang="en-US" sz="1600" dirty="0">
                  <a:ea typeface="楷体_GB2312" pitchFamily="49" charset="-122"/>
                </a:rPr>
                <a:t>虚拟机软件简介</a:t>
              </a:r>
            </a:p>
            <a:p>
              <a:pPr algn="l" eaLnBrk="0" hangingPunct="0"/>
              <a:r>
                <a:rPr lang="en-US" altLang="zh-CN" sz="1600" dirty="0">
                  <a:ea typeface="楷体_GB2312" pitchFamily="49" charset="-122"/>
                </a:rPr>
                <a:t>VMware Workstation</a:t>
              </a:r>
              <a:r>
                <a:rPr lang="zh-CN" altLang="en-US" sz="1600" dirty="0">
                  <a:ea typeface="楷体_GB2312" pitchFamily="49" charset="-122"/>
                </a:rPr>
                <a:t>的安装</a:t>
              </a:r>
            </a:p>
            <a:p>
              <a:pPr algn="l" eaLnBrk="0" hangingPunct="0"/>
              <a:r>
                <a:rPr lang="zh-CN" altLang="en-US" sz="1600" dirty="0">
                  <a:ea typeface="楷体_GB2312" pitchFamily="49" charset="-122"/>
                </a:rPr>
                <a:t>创建虚拟机</a:t>
              </a:r>
            </a:p>
            <a:p>
              <a:pPr algn="l" eaLnBrk="0" hangingPunct="0"/>
              <a:r>
                <a:rPr lang="zh-CN" altLang="en-US" sz="1600" dirty="0">
                  <a:ea typeface="楷体_GB2312" pitchFamily="49" charset="-122"/>
                </a:rPr>
                <a:t>安装</a:t>
              </a:r>
              <a:r>
                <a:rPr lang="en-US" altLang="zh-CN" sz="1600" dirty="0">
                  <a:ea typeface="楷体_GB2312" pitchFamily="49" charset="-122"/>
                </a:rPr>
                <a:t>Linux</a:t>
              </a:r>
              <a:r>
                <a:rPr lang="zh-CN" altLang="en-US" sz="1600" dirty="0">
                  <a:ea typeface="楷体_GB2312" pitchFamily="49" charset="-122"/>
                </a:rPr>
                <a:t>操作系统</a:t>
              </a:r>
            </a:p>
            <a:p>
              <a:pPr algn="l" eaLnBrk="0" hangingPunct="0"/>
              <a:r>
                <a:rPr lang="en-US" altLang="zh-CN" sz="1600" dirty="0">
                  <a:ea typeface="楷体_GB2312" pitchFamily="49" charset="-122"/>
                </a:rPr>
                <a:t>X Window</a:t>
              </a:r>
              <a:r>
                <a:rPr lang="zh-CN" altLang="en-US" sz="1600" dirty="0">
                  <a:ea typeface="楷体_GB2312" pitchFamily="49" charset="-122"/>
                </a:rPr>
                <a:t>简介</a:t>
              </a:r>
            </a:p>
            <a:p>
              <a:pPr algn="l"/>
              <a:endParaRPr lang="zh-CN" altLang="en-US" sz="1600" dirty="0">
                <a:solidFill>
                  <a:schemeClr val="bg1"/>
                </a:solidFill>
                <a:latin typeface="楷体_GB2312" pitchFamily="49" charset="-122"/>
                <a:ea typeface="楷体_GB2312" pitchFamily="49" charset="-122"/>
              </a:endParaRPr>
            </a:p>
            <a:p>
              <a:pPr algn="l"/>
              <a:endParaRPr lang="en-US" altLang="zh-CN" sz="1600" dirty="0">
                <a:solidFill>
                  <a:schemeClr val="bg1"/>
                </a:solidFill>
                <a:latin typeface="楷体_GB2312" pitchFamily="49" charset="-122"/>
                <a:ea typeface="楷体_GB2312" pitchFamily="49" charset="-122"/>
              </a:endParaRPr>
            </a:p>
          </p:txBody>
        </p:sp>
        <p:sp>
          <p:nvSpPr>
            <p:cNvPr id="189485" name="Rectangle 45"/>
            <p:cNvSpPr>
              <a:spLocks noChangeArrowheads="1"/>
            </p:cNvSpPr>
            <p:nvPr/>
          </p:nvSpPr>
          <p:spPr bwMode="auto">
            <a:xfrm>
              <a:off x="5005132" y="763544"/>
              <a:ext cx="2302973" cy="1388725"/>
            </a:xfrm>
            <a:prstGeom prst="rect">
              <a:avLst/>
            </a:prstGeom>
            <a:solidFill>
              <a:schemeClr val="accent2"/>
            </a:solidFill>
            <a:ln w="19050">
              <a:solidFill>
                <a:schemeClr val="tx1"/>
              </a:solidFill>
              <a:miter lim="800000"/>
              <a:headEnd/>
              <a:tailEnd/>
            </a:ln>
          </p:spPr>
          <p:txBody>
            <a:bodyPr wrap="none" anchor="ctr"/>
            <a:lstStyle/>
            <a:p>
              <a:pPr algn="l" eaLnBrk="0" hangingPunct="0"/>
              <a:endParaRPr lang="en-US" altLang="zh-CN" sz="1600" dirty="0">
                <a:solidFill>
                  <a:schemeClr val="bg1"/>
                </a:solidFill>
                <a:latin typeface="楷体_GB2312" pitchFamily="49" charset="-122"/>
                <a:ea typeface="楷体_GB2312" pitchFamily="49" charset="-122"/>
              </a:endParaRPr>
            </a:p>
            <a:p>
              <a:pPr algn="l" eaLnBrk="0" hangingPunct="0"/>
              <a:r>
                <a:rPr lang="en-US" altLang="zh-CN" sz="1600" dirty="0">
                  <a:latin typeface="楷体_GB2312" pitchFamily="49" charset="-122"/>
                  <a:ea typeface="楷体_GB2312" pitchFamily="49" charset="-122"/>
                </a:rPr>
                <a:t>Shell</a:t>
              </a:r>
              <a:r>
                <a:rPr lang="zh-CN" altLang="en-US" sz="1600" dirty="0">
                  <a:latin typeface="楷体_GB2312" pitchFamily="49" charset="-122"/>
                  <a:ea typeface="楷体_GB2312" pitchFamily="49" charset="-122"/>
                </a:rPr>
                <a:t>命令简介</a:t>
              </a:r>
            </a:p>
            <a:p>
              <a:pPr algn="l" eaLnBrk="0" hangingPunct="0"/>
              <a:r>
                <a:rPr lang="zh-CN" altLang="en-US" sz="1600" dirty="0">
                  <a:latin typeface="楷体_GB2312" pitchFamily="49" charset="-122"/>
                  <a:ea typeface="楷体_GB2312" pitchFamily="49" charset="-122"/>
                </a:rPr>
                <a:t>管理文件和目录的命令</a:t>
              </a:r>
            </a:p>
            <a:p>
              <a:pPr algn="l" eaLnBrk="0" hangingPunct="0"/>
              <a:r>
                <a:rPr lang="zh-CN" altLang="en-US" sz="1600" dirty="0">
                  <a:latin typeface="楷体_GB2312" pitchFamily="49" charset="-122"/>
                  <a:ea typeface="楷体_GB2312" pitchFamily="49" charset="-122"/>
                </a:rPr>
                <a:t>处理文本的</a:t>
              </a:r>
              <a:r>
                <a:rPr lang="en-US" altLang="zh-CN" sz="1600" dirty="0">
                  <a:latin typeface="楷体_GB2312" pitchFamily="49" charset="-122"/>
                  <a:ea typeface="楷体_GB2312" pitchFamily="49" charset="-122"/>
                </a:rPr>
                <a:t>Shell</a:t>
              </a:r>
              <a:r>
                <a:rPr lang="zh-CN" altLang="en-US" sz="1600" dirty="0">
                  <a:latin typeface="楷体_GB2312" pitchFamily="49" charset="-122"/>
                  <a:ea typeface="楷体_GB2312" pitchFamily="49" charset="-122"/>
                </a:rPr>
                <a:t>命令</a:t>
              </a:r>
            </a:p>
            <a:p>
              <a:pPr algn="l" eaLnBrk="0" hangingPunct="0"/>
              <a:r>
                <a:rPr lang="zh-CN" altLang="en-US" sz="1600" dirty="0">
                  <a:latin typeface="楷体_GB2312" pitchFamily="49" charset="-122"/>
                  <a:ea typeface="楷体_GB2312" pitchFamily="49" charset="-122"/>
                </a:rPr>
                <a:t>重定向和管道命令符</a:t>
              </a:r>
            </a:p>
            <a:p>
              <a:pPr algn="l"/>
              <a:endParaRPr lang="en-US" altLang="zh-CN" sz="1600" dirty="0">
                <a:solidFill>
                  <a:schemeClr val="bg1"/>
                </a:solidFill>
                <a:latin typeface="楷体_GB2312" pitchFamily="49" charset="-122"/>
                <a:ea typeface="楷体_GB2312" pitchFamily="49" charset="-122"/>
              </a:endParaRPr>
            </a:p>
          </p:txBody>
        </p:sp>
        <p:sp>
          <p:nvSpPr>
            <p:cNvPr id="189487" name="Rectangle 47"/>
            <p:cNvSpPr>
              <a:spLocks noChangeArrowheads="1"/>
            </p:cNvSpPr>
            <p:nvPr/>
          </p:nvSpPr>
          <p:spPr bwMode="auto">
            <a:xfrm>
              <a:off x="7434141" y="692698"/>
              <a:ext cx="1624524" cy="1440159"/>
            </a:xfrm>
            <a:prstGeom prst="rect">
              <a:avLst/>
            </a:prstGeom>
            <a:solidFill>
              <a:schemeClr val="accent2"/>
            </a:solidFill>
            <a:ln w="19050">
              <a:solidFill>
                <a:schemeClr val="tx1"/>
              </a:solidFill>
              <a:miter lim="800000"/>
              <a:headEnd/>
              <a:tailEnd/>
            </a:ln>
          </p:spPr>
          <p:txBody>
            <a:bodyPr wrap="none" anchor="ctr"/>
            <a:lstStyle/>
            <a:p>
              <a:pPr algn="l"/>
              <a:r>
                <a:rPr lang="zh-CN" altLang="en-US" sz="1600" dirty="0">
                  <a:ea typeface="楷体_GB2312" pitchFamily="49" charset="-122"/>
                </a:rPr>
                <a:t>用户与组群</a:t>
              </a:r>
            </a:p>
            <a:p>
              <a:pPr algn="l"/>
              <a:r>
                <a:rPr lang="zh-CN" altLang="en-US" sz="1600" dirty="0">
                  <a:ea typeface="楷体_GB2312" pitchFamily="49" charset="-122"/>
                </a:rPr>
                <a:t>桌面环境下</a:t>
              </a:r>
              <a:endParaRPr lang="en-US" altLang="zh-CN" sz="1600" dirty="0">
                <a:ea typeface="楷体_GB2312" pitchFamily="49" charset="-122"/>
              </a:endParaRPr>
            </a:p>
            <a:p>
              <a:pPr algn="l"/>
              <a:r>
                <a:rPr lang="zh-CN" altLang="en-US" sz="1600" dirty="0">
                  <a:ea typeface="楷体_GB2312" pitchFamily="49" charset="-122"/>
                </a:rPr>
                <a:t>管理用户和组群</a:t>
              </a:r>
            </a:p>
            <a:p>
              <a:pPr algn="l"/>
              <a:r>
                <a:rPr lang="zh-CN" altLang="en-US" sz="1600" dirty="0">
                  <a:ea typeface="楷体_GB2312" pitchFamily="49" charset="-122"/>
                </a:rPr>
                <a:t>管理用户组群</a:t>
              </a:r>
              <a:endParaRPr lang="en-US" altLang="zh-CN" sz="1600" dirty="0">
                <a:ea typeface="楷体_GB2312" pitchFamily="49" charset="-122"/>
              </a:endParaRPr>
            </a:p>
            <a:p>
              <a:pPr algn="l"/>
              <a:r>
                <a:rPr lang="zh-CN" altLang="en-US" sz="1600" dirty="0">
                  <a:ea typeface="楷体_GB2312" pitchFamily="49" charset="-122"/>
                </a:rPr>
                <a:t>的</a:t>
              </a:r>
              <a:r>
                <a:rPr lang="en-US" altLang="zh-CN" sz="1600" dirty="0">
                  <a:ea typeface="楷体_GB2312" pitchFamily="49" charset="-122"/>
                </a:rPr>
                <a:t>Shell</a:t>
              </a:r>
              <a:r>
                <a:rPr lang="zh-CN" altLang="en-US" sz="1600" dirty="0">
                  <a:ea typeface="楷体_GB2312" pitchFamily="49" charset="-122"/>
                </a:rPr>
                <a:t>命令</a:t>
              </a:r>
              <a:endParaRPr lang="en-US" altLang="zh-CN" dirty="0">
                <a:solidFill>
                  <a:schemeClr val="bg1"/>
                </a:solidFill>
                <a:ea typeface="楷体_GB2312" pitchFamily="49" charset="-122"/>
              </a:endParaRPr>
            </a:p>
          </p:txBody>
        </p:sp>
        <p:sp>
          <p:nvSpPr>
            <p:cNvPr id="34" name="Rectangle 42"/>
            <p:cNvSpPr>
              <a:spLocks noChangeArrowheads="1"/>
            </p:cNvSpPr>
            <p:nvPr/>
          </p:nvSpPr>
          <p:spPr bwMode="auto">
            <a:xfrm>
              <a:off x="179512" y="5085184"/>
              <a:ext cx="2159918" cy="1250975"/>
            </a:xfrm>
            <a:prstGeom prst="rect">
              <a:avLst/>
            </a:prstGeom>
            <a:solidFill>
              <a:schemeClr val="accent2"/>
            </a:solidFill>
            <a:ln w="19050">
              <a:solidFill>
                <a:schemeClr val="tx1"/>
              </a:solidFill>
              <a:miter lim="800000"/>
              <a:headEnd/>
              <a:tailEnd/>
            </a:ln>
          </p:spPr>
          <p:txBody>
            <a:bodyPr wrap="none" anchor="ctr"/>
            <a:lstStyle/>
            <a:p>
              <a:pPr algn="l"/>
              <a:r>
                <a:rPr lang="zh-CN" altLang="en-US" sz="1600">
                  <a:latin typeface="楷体_GB2312" pitchFamily="49" charset="-122"/>
                  <a:ea typeface="楷体_GB2312" pitchFamily="49" charset="-122"/>
                </a:rPr>
                <a:t>文件系统基础</a:t>
              </a:r>
            </a:p>
            <a:p>
              <a:pPr algn="l"/>
              <a:r>
                <a:rPr lang="zh-CN" altLang="en-US" sz="1600">
                  <a:latin typeface="楷体_GB2312" pitchFamily="49" charset="-122"/>
                  <a:ea typeface="楷体_GB2312" pitchFamily="49" charset="-122"/>
                </a:rPr>
                <a:t>文件系统的挂载与卸载</a:t>
              </a:r>
            </a:p>
            <a:p>
              <a:pPr algn="l"/>
              <a:r>
                <a:rPr lang="zh-CN" altLang="en-US" sz="1600">
                  <a:latin typeface="楷体_GB2312" pitchFamily="49" charset="-122"/>
                  <a:ea typeface="楷体_GB2312" pitchFamily="49" charset="-122"/>
                </a:rPr>
                <a:t>管理磁盘的</a:t>
              </a:r>
              <a:r>
                <a:rPr lang="en-US" altLang="zh-CN" sz="1600">
                  <a:latin typeface="楷体_GB2312" pitchFamily="49" charset="-122"/>
                  <a:ea typeface="楷体_GB2312" pitchFamily="49" charset="-122"/>
                </a:rPr>
                <a:t>Shell</a:t>
              </a:r>
              <a:r>
                <a:rPr lang="zh-CN" altLang="en-US" sz="1600">
                  <a:latin typeface="楷体_GB2312" pitchFamily="49" charset="-122"/>
                  <a:ea typeface="楷体_GB2312" pitchFamily="49" charset="-122"/>
                </a:rPr>
                <a:t>命令</a:t>
              </a:r>
            </a:p>
            <a:p>
              <a:pPr algn="l"/>
              <a:r>
                <a:rPr lang="zh-CN" altLang="en-US" sz="1600">
                  <a:latin typeface="楷体_GB2312" pitchFamily="49" charset="-122"/>
                  <a:ea typeface="楷体_GB2312" pitchFamily="49" charset="-122"/>
                </a:rPr>
                <a:t>虚拟文件系统</a:t>
              </a:r>
            </a:p>
          </p:txBody>
        </p:sp>
        <p:cxnSp>
          <p:nvCxnSpPr>
            <p:cNvPr id="38" name="直接箭头连接符 37"/>
            <p:cNvCxnSpPr/>
            <p:nvPr/>
          </p:nvCxnSpPr>
          <p:spPr bwMode="auto">
            <a:xfrm flipV="1">
              <a:off x="3635200" y="2174261"/>
              <a:ext cx="0" cy="534659"/>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40" name="直接箭头连接符 39"/>
            <p:cNvCxnSpPr/>
            <p:nvPr/>
          </p:nvCxnSpPr>
          <p:spPr bwMode="auto">
            <a:xfrm flipV="1">
              <a:off x="6083472" y="2146732"/>
              <a:ext cx="0" cy="561047"/>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41" name="直接箭头连接符 40"/>
            <p:cNvCxnSpPr/>
            <p:nvPr/>
          </p:nvCxnSpPr>
          <p:spPr bwMode="auto">
            <a:xfrm flipH="1" flipV="1">
              <a:off x="8171506" y="2132858"/>
              <a:ext cx="198" cy="574921"/>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5" name="直接箭头连接符 4"/>
            <p:cNvCxnSpPr>
              <a:cxnSpLocks/>
              <a:endCxn id="189482" idx="2"/>
            </p:cNvCxnSpPr>
            <p:nvPr/>
          </p:nvCxnSpPr>
          <p:spPr bwMode="auto">
            <a:xfrm flipV="1">
              <a:off x="1162356" y="2149433"/>
              <a:ext cx="0" cy="550964"/>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
          <p:nvSpPr>
            <p:cNvPr id="56" name="Rectangle 44"/>
            <p:cNvSpPr>
              <a:spLocks noChangeArrowheads="1"/>
            </p:cNvSpPr>
            <p:nvPr/>
          </p:nvSpPr>
          <p:spPr bwMode="auto">
            <a:xfrm>
              <a:off x="4018491" y="5076687"/>
              <a:ext cx="1465499" cy="1298146"/>
            </a:xfrm>
            <a:prstGeom prst="rect">
              <a:avLst/>
            </a:prstGeom>
            <a:solidFill>
              <a:schemeClr val="accent2"/>
            </a:solidFill>
            <a:ln w="19050">
              <a:solidFill>
                <a:schemeClr val="tx1"/>
              </a:solidFill>
              <a:miter lim="800000"/>
              <a:headEnd/>
              <a:tailEnd/>
            </a:ln>
          </p:spPr>
          <p:txBody>
            <a:bodyPr wrap="none" anchor="ctr"/>
            <a:lstStyle/>
            <a:p>
              <a:pPr algn="l" eaLnBrk="0" hangingPunct="0"/>
              <a:endParaRPr lang="en-US" altLang="zh-CN" sz="1600" dirty="0">
                <a:solidFill>
                  <a:schemeClr val="bg1"/>
                </a:solidFill>
                <a:ea typeface="楷体_GB2312" pitchFamily="49" charset="-122"/>
              </a:endParaRPr>
            </a:p>
            <a:p>
              <a:pPr algn="l" eaLnBrk="0" hangingPunct="0"/>
              <a:r>
                <a:rPr lang="zh-CN" altLang="en-US" sz="1600" dirty="0">
                  <a:latin typeface="+mn-ea"/>
                  <a:ea typeface="楷体_GB2312"/>
                </a:rPr>
                <a:t>管理进程</a:t>
              </a:r>
              <a:endParaRPr lang="en-US" altLang="zh-CN" sz="1600" dirty="0">
                <a:latin typeface="+mn-ea"/>
                <a:ea typeface="楷体_GB2312"/>
              </a:endParaRPr>
            </a:p>
            <a:p>
              <a:pPr algn="l" eaLnBrk="0" hangingPunct="0"/>
              <a:r>
                <a:rPr lang="zh-CN" altLang="en-US" sz="1600" dirty="0">
                  <a:latin typeface="+mn-ea"/>
                  <a:ea typeface="楷体_GB2312"/>
                </a:rPr>
                <a:t>的</a:t>
              </a:r>
              <a:r>
                <a:rPr lang="en-US" altLang="zh-CN" sz="1600" dirty="0">
                  <a:latin typeface="+mn-ea"/>
                  <a:ea typeface="楷体_GB2312"/>
                </a:rPr>
                <a:t>Shell</a:t>
              </a:r>
              <a:r>
                <a:rPr lang="zh-CN" altLang="en-US" sz="1600" dirty="0">
                  <a:latin typeface="+mn-ea"/>
                  <a:ea typeface="楷体_GB2312"/>
                </a:rPr>
                <a:t>命令</a:t>
              </a:r>
              <a:endParaRPr lang="en-US" altLang="zh-CN" sz="1600" dirty="0">
                <a:solidFill>
                  <a:schemeClr val="bg1"/>
                </a:solidFill>
                <a:latin typeface="+mn-ea"/>
                <a:ea typeface="楷体_GB2312"/>
              </a:endParaRPr>
            </a:p>
            <a:p>
              <a:pPr algn="l" eaLnBrk="0" hangingPunct="0"/>
              <a:r>
                <a:rPr lang="zh-CN" altLang="en-US" sz="1600" dirty="0">
                  <a:ea typeface="楷体_GB2312" pitchFamily="49" charset="-122"/>
                </a:rPr>
                <a:t>创建进程</a:t>
              </a:r>
            </a:p>
            <a:p>
              <a:pPr algn="l" eaLnBrk="0" hangingPunct="0"/>
              <a:r>
                <a:rPr lang="zh-CN" altLang="en-US" sz="1600" dirty="0">
                  <a:ea typeface="楷体_GB2312" pitchFamily="49" charset="-122"/>
                </a:rPr>
                <a:t>进程调度</a:t>
              </a:r>
            </a:p>
            <a:p>
              <a:pPr algn="l" eaLnBrk="0" hangingPunct="0"/>
              <a:r>
                <a:rPr lang="zh-CN" altLang="en-US" sz="1600" dirty="0">
                  <a:ea typeface="楷体_GB2312" pitchFamily="49" charset="-122"/>
                </a:rPr>
                <a:t>进程通信</a:t>
              </a:r>
              <a:endParaRPr lang="zh-CN" altLang="en-US" sz="1600" dirty="0">
                <a:solidFill>
                  <a:schemeClr val="bg1"/>
                </a:solidFill>
                <a:latin typeface="楷体_GB2312" pitchFamily="49" charset="-122"/>
                <a:ea typeface="楷体_GB2312" pitchFamily="49" charset="-122"/>
              </a:endParaRPr>
            </a:p>
            <a:p>
              <a:pPr algn="l"/>
              <a:endParaRPr lang="en-US" altLang="zh-CN" sz="1600" dirty="0">
                <a:solidFill>
                  <a:schemeClr val="bg1"/>
                </a:solidFill>
                <a:latin typeface="楷体_GB2312" pitchFamily="49" charset="-122"/>
                <a:ea typeface="楷体_GB2312" pitchFamily="49" charset="-122"/>
              </a:endParaRPr>
            </a:p>
          </p:txBody>
        </p:sp>
        <p:sp>
          <p:nvSpPr>
            <p:cNvPr id="57" name="Rectangle 42"/>
            <p:cNvSpPr>
              <a:spLocks noChangeArrowheads="1"/>
            </p:cNvSpPr>
            <p:nvPr/>
          </p:nvSpPr>
          <p:spPr bwMode="auto">
            <a:xfrm>
              <a:off x="2507714" y="5058345"/>
              <a:ext cx="1365373" cy="1250975"/>
            </a:xfrm>
            <a:prstGeom prst="rect">
              <a:avLst/>
            </a:prstGeom>
            <a:solidFill>
              <a:schemeClr val="accent2"/>
            </a:solidFill>
            <a:ln w="19050">
              <a:solidFill>
                <a:schemeClr val="tx1"/>
              </a:solidFill>
              <a:miter lim="800000"/>
              <a:headEnd/>
              <a:tailEnd/>
            </a:ln>
          </p:spPr>
          <p:txBody>
            <a:bodyPr wrap="none" anchor="ctr"/>
            <a:lstStyle/>
            <a:p>
              <a:pPr algn="l"/>
              <a:r>
                <a:rPr lang="zh-CN" altLang="en-US" sz="1600" dirty="0">
                  <a:latin typeface="楷体_GB2312" pitchFamily="49" charset="-122"/>
                  <a:ea typeface="楷体_GB2312" pitchFamily="49" charset="-122"/>
                </a:rPr>
                <a:t>文本编辑器</a:t>
              </a:r>
            </a:p>
            <a:p>
              <a:pPr algn="l"/>
              <a:r>
                <a:rPr lang="en-US" altLang="zh-CN" sz="1600" dirty="0">
                  <a:latin typeface="楷体_GB2312" pitchFamily="49" charset="-122"/>
                  <a:ea typeface="楷体_GB2312" pitchFamily="49" charset="-122"/>
                </a:rPr>
                <a:t>gcc</a:t>
              </a:r>
              <a:r>
                <a:rPr lang="zh-CN" altLang="en-US" sz="1600" dirty="0">
                  <a:latin typeface="楷体_GB2312" pitchFamily="49" charset="-122"/>
                  <a:ea typeface="楷体_GB2312" pitchFamily="49" charset="-122"/>
                </a:rPr>
                <a:t>编译</a:t>
              </a:r>
            </a:p>
            <a:p>
              <a:pPr algn="l"/>
              <a:r>
                <a:rPr lang="en-US" altLang="zh-CN" sz="1600" dirty="0">
                  <a:latin typeface="楷体_GB2312" pitchFamily="49" charset="-122"/>
                  <a:ea typeface="楷体_GB2312" pitchFamily="49" charset="-122"/>
                </a:rPr>
                <a:t>gdb</a:t>
              </a:r>
              <a:r>
                <a:rPr lang="zh-CN" altLang="en-US" sz="1600" dirty="0">
                  <a:latin typeface="楷体_GB2312" pitchFamily="49" charset="-122"/>
                  <a:ea typeface="楷体_GB2312" pitchFamily="49" charset="-122"/>
                </a:rPr>
                <a:t>调试</a:t>
              </a:r>
            </a:p>
            <a:p>
              <a:pPr algn="l"/>
              <a:r>
                <a:rPr lang="zh-CN" altLang="en-US" sz="1600" dirty="0">
                  <a:latin typeface="楷体_GB2312" pitchFamily="49" charset="-122"/>
                  <a:ea typeface="楷体_GB2312" pitchFamily="49" charset="-122"/>
                </a:rPr>
                <a:t>使用</a:t>
              </a:r>
              <a:r>
                <a:rPr lang="en-US" altLang="zh-CN" sz="1600" dirty="0">
                  <a:latin typeface="楷体_GB2312" pitchFamily="49" charset="-122"/>
                  <a:ea typeface="楷体_GB2312" pitchFamily="49" charset="-122"/>
                </a:rPr>
                <a:t>make</a:t>
              </a:r>
            </a:p>
          </p:txBody>
        </p:sp>
        <p:sp>
          <p:nvSpPr>
            <p:cNvPr id="189504" name="Line 64"/>
            <p:cNvSpPr>
              <a:spLocks noChangeShapeType="1"/>
            </p:cNvSpPr>
            <p:nvPr/>
          </p:nvSpPr>
          <p:spPr bwMode="auto">
            <a:xfrm>
              <a:off x="4883978" y="4509121"/>
              <a:ext cx="0" cy="576063"/>
            </a:xfrm>
            <a:prstGeom prst="line">
              <a:avLst/>
            </a:prstGeom>
            <a:noFill/>
            <a:ln w="28575">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9" name="Rectangle 44"/>
            <p:cNvSpPr>
              <a:spLocks noChangeArrowheads="1"/>
            </p:cNvSpPr>
            <p:nvPr/>
          </p:nvSpPr>
          <p:spPr bwMode="auto">
            <a:xfrm>
              <a:off x="5654931" y="5085184"/>
              <a:ext cx="1533303" cy="1440159"/>
            </a:xfrm>
            <a:prstGeom prst="rect">
              <a:avLst/>
            </a:prstGeom>
            <a:solidFill>
              <a:schemeClr val="accent2"/>
            </a:solidFill>
            <a:ln w="19050">
              <a:solidFill>
                <a:schemeClr val="tx1"/>
              </a:solidFill>
              <a:miter lim="800000"/>
              <a:headEnd/>
              <a:tailEnd/>
            </a:ln>
          </p:spPr>
          <p:txBody>
            <a:bodyPr wrap="none" anchor="ctr"/>
            <a:lstStyle/>
            <a:p>
              <a:pPr algn="l" eaLnBrk="0" hangingPunct="0"/>
              <a:endParaRPr lang="en-US" altLang="zh-CN" sz="1600" dirty="0">
                <a:solidFill>
                  <a:schemeClr val="bg1"/>
                </a:solidFill>
                <a:ea typeface="楷体_GB2312" pitchFamily="49" charset="-122"/>
              </a:endParaRPr>
            </a:p>
            <a:p>
              <a:pPr algn="l" eaLnBrk="0" hangingPunct="0"/>
              <a:endParaRPr lang="en-US" altLang="zh-CN" sz="1600" dirty="0">
                <a:solidFill>
                  <a:schemeClr val="bg1"/>
                </a:solidFill>
                <a:ea typeface="楷体_GB2312" pitchFamily="49" charset="-122"/>
              </a:endParaRPr>
            </a:p>
            <a:p>
              <a:pPr algn="l" eaLnBrk="0" hangingPunct="0"/>
              <a:r>
                <a:rPr lang="en-US" altLang="zh-CN" sz="1600" dirty="0">
                  <a:ea typeface="楷体_GB2312" pitchFamily="49" charset="-122"/>
                </a:rPr>
                <a:t>TCP/IP</a:t>
              </a:r>
              <a:r>
                <a:rPr lang="zh-CN" altLang="en-US" sz="1600" dirty="0">
                  <a:ea typeface="楷体_GB2312" pitchFamily="49" charset="-122"/>
                </a:rPr>
                <a:t>理论</a:t>
              </a:r>
            </a:p>
            <a:p>
              <a:pPr algn="l" eaLnBrk="0" hangingPunct="0"/>
              <a:r>
                <a:rPr lang="en-US" altLang="zh-CN" sz="1600" dirty="0">
                  <a:ea typeface="楷体_GB2312" pitchFamily="49" charset="-122"/>
                </a:rPr>
                <a:t>Linux</a:t>
              </a:r>
              <a:r>
                <a:rPr lang="zh-CN" altLang="en-US" sz="1600" dirty="0">
                  <a:ea typeface="楷体_GB2312" pitchFamily="49" charset="-122"/>
                </a:rPr>
                <a:t>网络</a:t>
              </a:r>
            </a:p>
            <a:p>
              <a:pPr algn="l" eaLnBrk="0" hangingPunct="0"/>
              <a:r>
                <a:rPr lang="en-US" altLang="zh-CN" sz="1600" dirty="0">
                  <a:ea typeface="楷体_GB2312" pitchFamily="49" charset="-122"/>
                </a:rPr>
                <a:t>DNS</a:t>
              </a:r>
              <a:r>
                <a:rPr lang="zh-CN" altLang="en-US" sz="1600" dirty="0">
                  <a:ea typeface="楷体_GB2312" pitchFamily="49" charset="-122"/>
                </a:rPr>
                <a:t>服务器</a:t>
              </a:r>
            </a:p>
            <a:p>
              <a:pPr algn="l" eaLnBrk="0" hangingPunct="0"/>
              <a:r>
                <a:rPr lang="en-US" altLang="zh-CN" sz="1600" dirty="0">
                  <a:ea typeface="楷体_GB2312" pitchFamily="49" charset="-122"/>
                </a:rPr>
                <a:t>WWW</a:t>
              </a:r>
              <a:r>
                <a:rPr lang="zh-CN" altLang="en-US" sz="1600" dirty="0">
                  <a:ea typeface="楷体_GB2312" pitchFamily="49" charset="-122"/>
                </a:rPr>
                <a:t>服务器</a:t>
              </a:r>
            </a:p>
            <a:p>
              <a:pPr algn="l" eaLnBrk="0" hangingPunct="0"/>
              <a:r>
                <a:rPr lang="en-US" altLang="zh-CN" sz="1600" dirty="0">
                  <a:ea typeface="楷体_GB2312" pitchFamily="49" charset="-122"/>
                </a:rPr>
                <a:t>FTP</a:t>
              </a:r>
              <a:r>
                <a:rPr lang="zh-CN" altLang="en-US" sz="1600" dirty="0">
                  <a:ea typeface="楷体_GB2312" pitchFamily="49" charset="-122"/>
                </a:rPr>
                <a:t>服务器</a:t>
              </a:r>
            </a:p>
            <a:p>
              <a:pPr algn="l"/>
              <a:endParaRPr lang="zh-CN" altLang="en-US" sz="1600" dirty="0">
                <a:solidFill>
                  <a:schemeClr val="bg1"/>
                </a:solidFill>
                <a:latin typeface="楷体_GB2312" pitchFamily="49" charset="-122"/>
                <a:ea typeface="楷体_GB2312" pitchFamily="49" charset="-122"/>
              </a:endParaRPr>
            </a:p>
            <a:p>
              <a:pPr algn="l"/>
              <a:endParaRPr lang="en-US" altLang="zh-CN" sz="1600" dirty="0">
                <a:solidFill>
                  <a:schemeClr val="bg1"/>
                </a:solidFill>
                <a:latin typeface="楷体_GB2312" pitchFamily="49" charset="-122"/>
                <a:ea typeface="楷体_GB2312" pitchFamily="49" charset="-122"/>
              </a:endParaRPr>
            </a:p>
          </p:txBody>
        </p:sp>
        <p:sp>
          <p:nvSpPr>
            <p:cNvPr id="189505" name="Line 65"/>
            <p:cNvSpPr>
              <a:spLocks noChangeShapeType="1"/>
            </p:cNvSpPr>
            <p:nvPr/>
          </p:nvSpPr>
          <p:spPr bwMode="auto">
            <a:xfrm>
              <a:off x="6396146" y="4509122"/>
              <a:ext cx="0" cy="581052"/>
            </a:xfrm>
            <a:prstGeom prst="line">
              <a:avLst/>
            </a:prstGeom>
            <a:noFill/>
            <a:ln w="28575">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0" name="Rectangle 44"/>
            <p:cNvSpPr>
              <a:spLocks noChangeArrowheads="1"/>
            </p:cNvSpPr>
            <p:nvPr/>
          </p:nvSpPr>
          <p:spPr bwMode="auto">
            <a:xfrm>
              <a:off x="7308303" y="5085184"/>
              <a:ext cx="1656185" cy="1440159"/>
            </a:xfrm>
            <a:prstGeom prst="rect">
              <a:avLst/>
            </a:prstGeom>
            <a:solidFill>
              <a:schemeClr val="accent2"/>
            </a:solidFill>
            <a:ln w="19050">
              <a:solidFill>
                <a:schemeClr val="tx1"/>
              </a:solidFill>
              <a:miter lim="800000"/>
              <a:headEnd/>
              <a:tailEnd/>
            </a:ln>
          </p:spPr>
          <p:txBody>
            <a:bodyPr wrap="none" anchor="ctr"/>
            <a:lstStyle/>
            <a:p>
              <a:pPr algn="l" eaLnBrk="0" hangingPunct="0"/>
              <a:endParaRPr lang="en-US" altLang="zh-CN" sz="1600" dirty="0">
                <a:solidFill>
                  <a:schemeClr val="bg1"/>
                </a:solidFill>
                <a:ea typeface="楷体_GB2312" pitchFamily="49" charset="-122"/>
              </a:endParaRPr>
            </a:p>
            <a:p>
              <a:pPr algn="l" eaLnBrk="0" hangingPunct="0"/>
              <a:endParaRPr lang="en-US" altLang="zh-CN" sz="1600" dirty="0">
                <a:solidFill>
                  <a:schemeClr val="bg1"/>
                </a:solidFill>
                <a:ea typeface="楷体_GB2312" pitchFamily="49" charset="-122"/>
              </a:endParaRPr>
            </a:p>
            <a:p>
              <a:pPr algn="l" eaLnBrk="0" hangingPunct="0"/>
              <a:r>
                <a:rPr lang="zh-CN" altLang="en-US" sz="1600" dirty="0">
                  <a:ea typeface="楷体_GB2312" pitchFamily="49" charset="-122"/>
                </a:rPr>
                <a:t>创建</a:t>
              </a:r>
              <a:r>
                <a:rPr lang="en-US" altLang="zh-CN" sz="1600" dirty="0">
                  <a:ea typeface="楷体_GB2312" pitchFamily="49" charset="-122"/>
                </a:rPr>
                <a:t>Shell</a:t>
              </a:r>
              <a:r>
                <a:rPr lang="zh-CN" altLang="en-US" sz="1600" dirty="0">
                  <a:ea typeface="楷体_GB2312" pitchFamily="49" charset="-122"/>
                </a:rPr>
                <a:t>程序</a:t>
              </a:r>
            </a:p>
            <a:p>
              <a:pPr algn="l" eaLnBrk="0" hangingPunct="0"/>
              <a:r>
                <a:rPr lang="en-US" altLang="zh-CN" sz="1600" dirty="0">
                  <a:ea typeface="楷体_GB2312" pitchFamily="49" charset="-122"/>
                </a:rPr>
                <a:t>Shell </a:t>
              </a:r>
              <a:r>
                <a:rPr lang="zh-CN" altLang="en-US" sz="1600" dirty="0">
                  <a:ea typeface="楷体_GB2312" pitchFamily="49" charset="-122"/>
                </a:rPr>
                <a:t>变量</a:t>
              </a:r>
            </a:p>
            <a:p>
              <a:pPr algn="l" eaLnBrk="0" hangingPunct="0"/>
              <a:r>
                <a:rPr lang="en-US" altLang="zh-CN" sz="1600" dirty="0">
                  <a:ea typeface="楷体_GB2312" pitchFamily="49" charset="-122"/>
                </a:rPr>
                <a:t>Shell </a:t>
              </a:r>
              <a:r>
                <a:rPr lang="zh-CN" altLang="en-US" sz="1600" dirty="0">
                  <a:ea typeface="楷体_GB2312" pitchFamily="49" charset="-122"/>
                </a:rPr>
                <a:t>表达式</a:t>
              </a:r>
            </a:p>
            <a:p>
              <a:pPr algn="l" eaLnBrk="0" hangingPunct="0"/>
              <a:r>
                <a:rPr lang="en-US" altLang="zh-CN" sz="1600" dirty="0">
                  <a:ea typeface="楷体_GB2312" pitchFamily="49" charset="-122"/>
                </a:rPr>
                <a:t>Shell</a:t>
              </a:r>
              <a:r>
                <a:rPr lang="zh-CN" altLang="en-US" sz="1600" dirty="0">
                  <a:ea typeface="楷体_GB2312" pitchFamily="49" charset="-122"/>
                </a:rPr>
                <a:t>的流程控制</a:t>
              </a:r>
            </a:p>
            <a:p>
              <a:pPr algn="l" eaLnBrk="0" hangingPunct="0"/>
              <a:r>
                <a:rPr lang="en-US" altLang="zh-CN" sz="1600" dirty="0">
                  <a:ea typeface="楷体_GB2312" pitchFamily="49" charset="-122"/>
                </a:rPr>
                <a:t>Shell</a:t>
              </a:r>
              <a:r>
                <a:rPr lang="zh-CN" altLang="en-US" sz="1600" dirty="0">
                  <a:ea typeface="楷体_GB2312" pitchFamily="49" charset="-122"/>
                </a:rPr>
                <a:t>函数</a:t>
              </a:r>
            </a:p>
            <a:p>
              <a:pPr algn="l"/>
              <a:endParaRPr lang="zh-CN" altLang="en-US" sz="1600" dirty="0">
                <a:solidFill>
                  <a:schemeClr val="bg1"/>
                </a:solidFill>
                <a:latin typeface="楷体_GB2312" pitchFamily="49" charset="-122"/>
                <a:ea typeface="楷体_GB2312" pitchFamily="49" charset="-122"/>
              </a:endParaRPr>
            </a:p>
            <a:p>
              <a:pPr algn="l"/>
              <a:endParaRPr lang="en-US" altLang="zh-CN" sz="1600" dirty="0">
                <a:solidFill>
                  <a:schemeClr val="bg1"/>
                </a:solidFill>
                <a:latin typeface="楷体_GB2312" pitchFamily="49" charset="-122"/>
                <a:ea typeface="楷体_GB2312" pitchFamily="49" charset="-122"/>
              </a:endParaRPr>
            </a:p>
          </p:txBody>
        </p:sp>
        <p:sp>
          <p:nvSpPr>
            <p:cNvPr id="2" name="Line 61"/>
            <p:cNvSpPr>
              <a:spLocks noChangeShapeType="1"/>
            </p:cNvSpPr>
            <p:nvPr/>
          </p:nvSpPr>
          <p:spPr bwMode="auto">
            <a:xfrm>
              <a:off x="1331479" y="4509121"/>
              <a:ext cx="161" cy="576064"/>
            </a:xfrm>
            <a:prstGeom prst="line">
              <a:avLst/>
            </a:prstGeom>
            <a:noFill/>
            <a:ln w="28575">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9503" name="Line 63"/>
            <p:cNvSpPr>
              <a:spLocks noChangeShapeType="1"/>
            </p:cNvSpPr>
            <p:nvPr/>
          </p:nvSpPr>
          <p:spPr bwMode="auto">
            <a:xfrm>
              <a:off x="3204146" y="4481885"/>
              <a:ext cx="0" cy="576460"/>
            </a:xfrm>
            <a:prstGeom prst="line">
              <a:avLst/>
            </a:prstGeom>
            <a:noFill/>
            <a:ln w="28575">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Tree>
    <p:extLst>
      <p:ext uri="{BB962C8B-B14F-4D97-AF65-F5344CB8AC3E}">
        <p14:creationId xmlns:p14="http://schemas.microsoft.com/office/powerpoint/2010/main" val="243324901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9506"/>
                                        </p:tgtEl>
                                        <p:attrNameLst>
                                          <p:attrName>style.visibility</p:attrName>
                                        </p:attrNameLst>
                                      </p:cBhvr>
                                      <p:to>
                                        <p:strVal val="visible"/>
                                      </p:to>
                                    </p:set>
                                    <p:anim calcmode="lin" valueType="num">
                                      <p:cBhvr additive="base">
                                        <p:cTn id="7" dur="500" fill="hold"/>
                                        <p:tgtEl>
                                          <p:spTgt spid="189506"/>
                                        </p:tgtEl>
                                        <p:attrNameLst>
                                          <p:attrName>ppt_x</p:attrName>
                                        </p:attrNameLst>
                                      </p:cBhvr>
                                      <p:tavLst>
                                        <p:tav tm="0">
                                          <p:val>
                                            <p:strVal val="#ppt_x"/>
                                          </p:val>
                                        </p:tav>
                                        <p:tav tm="100000">
                                          <p:val>
                                            <p:strVal val="#ppt_x"/>
                                          </p:val>
                                        </p:tav>
                                      </p:tavLst>
                                    </p:anim>
                                    <p:anim calcmode="lin" valueType="num">
                                      <p:cBhvr additive="base">
                                        <p:cTn id="8" dur="500" fill="hold"/>
                                        <p:tgtEl>
                                          <p:spTgt spid="18950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50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3"/>
          <p:cNvSpPr txBox="1">
            <a:spLocks noChangeArrowheads="1"/>
          </p:cNvSpPr>
          <p:nvPr/>
        </p:nvSpPr>
        <p:spPr bwMode="auto">
          <a:xfrm>
            <a:off x="2207568" y="589343"/>
            <a:ext cx="675454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4400" dirty="0">
                <a:latin typeface="+mj-lt"/>
                <a:ea typeface="+mj-ea"/>
                <a:cs typeface="+mj-cs"/>
              </a:rPr>
              <a:t>学习方法</a:t>
            </a:r>
          </a:p>
        </p:txBody>
      </p:sp>
      <p:sp>
        <p:nvSpPr>
          <p:cNvPr id="12292" name="Text Box 4"/>
          <p:cNvSpPr txBox="1">
            <a:spLocks noChangeArrowheads="1"/>
          </p:cNvSpPr>
          <p:nvPr/>
        </p:nvSpPr>
        <p:spPr bwMode="auto">
          <a:xfrm>
            <a:off x="1487488" y="1554929"/>
            <a:ext cx="9433048" cy="3748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571500" indent="-571500" algn="l" eaLnBrk="1" hangingPunct="1">
              <a:lnSpc>
                <a:spcPct val="150000"/>
              </a:lnSpc>
              <a:buClr>
                <a:srgbClr val="002060"/>
              </a:buClr>
              <a:buSzPct val="70000"/>
              <a:buFont typeface="Wingdings" panose="05000000000000000000" pitchFamily="2" charset="2"/>
              <a:buChar char="l"/>
            </a:pPr>
            <a:r>
              <a:rPr lang="zh-CN" altLang="en-US" sz="3200" dirty="0">
                <a:latin typeface="黑体" pitchFamily="2" charset="-122"/>
                <a:ea typeface="+mn-ea"/>
              </a:rPr>
              <a:t>课堂听老师讲授为主；</a:t>
            </a:r>
            <a:endParaRPr lang="en-US" altLang="zh-CN" sz="3200" dirty="0">
              <a:latin typeface="黑体" pitchFamily="2" charset="-122"/>
              <a:ea typeface="+mn-ea"/>
            </a:endParaRPr>
          </a:p>
          <a:p>
            <a:pPr marL="571500" indent="-571500" algn="l" eaLnBrk="1" hangingPunct="1">
              <a:lnSpc>
                <a:spcPct val="150000"/>
              </a:lnSpc>
              <a:buClr>
                <a:srgbClr val="002060"/>
              </a:buClr>
              <a:buSzPct val="70000"/>
              <a:buFont typeface="Wingdings" panose="05000000000000000000" pitchFamily="2" charset="2"/>
              <a:buChar char="l"/>
            </a:pPr>
            <a:r>
              <a:rPr lang="zh-CN" altLang="en-US" sz="3200" dirty="0">
                <a:latin typeface="黑体" pitchFamily="2" charset="-122"/>
                <a:ea typeface="+mn-ea"/>
              </a:rPr>
              <a:t>穿插课堂讨论和课堂小作业；</a:t>
            </a:r>
            <a:endParaRPr lang="en-US" altLang="zh-CN" sz="3200" dirty="0">
              <a:latin typeface="黑体" pitchFamily="2" charset="-122"/>
              <a:ea typeface="+mn-ea"/>
            </a:endParaRPr>
          </a:p>
          <a:p>
            <a:pPr marL="571500" indent="-571500" algn="l" eaLnBrk="1" hangingPunct="1">
              <a:lnSpc>
                <a:spcPct val="150000"/>
              </a:lnSpc>
              <a:buClr>
                <a:srgbClr val="002060"/>
              </a:buClr>
              <a:buSzPct val="70000"/>
              <a:buFont typeface="Wingdings" panose="05000000000000000000" pitchFamily="2" charset="2"/>
              <a:buChar char="l"/>
            </a:pPr>
            <a:r>
              <a:rPr lang="zh-CN" altLang="en-US" sz="3200" dirty="0">
                <a:latin typeface="黑体" pitchFamily="2" charset="-122"/>
                <a:ea typeface="+mn-ea"/>
              </a:rPr>
              <a:t>上机实验；</a:t>
            </a:r>
            <a:endParaRPr lang="en-US" altLang="zh-CN" sz="3200" dirty="0">
              <a:latin typeface="黑体" pitchFamily="2" charset="-122"/>
              <a:ea typeface="+mn-ea"/>
            </a:endParaRPr>
          </a:p>
          <a:p>
            <a:pPr marL="571500" indent="-571500" algn="l" eaLnBrk="1" hangingPunct="1">
              <a:lnSpc>
                <a:spcPct val="150000"/>
              </a:lnSpc>
              <a:buClr>
                <a:srgbClr val="002060"/>
              </a:buClr>
              <a:buSzPct val="70000"/>
              <a:buFont typeface="Wingdings" panose="05000000000000000000" pitchFamily="2" charset="2"/>
              <a:buChar char="l"/>
            </a:pPr>
            <a:r>
              <a:rPr lang="zh-CN" altLang="en-US" sz="3200" dirty="0">
                <a:latin typeface="黑体" pitchFamily="2" charset="-122"/>
                <a:ea typeface="+mn-ea"/>
              </a:rPr>
              <a:t>从</a:t>
            </a:r>
            <a:r>
              <a:rPr lang="en-US" altLang="zh-CN" sz="2600" dirty="0">
                <a:latin typeface="+mn-lt"/>
                <a:ea typeface="+mn-ea"/>
              </a:rPr>
              <a:t>Windows</a:t>
            </a:r>
            <a:r>
              <a:rPr lang="zh-CN" altLang="en-US" sz="3200" dirty="0">
                <a:latin typeface="黑体" pitchFamily="2" charset="-122"/>
                <a:ea typeface="+mn-ea"/>
              </a:rPr>
              <a:t>系统的思维模式中跳出来，类比联想。</a:t>
            </a:r>
            <a:endParaRPr lang="en-US" altLang="zh-CN" sz="3200" dirty="0">
              <a:latin typeface="黑体" pitchFamily="2" charset="-122"/>
              <a:ea typeface="+mn-ea"/>
            </a:endParaRPr>
          </a:p>
          <a:p>
            <a:pPr marL="571500" indent="-571500" algn="l" eaLnBrk="1" hangingPunct="1">
              <a:lnSpc>
                <a:spcPct val="150000"/>
              </a:lnSpc>
              <a:buClr>
                <a:schemeClr val="accent1"/>
              </a:buClr>
              <a:buFont typeface="Wingdings" panose="05000000000000000000" pitchFamily="2" charset="2"/>
              <a:buChar char="n"/>
            </a:pPr>
            <a:endParaRPr lang="zh-CN" altLang="en-US" sz="3600" dirty="0">
              <a:latin typeface="黑体" pitchFamily="2" charset="-122"/>
              <a:ea typeface="+mn-ea"/>
            </a:endParaRPr>
          </a:p>
        </p:txBody>
      </p:sp>
      <p:sp>
        <p:nvSpPr>
          <p:cNvPr id="5" name="灯片编号占位符 4"/>
          <p:cNvSpPr>
            <a:spLocks noGrp="1"/>
          </p:cNvSpPr>
          <p:nvPr>
            <p:ph type="sldNum" sz="quarter" idx="11"/>
          </p:nvPr>
        </p:nvSpPr>
        <p:spPr>
          <a:xfrm>
            <a:off x="5137212" y="5883936"/>
            <a:ext cx="2133600" cy="457200"/>
          </a:xfrm>
          <a:noFill/>
        </p:spPr>
        <p:txBody>
          <a:bodyPr/>
          <a:lstStyle/>
          <a:p>
            <a:fld id="{B31B2E18-B838-46A5-BF0E-F082CD086CDF}" type="slidenum">
              <a:rPr lang="en-US" altLang="zh-CN" smtClean="0"/>
              <a:pPr/>
              <a:t>7</a:t>
            </a:fld>
            <a:endParaRPr lang="en-US" altLang="zh-CN" dirty="0"/>
          </a:p>
        </p:txBody>
      </p:sp>
    </p:spTree>
    <p:extLst>
      <p:ext uri="{BB962C8B-B14F-4D97-AF65-F5344CB8AC3E}">
        <p14:creationId xmlns:p14="http://schemas.microsoft.com/office/powerpoint/2010/main" val="1088650800"/>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ctrTitle"/>
          </p:nvPr>
        </p:nvSpPr>
        <p:spPr>
          <a:xfrm>
            <a:off x="1992338" y="692696"/>
            <a:ext cx="6911975" cy="1846262"/>
          </a:xfrm>
        </p:spPr>
        <p:txBody>
          <a:bodyPr/>
          <a:lstStyle/>
          <a:p>
            <a:pPr algn="ctr" eaLnBrk="1" hangingPunct="1"/>
            <a:r>
              <a:rPr lang="zh-CN" altLang="en-US" sz="6600" dirty="0">
                <a:solidFill>
                  <a:schemeClr val="bg1"/>
                </a:solidFill>
              </a:rPr>
              <a:t>第</a:t>
            </a:r>
            <a:r>
              <a:rPr lang="en-US" altLang="zh-CN" sz="6600" dirty="0">
                <a:solidFill>
                  <a:schemeClr val="bg1"/>
                </a:solidFill>
              </a:rPr>
              <a:t>1</a:t>
            </a:r>
            <a:r>
              <a:rPr lang="zh-CN" altLang="en-US" sz="6600" dirty="0">
                <a:solidFill>
                  <a:schemeClr val="bg1"/>
                </a:solidFill>
              </a:rPr>
              <a:t>章</a:t>
            </a:r>
          </a:p>
        </p:txBody>
      </p:sp>
      <p:sp>
        <p:nvSpPr>
          <p:cNvPr id="18436" name="Rectangle 3"/>
          <p:cNvSpPr>
            <a:spLocks noGrp="1" noChangeArrowheads="1"/>
          </p:cNvSpPr>
          <p:nvPr>
            <p:ph type="subTitle" idx="1"/>
          </p:nvPr>
        </p:nvSpPr>
        <p:spPr>
          <a:xfrm>
            <a:off x="2506663" y="3139728"/>
            <a:ext cx="6248400" cy="2449512"/>
          </a:xfrm>
        </p:spPr>
        <p:txBody>
          <a:bodyPr/>
          <a:lstStyle/>
          <a:p>
            <a:pPr algn="ctr" eaLnBrk="1" hangingPunct="1"/>
            <a:r>
              <a:rPr lang="en-US" altLang="zh-CN" sz="6600" dirty="0">
                <a:solidFill>
                  <a:schemeClr val="bg1"/>
                </a:solidFill>
              </a:rPr>
              <a:t>Linux</a:t>
            </a:r>
            <a:r>
              <a:rPr lang="zh-CN" altLang="en-US" sz="6600" dirty="0">
                <a:solidFill>
                  <a:schemeClr val="bg1"/>
                </a:solidFill>
              </a:rPr>
              <a:t>概述</a:t>
            </a:r>
            <a:br>
              <a:rPr lang="en-US" altLang="zh-CN" sz="5400" dirty="0"/>
            </a:br>
            <a:endParaRPr lang="en-US" altLang="zh-CN" sz="5400" dirty="0">
              <a:latin typeface="Times New Roman" pitchFamily="18" charset="0"/>
            </a:endParaRPr>
          </a:p>
          <a:p>
            <a:pPr algn="ctr" eaLnBrk="1" hangingPunct="1"/>
            <a:endParaRPr lang="en-US" altLang="zh-CN" sz="3000" dirty="0">
              <a:latin typeface="Times New Roman" pitchFamily="18" charset="0"/>
            </a:endParaRPr>
          </a:p>
        </p:txBody>
      </p:sp>
    </p:spTree>
    <p:extLst>
      <p:ext uri="{BB962C8B-B14F-4D97-AF65-F5344CB8AC3E}">
        <p14:creationId xmlns:p14="http://schemas.microsoft.com/office/powerpoint/2010/main" val="2202371653"/>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灯片编号占位符 4"/>
          <p:cNvSpPr>
            <a:spLocks noGrp="1"/>
          </p:cNvSpPr>
          <p:nvPr>
            <p:ph type="sldNum" sz="quarter" idx="11"/>
          </p:nvPr>
        </p:nvSpPr>
        <p:spPr>
          <a:noFill/>
        </p:spPr>
        <p:txBody>
          <a:bodyPr/>
          <a:lstStyle/>
          <a:p>
            <a:fld id="{7000AA29-53BB-4ABB-95DC-6E9302FEE583}" type="slidenum">
              <a:rPr lang="en-US" altLang="zh-CN" smtClean="0"/>
              <a:pPr/>
              <a:t>9</a:t>
            </a:fld>
            <a:endParaRPr lang="en-US" altLang="zh-CN" dirty="0"/>
          </a:p>
        </p:txBody>
      </p:sp>
      <p:sp>
        <p:nvSpPr>
          <p:cNvPr id="25604" name="Rectangle 2"/>
          <p:cNvSpPr>
            <a:spLocks noGrp="1" noChangeArrowheads="1"/>
          </p:cNvSpPr>
          <p:nvPr>
            <p:ph type="title"/>
          </p:nvPr>
        </p:nvSpPr>
        <p:spPr>
          <a:xfrm>
            <a:off x="2063552" y="568900"/>
            <a:ext cx="7859712" cy="858838"/>
          </a:xfrm>
        </p:spPr>
        <p:txBody>
          <a:bodyPr/>
          <a:lstStyle/>
          <a:p>
            <a:pPr algn="ctr" eaLnBrk="1" hangingPunct="1"/>
            <a:r>
              <a:rPr lang="zh-CN" altLang="en-US" dirty="0"/>
              <a:t>本章内容</a:t>
            </a:r>
          </a:p>
        </p:txBody>
      </p:sp>
      <p:sp>
        <p:nvSpPr>
          <p:cNvPr id="328707" name="Rectangle 3"/>
          <p:cNvSpPr>
            <a:spLocks noGrp="1" noChangeArrowheads="1"/>
          </p:cNvSpPr>
          <p:nvPr>
            <p:ph type="body" idx="1"/>
          </p:nvPr>
        </p:nvSpPr>
        <p:spPr>
          <a:xfrm>
            <a:off x="1664493" y="1772345"/>
            <a:ext cx="7859713" cy="3889375"/>
          </a:xfrm>
        </p:spPr>
        <p:txBody>
          <a:bodyPr/>
          <a:lstStyle/>
          <a:p>
            <a:pPr algn="just" eaLnBrk="1" hangingPunct="1">
              <a:spcBef>
                <a:spcPct val="50000"/>
              </a:spcBef>
              <a:spcAft>
                <a:spcPct val="50000"/>
              </a:spcAft>
            </a:pPr>
            <a:r>
              <a:rPr lang="en-US" altLang="zh-CN" sz="3200" dirty="0"/>
              <a:t>Linux</a:t>
            </a:r>
            <a:r>
              <a:rPr lang="zh-CN" altLang="en-US" sz="3200" dirty="0"/>
              <a:t>发展历史</a:t>
            </a:r>
            <a:endParaRPr lang="en-US" altLang="zh-CN" sz="3200" dirty="0"/>
          </a:p>
          <a:p>
            <a:pPr algn="just" eaLnBrk="1" hangingPunct="1">
              <a:spcBef>
                <a:spcPct val="50000"/>
              </a:spcBef>
              <a:spcAft>
                <a:spcPct val="50000"/>
              </a:spcAft>
            </a:pPr>
            <a:r>
              <a:rPr lang="en-US" altLang="zh-CN" sz="3200" dirty="0"/>
              <a:t>Linux</a:t>
            </a:r>
            <a:r>
              <a:rPr lang="zh-CN" altLang="en-US" sz="3200" dirty="0"/>
              <a:t>操作系统的特征</a:t>
            </a:r>
            <a:endParaRPr lang="en-US" altLang="zh-CN" sz="3200" dirty="0"/>
          </a:p>
          <a:p>
            <a:pPr algn="just" eaLnBrk="1" hangingPunct="1">
              <a:spcBef>
                <a:spcPct val="50000"/>
              </a:spcBef>
              <a:spcAft>
                <a:spcPct val="50000"/>
              </a:spcAft>
            </a:pPr>
            <a:r>
              <a:rPr lang="en-US" altLang="zh-CN" sz="3200" dirty="0"/>
              <a:t>Linux</a:t>
            </a:r>
            <a:r>
              <a:rPr lang="zh-CN" altLang="en-US" sz="3200" dirty="0"/>
              <a:t>版本</a:t>
            </a:r>
            <a:endParaRPr lang="en-US" altLang="zh-CN" sz="3200" dirty="0"/>
          </a:p>
          <a:p>
            <a:pPr algn="just" eaLnBrk="1" hangingPunct="1">
              <a:spcBef>
                <a:spcPct val="50000"/>
              </a:spcBef>
              <a:spcAft>
                <a:spcPct val="50000"/>
              </a:spcAft>
            </a:pPr>
            <a:r>
              <a:rPr lang="en-US" altLang="zh-CN" sz="3200" dirty="0"/>
              <a:t>Linux</a:t>
            </a:r>
            <a:r>
              <a:rPr lang="zh-CN" altLang="en-US" sz="3200" dirty="0"/>
              <a:t>现状与前景</a:t>
            </a:r>
          </a:p>
        </p:txBody>
      </p:sp>
      <p:pic>
        <p:nvPicPr>
          <p:cNvPr id="25606" name="Picture 4" descr="MCj02872880000[1]"/>
          <p:cNvPicPr>
            <a:picLocks noChangeAspect="1" noChangeArrowheads="1"/>
          </p:cNvPicPr>
          <p:nvPr/>
        </p:nvPicPr>
        <p:blipFill>
          <a:blip r:embed="rId2"/>
          <a:srcRect/>
          <a:stretch>
            <a:fillRect/>
          </a:stretch>
        </p:blipFill>
        <p:spPr bwMode="auto">
          <a:xfrm>
            <a:off x="8184232" y="3717033"/>
            <a:ext cx="1922462" cy="2160587"/>
          </a:xfrm>
          <a:prstGeom prst="rect">
            <a:avLst/>
          </a:prstGeom>
          <a:noFill/>
          <a:ln w="9525">
            <a:noFill/>
            <a:miter lim="800000"/>
            <a:headEnd/>
            <a:tailEnd/>
          </a:ln>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11424" y="584836"/>
            <a:ext cx="10268024" cy="858837"/>
          </a:xfrm>
        </p:spPr>
        <p:txBody>
          <a:bodyPr/>
          <a:lstStyle/>
          <a:p>
            <a:pPr algn="ctr" eaLnBrk="1" hangingPunct="1"/>
            <a:r>
              <a:rPr lang="en-US" altLang="zh-CN" dirty="0">
                <a:latin typeface="+mn-lt"/>
              </a:rPr>
              <a:t>Linux</a:t>
            </a:r>
            <a:r>
              <a:rPr lang="en-US" altLang="zh-CN" dirty="0">
                <a:latin typeface="+mj-ea"/>
              </a:rPr>
              <a:t> </a:t>
            </a:r>
            <a:r>
              <a:rPr lang="zh-CN" altLang="en-US" dirty="0">
                <a:latin typeface="+mj-ea"/>
              </a:rPr>
              <a:t>标志</a:t>
            </a:r>
            <a:endParaRPr lang="en-US" altLang="zh-CN" dirty="0">
              <a:latin typeface="+mj-ea"/>
            </a:endParaRPr>
          </a:p>
        </p:txBody>
      </p:sp>
      <p:pic>
        <p:nvPicPr>
          <p:cNvPr id="92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8040" y="1426771"/>
            <a:ext cx="3744416" cy="4335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4"/>
          <p:cNvSpPr>
            <a:spLocks noGrp="1"/>
          </p:cNvSpPr>
          <p:nvPr>
            <p:ph type="sldNum" sz="quarter" idx="11"/>
          </p:nvPr>
        </p:nvSpPr>
        <p:spPr>
          <a:xfrm>
            <a:off x="5083448" y="5818957"/>
            <a:ext cx="2133600" cy="457200"/>
          </a:xfrm>
          <a:noFill/>
        </p:spPr>
        <p:txBody>
          <a:bodyPr/>
          <a:lstStyle/>
          <a:p>
            <a:fld id="{7000AA29-53BB-4ABB-95DC-6E9302FEE583}" type="slidenum">
              <a:rPr lang="en-US" altLang="zh-CN" smtClean="0"/>
              <a:pPr/>
              <a:t>10</a:t>
            </a:fld>
            <a:endParaRPr lang="en-US" altLang="zh-CN" dirty="0"/>
          </a:p>
        </p:txBody>
      </p:sp>
    </p:spTree>
    <p:extLst>
      <p:ext uri="{BB962C8B-B14F-4D97-AF65-F5344CB8AC3E}">
        <p14:creationId xmlns:p14="http://schemas.microsoft.com/office/powerpoint/2010/main" val="14998947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barn(inVertical)">
                                      <p:cBhvr>
                                        <p:cTn id="7" dur="500"/>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a:r>
              <a:rPr lang="en-US" altLang="zh-CN" dirty="0"/>
              <a:t>1.1 Linux</a:t>
            </a:r>
            <a:r>
              <a:rPr lang="zh-CN" altLang="en-US" dirty="0">
                <a:latin typeface="+mj-ea"/>
              </a:rPr>
              <a:t>的发展史 </a:t>
            </a:r>
          </a:p>
        </p:txBody>
      </p:sp>
      <p:sp>
        <p:nvSpPr>
          <p:cNvPr id="27651" name="Rectangle 3"/>
          <p:cNvSpPr>
            <a:spLocks noGrp="1" noChangeArrowheads="1"/>
          </p:cNvSpPr>
          <p:nvPr>
            <p:ph type="body" idx="1"/>
          </p:nvPr>
        </p:nvSpPr>
        <p:spPr>
          <a:xfrm>
            <a:off x="1121048" y="1700808"/>
            <a:ext cx="10058400" cy="4192880"/>
          </a:xfrm>
        </p:spPr>
        <p:txBody>
          <a:bodyPr/>
          <a:lstStyle/>
          <a:p>
            <a:r>
              <a:rPr lang="en-US" altLang="zh-CN" sz="2400" dirty="0"/>
              <a:t>Linux</a:t>
            </a:r>
            <a:r>
              <a:rPr lang="zh-CN" altLang="en-US" sz="2400" dirty="0"/>
              <a:t>是当前最具有发展潜力的计算机操作系统之一，</a:t>
            </a:r>
            <a:r>
              <a:rPr lang="en-US" altLang="zh-CN" sz="2400" dirty="0"/>
              <a:t>Linux</a:t>
            </a:r>
            <a:r>
              <a:rPr lang="zh-CN" altLang="en-US" sz="2400" dirty="0"/>
              <a:t>的出现对计算机世界产生了重要的影响，首先来回顾一下操作系统发展史上的几个重要阶段。</a:t>
            </a:r>
            <a:endParaRPr lang="en-US" altLang="zh-CN" sz="2400" dirty="0"/>
          </a:p>
          <a:p>
            <a:pPr marL="0" indent="0">
              <a:buNone/>
            </a:pPr>
            <a:r>
              <a:rPr lang="en-US" altLang="zh-CN" sz="2400" dirty="0"/>
              <a:t>1. </a:t>
            </a:r>
            <a:r>
              <a:rPr lang="en-US" altLang="zh-CN" sz="2400" dirty="0">
                <a:solidFill>
                  <a:srgbClr val="0000CC"/>
                </a:solidFill>
              </a:rPr>
              <a:t>UNIX</a:t>
            </a:r>
            <a:r>
              <a:rPr lang="zh-CN" altLang="en-US" sz="2400" dirty="0">
                <a:solidFill>
                  <a:srgbClr val="0000CC"/>
                </a:solidFill>
              </a:rPr>
              <a:t>操作系统</a:t>
            </a:r>
            <a:endParaRPr lang="en-US" altLang="zh-CN" sz="2400" dirty="0">
              <a:solidFill>
                <a:srgbClr val="0000CC"/>
              </a:solidFill>
            </a:endParaRPr>
          </a:p>
          <a:p>
            <a:pPr marL="0" indent="0">
              <a:buNone/>
            </a:pPr>
            <a:r>
              <a:rPr lang="en-US" altLang="zh-CN" sz="2400" dirty="0">
                <a:solidFill>
                  <a:srgbClr val="0000CC"/>
                </a:solidFill>
              </a:rPr>
              <a:t>      </a:t>
            </a:r>
            <a:r>
              <a:rPr lang="en-US" altLang="zh-CN" sz="2400" dirty="0"/>
              <a:t>UNIX</a:t>
            </a:r>
            <a:r>
              <a:rPr lang="zh-CN" altLang="en-US" sz="2400" dirty="0"/>
              <a:t>操作系统是一个真正意义上的多用户多任务操作系统，支持多种处理器架构。</a:t>
            </a:r>
            <a:r>
              <a:rPr lang="en-US" altLang="zh-CN" sz="2400" dirty="0"/>
              <a:t>1969</a:t>
            </a:r>
            <a:r>
              <a:rPr lang="zh-CN" altLang="en-US" sz="2400" dirty="0"/>
              <a:t>年由美国贝尔实验室</a:t>
            </a:r>
            <a:r>
              <a:rPr lang="en-US" altLang="zh-CN" sz="2400" dirty="0"/>
              <a:t>Ken Thompson</a:t>
            </a:r>
            <a:r>
              <a:rPr lang="zh-CN" altLang="en-US" sz="2400" dirty="0"/>
              <a:t>、</a:t>
            </a:r>
            <a:r>
              <a:rPr lang="en-US" altLang="zh-CN" sz="2400" dirty="0"/>
              <a:t>Dennis Ritchie</a:t>
            </a:r>
            <a:r>
              <a:rPr lang="zh-CN" altLang="en-US" sz="2400" dirty="0"/>
              <a:t>和</a:t>
            </a:r>
            <a:r>
              <a:rPr lang="en-US" altLang="zh-CN" sz="2400" dirty="0"/>
              <a:t>Douglas McIlroy</a:t>
            </a:r>
            <a:r>
              <a:rPr lang="zh-CN" altLang="en-US" sz="2400" dirty="0"/>
              <a:t>共同开发。</a:t>
            </a:r>
            <a:r>
              <a:rPr lang="en-US" altLang="zh-CN" sz="2400" dirty="0"/>
              <a:t>UNIX</a:t>
            </a:r>
            <a:r>
              <a:rPr lang="zh-CN" altLang="en-US" sz="2400" dirty="0"/>
              <a:t>的商业版本包括</a:t>
            </a:r>
            <a:r>
              <a:rPr lang="en-US" altLang="zh-CN" sz="2400" dirty="0"/>
              <a:t>Oracle</a:t>
            </a:r>
            <a:r>
              <a:rPr lang="zh-CN" altLang="en-US" sz="2400" dirty="0"/>
              <a:t> </a:t>
            </a:r>
            <a:r>
              <a:rPr lang="en-US" altLang="zh-CN" sz="2400" dirty="0"/>
              <a:t>Solaris</a:t>
            </a:r>
            <a:r>
              <a:rPr lang="zh-CN" altLang="en-US" sz="2400" dirty="0"/>
              <a:t>、</a:t>
            </a:r>
            <a:r>
              <a:rPr lang="en-US" altLang="zh-CN" sz="2400" dirty="0"/>
              <a:t>IBM</a:t>
            </a:r>
            <a:r>
              <a:rPr lang="zh-CN" altLang="en-US" sz="2400" dirty="0"/>
              <a:t> </a:t>
            </a:r>
            <a:r>
              <a:rPr lang="en-US" altLang="zh-CN" sz="2400" dirty="0"/>
              <a:t>AIX</a:t>
            </a:r>
            <a:r>
              <a:rPr lang="zh-CN" altLang="en-US" sz="2400" dirty="0"/>
              <a:t>、</a:t>
            </a:r>
            <a:r>
              <a:rPr lang="en-US" altLang="zh-CN" sz="2400" dirty="0"/>
              <a:t>HP-UX</a:t>
            </a:r>
            <a:r>
              <a:rPr lang="zh-CN" altLang="en-US" sz="2400" dirty="0"/>
              <a:t>、</a:t>
            </a:r>
            <a:r>
              <a:rPr lang="en-US" altLang="zh-CN" sz="2400" dirty="0"/>
              <a:t>UNIX V6</a:t>
            </a:r>
            <a:r>
              <a:rPr lang="zh-CN" altLang="en-US" sz="2400" dirty="0"/>
              <a:t>、</a:t>
            </a:r>
            <a:r>
              <a:rPr lang="en-US" altLang="zh-CN" sz="2400" dirty="0"/>
              <a:t>BSD UNIX</a:t>
            </a:r>
            <a:r>
              <a:rPr lang="zh-CN" altLang="en-US" sz="2400" dirty="0"/>
              <a:t>、</a:t>
            </a:r>
            <a:r>
              <a:rPr lang="en-US" altLang="zh-CN" sz="2400" dirty="0" err="1"/>
              <a:t>Xenix</a:t>
            </a:r>
            <a:r>
              <a:rPr lang="en-US" altLang="zh-CN" sz="2400" dirty="0"/>
              <a:t>(x86)</a:t>
            </a:r>
            <a:r>
              <a:rPr lang="zh-CN" altLang="en-US" sz="2400" dirty="0"/>
              <a:t>等。</a:t>
            </a:r>
            <a:r>
              <a:rPr lang="en-US" altLang="zh-CN" sz="2400" dirty="0"/>
              <a:t>UNIX</a:t>
            </a:r>
            <a:r>
              <a:rPr lang="zh-CN" altLang="en-US" sz="2400" dirty="0"/>
              <a:t>性能可靠且运行稳定，广泛应用于银行、航空、金融等领域。价格昂贵。</a:t>
            </a:r>
            <a:endParaRPr lang="en-US" altLang="zh-CN"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11</a:t>
            </a:fld>
            <a:endParaRPr lang="en-US" altLang="zh-CN" dirty="0"/>
          </a:p>
        </p:txBody>
      </p:sp>
    </p:spTree>
    <p:extLst>
      <p:ext uri="{BB962C8B-B14F-4D97-AF65-F5344CB8AC3E}">
        <p14:creationId xmlns:p14="http://schemas.microsoft.com/office/powerpoint/2010/main" val="275622684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a:r>
              <a:rPr lang="en-US" altLang="zh-CN" dirty="0"/>
              <a:t>Linux</a:t>
            </a:r>
            <a:r>
              <a:rPr lang="zh-CN" altLang="en-US" dirty="0">
                <a:latin typeface="+mj-ea"/>
              </a:rPr>
              <a:t>的发展史 </a:t>
            </a:r>
          </a:p>
        </p:txBody>
      </p:sp>
      <p:sp>
        <p:nvSpPr>
          <p:cNvPr id="27651" name="Rectangle 3"/>
          <p:cNvSpPr>
            <a:spLocks noGrp="1" noChangeArrowheads="1"/>
          </p:cNvSpPr>
          <p:nvPr>
            <p:ph type="body" idx="1"/>
          </p:nvPr>
        </p:nvSpPr>
        <p:spPr>
          <a:xfrm>
            <a:off x="1214500" y="1700808"/>
            <a:ext cx="9964948" cy="3816424"/>
          </a:xfrm>
        </p:spPr>
        <p:txBody>
          <a:bodyPr/>
          <a:lstStyle/>
          <a:p>
            <a:pPr marL="0" indent="0">
              <a:lnSpc>
                <a:spcPct val="120000"/>
              </a:lnSpc>
              <a:buNone/>
            </a:pPr>
            <a:r>
              <a:rPr lang="en-US" altLang="zh-CN" sz="2600" dirty="0"/>
              <a:t>2. </a:t>
            </a:r>
            <a:r>
              <a:rPr lang="zh-CN" altLang="en-US" sz="2600" dirty="0">
                <a:solidFill>
                  <a:srgbClr val="0000CC"/>
                </a:solidFill>
              </a:rPr>
              <a:t>简便易用的</a:t>
            </a:r>
            <a:r>
              <a:rPr lang="en-US" altLang="zh-CN" sz="2600" dirty="0">
                <a:solidFill>
                  <a:srgbClr val="0000CC"/>
                </a:solidFill>
              </a:rPr>
              <a:t>Windows</a:t>
            </a:r>
            <a:r>
              <a:rPr lang="zh-CN" altLang="en-US" sz="2600" dirty="0">
                <a:solidFill>
                  <a:srgbClr val="0000CC"/>
                </a:solidFill>
              </a:rPr>
              <a:t>操作系统</a:t>
            </a:r>
            <a:endParaRPr lang="en-US" altLang="zh-CN" sz="2600" dirty="0">
              <a:solidFill>
                <a:srgbClr val="0000CC"/>
              </a:solidFill>
            </a:endParaRPr>
          </a:p>
          <a:p>
            <a:pPr marL="0" indent="0">
              <a:lnSpc>
                <a:spcPct val="120000"/>
              </a:lnSpc>
              <a:buNone/>
            </a:pPr>
            <a:r>
              <a:rPr lang="en-US" altLang="zh-CN" sz="2600" dirty="0"/>
              <a:t>     </a:t>
            </a:r>
            <a:r>
              <a:rPr lang="zh-CN" altLang="en-US" sz="2600" dirty="0"/>
              <a:t>作为个人计算机操作系统的杰出代表，微软公司的产品从</a:t>
            </a:r>
            <a:r>
              <a:rPr lang="en-US" altLang="zh-CN" sz="2600" dirty="0" err="1"/>
              <a:t>Windows95</a:t>
            </a:r>
            <a:r>
              <a:rPr lang="zh-CN" altLang="en-US" sz="2600" dirty="0"/>
              <a:t>到</a:t>
            </a:r>
            <a:r>
              <a:rPr lang="en-US" altLang="zh-CN" sz="2600" dirty="0"/>
              <a:t>Windows11</a:t>
            </a:r>
            <a:r>
              <a:rPr lang="zh-CN" altLang="en-US" sz="2600" dirty="0"/>
              <a:t>，</a:t>
            </a:r>
            <a:r>
              <a:rPr lang="en-US" altLang="zh-CN" sz="2600" dirty="0"/>
              <a:t>Windows</a:t>
            </a:r>
            <a:r>
              <a:rPr lang="zh-CN" altLang="en-US" sz="2600" dirty="0"/>
              <a:t>系列提供给用户人性化的图形用户界面，因其简单易操作一直是个人用户的最大卖家。</a:t>
            </a:r>
            <a:endParaRPr lang="en-US" altLang="zh-CN" sz="2600" dirty="0"/>
          </a:p>
          <a:p>
            <a:pPr marL="0" indent="0">
              <a:lnSpc>
                <a:spcPct val="120000"/>
              </a:lnSpc>
              <a:buNone/>
            </a:pPr>
            <a:r>
              <a:rPr lang="en-US" altLang="zh-CN" sz="2600" dirty="0"/>
              <a:t>    </a:t>
            </a:r>
            <a:r>
              <a:rPr lang="zh-CN" altLang="en-US" sz="2600" dirty="0"/>
              <a:t>但这类操作系统在商业和技术上的垄断性在一定程度上也影响了信息技术的普及与发展。</a:t>
            </a:r>
            <a:endParaRPr lang="en-US" altLang="zh-CN" sz="2600" dirty="0"/>
          </a:p>
          <a:p>
            <a:pPr marL="0" indent="0">
              <a:buNone/>
            </a:pPr>
            <a:endParaRPr lang="en-US" altLang="zh-CN" sz="28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12</a:t>
            </a:fld>
            <a:endParaRPr lang="en-US" altLang="zh-CN" dirty="0"/>
          </a:p>
        </p:txBody>
      </p:sp>
    </p:spTree>
    <p:extLst>
      <p:ext uri="{BB962C8B-B14F-4D97-AF65-F5344CB8AC3E}">
        <p14:creationId xmlns:p14="http://schemas.microsoft.com/office/powerpoint/2010/main" val="3149401276"/>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a:r>
              <a:rPr lang="en-US" altLang="zh-CN" dirty="0"/>
              <a:t>Linux</a:t>
            </a:r>
            <a:r>
              <a:rPr lang="zh-CN" altLang="en-US" dirty="0">
                <a:latin typeface="+mj-ea"/>
              </a:rPr>
              <a:t>的发展史 </a:t>
            </a:r>
          </a:p>
        </p:txBody>
      </p:sp>
      <p:sp>
        <p:nvSpPr>
          <p:cNvPr id="27651" name="Rectangle 3"/>
          <p:cNvSpPr>
            <a:spLocks noGrp="1" noChangeArrowheads="1"/>
          </p:cNvSpPr>
          <p:nvPr>
            <p:ph type="body" idx="1"/>
          </p:nvPr>
        </p:nvSpPr>
        <p:spPr>
          <a:xfrm>
            <a:off x="1164854" y="1467067"/>
            <a:ext cx="8243514" cy="4194181"/>
          </a:xfrm>
        </p:spPr>
        <p:txBody>
          <a:bodyPr/>
          <a:lstStyle/>
          <a:p>
            <a:pPr marL="0" indent="0">
              <a:lnSpc>
                <a:spcPct val="120000"/>
              </a:lnSpc>
              <a:buNone/>
            </a:pPr>
            <a:r>
              <a:rPr lang="en-US" altLang="zh-CN" sz="2400" dirty="0"/>
              <a:t>3. </a:t>
            </a:r>
            <a:r>
              <a:rPr lang="en-US" altLang="zh-CN" sz="2400" dirty="0">
                <a:solidFill>
                  <a:srgbClr val="0000CC"/>
                </a:solidFill>
              </a:rPr>
              <a:t>GNU</a:t>
            </a:r>
            <a:r>
              <a:rPr lang="zh-CN" altLang="en-US" sz="2400" dirty="0">
                <a:solidFill>
                  <a:srgbClr val="0000CC"/>
                </a:solidFill>
              </a:rPr>
              <a:t>与自由软件</a:t>
            </a:r>
            <a:endParaRPr lang="en-US" altLang="zh-CN" sz="2400" dirty="0">
              <a:solidFill>
                <a:srgbClr val="0000CC"/>
              </a:solidFill>
            </a:endParaRPr>
          </a:p>
          <a:p>
            <a:pPr marL="0" indent="0">
              <a:lnSpc>
                <a:spcPct val="120000"/>
              </a:lnSpc>
              <a:buNone/>
            </a:pPr>
            <a:r>
              <a:rPr lang="en-US" altLang="zh-CN" sz="2400" dirty="0">
                <a:solidFill>
                  <a:srgbClr val="0000CC"/>
                </a:solidFill>
              </a:rPr>
              <a:t>     </a:t>
            </a:r>
            <a:r>
              <a:rPr lang="en-US" altLang="zh-CN" sz="2400" dirty="0"/>
              <a:t>GNU</a:t>
            </a:r>
            <a:r>
              <a:rPr lang="zh-CN" altLang="en-US" sz="2400" dirty="0"/>
              <a:t>计划，又称革奴计划，是由麻省理工学院的研究员</a:t>
            </a:r>
            <a:r>
              <a:rPr lang="en-US" altLang="zh-CN" sz="2400" dirty="0"/>
              <a:t>Richard Stallman</a:t>
            </a:r>
            <a:r>
              <a:rPr lang="zh-CN" altLang="en-US" sz="2400" dirty="0"/>
              <a:t>在</a:t>
            </a:r>
            <a:r>
              <a:rPr lang="en-US" altLang="zh-CN" sz="2400" dirty="0"/>
              <a:t>1983</a:t>
            </a:r>
            <a:r>
              <a:rPr lang="zh-CN" altLang="en-US" sz="2400" dirty="0"/>
              <a:t>年</a:t>
            </a:r>
            <a:r>
              <a:rPr lang="en-US" altLang="zh-CN" sz="2400" dirty="0"/>
              <a:t>9</a:t>
            </a:r>
            <a:r>
              <a:rPr lang="zh-CN" altLang="en-US" sz="2400" dirty="0"/>
              <a:t>月</a:t>
            </a:r>
            <a:r>
              <a:rPr lang="en-US" altLang="zh-CN" sz="2400" dirty="0"/>
              <a:t>27</a:t>
            </a:r>
            <a:r>
              <a:rPr lang="zh-CN" altLang="en-US" sz="2400" dirty="0"/>
              <a:t>日公开发起的。它的目标是创建一套完全自由的操作系统。</a:t>
            </a:r>
            <a:r>
              <a:rPr lang="en-US" altLang="zh-CN" sz="2400" dirty="0"/>
              <a:t> GNU</a:t>
            </a:r>
            <a:r>
              <a:rPr lang="zh-CN" altLang="en-US" sz="2400" dirty="0"/>
              <a:t>计划就是要打破商业软件使用付费的枷锁；</a:t>
            </a:r>
            <a:r>
              <a:rPr lang="en-US" altLang="zh-CN" sz="2400" dirty="0"/>
              <a:t>GNU</a:t>
            </a:r>
            <a:r>
              <a:rPr lang="zh-CN" altLang="en-US" sz="2400" dirty="0"/>
              <a:t>计划下的任何软件，不只提供软件使用权、也提供软件源代码；</a:t>
            </a:r>
            <a:endParaRPr lang="en-US" altLang="zh-CN" sz="2400" dirty="0"/>
          </a:p>
          <a:p>
            <a:pPr marL="0" indent="0">
              <a:lnSpc>
                <a:spcPct val="120000"/>
              </a:lnSpc>
              <a:buNone/>
            </a:pPr>
            <a:r>
              <a:rPr lang="en-US" altLang="zh-CN" sz="2400" dirty="0"/>
              <a:t>Richard Stallman</a:t>
            </a:r>
            <a:r>
              <a:rPr lang="zh-CN" altLang="en-US" sz="2400" dirty="0"/>
              <a:t>在此基础上提出了自由软件（</a:t>
            </a:r>
            <a:r>
              <a:rPr lang="en-US" altLang="zh-CN" sz="2400" dirty="0"/>
              <a:t>Free Software</a:t>
            </a:r>
            <a:r>
              <a:rPr lang="zh-CN" altLang="en-US" sz="2400" dirty="0"/>
              <a:t>）的概念。并成立了自由软件基金会（</a:t>
            </a:r>
            <a:r>
              <a:rPr lang="en-US" altLang="zh-CN" sz="2400" dirty="0"/>
              <a:t>Free Software </a:t>
            </a:r>
            <a:r>
              <a:rPr lang="en-US" altLang="zh-CN" sz="2400" dirty="0" err="1"/>
              <a:t>Foundation,FSF</a:t>
            </a:r>
            <a:r>
              <a:rPr lang="zh-CN" altLang="en-US" sz="2400" dirty="0"/>
              <a:t>）实施</a:t>
            </a:r>
            <a:r>
              <a:rPr lang="en-US" altLang="zh-CN" sz="2400" dirty="0"/>
              <a:t>GNU</a:t>
            </a:r>
            <a:r>
              <a:rPr lang="zh-CN" altLang="en-US" sz="2400" dirty="0"/>
              <a:t>计划。</a:t>
            </a:r>
            <a:endParaRPr lang="en-US" altLang="zh-CN" sz="2400" dirty="0"/>
          </a:p>
          <a:p>
            <a:pPr marL="0" indent="0">
              <a:lnSpc>
                <a:spcPct val="120000"/>
              </a:lnSpc>
              <a:buNone/>
            </a:pPr>
            <a:r>
              <a:rPr lang="en-US" altLang="zh-CN" sz="2400" dirty="0"/>
              <a:t>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13</a:t>
            </a:fld>
            <a:endParaRPr lang="en-US" altLang="zh-CN" dirty="0"/>
          </a:p>
        </p:txBody>
      </p:sp>
      <p:sp>
        <p:nvSpPr>
          <p:cNvPr id="4" name="TextBox 3"/>
          <p:cNvSpPr txBox="1"/>
          <p:nvPr/>
        </p:nvSpPr>
        <p:spPr>
          <a:xfrm>
            <a:off x="9768408" y="4483988"/>
            <a:ext cx="1579278" cy="461665"/>
          </a:xfrm>
          <a:prstGeom prst="rect">
            <a:avLst/>
          </a:prstGeom>
          <a:noFill/>
        </p:spPr>
        <p:txBody>
          <a:bodyPr wrap="none" rtlCol="0">
            <a:spAutoFit/>
          </a:bodyPr>
          <a:lstStyle/>
          <a:p>
            <a:r>
              <a:rPr lang="en-US" altLang="zh-CN" sz="2400" dirty="0">
                <a:latin typeface="+mn-ea"/>
                <a:ea typeface="+mn-ea"/>
              </a:rPr>
              <a:t>GNU</a:t>
            </a:r>
            <a:r>
              <a:rPr lang="zh-CN" altLang="en-US" sz="2400" dirty="0">
                <a:latin typeface="+mn-ea"/>
                <a:ea typeface="+mn-ea"/>
              </a:rPr>
              <a:t>的标志</a:t>
            </a:r>
          </a:p>
        </p:txBody>
      </p:sp>
      <p:pic>
        <p:nvPicPr>
          <p:cNvPr id="7" name="Picture 5" descr="Gn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927" y="1988840"/>
            <a:ext cx="2160240" cy="2324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276342"/>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a:r>
              <a:rPr lang="en-US" altLang="zh-CN" dirty="0"/>
              <a:t>Linux</a:t>
            </a:r>
            <a:r>
              <a:rPr lang="zh-CN" altLang="en-US" dirty="0">
                <a:latin typeface="+mj-ea"/>
              </a:rPr>
              <a:t>的发展史 </a:t>
            </a:r>
          </a:p>
        </p:txBody>
      </p:sp>
      <p:sp>
        <p:nvSpPr>
          <p:cNvPr id="27651" name="Rectangle 3"/>
          <p:cNvSpPr>
            <a:spLocks noGrp="1" noChangeArrowheads="1"/>
          </p:cNvSpPr>
          <p:nvPr>
            <p:ph type="body" idx="1"/>
          </p:nvPr>
        </p:nvSpPr>
        <p:spPr>
          <a:xfrm>
            <a:off x="1164854" y="1467067"/>
            <a:ext cx="9899698" cy="4194181"/>
          </a:xfrm>
        </p:spPr>
        <p:txBody>
          <a:bodyPr/>
          <a:lstStyle/>
          <a:p>
            <a:pPr marL="0" indent="0">
              <a:lnSpc>
                <a:spcPct val="120000"/>
              </a:lnSpc>
              <a:buNone/>
            </a:pPr>
            <a:r>
              <a:rPr lang="en-US" altLang="zh-CN" sz="2400" dirty="0"/>
              <a:t>3. </a:t>
            </a:r>
            <a:r>
              <a:rPr lang="en-US" altLang="zh-CN" sz="2400" dirty="0">
                <a:solidFill>
                  <a:srgbClr val="0000CC"/>
                </a:solidFill>
              </a:rPr>
              <a:t>GNU</a:t>
            </a:r>
            <a:r>
              <a:rPr lang="zh-CN" altLang="en-US" sz="2400" dirty="0">
                <a:solidFill>
                  <a:srgbClr val="0000CC"/>
                </a:solidFill>
              </a:rPr>
              <a:t>与自由软件（续）</a:t>
            </a:r>
            <a:endParaRPr lang="en-US" altLang="zh-CN" sz="2400" dirty="0">
              <a:solidFill>
                <a:srgbClr val="0000CC"/>
              </a:solidFill>
            </a:endParaRPr>
          </a:p>
          <a:p>
            <a:pPr marL="0" indent="0">
              <a:lnSpc>
                <a:spcPct val="120000"/>
              </a:lnSpc>
              <a:buNone/>
            </a:pPr>
            <a:r>
              <a:rPr lang="en-US" altLang="zh-CN" sz="2400" dirty="0">
                <a:solidFill>
                  <a:srgbClr val="0000CC"/>
                </a:solidFill>
              </a:rPr>
              <a:t>     </a:t>
            </a:r>
            <a:r>
              <a:rPr lang="zh-CN" altLang="en-US" sz="2400" dirty="0"/>
              <a:t>自由软件并不是“免费”的，而是指具有“自由度”的软件。什么是自由度呢？也就是使用者运行、复制、发布、研究、修改和改进该软件的自由。</a:t>
            </a:r>
            <a:endParaRPr lang="en-US" altLang="zh-CN" sz="2400" dirty="0"/>
          </a:p>
          <a:p>
            <a:pPr marL="0" indent="0">
              <a:lnSpc>
                <a:spcPct val="120000"/>
              </a:lnSpc>
              <a:buNone/>
            </a:pPr>
            <a:r>
              <a:rPr lang="zh-CN" altLang="en-US" sz="2400" dirty="0"/>
              <a:t>    </a:t>
            </a:r>
            <a:r>
              <a:rPr lang="en-US" altLang="zh-CN" sz="2400" dirty="0"/>
              <a:t> FSF</a:t>
            </a:r>
            <a:r>
              <a:rPr lang="zh-CN" altLang="en-US" sz="2400" dirty="0"/>
              <a:t>提出通用公共许可证（</a:t>
            </a:r>
            <a:r>
              <a:rPr lang="en-US" altLang="zh-CN" sz="2400" dirty="0"/>
              <a:t>General Public </a:t>
            </a:r>
            <a:r>
              <a:rPr lang="en-US" altLang="zh-CN" sz="2400" dirty="0" err="1"/>
              <a:t>Lincense,GPL</a:t>
            </a:r>
            <a:r>
              <a:rPr lang="zh-CN" altLang="en-US" sz="2400" dirty="0"/>
              <a:t>）</a:t>
            </a:r>
            <a:r>
              <a:rPr lang="en-US" altLang="zh-CN" sz="2400" dirty="0"/>
              <a:t>GPL</a:t>
            </a:r>
            <a:r>
              <a:rPr lang="zh-CN" altLang="en-US" sz="2400" dirty="0"/>
              <a:t>允许用户自由下载，分发、修改和再分发源代码公开的自由软件，并可以向使用者收取一定服务费，但不允许任何人将源代码与服务做任何形式的捆绑与销售。</a:t>
            </a:r>
          </a:p>
          <a:p>
            <a:pPr marL="0" indent="0">
              <a:lnSpc>
                <a:spcPct val="120000"/>
              </a:lnSpc>
              <a:buNone/>
            </a:pPr>
            <a:r>
              <a:rPr lang="en-US" altLang="zh-CN" sz="2400" dirty="0"/>
              <a:t>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14</a:t>
            </a:fld>
            <a:endParaRPr lang="en-US" altLang="zh-CN" dirty="0"/>
          </a:p>
        </p:txBody>
      </p:sp>
    </p:spTree>
    <p:extLst>
      <p:ext uri="{BB962C8B-B14F-4D97-AF65-F5344CB8AC3E}">
        <p14:creationId xmlns:p14="http://schemas.microsoft.com/office/powerpoint/2010/main" val="3708564650"/>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a:r>
              <a:rPr lang="en-US" altLang="zh-CN" dirty="0"/>
              <a:t>Linux</a:t>
            </a:r>
            <a:r>
              <a:rPr lang="zh-CN" altLang="en-US" dirty="0">
                <a:latin typeface="+mj-ea"/>
              </a:rPr>
              <a:t>的发展史 </a:t>
            </a:r>
          </a:p>
        </p:txBody>
      </p:sp>
      <p:sp>
        <p:nvSpPr>
          <p:cNvPr id="27651" name="Rectangle 3"/>
          <p:cNvSpPr>
            <a:spLocks noGrp="1" noChangeArrowheads="1"/>
          </p:cNvSpPr>
          <p:nvPr>
            <p:ph type="body" idx="1"/>
          </p:nvPr>
        </p:nvSpPr>
        <p:spPr>
          <a:xfrm>
            <a:off x="1361716" y="1556792"/>
            <a:ext cx="9817732" cy="4264888"/>
          </a:xfrm>
        </p:spPr>
        <p:txBody>
          <a:bodyPr/>
          <a:lstStyle/>
          <a:p>
            <a:pPr marL="0" indent="0">
              <a:lnSpc>
                <a:spcPct val="130000"/>
              </a:lnSpc>
              <a:buNone/>
            </a:pPr>
            <a:r>
              <a:rPr lang="en-US" altLang="zh-CN" sz="2400" dirty="0"/>
              <a:t>3. </a:t>
            </a:r>
            <a:r>
              <a:rPr lang="en-US" altLang="zh-CN" sz="2400" dirty="0">
                <a:solidFill>
                  <a:srgbClr val="0000CC"/>
                </a:solidFill>
              </a:rPr>
              <a:t>GNU</a:t>
            </a:r>
            <a:r>
              <a:rPr lang="zh-CN" altLang="en-US" sz="2400" dirty="0">
                <a:solidFill>
                  <a:srgbClr val="0000CC"/>
                </a:solidFill>
              </a:rPr>
              <a:t>与自由软件（续）</a:t>
            </a:r>
            <a:endParaRPr lang="en-US" altLang="zh-CN" sz="2400" dirty="0">
              <a:solidFill>
                <a:srgbClr val="0000CC"/>
              </a:solidFill>
            </a:endParaRPr>
          </a:p>
          <a:p>
            <a:pPr marL="0" indent="0">
              <a:lnSpc>
                <a:spcPct val="130000"/>
              </a:lnSpc>
              <a:buNone/>
            </a:pPr>
            <a:r>
              <a:rPr lang="en-US" altLang="zh-CN" sz="2400" dirty="0"/>
              <a:t>    GNU </a:t>
            </a:r>
            <a:r>
              <a:rPr lang="zh-CN" altLang="en-US" sz="2400" dirty="0"/>
              <a:t>通用公共许可协议（ </a:t>
            </a:r>
            <a:r>
              <a:rPr lang="en-US" altLang="zh-CN" sz="2400" dirty="0"/>
              <a:t>GNU GPL </a:t>
            </a:r>
            <a:r>
              <a:rPr lang="zh-CN" altLang="en-US" sz="2400" dirty="0"/>
              <a:t>）是一个广泛被使用的自由软件许可协议条款，</a:t>
            </a:r>
            <a:r>
              <a:rPr lang="zh-CN" altLang="en-US" sz="2400" dirty="0">
                <a:latin typeface="+mn-ea"/>
              </a:rPr>
              <a:t>目前全世界范围有无数自由软件开发自愿者加入</a:t>
            </a:r>
            <a:r>
              <a:rPr lang="en-US" altLang="zh-CN" sz="2400" dirty="0">
                <a:latin typeface="+mn-ea"/>
              </a:rPr>
              <a:t>GNU</a:t>
            </a:r>
            <a:r>
              <a:rPr lang="zh-CN" altLang="en-US" sz="2400" dirty="0">
                <a:latin typeface="+mn-ea"/>
              </a:rPr>
              <a:t>计划，并已经推出一系列自由软件来满足用户在各方面的需求。</a:t>
            </a:r>
            <a:r>
              <a:rPr lang="en-US" altLang="zh-CN" sz="2600" kern="1200" dirty="0"/>
              <a:t>Linux</a:t>
            </a:r>
            <a:r>
              <a:rPr lang="zh-CN" altLang="en-US" sz="2400" dirty="0">
                <a:latin typeface="+mn-ea"/>
              </a:rPr>
              <a:t>是</a:t>
            </a:r>
            <a:r>
              <a:rPr lang="en-US" altLang="zh-CN" sz="2400" dirty="0">
                <a:latin typeface="+mn-ea"/>
              </a:rPr>
              <a:t>GNU</a:t>
            </a:r>
            <a:r>
              <a:rPr lang="zh-CN" altLang="en-US" sz="2400" dirty="0">
                <a:latin typeface="+mn-ea"/>
              </a:rPr>
              <a:t>的一个重要实现，是自由软件运动爱好者们智慧的结晶。</a:t>
            </a:r>
          </a:p>
          <a:p>
            <a:pPr marL="0" indent="0">
              <a:lnSpc>
                <a:spcPct val="130000"/>
              </a:lnSpc>
              <a:buNone/>
            </a:pPr>
            <a:endParaRPr lang="en-US" altLang="zh-CN" sz="2400" dirty="0"/>
          </a:p>
          <a:p>
            <a:pPr marL="0" indent="0">
              <a:lnSpc>
                <a:spcPct val="120000"/>
              </a:lnSpc>
              <a:buNone/>
            </a:pPr>
            <a:endParaRPr lang="en-US" altLang="zh-CN"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15</a:t>
            </a:fld>
            <a:endParaRPr lang="en-US" altLang="zh-CN" dirty="0"/>
          </a:p>
        </p:txBody>
      </p:sp>
    </p:spTree>
    <p:extLst>
      <p:ext uri="{BB962C8B-B14F-4D97-AF65-F5344CB8AC3E}">
        <p14:creationId xmlns:p14="http://schemas.microsoft.com/office/powerpoint/2010/main" val="1066131866"/>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919536" y="448861"/>
            <a:ext cx="7543800" cy="858837"/>
          </a:xfrm>
        </p:spPr>
        <p:txBody>
          <a:bodyPr/>
          <a:lstStyle/>
          <a:p>
            <a:pPr algn="ctr"/>
            <a:r>
              <a:rPr lang="en-US" altLang="zh-CN" dirty="0"/>
              <a:t>Linux</a:t>
            </a:r>
            <a:r>
              <a:rPr lang="zh-CN" altLang="en-US" dirty="0">
                <a:latin typeface="+mj-ea"/>
              </a:rPr>
              <a:t>的发展史 </a:t>
            </a:r>
          </a:p>
        </p:txBody>
      </p:sp>
      <p:sp>
        <p:nvSpPr>
          <p:cNvPr id="27651" name="Rectangle 3"/>
          <p:cNvSpPr>
            <a:spLocks noGrp="1" noChangeArrowheads="1"/>
          </p:cNvSpPr>
          <p:nvPr>
            <p:ph type="body" idx="1"/>
          </p:nvPr>
        </p:nvSpPr>
        <p:spPr>
          <a:xfrm>
            <a:off x="1145692" y="1401808"/>
            <a:ext cx="10009112" cy="4419872"/>
          </a:xfrm>
        </p:spPr>
        <p:txBody>
          <a:bodyPr/>
          <a:lstStyle/>
          <a:p>
            <a:pPr marL="0" indent="0">
              <a:lnSpc>
                <a:spcPct val="120000"/>
              </a:lnSpc>
              <a:buNone/>
            </a:pPr>
            <a:r>
              <a:rPr lang="en-US" altLang="zh-CN" sz="2400" dirty="0"/>
              <a:t>4. </a:t>
            </a:r>
            <a:r>
              <a:rPr lang="en-US" altLang="zh-CN" sz="2400" dirty="0">
                <a:solidFill>
                  <a:srgbClr val="0000CC"/>
                </a:solidFill>
              </a:rPr>
              <a:t>Linux</a:t>
            </a:r>
            <a:r>
              <a:rPr lang="zh-CN" altLang="en-US" sz="2400" dirty="0">
                <a:solidFill>
                  <a:srgbClr val="0000CC"/>
                </a:solidFill>
              </a:rPr>
              <a:t>操作系统的出现</a:t>
            </a:r>
            <a:r>
              <a:rPr lang="en-US" altLang="zh-CN" sz="2400" dirty="0">
                <a:solidFill>
                  <a:srgbClr val="0000CC"/>
                </a:solidFill>
              </a:rPr>
              <a:t> </a:t>
            </a:r>
          </a:p>
          <a:p>
            <a:pPr marL="0" indent="0">
              <a:lnSpc>
                <a:spcPct val="120000"/>
              </a:lnSpc>
              <a:buNone/>
            </a:pPr>
            <a:r>
              <a:rPr lang="zh-CN" altLang="en-US" sz="2400" dirty="0"/>
              <a:t>     </a:t>
            </a:r>
            <a:r>
              <a:rPr lang="en-US" altLang="zh-CN" sz="2400" dirty="0"/>
              <a:t>Linus Torvalds</a:t>
            </a:r>
            <a:r>
              <a:rPr lang="zh-CN" altLang="en-US" sz="2400" dirty="0"/>
              <a:t>，</a:t>
            </a:r>
            <a:r>
              <a:rPr lang="en-US" altLang="zh-CN" sz="2400" dirty="0"/>
              <a:t>Linux</a:t>
            </a:r>
            <a:r>
              <a:rPr lang="zh-CN" altLang="en-US" sz="2400" dirty="0"/>
              <a:t>操作系统的创始人，</a:t>
            </a:r>
            <a:r>
              <a:rPr lang="en-US" altLang="zh-CN" sz="2400" dirty="0"/>
              <a:t>1991</a:t>
            </a:r>
            <a:r>
              <a:rPr lang="zh-CN" altLang="en-US" sz="2400" dirty="0"/>
              <a:t>年，</a:t>
            </a:r>
            <a:r>
              <a:rPr lang="en-US" altLang="zh-CN" sz="2400" dirty="0"/>
              <a:t> Linus Torvalds</a:t>
            </a:r>
            <a:r>
              <a:rPr lang="zh-CN" altLang="en-US" sz="2400" dirty="0"/>
              <a:t>在芬兰赫尔辛基大学念计算机专业研究生二年级，他为完成自己操作系统课程的作业，基于</a:t>
            </a:r>
            <a:r>
              <a:rPr lang="en-US" altLang="zh-CN" sz="2400" dirty="0" err="1"/>
              <a:t>MINIX</a:t>
            </a:r>
            <a:r>
              <a:rPr lang="zh-CN" altLang="en-US" sz="2400" dirty="0"/>
              <a:t>编写一些程序，最后他惊奇地发现自己的这些程序已经能满足一个操作系统的基本功能。 </a:t>
            </a:r>
            <a:endParaRPr lang="en-US" altLang="zh-CN" sz="2400" dirty="0"/>
          </a:p>
          <a:p>
            <a:pPr marL="0" indent="0">
              <a:lnSpc>
                <a:spcPct val="120000"/>
              </a:lnSpc>
              <a:buNone/>
            </a:pPr>
            <a:r>
              <a:rPr lang="zh-CN" altLang="en-US" sz="2400" dirty="0"/>
              <a:t>他将这个操作系统的源程序发布在</a:t>
            </a:r>
            <a:r>
              <a:rPr lang="en-US" altLang="zh-CN" sz="2400" dirty="0"/>
              <a:t>Internet,</a:t>
            </a:r>
            <a:r>
              <a:rPr lang="zh-CN" altLang="en-US" sz="2400" dirty="0"/>
              <a:t>并邀请所</a:t>
            </a:r>
            <a:endParaRPr lang="en-US" altLang="zh-CN" sz="2400" dirty="0"/>
          </a:p>
          <a:p>
            <a:pPr marL="0" indent="0">
              <a:lnSpc>
                <a:spcPct val="120000"/>
              </a:lnSpc>
              <a:buNone/>
            </a:pPr>
            <a:r>
              <a:rPr lang="zh-CN" altLang="en-US" sz="2400" dirty="0"/>
              <a:t>有有兴趣的人发表评论或共同修改代码。随后，</a:t>
            </a:r>
            <a:endParaRPr lang="en-US" altLang="zh-CN" sz="2400" dirty="0"/>
          </a:p>
          <a:p>
            <a:pPr marL="0" indent="0">
              <a:lnSpc>
                <a:spcPct val="120000"/>
              </a:lnSpc>
              <a:buNone/>
            </a:pPr>
            <a:r>
              <a:rPr lang="en-US" altLang="zh-CN" sz="2400" dirty="0"/>
              <a:t>Linus Torvalds</a:t>
            </a:r>
            <a:r>
              <a:rPr lang="zh-CN" altLang="en-US" sz="2400" dirty="0"/>
              <a:t>将这个操作系统命令为</a:t>
            </a:r>
            <a:r>
              <a:rPr lang="en-US" altLang="zh-CN" sz="2400" dirty="0"/>
              <a:t>Linux,</a:t>
            </a:r>
          </a:p>
          <a:p>
            <a:pPr marL="0" indent="0">
              <a:lnSpc>
                <a:spcPct val="120000"/>
              </a:lnSpc>
              <a:buNone/>
            </a:pPr>
            <a:r>
              <a:rPr lang="zh-CN" altLang="en-US" sz="2400" dirty="0"/>
              <a:t>也就是</a:t>
            </a:r>
            <a:r>
              <a:rPr lang="en-US" altLang="zh-CN" sz="2400" dirty="0"/>
              <a:t>Linus’s UNIX</a:t>
            </a:r>
            <a:r>
              <a:rPr lang="zh-CN" altLang="en-US" sz="2400" dirty="0"/>
              <a:t>的意思。</a:t>
            </a:r>
            <a:endParaRPr lang="en-US" altLang="zh-CN" sz="2400" dirty="0"/>
          </a:p>
          <a:p>
            <a:pPr marL="0" indent="0">
              <a:lnSpc>
                <a:spcPct val="120000"/>
              </a:lnSpc>
              <a:buNone/>
            </a:pPr>
            <a:endParaRPr lang="zh-CN" altLang="en-US" sz="2400" dirty="0"/>
          </a:p>
          <a:p>
            <a:pPr marL="0" indent="0">
              <a:lnSpc>
                <a:spcPct val="120000"/>
              </a:lnSpc>
              <a:buNone/>
            </a:pPr>
            <a:endParaRPr lang="en-US" altLang="zh-CN"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16</a:t>
            </a:fld>
            <a:endParaRPr lang="en-US" altLang="zh-CN"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8288" y="3356992"/>
            <a:ext cx="2128064" cy="2849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37154709"/>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063552" y="457171"/>
            <a:ext cx="7355160" cy="858837"/>
          </a:xfrm>
        </p:spPr>
        <p:txBody>
          <a:bodyPr/>
          <a:lstStyle/>
          <a:p>
            <a:pPr algn="ctr"/>
            <a:r>
              <a:rPr lang="en-US" altLang="zh-CN" dirty="0"/>
              <a:t>Linux</a:t>
            </a:r>
            <a:r>
              <a:rPr lang="zh-CN" altLang="en-US" dirty="0">
                <a:latin typeface="+mj-ea"/>
              </a:rPr>
              <a:t>的发展史 </a:t>
            </a:r>
          </a:p>
        </p:txBody>
      </p:sp>
      <p:sp>
        <p:nvSpPr>
          <p:cNvPr id="27651" name="Rectangle 3"/>
          <p:cNvSpPr>
            <a:spLocks noGrp="1" noChangeArrowheads="1"/>
          </p:cNvSpPr>
          <p:nvPr>
            <p:ph type="body" idx="1"/>
          </p:nvPr>
        </p:nvSpPr>
        <p:spPr>
          <a:xfrm>
            <a:off x="1217700" y="1451471"/>
            <a:ext cx="9865096" cy="4264888"/>
          </a:xfrm>
        </p:spPr>
        <p:txBody>
          <a:bodyPr/>
          <a:lstStyle/>
          <a:p>
            <a:r>
              <a:rPr lang="en-US" altLang="zh-CN" sz="2600" kern="1200" dirty="0"/>
              <a:t>Linus</a:t>
            </a:r>
            <a:r>
              <a:rPr lang="zh-CN" altLang="en-US" sz="2400" dirty="0">
                <a:latin typeface="黑体" pitchFamily="49" charset="-122"/>
              </a:rPr>
              <a:t>自己并没预料到他的小创造将改变整个计算科学领域。</a:t>
            </a:r>
            <a:r>
              <a:rPr lang="en-US" altLang="zh-CN" sz="2400" dirty="0">
                <a:latin typeface="黑体" pitchFamily="49" charset="-122"/>
              </a:rPr>
              <a:t>1991</a:t>
            </a:r>
            <a:r>
              <a:rPr lang="zh-CN" altLang="en-US" sz="2400" dirty="0">
                <a:latin typeface="黑体" pitchFamily="49" charset="-122"/>
              </a:rPr>
              <a:t>年</a:t>
            </a:r>
            <a:r>
              <a:rPr lang="en-US" altLang="zh-CN" sz="2400" dirty="0">
                <a:latin typeface="黑体" pitchFamily="49" charset="-122"/>
              </a:rPr>
              <a:t>9</a:t>
            </a:r>
            <a:r>
              <a:rPr lang="zh-CN" altLang="en-US" sz="2400" dirty="0">
                <a:latin typeface="黑体" pitchFamily="49" charset="-122"/>
              </a:rPr>
              <a:t>月中旬，</a:t>
            </a:r>
            <a:r>
              <a:rPr lang="en-US" altLang="zh-CN" sz="2600" kern="1200" dirty="0"/>
              <a:t>Linux </a:t>
            </a:r>
            <a:r>
              <a:rPr lang="en-US" altLang="zh-CN" sz="2400" dirty="0">
                <a:latin typeface="黑体" pitchFamily="49" charset="-122"/>
              </a:rPr>
              <a:t>0.01</a:t>
            </a:r>
            <a:r>
              <a:rPr lang="zh-CN" altLang="en-US" sz="2400" dirty="0">
                <a:latin typeface="黑体" pitchFamily="49" charset="-122"/>
              </a:rPr>
              <a:t>版问世了，并且被放到了网上。它立即引起了人们的注意。源代码被下载、测试、修改，最终被反馈给</a:t>
            </a:r>
            <a:r>
              <a:rPr lang="en-US" altLang="zh-CN" sz="2600" kern="1200" dirty="0"/>
              <a:t>Linus</a:t>
            </a:r>
            <a:r>
              <a:rPr lang="zh-CN" altLang="en-US" sz="2400" dirty="0">
                <a:latin typeface="黑体" pitchFamily="49" charset="-122"/>
              </a:rPr>
              <a:t>。</a:t>
            </a:r>
            <a:endParaRPr lang="en-US" altLang="zh-CN" sz="2400" dirty="0">
              <a:latin typeface="黑体" pitchFamily="49" charset="-122"/>
            </a:endParaRPr>
          </a:p>
          <a:p>
            <a:r>
              <a:rPr lang="en-US" altLang="zh-CN" sz="2400" dirty="0">
                <a:solidFill>
                  <a:srgbClr val="0000CC"/>
                </a:solidFill>
                <a:latin typeface="黑体" pitchFamily="49" charset="-122"/>
              </a:rPr>
              <a:t>10</a:t>
            </a:r>
            <a:r>
              <a:rPr lang="zh-CN" altLang="en-US" sz="2400" dirty="0">
                <a:solidFill>
                  <a:srgbClr val="0000CC"/>
                </a:solidFill>
                <a:latin typeface="黑体" pitchFamily="49" charset="-122"/>
              </a:rPr>
              <a:t>月</a:t>
            </a:r>
            <a:r>
              <a:rPr lang="en-US" altLang="zh-CN" sz="2400" dirty="0">
                <a:solidFill>
                  <a:srgbClr val="0000CC"/>
                </a:solidFill>
                <a:latin typeface="黑体" pitchFamily="49" charset="-122"/>
              </a:rPr>
              <a:t>5</a:t>
            </a:r>
            <a:r>
              <a:rPr lang="zh-CN" altLang="en-US" sz="2400" dirty="0">
                <a:solidFill>
                  <a:srgbClr val="0000CC"/>
                </a:solidFill>
                <a:latin typeface="黑体" pitchFamily="49" charset="-122"/>
              </a:rPr>
              <a:t>号</a:t>
            </a:r>
            <a:r>
              <a:rPr lang="zh-CN" altLang="en-US" sz="2400" dirty="0">
                <a:latin typeface="黑体" pitchFamily="49" charset="-122"/>
              </a:rPr>
              <a:t>，</a:t>
            </a:r>
            <a:r>
              <a:rPr lang="en-US" altLang="zh-CN" sz="2400" dirty="0">
                <a:latin typeface="黑体" pitchFamily="49" charset="-122"/>
              </a:rPr>
              <a:t>0.02</a:t>
            </a:r>
            <a:r>
              <a:rPr lang="zh-CN" altLang="en-US" sz="2400" dirty="0">
                <a:latin typeface="黑体" pitchFamily="49" charset="-122"/>
              </a:rPr>
              <a:t>版出来了，这是</a:t>
            </a:r>
            <a:r>
              <a:rPr lang="en-US" altLang="zh-CN" sz="2600" kern="1200" dirty="0" err="1"/>
              <a:t>linux</a:t>
            </a:r>
            <a:r>
              <a:rPr lang="zh-CN" altLang="en-US" sz="2400" dirty="0">
                <a:solidFill>
                  <a:srgbClr val="0000CC"/>
                </a:solidFill>
                <a:latin typeface="黑体" pitchFamily="49" charset="-122"/>
              </a:rPr>
              <a:t>第一次正式向外公布的时间</a:t>
            </a:r>
            <a:r>
              <a:rPr lang="zh-CN" altLang="en-US" sz="2400" dirty="0">
                <a:latin typeface="黑体" pitchFamily="49" charset="-122"/>
              </a:rPr>
              <a:t>。几周以后，</a:t>
            </a:r>
            <a:r>
              <a:rPr lang="en-US" altLang="zh-CN" sz="2600" kern="1200" dirty="0"/>
              <a:t>Linux</a:t>
            </a:r>
            <a:r>
              <a:rPr lang="en-US" altLang="zh-CN" sz="2400" dirty="0">
                <a:latin typeface="黑体" pitchFamily="49" charset="-122"/>
              </a:rPr>
              <a:t> 0.03</a:t>
            </a:r>
            <a:r>
              <a:rPr lang="zh-CN" altLang="en-US" sz="2400" dirty="0">
                <a:latin typeface="黑体" pitchFamily="49" charset="-122"/>
              </a:rPr>
              <a:t>版发布了。</a:t>
            </a:r>
            <a:r>
              <a:rPr lang="en-US" altLang="zh-CN" sz="2400" dirty="0">
                <a:latin typeface="黑体" pitchFamily="49" charset="-122"/>
              </a:rPr>
              <a:t>12</a:t>
            </a:r>
            <a:r>
              <a:rPr lang="zh-CN" altLang="en-US" sz="2400" dirty="0">
                <a:latin typeface="黑体" pitchFamily="49" charset="-122"/>
              </a:rPr>
              <a:t>月份，</a:t>
            </a:r>
            <a:r>
              <a:rPr lang="en-US" altLang="zh-CN" sz="2400" dirty="0">
                <a:latin typeface="黑体" pitchFamily="49" charset="-122"/>
              </a:rPr>
              <a:t>0.10</a:t>
            </a:r>
            <a:r>
              <a:rPr lang="zh-CN" altLang="en-US" sz="2400" dirty="0">
                <a:latin typeface="黑体" pitchFamily="49" charset="-122"/>
              </a:rPr>
              <a:t>版发布了，这时的</a:t>
            </a:r>
            <a:r>
              <a:rPr lang="en-US" altLang="zh-CN" sz="2600" kern="1200" dirty="0"/>
              <a:t>Linux</a:t>
            </a:r>
            <a:r>
              <a:rPr lang="zh-CN" altLang="en-US" sz="2400" dirty="0">
                <a:latin typeface="黑体" pitchFamily="49" charset="-122"/>
              </a:rPr>
              <a:t>还很简陋。</a:t>
            </a:r>
            <a:r>
              <a:rPr lang="en-US" altLang="zh-CN" sz="2400" dirty="0">
                <a:latin typeface="黑体" pitchFamily="49" charset="-122"/>
              </a:rPr>
              <a:t>0.11</a:t>
            </a:r>
            <a:r>
              <a:rPr lang="zh-CN" altLang="en-US" sz="2400" dirty="0">
                <a:latin typeface="黑体" pitchFamily="49" charset="-122"/>
              </a:rPr>
              <a:t>版有了不少改进，可以支持多国语言键盘、软驱、</a:t>
            </a:r>
            <a:r>
              <a:rPr lang="en-US" altLang="zh-CN" sz="2400" dirty="0">
                <a:latin typeface="黑体" pitchFamily="49" charset="-122"/>
              </a:rPr>
              <a:t>VGA</a:t>
            </a:r>
            <a:r>
              <a:rPr lang="zh-CN" altLang="en-US" sz="2400" dirty="0">
                <a:latin typeface="黑体" pitchFamily="49" charset="-122"/>
              </a:rPr>
              <a:t>、</a:t>
            </a:r>
            <a:r>
              <a:rPr lang="en-US" altLang="zh-CN" sz="2400" dirty="0">
                <a:latin typeface="黑体" pitchFamily="49" charset="-122"/>
              </a:rPr>
              <a:t>EGA</a:t>
            </a:r>
            <a:r>
              <a:rPr lang="zh-CN" altLang="en-US" sz="2400" dirty="0">
                <a:latin typeface="黑体" pitchFamily="49" charset="-122"/>
              </a:rPr>
              <a:t>、</a:t>
            </a:r>
            <a:r>
              <a:rPr lang="en-US" altLang="zh-CN" sz="2600" kern="1200" dirty="0"/>
              <a:t>Hercules</a:t>
            </a:r>
            <a:r>
              <a:rPr lang="zh-CN" altLang="en-US" sz="2400" dirty="0">
                <a:latin typeface="黑体" pitchFamily="49" charset="-122"/>
              </a:rPr>
              <a:t>等等。</a:t>
            </a:r>
            <a:r>
              <a:rPr lang="en-US" altLang="zh-CN" sz="2600" kern="1200" dirty="0"/>
              <a:t>Linux</a:t>
            </a:r>
            <a:r>
              <a:rPr lang="zh-CN" altLang="en-US" sz="2400" dirty="0">
                <a:latin typeface="黑体" pitchFamily="49" charset="-122"/>
              </a:rPr>
              <a:t>的版本号从</a:t>
            </a:r>
            <a:r>
              <a:rPr lang="en-US" altLang="zh-CN" sz="2400" dirty="0">
                <a:latin typeface="黑体" pitchFamily="49" charset="-122"/>
              </a:rPr>
              <a:t>0.12</a:t>
            </a:r>
            <a:r>
              <a:rPr lang="zh-CN" altLang="en-US" sz="2400" dirty="0">
                <a:latin typeface="黑体" pitchFamily="49" charset="-122"/>
              </a:rPr>
              <a:t>直接上升到了</a:t>
            </a:r>
            <a:r>
              <a:rPr lang="en-US" altLang="zh-CN" sz="2400" dirty="0">
                <a:latin typeface="黑体" pitchFamily="49" charset="-122"/>
              </a:rPr>
              <a:t>0.95</a:t>
            </a:r>
            <a:r>
              <a:rPr lang="zh-CN" altLang="en-US" sz="2400" dirty="0">
                <a:latin typeface="黑体" pitchFamily="49" charset="-122"/>
              </a:rPr>
              <a:t>、</a:t>
            </a:r>
            <a:r>
              <a:rPr lang="en-US" altLang="zh-CN" sz="2400" dirty="0">
                <a:latin typeface="黑体" pitchFamily="49" charset="-122"/>
              </a:rPr>
              <a:t>0.96......</a:t>
            </a:r>
            <a:r>
              <a:rPr lang="zh-CN" altLang="en-US" sz="2400" dirty="0">
                <a:latin typeface="黑体" pitchFamily="49" charset="-122"/>
              </a:rPr>
              <a:t>不久，</a:t>
            </a:r>
            <a:r>
              <a:rPr lang="en-US" altLang="zh-CN" sz="2600" kern="1200" dirty="0"/>
              <a:t>Linux</a:t>
            </a:r>
            <a:r>
              <a:rPr lang="zh-CN" altLang="en-US" sz="2400" dirty="0">
                <a:latin typeface="黑体" pitchFamily="49" charset="-122"/>
              </a:rPr>
              <a:t>的源代码就通过在芬兰和其它一些地方的</a:t>
            </a:r>
            <a:r>
              <a:rPr lang="en-US" altLang="zh-CN" sz="2400" dirty="0">
                <a:latin typeface="黑体" pitchFamily="49" charset="-122"/>
              </a:rPr>
              <a:t>FTP</a:t>
            </a:r>
            <a:r>
              <a:rPr lang="zh-CN" altLang="en-US" sz="2400" dirty="0">
                <a:latin typeface="黑体" pitchFamily="49" charset="-122"/>
              </a:rPr>
              <a:t>站点传遍了全世界。</a:t>
            </a:r>
            <a:endParaRPr lang="en-US" altLang="zh-CN" sz="2400" dirty="0">
              <a:latin typeface="黑体" pitchFamily="49" charset="-122"/>
            </a:endParaRPr>
          </a:p>
          <a:p>
            <a:r>
              <a:rPr lang="zh-CN" altLang="en-US" sz="2400" dirty="0"/>
              <a:t>到了</a:t>
            </a:r>
            <a:r>
              <a:rPr lang="en-US" altLang="zh-CN" sz="2400" dirty="0"/>
              <a:t>1992</a:t>
            </a:r>
            <a:r>
              <a:rPr lang="zh-CN" altLang="en-US" sz="2400" dirty="0"/>
              <a:t>年，大约有</a:t>
            </a:r>
            <a:r>
              <a:rPr lang="en-US" altLang="zh-CN" sz="2400" dirty="0"/>
              <a:t>1000</a:t>
            </a:r>
            <a:r>
              <a:rPr lang="zh-CN" altLang="en-US" sz="2400" dirty="0"/>
              <a:t>人在使用</a:t>
            </a:r>
            <a:r>
              <a:rPr lang="en-US" altLang="zh-CN" sz="2400" dirty="0"/>
              <a:t>Linux</a:t>
            </a:r>
            <a:r>
              <a:rPr lang="zh-CN" altLang="en-US" sz="2400" dirty="0"/>
              <a:t>，值得一提的是，他们基本上都属于真正意义上的</a:t>
            </a:r>
            <a:r>
              <a:rPr lang="en-US" altLang="zh-CN" sz="2400" dirty="0"/>
              <a:t>hacker </a:t>
            </a:r>
            <a:r>
              <a:rPr lang="zh-CN" altLang="en-US" sz="2400" dirty="0"/>
              <a:t>。</a:t>
            </a:r>
            <a:endParaRPr lang="en-US" altLang="zh-CN" sz="2400" dirty="0"/>
          </a:p>
          <a:p>
            <a:pPr marL="0" indent="0">
              <a:buNone/>
            </a:pPr>
            <a:r>
              <a:rPr lang="zh-CN" altLang="en-US" sz="2400" dirty="0">
                <a:latin typeface="黑体" pitchFamily="49" charset="-122"/>
              </a:rPr>
              <a:t>  </a:t>
            </a:r>
          </a:p>
          <a:p>
            <a:pPr>
              <a:buFont typeface="Wingdings" pitchFamily="2" charset="2"/>
              <a:buNone/>
            </a:pPr>
            <a:endParaRPr lang="en-US" altLang="zh-CN"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17</a:t>
            </a:fld>
            <a:endParaRPr lang="en-US" altLang="zh-CN"/>
          </a:p>
        </p:txBody>
      </p:sp>
    </p:spTree>
    <p:extLst>
      <p:ext uri="{BB962C8B-B14F-4D97-AF65-F5344CB8AC3E}">
        <p14:creationId xmlns:p14="http://schemas.microsoft.com/office/powerpoint/2010/main" val="4129077540"/>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9" name="Rectangle 7"/>
          <p:cNvSpPr>
            <a:spLocks noGrp="1" noChangeArrowheads="1"/>
          </p:cNvSpPr>
          <p:nvPr>
            <p:ph type="title"/>
          </p:nvPr>
        </p:nvSpPr>
        <p:spPr/>
        <p:txBody>
          <a:bodyPr/>
          <a:lstStyle/>
          <a:p>
            <a:pPr algn="ctr"/>
            <a:r>
              <a:rPr lang="en-US" altLang="zh-CN" dirty="0"/>
              <a:t>Linux</a:t>
            </a:r>
            <a:r>
              <a:rPr lang="zh-CN" altLang="en-US" dirty="0">
                <a:latin typeface="+mj-ea"/>
              </a:rPr>
              <a:t>的发展史</a:t>
            </a:r>
          </a:p>
        </p:txBody>
      </p:sp>
      <p:sp>
        <p:nvSpPr>
          <p:cNvPr id="38920" name="Rectangle 8"/>
          <p:cNvSpPr>
            <a:spLocks noGrp="1" noChangeArrowheads="1"/>
          </p:cNvSpPr>
          <p:nvPr>
            <p:ph type="body" idx="1"/>
          </p:nvPr>
        </p:nvSpPr>
        <p:spPr>
          <a:xfrm>
            <a:off x="911424" y="1537618"/>
            <a:ext cx="10441160" cy="4411662"/>
          </a:xfrm>
        </p:spPr>
        <p:txBody>
          <a:bodyPr/>
          <a:lstStyle/>
          <a:p>
            <a:r>
              <a:rPr lang="en-US" altLang="zh-CN" sz="2400" dirty="0"/>
              <a:t>1993</a:t>
            </a:r>
            <a:r>
              <a:rPr lang="zh-CN" altLang="en-US" sz="2400" dirty="0"/>
              <a:t>年，大约有</a:t>
            </a:r>
            <a:r>
              <a:rPr lang="en-US" altLang="zh-CN" sz="2400" dirty="0"/>
              <a:t>100</a:t>
            </a:r>
            <a:r>
              <a:rPr lang="zh-CN" altLang="en-US" sz="2400" dirty="0"/>
              <a:t>余名程序员参与了</a:t>
            </a:r>
            <a:r>
              <a:rPr lang="en-US" altLang="zh-CN" sz="2400" dirty="0"/>
              <a:t>Linux</a:t>
            </a:r>
            <a:r>
              <a:rPr lang="zh-CN" altLang="en-US" sz="2400" dirty="0"/>
              <a:t>内核代码编写</a:t>
            </a:r>
            <a:r>
              <a:rPr lang="en-US" altLang="zh-CN" sz="2400" dirty="0"/>
              <a:t>/</a:t>
            </a:r>
            <a:r>
              <a:rPr lang="zh-CN" altLang="en-US" sz="2400" dirty="0"/>
              <a:t>修改工作，其中核心组由</a:t>
            </a:r>
            <a:r>
              <a:rPr lang="en-US" altLang="zh-CN" sz="2400" dirty="0"/>
              <a:t>5</a:t>
            </a:r>
            <a:r>
              <a:rPr lang="zh-CN" altLang="en-US" sz="2400" dirty="0"/>
              <a:t>人组成，此时</a:t>
            </a:r>
            <a:r>
              <a:rPr lang="en-US" altLang="zh-CN" sz="2400" dirty="0"/>
              <a:t>Linux 0.99</a:t>
            </a:r>
            <a:r>
              <a:rPr lang="zh-CN" altLang="en-US" sz="2400" dirty="0"/>
              <a:t>的代码有大约有十万行，用户大约有</a:t>
            </a:r>
            <a:r>
              <a:rPr lang="en-US" altLang="zh-CN" sz="2400" dirty="0"/>
              <a:t>10</a:t>
            </a:r>
            <a:r>
              <a:rPr lang="zh-CN" altLang="en-US" sz="2400" dirty="0"/>
              <a:t>万左右，有几十个</a:t>
            </a:r>
            <a:r>
              <a:rPr lang="en-US" altLang="zh-CN" sz="2400" dirty="0"/>
              <a:t>Linux </a:t>
            </a:r>
            <a:r>
              <a:rPr lang="zh-CN" altLang="en-US" sz="2400" dirty="0"/>
              <a:t>用户社区成立。</a:t>
            </a:r>
            <a:endParaRPr lang="en-US" altLang="zh-CN" sz="2400" dirty="0"/>
          </a:p>
          <a:p>
            <a:r>
              <a:rPr lang="zh-CN" altLang="en-US" sz="2400" dirty="0"/>
              <a:t>至此，</a:t>
            </a:r>
            <a:r>
              <a:rPr lang="en-US" altLang="zh-CN" sz="2400" dirty="0"/>
              <a:t>Linux </a:t>
            </a:r>
            <a:r>
              <a:rPr lang="zh-CN" altLang="en-US" sz="2400" dirty="0"/>
              <a:t>内核具备了挑战</a:t>
            </a:r>
            <a:r>
              <a:rPr lang="en-US" altLang="zh-CN" sz="2400" dirty="0"/>
              <a:t>Unix </a:t>
            </a:r>
            <a:r>
              <a:rPr lang="zh-CN" altLang="en-US" sz="2400" dirty="0"/>
              <a:t>的所有本质特性，包括</a:t>
            </a:r>
            <a:r>
              <a:rPr lang="en-US" altLang="zh-CN" sz="2400" dirty="0"/>
              <a:t>TCP/IP </a:t>
            </a:r>
            <a:r>
              <a:rPr lang="zh-CN" altLang="en-US" sz="2400" dirty="0"/>
              <a:t>网络，图形界面系统（</a:t>
            </a:r>
            <a:r>
              <a:rPr lang="en-US" altLang="zh-CN" sz="2400" dirty="0"/>
              <a:t>X window )</a:t>
            </a:r>
            <a:r>
              <a:rPr lang="zh-CN" altLang="en-US" sz="2400" dirty="0"/>
              <a:t>，</a:t>
            </a:r>
            <a:r>
              <a:rPr lang="en-US" altLang="zh-CN" sz="2400" dirty="0"/>
              <a:t>Linux</a:t>
            </a:r>
            <a:r>
              <a:rPr lang="zh-CN" altLang="en-US" sz="2400" dirty="0"/>
              <a:t>也吸引了许多行业的关注。一些小的公司开始开发和发行</a:t>
            </a:r>
            <a:r>
              <a:rPr lang="en-US" altLang="zh-CN" sz="2400" dirty="0"/>
              <a:t>Linux</a:t>
            </a:r>
            <a:r>
              <a:rPr lang="zh-CN" altLang="en-US" sz="2400" dirty="0"/>
              <a:t>。</a:t>
            </a:r>
            <a:endParaRPr lang="en-US" altLang="zh-CN" sz="2400" dirty="0"/>
          </a:p>
          <a:p>
            <a:r>
              <a:rPr lang="zh-CN" altLang="en-US" sz="2400" dirty="0"/>
              <a:t> </a:t>
            </a:r>
            <a:r>
              <a:rPr lang="en-US" altLang="zh-CN" sz="2400" dirty="0"/>
              <a:t>1994</a:t>
            </a:r>
            <a:r>
              <a:rPr lang="zh-CN" altLang="en-US" sz="2400" dirty="0"/>
              <a:t>年</a:t>
            </a:r>
            <a:r>
              <a:rPr lang="en-US" altLang="zh-CN" sz="2400" dirty="0"/>
              <a:t>3</a:t>
            </a:r>
            <a:r>
              <a:rPr lang="zh-CN" altLang="en-US" sz="2400" dirty="0"/>
              <a:t>月，</a:t>
            </a:r>
            <a:r>
              <a:rPr lang="en-US" altLang="zh-CN" sz="2400" dirty="0" err="1"/>
              <a:t>Linux1.0</a:t>
            </a:r>
            <a:r>
              <a:rPr lang="zh-CN" altLang="en-US" sz="2400" dirty="0"/>
              <a:t>发布，当时是按照完全自由免费的协议发布，随后正式采用</a:t>
            </a:r>
            <a:r>
              <a:rPr lang="en-US" altLang="zh-CN" sz="2400" dirty="0">
                <a:solidFill>
                  <a:srgbClr val="0000CC"/>
                </a:solidFill>
              </a:rPr>
              <a:t>GPL</a:t>
            </a:r>
            <a:r>
              <a:rPr lang="zh-CN" altLang="en-US" sz="2400" dirty="0">
                <a:solidFill>
                  <a:srgbClr val="0000CC"/>
                </a:solidFill>
              </a:rPr>
              <a:t>协议</a:t>
            </a:r>
            <a:r>
              <a:rPr lang="zh-CN" altLang="en-US" sz="2400" dirty="0"/>
              <a:t>。至此，</a:t>
            </a:r>
            <a:r>
              <a:rPr lang="zh-CN" altLang="en-US" sz="2400" dirty="0">
                <a:solidFill>
                  <a:srgbClr val="0000CC"/>
                </a:solidFill>
              </a:rPr>
              <a:t> </a:t>
            </a:r>
            <a:r>
              <a:rPr lang="en-US" altLang="zh-CN" sz="2400" dirty="0">
                <a:solidFill>
                  <a:srgbClr val="0000CC"/>
                </a:solidFill>
              </a:rPr>
              <a:t>Linux</a:t>
            </a:r>
            <a:r>
              <a:rPr lang="zh-CN" altLang="en-US" sz="2400" dirty="0">
                <a:solidFill>
                  <a:srgbClr val="0000CC"/>
                </a:solidFill>
              </a:rPr>
              <a:t>的代码开发进入良性循环</a:t>
            </a:r>
            <a:r>
              <a:rPr lang="zh-CN" altLang="en-US" sz="2400" dirty="0"/>
              <a:t>。很多系统管理员开始在自己的操作系统环境中尝试</a:t>
            </a:r>
            <a:r>
              <a:rPr lang="en-US" altLang="zh-CN" sz="2400" dirty="0" err="1"/>
              <a:t>linux</a:t>
            </a:r>
            <a:r>
              <a:rPr lang="zh-CN" altLang="en-US" sz="2400" dirty="0"/>
              <a:t>，并将修改的代码提交给核心小组。由于拥有了丰富的操作系统平台，因而 </a:t>
            </a:r>
            <a:r>
              <a:rPr lang="en-US" altLang="zh-CN" sz="2400" dirty="0"/>
              <a:t>Linux</a:t>
            </a:r>
            <a:r>
              <a:rPr lang="zh-CN" altLang="en-US" sz="2400" dirty="0"/>
              <a:t>的代码中也充实了对不同硬件系统的支持，大大的提高了跨平台移植性。 </a:t>
            </a:r>
          </a:p>
          <a:p>
            <a:endParaRPr lang="zh-CN" altLang="en-US"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18</a:t>
            </a:fld>
            <a:endParaRPr lang="en-US" altLang="zh-CN"/>
          </a:p>
        </p:txBody>
      </p:sp>
    </p:spTree>
    <p:extLst>
      <p:ext uri="{BB962C8B-B14F-4D97-AF65-F5344CB8AC3E}">
        <p14:creationId xmlns:p14="http://schemas.microsoft.com/office/powerpoint/2010/main" val="2653840519"/>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type="body" idx="1"/>
          </p:nvPr>
        </p:nvSpPr>
        <p:spPr>
          <a:xfrm>
            <a:off x="1012552" y="1556792"/>
            <a:ext cx="10166896" cy="4392488"/>
          </a:xfrm>
        </p:spPr>
        <p:txBody>
          <a:bodyPr/>
          <a:lstStyle/>
          <a:p>
            <a:r>
              <a:rPr lang="en-US" altLang="zh-CN" sz="2400" dirty="0"/>
              <a:t>1997</a:t>
            </a:r>
            <a:r>
              <a:rPr lang="zh-CN" altLang="en-US" sz="2400" dirty="0"/>
              <a:t>年夏，大片</a:t>
            </a:r>
            <a:r>
              <a:rPr lang="en-US" altLang="zh-CN" sz="2400" dirty="0"/>
              <a:t>《</a:t>
            </a:r>
            <a:r>
              <a:rPr lang="zh-CN" altLang="en-US" sz="2400" dirty="0"/>
              <a:t>泰坦尼克号</a:t>
            </a:r>
            <a:r>
              <a:rPr lang="en-US" altLang="zh-CN" sz="2400" dirty="0"/>
              <a:t>》</a:t>
            </a:r>
            <a:r>
              <a:rPr lang="zh-CN" altLang="en-US" sz="2400" dirty="0"/>
              <a:t>在制作特效中使用的</a:t>
            </a:r>
            <a:r>
              <a:rPr lang="en-US" altLang="zh-CN" sz="2400" dirty="0"/>
              <a:t>160</a:t>
            </a:r>
            <a:r>
              <a:rPr lang="zh-CN" altLang="en-US" sz="2400" dirty="0"/>
              <a:t>台</a:t>
            </a:r>
            <a:r>
              <a:rPr lang="en-US" altLang="zh-CN" sz="2400" dirty="0"/>
              <a:t>Alpha</a:t>
            </a:r>
            <a:r>
              <a:rPr lang="zh-CN" altLang="en-US" sz="2400" dirty="0"/>
              <a:t>图形工作站中，有</a:t>
            </a:r>
            <a:r>
              <a:rPr lang="en-US" altLang="zh-CN" sz="2400" dirty="0"/>
              <a:t>105</a:t>
            </a:r>
            <a:r>
              <a:rPr lang="zh-CN" altLang="en-US" sz="2400" dirty="0"/>
              <a:t>台采用了</a:t>
            </a:r>
            <a:r>
              <a:rPr lang="en-US" altLang="zh-CN" sz="2400" dirty="0"/>
              <a:t>Linux</a:t>
            </a:r>
            <a:r>
              <a:rPr lang="zh-CN" altLang="en-US" sz="2400" dirty="0"/>
              <a:t>操作系统。 </a:t>
            </a:r>
          </a:p>
          <a:p>
            <a:r>
              <a:rPr lang="en-US" altLang="zh-CN" sz="2400" dirty="0"/>
              <a:t>1998</a:t>
            </a:r>
            <a:r>
              <a:rPr lang="zh-CN" altLang="en-US" sz="2400" dirty="0"/>
              <a:t>年是</a:t>
            </a:r>
            <a:r>
              <a:rPr lang="en-US" altLang="zh-CN" sz="2400" dirty="0"/>
              <a:t>Linux</a:t>
            </a:r>
            <a:r>
              <a:rPr lang="zh-CN" altLang="en-US" sz="2400" dirty="0"/>
              <a:t>迅猛发展的一年。</a:t>
            </a:r>
            <a:r>
              <a:rPr lang="en-US" altLang="zh-CN" sz="2400" dirty="0"/>
              <a:t>1</a:t>
            </a:r>
            <a:r>
              <a:rPr lang="zh-CN" altLang="en-US" sz="2400" dirty="0"/>
              <a:t>月，小红帽高级研发实验室成立，</a:t>
            </a:r>
            <a:r>
              <a:rPr lang="en-US" altLang="zh-CN" sz="2400" dirty="0"/>
              <a:t>Linux</a:t>
            </a:r>
            <a:r>
              <a:rPr lang="zh-CN" altLang="en-US" sz="2400" dirty="0"/>
              <a:t>获得商业认同的信号。同月，微软在法国发布了反</a:t>
            </a:r>
            <a:r>
              <a:rPr lang="en-US" altLang="zh-CN" sz="2400" dirty="0"/>
              <a:t>Linux</a:t>
            </a:r>
            <a:r>
              <a:rPr lang="zh-CN" altLang="en-US" sz="2400" dirty="0"/>
              <a:t>公开信，这表明微软公司开始将</a:t>
            </a:r>
            <a:r>
              <a:rPr lang="en-US" altLang="zh-CN" sz="2400" dirty="0"/>
              <a:t>Linux</a:t>
            </a:r>
            <a:r>
              <a:rPr lang="zh-CN" altLang="en-US" sz="2400" dirty="0"/>
              <a:t>视作了一个对手来对待。  </a:t>
            </a:r>
            <a:endParaRPr lang="en-US" altLang="zh-CN" sz="2400" dirty="0"/>
          </a:p>
          <a:p>
            <a:r>
              <a:rPr lang="en-US" altLang="zh-CN" sz="2400" dirty="0"/>
              <a:t>1999</a:t>
            </a:r>
            <a:r>
              <a:rPr lang="zh-CN" altLang="en-US" sz="2400" dirty="0"/>
              <a:t>年，</a:t>
            </a:r>
            <a:r>
              <a:rPr lang="en-US" altLang="zh-CN" sz="2400" dirty="0"/>
              <a:t>IBM</a:t>
            </a:r>
            <a:r>
              <a:rPr lang="zh-CN" altLang="en-US" sz="2400" dirty="0"/>
              <a:t>宣布与</a:t>
            </a:r>
            <a:r>
              <a:rPr lang="en-US" altLang="zh-CN" sz="2400" dirty="0" err="1"/>
              <a:t>Redhat</a:t>
            </a:r>
            <a:r>
              <a:rPr lang="zh-CN" altLang="en-US" sz="2400" dirty="0"/>
              <a:t>公司建立伙伴关系，以确保</a:t>
            </a:r>
            <a:r>
              <a:rPr lang="en-US" altLang="zh-CN" sz="2400" dirty="0" err="1"/>
              <a:t>Redhat</a:t>
            </a:r>
            <a:r>
              <a:rPr lang="zh-CN" altLang="en-US" sz="2400" dirty="0"/>
              <a:t>在</a:t>
            </a:r>
            <a:r>
              <a:rPr lang="en-US" altLang="zh-CN" sz="2400" dirty="0"/>
              <a:t>IBM</a:t>
            </a:r>
            <a:r>
              <a:rPr lang="zh-CN" altLang="en-US" sz="2400" dirty="0"/>
              <a:t>机器上正确运行。 </a:t>
            </a:r>
          </a:p>
          <a:p>
            <a:r>
              <a:rPr lang="en-US" altLang="zh-CN" sz="2400" dirty="0"/>
              <a:t>2000</a:t>
            </a:r>
            <a:r>
              <a:rPr lang="zh-CN" altLang="en-US" sz="2400" dirty="0"/>
              <a:t>年初始，</a:t>
            </a:r>
            <a:r>
              <a:rPr lang="en-US" altLang="zh-CN" sz="2400" dirty="0"/>
              <a:t>Sun</a:t>
            </a:r>
            <a:r>
              <a:rPr lang="zh-CN" altLang="en-US" sz="2400" dirty="0"/>
              <a:t>公司在</a:t>
            </a:r>
            <a:r>
              <a:rPr lang="en-US" altLang="zh-CN" sz="2400" dirty="0"/>
              <a:t>Linux</a:t>
            </a:r>
            <a:r>
              <a:rPr lang="zh-CN" altLang="en-US" sz="2400" dirty="0"/>
              <a:t>的压力下宣布</a:t>
            </a:r>
            <a:r>
              <a:rPr lang="en-US" altLang="zh-CN" sz="2400" dirty="0"/>
              <a:t>Solaris8</a:t>
            </a:r>
            <a:r>
              <a:rPr lang="zh-CN" altLang="en-US" sz="2400" dirty="0"/>
              <a:t>降低售价。事实上</a:t>
            </a:r>
            <a:r>
              <a:rPr lang="en-US" altLang="zh-CN" sz="2400" dirty="0"/>
              <a:t>Linux</a:t>
            </a:r>
            <a:r>
              <a:rPr lang="zh-CN" altLang="en-US" sz="2400" dirty="0"/>
              <a:t>对</a:t>
            </a:r>
            <a:r>
              <a:rPr lang="en-US" altLang="zh-CN" sz="2400" dirty="0"/>
              <a:t>Sun</a:t>
            </a:r>
            <a:r>
              <a:rPr lang="zh-CN" altLang="en-US" sz="2400" dirty="0"/>
              <a:t>造成的冲击远比对 </a:t>
            </a:r>
            <a:r>
              <a:rPr lang="en-US" altLang="zh-CN" sz="2400" dirty="0"/>
              <a:t>Windows</a:t>
            </a:r>
            <a:r>
              <a:rPr lang="zh-CN" altLang="en-US" sz="2400" dirty="0"/>
              <a:t>来得更大。 </a:t>
            </a:r>
            <a:r>
              <a:rPr lang="en-US" altLang="zh-CN" sz="2400" dirty="0"/>
              <a:t>2</a:t>
            </a:r>
            <a:r>
              <a:rPr lang="zh-CN" altLang="en-US" sz="2400" dirty="0"/>
              <a:t>月</a:t>
            </a:r>
            <a:r>
              <a:rPr lang="en-US" altLang="zh-CN" sz="2400" dirty="0"/>
              <a:t>Red Hat</a:t>
            </a:r>
            <a:r>
              <a:rPr lang="zh-CN" altLang="en-US" sz="2400" dirty="0"/>
              <a:t>发布了嵌入式</a:t>
            </a:r>
            <a:r>
              <a:rPr lang="en-US" altLang="zh-CN" sz="2400" dirty="0"/>
              <a:t>Linux</a:t>
            </a:r>
            <a:r>
              <a:rPr lang="zh-CN" altLang="en-US" sz="2400" dirty="0"/>
              <a:t>的开发环境，</a:t>
            </a:r>
            <a:r>
              <a:rPr lang="en-US" altLang="zh-CN" sz="2400" dirty="0"/>
              <a:t>Linux</a:t>
            </a:r>
            <a:r>
              <a:rPr lang="zh-CN" altLang="en-US" sz="2400" dirty="0"/>
              <a:t>在嵌入式行业的潜力逐渐被发掘。</a:t>
            </a:r>
          </a:p>
          <a:p>
            <a:endParaRPr lang="en-US" altLang="zh-CN" sz="2400" dirty="0"/>
          </a:p>
          <a:p>
            <a:endParaRPr lang="zh-CN" altLang="en-US" sz="2400" dirty="0"/>
          </a:p>
        </p:txBody>
      </p:sp>
      <p:sp>
        <p:nvSpPr>
          <p:cNvPr id="51205" name="Rectangle 5"/>
          <p:cNvSpPr>
            <a:spLocks noGrp="1" noChangeArrowheads="1"/>
          </p:cNvSpPr>
          <p:nvPr>
            <p:ph type="title"/>
          </p:nvPr>
        </p:nvSpPr>
        <p:spPr>
          <a:noFill/>
          <a:ln/>
        </p:spPr>
        <p:txBody>
          <a:bodyPr/>
          <a:lstStyle/>
          <a:p>
            <a:r>
              <a:rPr lang="en-US" altLang="zh-CN" dirty="0"/>
              <a:t>Linux</a:t>
            </a:r>
            <a:r>
              <a:rPr lang="zh-CN" altLang="en-US" dirty="0">
                <a:latin typeface="+mj-ea"/>
              </a:rPr>
              <a:t>的发展</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19</a:t>
            </a:fld>
            <a:endParaRPr lang="en-US" altLang="zh-CN"/>
          </a:p>
        </p:txBody>
      </p:sp>
    </p:spTree>
    <p:extLst>
      <p:ext uri="{BB962C8B-B14F-4D97-AF65-F5344CB8AC3E}">
        <p14:creationId xmlns:p14="http://schemas.microsoft.com/office/powerpoint/2010/main" val="3401324687"/>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body" idx="1"/>
          </p:nvPr>
        </p:nvSpPr>
        <p:spPr>
          <a:xfrm>
            <a:off x="1121048" y="1701200"/>
            <a:ext cx="9964948" cy="4104456"/>
          </a:xfrm>
        </p:spPr>
        <p:txBody>
          <a:bodyPr/>
          <a:lstStyle/>
          <a:p>
            <a:r>
              <a:rPr lang="en-US" altLang="zh-CN" sz="2400" dirty="0"/>
              <a:t>2001</a:t>
            </a:r>
            <a:r>
              <a:rPr lang="zh-CN" altLang="en-US" sz="2400" dirty="0"/>
              <a:t>月，</a:t>
            </a:r>
            <a:r>
              <a:rPr lang="en-US" altLang="zh-CN" sz="2400" dirty="0"/>
              <a:t>IBM</a:t>
            </a:r>
            <a:r>
              <a:rPr lang="zh-CN" altLang="en-US" sz="2400" dirty="0"/>
              <a:t>则决定投入</a:t>
            </a:r>
            <a:r>
              <a:rPr lang="en-US" altLang="zh-CN" sz="2400" dirty="0"/>
              <a:t>10</a:t>
            </a:r>
            <a:r>
              <a:rPr lang="zh-CN" altLang="en-US" sz="2400" dirty="0"/>
              <a:t>亿美元扩大 </a:t>
            </a:r>
            <a:r>
              <a:rPr lang="en-US" altLang="zh-CN" sz="2400" dirty="0"/>
              <a:t>Linux</a:t>
            </a:r>
            <a:r>
              <a:rPr lang="zh-CN" altLang="en-US" sz="2400" dirty="0"/>
              <a:t>系统的运用；</a:t>
            </a:r>
            <a:r>
              <a:rPr lang="en-US" altLang="zh-CN" sz="2400" dirty="0"/>
              <a:t>8</a:t>
            </a:r>
            <a:r>
              <a:rPr lang="zh-CN" altLang="en-US" sz="2400" dirty="0"/>
              <a:t>月红色代码爆发，引得许多站点纷纷从</a:t>
            </a:r>
            <a:r>
              <a:rPr lang="en-US" altLang="zh-CN" sz="2400" dirty="0"/>
              <a:t>windows</a:t>
            </a:r>
            <a:r>
              <a:rPr lang="zh-CN" altLang="en-US" sz="2400" dirty="0"/>
              <a:t>操作系统转向</a:t>
            </a:r>
            <a:r>
              <a:rPr lang="en-US" altLang="zh-CN" sz="2400" dirty="0" err="1"/>
              <a:t>linux</a:t>
            </a:r>
            <a:r>
              <a:rPr lang="zh-CN" altLang="en-US" sz="2400" dirty="0"/>
              <a:t>操作系统。</a:t>
            </a:r>
            <a:endParaRPr lang="en-US" altLang="zh-CN" sz="2400" dirty="0"/>
          </a:p>
          <a:p>
            <a:r>
              <a:rPr lang="en-US" altLang="zh-CN" sz="2400" dirty="0"/>
              <a:t>2002</a:t>
            </a:r>
            <a:r>
              <a:rPr lang="zh-CN" altLang="en-US" sz="2400" dirty="0"/>
              <a:t>年是</a:t>
            </a:r>
            <a:r>
              <a:rPr lang="en-US" altLang="zh-CN" sz="2400" dirty="0"/>
              <a:t>Linux</a:t>
            </a:r>
            <a:r>
              <a:rPr lang="zh-CN" altLang="en-US" sz="2400" dirty="0"/>
              <a:t>企业化的一年。</a:t>
            </a:r>
            <a:r>
              <a:rPr lang="en-US" altLang="zh-CN" sz="2400" dirty="0"/>
              <a:t>3</a:t>
            </a:r>
            <a:r>
              <a:rPr lang="zh-CN" altLang="en-US" sz="2400" dirty="0"/>
              <a:t>月，内核开发者宣布新的</a:t>
            </a:r>
            <a:r>
              <a:rPr lang="en-US" altLang="zh-CN" sz="2400" dirty="0"/>
              <a:t>Linux</a:t>
            </a:r>
            <a:r>
              <a:rPr lang="zh-CN" altLang="en-US" sz="2400" dirty="0"/>
              <a:t>系统支持</a:t>
            </a:r>
            <a:r>
              <a:rPr lang="en-US" altLang="zh-CN" sz="2400" dirty="0"/>
              <a:t>64</a:t>
            </a:r>
            <a:r>
              <a:rPr lang="zh-CN" altLang="en-US" sz="2400" dirty="0"/>
              <a:t>位的计算机。</a:t>
            </a:r>
          </a:p>
          <a:p>
            <a:r>
              <a:rPr lang="en-US" altLang="zh-CN" sz="2400" dirty="0"/>
              <a:t>2003</a:t>
            </a:r>
            <a:r>
              <a:rPr lang="zh-CN" altLang="en-US" sz="2400" dirty="0"/>
              <a:t>年</a:t>
            </a:r>
            <a:r>
              <a:rPr lang="en-US" altLang="zh-CN" sz="2400" dirty="0"/>
              <a:t>1</a:t>
            </a:r>
            <a:r>
              <a:rPr lang="zh-CN" altLang="en-US" sz="2400" dirty="0"/>
              <a:t>月，</a:t>
            </a:r>
            <a:r>
              <a:rPr lang="en-US" altLang="zh-CN" sz="2400" dirty="0"/>
              <a:t>NEC</a:t>
            </a:r>
            <a:r>
              <a:rPr lang="zh-CN" altLang="en-US" sz="2400" dirty="0"/>
              <a:t>宣布将在其手机中使用</a:t>
            </a:r>
            <a:r>
              <a:rPr lang="en-US" altLang="zh-CN" sz="2400" dirty="0"/>
              <a:t>Linux</a:t>
            </a:r>
            <a:r>
              <a:rPr lang="zh-CN" altLang="en-US" sz="2400" dirty="0"/>
              <a:t>操作系统，代表着</a:t>
            </a:r>
            <a:r>
              <a:rPr lang="en-US" altLang="zh-CN" sz="2400" dirty="0"/>
              <a:t>Linux</a:t>
            </a:r>
            <a:r>
              <a:rPr lang="zh-CN" altLang="en-US" sz="2400" dirty="0"/>
              <a:t>成功进军手机领域。 </a:t>
            </a:r>
            <a:endParaRPr lang="en-US" altLang="zh-CN" sz="2400" dirty="0"/>
          </a:p>
          <a:p>
            <a:r>
              <a:rPr lang="en-US" altLang="zh-CN" sz="2400" dirty="0"/>
              <a:t>Linux</a:t>
            </a:r>
            <a:r>
              <a:rPr lang="zh-CN" altLang="en-US" sz="2400" dirty="0"/>
              <a:t>的优势已经很明显</a:t>
            </a:r>
            <a:r>
              <a:rPr lang="en-US" altLang="zh-CN" sz="2400" dirty="0"/>
              <a:t>——</a:t>
            </a:r>
            <a:r>
              <a:rPr lang="zh-CN" altLang="en-US" sz="2400" dirty="0"/>
              <a:t>从航天科技，到手机的芯片，</a:t>
            </a:r>
            <a:r>
              <a:rPr lang="en-US" altLang="zh-CN" sz="2400" dirty="0"/>
              <a:t>Linux </a:t>
            </a:r>
            <a:r>
              <a:rPr lang="zh-CN" altLang="en-US" sz="2400" dirty="0"/>
              <a:t>的免费和开源让更多的电子产品有了快速发展的可能。</a:t>
            </a:r>
          </a:p>
          <a:p>
            <a:endParaRPr lang="en-US" altLang="zh-CN" sz="2400" dirty="0"/>
          </a:p>
          <a:p>
            <a:pPr marL="0" indent="0">
              <a:buNone/>
            </a:pPr>
            <a:endParaRPr lang="en-US" altLang="zh-CN" sz="2400" dirty="0"/>
          </a:p>
        </p:txBody>
      </p:sp>
      <p:sp>
        <p:nvSpPr>
          <p:cNvPr id="54276" name="Rectangle 4"/>
          <p:cNvSpPr>
            <a:spLocks noGrp="1" noChangeArrowheads="1"/>
          </p:cNvSpPr>
          <p:nvPr>
            <p:ph type="title"/>
          </p:nvPr>
        </p:nvSpPr>
        <p:spPr>
          <a:xfrm>
            <a:off x="1074322" y="607244"/>
            <a:ext cx="10058400" cy="858837"/>
          </a:xfrm>
          <a:noFill/>
          <a:ln/>
        </p:spPr>
        <p:txBody>
          <a:bodyPr/>
          <a:lstStyle/>
          <a:p>
            <a:r>
              <a:rPr lang="en-US" altLang="zh-CN" dirty="0">
                <a:latin typeface="+mn-lt"/>
              </a:rPr>
              <a:t>Linux</a:t>
            </a:r>
            <a:r>
              <a:rPr lang="zh-CN" altLang="en-US" dirty="0">
                <a:latin typeface="+mj-ea"/>
              </a:rPr>
              <a:t>的发展</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20</a:t>
            </a:fld>
            <a:endParaRPr lang="en-US" altLang="zh-CN"/>
          </a:p>
        </p:txBody>
      </p:sp>
    </p:spTree>
    <p:extLst>
      <p:ext uri="{BB962C8B-B14F-4D97-AF65-F5344CB8AC3E}">
        <p14:creationId xmlns:p14="http://schemas.microsoft.com/office/powerpoint/2010/main" val="2546289178"/>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CN" dirty="0">
                <a:latin typeface="+mn-lt"/>
              </a:rPr>
              <a:t>1.2  </a:t>
            </a:r>
            <a:r>
              <a:rPr lang="zh-CN" altLang="en-US" dirty="0">
                <a:latin typeface="+mn-lt"/>
              </a:rPr>
              <a:t>Linux操作系统</a:t>
            </a:r>
            <a:r>
              <a:rPr lang="zh-CN" altLang="en-US" dirty="0">
                <a:latin typeface="+mj-ea"/>
              </a:rPr>
              <a:t>的特征</a:t>
            </a:r>
          </a:p>
        </p:txBody>
      </p:sp>
      <p:sp>
        <p:nvSpPr>
          <p:cNvPr id="9219" name="Rectangle 3"/>
          <p:cNvSpPr>
            <a:spLocks noGrp="1" noChangeArrowheads="1"/>
          </p:cNvSpPr>
          <p:nvPr>
            <p:ph type="body" idx="1"/>
          </p:nvPr>
        </p:nvSpPr>
        <p:spPr>
          <a:xfrm>
            <a:off x="1137494" y="1628800"/>
            <a:ext cx="10058400" cy="4074012"/>
          </a:xfrm>
        </p:spPr>
        <p:txBody>
          <a:bodyPr/>
          <a:lstStyle/>
          <a:p>
            <a:pPr>
              <a:lnSpc>
                <a:spcPct val="120000"/>
              </a:lnSpc>
            </a:pPr>
            <a:r>
              <a:rPr lang="zh-CN" altLang="en-US" sz="2600" kern="1200" dirty="0"/>
              <a:t>Linux</a:t>
            </a:r>
            <a:r>
              <a:rPr lang="zh-CN" altLang="en-US" sz="2600" dirty="0">
                <a:latin typeface="+mn-ea"/>
              </a:rPr>
              <a:t>操作系统在短时间内得到迅猛的发展，这与该操作系统良好的特性是分不开的。</a:t>
            </a:r>
            <a:endParaRPr lang="en-US" altLang="zh-CN" sz="2600" dirty="0">
              <a:latin typeface="+mn-ea"/>
            </a:endParaRPr>
          </a:p>
          <a:p>
            <a:pPr>
              <a:lnSpc>
                <a:spcPct val="120000"/>
              </a:lnSpc>
            </a:pPr>
            <a:r>
              <a:rPr lang="en-US" altLang="zh-CN" sz="2600" kern="1200" dirty="0"/>
              <a:t>Linux</a:t>
            </a:r>
            <a:r>
              <a:rPr lang="zh-CN" altLang="en-US" sz="2600" dirty="0">
                <a:latin typeface="+mn-ea"/>
              </a:rPr>
              <a:t>的基本思想有两点：</a:t>
            </a:r>
          </a:p>
          <a:p>
            <a:pPr lvl="1">
              <a:lnSpc>
                <a:spcPct val="120000"/>
              </a:lnSpc>
            </a:pPr>
            <a:r>
              <a:rPr lang="zh-CN" altLang="en-US" sz="2400" dirty="0">
                <a:latin typeface="+mn-ea"/>
              </a:rPr>
              <a:t>第一点，系统中的一切都是文件；包括命令、硬件和软件设备、操作系统、进程等等，对于操作系统内核而言，都被视为拥有各自特性或类型的文件。</a:t>
            </a:r>
          </a:p>
          <a:p>
            <a:pPr lvl="1">
              <a:lnSpc>
                <a:spcPct val="120000"/>
              </a:lnSpc>
            </a:pPr>
            <a:r>
              <a:rPr lang="zh-CN" altLang="en-US" sz="2400" dirty="0">
                <a:latin typeface="+mn-ea"/>
              </a:rPr>
              <a:t>第二点，系统中每个软件都有确定的用途。</a:t>
            </a:r>
          </a:p>
        </p:txBody>
      </p:sp>
      <p:sp>
        <p:nvSpPr>
          <p:cNvPr id="4" name="灯片编号占位符 4"/>
          <p:cNvSpPr>
            <a:spLocks noGrp="1"/>
          </p:cNvSpPr>
          <p:nvPr>
            <p:ph type="sldNum" sz="quarter" idx="11"/>
          </p:nvPr>
        </p:nvSpPr>
        <p:spPr>
          <a:xfrm>
            <a:off x="5083448" y="5783263"/>
            <a:ext cx="2133600" cy="457200"/>
          </a:xfrm>
          <a:noFill/>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7000AA29-53BB-4ABB-95DC-6E9302FEE583}" type="slidenum">
              <a:rPr kumimoji="0" lang="en-US" altLang="zh-CN" sz="1600" b="1"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21</a:t>
            </a:fld>
            <a:endParaRPr kumimoji="0" lang="en-US" altLang="zh-CN" sz="1600" b="1"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1315575526"/>
      </p:ext>
    </p:extLst>
  </p:cSld>
  <p:clrMapOvr>
    <a:masterClrMapping/>
  </p:clrMapOvr>
  <p:transition>
    <p:push dir="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dirty="0">
                <a:latin typeface="+mn-lt"/>
              </a:rPr>
              <a:t>Linux操作系统</a:t>
            </a:r>
            <a:r>
              <a:rPr lang="zh-CN" altLang="en-US" dirty="0">
                <a:latin typeface="+mj-ea"/>
              </a:rPr>
              <a:t>的特征</a:t>
            </a:r>
          </a:p>
        </p:txBody>
      </p:sp>
      <p:sp>
        <p:nvSpPr>
          <p:cNvPr id="9219" name="Rectangle 3"/>
          <p:cNvSpPr>
            <a:spLocks noGrp="1" noChangeArrowheads="1"/>
          </p:cNvSpPr>
          <p:nvPr>
            <p:ph type="body" idx="1"/>
          </p:nvPr>
        </p:nvSpPr>
        <p:spPr>
          <a:xfrm>
            <a:off x="1086313" y="1795458"/>
            <a:ext cx="10058400" cy="3641964"/>
          </a:xfrm>
        </p:spPr>
        <p:txBody>
          <a:bodyPr/>
          <a:lstStyle/>
          <a:p>
            <a:pPr marL="0" indent="0">
              <a:lnSpc>
                <a:spcPct val="120000"/>
              </a:lnSpc>
              <a:buNone/>
            </a:pPr>
            <a:r>
              <a:rPr lang="en-US" altLang="zh-CN" sz="2600" dirty="0">
                <a:solidFill>
                  <a:srgbClr val="0000CC"/>
                </a:solidFill>
                <a:latin typeface="+mn-ea"/>
              </a:rPr>
              <a:t>1</a:t>
            </a:r>
            <a:r>
              <a:rPr lang="zh-CN" altLang="en-US" sz="2600" dirty="0">
                <a:solidFill>
                  <a:srgbClr val="0000CC"/>
                </a:solidFill>
                <a:latin typeface="+mn-ea"/>
              </a:rPr>
              <a:t>．多任务、多用户</a:t>
            </a:r>
            <a:endParaRPr lang="en-US" altLang="zh-CN" sz="2600" dirty="0">
              <a:solidFill>
                <a:srgbClr val="0000CC"/>
              </a:solidFill>
              <a:latin typeface="+mn-ea"/>
            </a:endParaRPr>
          </a:p>
          <a:p>
            <a:pPr marL="0" indent="0">
              <a:lnSpc>
                <a:spcPct val="120000"/>
              </a:lnSpc>
              <a:buNone/>
            </a:pPr>
            <a:r>
              <a:rPr lang="en-US" altLang="zh-CN" sz="2600" kern="1200" dirty="0"/>
              <a:t>Linux</a:t>
            </a:r>
            <a:r>
              <a:rPr lang="zh-CN" altLang="en-US" sz="2600" dirty="0">
                <a:latin typeface="+mn-ea"/>
              </a:rPr>
              <a:t>是真正的多用户、多任务操作系统。</a:t>
            </a:r>
            <a:r>
              <a:rPr lang="en-US" altLang="zh-CN" sz="2600" kern="1200" dirty="0"/>
              <a:t>Linux</a:t>
            </a:r>
            <a:r>
              <a:rPr lang="zh-CN" altLang="en-US" sz="2600" dirty="0">
                <a:latin typeface="+mn-ea"/>
              </a:rPr>
              <a:t>支持多个用户从相同的或不同的终端同时使用同一台计算机，同一时间段内，</a:t>
            </a:r>
            <a:r>
              <a:rPr lang="en-US" altLang="zh-CN" sz="2600" kern="1200" dirty="0"/>
              <a:t>Linux</a:t>
            </a:r>
            <a:r>
              <a:rPr lang="zh-CN" altLang="en-US" sz="2600" dirty="0">
                <a:latin typeface="+mn-ea"/>
              </a:rPr>
              <a:t>能够响应多个用户的不同操作请求。</a:t>
            </a:r>
            <a:r>
              <a:rPr lang="zh-CN" altLang="en-US" sz="2600" dirty="0">
                <a:solidFill>
                  <a:srgbClr val="0000CC"/>
                </a:solidFill>
                <a:latin typeface="+mn-ea"/>
              </a:rPr>
              <a:t>系统资源可以被不同的用户各自拥有</a:t>
            </a:r>
            <a:r>
              <a:rPr lang="zh-CN" altLang="en-US" sz="2600" dirty="0">
                <a:latin typeface="+mn-ea"/>
              </a:rPr>
              <a:t>并使用，即使用户对于自己的资源（文件、设备）有自己特殊的权利，也互不影响</a:t>
            </a:r>
            <a:r>
              <a:rPr lang="zh-CN" altLang="en-US" sz="2800" dirty="0">
                <a:latin typeface="+mn-ea"/>
              </a:rPr>
              <a:t>。</a:t>
            </a:r>
            <a:endParaRPr lang="zh-CN" altLang="en-US" sz="2000" b="0" dirty="0"/>
          </a:p>
        </p:txBody>
      </p:sp>
      <p:sp>
        <p:nvSpPr>
          <p:cNvPr id="4" name="灯片编号占位符 4"/>
          <p:cNvSpPr>
            <a:spLocks noGrp="1"/>
          </p:cNvSpPr>
          <p:nvPr>
            <p:ph type="sldNum" sz="quarter" idx="11"/>
          </p:nvPr>
        </p:nvSpPr>
        <p:spPr>
          <a:xfrm>
            <a:off x="5083448" y="5783263"/>
            <a:ext cx="2133600" cy="457200"/>
          </a:xfrm>
          <a:noFill/>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7000AA29-53BB-4ABB-95DC-6E9302FEE583}" type="slidenum">
              <a:rPr kumimoji="0" lang="en-US" altLang="zh-CN" sz="1600" b="1"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22</a:t>
            </a:fld>
            <a:endParaRPr kumimoji="0" lang="en-US" altLang="zh-CN" sz="1600" b="1"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943085902"/>
      </p:ext>
    </p:extLst>
  </p:cSld>
  <p:clrMapOvr>
    <a:masterClrMapping/>
  </p:clrMapOvr>
  <p:transition>
    <p:push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2135560" y="482452"/>
            <a:ext cx="7776864" cy="858837"/>
          </a:xfrm>
        </p:spPr>
        <p:txBody>
          <a:bodyPr/>
          <a:lstStyle/>
          <a:p>
            <a:r>
              <a:rPr lang="zh-CN" altLang="en-US" dirty="0">
                <a:latin typeface="+mn-lt"/>
              </a:rPr>
              <a:t>Linux操作系统</a:t>
            </a:r>
            <a:r>
              <a:rPr lang="zh-CN" altLang="en-US" dirty="0">
                <a:latin typeface="+mj-ea"/>
              </a:rPr>
              <a:t>的特征</a:t>
            </a:r>
            <a:endParaRPr lang="zh-CN" altLang="en-US" dirty="0">
              <a:solidFill>
                <a:srgbClr val="000000"/>
              </a:solidFill>
            </a:endParaRPr>
          </a:p>
        </p:txBody>
      </p:sp>
      <p:sp>
        <p:nvSpPr>
          <p:cNvPr id="64515" name="Rectangle 3"/>
          <p:cNvSpPr>
            <a:spLocks noGrp="1" noChangeArrowheads="1"/>
          </p:cNvSpPr>
          <p:nvPr>
            <p:ph type="body" idx="1"/>
          </p:nvPr>
        </p:nvSpPr>
        <p:spPr>
          <a:xfrm>
            <a:off x="1073684" y="1565614"/>
            <a:ext cx="10153128" cy="4261737"/>
          </a:xfrm>
        </p:spPr>
        <p:txBody>
          <a:bodyPr/>
          <a:lstStyle/>
          <a:p>
            <a:pPr marL="0" indent="0">
              <a:buNone/>
            </a:pPr>
            <a:r>
              <a:rPr lang="en-US" altLang="zh-CN" sz="2600" dirty="0">
                <a:solidFill>
                  <a:srgbClr val="0000CC"/>
                </a:solidFill>
              </a:rPr>
              <a:t>2.  </a:t>
            </a:r>
            <a:r>
              <a:rPr lang="zh-CN" altLang="en-US" sz="2600" dirty="0">
                <a:solidFill>
                  <a:srgbClr val="0000CC"/>
                </a:solidFill>
              </a:rPr>
              <a:t>良好的兼容性</a:t>
            </a:r>
            <a:endParaRPr lang="en-US" altLang="zh-CN" sz="2600" dirty="0">
              <a:solidFill>
                <a:srgbClr val="0000CC"/>
              </a:solidFill>
            </a:endParaRPr>
          </a:p>
          <a:p>
            <a:pPr marL="0" indent="0">
              <a:buNone/>
            </a:pPr>
            <a:r>
              <a:rPr lang="en-US" altLang="zh-CN" sz="2600" dirty="0"/>
              <a:t>Linux</a:t>
            </a:r>
            <a:r>
              <a:rPr lang="zh-CN" altLang="en-US" sz="2600" dirty="0"/>
              <a:t>完全兼容</a:t>
            </a:r>
            <a:r>
              <a:rPr lang="en-US" altLang="zh-CN" sz="2600" dirty="0"/>
              <a:t>POSIX1.0</a:t>
            </a:r>
            <a:r>
              <a:rPr lang="zh-CN" altLang="en-US" sz="2600" dirty="0"/>
              <a:t>标准（面向</a:t>
            </a:r>
            <a:r>
              <a:rPr lang="en-US" altLang="zh-CN" sz="2600" dirty="0"/>
              <a:t>UNIX</a:t>
            </a:r>
            <a:r>
              <a:rPr lang="zh-CN" altLang="en-US" sz="2600" dirty="0"/>
              <a:t>的可移植操作系统），兼容现在主流的</a:t>
            </a:r>
            <a:r>
              <a:rPr lang="en-US" altLang="zh-CN" sz="2600" dirty="0"/>
              <a:t>UNIX</a:t>
            </a:r>
            <a:r>
              <a:rPr lang="zh-CN" altLang="en-US" sz="2600" dirty="0"/>
              <a:t>操作系统，在</a:t>
            </a:r>
            <a:r>
              <a:rPr lang="en-US" altLang="zh-CN" sz="2600" dirty="0"/>
              <a:t>UNIX</a:t>
            </a:r>
            <a:r>
              <a:rPr lang="zh-CN" altLang="en-US" sz="2600" dirty="0"/>
              <a:t>中运行的程序，也几乎完全可以在</a:t>
            </a:r>
            <a:r>
              <a:rPr lang="en-US" altLang="zh-CN" sz="2600" dirty="0"/>
              <a:t>Linux</a:t>
            </a:r>
            <a:r>
              <a:rPr lang="zh-CN" altLang="en-US" sz="2600" dirty="0"/>
              <a:t>中运行。</a:t>
            </a:r>
            <a:endParaRPr lang="en-US" altLang="zh-CN" sz="2600" dirty="0">
              <a:solidFill>
                <a:srgbClr val="0000CC"/>
              </a:solidFill>
            </a:endParaRPr>
          </a:p>
          <a:p>
            <a:pPr marL="0" indent="0">
              <a:buNone/>
            </a:pPr>
            <a:r>
              <a:rPr lang="en-US" altLang="zh-CN" sz="2600" dirty="0">
                <a:solidFill>
                  <a:srgbClr val="0000CC"/>
                </a:solidFill>
              </a:rPr>
              <a:t>3</a:t>
            </a:r>
            <a:r>
              <a:rPr lang="zh-CN" altLang="en-US" sz="2600" dirty="0">
                <a:solidFill>
                  <a:srgbClr val="0000CC"/>
                </a:solidFill>
              </a:rPr>
              <a:t>．良好的可移植性</a:t>
            </a:r>
          </a:p>
          <a:p>
            <a:pPr marL="0" indent="0">
              <a:buNone/>
            </a:pPr>
            <a:r>
              <a:rPr lang="en-US" altLang="zh-CN" sz="2600" dirty="0"/>
              <a:t>Linux</a:t>
            </a:r>
            <a:r>
              <a:rPr lang="zh-CN" altLang="en-US" sz="2600" dirty="0"/>
              <a:t>能够在微型计算机到大型计算机的任何环境中和平台上运行。该特性为</a:t>
            </a:r>
            <a:r>
              <a:rPr lang="en-US" altLang="zh-CN" sz="2600" dirty="0"/>
              <a:t>Linux</a:t>
            </a:r>
            <a:r>
              <a:rPr lang="zh-CN" altLang="en-US" sz="2600" dirty="0"/>
              <a:t>操作系统在不同计算机平台，与其他任何机器进行</a:t>
            </a:r>
            <a:r>
              <a:rPr lang="zh-CN" altLang="en-US" sz="2600" dirty="0">
                <a:solidFill>
                  <a:srgbClr val="0000CC"/>
                </a:solidFill>
              </a:rPr>
              <a:t>准确而有效的通信提供了保障</a:t>
            </a:r>
            <a:r>
              <a:rPr lang="zh-CN" altLang="en-US" sz="2600" dirty="0"/>
              <a:t>，不需要另外增加特殊的通信接口</a:t>
            </a:r>
            <a:r>
              <a:rPr lang="zh-CN" altLang="en-US" sz="2800" dirty="0"/>
              <a:t>。</a:t>
            </a:r>
          </a:p>
          <a:p>
            <a:pPr marL="0" indent="0">
              <a:buNone/>
            </a:pPr>
            <a:endParaRPr lang="zh-CN" altLang="en-US" sz="2800" dirty="0"/>
          </a:p>
        </p:txBody>
      </p:sp>
      <p:sp>
        <p:nvSpPr>
          <p:cNvPr id="2" name="灯片编号占位符 1"/>
          <p:cNvSpPr>
            <a:spLocks noGrp="1"/>
          </p:cNvSpPr>
          <p:nvPr>
            <p:ph type="sldNum"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110871B5-850E-4E14-A636-3EC679EBF038}" type="slidenum">
              <a:rPr kumimoji="0" lang="en-US" altLang="zh-CN" sz="1600" b="1"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23</a:t>
            </a:fld>
            <a:endParaRPr kumimoji="0" lang="en-US" altLang="zh-CN" sz="1600" b="1" i="0" u="none" strike="noStrike" kern="1200" cap="none" spc="0" normalizeH="0" baseline="0" noProof="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1047239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Text Box 3"/>
          <p:cNvSpPr txBox="1">
            <a:spLocks noChangeArrowheads="1"/>
          </p:cNvSpPr>
          <p:nvPr/>
        </p:nvSpPr>
        <p:spPr bwMode="auto">
          <a:xfrm>
            <a:off x="1073442" y="1597729"/>
            <a:ext cx="10045116"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a:defRPr>
                <a:solidFill>
                  <a:schemeClr val="tx1"/>
                </a:solidFill>
                <a:latin typeface="Arial" pitchFamily="34" charset="0"/>
              </a:defRPr>
            </a:lvl2pPr>
            <a:lvl3pPr>
              <a:defRPr>
                <a:solidFill>
                  <a:schemeClr val="tx1"/>
                </a:solidFill>
                <a:latin typeface="Arial" pitchFamily="34" charset="0"/>
              </a:defRPr>
            </a:lvl3pPr>
            <a:lvl4pPr>
              <a:defRPr>
                <a:solidFill>
                  <a:schemeClr val="tx1"/>
                </a:solidFill>
                <a:latin typeface="Arial" pitchFamily="34" charset="0"/>
              </a:defRPr>
            </a:lvl4pPr>
            <a:lvl5pPr>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4</a:t>
            </a:r>
            <a:r>
              <a:rPr kumimoji="0" lang="zh-CN" altLang="en-US" sz="2600" b="1" i="0" u="none" strike="noStrike" kern="1200" cap="none" spc="0" normalizeH="0" baseline="0" noProof="0" dirty="0">
                <a:ln>
                  <a:noFill/>
                </a:ln>
                <a:solidFill>
                  <a:srgbClr val="0000CC"/>
                </a:solidFill>
                <a:effectLst/>
                <a:uLnTx/>
                <a:uFillTx/>
                <a:latin typeface="黑体"/>
                <a:ea typeface="黑体"/>
                <a:cs typeface="+mn-cs"/>
                <a:sym typeface="宋体" pitchFamily="2" charset="-122"/>
              </a:rPr>
              <a:t>．丰富的网络功能</a:t>
            </a:r>
            <a:endParaRPr kumimoji="0" lang="en-US" altLang="zh-CN" sz="2600" b="1" i="0" u="none" strike="noStrike" kern="1200" cap="none" spc="0" normalizeH="0" baseline="0" noProof="0" dirty="0">
              <a:ln>
                <a:noFill/>
              </a:ln>
              <a:solidFill>
                <a:srgbClr val="0000CC"/>
              </a:solidFill>
              <a:effectLst/>
              <a:uLnTx/>
              <a:uFillTx/>
              <a:latin typeface="黑体"/>
              <a:ea typeface="黑体"/>
              <a:cs typeface="+mn-cs"/>
              <a:sym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完善的</a:t>
            </a:r>
            <a:r>
              <a:rPr kumimoji="0" lang="zh-CN" altLang="en-US" sz="2600" b="1" i="0" u="none" strike="noStrike" kern="1200" cap="none" spc="0" normalizeH="0" baseline="0" noProof="0" dirty="0">
                <a:ln>
                  <a:noFill/>
                </a:ln>
                <a:solidFill>
                  <a:srgbClr val="0000CC"/>
                </a:solidFill>
                <a:effectLst/>
                <a:uLnTx/>
                <a:uFillTx/>
                <a:latin typeface="黑体"/>
                <a:ea typeface="黑体"/>
                <a:cs typeface="+mn-cs"/>
                <a:sym typeface="宋体" pitchFamily="2" charset="-122"/>
              </a:rPr>
              <a:t>内置网络</a:t>
            </a:r>
            <a:r>
              <a:rPr lang="zh-CN" altLang="en-US" sz="2600" dirty="0">
                <a:latin typeface="+mn-lt"/>
                <a:ea typeface="+mn-ea"/>
                <a:sym typeface="宋体" pitchFamily="2" charset="-122"/>
              </a:rPr>
              <a:t>是</a:t>
            </a:r>
            <a:r>
              <a:rPr lang="zh-CN" altLang="en-US" sz="2600" dirty="0">
                <a:latin typeface="+mn-lt"/>
                <a:ea typeface="+mn-ea"/>
                <a:sym typeface="Times New Roman" pitchFamily="18" charset="0"/>
              </a:rPr>
              <a:t>Linux</a:t>
            </a: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的一大特点，</a:t>
            </a:r>
            <a:r>
              <a:rPr lang="zh-CN" altLang="en-US" sz="2600" dirty="0">
                <a:latin typeface="+mn-lt"/>
                <a:ea typeface="+mn-ea"/>
                <a:sym typeface="Times New Roman" pitchFamily="18" charset="0"/>
              </a:rPr>
              <a:t>Linux</a:t>
            </a: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在通信和网络功能方面优于其他操作系统。</a:t>
            </a:r>
            <a:endParaRPr kumimoji="0" lang="en-US" altLang="zh-CN"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有</a:t>
            </a:r>
            <a:r>
              <a:rPr kumimoji="0" lang="zh-CN" altLang="en-US" sz="2600" b="1" i="0" u="none" strike="noStrike" kern="1200" cap="none" spc="0" normalizeH="0" baseline="0" noProof="0" dirty="0">
                <a:ln>
                  <a:noFill/>
                </a:ln>
                <a:solidFill>
                  <a:srgbClr val="0000CC"/>
                </a:solidFill>
                <a:effectLst/>
                <a:uLnTx/>
                <a:uFillTx/>
                <a:latin typeface="黑体"/>
                <a:ea typeface="黑体"/>
                <a:cs typeface="+mn-cs"/>
                <a:sym typeface="宋体" pitchFamily="2" charset="-122"/>
              </a:rPr>
              <a:t>支持</a:t>
            </a:r>
            <a:r>
              <a:rPr lang="zh-CN" altLang="en-US" sz="2600" dirty="0">
                <a:solidFill>
                  <a:srgbClr val="0000CC"/>
                </a:solidFill>
                <a:latin typeface="+mn-lt"/>
                <a:ea typeface="+mn-ea"/>
                <a:sym typeface="Times New Roman" pitchFamily="18" charset="0"/>
              </a:rPr>
              <a:t>Internet</a:t>
            </a: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a:t>
            </a:r>
            <a:r>
              <a:rPr lang="zh-CN" altLang="en-US" sz="2600" dirty="0">
                <a:latin typeface="+mn-lt"/>
                <a:ea typeface="+mn-ea"/>
                <a:sym typeface="Times New Roman" pitchFamily="18" charset="0"/>
              </a:rPr>
              <a:t>Linux</a:t>
            </a: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免费提供了大量支持</a:t>
            </a:r>
            <a:r>
              <a:rPr lang="zh-CN" altLang="en-US" sz="2600" dirty="0">
                <a:latin typeface="+mn-lt"/>
                <a:ea typeface="+mn-ea"/>
                <a:sym typeface="Times New Roman" pitchFamily="18" charset="0"/>
              </a:rPr>
              <a:t>Internet</a:t>
            </a: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的软件。</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有</a:t>
            </a:r>
            <a:r>
              <a:rPr kumimoji="0" lang="zh-CN" altLang="en-US" sz="2600" b="1" i="0" u="none" strike="noStrike" kern="1200" cap="none" spc="0" normalizeH="0" baseline="0" noProof="0" dirty="0">
                <a:ln>
                  <a:noFill/>
                </a:ln>
                <a:solidFill>
                  <a:srgbClr val="0000CC"/>
                </a:solidFill>
                <a:effectLst/>
                <a:uLnTx/>
                <a:uFillTx/>
                <a:latin typeface="黑体"/>
                <a:ea typeface="黑体"/>
                <a:cs typeface="+mn-cs"/>
                <a:sym typeface="宋体" pitchFamily="2" charset="-122"/>
              </a:rPr>
              <a:t>支持文件传输</a:t>
            </a: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：用户能通过</a:t>
            </a:r>
            <a:r>
              <a:rPr lang="zh-CN" altLang="en-US" sz="2600" dirty="0">
                <a:latin typeface="+mn-lt"/>
                <a:ea typeface="+mn-ea"/>
                <a:sym typeface="Times New Roman" pitchFamily="18" charset="0"/>
              </a:rPr>
              <a:t>Linux</a:t>
            </a: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命令完成内部信息或文件的传输。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有</a:t>
            </a:r>
            <a:r>
              <a:rPr kumimoji="0" lang="zh-CN" altLang="en-US" sz="2600" b="1" i="0" u="none" strike="noStrike" kern="1200" cap="none" spc="0" normalizeH="0" baseline="0" noProof="0" dirty="0">
                <a:ln>
                  <a:noFill/>
                </a:ln>
                <a:solidFill>
                  <a:srgbClr val="0000CC"/>
                </a:solidFill>
                <a:effectLst/>
                <a:uLnTx/>
                <a:uFillTx/>
                <a:latin typeface="黑体"/>
                <a:ea typeface="黑体"/>
                <a:cs typeface="+mn-cs"/>
                <a:sym typeface="宋体" pitchFamily="2" charset="-122"/>
              </a:rPr>
              <a:t>支持远程访问</a:t>
            </a: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a:t>
            </a:r>
            <a:r>
              <a:rPr lang="zh-CN" altLang="en-US" sz="2600" dirty="0">
                <a:latin typeface="+mn-lt"/>
                <a:ea typeface="+mn-ea"/>
                <a:sym typeface="Times New Roman" pitchFamily="18" charset="0"/>
              </a:rPr>
              <a:t>Linux</a:t>
            </a:r>
            <a:r>
              <a:rPr kumimoji="0" lang="zh-CN" altLang="en-US" sz="2600" b="1" i="0" u="none" strike="noStrike" kern="1200" cap="none" spc="0" normalizeH="0" baseline="0" noProof="0" dirty="0">
                <a:ln>
                  <a:noFill/>
                </a:ln>
                <a:solidFill>
                  <a:srgbClr val="000000"/>
                </a:solidFill>
                <a:effectLst/>
                <a:uLnTx/>
                <a:uFillTx/>
                <a:latin typeface="黑体"/>
                <a:ea typeface="黑体"/>
                <a:cs typeface="+mn-cs"/>
                <a:sym typeface="宋体" pitchFamily="2" charset="-122"/>
              </a:rPr>
              <a:t>为系统管理员和技术人员提供了访问其他系统的窗口。通过远程访问的功能，一位技术人员能够有效为多个远程系统服务。</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dirty="0">
              <a:ln>
                <a:noFill/>
              </a:ln>
              <a:solidFill>
                <a:srgbClr val="000000"/>
              </a:solidFill>
              <a:effectLst/>
              <a:uLnTx/>
              <a:uFillTx/>
              <a:latin typeface="黑体"/>
              <a:ea typeface="黑体"/>
              <a:cs typeface="+mn-cs"/>
            </a:endParaRPr>
          </a:p>
        </p:txBody>
      </p:sp>
      <p:sp>
        <p:nvSpPr>
          <p:cNvPr id="4" name="Rectangle 2"/>
          <p:cNvSpPr>
            <a:spLocks noGrp="1" noChangeArrowheads="1"/>
          </p:cNvSpPr>
          <p:nvPr>
            <p:ph type="title"/>
          </p:nvPr>
        </p:nvSpPr>
        <p:spPr>
          <a:xfrm>
            <a:off x="1991544" y="473551"/>
            <a:ext cx="7543800" cy="858837"/>
          </a:xfrm>
        </p:spPr>
        <p:txBody>
          <a:bodyPr/>
          <a:lstStyle/>
          <a:p>
            <a:r>
              <a:rPr lang="zh-CN" altLang="en-US" dirty="0"/>
              <a:t>Linux操作系统</a:t>
            </a:r>
            <a:r>
              <a:rPr lang="zh-CN" altLang="en-US" dirty="0">
                <a:latin typeface="+mj-ea"/>
              </a:rPr>
              <a:t>的特征</a:t>
            </a:r>
            <a:endParaRPr lang="zh-CN" altLang="en-US" sz="3600" b="0" dirty="0">
              <a:latin typeface="宋体" pitchFamily="2" charset="-122"/>
              <a:ea typeface="宋体" pitchFamily="2" charset="-122"/>
            </a:endParaRPr>
          </a:p>
        </p:txBody>
      </p:sp>
      <p:sp>
        <p:nvSpPr>
          <p:cNvPr id="5" name="灯片编号占位符 4"/>
          <p:cNvSpPr>
            <a:spLocks noGrp="1"/>
          </p:cNvSpPr>
          <p:nvPr>
            <p:ph type="sldNum" sz="quarter" idx="11"/>
          </p:nvPr>
        </p:nvSpPr>
        <p:spPr>
          <a:xfrm>
            <a:off x="5029200" y="5790952"/>
            <a:ext cx="2133600" cy="457200"/>
          </a:xfrm>
          <a:noFill/>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7000AA29-53BB-4ABB-95DC-6E9302FEE583}" type="slidenum">
              <a:rPr kumimoji="0" lang="en-US" altLang="zh-CN" sz="1600" b="1"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24</a:t>
            </a:fld>
            <a:endParaRPr kumimoji="0" lang="en-US" altLang="zh-CN" sz="1600" b="1"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4198181957"/>
      </p:ext>
    </p:extLst>
  </p:cSld>
  <p:clrMapOvr>
    <a:masterClrMapping/>
  </p:clrMapOvr>
  <p:transition>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0" fill="hold">
                                          <p:stCondLst>
                                            <p:cond delay="0"/>
                                          </p:stCondLst>
                                        </p:cTn>
                                        <p:tgtEl>
                                          <p:spTgt spid="4"/>
                                        </p:tgtEl>
                                        <p:attrNameLst>
                                          <p:attrName>style.visibility</p:attrName>
                                        </p:attrNameLst>
                                      </p:cBhvr>
                                      <p:to>
                                        <p:strVal val="visible"/>
                                      </p:to>
                                    </p:set>
                                    <p:animEffect transition="in" filter="fade">
                                      <p:cBhvr>
                                        <p:cTn id="7" dur="767" decel="100000"/>
                                        <p:tgtEl>
                                          <p:spTgt spid="4"/>
                                        </p:tgtEl>
                                      </p:cBhvr>
                                    </p:animEffect>
                                    <p:animScale>
                                      <p:cBhvr>
                                        <p:cTn id="8" dur="767" decel="100000"/>
                                        <p:tgtEl>
                                          <p:spTgt spid="4"/>
                                        </p:tgtEl>
                                      </p:cBhvr>
                                      <p:from x="10000" y="10000"/>
                                      <p:to x="200000" y="450000"/>
                                    </p:animScale>
                                    <p:animScale>
                                      <p:cBhvr>
                                        <p:cTn id="9" dur="1228" accel="100000" fill="hold">
                                          <p:stCondLst>
                                            <p:cond delay="767"/>
                                          </p:stCondLst>
                                        </p:cTn>
                                        <p:tgtEl>
                                          <p:spTgt spid="4"/>
                                        </p:tgtEl>
                                      </p:cBhvr>
                                      <p:from x="200000" y="450000"/>
                                      <p:to x="100000" y="100000"/>
                                    </p:animScale>
                                    <p:set>
                                      <p:cBhvr>
                                        <p:cTn id="10" dur="767" fill="hold"/>
                                        <p:tgtEl>
                                          <p:spTgt spid="4"/>
                                        </p:tgtEl>
                                        <p:attrNameLst>
                                          <p:attrName>ppt_x</p:attrName>
                                        </p:attrNameLst>
                                      </p:cBhvr>
                                      <p:to>
                                        <p:strVal val="(0.5)"/>
                                      </p:to>
                                    </p:set>
                                    <p:anim from="(0.5)" to="(#ppt_x)" calcmode="lin" valueType="num">
                                      <p:cBhvr>
                                        <p:cTn id="11" dur="1228" accel="100000" fill="hold">
                                          <p:stCondLst>
                                            <p:cond delay="767"/>
                                          </p:stCondLst>
                                        </p:cTn>
                                        <p:tgtEl>
                                          <p:spTgt spid="4"/>
                                        </p:tgtEl>
                                        <p:attrNameLst>
                                          <p:attrName>ppt_x</p:attrName>
                                        </p:attrNameLst>
                                      </p:cBhvr>
                                    </p:anim>
                                    <p:set>
                                      <p:cBhvr>
                                        <p:cTn id="12" dur="767" fill="hold"/>
                                        <p:tgtEl>
                                          <p:spTgt spid="4"/>
                                        </p:tgtEl>
                                        <p:attrNameLst>
                                          <p:attrName>ppt_y</p:attrName>
                                        </p:attrNameLst>
                                      </p:cBhvr>
                                      <p:to>
                                        <p:strVal val="(#ppt_y+0.4)"/>
                                      </p:to>
                                    </p:set>
                                    <p:anim from="(#ppt_y+0.4)" to="(#ppt_y)" calcmode="lin" valueType="num">
                                      <p:cBhvr>
                                        <p:cTn id="13" dur="1228" accel="100000" fill="hold">
                                          <p:stCondLst>
                                            <p:cond delay="767"/>
                                          </p:stCondLst>
                                        </p:cTn>
                                        <p:tgtEl>
                                          <p:spTgt spid="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63961" y="542192"/>
            <a:ext cx="10058400" cy="858837"/>
          </a:xfrm>
        </p:spPr>
        <p:txBody>
          <a:bodyPr/>
          <a:lstStyle/>
          <a:p>
            <a:r>
              <a:rPr lang="zh-CN" altLang="en-US" dirty="0">
                <a:latin typeface="+mn-lt"/>
              </a:rPr>
              <a:t>Linux操作系统</a:t>
            </a:r>
            <a:r>
              <a:rPr lang="zh-CN" altLang="en-US" dirty="0">
                <a:latin typeface="+mj-ea"/>
              </a:rPr>
              <a:t>的特征</a:t>
            </a:r>
          </a:p>
        </p:txBody>
      </p:sp>
      <p:sp>
        <p:nvSpPr>
          <p:cNvPr id="9219" name="Rectangle 3"/>
          <p:cNvSpPr>
            <a:spLocks noGrp="1" noChangeArrowheads="1"/>
          </p:cNvSpPr>
          <p:nvPr>
            <p:ph type="body" idx="1"/>
          </p:nvPr>
        </p:nvSpPr>
        <p:spPr>
          <a:xfrm>
            <a:off x="1118210" y="1654373"/>
            <a:ext cx="9949903" cy="4325888"/>
          </a:xfrm>
        </p:spPr>
        <p:txBody>
          <a:bodyPr/>
          <a:lstStyle/>
          <a:p>
            <a:pPr marL="0" indent="0">
              <a:lnSpc>
                <a:spcPct val="120000"/>
              </a:lnSpc>
              <a:buNone/>
            </a:pPr>
            <a:r>
              <a:rPr lang="en-US" altLang="zh-CN" sz="2600" dirty="0">
                <a:solidFill>
                  <a:srgbClr val="0000CC"/>
                </a:solidFill>
                <a:latin typeface="+mn-ea"/>
              </a:rPr>
              <a:t>5</a:t>
            </a:r>
            <a:r>
              <a:rPr lang="zh-CN" altLang="en-US" sz="2600" dirty="0">
                <a:solidFill>
                  <a:srgbClr val="0000CC"/>
                </a:solidFill>
                <a:latin typeface="+mn-ea"/>
              </a:rPr>
              <a:t>．高度的稳定性</a:t>
            </a:r>
            <a:endParaRPr lang="en-US" altLang="zh-CN" sz="2600" dirty="0">
              <a:solidFill>
                <a:srgbClr val="0000CC"/>
              </a:solidFill>
              <a:latin typeface="+mn-ea"/>
            </a:endParaRPr>
          </a:p>
          <a:p>
            <a:pPr marL="0" indent="0">
              <a:lnSpc>
                <a:spcPct val="120000"/>
              </a:lnSpc>
              <a:buNone/>
            </a:pPr>
            <a:r>
              <a:rPr lang="en-US" altLang="zh-CN" sz="2600" dirty="0"/>
              <a:t>Linux</a:t>
            </a:r>
            <a:r>
              <a:rPr lang="zh-CN" altLang="en-US" sz="2600" dirty="0">
                <a:latin typeface="+mn-ea"/>
              </a:rPr>
              <a:t>继承了</a:t>
            </a:r>
            <a:r>
              <a:rPr lang="en-US" altLang="zh-CN" sz="2600" dirty="0"/>
              <a:t>UNIX</a:t>
            </a:r>
            <a:r>
              <a:rPr lang="zh-CN" altLang="en-US" sz="2600" dirty="0">
                <a:latin typeface="+mn-ea"/>
              </a:rPr>
              <a:t>的优良特性，可以连续运行数月、数年而无需重新启动。在过去的几十年广泛使用中，只有屈指可数的几个病毒感染过</a:t>
            </a:r>
            <a:r>
              <a:rPr lang="en-US" altLang="zh-CN" sz="2600" dirty="0"/>
              <a:t>Linux</a:t>
            </a:r>
            <a:r>
              <a:rPr lang="zh-CN" altLang="en-US" sz="2600" dirty="0">
                <a:latin typeface="+mn-ea"/>
              </a:rPr>
              <a:t>。</a:t>
            </a:r>
            <a:endParaRPr lang="en-US" altLang="zh-CN" sz="2600" dirty="0">
              <a:latin typeface="+mn-ea"/>
            </a:endParaRPr>
          </a:p>
          <a:p>
            <a:pPr marL="0" indent="0">
              <a:lnSpc>
                <a:spcPct val="120000"/>
              </a:lnSpc>
              <a:buNone/>
            </a:pPr>
            <a:r>
              <a:rPr lang="zh-CN" altLang="en-US" sz="2600" dirty="0">
                <a:latin typeface="+mn-ea"/>
              </a:rPr>
              <a:t>这种强免疫力归功于</a:t>
            </a:r>
            <a:r>
              <a:rPr lang="en-US" altLang="zh-CN" sz="2600" dirty="0"/>
              <a:t>Linux</a:t>
            </a:r>
            <a:r>
              <a:rPr lang="zh-CN" altLang="en-US" sz="2600" dirty="0">
                <a:latin typeface="+mn-ea"/>
              </a:rPr>
              <a:t>健壮的基础架构。</a:t>
            </a:r>
            <a:r>
              <a:rPr lang="en-US" altLang="zh-CN" sz="2600" dirty="0"/>
              <a:t>Linux</a:t>
            </a:r>
            <a:r>
              <a:rPr lang="zh-CN" altLang="en-US" sz="2600" dirty="0">
                <a:latin typeface="+mn-ea"/>
              </a:rPr>
              <a:t>的基础架构由相互无关的多个层组成，每层都拥有特定的功能和严格的权限许可，从而保证最大限度的稳定运行。</a:t>
            </a:r>
            <a:endParaRPr lang="en-US" altLang="zh-CN" sz="2600" dirty="0">
              <a:latin typeface="+mn-ea"/>
            </a:endParaRPr>
          </a:p>
          <a:p>
            <a:pPr marL="0" indent="0">
              <a:buNone/>
            </a:pPr>
            <a:r>
              <a:rPr lang="en-US" altLang="zh-CN" sz="2600" b="0" dirty="0"/>
              <a:t>     </a:t>
            </a:r>
            <a:endParaRPr lang="zh-CN" altLang="en-US" sz="2600" b="0" dirty="0"/>
          </a:p>
        </p:txBody>
      </p:sp>
      <p:sp>
        <p:nvSpPr>
          <p:cNvPr id="4" name="灯片编号占位符 4"/>
          <p:cNvSpPr>
            <a:spLocks noGrp="1"/>
          </p:cNvSpPr>
          <p:nvPr>
            <p:ph type="sldNum" sz="quarter" idx="11"/>
          </p:nvPr>
        </p:nvSpPr>
        <p:spPr>
          <a:xfrm>
            <a:off x="5026361" y="5776405"/>
            <a:ext cx="2133600" cy="457200"/>
          </a:xfrm>
          <a:noFill/>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7000AA29-53BB-4ABB-95DC-6E9302FEE583}" type="slidenum">
              <a:rPr kumimoji="0" lang="en-US" altLang="zh-CN" sz="1600" b="1"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25</a:t>
            </a:fld>
            <a:endParaRPr kumimoji="0" lang="en-US" altLang="zh-CN" sz="1600" b="1"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183912435"/>
      </p:ext>
    </p:extLst>
  </p:cSld>
  <p:clrMapOvr>
    <a:masterClrMapping/>
  </p:clrMapOvr>
  <p:transition>
    <p:push dir="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zh-CN" altLang="en-US" dirty="0">
                <a:latin typeface="+mn-lt"/>
              </a:rPr>
              <a:t>Linux操作系统</a:t>
            </a:r>
            <a:r>
              <a:rPr lang="zh-CN" altLang="en-US" dirty="0">
                <a:latin typeface="+mj-ea"/>
              </a:rPr>
              <a:t>的特征</a:t>
            </a:r>
            <a:endParaRPr lang="zh-CN" altLang="en-US" b="0" dirty="0">
              <a:latin typeface="宋体" pitchFamily="2" charset="-122"/>
              <a:ea typeface="宋体" pitchFamily="2" charset="-122"/>
            </a:endParaRPr>
          </a:p>
        </p:txBody>
      </p:sp>
      <p:sp>
        <p:nvSpPr>
          <p:cNvPr id="10243" name="Rectangle 3"/>
          <p:cNvSpPr>
            <a:spLocks noGrp="1" noChangeArrowheads="1"/>
          </p:cNvSpPr>
          <p:nvPr>
            <p:ph type="body" idx="1"/>
          </p:nvPr>
        </p:nvSpPr>
        <p:spPr>
          <a:xfrm>
            <a:off x="1121048" y="1609820"/>
            <a:ext cx="10159528" cy="4464496"/>
          </a:xfrm>
        </p:spPr>
        <p:txBody>
          <a:bodyPr/>
          <a:lstStyle/>
          <a:p>
            <a:pPr marL="0" indent="0">
              <a:lnSpc>
                <a:spcPct val="120000"/>
              </a:lnSpc>
              <a:buNone/>
            </a:pPr>
            <a:r>
              <a:rPr lang="en-US" altLang="zh-CN" sz="2600" dirty="0">
                <a:solidFill>
                  <a:srgbClr val="0000CC"/>
                </a:solidFill>
                <a:latin typeface="+mn-ea"/>
              </a:rPr>
              <a:t>6</a:t>
            </a:r>
            <a:r>
              <a:rPr lang="zh-CN" altLang="en-US" sz="2600" dirty="0">
                <a:solidFill>
                  <a:srgbClr val="0000CC"/>
                </a:solidFill>
                <a:latin typeface="+mn-ea"/>
              </a:rPr>
              <a:t>．友好的用户界面</a:t>
            </a:r>
            <a:endParaRPr lang="en-US" altLang="zh-CN" sz="2600" dirty="0">
              <a:solidFill>
                <a:srgbClr val="0000CC"/>
              </a:solidFill>
              <a:latin typeface="+mn-ea"/>
            </a:endParaRPr>
          </a:p>
          <a:p>
            <a:pPr marL="0" indent="0">
              <a:lnSpc>
                <a:spcPct val="120000"/>
              </a:lnSpc>
              <a:buNone/>
            </a:pPr>
            <a:r>
              <a:rPr lang="zh-CN" altLang="en-US" sz="2600" dirty="0">
                <a:ea typeface="+mj-ea"/>
                <a:cs typeface="+mj-cs"/>
              </a:rPr>
              <a:t>Linux</a:t>
            </a:r>
            <a:r>
              <a:rPr lang="zh-CN" altLang="en-US" sz="2600" dirty="0">
                <a:latin typeface="+mn-ea"/>
              </a:rPr>
              <a:t>向用户提供了两种界面：</a:t>
            </a:r>
            <a:r>
              <a:rPr lang="zh-CN" altLang="en-US" sz="2600" dirty="0">
                <a:solidFill>
                  <a:srgbClr val="0000CC"/>
                </a:solidFill>
                <a:latin typeface="+mn-ea"/>
              </a:rPr>
              <a:t>字符界面</a:t>
            </a:r>
            <a:r>
              <a:rPr lang="zh-CN" altLang="en-US" sz="2600" dirty="0">
                <a:latin typeface="+mn-ea"/>
              </a:rPr>
              <a:t>和</a:t>
            </a:r>
            <a:r>
              <a:rPr lang="zh-CN" altLang="en-US" sz="2600" dirty="0">
                <a:solidFill>
                  <a:srgbClr val="0000CC"/>
                </a:solidFill>
                <a:latin typeface="+mn-ea"/>
              </a:rPr>
              <a:t>图形化界面</a:t>
            </a:r>
            <a:r>
              <a:rPr lang="zh-CN" altLang="en-US" sz="2600" dirty="0">
                <a:latin typeface="+mn-ea"/>
              </a:rPr>
              <a:t>。</a:t>
            </a:r>
            <a:r>
              <a:rPr lang="zh-CN" altLang="en-US" sz="2600" dirty="0">
                <a:ea typeface="+mj-ea"/>
                <a:cs typeface="+mj-cs"/>
              </a:rPr>
              <a:t>Linux</a:t>
            </a:r>
            <a:r>
              <a:rPr lang="zh-CN" altLang="en-US" sz="2600" dirty="0">
                <a:latin typeface="+mn-ea"/>
              </a:rPr>
              <a:t>的传统用户界面基于文本的命令行界面，即</a:t>
            </a:r>
            <a:r>
              <a:rPr lang="zh-CN" altLang="en-US" sz="2600" dirty="0">
                <a:ea typeface="+mj-ea"/>
                <a:cs typeface="+mj-cs"/>
              </a:rPr>
              <a:t>Shell</a:t>
            </a:r>
            <a:r>
              <a:rPr lang="zh-CN" altLang="en-US" sz="2600" dirty="0">
                <a:latin typeface="+mn-ea"/>
              </a:rPr>
              <a:t>。它既可以联机使用，又可以存储在文件上脱机使用。</a:t>
            </a:r>
            <a:r>
              <a:rPr lang="zh-CN" altLang="en-US" sz="2600" dirty="0">
                <a:ea typeface="+mj-ea"/>
                <a:cs typeface="+mj-cs"/>
              </a:rPr>
              <a:t>Shell</a:t>
            </a:r>
            <a:r>
              <a:rPr lang="zh-CN" altLang="en-US" sz="2600" dirty="0">
                <a:latin typeface="+mn-ea"/>
              </a:rPr>
              <a:t>有很强的程序设计能力，用户可方便地编写程序。</a:t>
            </a:r>
            <a:endParaRPr lang="en-US" altLang="zh-CN" sz="2600" dirty="0">
              <a:latin typeface="+mn-ea"/>
            </a:endParaRPr>
          </a:p>
          <a:p>
            <a:pPr marL="0" indent="0">
              <a:lnSpc>
                <a:spcPct val="120000"/>
              </a:lnSpc>
              <a:buNone/>
            </a:pPr>
            <a:r>
              <a:rPr lang="zh-CN" altLang="en-US" sz="2600" dirty="0">
                <a:ea typeface="+mj-ea"/>
                <a:cs typeface="+mj-cs"/>
              </a:rPr>
              <a:t>Linux</a:t>
            </a:r>
            <a:r>
              <a:rPr lang="zh-CN" altLang="en-US" sz="2600" dirty="0">
                <a:latin typeface="+mn-ea"/>
              </a:rPr>
              <a:t>还提供了图形用户界面，在</a:t>
            </a:r>
            <a:r>
              <a:rPr lang="en-US" altLang="zh-CN" sz="2600" dirty="0">
                <a:ea typeface="+mj-ea"/>
                <a:cs typeface="+mj-cs"/>
              </a:rPr>
              <a:t>X-Window</a:t>
            </a:r>
            <a:r>
              <a:rPr lang="zh-CN" altLang="en-US" sz="2600" dirty="0">
                <a:latin typeface="+mn-ea"/>
              </a:rPr>
              <a:t>环境中和在</a:t>
            </a:r>
            <a:r>
              <a:rPr lang="en-US" altLang="zh-CN" sz="2600" dirty="0">
                <a:ea typeface="+mj-ea"/>
                <a:cs typeface="+mj-cs"/>
              </a:rPr>
              <a:t>Windows</a:t>
            </a:r>
            <a:r>
              <a:rPr lang="zh-CN" altLang="en-US" sz="2600" dirty="0">
                <a:latin typeface="+mn-ea"/>
              </a:rPr>
              <a:t>中相似，可以说是一个</a:t>
            </a:r>
            <a:r>
              <a:rPr lang="en-US" altLang="zh-CN" sz="2600" dirty="0">
                <a:ea typeface="+mj-ea"/>
                <a:cs typeface="+mj-cs"/>
              </a:rPr>
              <a:t>Linux</a:t>
            </a:r>
            <a:r>
              <a:rPr lang="zh-CN" altLang="en-US" sz="2600" dirty="0">
                <a:latin typeface="+mn-ea"/>
              </a:rPr>
              <a:t>版的</a:t>
            </a:r>
            <a:r>
              <a:rPr lang="en-US" altLang="zh-CN" sz="2600" dirty="0">
                <a:ea typeface="+mj-ea"/>
                <a:cs typeface="+mj-cs"/>
              </a:rPr>
              <a:t>Windows</a:t>
            </a:r>
            <a:r>
              <a:rPr lang="zh-CN" altLang="en-US" sz="2600" dirty="0">
                <a:latin typeface="+mn-ea"/>
              </a:rPr>
              <a:t>。利用鼠标、菜单和窗口等设施，给用户呈现一个直观、易操作、交互性强的友好图形化界面。</a:t>
            </a:r>
          </a:p>
        </p:txBody>
      </p:sp>
      <p:sp>
        <p:nvSpPr>
          <p:cNvPr id="4" name="灯片编号占位符 4"/>
          <p:cNvSpPr>
            <a:spLocks noGrp="1"/>
          </p:cNvSpPr>
          <p:nvPr>
            <p:ph type="sldNum" sz="quarter" idx="11"/>
          </p:nvPr>
        </p:nvSpPr>
        <p:spPr>
          <a:xfrm>
            <a:off x="5083448" y="5847816"/>
            <a:ext cx="2133600" cy="457200"/>
          </a:xfrm>
          <a:noFill/>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7000AA29-53BB-4ABB-95DC-6E9302FEE583}" type="slidenum">
              <a:rPr kumimoji="0" lang="en-US" altLang="zh-CN" sz="1600" b="1" i="0" u="none" strike="noStrike" kern="1200" cap="none" spc="0" normalizeH="0" baseline="0" noProof="0" smtClean="0">
                <a:ln>
                  <a:noFill/>
                </a:ln>
                <a:solidFill>
                  <a:srgbClr val="000000"/>
                </a:solidFill>
                <a:effectLst/>
                <a:uLnTx/>
                <a:uFillTx/>
                <a:latin typeface="Arial" charset="0"/>
                <a:ea typeface="宋体"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26</a:t>
            </a:fld>
            <a:endParaRPr kumimoji="0" lang="en-US" altLang="zh-CN" sz="1600" b="1" i="0" u="none" strike="noStrike" kern="1200" cap="none" spc="0" normalizeH="0" baseline="0" noProof="0" dirty="0">
              <a:ln>
                <a:noFill/>
              </a:ln>
              <a:solidFill>
                <a:srgbClr val="000000"/>
              </a:solidFill>
              <a:effectLst/>
              <a:uLnTx/>
              <a:uFillTx/>
              <a:latin typeface="Arial" charset="0"/>
              <a:ea typeface="宋体" pitchFamily="2" charset="-122"/>
              <a:cs typeface="+mn-cs"/>
            </a:endParaRPr>
          </a:p>
        </p:txBody>
      </p:sp>
    </p:spTree>
    <p:extLst>
      <p:ext uri="{BB962C8B-B14F-4D97-AF65-F5344CB8AC3E}">
        <p14:creationId xmlns:p14="http://schemas.microsoft.com/office/powerpoint/2010/main" val="3974760484"/>
      </p:ext>
    </p:extLst>
  </p:cSld>
  <p:clrMapOvr>
    <a:masterClrMapping/>
  </p:clrMapOvr>
  <p:transition>
    <p:wedg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a:xfrm>
            <a:off x="1919536" y="528256"/>
            <a:ext cx="8208912" cy="858837"/>
          </a:xfrm>
        </p:spPr>
        <p:txBody>
          <a:bodyPr/>
          <a:lstStyle/>
          <a:p>
            <a:pPr eaLnBrk="1" hangingPunct="1"/>
            <a:r>
              <a:rPr lang="en-US" altLang="zh-CN" dirty="0">
                <a:latin typeface="+mn-lt"/>
              </a:rPr>
              <a:t>1.3  Linux</a:t>
            </a:r>
            <a:r>
              <a:rPr lang="zh-CN" altLang="en-US" dirty="0">
                <a:latin typeface="+mj-ea"/>
              </a:rPr>
              <a:t>版本 </a:t>
            </a:r>
          </a:p>
        </p:txBody>
      </p:sp>
      <p:sp>
        <p:nvSpPr>
          <p:cNvPr id="14341" name="Rectangle 3"/>
          <p:cNvSpPr>
            <a:spLocks noGrp="1" noChangeArrowheads="1"/>
          </p:cNvSpPr>
          <p:nvPr>
            <p:ph type="body" idx="1"/>
          </p:nvPr>
        </p:nvSpPr>
        <p:spPr>
          <a:xfrm>
            <a:off x="1181696" y="1624018"/>
            <a:ext cx="9937104" cy="4417937"/>
          </a:xfrm>
        </p:spPr>
        <p:txBody>
          <a:bodyPr/>
          <a:lstStyle/>
          <a:p>
            <a:pPr eaLnBrk="1" hangingPunct="1">
              <a:lnSpc>
                <a:spcPct val="130000"/>
              </a:lnSpc>
            </a:pPr>
            <a:r>
              <a:rPr lang="en-US" altLang="zh-CN" sz="2600" dirty="0"/>
              <a:t>Linux</a:t>
            </a:r>
            <a:r>
              <a:rPr lang="zh-CN" altLang="en-US" sz="2600" dirty="0"/>
              <a:t>实际上有</a:t>
            </a:r>
            <a:r>
              <a:rPr lang="zh-CN" altLang="en-US" sz="2600" dirty="0">
                <a:solidFill>
                  <a:srgbClr val="CC0099"/>
                </a:solidFill>
              </a:rPr>
              <a:t>狭义</a:t>
            </a:r>
            <a:r>
              <a:rPr lang="zh-CN" altLang="en-US" sz="2600" dirty="0"/>
              <a:t>和</a:t>
            </a:r>
            <a:r>
              <a:rPr lang="zh-CN" altLang="en-US" sz="2600" dirty="0">
                <a:solidFill>
                  <a:srgbClr val="CC0099"/>
                </a:solidFill>
              </a:rPr>
              <a:t>广义</a:t>
            </a:r>
            <a:r>
              <a:rPr lang="zh-CN" altLang="en-US" sz="2600" dirty="0"/>
              <a:t>两层含义。狭义的</a:t>
            </a:r>
            <a:r>
              <a:rPr lang="en-US" altLang="zh-CN" sz="2600" dirty="0"/>
              <a:t>Linux</a:t>
            </a:r>
            <a:r>
              <a:rPr lang="zh-CN" altLang="en-US" sz="2600" dirty="0"/>
              <a:t>是指</a:t>
            </a:r>
            <a:r>
              <a:rPr lang="en-US" altLang="zh-CN" sz="2600" dirty="0"/>
              <a:t>Linux</a:t>
            </a:r>
            <a:r>
              <a:rPr lang="zh-CN" altLang="en-US" sz="2600" dirty="0"/>
              <a:t>的内核（</a:t>
            </a:r>
            <a:r>
              <a:rPr lang="en-US" altLang="zh-CN" sz="2600" dirty="0"/>
              <a:t>Kernel</a:t>
            </a:r>
            <a:r>
              <a:rPr lang="zh-CN" altLang="en-US" sz="2600" dirty="0"/>
              <a:t>），能够完成内存调度、进程管理、设备驱动等操作系统的基本功能，但不包括应用程序。</a:t>
            </a:r>
            <a:endParaRPr lang="en-US" altLang="zh-CN" sz="2600" dirty="0"/>
          </a:p>
          <a:p>
            <a:pPr eaLnBrk="1" hangingPunct="1">
              <a:lnSpc>
                <a:spcPct val="130000"/>
              </a:lnSpc>
            </a:pPr>
            <a:r>
              <a:rPr lang="zh-CN" altLang="en-US" sz="2600" dirty="0"/>
              <a:t>广义的</a:t>
            </a:r>
            <a:r>
              <a:rPr lang="en-US" altLang="zh-CN" sz="2600" dirty="0"/>
              <a:t>Linux</a:t>
            </a:r>
            <a:r>
              <a:rPr lang="zh-CN" altLang="en-US" sz="2600" dirty="0"/>
              <a:t>是指以</a:t>
            </a:r>
            <a:r>
              <a:rPr lang="en-US" altLang="zh-CN" sz="2600" dirty="0"/>
              <a:t>Linux</a:t>
            </a:r>
            <a:r>
              <a:rPr lang="zh-CN" altLang="en-US" sz="2600" dirty="0"/>
              <a:t>内核为基础，包含应用程序、文档和相关的系统设置与管理工具的完整操作系统。</a:t>
            </a:r>
            <a:endParaRPr lang="en-US" altLang="zh-CN" sz="2600" dirty="0"/>
          </a:p>
          <a:p>
            <a:pPr eaLnBrk="1" hangingPunct="1">
              <a:lnSpc>
                <a:spcPct val="130000"/>
              </a:lnSpc>
            </a:pPr>
            <a:r>
              <a:rPr lang="en-US" altLang="zh-CN" sz="2600" dirty="0"/>
              <a:t>Linux</a:t>
            </a:r>
            <a:r>
              <a:rPr lang="zh-CN" altLang="en-US" sz="2600" dirty="0"/>
              <a:t>内核可自由获取，并且允许厂商自行搭配其他应用程序，因此，</a:t>
            </a:r>
            <a:r>
              <a:rPr lang="en-US" altLang="zh-CN" sz="2600" dirty="0"/>
              <a:t>Linux</a:t>
            </a:r>
            <a:r>
              <a:rPr lang="zh-CN" altLang="en-US" sz="2600" dirty="0"/>
              <a:t>的版本可分为两种：</a:t>
            </a:r>
            <a:r>
              <a:rPr lang="zh-CN" altLang="en-US" sz="2600" dirty="0">
                <a:solidFill>
                  <a:srgbClr val="0000CC"/>
                </a:solidFill>
              </a:rPr>
              <a:t>内核版</a:t>
            </a:r>
            <a:r>
              <a:rPr lang="zh-CN" altLang="en-US" sz="2600" dirty="0"/>
              <a:t>和</a:t>
            </a:r>
            <a:r>
              <a:rPr lang="zh-CN" altLang="en-US" sz="2600" dirty="0">
                <a:solidFill>
                  <a:srgbClr val="0000CC"/>
                </a:solidFill>
              </a:rPr>
              <a:t>发行版</a:t>
            </a:r>
            <a:r>
              <a:rPr lang="zh-CN" altLang="en-US" sz="2600" dirty="0"/>
              <a:t>。</a:t>
            </a:r>
            <a:endParaRPr lang="en-US" altLang="zh-CN" sz="26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27</a:t>
            </a:fld>
            <a:endParaRPr lang="en-US" altLang="zh-CN"/>
          </a:p>
        </p:txBody>
      </p:sp>
    </p:spTree>
    <p:extLst>
      <p:ext uri="{BB962C8B-B14F-4D97-AF65-F5344CB8AC3E}">
        <p14:creationId xmlns:p14="http://schemas.microsoft.com/office/powerpoint/2010/main" val="772341069"/>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a:xfrm>
            <a:off x="1907335" y="556792"/>
            <a:ext cx="7543800" cy="858837"/>
          </a:xfrm>
        </p:spPr>
        <p:txBody>
          <a:bodyPr/>
          <a:lstStyle/>
          <a:p>
            <a:pPr eaLnBrk="1" hangingPunct="1"/>
            <a:r>
              <a:rPr lang="en-US" altLang="zh-CN" dirty="0"/>
              <a:t>Linux</a:t>
            </a:r>
            <a:r>
              <a:rPr lang="zh-CN" altLang="en-US" dirty="0">
                <a:latin typeface="+mj-ea"/>
              </a:rPr>
              <a:t>内核版 </a:t>
            </a:r>
          </a:p>
        </p:txBody>
      </p:sp>
      <p:sp>
        <p:nvSpPr>
          <p:cNvPr id="14341" name="Rectangle 3"/>
          <p:cNvSpPr>
            <a:spLocks noGrp="1" noChangeArrowheads="1"/>
          </p:cNvSpPr>
          <p:nvPr>
            <p:ph type="body" idx="1"/>
          </p:nvPr>
        </p:nvSpPr>
        <p:spPr>
          <a:xfrm>
            <a:off x="1142471" y="1583199"/>
            <a:ext cx="9793088" cy="3744416"/>
          </a:xfrm>
        </p:spPr>
        <p:txBody>
          <a:bodyPr/>
          <a:lstStyle/>
          <a:p>
            <a:pPr eaLnBrk="1" hangingPunct="1"/>
            <a:r>
              <a:rPr lang="en-US" altLang="zh-CN" sz="2600" dirty="0">
                <a:solidFill>
                  <a:srgbClr val="0000CC"/>
                </a:solidFill>
              </a:rPr>
              <a:t>Linux</a:t>
            </a:r>
            <a:r>
              <a:rPr lang="zh-CN" altLang="en-US" sz="2600" dirty="0">
                <a:solidFill>
                  <a:srgbClr val="0000CC"/>
                </a:solidFill>
              </a:rPr>
              <a:t>的内核</a:t>
            </a:r>
            <a:r>
              <a:rPr lang="zh-CN" altLang="en-US" sz="2600" dirty="0"/>
              <a:t>版本号由</a:t>
            </a:r>
            <a:r>
              <a:rPr lang="en-US" altLang="zh-CN" sz="2600" dirty="0"/>
              <a:t>3</a:t>
            </a:r>
            <a:r>
              <a:rPr lang="zh-CN" altLang="en-US" sz="2600" dirty="0"/>
              <a:t>个数字组成，一般表示为</a:t>
            </a:r>
            <a:r>
              <a:rPr lang="en-US" altLang="zh-CN" sz="2600" dirty="0" err="1"/>
              <a:t>X.Y.Z</a:t>
            </a:r>
            <a:r>
              <a:rPr lang="zh-CN" altLang="en-US" sz="2600" dirty="0"/>
              <a:t>形式。其中：</a:t>
            </a:r>
            <a:endParaRPr lang="en-US" altLang="zh-CN" sz="2600" dirty="0"/>
          </a:p>
          <a:p>
            <a:pPr marL="0" indent="0" eaLnBrk="1" hangingPunct="1">
              <a:buNone/>
            </a:pPr>
            <a:r>
              <a:rPr lang="en-US" altLang="zh-CN" sz="2600" dirty="0"/>
              <a:t>    X</a:t>
            </a:r>
            <a:r>
              <a:rPr lang="zh-CN" altLang="en-US" sz="2600" dirty="0"/>
              <a:t>：表示主版本号，通常在一段时间内比较稳定。</a:t>
            </a:r>
            <a:endParaRPr lang="en-US" altLang="zh-CN" sz="2600" dirty="0"/>
          </a:p>
          <a:p>
            <a:pPr marL="0" indent="0" eaLnBrk="1" hangingPunct="1">
              <a:buNone/>
            </a:pPr>
            <a:r>
              <a:rPr lang="en-US" altLang="zh-CN" sz="2600" dirty="0"/>
              <a:t>    Y</a:t>
            </a:r>
            <a:r>
              <a:rPr lang="zh-CN" altLang="en-US" sz="2600" dirty="0"/>
              <a:t>：表示次版本号。偶数表示此内核版本是正式版 </a:t>
            </a:r>
            <a:endParaRPr lang="en-US" altLang="zh-CN" sz="2600" dirty="0"/>
          </a:p>
          <a:p>
            <a:pPr marL="0" indent="0" eaLnBrk="1" hangingPunct="1">
              <a:buNone/>
            </a:pPr>
            <a:r>
              <a:rPr lang="en-US" altLang="zh-CN" sz="2600" dirty="0"/>
              <a:t>          </a:t>
            </a:r>
            <a:r>
              <a:rPr lang="zh-CN" altLang="en-US" sz="2600" dirty="0"/>
              <a:t>本，可以公开发行；奇数表示此内核是测试版 </a:t>
            </a:r>
            <a:endParaRPr lang="en-US" altLang="zh-CN" sz="2600" dirty="0"/>
          </a:p>
          <a:p>
            <a:pPr marL="0" indent="0" eaLnBrk="1" hangingPunct="1">
              <a:buNone/>
            </a:pPr>
            <a:r>
              <a:rPr lang="en-US" altLang="zh-CN" sz="2600" dirty="0"/>
              <a:t>          </a:t>
            </a:r>
            <a:r>
              <a:rPr lang="zh-CN" altLang="en-US" sz="2600" dirty="0"/>
              <a:t>本，还不太稳定，仅供测试。</a:t>
            </a:r>
            <a:endParaRPr lang="en-US" altLang="zh-CN" sz="2600" dirty="0"/>
          </a:p>
          <a:p>
            <a:pPr marL="0" indent="0" eaLnBrk="1" hangingPunct="1">
              <a:buNone/>
            </a:pPr>
            <a:r>
              <a:rPr lang="en-US" altLang="zh-CN" sz="2600" dirty="0"/>
              <a:t>    Z</a:t>
            </a:r>
            <a:r>
              <a:rPr lang="zh-CN" altLang="en-US" sz="2600" dirty="0"/>
              <a:t>：表示修改次数。数值越大，表示修改次数越多，</a:t>
            </a:r>
            <a:endParaRPr lang="en-US" altLang="zh-CN" sz="2600" dirty="0"/>
          </a:p>
          <a:p>
            <a:pPr marL="0" indent="0" eaLnBrk="1" hangingPunct="1">
              <a:buNone/>
            </a:pPr>
            <a:r>
              <a:rPr lang="en-US" altLang="zh-CN" sz="2600" dirty="0"/>
              <a:t>          </a:t>
            </a:r>
            <a:r>
              <a:rPr lang="zh-CN" altLang="en-US" sz="2600" dirty="0"/>
              <a:t>版本相对更完善。</a:t>
            </a:r>
            <a:endParaRPr lang="en-US" altLang="zh-CN" sz="2600" dirty="0"/>
          </a:p>
          <a:p>
            <a:pPr marL="0" indent="0" eaLnBrk="1" hangingPunct="1">
              <a:buNone/>
            </a:pPr>
            <a:endParaRPr lang="en-US" altLang="zh-CN" sz="26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28</a:t>
            </a:fld>
            <a:endParaRPr lang="en-US" altLang="zh-C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7543" y="4241935"/>
            <a:ext cx="2066489" cy="657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组合 5"/>
          <p:cNvGrpSpPr/>
          <p:nvPr/>
        </p:nvGrpSpPr>
        <p:grpSpPr>
          <a:xfrm>
            <a:off x="8472264" y="4733100"/>
            <a:ext cx="3183511" cy="1319050"/>
            <a:chOff x="4086225" y="3475039"/>
            <a:chExt cx="4343400" cy="2005013"/>
          </a:xfrm>
        </p:grpSpPr>
        <p:grpSp>
          <p:nvGrpSpPr>
            <p:cNvPr id="7" name="Group 5"/>
            <p:cNvGrpSpPr>
              <a:grpSpLocks/>
            </p:cNvGrpSpPr>
            <p:nvPr/>
          </p:nvGrpSpPr>
          <p:grpSpPr bwMode="auto">
            <a:xfrm>
              <a:off x="4086225" y="3475040"/>
              <a:ext cx="1828800" cy="1166813"/>
              <a:chOff x="864" y="2448"/>
              <a:chExt cx="1152" cy="735"/>
            </a:xfrm>
          </p:grpSpPr>
          <p:sp>
            <p:nvSpPr>
              <p:cNvPr id="18" name="Line 6"/>
              <p:cNvSpPr>
                <a:spLocks noChangeShapeType="1"/>
              </p:cNvSpPr>
              <p:nvPr/>
            </p:nvSpPr>
            <p:spPr bwMode="auto">
              <a:xfrm flipV="1">
                <a:off x="1536" y="2448"/>
                <a:ext cx="384" cy="384"/>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9" name="Line 7"/>
              <p:cNvSpPr>
                <a:spLocks noChangeShapeType="1"/>
              </p:cNvSpPr>
              <p:nvPr/>
            </p:nvSpPr>
            <p:spPr bwMode="auto">
              <a:xfrm>
                <a:off x="1776" y="2448"/>
                <a:ext cx="24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 name="Text Box 8"/>
              <p:cNvSpPr txBox="1">
                <a:spLocks noChangeArrowheads="1"/>
              </p:cNvSpPr>
              <p:nvPr/>
            </p:nvSpPr>
            <p:spPr bwMode="auto">
              <a:xfrm>
                <a:off x="864" y="2880"/>
                <a:ext cx="96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lnSpc>
                    <a:spcPct val="80000"/>
                  </a:lnSpc>
                  <a:spcBef>
                    <a:spcPct val="50000"/>
                  </a:spcBef>
                </a:pPr>
                <a:r>
                  <a:rPr lang="zh-CN" altLang="en-US" b="1">
                    <a:ea typeface="楷体_GB2312" pitchFamily="49" charset="-122"/>
                  </a:rPr>
                  <a:t>主版本号</a:t>
                </a:r>
              </a:p>
            </p:txBody>
          </p:sp>
          <p:sp>
            <p:nvSpPr>
              <p:cNvPr id="21" name="AutoShape 9"/>
              <p:cNvSpPr>
                <a:spLocks noChangeArrowheads="1"/>
              </p:cNvSpPr>
              <p:nvPr/>
            </p:nvSpPr>
            <p:spPr bwMode="auto">
              <a:xfrm>
                <a:off x="912" y="2779"/>
                <a:ext cx="864" cy="394"/>
              </a:xfrm>
              <a:prstGeom prst="flowChartAlternateProcess">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grpSp>
        <p:grpSp>
          <p:nvGrpSpPr>
            <p:cNvPr id="8" name="Group 10"/>
            <p:cNvGrpSpPr>
              <a:grpSpLocks/>
            </p:cNvGrpSpPr>
            <p:nvPr/>
          </p:nvGrpSpPr>
          <p:grpSpPr bwMode="auto">
            <a:xfrm>
              <a:off x="5534025" y="3475039"/>
              <a:ext cx="1524000" cy="2005013"/>
              <a:chOff x="1776" y="2448"/>
              <a:chExt cx="960" cy="1263"/>
            </a:xfrm>
          </p:grpSpPr>
          <p:sp>
            <p:nvSpPr>
              <p:cNvPr id="14" name="Line 11"/>
              <p:cNvSpPr>
                <a:spLocks noChangeShapeType="1"/>
              </p:cNvSpPr>
              <p:nvPr/>
            </p:nvSpPr>
            <p:spPr bwMode="auto">
              <a:xfrm>
                <a:off x="2112" y="2448"/>
                <a:ext cx="24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5" name="Line 12"/>
              <p:cNvSpPr>
                <a:spLocks noChangeShapeType="1"/>
              </p:cNvSpPr>
              <p:nvPr/>
            </p:nvSpPr>
            <p:spPr bwMode="auto">
              <a:xfrm flipV="1">
                <a:off x="2256" y="2448"/>
                <a:ext cx="0" cy="91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 name="AutoShape 13"/>
              <p:cNvSpPr>
                <a:spLocks noChangeArrowheads="1"/>
              </p:cNvSpPr>
              <p:nvPr/>
            </p:nvSpPr>
            <p:spPr bwMode="auto">
              <a:xfrm>
                <a:off x="1824" y="3307"/>
                <a:ext cx="864" cy="394"/>
              </a:xfrm>
              <a:prstGeom prst="flowChartAlternateProcess">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7" name="Text Box 14"/>
              <p:cNvSpPr txBox="1">
                <a:spLocks noChangeArrowheads="1"/>
              </p:cNvSpPr>
              <p:nvPr/>
            </p:nvSpPr>
            <p:spPr bwMode="auto">
              <a:xfrm>
                <a:off x="1776" y="3408"/>
                <a:ext cx="96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lnSpc>
                    <a:spcPct val="80000"/>
                  </a:lnSpc>
                  <a:spcBef>
                    <a:spcPct val="50000"/>
                  </a:spcBef>
                </a:pPr>
                <a:r>
                  <a:rPr lang="zh-CN" altLang="en-US" b="1">
                    <a:ea typeface="楷体_GB2312" pitchFamily="49" charset="-122"/>
                  </a:rPr>
                  <a:t>次版本号</a:t>
                </a:r>
              </a:p>
            </p:txBody>
          </p:sp>
        </p:grpSp>
        <p:grpSp>
          <p:nvGrpSpPr>
            <p:cNvPr id="9" name="Group 15"/>
            <p:cNvGrpSpPr>
              <a:grpSpLocks/>
            </p:cNvGrpSpPr>
            <p:nvPr/>
          </p:nvGrpSpPr>
          <p:grpSpPr bwMode="auto">
            <a:xfrm>
              <a:off x="6753225" y="3475040"/>
              <a:ext cx="1676400" cy="1166813"/>
              <a:chOff x="2544" y="2448"/>
              <a:chExt cx="1056" cy="735"/>
            </a:xfrm>
          </p:grpSpPr>
          <p:sp>
            <p:nvSpPr>
              <p:cNvPr id="10" name="Line 16"/>
              <p:cNvSpPr>
                <a:spLocks noChangeShapeType="1"/>
              </p:cNvSpPr>
              <p:nvPr/>
            </p:nvSpPr>
            <p:spPr bwMode="auto">
              <a:xfrm>
                <a:off x="2544" y="2448"/>
                <a:ext cx="24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1" name="Line 17"/>
              <p:cNvSpPr>
                <a:spLocks noChangeShapeType="1"/>
              </p:cNvSpPr>
              <p:nvPr/>
            </p:nvSpPr>
            <p:spPr bwMode="auto">
              <a:xfrm flipH="1" flipV="1">
                <a:off x="2688" y="2448"/>
                <a:ext cx="384" cy="384"/>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2" name="AutoShape 18"/>
              <p:cNvSpPr>
                <a:spLocks noChangeArrowheads="1"/>
              </p:cNvSpPr>
              <p:nvPr/>
            </p:nvSpPr>
            <p:spPr bwMode="auto">
              <a:xfrm>
                <a:off x="2688" y="2779"/>
                <a:ext cx="864" cy="394"/>
              </a:xfrm>
              <a:prstGeom prst="flowChartAlternateProcess">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3" name="Text Box 19"/>
              <p:cNvSpPr txBox="1">
                <a:spLocks noChangeArrowheads="1"/>
              </p:cNvSpPr>
              <p:nvPr/>
            </p:nvSpPr>
            <p:spPr bwMode="auto">
              <a:xfrm>
                <a:off x="2640" y="2880"/>
                <a:ext cx="960"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a:lnSpc>
                    <a:spcPct val="80000"/>
                  </a:lnSpc>
                  <a:spcBef>
                    <a:spcPct val="50000"/>
                  </a:spcBef>
                </a:pPr>
                <a:r>
                  <a:rPr lang="zh-CN" altLang="en-US" b="1" dirty="0">
                    <a:ea typeface="楷体_GB2312" pitchFamily="49" charset="-122"/>
                  </a:rPr>
                  <a:t>末版本号</a:t>
                </a:r>
              </a:p>
            </p:txBody>
          </p:sp>
        </p:grpSp>
      </p:grpSp>
    </p:spTree>
    <p:extLst>
      <p:ext uri="{BB962C8B-B14F-4D97-AF65-F5344CB8AC3E}">
        <p14:creationId xmlns:p14="http://schemas.microsoft.com/office/powerpoint/2010/main" val="2820248801"/>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a:xfrm>
            <a:off x="1919536" y="557968"/>
            <a:ext cx="7920880" cy="858837"/>
          </a:xfrm>
        </p:spPr>
        <p:txBody>
          <a:bodyPr/>
          <a:lstStyle/>
          <a:p>
            <a:pPr eaLnBrk="1" hangingPunct="1"/>
            <a:r>
              <a:rPr lang="en-US" altLang="zh-CN" dirty="0"/>
              <a:t>Linux</a:t>
            </a:r>
            <a:r>
              <a:rPr lang="zh-CN" altLang="en-US" dirty="0">
                <a:latin typeface="+mj-ea"/>
              </a:rPr>
              <a:t>发行版</a:t>
            </a:r>
          </a:p>
        </p:txBody>
      </p:sp>
      <p:sp>
        <p:nvSpPr>
          <p:cNvPr id="14341" name="Rectangle 3"/>
          <p:cNvSpPr>
            <a:spLocks noGrp="1" noChangeArrowheads="1"/>
          </p:cNvSpPr>
          <p:nvPr>
            <p:ph type="body" idx="1"/>
          </p:nvPr>
        </p:nvSpPr>
        <p:spPr>
          <a:xfrm>
            <a:off x="1199456" y="1700808"/>
            <a:ext cx="9793088" cy="4493096"/>
          </a:xfrm>
        </p:spPr>
        <p:txBody>
          <a:bodyPr/>
          <a:lstStyle/>
          <a:p>
            <a:pPr eaLnBrk="1" hangingPunct="1">
              <a:lnSpc>
                <a:spcPct val="130000"/>
              </a:lnSpc>
            </a:pPr>
            <a:r>
              <a:rPr lang="en-US" altLang="zh-CN" sz="2800" dirty="0"/>
              <a:t>Linux</a:t>
            </a:r>
            <a:r>
              <a:rPr lang="zh-CN" altLang="en-US" sz="2800" dirty="0"/>
              <a:t>的发行版本其实就是</a:t>
            </a:r>
            <a:r>
              <a:rPr lang="en-US" altLang="zh-CN" sz="2800" dirty="0"/>
              <a:t>Linux</a:t>
            </a:r>
            <a:r>
              <a:rPr lang="zh-CN" altLang="en-US" sz="2800" dirty="0"/>
              <a:t>核心再加上一系列的系统应用程序组成的一个大软件包。</a:t>
            </a:r>
            <a:endParaRPr lang="en-US" altLang="zh-CN" sz="2800" dirty="0"/>
          </a:p>
          <a:p>
            <a:pPr eaLnBrk="1" hangingPunct="1">
              <a:lnSpc>
                <a:spcPct val="130000"/>
              </a:lnSpc>
            </a:pPr>
            <a:r>
              <a:rPr lang="en-US" altLang="zh-CN" sz="2800" dirty="0"/>
              <a:t>Linux</a:t>
            </a:r>
            <a:r>
              <a:rPr lang="zh-CN" altLang="en-US" sz="2800" dirty="0"/>
              <a:t>发行版本数量达数百种之多，并且还在不断增加，但任何发行版本都不拥有发布内核的权利。发行版本之间的主要差别在于包含的软件种类和数量的不同。常见的</a:t>
            </a:r>
            <a:r>
              <a:rPr lang="en-US" altLang="zh-CN" sz="2800" dirty="0"/>
              <a:t>Linux</a:t>
            </a:r>
            <a:r>
              <a:rPr lang="zh-CN" altLang="en-US" sz="2800" dirty="0"/>
              <a:t>发行版本如下：</a:t>
            </a:r>
            <a:endParaRPr lang="en-US" altLang="zh-CN" sz="28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29</a:t>
            </a:fld>
            <a:endParaRPr lang="en-US" altLang="zh-CN" dirty="0"/>
          </a:p>
        </p:txBody>
      </p:sp>
    </p:spTree>
    <p:extLst>
      <p:ext uri="{BB962C8B-B14F-4D97-AF65-F5344CB8AC3E}">
        <p14:creationId xmlns:p14="http://schemas.microsoft.com/office/powerpoint/2010/main" val="3698453370"/>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a:xfrm>
            <a:off x="2063552" y="579120"/>
            <a:ext cx="7543800" cy="858837"/>
          </a:xfrm>
        </p:spPr>
        <p:txBody>
          <a:bodyPr/>
          <a:lstStyle/>
          <a:p>
            <a:pPr eaLnBrk="1" hangingPunct="1"/>
            <a:r>
              <a:rPr lang="en-US" altLang="zh-CN" dirty="0"/>
              <a:t>Linux</a:t>
            </a:r>
            <a:r>
              <a:rPr lang="zh-CN" altLang="en-US" dirty="0">
                <a:latin typeface="+mj-ea"/>
              </a:rPr>
              <a:t>发行版</a:t>
            </a:r>
          </a:p>
        </p:txBody>
      </p:sp>
      <p:sp>
        <p:nvSpPr>
          <p:cNvPr id="14341" name="Rectangle 3"/>
          <p:cNvSpPr>
            <a:spLocks noGrp="1" noChangeArrowheads="1"/>
          </p:cNvSpPr>
          <p:nvPr>
            <p:ph type="body" idx="1"/>
          </p:nvPr>
        </p:nvSpPr>
        <p:spPr>
          <a:xfrm>
            <a:off x="1163452" y="1557184"/>
            <a:ext cx="9865096" cy="4493096"/>
          </a:xfrm>
        </p:spPr>
        <p:txBody>
          <a:bodyPr/>
          <a:lstStyle/>
          <a:p>
            <a:pPr eaLnBrk="1" hangingPunct="1">
              <a:lnSpc>
                <a:spcPct val="130000"/>
              </a:lnSpc>
            </a:pPr>
            <a:r>
              <a:rPr lang="en-US" altLang="zh-CN" sz="2800" dirty="0">
                <a:solidFill>
                  <a:schemeClr val="tx2"/>
                </a:solidFill>
              </a:rPr>
              <a:t>Red Hat</a:t>
            </a:r>
            <a:r>
              <a:rPr lang="zh-CN" altLang="en-US" sz="2800" dirty="0">
                <a:solidFill>
                  <a:schemeClr val="tx2"/>
                </a:solidFill>
              </a:rPr>
              <a:t>系列</a:t>
            </a:r>
            <a:endParaRPr lang="en-US" altLang="zh-CN" sz="2800" dirty="0">
              <a:solidFill>
                <a:schemeClr val="tx2"/>
              </a:solidFill>
            </a:endParaRPr>
          </a:p>
          <a:p>
            <a:pPr eaLnBrk="1" hangingPunct="1">
              <a:lnSpc>
                <a:spcPct val="130000"/>
              </a:lnSpc>
              <a:buNone/>
            </a:pPr>
            <a:r>
              <a:rPr lang="en-US" altLang="zh-CN" sz="2600" dirty="0"/>
              <a:t>   Red Hat</a:t>
            </a:r>
            <a:r>
              <a:rPr lang="zh-CN" altLang="en-US" sz="2600" dirty="0"/>
              <a:t>是全世界最著名的</a:t>
            </a:r>
            <a:r>
              <a:rPr lang="en-US" altLang="zh-CN" sz="2600" dirty="0"/>
              <a:t>Linux</a:t>
            </a:r>
            <a:r>
              <a:rPr lang="zh-CN" altLang="en-US" sz="2600" dirty="0"/>
              <a:t>发行版本。从</a:t>
            </a:r>
            <a:r>
              <a:rPr lang="en-US" altLang="zh-CN" sz="2600" dirty="0"/>
              <a:t>4.0</a:t>
            </a:r>
            <a:r>
              <a:rPr lang="zh-CN" altLang="en-US" sz="2600" dirty="0"/>
              <a:t>版起便同时支持</a:t>
            </a:r>
            <a:r>
              <a:rPr lang="en-US" altLang="zh-CN" sz="2600" dirty="0"/>
              <a:t>Intel</a:t>
            </a:r>
            <a:r>
              <a:rPr lang="zh-CN" altLang="en-US" sz="2600" dirty="0"/>
              <a:t>、</a:t>
            </a:r>
            <a:r>
              <a:rPr lang="en-US" altLang="zh-CN" sz="2600" dirty="0"/>
              <a:t>Alpha</a:t>
            </a:r>
            <a:r>
              <a:rPr lang="zh-CN" altLang="en-US" sz="2600" dirty="0"/>
              <a:t>、</a:t>
            </a:r>
            <a:r>
              <a:rPr lang="en-US" altLang="zh-CN" sz="2600" dirty="0" err="1"/>
              <a:t>Sparc</a:t>
            </a:r>
            <a:r>
              <a:rPr lang="zh-CN" altLang="en-US" sz="2600" dirty="0"/>
              <a:t>三种硬件平台。其所有的软件包都是以</a:t>
            </a:r>
            <a:r>
              <a:rPr lang="en-US" altLang="zh-CN" sz="2600" dirty="0"/>
              <a:t>RPM</a:t>
            </a:r>
            <a:r>
              <a:rPr lang="zh-CN" altLang="en-US" sz="2600" dirty="0"/>
              <a:t>（</a:t>
            </a:r>
            <a:r>
              <a:rPr lang="en-US" altLang="zh-CN" sz="2600" dirty="0" err="1"/>
              <a:t>Redhat</a:t>
            </a:r>
            <a:r>
              <a:rPr lang="en-US" altLang="zh-CN" sz="2600" dirty="0"/>
              <a:t> Package Manager</a:t>
            </a:r>
            <a:r>
              <a:rPr lang="zh-CN" altLang="en-US" sz="2600" dirty="0"/>
              <a:t>）方式包装的，用户可以轻松地进行软件升级，彻底卸除应用软件和系统部件。</a:t>
            </a:r>
            <a:endParaRPr lang="en-US" altLang="zh-CN" sz="2600" dirty="0"/>
          </a:p>
          <a:p>
            <a:pPr eaLnBrk="1" hangingPunct="1">
              <a:lnSpc>
                <a:spcPct val="130000"/>
              </a:lnSpc>
              <a:buNone/>
            </a:pPr>
            <a:r>
              <a:rPr lang="zh-CN" altLang="en-US" sz="2600" dirty="0"/>
              <a:t>    </a:t>
            </a:r>
          </a:p>
          <a:p>
            <a:pPr eaLnBrk="1" hangingPunct="1">
              <a:lnSpc>
                <a:spcPct val="130000"/>
              </a:lnSpc>
              <a:buFont typeface="Wingdings" pitchFamily="2" charset="2"/>
              <a:buNone/>
            </a:pPr>
            <a:br>
              <a:rPr lang="zh-CN" altLang="en-US" sz="2600" dirty="0"/>
            </a:br>
            <a:endParaRPr lang="zh-CN" altLang="en-US" sz="26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6711" y="4168448"/>
            <a:ext cx="2276233" cy="1881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30</a:t>
            </a:fld>
            <a:endParaRPr lang="en-US" altLang="zh-CN" dirty="0"/>
          </a:p>
        </p:txBody>
      </p:sp>
    </p:spTree>
    <p:extLst>
      <p:ext uri="{BB962C8B-B14F-4D97-AF65-F5344CB8AC3E}">
        <p14:creationId xmlns:p14="http://schemas.microsoft.com/office/powerpoint/2010/main" val="3093083476"/>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pPr eaLnBrk="1" hangingPunct="1"/>
            <a:r>
              <a:rPr lang="en-US" altLang="zh-CN" dirty="0"/>
              <a:t>Linux</a:t>
            </a:r>
            <a:r>
              <a:rPr lang="zh-CN" altLang="en-US" dirty="0">
                <a:latin typeface="+mn-ea"/>
                <a:ea typeface="+mn-ea"/>
              </a:rPr>
              <a:t>发行版 </a:t>
            </a:r>
          </a:p>
        </p:txBody>
      </p:sp>
      <p:sp>
        <p:nvSpPr>
          <p:cNvPr id="20485" name="Rectangle 3"/>
          <p:cNvSpPr>
            <a:spLocks noGrp="1" noChangeArrowheads="1"/>
          </p:cNvSpPr>
          <p:nvPr>
            <p:ph type="body" idx="1"/>
          </p:nvPr>
        </p:nvSpPr>
        <p:spPr>
          <a:xfrm>
            <a:off x="1235460" y="1707363"/>
            <a:ext cx="9721080" cy="4298032"/>
          </a:xfrm>
        </p:spPr>
        <p:txBody>
          <a:bodyPr/>
          <a:lstStyle/>
          <a:p>
            <a:pPr eaLnBrk="1" hangingPunct="1">
              <a:lnSpc>
                <a:spcPct val="80000"/>
              </a:lnSpc>
            </a:pPr>
            <a:r>
              <a:rPr lang="en-US" altLang="zh-CN" sz="2600" dirty="0"/>
              <a:t>RHEL </a:t>
            </a:r>
            <a:endParaRPr lang="en-US" altLang="zh-CN" sz="2600" dirty="0">
              <a:solidFill>
                <a:schemeClr val="tx2"/>
              </a:solidFill>
            </a:endParaRPr>
          </a:p>
          <a:p>
            <a:pPr eaLnBrk="1" hangingPunct="1">
              <a:lnSpc>
                <a:spcPct val="150000"/>
              </a:lnSpc>
              <a:buNone/>
            </a:pPr>
            <a:r>
              <a:rPr lang="en-US" altLang="zh-CN" sz="1800" dirty="0"/>
              <a:t>      </a:t>
            </a:r>
            <a:r>
              <a:rPr lang="en-US" altLang="zh-CN" sz="2600" dirty="0"/>
              <a:t>RHEL</a:t>
            </a:r>
            <a:r>
              <a:rPr lang="zh-CN" altLang="en-US" sz="2600" dirty="0"/>
              <a:t>是</a:t>
            </a:r>
            <a:r>
              <a:rPr lang="en-US" altLang="zh-CN" sz="2600" dirty="0"/>
              <a:t>Red Hat Enterprise Linux</a:t>
            </a:r>
            <a:r>
              <a:rPr lang="zh-CN" altLang="en-US" sz="2600" dirty="0"/>
              <a:t>的缩写。</a:t>
            </a:r>
            <a:r>
              <a:rPr lang="en-US" altLang="zh-CN" sz="2600" dirty="0"/>
              <a:t>2004</a:t>
            </a:r>
            <a:r>
              <a:rPr lang="zh-CN" altLang="en-US" sz="2600" dirty="0"/>
              <a:t>年</a:t>
            </a:r>
            <a:r>
              <a:rPr lang="en-US" altLang="zh-CN" sz="2600" dirty="0"/>
              <a:t>4</a:t>
            </a:r>
            <a:r>
              <a:rPr lang="zh-CN" altLang="en-US" sz="2600" dirty="0"/>
              <a:t>月</a:t>
            </a:r>
            <a:r>
              <a:rPr lang="en-US" altLang="zh-CN" sz="2600" dirty="0"/>
              <a:t>30</a:t>
            </a:r>
            <a:r>
              <a:rPr lang="zh-CN" altLang="en-US" sz="2600" dirty="0"/>
              <a:t>日，</a:t>
            </a:r>
            <a:r>
              <a:rPr lang="en-US" altLang="zh-CN" sz="2600" dirty="0"/>
              <a:t>Red Hat</a:t>
            </a:r>
            <a:r>
              <a:rPr lang="zh-CN" altLang="en-US" sz="2600" dirty="0"/>
              <a:t>公司停止对</a:t>
            </a:r>
            <a:r>
              <a:rPr lang="en-US" altLang="zh-CN" sz="2600" dirty="0"/>
              <a:t>Red Hat 9.0</a:t>
            </a:r>
            <a:r>
              <a:rPr lang="zh-CN" altLang="en-US" sz="2600" dirty="0"/>
              <a:t>版本的支持，标志着</a:t>
            </a:r>
            <a:r>
              <a:rPr lang="en-US" altLang="zh-CN" sz="2600" dirty="0"/>
              <a:t>Red Hat Linux</a:t>
            </a:r>
            <a:r>
              <a:rPr lang="zh-CN" altLang="en-US" sz="2600" dirty="0"/>
              <a:t>的免费时代正式结束。从此</a:t>
            </a:r>
            <a:r>
              <a:rPr lang="en-US" altLang="zh-CN" sz="2600" dirty="0"/>
              <a:t>Red Hat</a:t>
            </a:r>
            <a:r>
              <a:rPr lang="zh-CN" altLang="en-US" sz="2600" dirty="0"/>
              <a:t>公司将全部力量集中在服务器版的开发上，也就是</a:t>
            </a:r>
            <a:r>
              <a:rPr lang="en-US" altLang="zh-CN" sz="2600" dirty="0"/>
              <a:t>Red Hat Enterprise Linux</a:t>
            </a:r>
            <a:r>
              <a:rPr lang="zh-CN" altLang="en-US" sz="2600" dirty="0"/>
              <a:t>版。</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31</a:t>
            </a:fld>
            <a:endParaRPr lang="en-US" altLang="zh-CN"/>
          </a:p>
        </p:txBody>
      </p:sp>
      <p:pic>
        <p:nvPicPr>
          <p:cNvPr id="1026"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544272" y="3933056"/>
            <a:ext cx="3096344" cy="2564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9814539"/>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pPr eaLnBrk="1" hangingPunct="1"/>
            <a:r>
              <a:rPr lang="en-US" altLang="zh-CN" dirty="0"/>
              <a:t>Linux</a:t>
            </a:r>
            <a:r>
              <a:rPr lang="zh-CN" altLang="en-US" dirty="0">
                <a:latin typeface="+mn-ea"/>
                <a:ea typeface="+mn-ea"/>
              </a:rPr>
              <a:t>发行版 </a:t>
            </a:r>
          </a:p>
        </p:txBody>
      </p:sp>
      <p:sp>
        <p:nvSpPr>
          <p:cNvPr id="20485" name="Rectangle 3"/>
          <p:cNvSpPr>
            <a:spLocks noGrp="1" noChangeArrowheads="1"/>
          </p:cNvSpPr>
          <p:nvPr>
            <p:ph type="body" idx="1"/>
          </p:nvPr>
        </p:nvSpPr>
        <p:spPr>
          <a:xfrm>
            <a:off x="1121048" y="1484784"/>
            <a:ext cx="10058400" cy="4298032"/>
          </a:xfrm>
        </p:spPr>
        <p:txBody>
          <a:bodyPr/>
          <a:lstStyle/>
          <a:p>
            <a:pPr eaLnBrk="1" hangingPunct="1"/>
            <a:r>
              <a:rPr lang="en-US" altLang="zh-CN" sz="2600" dirty="0"/>
              <a:t>CentOS</a:t>
            </a:r>
            <a:r>
              <a:rPr lang="en-US" altLang="zh-CN" sz="2600" dirty="0">
                <a:solidFill>
                  <a:schemeClr val="tx2"/>
                </a:solidFill>
              </a:rPr>
              <a:t> </a:t>
            </a:r>
          </a:p>
          <a:p>
            <a:pPr eaLnBrk="1" hangingPunct="1">
              <a:buFont typeface="Wingdings" pitchFamily="2" charset="2"/>
              <a:buNone/>
            </a:pPr>
            <a:r>
              <a:rPr lang="en-US" altLang="zh-CN" sz="1800" dirty="0"/>
              <a:t>      </a:t>
            </a:r>
            <a:r>
              <a:rPr lang="en-US" altLang="zh-CN" sz="2600" dirty="0"/>
              <a:t>CentOS</a:t>
            </a:r>
            <a:r>
              <a:rPr lang="zh-CN" altLang="en-US" sz="2600" dirty="0"/>
              <a:t>，也叫做社区企业操作系统，是企业</a:t>
            </a:r>
            <a:r>
              <a:rPr lang="en-US" altLang="zh-CN" sz="2600" dirty="0"/>
              <a:t>Linux</a:t>
            </a:r>
            <a:r>
              <a:rPr lang="zh-CN" altLang="en-US" sz="2600" dirty="0"/>
              <a:t>发行版领头羊</a:t>
            </a:r>
            <a:r>
              <a:rPr lang="en-US" altLang="zh-CN" sz="2600" dirty="0"/>
              <a:t>Red Hat Enterprise Linux</a:t>
            </a:r>
            <a:r>
              <a:rPr lang="zh-CN" altLang="en-US" sz="2600" dirty="0"/>
              <a:t>的再编译版本。</a:t>
            </a:r>
            <a:r>
              <a:rPr lang="en-US" altLang="zh-CN" sz="2600" dirty="0" err="1"/>
              <a:t>RHEL</a:t>
            </a:r>
            <a:r>
              <a:rPr lang="zh-CN" altLang="en-US" sz="2600" dirty="0"/>
              <a:t>是很多企业采用的</a:t>
            </a:r>
            <a:r>
              <a:rPr lang="en-US" altLang="zh-CN" sz="2600" dirty="0"/>
              <a:t>Linux</a:t>
            </a:r>
            <a:r>
              <a:rPr lang="zh-CN" altLang="en-US" sz="2600" dirty="0"/>
              <a:t>发行版本，但是如果想得到</a:t>
            </a:r>
            <a:r>
              <a:rPr lang="en-US" altLang="zh-CN" sz="2600" dirty="0" err="1"/>
              <a:t>RedHat</a:t>
            </a:r>
            <a:r>
              <a:rPr lang="zh-CN" altLang="en-US" sz="2600" dirty="0"/>
              <a:t>的服务与技术支持，用户必须向</a:t>
            </a:r>
            <a:r>
              <a:rPr lang="en-US" altLang="zh-CN" sz="2600" dirty="0"/>
              <a:t>Red Hat</a:t>
            </a:r>
            <a:r>
              <a:rPr lang="zh-CN" altLang="en-US" sz="2600" dirty="0"/>
              <a:t>付费才可以。</a:t>
            </a:r>
            <a:r>
              <a:rPr lang="en-US" altLang="zh-CN" sz="2600" dirty="0"/>
              <a:t>CentOS</a:t>
            </a:r>
            <a:r>
              <a:rPr lang="zh-CN" altLang="en-US" sz="2600" dirty="0"/>
              <a:t>的开发者们使用</a:t>
            </a:r>
            <a:r>
              <a:rPr lang="en-US" altLang="zh-CN" sz="2600" dirty="0"/>
              <a:t>Red Hat Linux</a:t>
            </a:r>
            <a:r>
              <a:rPr lang="zh-CN" altLang="en-US" sz="2600" dirty="0"/>
              <a:t>的源代码创造了一个和</a:t>
            </a:r>
            <a:r>
              <a:rPr lang="en-US" altLang="zh-CN" sz="2600" dirty="0" err="1"/>
              <a:t>RHEL</a:t>
            </a:r>
            <a:r>
              <a:rPr lang="zh-CN" altLang="en-US" sz="2600" dirty="0"/>
              <a:t>近乎相同的</a:t>
            </a:r>
            <a:r>
              <a:rPr lang="en-US" altLang="zh-CN" sz="2600" dirty="0"/>
              <a:t>Linux</a:t>
            </a:r>
            <a:r>
              <a:rPr lang="zh-CN" altLang="en-US" sz="2600" dirty="0"/>
              <a:t>。但是去除了</a:t>
            </a:r>
            <a:r>
              <a:rPr lang="en-US" altLang="zh-CN" sz="2600" dirty="0"/>
              <a:t>RedHat</a:t>
            </a:r>
            <a:r>
              <a:rPr lang="zh-CN" altLang="en-US" sz="2600" dirty="0"/>
              <a:t>的商标。</a:t>
            </a:r>
            <a:r>
              <a:rPr lang="en-US" altLang="zh-CN" sz="2600" dirty="0"/>
              <a:t>CentOS</a:t>
            </a:r>
            <a:r>
              <a:rPr lang="zh-CN" altLang="en-US" sz="2600" dirty="0"/>
              <a:t>是免费的，使用它可以像使用</a:t>
            </a:r>
            <a:r>
              <a:rPr lang="en-US" altLang="zh-CN" sz="2600" dirty="0" err="1"/>
              <a:t>RHEL</a:t>
            </a:r>
            <a:r>
              <a:rPr lang="zh-CN" altLang="en-US" sz="2600" dirty="0"/>
              <a:t>一样去构筑企业级的</a:t>
            </a:r>
            <a:r>
              <a:rPr lang="en-US" altLang="zh-CN" sz="2600" dirty="0"/>
              <a:t>Linux</a:t>
            </a:r>
            <a:r>
              <a:rPr lang="zh-CN" altLang="en-US" sz="2600" dirty="0"/>
              <a:t>系统环境，但不需要向</a:t>
            </a:r>
            <a:r>
              <a:rPr lang="en-US" altLang="zh-CN" sz="2600" dirty="0" err="1"/>
              <a:t>RedHat</a:t>
            </a:r>
            <a:r>
              <a:rPr lang="zh-CN" altLang="en-US" sz="2600" dirty="0"/>
              <a:t>付任何的费用。</a:t>
            </a:r>
          </a:p>
        </p:txBody>
      </p:sp>
      <p:pic>
        <p:nvPicPr>
          <p:cNvPr id="20486" name="Picture 6" descr="cc11728b4710b912f8905bfbc3fdfc0392452265"/>
          <p:cNvPicPr>
            <a:picLocks noChangeAspect="1" noChangeArrowheads="1"/>
          </p:cNvPicPr>
          <p:nvPr/>
        </p:nvPicPr>
        <p:blipFill>
          <a:blip r:embed="rId2">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7809273" y="4833004"/>
            <a:ext cx="3240360"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32</a:t>
            </a:fld>
            <a:endParaRPr lang="en-US" altLang="zh-CN" dirty="0"/>
          </a:p>
        </p:txBody>
      </p:sp>
    </p:spTree>
    <p:extLst>
      <p:ext uri="{BB962C8B-B14F-4D97-AF65-F5344CB8AC3E}">
        <p14:creationId xmlns:p14="http://schemas.microsoft.com/office/powerpoint/2010/main" val="3956911405"/>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pPr eaLnBrk="1" hangingPunct="1"/>
            <a:r>
              <a:rPr lang="en-US" altLang="zh-CN" dirty="0"/>
              <a:t>Linux</a:t>
            </a:r>
            <a:r>
              <a:rPr lang="zh-CN" altLang="en-US" dirty="0">
                <a:latin typeface="+mj-ea"/>
              </a:rPr>
              <a:t>发行版 </a:t>
            </a:r>
          </a:p>
        </p:txBody>
      </p:sp>
      <p:sp>
        <p:nvSpPr>
          <p:cNvPr id="16389" name="Rectangle 3"/>
          <p:cNvSpPr>
            <a:spLocks noGrp="1" noChangeArrowheads="1"/>
          </p:cNvSpPr>
          <p:nvPr>
            <p:ph type="body" idx="1"/>
          </p:nvPr>
        </p:nvSpPr>
        <p:spPr>
          <a:xfrm>
            <a:off x="1277542" y="1445692"/>
            <a:ext cx="9871496" cy="4035433"/>
          </a:xfrm>
        </p:spPr>
        <p:txBody>
          <a:bodyPr/>
          <a:lstStyle/>
          <a:p>
            <a:pPr eaLnBrk="1" hangingPunct="1">
              <a:lnSpc>
                <a:spcPct val="150000"/>
              </a:lnSpc>
            </a:pPr>
            <a:r>
              <a:rPr lang="en-US" altLang="zh-CN" sz="2600" dirty="0">
                <a:solidFill>
                  <a:schemeClr val="tx2"/>
                </a:solidFill>
              </a:rPr>
              <a:t>Debian GNU/Linux </a:t>
            </a:r>
          </a:p>
          <a:p>
            <a:pPr eaLnBrk="1" hangingPunct="1">
              <a:lnSpc>
                <a:spcPct val="150000"/>
              </a:lnSpc>
              <a:buNone/>
            </a:pPr>
            <a:r>
              <a:rPr lang="zh-CN" altLang="en-US" sz="2600" dirty="0"/>
              <a:t>   目前唯一由非商业组织维护的</a:t>
            </a:r>
            <a:r>
              <a:rPr lang="en-US" altLang="zh-CN" sz="2600" dirty="0"/>
              <a:t>Linux</a:t>
            </a:r>
            <a:r>
              <a:rPr lang="zh-CN" altLang="en-US" sz="2600" dirty="0"/>
              <a:t>发行版本，功能强大。由</a:t>
            </a:r>
            <a:r>
              <a:rPr lang="en-US" altLang="zh-CN" sz="2600" dirty="0"/>
              <a:t>GNU</a:t>
            </a:r>
            <a:r>
              <a:rPr lang="zh-CN" altLang="en-US" sz="2600" dirty="0"/>
              <a:t>发行的</a:t>
            </a:r>
            <a:r>
              <a:rPr lang="en-US" altLang="zh-CN" sz="2600" dirty="0"/>
              <a:t>Linux</a:t>
            </a:r>
            <a:r>
              <a:rPr lang="zh-CN" altLang="en-US" sz="2600" dirty="0"/>
              <a:t>发行套件，完全由网络上的</a:t>
            </a:r>
            <a:r>
              <a:rPr lang="en-US" altLang="zh-CN" sz="2600" dirty="0"/>
              <a:t>Linux</a:t>
            </a:r>
            <a:r>
              <a:rPr lang="zh-CN" altLang="en-US" sz="2600" dirty="0"/>
              <a:t>爱好者负责维护，其所有的组成部分都是自由软件。完全遵循</a:t>
            </a:r>
            <a:r>
              <a:rPr lang="en-US" altLang="zh-CN" sz="2600" dirty="0"/>
              <a:t>GNU</a:t>
            </a:r>
            <a:r>
              <a:rPr lang="zh-CN" altLang="en-US" sz="2600" dirty="0"/>
              <a:t>规范，</a:t>
            </a:r>
            <a:r>
              <a:rPr lang="en-US" altLang="zh-CN" sz="2600" dirty="0"/>
              <a:t>100%</a:t>
            </a:r>
            <a:r>
              <a:rPr lang="zh-CN" altLang="en-US" sz="2600" dirty="0"/>
              <a:t>免费。</a:t>
            </a:r>
          </a:p>
          <a:p>
            <a:pPr eaLnBrk="1" hangingPunct="1">
              <a:lnSpc>
                <a:spcPct val="80000"/>
              </a:lnSpc>
              <a:buFont typeface="Wingdings" pitchFamily="2" charset="2"/>
              <a:buNone/>
            </a:pPr>
            <a:endParaRPr lang="zh-CN" altLang="en-US" sz="2800" dirty="0"/>
          </a:p>
          <a:p>
            <a:pPr eaLnBrk="1" hangingPunct="1">
              <a:lnSpc>
                <a:spcPct val="80000"/>
              </a:lnSpc>
              <a:buFont typeface="Wingdings" pitchFamily="2" charset="2"/>
              <a:buNone/>
            </a:pPr>
            <a:r>
              <a:rPr lang="zh-CN" altLang="en-US" sz="2800" dirty="0"/>
              <a:t>  </a:t>
            </a:r>
            <a:endParaRPr lang="zh-CN" altLang="en-US" sz="2400" dirty="0"/>
          </a:p>
        </p:txBody>
      </p:sp>
      <p:pic>
        <p:nvPicPr>
          <p:cNvPr id="16390" name="Picture 6" descr="20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0553" y="4102315"/>
            <a:ext cx="1984375" cy="1927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33</a:t>
            </a:fld>
            <a:endParaRPr lang="en-US" altLang="zh-CN" dirty="0"/>
          </a:p>
        </p:txBody>
      </p:sp>
    </p:spTree>
    <p:extLst>
      <p:ext uri="{BB962C8B-B14F-4D97-AF65-F5344CB8AC3E}">
        <p14:creationId xmlns:p14="http://schemas.microsoft.com/office/powerpoint/2010/main" val="111347604"/>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pPr eaLnBrk="1" hangingPunct="1"/>
            <a:r>
              <a:rPr lang="en-US" altLang="zh-CN" dirty="0"/>
              <a:t>Linux</a:t>
            </a:r>
            <a:r>
              <a:rPr lang="zh-CN" altLang="en-US" dirty="0">
                <a:latin typeface="+mn-ea"/>
                <a:ea typeface="+mn-ea"/>
              </a:rPr>
              <a:t>发行版介绍 </a:t>
            </a:r>
          </a:p>
        </p:txBody>
      </p:sp>
      <p:sp>
        <p:nvSpPr>
          <p:cNvPr id="20485" name="Rectangle 3"/>
          <p:cNvSpPr>
            <a:spLocks noGrp="1" noChangeArrowheads="1"/>
          </p:cNvSpPr>
          <p:nvPr>
            <p:ph type="body" idx="1"/>
          </p:nvPr>
        </p:nvSpPr>
        <p:spPr>
          <a:xfrm>
            <a:off x="1142008" y="1523648"/>
            <a:ext cx="9907984" cy="4298032"/>
          </a:xfrm>
        </p:spPr>
        <p:txBody>
          <a:bodyPr/>
          <a:lstStyle/>
          <a:p>
            <a:pPr eaLnBrk="1" hangingPunct="1"/>
            <a:r>
              <a:rPr lang="en-US" altLang="zh-CN" sz="2600" dirty="0" err="1"/>
              <a:t>Deepin</a:t>
            </a:r>
            <a:r>
              <a:rPr lang="en-US" altLang="zh-CN" sz="2600" dirty="0"/>
              <a:t> </a:t>
            </a:r>
          </a:p>
          <a:p>
            <a:pPr marL="0" indent="0" eaLnBrk="1" hangingPunct="1">
              <a:buNone/>
            </a:pPr>
            <a:r>
              <a:rPr lang="en-US" altLang="zh-CN" sz="2600" dirty="0"/>
              <a:t>    </a:t>
            </a:r>
            <a:r>
              <a:rPr lang="en-US" altLang="zh-CN" sz="2600" dirty="0" err="1"/>
              <a:t>Deepin</a:t>
            </a:r>
            <a:r>
              <a:rPr lang="zh-CN" altLang="en-US" sz="2600" dirty="0"/>
              <a:t>（深度操作系统）是由武汉深之度科技有限公司在</a:t>
            </a:r>
            <a:r>
              <a:rPr lang="en-US" altLang="zh-CN" sz="2600" dirty="0"/>
              <a:t>Debian</a:t>
            </a:r>
            <a:r>
              <a:rPr lang="zh-CN" altLang="en-US" sz="2600" dirty="0"/>
              <a:t>基础上开发的</a:t>
            </a:r>
            <a:r>
              <a:rPr lang="en-US" altLang="zh-CN" sz="2600" dirty="0"/>
              <a:t>Linux</a:t>
            </a:r>
            <a:r>
              <a:rPr lang="zh-CN" altLang="en-US" sz="2600" dirty="0"/>
              <a:t>操作系统，可以安装在个人计算机和服务器中。深度操作系统包含深度桌面环境和多款深度原创应用，及来自开源社区的应用软件，支撑广大用户日常的学习和工作。深度桌面环境和大量的应用软件被移植到了包括</a:t>
            </a:r>
            <a:r>
              <a:rPr lang="en-US" altLang="zh-CN" sz="2600" dirty="0"/>
              <a:t>Fedora</a:t>
            </a:r>
            <a:r>
              <a:rPr lang="zh-CN" altLang="en-US" sz="2600" dirty="0"/>
              <a:t>、</a:t>
            </a:r>
            <a:r>
              <a:rPr lang="en-US" altLang="zh-CN" sz="2600" dirty="0"/>
              <a:t>Ubuntu</a:t>
            </a:r>
            <a:r>
              <a:rPr lang="zh-CN" altLang="en-US" sz="2600" dirty="0"/>
              <a:t>等十余个国际</a:t>
            </a:r>
            <a:r>
              <a:rPr lang="en-US" altLang="zh-CN" sz="2600" dirty="0"/>
              <a:t>Linux</a:t>
            </a:r>
            <a:r>
              <a:rPr lang="zh-CN" altLang="en-US" sz="2600" dirty="0"/>
              <a:t>发行版和社区，</a:t>
            </a:r>
            <a:r>
              <a:rPr lang="zh-CN" altLang="en-US" sz="2600" dirty="0">
                <a:solidFill>
                  <a:srgbClr val="0000CC"/>
                </a:solidFill>
              </a:rPr>
              <a:t>深度操作系统是中国第一个具备国际影响力的</a:t>
            </a:r>
            <a:r>
              <a:rPr lang="en-US" altLang="zh-CN" sz="2600" dirty="0">
                <a:solidFill>
                  <a:srgbClr val="0000CC"/>
                </a:solidFill>
              </a:rPr>
              <a:t>Linux</a:t>
            </a:r>
            <a:r>
              <a:rPr lang="zh-CN" altLang="en-US" sz="2600" dirty="0">
                <a:solidFill>
                  <a:srgbClr val="0000CC"/>
                </a:solidFill>
              </a:rPr>
              <a:t>发行版本。</a:t>
            </a:r>
            <a:endParaRPr lang="en-US" altLang="zh-CN" sz="2600" dirty="0">
              <a:solidFill>
                <a:srgbClr val="0000CC"/>
              </a:solidFill>
            </a:endParaRPr>
          </a:p>
          <a:p>
            <a:pPr marL="0" indent="0" eaLnBrk="1" hangingPunct="1">
              <a:buNone/>
            </a:pPr>
            <a:endParaRPr lang="zh-CN" altLang="en-US" sz="26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34</a:t>
            </a:fld>
            <a:endParaRPr lang="en-US" altLang="zh-CN"/>
          </a:p>
        </p:txBody>
      </p:sp>
      <p:pic>
        <p:nvPicPr>
          <p:cNvPr id="4" name="图片 3">
            <a:extLst>
              <a:ext uri="{FF2B5EF4-FFF2-40B4-BE49-F238E27FC236}">
                <a16:creationId xmlns:a16="http://schemas.microsoft.com/office/drawing/2014/main" id="{E26D6FE6-E85D-6FF8-4CBB-82AC0287E005}"/>
              </a:ext>
            </a:extLst>
          </p:cNvPr>
          <p:cNvPicPr>
            <a:picLocks noChangeAspect="1"/>
          </p:cNvPicPr>
          <p:nvPr/>
        </p:nvPicPr>
        <p:blipFill>
          <a:blip r:embed="rId2"/>
          <a:stretch>
            <a:fillRect/>
          </a:stretch>
        </p:blipFill>
        <p:spPr>
          <a:xfrm>
            <a:off x="7556244" y="4509120"/>
            <a:ext cx="3102004" cy="1520390"/>
          </a:xfrm>
          <a:prstGeom prst="rect">
            <a:avLst/>
          </a:prstGeom>
        </p:spPr>
      </p:pic>
    </p:spTree>
    <p:extLst>
      <p:ext uri="{BB962C8B-B14F-4D97-AF65-F5344CB8AC3E}">
        <p14:creationId xmlns:p14="http://schemas.microsoft.com/office/powerpoint/2010/main" val="942220833"/>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r>
              <a:rPr lang="en-US" altLang="zh-CN" dirty="0"/>
              <a:t>Linux</a:t>
            </a:r>
            <a:r>
              <a:rPr lang="zh-CN" altLang="en-US" dirty="0">
                <a:latin typeface="+mj-ea"/>
              </a:rPr>
              <a:t>发行版介绍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35</a:t>
            </a:fld>
            <a:endParaRPr lang="en-US" altLang="zh-CN"/>
          </a:p>
        </p:txBody>
      </p:sp>
      <p:sp>
        <p:nvSpPr>
          <p:cNvPr id="7" name="Text Box 3"/>
          <p:cNvSpPr txBox="1">
            <a:spLocks noGrp="1" noChangeArrowheads="1"/>
          </p:cNvSpPr>
          <p:nvPr>
            <p:ph type="body" idx="1"/>
          </p:nvPr>
        </p:nvSpPr>
        <p:spPr bwMode="auto">
          <a:xfrm>
            <a:off x="1055440" y="1556792"/>
            <a:ext cx="10058400" cy="4176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fontAlgn="base">
              <a:spcBef>
                <a:spcPct val="0"/>
              </a:spcBef>
              <a:spcAft>
                <a:spcPct val="0"/>
              </a:spcAft>
              <a:defRPr>
                <a:solidFill>
                  <a:schemeClr val="tx1"/>
                </a:solidFill>
                <a:latin typeface="Arial" pitchFamily="34" charset="0"/>
                <a:ea typeface="宋体" pitchFamily="2" charset="-122"/>
              </a:defRPr>
            </a:lvl6pPr>
            <a:lvl7pPr marL="2971800" indent="-228600" fontAlgn="base">
              <a:spcBef>
                <a:spcPct val="0"/>
              </a:spcBef>
              <a:spcAft>
                <a:spcPct val="0"/>
              </a:spcAft>
              <a:defRPr>
                <a:solidFill>
                  <a:schemeClr val="tx1"/>
                </a:solidFill>
                <a:latin typeface="Arial" pitchFamily="34" charset="0"/>
                <a:ea typeface="宋体" pitchFamily="2" charset="-122"/>
              </a:defRPr>
            </a:lvl7pPr>
            <a:lvl8pPr marL="3429000" indent="-228600" fontAlgn="base">
              <a:spcBef>
                <a:spcPct val="0"/>
              </a:spcBef>
              <a:spcAft>
                <a:spcPct val="0"/>
              </a:spcAft>
              <a:defRPr>
                <a:solidFill>
                  <a:schemeClr val="tx1"/>
                </a:solidFill>
                <a:latin typeface="Arial" pitchFamily="34" charset="0"/>
                <a:ea typeface="宋体" pitchFamily="2" charset="-122"/>
              </a:defRPr>
            </a:lvl8pPr>
            <a:lvl9pPr marL="3886200" indent="-228600" fontAlgn="base">
              <a:spcBef>
                <a:spcPct val="0"/>
              </a:spcBef>
              <a:spcAft>
                <a:spcPct val="0"/>
              </a:spcAft>
              <a:defRPr>
                <a:solidFill>
                  <a:schemeClr val="tx1"/>
                </a:solidFill>
                <a:latin typeface="Arial" pitchFamily="34" charset="0"/>
                <a:ea typeface="宋体" pitchFamily="2" charset="-122"/>
              </a:defRPr>
            </a:lvl9pPr>
          </a:lstStyle>
          <a:p>
            <a:pPr marL="514350" indent="-457200"/>
            <a:r>
              <a:rPr lang="zh-CN" altLang="en-US" sz="2600" dirty="0">
                <a:latin typeface="+mn-lt"/>
                <a:ea typeface="+mn-ea"/>
              </a:rPr>
              <a:t>红旗</a:t>
            </a:r>
            <a:endParaRPr lang="en-US" altLang="zh-CN" sz="2600" dirty="0">
              <a:latin typeface="+mn-lt"/>
              <a:ea typeface="+mn-ea"/>
            </a:endParaRPr>
          </a:p>
          <a:p>
            <a:pPr marL="57150" indent="0">
              <a:buNone/>
            </a:pPr>
            <a:r>
              <a:rPr lang="zh-CN" altLang="en-US" sz="2600" dirty="0">
                <a:latin typeface="+mn-lt"/>
                <a:ea typeface="+mn-ea"/>
              </a:rPr>
              <a:t>由北京中科红旗软件技术有限公司开发的国产</a:t>
            </a:r>
            <a:r>
              <a:rPr lang="en-US" altLang="zh-CN" sz="2600" dirty="0">
                <a:latin typeface="+mn-lt"/>
                <a:ea typeface="+mn-ea"/>
              </a:rPr>
              <a:t>Linux</a:t>
            </a:r>
            <a:r>
              <a:rPr lang="zh-CN" altLang="en-US" sz="2600" dirty="0">
                <a:latin typeface="+mn-lt"/>
                <a:ea typeface="+mn-ea"/>
              </a:rPr>
              <a:t>。包括桌面版、工作站版、数据中心服务器版、</a:t>
            </a:r>
            <a:r>
              <a:rPr lang="en-US" altLang="zh-CN" sz="2600" dirty="0">
                <a:latin typeface="+mn-lt"/>
                <a:ea typeface="+mn-ea"/>
              </a:rPr>
              <a:t>HA</a:t>
            </a:r>
            <a:r>
              <a:rPr lang="zh-CN" altLang="en-US" sz="2600" dirty="0">
                <a:latin typeface="+mn-lt"/>
                <a:ea typeface="+mn-ea"/>
              </a:rPr>
              <a:t>集群版和红旗嵌入式</a:t>
            </a:r>
            <a:r>
              <a:rPr lang="en-US" altLang="zh-CN" sz="2600" dirty="0">
                <a:latin typeface="+mn-lt"/>
                <a:ea typeface="+mn-ea"/>
              </a:rPr>
              <a:t>Linux</a:t>
            </a:r>
            <a:r>
              <a:rPr lang="zh-CN" altLang="en-US" sz="2600" dirty="0">
                <a:latin typeface="+mn-lt"/>
                <a:ea typeface="+mn-ea"/>
              </a:rPr>
              <a:t>等产品。</a:t>
            </a:r>
            <a:r>
              <a:rPr lang="zh-CN" altLang="en-US" sz="2600" dirty="0">
                <a:solidFill>
                  <a:srgbClr val="0000CC"/>
                </a:solidFill>
                <a:latin typeface="+mn-lt"/>
                <a:ea typeface="+mn-ea"/>
              </a:rPr>
              <a:t>红旗</a:t>
            </a:r>
            <a:r>
              <a:rPr lang="en-US" altLang="zh-CN" sz="2600" dirty="0">
                <a:solidFill>
                  <a:srgbClr val="0000CC"/>
                </a:solidFill>
                <a:latin typeface="+mn-lt"/>
                <a:ea typeface="+mn-ea"/>
              </a:rPr>
              <a:t>Linux</a:t>
            </a:r>
            <a:r>
              <a:rPr lang="zh-CN" altLang="en-US" sz="2600" dirty="0">
                <a:solidFill>
                  <a:srgbClr val="0000CC"/>
                </a:solidFill>
                <a:latin typeface="+mn-lt"/>
                <a:ea typeface="+mn-ea"/>
              </a:rPr>
              <a:t>是中国较成熟的</a:t>
            </a:r>
            <a:r>
              <a:rPr lang="en-US" altLang="zh-CN" sz="2600" dirty="0">
                <a:solidFill>
                  <a:srgbClr val="0000CC"/>
                </a:solidFill>
                <a:latin typeface="+mn-lt"/>
                <a:ea typeface="+mn-ea"/>
              </a:rPr>
              <a:t>Linux</a:t>
            </a:r>
            <a:r>
              <a:rPr lang="zh-CN" altLang="en-US" sz="2600" dirty="0">
                <a:solidFill>
                  <a:srgbClr val="0000CC"/>
                </a:solidFill>
                <a:latin typeface="+mn-lt"/>
                <a:ea typeface="+mn-ea"/>
              </a:rPr>
              <a:t>发行版之一</a:t>
            </a:r>
            <a:r>
              <a:rPr lang="zh-CN" altLang="en-US" sz="2600" dirty="0">
                <a:latin typeface="+mn-lt"/>
                <a:ea typeface="+mn-ea"/>
              </a:rPr>
              <a:t>。最初主要用于关系国家安全的重要政府部门。随着</a:t>
            </a:r>
            <a:r>
              <a:rPr lang="en-US" altLang="zh-CN" sz="2600" dirty="0">
                <a:latin typeface="+mn-lt"/>
                <a:ea typeface="+mn-ea"/>
              </a:rPr>
              <a:t>Linux</a:t>
            </a:r>
            <a:r>
              <a:rPr lang="zh-CN" altLang="en-US" sz="2600" dirty="0">
                <a:latin typeface="+mn-lt"/>
                <a:ea typeface="+mn-ea"/>
              </a:rPr>
              <a:t>进入关键行业的计算环境，用户对系统安全的要求的不断增长，红旗软件对服务器操作系统产品线进行了全新的优化。</a:t>
            </a:r>
            <a:endParaRPr lang="en-US" altLang="zh-CN" sz="2600" dirty="0">
              <a:latin typeface="+mn-lt"/>
              <a:ea typeface="+mn-ea"/>
            </a:endParaRPr>
          </a:p>
          <a:p>
            <a:pPr marL="57150" indent="0">
              <a:lnSpc>
                <a:spcPct val="80000"/>
              </a:lnSpc>
              <a:buNone/>
            </a:pPr>
            <a:endParaRPr lang="en-US" altLang="zh-CN" sz="2800" dirty="0">
              <a:latin typeface="+mn-lt"/>
              <a:ea typeface="+mn-ea"/>
            </a:endParaRPr>
          </a:p>
        </p:txBody>
      </p:sp>
      <p:pic>
        <p:nvPicPr>
          <p:cNvPr id="9"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4232" y="4165496"/>
            <a:ext cx="2520280"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8677308"/>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r>
              <a:rPr lang="en-US" altLang="zh-CN" dirty="0"/>
              <a:t>Linux</a:t>
            </a:r>
            <a:r>
              <a:rPr lang="zh-CN" altLang="en-US" dirty="0">
                <a:latin typeface="+mj-ea"/>
              </a:rPr>
              <a:t>发行版介绍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36</a:t>
            </a:fld>
            <a:endParaRPr lang="en-US" altLang="zh-CN"/>
          </a:p>
        </p:txBody>
      </p:sp>
      <p:sp>
        <p:nvSpPr>
          <p:cNvPr id="7" name="Text Box 3"/>
          <p:cNvSpPr txBox="1">
            <a:spLocks noGrp="1" noChangeArrowheads="1"/>
          </p:cNvSpPr>
          <p:nvPr>
            <p:ph type="body" idx="1"/>
          </p:nvPr>
        </p:nvSpPr>
        <p:spPr bwMode="auto">
          <a:xfrm>
            <a:off x="1107064" y="1630375"/>
            <a:ext cx="9957488" cy="381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fontAlgn="base">
              <a:spcBef>
                <a:spcPct val="0"/>
              </a:spcBef>
              <a:spcAft>
                <a:spcPct val="0"/>
              </a:spcAft>
              <a:defRPr>
                <a:solidFill>
                  <a:schemeClr val="tx1"/>
                </a:solidFill>
                <a:latin typeface="Arial" pitchFamily="34" charset="0"/>
                <a:ea typeface="宋体" pitchFamily="2" charset="-122"/>
              </a:defRPr>
            </a:lvl6pPr>
            <a:lvl7pPr marL="2971800" indent="-228600" fontAlgn="base">
              <a:spcBef>
                <a:spcPct val="0"/>
              </a:spcBef>
              <a:spcAft>
                <a:spcPct val="0"/>
              </a:spcAft>
              <a:defRPr>
                <a:solidFill>
                  <a:schemeClr val="tx1"/>
                </a:solidFill>
                <a:latin typeface="Arial" pitchFamily="34" charset="0"/>
                <a:ea typeface="宋体" pitchFamily="2" charset="-122"/>
              </a:defRPr>
            </a:lvl7pPr>
            <a:lvl8pPr marL="3429000" indent="-228600" fontAlgn="base">
              <a:spcBef>
                <a:spcPct val="0"/>
              </a:spcBef>
              <a:spcAft>
                <a:spcPct val="0"/>
              </a:spcAft>
              <a:defRPr>
                <a:solidFill>
                  <a:schemeClr val="tx1"/>
                </a:solidFill>
                <a:latin typeface="Arial" pitchFamily="34" charset="0"/>
                <a:ea typeface="宋体" pitchFamily="2" charset="-122"/>
              </a:defRPr>
            </a:lvl8pPr>
            <a:lvl9pPr marL="3886200" indent="-228600" fontAlgn="base">
              <a:spcBef>
                <a:spcPct val="0"/>
              </a:spcBef>
              <a:spcAft>
                <a:spcPct val="0"/>
              </a:spcAft>
              <a:defRPr>
                <a:solidFill>
                  <a:schemeClr val="tx1"/>
                </a:solidFill>
                <a:latin typeface="Arial" pitchFamily="34" charset="0"/>
                <a:ea typeface="宋体" pitchFamily="2" charset="-122"/>
              </a:defRPr>
            </a:lvl9pPr>
          </a:lstStyle>
          <a:p>
            <a:pPr marL="514350" indent="-457200"/>
            <a:r>
              <a:rPr lang="en-US" altLang="zh-CN" sz="2600" dirty="0" err="1">
                <a:latin typeface="+mn-lt"/>
                <a:ea typeface="+mn-ea"/>
              </a:rPr>
              <a:t>Xteam</a:t>
            </a:r>
            <a:r>
              <a:rPr lang="en-US" altLang="zh-CN" sz="2600" dirty="0">
                <a:latin typeface="+mn-lt"/>
                <a:ea typeface="+mn-ea"/>
              </a:rPr>
              <a:t> Linux</a:t>
            </a:r>
          </a:p>
          <a:p>
            <a:pPr marL="57150" indent="0">
              <a:buNone/>
            </a:pPr>
            <a:r>
              <a:rPr lang="zh-CN" altLang="en-US" sz="2600" dirty="0">
                <a:latin typeface="+mn-lt"/>
                <a:ea typeface="+mn-ea"/>
              </a:rPr>
              <a:t>也叫冲浪</a:t>
            </a:r>
            <a:r>
              <a:rPr lang="en-US" altLang="zh-CN" sz="2600" dirty="0">
                <a:latin typeface="+mn-lt"/>
                <a:ea typeface="+mn-ea"/>
              </a:rPr>
              <a:t>Linux</a:t>
            </a:r>
            <a:r>
              <a:rPr lang="zh-CN" altLang="en-US" sz="2600" dirty="0">
                <a:latin typeface="+mn-lt"/>
                <a:ea typeface="+mn-ea"/>
              </a:rPr>
              <a:t>，是由北京冲浪平台软件公司在充分考虑了国内</a:t>
            </a:r>
            <a:r>
              <a:rPr lang="en-US" altLang="zh-CN" sz="2600" dirty="0">
                <a:latin typeface="+mn-lt"/>
                <a:ea typeface="+mn-ea"/>
              </a:rPr>
              <a:t>Linux</a:t>
            </a:r>
            <a:r>
              <a:rPr lang="zh-CN" altLang="en-US" sz="2600" dirty="0">
                <a:latin typeface="+mn-lt"/>
                <a:ea typeface="+mn-ea"/>
              </a:rPr>
              <a:t>用户的需求后，开发并发行的一套中文</a:t>
            </a:r>
            <a:r>
              <a:rPr lang="en-US" altLang="zh-CN" sz="2600" dirty="0">
                <a:latin typeface="+mn-lt"/>
                <a:ea typeface="+mn-ea"/>
              </a:rPr>
              <a:t>Linux</a:t>
            </a:r>
            <a:r>
              <a:rPr lang="zh-CN" altLang="en-US" sz="2600" dirty="0">
                <a:latin typeface="+mn-lt"/>
                <a:ea typeface="+mn-ea"/>
              </a:rPr>
              <a:t>套件。其安装方法和用法和</a:t>
            </a:r>
            <a:r>
              <a:rPr lang="en-US" altLang="zh-CN" sz="2600" dirty="0">
                <a:latin typeface="+mn-lt"/>
                <a:ea typeface="+mn-ea"/>
              </a:rPr>
              <a:t>windows</a:t>
            </a:r>
            <a:r>
              <a:rPr lang="zh-CN" altLang="en-US" sz="2600" dirty="0">
                <a:latin typeface="+mn-lt"/>
                <a:ea typeface="+mn-ea"/>
              </a:rPr>
              <a:t>都很相似。</a:t>
            </a:r>
            <a:endParaRPr lang="en-US" altLang="zh-CN" sz="2600" dirty="0">
              <a:latin typeface="+mn-lt"/>
              <a:ea typeface="+mn-ea"/>
            </a:endParaRPr>
          </a:p>
          <a:p>
            <a:pPr marL="57150" indent="0">
              <a:buNone/>
            </a:pPr>
            <a:r>
              <a:rPr lang="zh-CN" altLang="en-US" sz="2600" dirty="0">
                <a:latin typeface="+mn-lt"/>
                <a:ea typeface="+mn-ea"/>
              </a:rPr>
              <a:t>冲浪平台软件集团</a:t>
            </a:r>
            <a:r>
              <a:rPr lang="zh-CN" altLang="en-US" sz="2600" dirty="0">
                <a:solidFill>
                  <a:srgbClr val="0000CC"/>
                </a:solidFill>
                <a:latin typeface="+mn-lt"/>
                <a:ea typeface="+mn-ea"/>
              </a:rPr>
              <a:t>成功实施了中文</a:t>
            </a:r>
            <a:r>
              <a:rPr lang="en-US" altLang="zh-CN" sz="2600" dirty="0">
                <a:solidFill>
                  <a:srgbClr val="0000CC"/>
                </a:solidFill>
                <a:latin typeface="+mn-lt"/>
                <a:ea typeface="+mn-ea"/>
              </a:rPr>
              <a:t>Linux</a:t>
            </a:r>
            <a:r>
              <a:rPr lang="zh-CN" altLang="en-US" sz="2600" dirty="0">
                <a:solidFill>
                  <a:srgbClr val="0000CC"/>
                </a:solidFill>
                <a:latin typeface="+mn-lt"/>
                <a:ea typeface="+mn-ea"/>
              </a:rPr>
              <a:t>操作系统第一次商业应用，成功发布了中国第一个完整的</a:t>
            </a:r>
            <a:r>
              <a:rPr lang="en-US" altLang="zh-CN" sz="2600" dirty="0">
                <a:solidFill>
                  <a:srgbClr val="0000CC"/>
                </a:solidFill>
                <a:latin typeface="+mn-lt"/>
                <a:ea typeface="+mn-ea"/>
              </a:rPr>
              <a:t>Linux</a:t>
            </a:r>
            <a:r>
              <a:rPr lang="zh-CN" altLang="en-US" sz="2600" dirty="0">
                <a:solidFill>
                  <a:srgbClr val="0000CC"/>
                </a:solidFill>
                <a:latin typeface="+mn-lt"/>
                <a:ea typeface="+mn-ea"/>
              </a:rPr>
              <a:t>服务器操作系统</a:t>
            </a:r>
            <a:r>
              <a:rPr lang="zh-CN" altLang="en-US" sz="2600" dirty="0">
                <a:latin typeface="+mn-lt"/>
                <a:ea typeface="+mn-ea"/>
              </a:rPr>
              <a:t>。</a:t>
            </a:r>
            <a:endParaRPr lang="en-US" altLang="zh-CN" sz="2600" dirty="0">
              <a:latin typeface="+mn-lt"/>
              <a:ea typeface="+mn-ea"/>
            </a:endParaRPr>
          </a:p>
          <a:p>
            <a:pPr marL="57150" indent="0">
              <a:lnSpc>
                <a:spcPct val="80000"/>
              </a:lnSpc>
              <a:buNone/>
            </a:pPr>
            <a:endParaRPr lang="en-US" altLang="zh-CN" sz="2800" dirty="0">
              <a:latin typeface="+mn-lt"/>
              <a:ea typeface="+mn-ea"/>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6360" y="4005064"/>
            <a:ext cx="2088232" cy="1869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652854"/>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pPr eaLnBrk="1" hangingPunct="1"/>
            <a:r>
              <a:rPr lang="en-US" altLang="zh-CN" dirty="0"/>
              <a:t>Linux</a:t>
            </a:r>
            <a:r>
              <a:rPr lang="zh-CN" altLang="en-US" dirty="0">
                <a:latin typeface="+mj-ea"/>
              </a:rPr>
              <a:t>发行版介绍 </a:t>
            </a:r>
          </a:p>
        </p:txBody>
      </p:sp>
      <p:sp>
        <p:nvSpPr>
          <p:cNvPr id="17413" name="Rectangle 3"/>
          <p:cNvSpPr>
            <a:spLocks noGrp="1" noChangeArrowheads="1"/>
          </p:cNvSpPr>
          <p:nvPr>
            <p:ph type="body" idx="1"/>
          </p:nvPr>
        </p:nvSpPr>
        <p:spPr>
          <a:xfrm>
            <a:off x="1121048" y="1628800"/>
            <a:ext cx="9979992" cy="3384376"/>
          </a:xfrm>
        </p:spPr>
        <p:txBody>
          <a:bodyPr/>
          <a:lstStyle/>
          <a:p>
            <a:pPr eaLnBrk="1" hangingPunct="1">
              <a:lnSpc>
                <a:spcPct val="120000"/>
              </a:lnSpc>
            </a:pPr>
            <a:r>
              <a:rPr lang="en-US" altLang="zh-CN" sz="2600" dirty="0">
                <a:solidFill>
                  <a:schemeClr val="tx2"/>
                </a:solidFill>
              </a:rPr>
              <a:t>Ubuntu</a:t>
            </a:r>
          </a:p>
          <a:p>
            <a:pPr eaLnBrk="1" hangingPunct="1">
              <a:lnSpc>
                <a:spcPct val="120000"/>
              </a:lnSpc>
              <a:buNone/>
            </a:pPr>
            <a:r>
              <a:rPr lang="en-US" altLang="zh-CN" sz="2600" dirty="0"/>
              <a:t>    </a:t>
            </a:r>
            <a:r>
              <a:rPr lang="zh-CN" altLang="en-US" sz="2600" dirty="0"/>
              <a:t>是一个相对较新的是一个以桌面应用为主的开源</a:t>
            </a:r>
            <a:r>
              <a:rPr lang="en-US" altLang="zh-CN" sz="2600" dirty="0"/>
              <a:t>Linux</a:t>
            </a:r>
            <a:r>
              <a:rPr lang="zh-CN" altLang="en-US" sz="2600" dirty="0"/>
              <a:t>操作系统发行版，对大多数人来说改变了对</a:t>
            </a:r>
            <a:r>
              <a:rPr lang="en-US" altLang="zh-CN" sz="2600" dirty="0"/>
              <a:t>Linux</a:t>
            </a:r>
            <a:r>
              <a:rPr lang="zh-CN" altLang="en-US" sz="2600" dirty="0"/>
              <a:t>难用的看法。</a:t>
            </a:r>
            <a:r>
              <a:rPr lang="en-US" altLang="zh-CN" sz="2600" dirty="0"/>
              <a:t>Ubuntu</a:t>
            </a:r>
            <a:r>
              <a:rPr lang="zh-CN" altLang="en-US" sz="2600" dirty="0"/>
              <a:t>拥有</a:t>
            </a:r>
            <a:r>
              <a:rPr lang="en-US" altLang="zh-CN" sz="2600" dirty="0" err="1"/>
              <a:t>Debian</a:t>
            </a:r>
            <a:r>
              <a:rPr lang="zh-CN" altLang="en-US" sz="2600" dirty="0"/>
              <a:t>所有的优点，以及自己所加强的优点的近乎完美的</a:t>
            </a:r>
            <a:r>
              <a:rPr lang="en-US" altLang="zh-CN" sz="2600" dirty="0"/>
              <a:t>Linux</a:t>
            </a:r>
            <a:r>
              <a:rPr lang="zh-CN" altLang="en-US" sz="2600" dirty="0"/>
              <a:t>操作系统，目前人气颇高。</a:t>
            </a:r>
            <a:br>
              <a:rPr lang="zh-CN" altLang="en-US" sz="2800" dirty="0"/>
            </a:br>
            <a:endParaRPr lang="zh-CN" altLang="en-US" sz="2800" dirty="0"/>
          </a:p>
        </p:txBody>
      </p:sp>
      <p:pic>
        <p:nvPicPr>
          <p:cNvPr id="17414" name="Picture 6" descr="20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4192" y="3789040"/>
            <a:ext cx="2736304" cy="1889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37</a:t>
            </a:fld>
            <a:endParaRPr lang="en-US" altLang="zh-CN"/>
          </a:p>
        </p:txBody>
      </p:sp>
    </p:spTree>
    <p:extLst>
      <p:ext uri="{BB962C8B-B14F-4D97-AF65-F5344CB8AC3E}">
        <p14:creationId xmlns:p14="http://schemas.microsoft.com/office/powerpoint/2010/main" val="1808433261"/>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dirty="0"/>
              <a:t>Linux</a:t>
            </a:r>
            <a:r>
              <a:rPr lang="zh-CN" altLang="en-US" dirty="0"/>
              <a:t>与</a:t>
            </a:r>
            <a:r>
              <a:rPr lang="en-US" altLang="zh-CN" dirty="0"/>
              <a:t>UNIX</a:t>
            </a:r>
            <a:r>
              <a:rPr lang="zh-CN" altLang="en-US" dirty="0"/>
              <a:t>区别</a:t>
            </a:r>
          </a:p>
        </p:txBody>
      </p:sp>
      <p:sp>
        <p:nvSpPr>
          <p:cNvPr id="13318" name="Rectangle 6"/>
          <p:cNvSpPr>
            <a:spLocks noGrp="1" noChangeArrowheads="1"/>
          </p:cNvSpPr>
          <p:nvPr>
            <p:ph type="body" idx="1"/>
          </p:nvPr>
        </p:nvSpPr>
        <p:spPr>
          <a:xfrm>
            <a:off x="1199456" y="1484784"/>
            <a:ext cx="9871496" cy="4824536"/>
          </a:xfrm>
        </p:spPr>
        <p:txBody>
          <a:bodyPr/>
          <a:lstStyle/>
          <a:p>
            <a:pPr marL="0" indent="0">
              <a:buNone/>
            </a:pPr>
            <a:r>
              <a:rPr lang="en-US" altLang="zh-CN" sz="2600" dirty="0">
                <a:latin typeface="+mj-ea"/>
                <a:ea typeface="+mj-ea"/>
              </a:rPr>
              <a:t>1.</a:t>
            </a:r>
            <a:r>
              <a:rPr lang="zh-CN" altLang="en-US" sz="2600" dirty="0">
                <a:latin typeface="+mj-ea"/>
                <a:ea typeface="+mj-ea"/>
              </a:rPr>
              <a:t>前者是开发源代码的自由软件，后者是对源代码实行知识产权保护的传统商业软件。</a:t>
            </a:r>
            <a:endParaRPr lang="en-US" altLang="zh-CN" sz="2600" dirty="0">
              <a:latin typeface="+mj-ea"/>
              <a:ea typeface="+mj-ea"/>
            </a:endParaRPr>
          </a:p>
          <a:p>
            <a:pPr marL="0" indent="0">
              <a:buNone/>
            </a:pPr>
            <a:r>
              <a:rPr lang="en-US" altLang="zh-CN" sz="2600" dirty="0">
                <a:latin typeface="+mj-ea"/>
                <a:ea typeface="+mj-ea"/>
              </a:rPr>
              <a:t>2.</a:t>
            </a:r>
            <a:r>
              <a:rPr lang="en-US" altLang="zh-CN" sz="2600" dirty="0"/>
              <a:t>UNIX</a:t>
            </a:r>
            <a:r>
              <a:rPr lang="zh-CN" altLang="en-US" sz="2600" dirty="0">
                <a:latin typeface="+mj-ea"/>
                <a:ea typeface="+mj-ea"/>
              </a:rPr>
              <a:t>系统大多是与硬件配套的，而</a:t>
            </a:r>
            <a:r>
              <a:rPr lang="en-US" altLang="zh-CN" sz="2600" dirty="0"/>
              <a:t>Linux</a:t>
            </a:r>
            <a:r>
              <a:rPr lang="zh-CN" altLang="en-US" sz="2600" dirty="0">
                <a:latin typeface="+mj-ea"/>
                <a:ea typeface="+mj-ea"/>
              </a:rPr>
              <a:t>则可运行在多种硬件平台上，在对硬件的要求上，</a:t>
            </a:r>
            <a:r>
              <a:rPr lang="en-US" altLang="zh-CN" sz="2600" dirty="0"/>
              <a:t>Linux</a:t>
            </a:r>
            <a:r>
              <a:rPr lang="zh-CN" altLang="en-US" sz="2600" dirty="0">
                <a:latin typeface="+mj-ea"/>
                <a:ea typeface="+mj-ea"/>
              </a:rPr>
              <a:t>比</a:t>
            </a:r>
            <a:r>
              <a:rPr lang="en-US" altLang="zh-CN" sz="2600" dirty="0"/>
              <a:t>UNIX</a:t>
            </a:r>
            <a:r>
              <a:rPr lang="zh-CN" altLang="en-US" sz="2600" dirty="0">
                <a:latin typeface="+mj-ea"/>
                <a:ea typeface="+mj-ea"/>
              </a:rPr>
              <a:t>要低，在安装上</a:t>
            </a:r>
            <a:r>
              <a:rPr lang="en-US" altLang="zh-CN" sz="2600" dirty="0"/>
              <a:t>Linux</a:t>
            </a:r>
            <a:r>
              <a:rPr lang="zh-CN" altLang="en-US" sz="2600" dirty="0">
                <a:latin typeface="+mj-ea"/>
                <a:ea typeface="+mj-ea"/>
              </a:rPr>
              <a:t>比</a:t>
            </a:r>
            <a:r>
              <a:rPr lang="en-US" altLang="zh-CN" sz="2600" dirty="0"/>
              <a:t>UNIX</a:t>
            </a:r>
            <a:r>
              <a:rPr lang="zh-CN" altLang="en-US" sz="2600" dirty="0">
                <a:latin typeface="+mj-ea"/>
                <a:ea typeface="+mj-ea"/>
              </a:rPr>
              <a:t>容易掌握。</a:t>
            </a:r>
            <a:endParaRPr lang="en-US" altLang="zh-CN" sz="2600" dirty="0">
              <a:latin typeface="+mj-ea"/>
              <a:ea typeface="+mj-ea"/>
            </a:endParaRPr>
          </a:p>
          <a:p>
            <a:pPr marL="685800" indent="-685800">
              <a:buNone/>
            </a:pPr>
            <a:r>
              <a:rPr lang="en-US" altLang="zh-CN" sz="2600" dirty="0">
                <a:latin typeface="+mj-ea"/>
                <a:ea typeface="+mj-ea"/>
              </a:rPr>
              <a:t>3.</a:t>
            </a:r>
            <a:r>
              <a:rPr lang="zh-CN" altLang="en-US" sz="2600" dirty="0">
                <a:latin typeface="+mj-ea"/>
                <a:ea typeface="+mj-ea"/>
              </a:rPr>
              <a:t>价格上，个人使用的</a:t>
            </a:r>
            <a:r>
              <a:rPr lang="en-US" altLang="zh-CN" sz="2600" dirty="0"/>
              <a:t>Linux</a:t>
            </a:r>
            <a:r>
              <a:rPr lang="zh-CN" altLang="en-US" sz="2600" dirty="0">
                <a:latin typeface="+mj-ea"/>
                <a:ea typeface="+mj-ea"/>
              </a:rPr>
              <a:t>基本上是免费的，不同的</a:t>
            </a:r>
            <a:r>
              <a:rPr lang="en-US" altLang="zh-CN" sz="2600" dirty="0"/>
              <a:t>Linux</a:t>
            </a:r>
            <a:r>
              <a:rPr lang="zh-CN" altLang="en-US" sz="2600" dirty="0">
                <a:latin typeface="+mj-ea"/>
                <a:ea typeface="+mj-ea"/>
              </a:rPr>
              <a:t>发行</a:t>
            </a:r>
            <a:endParaRPr lang="en-US" altLang="zh-CN" sz="2600" dirty="0">
              <a:latin typeface="+mj-ea"/>
              <a:ea typeface="+mj-ea"/>
            </a:endParaRPr>
          </a:p>
          <a:p>
            <a:pPr marL="685800" indent="-685800">
              <a:buNone/>
            </a:pPr>
            <a:r>
              <a:rPr lang="zh-CN" altLang="en-US" sz="2600" dirty="0">
                <a:latin typeface="+mj-ea"/>
                <a:ea typeface="+mj-ea"/>
              </a:rPr>
              <a:t>厂商针对企业级应用在基本的系统上有些优化，如</a:t>
            </a:r>
            <a:r>
              <a:rPr lang="en-US" altLang="zh-CN" sz="2600" dirty="0"/>
              <a:t>RedHat</a:t>
            </a:r>
            <a:r>
              <a:rPr lang="zh-CN" altLang="en-US" sz="2600" dirty="0">
                <a:latin typeface="+mj-ea"/>
                <a:ea typeface="+mj-ea"/>
              </a:rPr>
              <a:t>的</a:t>
            </a:r>
            <a:endParaRPr lang="en-US" altLang="zh-CN" sz="2600" dirty="0">
              <a:latin typeface="+mj-ea"/>
              <a:ea typeface="+mj-ea"/>
            </a:endParaRPr>
          </a:p>
          <a:p>
            <a:pPr marL="685800" indent="-685800">
              <a:buNone/>
            </a:pPr>
            <a:r>
              <a:rPr lang="en-US" altLang="zh-CN" sz="2600" dirty="0"/>
              <a:t>Enterprise</a:t>
            </a:r>
            <a:r>
              <a:rPr lang="zh-CN" altLang="en-US" sz="2600" dirty="0">
                <a:latin typeface="+mj-ea"/>
                <a:ea typeface="+mj-ea"/>
              </a:rPr>
              <a:t>产品，这些产品包括</a:t>
            </a:r>
            <a:r>
              <a:rPr lang="en-US" altLang="zh-CN" sz="2600" dirty="0">
                <a:latin typeface="+mj-ea"/>
                <a:ea typeface="+mj-ea"/>
              </a:rPr>
              <a:t>  </a:t>
            </a:r>
            <a:r>
              <a:rPr lang="zh-CN" altLang="en-US" sz="2600" dirty="0">
                <a:latin typeface="+mj-ea"/>
                <a:ea typeface="+mj-ea"/>
              </a:rPr>
              <a:t>支持服务是比较贵的。像</a:t>
            </a:r>
            <a:endParaRPr lang="en-US" altLang="zh-CN" sz="2600" dirty="0">
              <a:latin typeface="+mj-ea"/>
              <a:ea typeface="+mj-ea"/>
            </a:endParaRPr>
          </a:p>
          <a:p>
            <a:pPr marL="685800" indent="-685800">
              <a:buNone/>
            </a:pPr>
            <a:r>
              <a:rPr lang="en-US" altLang="zh-CN" sz="2600" dirty="0"/>
              <a:t>IBM/HP/SUN</a:t>
            </a:r>
            <a:r>
              <a:rPr lang="zh-CN" altLang="en-US" sz="2600" dirty="0"/>
              <a:t>的</a:t>
            </a:r>
            <a:r>
              <a:rPr lang="en-US" altLang="zh-CN" sz="2600" dirty="0"/>
              <a:t>UNIX</a:t>
            </a:r>
            <a:r>
              <a:rPr lang="zh-CN" altLang="en-US" sz="2600" dirty="0">
                <a:latin typeface="+mj-ea"/>
                <a:ea typeface="+mj-ea"/>
              </a:rPr>
              <a:t>，因为主要是针对其硬件平台，所以操作系统通常在设备价格中。</a:t>
            </a:r>
            <a:r>
              <a:rPr lang="en-US" altLang="zh-CN" sz="2600" dirty="0">
                <a:latin typeface="+mj-ea"/>
                <a:ea typeface="+mj-ea"/>
              </a:rPr>
              <a:t>(</a:t>
            </a:r>
            <a:r>
              <a:rPr lang="zh-CN" altLang="en-US" sz="2600" dirty="0">
                <a:latin typeface="+mj-ea"/>
                <a:ea typeface="+mj-ea"/>
              </a:rPr>
              <a:t>没有人单独买一个</a:t>
            </a:r>
            <a:r>
              <a:rPr lang="en-US" altLang="zh-CN" sz="2600" dirty="0"/>
              <a:t>UNIX</a:t>
            </a:r>
            <a:r>
              <a:rPr lang="zh-CN" altLang="en-US" sz="2600" dirty="0">
                <a:latin typeface="+mj-ea"/>
                <a:ea typeface="+mj-ea"/>
              </a:rPr>
              <a:t>操作系统</a:t>
            </a:r>
            <a:r>
              <a:rPr lang="en-US" altLang="zh-CN" sz="2600" dirty="0">
                <a:latin typeface="+mj-ea"/>
                <a:ea typeface="+mj-ea"/>
              </a:rPr>
              <a:t>)</a:t>
            </a:r>
            <a:r>
              <a:rPr lang="zh-CN" altLang="en-US" sz="2600" dirty="0">
                <a:latin typeface="+mj-ea"/>
                <a:ea typeface="+mj-ea"/>
              </a:rPr>
              <a:t>。</a:t>
            </a:r>
          </a:p>
          <a:p>
            <a:pPr marL="685800" indent="-685800">
              <a:buNone/>
            </a:pPr>
            <a:endParaRPr lang="en-US" altLang="zh-CN" sz="2400" dirty="0">
              <a:ea typeface="宋体" pitchFamily="2" charset="-122"/>
            </a:endParaRPr>
          </a:p>
          <a:p>
            <a:pPr marL="685800" indent="-685800">
              <a:buNone/>
            </a:pPr>
            <a:endParaRPr lang="zh-CN" altLang="en-US" sz="2400" dirty="0">
              <a:ea typeface="宋体" pitchFamily="2" charset="-122"/>
            </a:endParaRPr>
          </a:p>
          <a:p>
            <a:pPr marL="685800" indent="-685800">
              <a:buNone/>
            </a:pPr>
            <a:r>
              <a:rPr lang="en-US" altLang="zh-CN" sz="2400" dirty="0">
                <a:ea typeface="宋体" pitchFamily="2" charset="-122"/>
              </a:rPr>
              <a:t>     </a:t>
            </a:r>
            <a:endParaRPr lang="zh-CN" altLang="en-US" sz="2400" dirty="0">
              <a:ea typeface="宋体" pitchFamily="2" charset="-122"/>
            </a:endParaRPr>
          </a:p>
          <a:p>
            <a:pPr marL="685800" indent="-685800">
              <a:buNone/>
            </a:pPr>
            <a:r>
              <a:rPr lang="zh-CN" altLang="en-US" sz="2400" dirty="0">
                <a:ea typeface="宋体" pitchFamily="2" charset="-122"/>
              </a:rPr>
              <a:t>     </a:t>
            </a:r>
            <a:endParaRPr lang="en-US" altLang="zh-CN" sz="2400" dirty="0">
              <a:ea typeface="宋体" pitchFamily="2" charset="-122"/>
            </a:endParaRPr>
          </a:p>
        </p:txBody>
      </p:sp>
    </p:spTree>
    <p:extLst>
      <p:ext uri="{BB962C8B-B14F-4D97-AF65-F5344CB8AC3E}">
        <p14:creationId xmlns:p14="http://schemas.microsoft.com/office/powerpoint/2010/main" val="16745042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dirty="0"/>
              <a:t>Linux</a:t>
            </a:r>
            <a:r>
              <a:rPr lang="zh-CN" altLang="en-US" dirty="0"/>
              <a:t>与</a:t>
            </a:r>
            <a:r>
              <a:rPr lang="en-US" altLang="zh-CN" dirty="0"/>
              <a:t>UNIX</a:t>
            </a:r>
            <a:endParaRPr lang="zh-CN" altLang="en-US" dirty="0"/>
          </a:p>
        </p:txBody>
      </p:sp>
      <p:sp>
        <p:nvSpPr>
          <p:cNvPr id="13318" name="Rectangle 6"/>
          <p:cNvSpPr>
            <a:spLocks noGrp="1" noChangeArrowheads="1"/>
          </p:cNvSpPr>
          <p:nvPr>
            <p:ph type="body" idx="1"/>
          </p:nvPr>
        </p:nvSpPr>
        <p:spPr>
          <a:xfrm>
            <a:off x="1121048" y="1580448"/>
            <a:ext cx="9943504" cy="4104456"/>
          </a:xfrm>
        </p:spPr>
        <p:txBody>
          <a:bodyPr/>
          <a:lstStyle/>
          <a:p>
            <a:pPr marL="0" indent="0">
              <a:lnSpc>
                <a:spcPct val="150000"/>
              </a:lnSpc>
              <a:buNone/>
            </a:pPr>
            <a:r>
              <a:rPr lang="en-US" altLang="zh-CN" sz="2600" dirty="0">
                <a:latin typeface="+mn-ea"/>
              </a:rPr>
              <a:t>4.</a:t>
            </a:r>
            <a:r>
              <a:rPr lang="zh-CN" altLang="en-US" sz="2600" dirty="0">
                <a:latin typeface="+mn-ea"/>
              </a:rPr>
              <a:t>性能上，在网络管理能力和安全方面，</a:t>
            </a:r>
            <a:r>
              <a:rPr lang="en-US" altLang="zh-CN" sz="2600" dirty="0"/>
              <a:t>Linux</a:t>
            </a:r>
            <a:r>
              <a:rPr lang="zh-CN" altLang="en-US" sz="2600" dirty="0">
                <a:latin typeface="+mn-ea"/>
              </a:rPr>
              <a:t>与</a:t>
            </a:r>
            <a:r>
              <a:rPr lang="en-US" altLang="zh-CN" sz="2600" dirty="0"/>
              <a:t>UNIX</a:t>
            </a:r>
            <a:r>
              <a:rPr lang="zh-CN" altLang="en-US" sz="2600" dirty="0">
                <a:latin typeface="+mn-ea"/>
              </a:rPr>
              <a:t>很相似。</a:t>
            </a:r>
            <a:r>
              <a:rPr lang="en-US" altLang="zh-CN" sz="2600" dirty="0"/>
              <a:t>UNIX</a:t>
            </a:r>
            <a:r>
              <a:rPr lang="zh-CN" altLang="en-US" sz="2600" dirty="0">
                <a:latin typeface="+mn-ea"/>
              </a:rPr>
              <a:t>系统一直被用做高端应用或服务器系统，因此拥有一套完善的网络管理机制和规则， </a:t>
            </a:r>
            <a:r>
              <a:rPr lang="en-US" altLang="zh-CN" sz="2600" dirty="0"/>
              <a:t>Linux</a:t>
            </a:r>
            <a:r>
              <a:rPr lang="zh-CN" altLang="en-US" sz="2600" dirty="0">
                <a:latin typeface="+mn-ea"/>
              </a:rPr>
              <a:t>沿用了这些出色的规则，使网络的可配置能力很强，为系统管理提供了极大的灵活性。</a:t>
            </a:r>
            <a:endParaRPr lang="en-US" altLang="zh-CN" sz="2600" dirty="0">
              <a:latin typeface="+mn-ea"/>
            </a:endParaRPr>
          </a:p>
          <a:p>
            <a:pPr marL="0" indent="0">
              <a:lnSpc>
                <a:spcPct val="150000"/>
              </a:lnSpc>
              <a:buNone/>
            </a:pPr>
            <a:r>
              <a:rPr lang="zh-CN" altLang="en-US" sz="2400" dirty="0">
                <a:ea typeface="宋体" pitchFamily="2" charset="-122"/>
              </a:rPr>
              <a:t>    </a:t>
            </a:r>
            <a:endParaRPr lang="en-US" altLang="zh-CN" sz="2400" dirty="0">
              <a:ea typeface="宋体" pitchFamily="2" charset="-122"/>
            </a:endParaRP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39</a:t>
            </a:fld>
            <a:endParaRPr lang="en-US" altLang="zh-CN" dirty="0"/>
          </a:p>
        </p:txBody>
      </p:sp>
    </p:spTree>
    <p:extLst>
      <p:ext uri="{BB962C8B-B14F-4D97-AF65-F5344CB8AC3E}">
        <p14:creationId xmlns:p14="http://schemas.microsoft.com/office/powerpoint/2010/main" val="37044035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zh-CN" dirty="0"/>
              <a:t>1.4  Linux</a:t>
            </a:r>
            <a:r>
              <a:rPr lang="zh-CN" altLang="en-US" dirty="0"/>
              <a:t>现状与前景</a:t>
            </a:r>
          </a:p>
        </p:txBody>
      </p:sp>
      <p:sp>
        <p:nvSpPr>
          <p:cNvPr id="21507" name="Rectangle 3"/>
          <p:cNvSpPr>
            <a:spLocks noGrp="1" noChangeArrowheads="1"/>
          </p:cNvSpPr>
          <p:nvPr>
            <p:ph type="body" idx="1"/>
          </p:nvPr>
        </p:nvSpPr>
        <p:spPr>
          <a:xfrm>
            <a:off x="1154873" y="1623250"/>
            <a:ext cx="9943504" cy="4411662"/>
          </a:xfrm>
        </p:spPr>
        <p:txBody>
          <a:bodyPr/>
          <a:lstStyle/>
          <a:p>
            <a:pPr eaLnBrk="1" hangingPunct="1">
              <a:lnSpc>
                <a:spcPct val="150000"/>
              </a:lnSpc>
            </a:pPr>
            <a:r>
              <a:rPr lang="en-US" altLang="zh-CN" sz="2600" dirty="0"/>
              <a:t>Linux</a:t>
            </a:r>
            <a:r>
              <a:rPr lang="zh-CN" altLang="en-US" sz="2600" dirty="0"/>
              <a:t>已经不再只是一个新的操作系统，许多知名企业和大学都是</a:t>
            </a:r>
            <a:r>
              <a:rPr lang="en-US" altLang="zh-CN" sz="2600" dirty="0"/>
              <a:t>Linux</a:t>
            </a:r>
            <a:r>
              <a:rPr lang="zh-CN" altLang="en-US" sz="2600" dirty="0"/>
              <a:t>的忠实用户。</a:t>
            </a:r>
            <a:r>
              <a:rPr lang="en-US" altLang="zh-CN" sz="2600" dirty="0"/>
              <a:t>IBM</a:t>
            </a:r>
            <a:r>
              <a:rPr lang="zh-CN" altLang="en-US" sz="2600" dirty="0"/>
              <a:t>、</a:t>
            </a:r>
            <a:r>
              <a:rPr lang="en-US" altLang="zh-CN" sz="2600" dirty="0"/>
              <a:t>HP</a:t>
            </a:r>
            <a:r>
              <a:rPr lang="zh-CN" altLang="en-US" sz="2600" dirty="0"/>
              <a:t>、</a:t>
            </a:r>
            <a:r>
              <a:rPr lang="en-US" altLang="zh-CN" sz="2600" dirty="0"/>
              <a:t>Dell</a:t>
            </a:r>
            <a:r>
              <a:rPr lang="zh-CN" altLang="en-US" sz="2600" dirty="0"/>
              <a:t>、</a:t>
            </a:r>
            <a:r>
              <a:rPr lang="en-US" altLang="zh-CN" sz="2600" dirty="0"/>
              <a:t>Oracle</a:t>
            </a:r>
            <a:r>
              <a:rPr lang="zh-CN" altLang="en-US" sz="2600" dirty="0"/>
              <a:t>、</a:t>
            </a:r>
            <a:r>
              <a:rPr lang="en-US" altLang="zh-CN" sz="2600" dirty="0"/>
              <a:t>AMD</a:t>
            </a:r>
            <a:r>
              <a:rPr lang="zh-CN" altLang="en-US" sz="2600" dirty="0"/>
              <a:t>等计算机公司都大力支持</a:t>
            </a:r>
            <a:r>
              <a:rPr lang="en-US" altLang="zh-CN" sz="2600" dirty="0"/>
              <a:t>Linux</a:t>
            </a:r>
            <a:r>
              <a:rPr lang="zh-CN" altLang="en-US" sz="2600" dirty="0"/>
              <a:t>的发展，不断推出基于</a:t>
            </a:r>
            <a:r>
              <a:rPr lang="en-US" altLang="zh-CN" sz="2600" dirty="0"/>
              <a:t>Linux</a:t>
            </a:r>
            <a:r>
              <a:rPr lang="zh-CN" altLang="en-US" sz="2600" dirty="0"/>
              <a:t>平台的产品。</a:t>
            </a:r>
          </a:p>
          <a:p>
            <a:pPr eaLnBrk="1" hangingPunct="1">
              <a:lnSpc>
                <a:spcPct val="150000"/>
              </a:lnSpc>
            </a:pPr>
            <a:r>
              <a:rPr lang="en-US" altLang="zh-CN" sz="2600" dirty="0"/>
              <a:t>Linux</a:t>
            </a:r>
            <a:r>
              <a:rPr lang="zh-CN" altLang="en-US" sz="2600" dirty="0"/>
              <a:t>的应用范围主要包括</a:t>
            </a:r>
            <a:r>
              <a:rPr lang="zh-CN" altLang="en-US" sz="2600" dirty="0">
                <a:solidFill>
                  <a:srgbClr val="0000CC"/>
                </a:solidFill>
              </a:rPr>
              <a:t>桌面</a:t>
            </a:r>
            <a:r>
              <a:rPr lang="zh-CN" altLang="en-US" sz="2600" dirty="0"/>
              <a:t>、</a:t>
            </a:r>
            <a:r>
              <a:rPr lang="zh-CN" altLang="en-US" sz="2600" dirty="0">
                <a:solidFill>
                  <a:srgbClr val="0000CC"/>
                </a:solidFill>
              </a:rPr>
              <a:t>服务器</a:t>
            </a:r>
            <a:r>
              <a:rPr lang="zh-CN" altLang="en-US" sz="2600" dirty="0"/>
              <a:t>、</a:t>
            </a:r>
            <a:r>
              <a:rPr lang="zh-CN" altLang="en-US" sz="2600" dirty="0">
                <a:solidFill>
                  <a:srgbClr val="0000CC"/>
                </a:solidFill>
              </a:rPr>
              <a:t>嵌入式系统</a:t>
            </a:r>
            <a:r>
              <a:rPr lang="zh-CN" altLang="en-US" sz="2600" dirty="0"/>
              <a:t>、和</a:t>
            </a:r>
            <a:r>
              <a:rPr lang="zh-CN" altLang="en-US" sz="2600" dirty="0">
                <a:solidFill>
                  <a:srgbClr val="0000CC"/>
                </a:solidFill>
              </a:rPr>
              <a:t>集群计算机</a:t>
            </a:r>
            <a:r>
              <a:rPr lang="zh-CN" altLang="en-US" sz="2600" dirty="0"/>
              <a:t>等几个方面。 </a:t>
            </a:r>
          </a:p>
          <a:p>
            <a:pPr eaLnBrk="1" hangingPunct="1">
              <a:buFont typeface="Wingdings" pitchFamily="2" charset="2"/>
              <a:buNone/>
            </a:pPr>
            <a:endParaRPr lang="en-US" altLang="zh-CN" dirty="0"/>
          </a:p>
        </p:txBody>
      </p:sp>
      <p:sp>
        <p:nvSpPr>
          <p:cNvPr id="4" name="灯片编号占位符 4"/>
          <p:cNvSpPr>
            <a:spLocks noGrp="1"/>
          </p:cNvSpPr>
          <p:nvPr>
            <p:ph type="sldNum" sz="quarter" idx="11"/>
          </p:nvPr>
        </p:nvSpPr>
        <p:spPr>
          <a:xfrm>
            <a:off x="5159896" y="5778509"/>
            <a:ext cx="2133600" cy="457200"/>
          </a:xfrm>
          <a:noFill/>
        </p:spPr>
        <p:txBody>
          <a:bodyPr/>
          <a:lstStyle/>
          <a:p>
            <a:fld id="{7000AA29-53BB-4ABB-95DC-6E9302FEE583}" type="slidenum">
              <a:rPr lang="en-US" altLang="zh-CN" smtClean="0"/>
              <a:pPr/>
              <a:t>40</a:t>
            </a:fld>
            <a:endParaRPr lang="en-US" altLang="zh-CN" dirty="0"/>
          </a:p>
        </p:txBody>
      </p:sp>
    </p:spTree>
    <p:extLst>
      <p:ext uri="{BB962C8B-B14F-4D97-AF65-F5344CB8AC3E}">
        <p14:creationId xmlns:p14="http://schemas.microsoft.com/office/powerpoint/2010/main" val="42126229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F61CCBD3-926C-4899-A953-A23A81EC17DB}" type="slidenum">
              <a:rPr lang="en-US" altLang="zh-CN"/>
              <a:pPr/>
              <a:t>41</a:t>
            </a:fld>
            <a:endParaRPr lang="en-US" altLang="zh-CN" dirty="0"/>
          </a:p>
        </p:txBody>
      </p:sp>
      <p:sp>
        <p:nvSpPr>
          <p:cNvPr id="126978" name="Rectangle 2"/>
          <p:cNvSpPr>
            <a:spLocks noGrp="1" noChangeArrowheads="1"/>
          </p:cNvSpPr>
          <p:nvPr>
            <p:ph type="title"/>
          </p:nvPr>
        </p:nvSpPr>
        <p:spPr>
          <a:xfrm>
            <a:off x="1919536" y="549755"/>
            <a:ext cx="7992888" cy="955675"/>
          </a:xfrm>
        </p:spPr>
        <p:txBody>
          <a:bodyPr/>
          <a:lstStyle/>
          <a:p>
            <a:r>
              <a:rPr lang="zh-CN" altLang="en-US" b="1" dirty="0"/>
              <a:t>桌面</a:t>
            </a:r>
          </a:p>
        </p:txBody>
      </p:sp>
      <p:sp>
        <p:nvSpPr>
          <p:cNvPr id="126979" name="Rectangle 3"/>
          <p:cNvSpPr>
            <a:spLocks noGrp="1" noChangeArrowheads="1"/>
          </p:cNvSpPr>
          <p:nvPr>
            <p:ph type="body" idx="1"/>
          </p:nvPr>
        </p:nvSpPr>
        <p:spPr>
          <a:xfrm>
            <a:off x="911424" y="1584058"/>
            <a:ext cx="10369152" cy="4365222"/>
          </a:xfrm>
        </p:spPr>
        <p:txBody>
          <a:bodyPr/>
          <a:lstStyle/>
          <a:p>
            <a:pPr algn="just">
              <a:lnSpc>
                <a:spcPct val="125000"/>
              </a:lnSpc>
            </a:pPr>
            <a:r>
              <a:rPr lang="zh-CN" altLang="en-US" sz="2400" dirty="0"/>
              <a:t>桌面曾是</a:t>
            </a:r>
            <a:r>
              <a:rPr lang="en-US" altLang="zh-CN" sz="2400" dirty="0"/>
              <a:t>Linux</a:t>
            </a:r>
            <a:r>
              <a:rPr lang="zh-CN" altLang="en-US" sz="2400" dirty="0"/>
              <a:t>的弱项。</a:t>
            </a:r>
            <a:r>
              <a:rPr lang="en-US" altLang="zh-CN" sz="2400" dirty="0"/>
              <a:t>Linux</a:t>
            </a:r>
            <a:r>
              <a:rPr lang="zh-CN" altLang="en-US" sz="2400" dirty="0"/>
              <a:t>继承</a:t>
            </a:r>
            <a:r>
              <a:rPr lang="en-US" altLang="zh-CN" sz="2400" dirty="0"/>
              <a:t>UNIX</a:t>
            </a:r>
            <a:r>
              <a:rPr lang="zh-CN" altLang="en-US" sz="2400" dirty="0"/>
              <a:t>的传统，字符界面下使用</a:t>
            </a:r>
            <a:r>
              <a:rPr lang="en-US" altLang="zh-CN" sz="2400" dirty="0"/>
              <a:t>Shell</a:t>
            </a:r>
            <a:r>
              <a:rPr lang="zh-CN" altLang="en-US" sz="2400" dirty="0"/>
              <a:t>命令就可以完全控制计算机。但是随着</a:t>
            </a:r>
            <a:r>
              <a:rPr lang="en-US" altLang="zh-CN" sz="2400" dirty="0"/>
              <a:t>Linux</a:t>
            </a:r>
            <a:r>
              <a:rPr lang="zh-CN" altLang="en-US" sz="2400" dirty="0"/>
              <a:t>技术，特别是随着</a:t>
            </a:r>
            <a:r>
              <a:rPr lang="en-US" altLang="zh-CN" sz="2400" dirty="0"/>
              <a:t>X-Window</a:t>
            </a:r>
            <a:r>
              <a:rPr lang="zh-CN" altLang="en-US" sz="2400" dirty="0"/>
              <a:t>技术的发展，</a:t>
            </a:r>
            <a:r>
              <a:rPr lang="en-US" altLang="zh-CN" sz="2400" dirty="0">
                <a:solidFill>
                  <a:srgbClr val="CC0099"/>
                </a:solidFill>
              </a:rPr>
              <a:t>Linux</a:t>
            </a:r>
            <a:r>
              <a:rPr lang="zh-CN" altLang="en-US" sz="2400" dirty="0">
                <a:solidFill>
                  <a:srgbClr val="CC0099"/>
                </a:solidFill>
              </a:rPr>
              <a:t>在界面美观、使用方便等方面都有了长足的进步</a:t>
            </a:r>
            <a:r>
              <a:rPr lang="zh-CN" altLang="en-US" sz="2400" dirty="0"/>
              <a:t>。</a:t>
            </a:r>
            <a:endParaRPr lang="en-US" altLang="zh-CN" sz="2400" dirty="0"/>
          </a:p>
          <a:p>
            <a:pPr algn="just">
              <a:lnSpc>
                <a:spcPct val="125000"/>
              </a:lnSpc>
            </a:pPr>
            <a:r>
              <a:rPr lang="zh-CN" altLang="en-US" sz="2400" dirty="0"/>
              <a:t>在中国，由于</a:t>
            </a:r>
            <a:r>
              <a:rPr lang="en-US" altLang="zh-CN" sz="2400" dirty="0"/>
              <a:t>《</a:t>
            </a:r>
            <a:r>
              <a:rPr lang="zh-CN" altLang="en-US" sz="2400" dirty="0"/>
              <a:t>软件政府采购管理办法</a:t>
            </a:r>
            <a:r>
              <a:rPr lang="en-US" altLang="zh-CN" sz="2400" dirty="0"/>
              <a:t>》</a:t>
            </a:r>
            <a:r>
              <a:rPr lang="zh-CN" altLang="en-US" sz="2400" dirty="0"/>
              <a:t>中明确规定中国政府支持国产软件的政策导向，所以在北京等城市的政府采购中，国产</a:t>
            </a:r>
            <a:r>
              <a:rPr lang="en-US" altLang="zh-CN" sz="2400" dirty="0"/>
              <a:t>Linux</a:t>
            </a:r>
            <a:r>
              <a:rPr lang="zh-CN" altLang="en-US" sz="2400" dirty="0"/>
              <a:t>软件战胜了其他对手，成为政府机关主要桌面操作系统。这也极大地推动了</a:t>
            </a:r>
            <a:r>
              <a:rPr lang="en-US" altLang="zh-CN" sz="2400" dirty="0"/>
              <a:t>Linux</a:t>
            </a:r>
            <a:r>
              <a:rPr lang="zh-CN" altLang="en-US" sz="2400" dirty="0"/>
              <a:t>桌面系统的普及和应用。</a:t>
            </a:r>
          </a:p>
          <a:p>
            <a:pPr algn="just">
              <a:lnSpc>
                <a:spcPct val="125000"/>
              </a:lnSpc>
            </a:pPr>
            <a:endParaRPr lang="zh-CN" altLang="en-US" sz="2800" dirty="0"/>
          </a:p>
        </p:txBody>
      </p:sp>
    </p:spTree>
    <p:extLst>
      <p:ext uri="{BB962C8B-B14F-4D97-AF65-F5344CB8AC3E}">
        <p14:creationId xmlns:p14="http://schemas.microsoft.com/office/powerpoint/2010/main" val="12814971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9E29173C-DB71-46B0-A64F-3C23EBD70068}" type="slidenum">
              <a:rPr lang="en-US" altLang="zh-CN"/>
              <a:pPr/>
              <a:t>42</a:t>
            </a:fld>
            <a:endParaRPr lang="en-US" altLang="zh-CN"/>
          </a:p>
        </p:txBody>
      </p:sp>
      <p:sp>
        <p:nvSpPr>
          <p:cNvPr id="129026" name="Rectangle 2"/>
          <p:cNvSpPr>
            <a:spLocks noGrp="1" noChangeArrowheads="1"/>
          </p:cNvSpPr>
          <p:nvPr>
            <p:ph type="title"/>
          </p:nvPr>
        </p:nvSpPr>
        <p:spPr>
          <a:xfrm>
            <a:off x="1703512" y="602140"/>
            <a:ext cx="8784976" cy="887545"/>
          </a:xfrm>
        </p:spPr>
        <p:txBody>
          <a:bodyPr/>
          <a:lstStyle/>
          <a:p>
            <a:r>
              <a:rPr lang="zh-CN" altLang="en-US" b="1" dirty="0"/>
              <a:t>服务器</a:t>
            </a:r>
          </a:p>
        </p:txBody>
      </p:sp>
      <p:sp>
        <p:nvSpPr>
          <p:cNvPr id="129027" name="Rectangle 3"/>
          <p:cNvSpPr>
            <a:spLocks noGrp="1" noChangeArrowheads="1"/>
          </p:cNvSpPr>
          <p:nvPr>
            <p:ph type="body" idx="1"/>
          </p:nvPr>
        </p:nvSpPr>
        <p:spPr>
          <a:xfrm>
            <a:off x="1055440" y="1580241"/>
            <a:ext cx="10009112" cy="4060328"/>
          </a:xfrm>
        </p:spPr>
        <p:txBody>
          <a:bodyPr/>
          <a:lstStyle/>
          <a:p>
            <a:pPr>
              <a:lnSpc>
                <a:spcPct val="140000"/>
              </a:lnSpc>
            </a:pPr>
            <a:r>
              <a:rPr lang="en-US" altLang="zh-CN" sz="2800" dirty="0"/>
              <a:t>Linux</a:t>
            </a:r>
            <a:r>
              <a:rPr lang="zh-CN" altLang="en-US" sz="2800" dirty="0">
                <a:latin typeface="宋体" pitchFamily="2" charset="-122"/>
              </a:rPr>
              <a:t>服务器的稳定性、安全性、可靠性已经得到业界认可，政府、银行、邮电、保险等业务关键部门已经开始规模性使用。作为服务器，</a:t>
            </a:r>
            <a:r>
              <a:rPr lang="en-US" altLang="zh-CN" sz="2800" dirty="0"/>
              <a:t>Linux </a:t>
            </a:r>
            <a:r>
              <a:rPr lang="zh-CN" altLang="en-US" sz="2800" dirty="0">
                <a:latin typeface="宋体" pitchFamily="2" charset="-122"/>
              </a:rPr>
              <a:t>的服务领域包括：</a:t>
            </a:r>
          </a:p>
          <a:p>
            <a:pPr lvl="2">
              <a:lnSpc>
                <a:spcPct val="140000"/>
              </a:lnSpc>
            </a:pPr>
            <a:r>
              <a:rPr lang="zh-CN" altLang="en-US" sz="2800" dirty="0">
                <a:latin typeface="宋体" pitchFamily="2" charset="-122"/>
              </a:rPr>
              <a:t>网络服务器</a:t>
            </a:r>
          </a:p>
          <a:p>
            <a:pPr lvl="2">
              <a:lnSpc>
                <a:spcPct val="140000"/>
              </a:lnSpc>
            </a:pPr>
            <a:r>
              <a:rPr lang="zh-CN" altLang="en-US" sz="2800" dirty="0">
                <a:latin typeface="宋体" pitchFamily="2" charset="-122"/>
              </a:rPr>
              <a:t>文件和打印服务器</a:t>
            </a:r>
          </a:p>
          <a:p>
            <a:pPr lvl="2">
              <a:lnSpc>
                <a:spcPct val="140000"/>
              </a:lnSpc>
            </a:pPr>
            <a:r>
              <a:rPr lang="zh-CN" altLang="en-US" sz="2800" dirty="0">
                <a:latin typeface="宋体" pitchFamily="2" charset="-122"/>
              </a:rPr>
              <a:t>数据库服务器</a:t>
            </a:r>
          </a:p>
        </p:txBody>
      </p:sp>
    </p:spTree>
    <p:extLst>
      <p:ext uri="{BB962C8B-B14F-4D97-AF65-F5344CB8AC3E}">
        <p14:creationId xmlns:p14="http://schemas.microsoft.com/office/powerpoint/2010/main" val="42127975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A29DE9C5-99C3-46D8-811D-8DCAF3FFC7F2}" type="slidenum">
              <a:rPr lang="en-US" altLang="zh-CN"/>
              <a:pPr/>
              <a:t>43</a:t>
            </a:fld>
            <a:endParaRPr lang="en-US" altLang="zh-CN"/>
          </a:p>
        </p:txBody>
      </p:sp>
      <p:sp>
        <p:nvSpPr>
          <p:cNvPr id="130050" name="Rectangle 2"/>
          <p:cNvSpPr>
            <a:spLocks noGrp="1" noChangeArrowheads="1"/>
          </p:cNvSpPr>
          <p:nvPr>
            <p:ph type="title"/>
          </p:nvPr>
        </p:nvSpPr>
        <p:spPr>
          <a:xfrm>
            <a:off x="1847528" y="579120"/>
            <a:ext cx="8280920" cy="883689"/>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b="1" dirty="0"/>
              <a:t>嵌入式系统</a:t>
            </a:r>
          </a:p>
        </p:txBody>
      </p:sp>
      <p:sp>
        <p:nvSpPr>
          <p:cNvPr id="130051" name="Rectangle 3"/>
          <p:cNvSpPr>
            <a:spLocks noGrp="1" noChangeArrowheads="1"/>
          </p:cNvSpPr>
          <p:nvPr>
            <p:ph type="body" idx="1"/>
          </p:nvPr>
        </p:nvSpPr>
        <p:spPr>
          <a:xfrm>
            <a:off x="1199456" y="1462809"/>
            <a:ext cx="10009112" cy="4364776"/>
          </a:xfrm>
        </p:spPr>
        <p:txBody>
          <a:bodyPr/>
          <a:lstStyle/>
          <a:p>
            <a:r>
              <a:rPr lang="zh-CN" altLang="en-US" sz="2800" dirty="0">
                <a:latin typeface="宋体" pitchFamily="2" charset="-122"/>
              </a:rPr>
              <a:t>凡是带有微处理器的非计算机系统都可以称为嵌入式系统。身边触手可及的电子产品、</a:t>
            </a:r>
            <a:r>
              <a:rPr lang="en-US" altLang="zh-CN" sz="2800" dirty="0"/>
              <a:t>PDA</a:t>
            </a:r>
            <a:r>
              <a:rPr lang="zh-CN" altLang="en-US" sz="2800" dirty="0">
                <a:latin typeface="宋体" pitchFamily="2" charset="-122"/>
              </a:rPr>
              <a:t>等微型数字化产品，网络家电、智能家电、车载电子设备都采用嵌入式系统。</a:t>
            </a:r>
            <a:endParaRPr lang="en-US" altLang="zh-CN" sz="2800" dirty="0">
              <a:latin typeface="宋体" pitchFamily="2" charset="-122"/>
            </a:endParaRPr>
          </a:p>
          <a:p>
            <a:r>
              <a:rPr lang="en-US" altLang="zh-CN" sz="2600" dirty="0"/>
              <a:t>Linux</a:t>
            </a:r>
            <a:r>
              <a:rPr lang="zh-CN" altLang="en-US" sz="2800" dirty="0">
                <a:latin typeface="宋体" pitchFamily="2" charset="-122"/>
              </a:rPr>
              <a:t>功能强大并且内核很小。一个功能完备的 </a:t>
            </a:r>
            <a:r>
              <a:rPr lang="en-US" altLang="zh-CN" sz="2600" dirty="0"/>
              <a:t>Linux</a:t>
            </a:r>
            <a:r>
              <a:rPr lang="en-US" altLang="zh-CN" sz="2800" dirty="0">
                <a:latin typeface="宋体" pitchFamily="2" charset="-122"/>
              </a:rPr>
              <a:t> </a:t>
            </a:r>
            <a:r>
              <a:rPr lang="zh-CN" altLang="en-US" sz="2800" dirty="0">
                <a:latin typeface="宋体" pitchFamily="2" charset="-122"/>
              </a:rPr>
              <a:t>内核只要求大约 </a:t>
            </a:r>
            <a:r>
              <a:rPr lang="en-US" altLang="zh-CN" sz="2600" dirty="0"/>
              <a:t>1MB</a:t>
            </a:r>
            <a:r>
              <a:rPr lang="en-US" altLang="zh-CN" sz="2800" dirty="0">
                <a:latin typeface="宋体" pitchFamily="2" charset="-122"/>
              </a:rPr>
              <a:t> </a:t>
            </a:r>
            <a:r>
              <a:rPr lang="zh-CN" altLang="en-US" sz="2800" dirty="0">
                <a:latin typeface="宋体" pitchFamily="2" charset="-122"/>
              </a:rPr>
              <a:t>内存</a:t>
            </a:r>
            <a:r>
              <a:rPr lang="en-US" altLang="zh-CN" sz="2800" dirty="0">
                <a:latin typeface="宋体" pitchFamily="2" charset="-122"/>
              </a:rPr>
              <a:t>,</a:t>
            </a:r>
            <a:r>
              <a:rPr lang="zh-CN" altLang="en-US" sz="2800" dirty="0">
                <a:latin typeface="宋体" pitchFamily="2" charset="-122"/>
              </a:rPr>
              <a:t>而最核心的微内核只需要 </a:t>
            </a:r>
            <a:r>
              <a:rPr lang="en-US" altLang="zh-CN" sz="2800" dirty="0">
                <a:latin typeface="宋体" pitchFamily="2" charset="-122"/>
              </a:rPr>
              <a:t>100KB </a:t>
            </a:r>
            <a:r>
              <a:rPr lang="zh-CN" altLang="en-US" sz="2800" dirty="0">
                <a:latin typeface="宋体" pitchFamily="2" charset="-122"/>
              </a:rPr>
              <a:t>的内存。</a:t>
            </a:r>
            <a:r>
              <a:rPr lang="en-US" altLang="zh-CN" sz="2600" dirty="0"/>
              <a:t>Linux</a:t>
            </a:r>
            <a:r>
              <a:rPr lang="zh-CN" altLang="en-US" sz="2800" dirty="0">
                <a:latin typeface="宋体" pitchFamily="2" charset="-122"/>
              </a:rPr>
              <a:t>支持多种开发语言</a:t>
            </a:r>
            <a:r>
              <a:rPr lang="en-US" altLang="zh-CN" sz="2800" dirty="0">
                <a:latin typeface="宋体" pitchFamily="2" charset="-122"/>
              </a:rPr>
              <a:t>,</a:t>
            </a:r>
            <a:r>
              <a:rPr lang="zh-CN" altLang="en-US" sz="2800" dirty="0">
                <a:latin typeface="宋体" pitchFamily="2" charset="-122"/>
              </a:rPr>
              <a:t>如</a:t>
            </a:r>
            <a:r>
              <a:rPr lang="en-US" altLang="zh-CN" sz="2600" dirty="0"/>
              <a:t>C,C++,Java</a:t>
            </a:r>
            <a:r>
              <a:rPr lang="zh-CN" altLang="en-US" sz="2800" dirty="0">
                <a:latin typeface="宋体" pitchFamily="2" charset="-122"/>
              </a:rPr>
              <a:t>为嵌入式系统上的多种应用提供了可能。</a:t>
            </a:r>
            <a:endParaRPr lang="en-US" altLang="zh-CN" sz="2800" dirty="0">
              <a:latin typeface="宋体" pitchFamily="2" charset="-122"/>
            </a:endParaRPr>
          </a:p>
          <a:p>
            <a:r>
              <a:rPr lang="zh-CN" altLang="en-US" sz="2800" dirty="0">
                <a:solidFill>
                  <a:srgbClr val="0000CC"/>
                </a:solidFill>
                <a:latin typeface="宋体" pitchFamily="2" charset="-122"/>
              </a:rPr>
              <a:t>大约</a:t>
            </a:r>
            <a:r>
              <a:rPr lang="en-US" altLang="zh-CN" sz="2800" dirty="0">
                <a:solidFill>
                  <a:srgbClr val="0000CC"/>
                </a:solidFill>
                <a:latin typeface="宋体" pitchFamily="2" charset="-122"/>
              </a:rPr>
              <a:t>52</a:t>
            </a:r>
            <a:r>
              <a:rPr lang="zh-CN" altLang="en-US" sz="2800" dirty="0">
                <a:solidFill>
                  <a:srgbClr val="0000CC"/>
                </a:solidFill>
                <a:latin typeface="宋体" pitchFamily="2" charset="-122"/>
              </a:rPr>
              <a:t>％的嵌入式系统倾向以</a:t>
            </a:r>
            <a:r>
              <a:rPr lang="en-US" altLang="zh-CN" sz="2600" dirty="0">
                <a:solidFill>
                  <a:srgbClr val="0000CC"/>
                </a:solidFill>
              </a:rPr>
              <a:t>Linux</a:t>
            </a:r>
            <a:r>
              <a:rPr lang="zh-CN" altLang="en-US" sz="2800" dirty="0">
                <a:solidFill>
                  <a:srgbClr val="0000CC"/>
                </a:solidFill>
                <a:latin typeface="宋体" pitchFamily="2" charset="-122"/>
              </a:rPr>
              <a:t>作为系统。</a:t>
            </a:r>
            <a:endParaRPr lang="en-US" altLang="zh-CN" sz="2800" dirty="0">
              <a:solidFill>
                <a:srgbClr val="0000CC"/>
              </a:solidFill>
              <a:latin typeface="宋体" pitchFamily="2" charset="-122"/>
            </a:endParaRPr>
          </a:p>
          <a:p>
            <a:endParaRPr lang="zh-CN" altLang="en-US" sz="2800" dirty="0">
              <a:solidFill>
                <a:srgbClr val="0000CC"/>
              </a:solidFill>
              <a:latin typeface="宋体" pitchFamily="2" charset="-122"/>
            </a:endParaRPr>
          </a:p>
        </p:txBody>
      </p:sp>
    </p:spTree>
    <p:extLst>
      <p:ext uri="{BB962C8B-B14F-4D97-AF65-F5344CB8AC3E}">
        <p14:creationId xmlns:p14="http://schemas.microsoft.com/office/powerpoint/2010/main" val="7576815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6138929F-183F-4195-85FD-56AF7D41ACF9}" type="slidenum">
              <a:rPr lang="en-US" altLang="zh-CN"/>
              <a:pPr/>
              <a:t>44</a:t>
            </a:fld>
            <a:endParaRPr lang="en-US" altLang="zh-CN"/>
          </a:p>
        </p:txBody>
      </p:sp>
      <p:sp>
        <p:nvSpPr>
          <p:cNvPr id="132098" name="Rectangle 2"/>
          <p:cNvSpPr>
            <a:spLocks noGrp="1" noChangeArrowheads="1"/>
          </p:cNvSpPr>
          <p:nvPr>
            <p:ph type="title"/>
          </p:nvPr>
        </p:nvSpPr>
        <p:spPr>
          <a:xfrm>
            <a:off x="1847528" y="600993"/>
            <a:ext cx="8352928" cy="739775"/>
          </a:xfrm>
        </p:spPr>
        <p:txBody>
          <a:bodyPr/>
          <a:lstStyle/>
          <a:p>
            <a:r>
              <a:rPr lang="zh-CN" altLang="en-US" dirty="0">
                <a:latin typeface="宋体" pitchFamily="2" charset="-122"/>
              </a:rPr>
              <a:t>集群计算机</a:t>
            </a:r>
            <a:r>
              <a:rPr lang="zh-CN" altLang="en-US" dirty="0"/>
              <a:t> </a:t>
            </a:r>
          </a:p>
        </p:txBody>
      </p:sp>
      <p:sp>
        <p:nvSpPr>
          <p:cNvPr id="132099" name="Rectangle 3"/>
          <p:cNvSpPr>
            <a:spLocks noGrp="1" noChangeArrowheads="1"/>
          </p:cNvSpPr>
          <p:nvPr>
            <p:ph type="body" idx="1"/>
          </p:nvPr>
        </p:nvSpPr>
        <p:spPr>
          <a:xfrm>
            <a:off x="1235460" y="1396360"/>
            <a:ext cx="9829092" cy="4552920"/>
          </a:xfrm>
        </p:spPr>
        <p:txBody>
          <a:bodyPr/>
          <a:lstStyle/>
          <a:p>
            <a:pPr>
              <a:lnSpc>
                <a:spcPct val="120000"/>
              </a:lnSpc>
            </a:pPr>
            <a:r>
              <a:rPr lang="zh-CN" altLang="en-US" sz="2800" dirty="0"/>
              <a:t>所谓集群计算机，就是利用高速的计算机网络，将许多台计算机连接起来，并加入相应的集群软件所形成的具有超强可靠性和计算能力的计算机。目前，</a:t>
            </a:r>
            <a:r>
              <a:rPr lang="en-US" altLang="zh-CN" sz="2800" dirty="0"/>
              <a:t>Linux</a:t>
            </a:r>
            <a:r>
              <a:rPr lang="zh-CN" altLang="en-US" sz="2800" dirty="0"/>
              <a:t>已成为构筑集群计算机的主要操作系统之一。</a:t>
            </a:r>
            <a:endParaRPr lang="en-US" altLang="zh-CN" sz="2800" dirty="0"/>
          </a:p>
          <a:p>
            <a:pPr>
              <a:lnSpc>
                <a:spcPct val="120000"/>
              </a:lnSpc>
            </a:pPr>
            <a:r>
              <a:rPr lang="zh-CN" altLang="en-US" sz="2800" dirty="0"/>
              <a:t>全球</a:t>
            </a:r>
            <a:r>
              <a:rPr lang="en-US" altLang="zh-CN" sz="2800" dirty="0"/>
              <a:t>500</a:t>
            </a:r>
            <a:r>
              <a:rPr lang="zh-CN" altLang="en-US" sz="2800" dirty="0"/>
              <a:t>强超级计算机中，约有</a:t>
            </a:r>
            <a:r>
              <a:rPr lang="en-US" altLang="zh-CN" sz="2800" dirty="0"/>
              <a:t>85%</a:t>
            </a:r>
            <a:r>
              <a:rPr lang="zh-CN" altLang="en-US" sz="2800" dirty="0"/>
              <a:t>采用的</a:t>
            </a:r>
            <a:r>
              <a:rPr lang="en-US" altLang="zh-CN" sz="2800" dirty="0"/>
              <a:t>Linux</a:t>
            </a:r>
            <a:r>
              <a:rPr lang="zh-CN" altLang="en-US" sz="2800" dirty="0"/>
              <a:t>操作系统（神威</a:t>
            </a:r>
            <a:r>
              <a:rPr lang="en-US" altLang="zh-CN" sz="2800" dirty="0"/>
              <a:t>·</a:t>
            </a:r>
            <a:r>
              <a:rPr lang="zh-CN" altLang="en-US" sz="2800" dirty="0"/>
              <a:t>太湖之光）。</a:t>
            </a:r>
            <a:endParaRPr lang="en-US" altLang="zh-CN" sz="2800" dirty="0"/>
          </a:p>
          <a:p>
            <a:pPr>
              <a:lnSpc>
                <a:spcPct val="120000"/>
              </a:lnSpc>
            </a:pPr>
            <a:r>
              <a:rPr lang="zh-CN" altLang="en-US" sz="2800" dirty="0">
                <a:latin typeface="宋体" pitchFamily="2" charset="-122"/>
              </a:rPr>
              <a:t>优势（</a:t>
            </a:r>
            <a:r>
              <a:rPr lang="en-US" altLang="zh-CN" sz="2800" dirty="0">
                <a:latin typeface="宋体" pitchFamily="2" charset="-122"/>
              </a:rPr>
              <a:t>1</a:t>
            </a:r>
            <a:r>
              <a:rPr lang="zh-CN" altLang="en-US" sz="2800" dirty="0">
                <a:latin typeface="宋体" pitchFamily="2" charset="-122"/>
              </a:rPr>
              <a:t>）极高的性能价格比</a:t>
            </a:r>
            <a:r>
              <a:rPr lang="zh-CN" altLang="en-US" sz="2800" dirty="0"/>
              <a:t> </a:t>
            </a:r>
          </a:p>
          <a:p>
            <a:pPr>
              <a:lnSpc>
                <a:spcPct val="120000"/>
              </a:lnSpc>
              <a:buFont typeface="Wingdings" pitchFamily="2" charset="2"/>
              <a:buNone/>
            </a:pPr>
            <a:r>
              <a:rPr lang="zh-CN" altLang="en-US" sz="2800" dirty="0">
                <a:latin typeface="宋体" pitchFamily="2" charset="-122"/>
              </a:rPr>
              <a:t>      （</a:t>
            </a:r>
            <a:r>
              <a:rPr lang="en-US" altLang="zh-CN" sz="2800" dirty="0">
                <a:latin typeface="宋体" pitchFamily="2" charset="-122"/>
              </a:rPr>
              <a:t>2</a:t>
            </a:r>
            <a:r>
              <a:rPr lang="zh-CN" altLang="en-US" sz="2800" dirty="0">
                <a:latin typeface="宋体" pitchFamily="2" charset="-122"/>
              </a:rPr>
              <a:t>）极强的可扩展性</a:t>
            </a:r>
            <a:r>
              <a:rPr lang="zh-CN" altLang="en-US" sz="2800" dirty="0"/>
              <a:t> </a:t>
            </a:r>
          </a:p>
        </p:txBody>
      </p:sp>
    </p:spTree>
    <p:extLst>
      <p:ext uri="{BB962C8B-B14F-4D97-AF65-F5344CB8AC3E}">
        <p14:creationId xmlns:p14="http://schemas.microsoft.com/office/powerpoint/2010/main" val="12121678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50" name="Rectangle 2"/>
          <p:cNvSpPr>
            <a:spLocks noGrp="1" noChangeArrowheads="1"/>
          </p:cNvSpPr>
          <p:nvPr>
            <p:ph type="body" idx="1"/>
          </p:nvPr>
        </p:nvSpPr>
        <p:spPr>
          <a:xfrm>
            <a:off x="1055439" y="1524318"/>
            <a:ext cx="10009112" cy="4525962"/>
          </a:xfrm>
        </p:spPr>
        <p:txBody>
          <a:bodyPr/>
          <a:lstStyle/>
          <a:p>
            <a:r>
              <a:rPr lang="en-US" altLang="zh-CN" sz="2400" dirty="0"/>
              <a:t>Linux </a:t>
            </a:r>
            <a:r>
              <a:rPr lang="zh-CN" altLang="en-US" sz="2400" dirty="0"/>
              <a:t>系统根本不用整理硬盘，这就是为什么没有看到过 </a:t>
            </a:r>
            <a:r>
              <a:rPr lang="en-US" altLang="zh-CN" sz="2400" dirty="0"/>
              <a:t>Linux </a:t>
            </a:r>
            <a:r>
              <a:rPr lang="zh-CN" altLang="en-US" sz="2400" dirty="0"/>
              <a:t>用户整理硬盘。</a:t>
            </a:r>
            <a:r>
              <a:rPr lang="en-US" altLang="zh-CN" sz="2400" dirty="0"/>
              <a:t>Linux </a:t>
            </a:r>
            <a:r>
              <a:rPr lang="zh-CN" altLang="en-US" sz="2400" dirty="0"/>
              <a:t>的文件系统是比 </a:t>
            </a:r>
            <a:r>
              <a:rPr lang="en-US" altLang="zh-CN" sz="2400" dirty="0"/>
              <a:t>Windows </a:t>
            </a:r>
            <a:r>
              <a:rPr lang="zh-CN" altLang="en-US" sz="2400" dirty="0"/>
              <a:t>的 </a:t>
            </a:r>
            <a:r>
              <a:rPr lang="en-US" altLang="zh-CN" sz="2400" dirty="0"/>
              <a:t>FAT, </a:t>
            </a:r>
            <a:r>
              <a:rPr lang="en-US" altLang="zh-CN" sz="2400" dirty="0" err="1"/>
              <a:t>FAT32</a:t>
            </a:r>
            <a:r>
              <a:rPr lang="en-US" altLang="zh-CN" sz="2400" dirty="0"/>
              <a:t>, NTFS </a:t>
            </a:r>
            <a:r>
              <a:rPr lang="zh-CN" altLang="en-US" sz="2400" dirty="0"/>
              <a:t>高明得多的文件系统，它们不但可以对文件设置权限，实施保护，而且可以</a:t>
            </a:r>
            <a:r>
              <a:rPr lang="zh-CN" altLang="en-US" sz="2400" dirty="0">
                <a:latin typeface="宋体"/>
              </a:rPr>
              <a:t>“</a:t>
            </a:r>
            <a:r>
              <a:rPr lang="zh-CN" altLang="en-US" sz="2400" dirty="0"/>
              <a:t>越用越整齐</a:t>
            </a:r>
            <a:r>
              <a:rPr lang="zh-CN" altLang="en-US" sz="2400" dirty="0">
                <a:latin typeface="宋体"/>
              </a:rPr>
              <a:t>”</a:t>
            </a:r>
            <a:r>
              <a:rPr lang="zh-CN" altLang="en-US" sz="2400" dirty="0"/>
              <a:t>，</a:t>
            </a:r>
            <a:r>
              <a:rPr lang="zh-CN" altLang="en-US" sz="2400" dirty="0">
                <a:latin typeface="宋体"/>
              </a:rPr>
              <a:t>“</a:t>
            </a:r>
            <a:r>
              <a:rPr lang="zh-CN" altLang="en-US" sz="2400" dirty="0"/>
              <a:t>越用碎片越少</a:t>
            </a:r>
            <a:r>
              <a:rPr lang="zh-CN" altLang="en-US" sz="2400" dirty="0">
                <a:latin typeface="宋体"/>
              </a:rPr>
              <a:t>”</a:t>
            </a:r>
            <a:r>
              <a:rPr lang="zh-CN" altLang="en-US" sz="2400" dirty="0"/>
              <a:t>！你应该把文件大部分放在 </a:t>
            </a:r>
            <a:r>
              <a:rPr lang="en-US" altLang="zh-CN" sz="2400" dirty="0"/>
              <a:t>Linux </a:t>
            </a:r>
            <a:r>
              <a:rPr lang="zh-CN" altLang="en-US" sz="2400" dirty="0"/>
              <a:t>的分区，而不是 </a:t>
            </a:r>
            <a:r>
              <a:rPr lang="en-US" altLang="zh-CN" sz="2400" dirty="0"/>
              <a:t>Windows </a:t>
            </a:r>
            <a:r>
              <a:rPr lang="zh-CN" altLang="en-US" sz="2400" dirty="0"/>
              <a:t>分区，因为它比</a:t>
            </a:r>
            <a:r>
              <a:rPr lang="en-US" altLang="zh-CN" sz="2400" dirty="0"/>
              <a:t>Windows</a:t>
            </a:r>
            <a:r>
              <a:rPr lang="zh-CN" altLang="en-US" sz="2400" dirty="0"/>
              <a:t>分区可靠得多。</a:t>
            </a:r>
          </a:p>
          <a:p>
            <a:r>
              <a:rPr lang="en-US" altLang="zh-CN" sz="2400" dirty="0"/>
              <a:t>Windows</a:t>
            </a:r>
            <a:r>
              <a:rPr lang="zh-CN" altLang="en-US" sz="2400" dirty="0"/>
              <a:t>下有很多</a:t>
            </a:r>
            <a:r>
              <a:rPr lang="en-US" altLang="zh-CN" sz="2400" dirty="0"/>
              <a:t>"Norton System Doctor"</a:t>
            </a:r>
            <a:r>
              <a:rPr lang="zh-CN" altLang="en-US" sz="2400" dirty="0"/>
              <a:t>，</a:t>
            </a:r>
            <a:r>
              <a:rPr lang="en-US" altLang="zh-CN" sz="2400" dirty="0"/>
              <a:t>"Windows </a:t>
            </a:r>
            <a:r>
              <a:rPr lang="zh-CN" altLang="en-US" sz="2400" dirty="0"/>
              <a:t>优化大师</a:t>
            </a:r>
            <a:r>
              <a:rPr lang="en-US" altLang="zh-CN" sz="2400" dirty="0"/>
              <a:t>"</a:t>
            </a:r>
            <a:r>
              <a:rPr lang="zh-CN" altLang="en-US" sz="2400" dirty="0"/>
              <a:t>之类的程序存在，而且价格昂贵。似乎一个操作系统本来应该有很多问题，需要别的厂商做程序来</a:t>
            </a:r>
            <a:r>
              <a:rPr lang="en-US" altLang="zh-CN" sz="2400" dirty="0"/>
              <a:t>"</a:t>
            </a:r>
            <a:r>
              <a:rPr lang="zh-CN" altLang="en-US" sz="2400" dirty="0"/>
              <a:t>优化</a:t>
            </a:r>
            <a:r>
              <a:rPr lang="en-US" altLang="zh-CN" sz="2400" dirty="0"/>
              <a:t>"</a:t>
            </a:r>
            <a:r>
              <a:rPr lang="zh-CN" altLang="en-US" sz="2400" dirty="0"/>
              <a:t>它，这些问题 </a:t>
            </a:r>
            <a:r>
              <a:rPr lang="en-US" altLang="zh-CN" sz="2400" dirty="0"/>
              <a:t>Linux </a:t>
            </a:r>
            <a:r>
              <a:rPr lang="zh-CN" altLang="en-US" sz="2400" dirty="0"/>
              <a:t>根本就没有，所以不需要优化。</a:t>
            </a:r>
            <a:r>
              <a:rPr lang="en-US" altLang="zh-CN" sz="2400" dirty="0"/>
              <a:t>Linux </a:t>
            </a:r>
            <a:r>
              <a:rPr lang="zh-CN" altLang="en-US" sz="2400" dirty="0"/>
              <a:t>内核本身就是高度优化的。</a:t>
            </a:r>
          </a:p>
        </p:txBody>
      </p:sp>
      <p:sp>
        <p:nvSpPr>
          <p:cNvPr id="821251" name="Rectangle 3"/>
          <p:cNvSpPr>
            <a:spLocks noGrp="1" noChangeArrowheads="1"/>
          </p:cNvSpPr>
          <p:nvPr>
            <p:ph type="title"/>
          </p:nvPr>
        </p:nvSpPr>
        <p:spPr>
          <a:xfrm>
            <a:off x="1919536" y="692696"/>
            <a:ext cx="8280919" cy="636879"/>
          </a:xfrm>
          <a:ln/>
          <a:extLst>
            <a:ext uri="{91240B29-F687-4F45-9708-019B960494DF}">
              <a14:hiddenLine xmlns:a14="http://schemas.microsoft.com/office/drawing/2010/main" w="9525">
                <a:solidFill>
                  <a:srgbClr val="000000"/>
                </a:solidFill>
                <a:round/>
                <a:headEnd/>
                <a:tailEnd/>
              </a14:hiddenLine>
            </a:ext>
          </a:extLst>
        </p:spPr>
        <p:txBody>
          <a:bodyPr vert="horz" wrap="square" lIns="82080" tIns="41040" rIns="82080" bIns="41040" numCol="1" anchor="b" anchorCtr="0" compatLnSpc="1">
            <a:prstTxWarp prst="textNoShape">
              <a:avLst/>
            </a:prstTxWarp>
            <a:spAutoFit/>
          </a:bodyPr>
          <a:lstStyle/>
          <a:p>
            <a:pPr defTabSz="449263">
              <a:lnSpc>
                <a:spcPct val="9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CN" dirty="0"/>
              <a:t>1.5  </a:t>
            </a:r>
            <a:r>
              <a:rPr lang="en-GB" altLang="zh-CN" dirty="0"/>
              <a:t>Linux</a:t>
            </a:r>
            <a:r>
              <a:rPr lang="zh-CN" altLang="en-US" dirty="0"/>
              <a:t>用户</a:t>
            </a:r>
            <a:r>
              <a:rPr lang="zh-CN" altLang="en-GB" dirty="0"/>
              <a:t>感受</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45</a:t>
            </a:fld>
            <a:endParaRPr lang="en-US" altLang="zh-CN"/>
          </a:p>
        </p:txBody>
      </p:sp>
    </p:spTree>
    <p:extLst>
      <p:ext uri="{BB962C8B-B14F-4D97-AF65-F5344CB8AC3E}">
        <p14:creationId xmlns:p14="http://schemas.microsoft.com/office/powerpoint/2010/main" val="21972131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p:cNvSpPr>
            <a:spLocks noGrp="1" noChangeArrowheads="1"/>
          </p:cNvSpPr>
          <p:nvPr>
            <p:ph type="body" idx="1"/>
          </p:nvPr>
        </p:nvSpPr>
        <p:spPr>
          <a:xfrm>
            <a:off x="1199456" y="1196752"/>
            <a:ext cx="9793088" cy="4464496"/>
          </a:xfrm>
        </p:spPr>
        <p:txBody>
          <a:bodyPr/>
          <a:lstStyle/>
          <a:p>
            <a:pPr>
              <a:lnSpc>
                <a:spcPct val="120000"/>
              </a:lnSpc>
            </a:pPr>
            <a:r>
              <a:rPr lang="zh-CN" altLang="en-US" sz="2600" dirty="0"/>
              <a:t>很多第一次用 </a:t>
            </a:r>
            <a:r>
              <a:rPr lang="en-US" altLang="zh-CN" sz="2600" dirty="0"/>
              <a:t>Linux </a:t>
            </a:r>
            <a:r>
              <a:rPr lang="zh-CN" altLang="en-US" sz="2600" dirty="0"/>
              <a:t>的人会惊奇的发现，</a:t>
            </a:r>
            <a:r>
              <a:rPr lang="en-US" altLang="zh-CN" sz="2600" dirty="0"/>
              <a:t>Linux </a:t>
            </a:r>
            <a:r>
              <a:rPr lang="zh-CN" altLang="en-US" sz="2600" dirty="0"/>
              <a:t>的程序居然不</a:t>
            </a:r>
            <a:r>
              <a:rPr lang="zh-CN" altLang="en-US" sz="2600" dirty="0">
                <a:latin typeface="宋体"/>
              </a:rPr>
              <a:t>“</a:t>
            </a:r>
            <a:r>
              <a:rPr lang="zh-CN" altLang="en-US" sz="2600" dirty="0"/>
              <a:t>安装</a:t>
            </a:r>
            <a:r>
              <a:rPr lang="zh-CN" altLang="en-US" sz="2600" dirty="0">
                <a:latin typeface="宋体"/>
              </a:rPr>
              <a:t>”</a:t>
            </a:r>
            <a:r>
              <a:rPr lang="zh-CN" altLang="en-US" sz="2600" dirty="0"/>
              <a:t>就可以运行，程序拷贝到随便哪个目录都可以用，而不是一定要占用你第一个分区的空间。</a:t>
            </a:r>
            <a:endParaRPr lang="en-US" altLang="zh-CN" sz="2600" dirty="0"/>
          </a:p>
          <a:p>
            <a:pPr>
              <a:lnSpc>
                <a:spcPct val="120000"/>
              </a:lnSpc>
            </a:pPr>
            <a:r>
              <a:rPr lang="zh-CN" altLang="en-US" sz="2600" dirty="0"/>
              <a:t>程序的设置只是一些简单的文本文件。你根本不需要</a:t>
            </a:r>
            <a:r>
              <a:rPr lang="zh-CN" altLang="en-US" sz="2600" dirty="0">
                <a:latin typeface="宋体"/>
              </a:rPr>
              <a:t>“</a:t>
            </a:r>
            <a:r>
              <a:rPr lang="zh-CN" altLang="en-US" sz="2600" dirty="0"/>
              <a:t>注册表修改器</a:t>
            </a:r>
            <a:r>
              <a:rPr lang="zh-CN" altLang="en-US" sz="2600" dirty="0">
                <a:latin typeface="宋体"/>
              </a:rPr>
              <a:t>”</a:t>
            </a:r>
            <a:r>
              <a:rPr lang="zh-CN" altLang="en-US" sz="2600" dirty="0"/>
              <a:t> 就可以改变系统的设置。这就叫做简单，简单就是美。虽然这只是 </a:t>
            </a:r>
            <a:r>
              <a:rPr lang="en-US" altLang="zh-CN" sz="2600" dirty="0"/>
              <a:t>Linux</a:t>
            </a:r>
            <a:r>
              <a:rPr lang="zh-CN" altLang="en-US" sz="2600" dirty="0"/>
              <a:t>简单性的一个肤浅的认识，你已经体会到了简单并不意味着功能弱，相反，简单意味着强大。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46</a:t>
            </a:fld>
            <a:endParaRPr lang="en-US" altLang="zh-CN"/>
          </a:p>
        </p:txBody>
      </p:sp>
    </p:spTree>
    <p:extLst>
      <p:ext uri="{BB962C8B-B14F-4D97-AF65-F5344CB8AC3E}">
        <p14:creationId xmlns:p14="http://schemas.microsoft.com/office/powerpoint/2010/main" val="1346632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zh-CN" altLang="en-US" dirty="0"/>
              <a:t>花费对比</a:t>
            </a:r>
          </a:p>
        </p:txBody>
      </p:sp>
      <p:sp>
        <p:nvSpPr>
          <p:cNvPr id="60419" name="Rectangle 3"/>
          <p:cNvSpPr>
            <a:spLocks noGrp="1" noChangeArrowheads="1"/>
          </p:cNvSpPr>
          <p:nvPr>
            <p:ph type="body" idx="1"/>
          </p:nvPr>
        </p:nvSpPr>
        <p:spPr>
          <a:xfrm>
            <a:off x="1199456" y="1412776"/>
            <a:ext cx="9949904" cy="4392488"/>
          </a:xfrm>
        </p:spPr>
        <p:txBody>
          <a:bodyPr/>
          <a:lstStyle/>
          <a:p>
            <a:pPr>
              <a:lnSpc>
                <a:spcPct val="150000"/>
              </a:lnSpc>
            </a:pPr>
            <a:r>
              <a:rPr lang="zh-CN" altLang="en-US" sz="2600" dirty="0"/>
              <a:t>完全配置一台</a:t>
            </a:r>
            <a:r>
              <a:rPr lang="en-US" altLang="zh-CN" sz="2600" dirty="0"/>
              <a:t>Windows NT</a:t>
            </a:r>
            <a:r>
              <a:rPr lang="zh-CN" altLang="en-US" sz="2600" dirty="0"/>
              <a:t>服务器包括网页服务、电子邮件服务、开发工具和数据库的费用将会为</a:t>
            </a:r>
            <a:r>
              <a:rPr lang="en-US" altLang="zh-CN" sz="2600" dirty="0"/>
              <a:t>4500~4636</a:t>
            </a:r>
            <a:r>
              <a:rPr lang="zh-CN" altLang="en-US" sz="2600" dirty="0"/>
              <a:t>美元 。</a:t>
            </a:r>
          </a:p>
          <a:p>
            <a:pPr>
              <a:lnSpc>
                <a:spcPct val="150000"/>
              </a:lnSpc>
            </a:pPr>
            <a:r>
              <a:rPr lang="zh-CN" altLang="en-US" sz="2600" dirty="0"/>
              <a:t>使用</a:t>
            </a:r>
            <a:r>
              <a:rPr lang="en-US" altLang="zh-CN" sz="2600" dirty="0"/>
              <a:t>Linux</a:t>
            </a:r>
            <a:r>
              <a:rPr lang="zh-CN" altLang="en-US" sz="2600" dirty="0"/>
              <a:t>系统仅需要花费</a:t>
            </a:r>
            <a:r>
              <a:rPr lang="en-US" altLang="zh-CN" sz="2600" dirty="0"/>
              <a:t>50</a:t>
            </a:r>
            <a:r>
              <a:rPr lang="zh-CN" altLang="en-US" sz="2600" dirty="0"/>
              <a:t>美元左右 。</a:t>
            </a:r>
          </a:p>
          <a:p>
            <a:pPr>
              <a:lnSpc>
                <a:spcPct val="150000"/>
              </a:lnSpc>
            </a:pPr>
            <a:r>
              <a:rPr lang="en-US" altLang="zh-CN" sz="2600" dirty="0"/>
              <a:t>Windows</a:t>
            </a:r>
            <a:r>
              <a:rPr lang="zh-CN" altLang="en-US" sz="2600" dirty="0"/>
              <a:t>的许可费用与您所安装机器的台数成正比，相应</a:t>
            </a:r>
            <a:r>
              <a:rPr lang="en-US" altLang="zh-CN" sz="2600" dirty="0"/>
              <a:t>Linux</a:t>
            </a:r>
            <a:r>
              <a:rPr lang="zh-CN" altLang="en-US" sz="2600" dirty="0"/>
              <a:t>解决方案仅仅在购买光盘时发生一次费用，</a:t>
            </a:r>
            <a:r>
              <a:rPr lang="en-US" altLang="zh-CN" sz="2600" dirty="0"/>
              <a:t>Linux</a:t>
            </a:r>
            <a:r>
              <a:rPr lang="zh-CN" altLang="en-US" sz="2600" dirty="0"/>
              <a:t>系统可以无限制地安装在各种计算机上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47</a:t>
            </a:fld>
            <a:endParaRPr lang="en-US" altLang="zh-CN"/>
          </a:p>
        </p:txBody>
      </p:sp>
    </p:spTree>
    <p:extLst>
      <p:ext uri="{BB962C8B-B14F-4D97-AF65-F5344CB8AC3E}">
        <p14:creationId xmlns:p14="http://schemas.microsoft.com/office/powerpoint/2010/main" val="17042008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dirty="0">
                <a:solidFill>
                  <a:srgbClr val="000000"/>
                </a:solidFill>
              </a:rPr>
              <a:t>占用资源对比</a:t>
            </a:r>
          </a:p>
        </p:txBody>
      </p:sp>
      <p:sp>
        <p:nvSpPr>
          <p:cNvPr id="61443" name="Rectangle 3"/>
          <p:cNvSpPr>
            <a:spLocks noGrp="1" noChangeArrowheads="1"/>
          </p:cNvSpPr>
          <p:nvPr>
            <p:ph type="body" idx="1"/>
          </p:nvPr>
        </p:nvSpPr>
        <p:spPr>
          <a:xfrm>
            <a:off x="1055440" y="1593733"/>
            <a:ext cx="10155052" cy="3995507"/>
          </a:xfrm>
        </p:spPr>
        <p:txBody>
          <a:bodyPr/>
          <a:lstStyle/>
          <a:p>
            <a:pPr>
              <a:lnSpc>
                <a:spcPct val="150000"/>
              </a:lnSpc>
            </a:pPr>
            <a:r>
              <a:rPr lang="en-US" altLang="zh-CN" sz="2600" dirty="0"/>
              <a:t>Linux</a:t>
            </a:r>
            <a:r>
              <a:rPr lang="zh-CN" altLang="en-US" sz="2600" dirty="0"/>
              <a:t>平台下的</a:t>
            </a:r>
            <a:r>
              <a:rPr lang="en-US" altLang="zh-CN" sz="2600" dirty="0" err="1"/>
              <a:t>GCC</a:t>
            </a:r>
            <a:r>
              <a:rPr lang="en-US" altLang="zh-CN" sz="2600" dirty="0"/>
              <a:t>++</a:t>
            </a:r>
            <a:r>
              <a:rPr lang="zh-CN" altLang="en-US" sz="2600" dirty="0"/>
              <a:t>优化编译器仅仅占用</a:t>
            </a:r>
            <a:r>
              <a:rPr lang="en-US" altLang="zh-CN" sz="2600" dirty="0" err="1"/>
              <a:t>10MB</a:t>
            </a:r>
            <a:r>
              <a:rPr lang="zh-CN" altLang="en-US" sz="2600" dirty="0"/>
              <a:t>左右的硬盘空间，如果加上编辑器、调试器、项目管理工具等等总共不会超过</a:t>
            </a:r>
            <a:r>
              <a:rPr lang="en-US" altLang="zh-CN" sz="2600" dirty="0" err="1"/>
              <a:t>2MB</a:t>
            </a:r>
            <a:r>
              <a:rPr lang="zh-CN" altLang="en-US" sz="2600" dirty="0"/>
              <a:t>磁盘空间。 </a:t>
            </a:r>
          </a:p>
          <a:p>
            <a:pPr>
              <a:lnSpc>
                <a:spcPct val="150000"/>
              </a:lnSpc>
            </a:pPr>
            <a:r>
              <a:rPr lang="en-US" altLang="zh-CN" sz="2600" dirty="0"/>
              <a:t>Microsoft Visual C++ 6.0</a:t>
            </a:r>
            <a:r>
              <a:rPr lang="zh-CN" altLang="en-US" sz="2600" dirty="0"/>
              <a:t>专业版相应要占用</a:t>
            </a:r>
            <a:r>
              <a:rPr lang="en-US" altLang="zh-CN" sz="2600" dirty="0" err="1"/>
              <a:t>290MB</a:t>
            </a:r>
            <a:r>
              <a:rPr lang="zh-CN" altLang="en-US" sz="2600" dirty="0"/>
              <a:t>的磁盘空间 。</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48</a:t>
            </a:fld>
            <a:endParaRPr lang="en-US" altLang="zh-CN"/>
          </a:p>
        </p:txBody>
      </p:sp>
    </p:spTree>
    <p:extLst>
      <p:ext uri="{BB962C8B-B14F-4D97-AF65-F5344CB8AC3E}">
        <p14:creationId xmlns:p14="http://schemas.microsoft.com/office/powerpoint/2010/main" val="18017231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75D4E7-D13B-0E09-7C0F-A389603EF327}"/>
              </a:ext>
            </a:extLst>
          </p:cNvPr>
          <p:cNvSpPr>
            <a:spLocks noGrp="1"/>
          </p:cNvSpPr>
          <p:nvPr>
            <p:ph type="title"/>
          </p:nvPr>
        </p:nvSpPr>
        <p:spPr/>
        <p:txBody>
          <a:bodyPr/>
          <a:lstStyle/>
          <a:p>
            <a:r>
              <a:rPr lang="zh-CN" altLang="en-US" dirty="0"/>
              <a:t>课程群二维码</a:t>
            </a:r>
          </a:p>
        </p:txBody>
      </p:sp>
      <p:pic>
        <p:nvPicPr>
          <p:cNvPr id="6" name="内容占位符 5">
            <a:extLst>
              <a:ext uri="{FF2B5EF4-FFF2-40B4-BE49-F238E27FC236}">
                <a16:creationId xmlns:a16="http://schemas.microsoft.com/office/drawing/2014/main" id="{78E429B7-F08C-0D30-6903-87CA5FE9059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616994" y="1556792"/>
            <a:ext cx="3207197" cy="4716372"/>
          </a:xfrm>
        </p:spPr>
      </p:pic>
    </p:spTree>
    <p:extLst>
      <p:ext uri="{BB962C8B-B14F-4D97-AF65-F5344CB8AC3E}">
        <p14:creationId xmlns:p14="http://schemas.microsoft.com/office/powerpoint/2010/main" val="4062763531"/>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2" name="Rectangle 2"/>
          <p:cNvSpPr>
            <a:spLocks noChangeArrowheads="1"/>
          </p:cNvSpPr>
          <p:nvPr/>
        </p:nvSpPr>
        <p:spPr bwMode="auto">
          <a:xfrm>
            <a:off x="2208213" y="836613"/>
            <a:ext cx="75438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r>
              <a:rPr lang="en-US" altLang="zh-CN" sz="4200">
                <a:solidFill>
                  <a:srgbClr val="CC00CC"/>
                </a:solidFill>
                <a:ea typeface="黑体" pitchFamily="49" charset="-122"/>
              </a:rPr>
              <a:t>Thanks!</a:t>
            </a:r>
          </a:p>
        </p:txBody>
      </p:sp>
      <p:pic>
        <p:nvPicPr>
          <p:cNvPr id="74445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750" y="2308225"/>
            <a:ext cx="159385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1"/>
          <p:cNvSpPr>
            <a:spLocks noGrp="1"/>
          </p:cNvSpPr>
          <p:nvPr>
            <p:ph type="sldNum" sz="quarter" idx="11"/>
          </p:nvPr>
        </p:nvSpPr>
        <p:spPr>
          <a:xfrm>
            <a:off x="5087888" y="5792787"/>
            <a:ext cx="2133600" cy="457200"/>
          </a:xfrm>
        </p:spPr>
        <p:txBody>
          <a:bodyPr/>
          <a:lstStyle/>
          <a:p>
            <a:pPr>
              <a:defRPr/>
            </a:pPr>
            <a:fld id="{110871B5-850E-4E14-A636-3EC679EBF038}" type="slidenum">
              <a:rPr lang="en-US" altLang="zh-CN" smtClean="0"/>
              <a:pPr>
                <a:defRPr/>
              </a:pPr>
              <a:t>50</a:t>
            </a:fld>
            <a:endParaRPr lang="en-US" altLang="zh-CN" dirty="0"/>
          </a:p>
        </p:txBody>
      </p:sp>
    </p:spTree>
    <p:extLst>
      <p:ext uri="{BB962C8B-B14F-4D97-AF65-F5344CB8AC3E}">
        <p14:creationId xmlns:p14="http://schemas.microsoft.com/office/powerpoint/2010/main" val="3281506809"/>
      </p:ext>
    </p:extLst>
  </p:cSld>
  <p:clrMapOvr>
    <a:masterClrMapping/>
  </p:clrMapOvr>
  <p:transition/>
</p:sld>
</file>

<file path=ppt/theme/theme1.xml><?xml version="1.0" encoding="utf-8"?>
<a:theme xmlns:a="http://schemas.openxmlformats.org/drawingml/2006/main" name="Network">
  <a:themeElements>
    <a:clrScheme name="Network 13">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0000FF"/>
      </a:hlink>
      <a:folHlink>
        <a:srgbClr val="0000FF"/>
      </a:folHlink>
    </a:clrScheme>
    <a:fontScheme name="Network">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rgbClr val="FF0000"/>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rgbClr val="FF0000"/>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
      <a:clrScheme name="Network 11">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66CCFF"/>
        </a:folHlink>
      </a:clrScheme>
      <a:clrMap bg1="lt1" tx1="dk1" bg2="lt2" tx2="dk2" accent1="accent1" accent2="accent2" accent3="accent3" accent4="accent4" accent5="accent5" accent6="accent6" hlink="hlink" folHlink="folHlink"/>
    </a:extraClrScheme>
    <a:extraClrScheme>
      <a:clrScheme name="Network 12">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0000FF"/>
        </a:folHlink>
      </a:clrScheme>
      <a:clrMap bg1="lt1" tx1="dk1" bg2="lt2" tx2="dk2" accent1="accent1" accent2="accent2" accent3="accent3" accent4="accent4" accent5="accent5" accent6="accent6" hlink="hlink" folHlink="folHlink"/>
    </a:extraClrScheme>
    <a:extraClrScheme>
      <a:clrScheme name="Network 13">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0000FF"/>
        </a:hlink>
        <a:folHlink>
          <a:srgbClr val="0000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第一PPT，www.1ppt.com">
  <a:themeElements>
    <a:clrScheme name="自定义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9646"/>
      </a:hlink>
      <a:folHlink>
        <a:srgbClr val="F79646"/>
      </a:folHlink>
    </a:clrScheme>
    <a:fontScheme name="kv3rj5wq">
      <a:majorFont>
        <a:latin typeface="方正正黑简体"/>
        <a:ea typeface="方正卡通简体"/>
        <a:cs typeface=""/>
      </a:majorFont>
      <a:minorFont>
        <a:latin typeface="方正正黑简体"/>
        <a:ea typeface="方正卡通简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Network">
  <a:themeElements>
    <a:clrScheme name="2_Network 13">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0000FF"/>
      </a:hlink>
      <a:folHlink>
        <a:srgbClr val="0000FF"/>
      </a:folHlink>
    </a:clrScheme>
    <a:fontScheme name="2_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2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2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2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2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2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2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2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2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2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
      <a:clrScheme name="2_Network 11">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66CCFF"/>
        </a:folHlink>
      </a:clrScheme>
      <a:clrMap bg1="lt1" tx1="dk1" bg2="lt2" tx2="dk2" accent1="accent1" accent2="accent2" accent3="accent3" accent4="accent4" accent5="accent5" accent6="accent6" hlink="hlink" folHlink="folHlink"/>
    </a:extraClrScheme>
    <a:extraClrScheme>
      <a:clrScheme name="2_Network 12">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0000FF"/>
        </a:folHlink>
      </a:clrScheme>
      <a:clrMap bg1="lt1" tx1="dk1" bg2="lt2" tx2="dk2" accent1="accent1" accent2="accent2" accent3="accent3" accent4="accent4" accent5="accent5" accent6="accent6" hlink="hlink" folHlink="folHlink"/>
    </a:extraClrScheme>
    <a:extraClrScheme>
      <a:clrScheme name="2_Network 13">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0000FF"/>
        </a:hlink>
        <a:folHlink>
          <a:srgbClr val="0000FF"/>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第一PPT，www.1ppt.com">
  <a:themeElements>
    <a:clrScheme name="自定义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9646"/>
      </a:hlink>
      <a:folHlink>
        <a:srgbClr val="F79646"/>
      </a:folHlink>
    </a:clrScheme>
    <a:fontScheme name="kv3rj5wq">
      <a:majorFont>
        <a:latin typeface="方正正黑简体"/>
        <a:ea typeface="方正卡通简体"/>
        <a:cs typeface=""/>
      </a:majorFont>
      <a:minorFont>
        <a:latin typeface="方正正黑简体"/>
        <a:ea typeface="方正卡通简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17653</TotalTime>
  <Words>4402</Words>
  <Application>Microsoft Office PowerPoint</Application>
  <PresentationFormat>宽屏</PresentationFormat>
  <Paragraphs>327</Paragraphs>
  <Slides>50</Slides>
  <Notes>7</Notes>
  <HiddenSlides>0</HiddenSlides>
  <MMClips>0</MMClips>
  <ScaleCrop>false</ScaleCrop>
  <HeadingPairs>
    <vt:vector size="6" baseType="variant">
      <vt:variant>
        <vt:lpstr>已用的字体</vt:lpstr>
      </vt:variant>
      <vt:variant>
        <vt:i4>12</vt:i4>
      </vt:variant>
      <vt:variant>
        <vt:lpstr>主题</vt:lpstr>
      </vt:variant>
      <vt:variant>
        <vt:i4>4</vt:i4>
      </vt:variant>
      <vt:variant>
        <vt:lpstr>幻灯片标题</vt:lpstr>
      </vt:variant>
      <vt:variant>
        <vt:i4>50</vt:i4>
      </vt:variant>
    </vt:vector>
  </HeadingPairs>
  <TitlesOfParts>
    <vt:vector size="66" baseType="lpstr">
      <vt:lpstr>Arial Unicode MS</vt:lpstr>
      <vt:lpstr>等线</vt:lpstr>
      <vt:lpstr>方正正黑简体</vt:lpstr>
      <vt:lpstr>黑体</vt:lpstr>
      <vt:lpstr>华文楷体</vt:lpstr>
      <vt:lpstr>楷体_GB2312</vt:lpstr>
      <vt:lpstr>宋体</vt:lpstr>
      <vt:lpstr>微软雅黑</vt:lpstr>
      <vt:lpstr>Arial</vt:lpstr>
      <vt:lpstr>Tahoma</vt:lpstr>
      <vt:lpstr>Times New Roman</vt:lpstr>
      <vt:lpstr>Wingdings</vt:lpstr>
      <vt:lpstr>Network</vt:lpstr>
      <vt:lpstr>1_第一PPT，www.1ppt.com</vt:lpstr>
      <vt:lpstr>2_Network</vt:lpstr>
      <vt:lpstr>第一PPT，www.1ppt.com</vt:lpstr>
      <vt:lpstr>PowerPoint 演示文稿</vt:lpstr>
      <vt:lpstr>PowerPoint 演示文稿</vt:lpstr>
      <vt:lpstr>课程考核方式</vt:lpstr>
      <vt:lpstr>作业和实验报告</vt:lpstr>
      <vt:lpstr>考勤要求</vt:lpstr>
      <vt:lpstr>PowerPoint 演示文稿</vt:lpstr>
      <vt:lpstr>PowerPoint 演示文稿</vt:lpstr>
      <vt:lpstr>第1章</vt:lpstr>
      <vt:lpstr>本章内容</vt:lpstr>
      <vt:lpstr>Linux 标志</vt:lpstr>
      <vt:lpstr>1.1 Linux的发展史 </vt:lpstr>
      <vt:lpstr>Linux的发展史 </vt:lpstr>
      <vt:lpstr>Linux的发展史 </vt:lpstr>
      <vt:lpstr>Linux的发展史 </vt:lpstr>
      <vt:lpstr>Linux的发展史 </vt:lpstr>
      <vt:lpstr>Linux的发展史 </vt:lpstr>
      <vt:lpstr>Linux的发展史 </vt:lpstr>
      <vt:lpstr>Linux的发展史</vt:lpstr>
      <vt:lpstr>Linux的发展</vt:lpstr>
      <vt:lpstr>Linux的发展</vt:lpstr>
      <vt:lpstr>1.2  Linux操作系统的特征</vt:lpstr>
      <vt:lpstr>Linux操作系统的特征</vt:lpstr>
      <vt:lpstr>Linux操作系统的特征</vt:lpstr>
      <vt:lpstr>Linux操作系统的特征</vt:lpstr>
      <vt:lpstr>Linux操作系统的特征</vt:lpstr>
      <vt:lpstr>Linux操作系统的特征</vt:lpstr>
      <vt:lpstr>1.3  Linux版本 </vt:lpstr>
      <vt:lpstr>Linux内核版 </vt:lpstr>
      <vt:lpstr>Linux发行版</vt:lpstr>
      <vt:lpstr>Linux发行版</vt:lpstr>
      <vt:lpstr>Linux发行版 </vt:lpstr>
      <vt:lpstr>Linux发行版 </vt:lpstr>
      <vt:lpstr>Linux发行版 </vt:lpstr>
      <vt:lpstr>Linux发行版介绍 </vt:lpstr>
      <vt:lpstr>Linux发行版介绍 </vt:lpstr>
      <vt:lpstr>Linux发行版介绍 </vt:lpstr>
      <vt:lpstr>Linux发行版介绍 </vt:lpstr>
      <vt:lpstr>Linux与UNIX区别</vt:lpstr>
      <vt:lpstr>Linux与UNIX</vt:lpstr>
      <vt:lpstr>1.4  Linux现状与前景</vt:lpstr>
      <vt:lpstr>桌面</vt:lpstr>
      <vt:lpstr>服务器</vt:lpstr>
      <vt:lpstr>嵌入式系统</vt:lpstr>
      <vt:lpstr>集群计算机 </vt:lpstr>
      <vt:lpstr>1.5  Linux用户感受</vt:lpstr>
      <vt:lpstr>PowerPoint 演示文稿</vt:lpstr>
      <vt:lpstr>花费对比</vt:lpstr>
      <vt:lpstr>占用资源对比</vt:lpstr>
      <vt:lpstr>课程群二维码</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计算机应用技术基础</dc:title>
  <dc:creator>李群</dc:creator>
  <cp:lastModifiedBy>liqun</cp:lastModifiedBy>
  <cp:revision>1645</cp:revision>
  <dcterms:created xsi:type="dcterms:W3CDTF">2007-09-10T04:44:13Z</dcterms:created>
  <dcterms:modified xsi:type="dcterms:W3CDTF">2024-09-09T11:44:44Z</dcterms:modified>
</cp:coreProperties>
</file>