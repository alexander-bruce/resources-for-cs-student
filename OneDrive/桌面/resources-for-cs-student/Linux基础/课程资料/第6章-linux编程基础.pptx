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64" r:id="rId1"/>
    <p:sldMasterId id="2147483695" r:id="rId2"/>
  </p:sldMasterIdLst>
  <p:notesMasterIdLst>
    <p:notesMasterId r:id="rId99"/>
  </p:notesMasterIdLst>
  <p:handoutMasterIdLst>
    <p:handoutMasterId r:id="rId100"/>
  </p:handoutMasterIdLst>
  <p:sldIdLst>
    <p:sldId id="256" r:id="rId3"/>
    <p:sldId id="482" r:id="rId4"/>
    <p:sldId id="567" r:id="rId5"/>
    <p:sldId id="568" r:id="rId6"/>
    <p:sldId id="571" r:id="rId7"/>
    <p:sldId id="646" r:id="rId8"/>
    <p:sldId id="572" r:id="rId9"/>
    <p:sldId id="581" r:id="rId10"/>
    <p:sldId id="573" r:id="rId11"/>
    <p:sldId id="574" r:id="rId12"/>
    <p:sldId id="575" r:id="rId13"/>
    <p:sldId id="576" r:id="rId14"/>
    <p:sldId id="577" r:id="rId15"/>
    <p:sldId id="578" r:id="rId16"/>
    <p:sldId id="805" r:id="rId17"/>
    <p:sldId id="662" r:id="rId18"/>
    <p:sldId id="663" r:id="rId19"/>
    <p:sldId id="664" r:id="rId20"/>
    <p:sldId id="645" r:id="rId21"/>
    <p:sldId id="586" r:id="rId22"/>
    <p:sldId id="806" r:id="rId23"/>
    <p:sldId id="669" r:id="rId24"/>
    <p:sldId id="588" r:id="rId25"/>
    <p:sldId id="589" r:id="rId26"/>
    <p:sldId id="590" r:id="rId27"/>
    <p:sldId id="591" r:id="rId28"/>
    <p:sldId id="592" r:id="rId29"/>
    <p:sldId id="594" r:id="rId30"/>
    <p:sldId id="648" r:id="rId31"/>
    <p:sldId id="595" r:id="rId32"/>
    <p:sldId id="607" r:id="rId33"/>
    <p:sldId id="608" r:id="rId34"/>
    <p:sldId id="671" r:id="rId35"/>
    <p:sldId id="596" r:id="rId36"/>
    <p:sldId id="765" r:id="rId37"/>
    <p:sldId id="612" r:id="rId38"/>
    <p:sldId id="613" r:id="rId39"/>
    <p:sldId id="614" r:id="rId40"/>
    <p:sldId id="615" r:id="rId41"/>
    <p:sldId id="616" r:id="rId42"/>
    <p:sldId id="617" r:id="rId43"/>
    <p:sldId id="618" r:id="rId44"/>
    <p:sldId id="767" r:id="rId45"/>
    <p:sldId id="619" r:id="rId46"/>
    <p:sldId id="620" r:id="rId47"/>
    <p:sldId id="621" r:id="rId48"/>
    <p:sldId id="622" r:id="rId49"/>
    <p:sldId id="770" r:id="rId50"/>
    <p:sldId id="623" r:id="rId51"/>
    <p:sldId id="676" r:id="rId52"/>
    <p:sldId id="809" r:id="rId53"/>
    <p:sldId id="678" r:id="rId54"/>
    <p:sldId id="693" r:id="rId55"/>
    <p:sldId id="694" r:id="rId56"/>
    <p:sldId id="695" r:id="rId57"/>
    <p:sldId id="778" r:id="rId58"/>
    <p:sldId id="684" r:id="rId59"/>
    <p:sldId id="685" r:id="rId60"/>
    <p:sldId id="686" r:id="rId61"/>
    <p:sldId id="687" r:id="rId62"/>
    <p:sldId id="810" r:id="rId63"/>
    <p:sldId id="689" r:id="rId64"/>
    <p:sldId id="690" r:id="rId65"/>
    <p:sldId id="691" r:id="rId66"/>
    <p:sldId id="692" r:id="rId67"/>
    <p:sldId id="696" r:id="rId68"/>
    <p:sldId id="697" r:id="rId69"/>
    <p:sldId id="699" r:id="rId70"/>
    <p:sldId id="700" r:id="rId71"/>
    <p:sldId id="755" r:id="rId72"/>
    <p:sldId id="807" r:id="rId73"/>
    <p:sldId id="808" r:id="rId74"/>
    <p:sldId id="756" r:id="rId75"/>
    <p:sldId id="729" r:id="rId76"/>
    <p:sldId id="774" r:id="rId77"/>
    <p:sldId id="775" r:id="rId78"/>
    <p:sldId id="759" r:id="rId79"/>
    <p:sldId id="773" r:id="rId80"/>
    <p:sldId id="780" r:id="rId81"/>
    <p:sldId id="781" r:id="rId82"/>
    <p:sldId id="782" r:id="rId83"/>
    <p:sldId id="803" r:id="rId84"/>
    <p:sldId id="784" r:id="rId85"/>
    <p:sldId id="785" r:id="rId86"/>
    <p:sldId id="804" r:id="rId87"/>
    <p:sldId id="800" r:id="rId88"/>
    <p:sldId id="791" r:id="rId89"/>
    <p:sldId id="811" r:id="rId90"/>
    <p:sldId id="812" r:id="rId91"/>
    <p:sldId id="813" r:id="rId92"/>
    <p:sldId id="814" r:id="rId93"/>
    <p:sldId id="815" r:id="rId94"/>
    <p:sldId id="816" r:id="rId95"/>
    <p:sldId id="817" r:id="rId96"/>
    <p:sldId id="818" r:id="rId97"/>
    <p:sldId id="776" r:id="rId98"/>
  </p:sldIdLst>
  <p:sldSz cx="12192000" cy="6858000"/>
  <p:notesSz cx="6858000" cy="9144000"/>
  <p:defaultTextStyle>
    <a:defPPr>
      <a:defRPr lang="zh-CN"/>
    </a:defPPr>
    <a:lvl1pPr algn="ctr" rtl="0" fontAlgn="base">
      <a:spcBef>
        <a:spcPct val="0"/>
      </a:spcBef>
      <a:spcAft>
        <a:spcPct val="0"/>
      </a:spcAft>
      <a:defRPr b="1" kern="1200">
        <a:solidFill>
          <a:schemeClr val="tx1"/>
        </a:solidFill>
        <a:latin typeface="Arial" charset="0"/>
        <a:ea typeface="宋体" pitchFamily="2" charset="-122"/>
        <a:cs typeface="+mn-cs"/>
      </a:defRPr>
    </a:lvl1pPr>
    <a:lvl2pPr marL="457200" algn="ctr" rtl="0" fontAlgn="base">
      <a:spcBef>
        <a:spcPct val="0"/>
      </a:spcBef>
      <a:spcAft>
        <a:spcPct val="0"/>
      </a:spcAft>
      <a:defRPr b="1" kern="1200">
        <a:solidFill>
          <a:schemeClr val="tx1"/>
        </a:solidFill>
        <a:latin typeface="Arial" charset="0"/>
        <a:ea typeface="宋体" pitchFamily="2" charset="-122"/>
        <a:cs typeface="+mn-cs"/>
      </a:defRPr>
    </a:lvl2pPr>
    <a:lvl3pPr marL="914400" algn="ctr" rtl="0" fontAlgn="base">
      <a:spcBef>
        <a:spcPct val="0"/>
      </a:spcBef>
      <a:spcAft>
        <a:spcPct val="0"/>
      </a:spcAft>
      <a:defRPr b="1" kern="1200">
        <a:solidFill>
          <a:schemeClr val="tx1"/>
        </a:solidFill>
        <a:latin typeface="Arial" charset="0"/>
        <a:ea typeface="宋体" pitchFamily="2" charset="-122"/>
        <a:cs typeface="+mn-cs"/>
      </a:defRPr>
    </a:lvl3pPr>
    <a:lvl4pPr marL="1371600" algn="ctr" rtl="0" fontAlgn="base">
      <a:spcBef>
        <a:spcPct val="0"/>
      </a:spcBef>
      <a:spcAft>
        <a:spcPct val="0"/>
      </a:spcAft>
      <a:defRPr b="1" kern="1200">
        <a:solidFill>
          <a:schemeClr val="tx1"/>
        </a:solidFill>
        <a:latin typeface="Arial" charset="0"/>
        <a:ea typeface="宋体" pitchFamily="2" charset="-122"/>
        <a:cs typeface="+mn-cs"/>
      </a:defRPr>
    </a:lvl4pPr>
    <a:lvl5pPr marL="1828800" algn="ctr" rtl="0" fontAlgn="base">
      <a:spcBef>
        <a:spcPct val="0"/>
      </a:spcBef>
      <a:spcAft>
        <a:spcPct val="0"/>
      </a:spcAft>
      <a:defRPr b="1" kern="1200">
        <a:solidFill>
          <a:schemeClr val="tx1"/>
        </a:solidFill>
        <a:latin typeface="Arial" charset="0"/>
        <a:ea typeface="宋体" pitchFamily="2" charset="-122"/>
        <a:cs typeface="+mn-cs"/>
      </a:defRPr>
    </a:lvl5pPr>
    <a:lvl6pPr marL="2286000" algn="l" defTabSz="914400" rtl="0" eaLnBrk="1" latinLnBrk="0" hangingPunct="1">
      <a:defRPr b="1" kern="1200">
        <a:solidFill>
          <a:schemeClr val="tx1"/>
        </a:solidFill>
        <a:latin typeface="Arial" charset="0"/>
        <a:ea typeface="宋体" pitchFamily="2" charset="-122"/>
        <a:cs typeface="+mn-cs"/>
      </a:defRPr>
    </a:lvl6pPr>
    <a:lvl7pPr marL="2743200" algn="l" defTabSz="914400" rtl="0" eaLnBrk="1" latinLnBrk="0" hangingPunct="1">
      <a:defRPr b="1" kern="1200">
        <a:solidFill>
          <a:schemeClr val="tx1"/>
        </a:solidFill>
        <a:latin typeface="Arial" charset="0"/>
        <a:ea typeface="宋体" pitchFamily="2" charset="-122"/>
        <a:cs typeface="+mn-cs"/>
      </a:defRPr>
    </a:lvl7pPr>
    <a:lvl8pPr marL="3200400" algn="l" defTabSz="914400" rtl="0" eaLnBrk="1" latinLnBrk="0" hangingPunct="1">
      <a:defRPr b="1" kern="1200">
        <a:solidFill>
          <a:schemeClr val="tx1"/>
        </a:solidFill>
        <a:latin typeface="Arial" charset="0"/>
        <a:ea typeface="宋体" pitchFamily="2" charset="-122"/>
        <a:cs typeface="+mn-cs"/>
      </a:defRPr>
    </a:lvl8pPr>
    <a:lvl9pPr marL="3657600" algn="l" defTabSz="914400" rtl="0" eaLnBrk="1" latinLnBrk="0" hangingPunct="1">
      <a:defRPr b="1" kern="1200">
        <a:solidFill>
          <a:schemeClr val="tx1"/>
        </a:solidFill>
        <a:latin typeface="Arial" charset="0"/>
        <a:ea typeface="宋体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CC"/>
    <a:srgbClr val="CC0099"/>
    <a:srgbClr val="FF9900"/>
    <a:srgbClr val="33CC33"/>
    <a:srgbClr val="FF0000"/>
    <a:srgbClr val="0000FF"/>
    <a:srgbClr val="CCECFF"/>
    <a:srgbClr val="FF3300"/>
    <a:srgbClr val="6699FF"/>
    <a:srgbClr val="00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233" autoAdjust="0"/>
    <p:restoredTop sz="78792" autoAdjust="0"/>
  </p:normalViewPr>
  <p:slideViewPr>
    <p:cSldViewPr>
      <p:cViewPr varScale="1">
        <p:scale>
          <a:sx n="53" d="100"/>
          <a:sy n="53" d="100"/>
        </p:scale>
        <p:origin x="1320" y="36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39552"/>
    </p:cViewPr>
    <p:sldLst>
      <p:sld r:id="rId1" collapse="1"/>
    </p:sldLst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54" d="100"/>
          <a:sy n="54" d="100"/>
        </p:scale>
        <p:origin x="-1902" y="-102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4.xml"/><Relationship Id="rId21" Type="http://schemas.openxmlformats.org/officeDocument/2006/relationships/slide" Target="slides/slide19.xml"/><Relationship Id="rId42" Type="http://schemas.openxmlformats.org/officeDocument/2006/relationships/slide" Target="slides/slide40.xml"/><Relationship Id="rId47" Type="http://schemas.openxmlformats.org/officeDocument/2006/relationships/slide" Target="slides/slide45.xml"/><Relationship Id="rId63" Type="http://schemas.openxmlformats.org/officeDocument/2006/relationships/slide" Target="slides/slide61.xml"/><Relationship Id="rId68" Type="http://schemas.openxmlformats.org/officeDocument/2006/relationships/slide" Target="slides/slide66.xml"/><Relationship Id="rId84" Type="http://schemas.openxmlformats.org/officeDocument/2006/relationships/slide" Target="slides/slide82.xml"/><Relationship Id="rId89" Type="http://schemas.openxmlformats.org/officeDocument/2006/relationships/slide" Target="slides/slide87.xml"/><Relationship Id="rId16" Type="http://schemas.openxmlformats.org/officeDocument/2006/relationships/slide" Target="slides/slide14.xml"/><Relationship Id="rId11" Type="http://schemas.openxmlformats.org/officeDocument/2006/relationships/slide" Target="slides/slide9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53" Type="http://schemas.openxmlformats.org/officeDocument/2006/relationships/slide" Target="slides/slide51.xml"/><Relationship Id="rId58" Type="http://schemas.openxmlformats.org/officeDocument/2006/relationships/slide" Target="slides/slide56.xml"/><Relationship Id="rId74" Type="http://schemas.openxmlformats.org/officeDocument/2006/relationships/slide" Target="slides/slide72.xml"/><Relationship Id="rId79" Type="http://schemas.openxmlformats.org/officeDocument/2006/relationships/slide" Target="slides/slide77.xml"/><Relationship Id="rId102" Type="http://schemas.openxmlformats.org/officeDocument/2006/relationships/viewProps" Target="viewProps.xml"/><Relationship Id="rId5" Type="http://schemas.openxmlformats.org/officeDocument/2006/relationships/slide" Target="slides/slide3.xml"/><Relationship Id="rId90" Type="http://schemas.openxmlformats.org/officeDocument/2006/relationships/slide" Target="slides/slide88.xml"/><Relationship Id="rId95" Type="http://schemas.openxmlformats.org/officeDocument/2006/relationships/slide" Target="slides/slide93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43" Type="http://schemas.openxmlformats.org/officeDocument/2006/relationships/slide" Target="slides/slide41.xml"/><Relationship Id="rId48" Type="http://schemas.openxmlformats.org/officeDocument/2006/relationships/slide" Target="slides/slide46.xml"/><Relationship Id="rId64" Type="http://schemas.openxmlformats.org/officeDocument/2006/relationships/slide" Target="slides/slide62.xml"/><Relationship Id="rId69" Type="http://schemas.openxmlformats.org/officeDocument/2006/relationships/slide" Target="slides/slide67.xml"/><Relationship Id="rId80" Type="http://schemas.openxmlformats.org/officeDocument/2006/relationships/slide" Target="slides/slide78.xml"/><Relationship Id="rId85" Type="http://schemas.openxmlformats.org/officeDocument/2006/relationships/slide" Target="slides/slide83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46" Type="http://schemas.openxmlformats.org/officeDocument/2006/relationships/slide" Target="slides/slide44.xml"/><Relationship Id="rId59" Type="http://schemas.openxmlformats.org/officeDocument/2006/relationships/slide" Target="slides/slide57.xml"/><Relationship Id="rId67" Type="http://schemas.openxmlformats.org/officeDocument/2006/relationships/slide" Target="slides/slide65.xml"/><Relationship Id="rId103" Type="http://schemas.openxmlformats.org/officeDocument/2006/relationships/theme" Target="theme/theme1.xml"/><Relationship Id="rId20" Type="http://schemas.openxmlformats.org/officeDocument/2006/relationships/slide" Target="slides/slide18.xml"/><Relationship Id="rId41" Type="http://schemas.openxmlformats.org/officeDocument/2006/relationships/slide" Target="slides/slide39.xml"/><Relationship Id="rId54" Type="http://schemas.openxmlformats.org/officeDocument/2006/relationships/slide" Target="slides/slide52.xml"/><Relationship Id="rId62" Type="http://schemas.openxmlformats.org/officeDocument/2006/relationships/slide" Target="slides/slide60.xml"/><Relationship Id="rId70" Type="http://schemas.openxmlformats.org/officeDocument/2006/relationships/slide" Target="slides/slide68.xml"/><Relationship Id="rId75" Type="http://schemas.openxmlformats.org/officeDocument/2006/relationships/slide" Target="slides/slide73.xml"/><Relationship Id="rId83" Type="http://schemas.openxmlformats.org/officeDocument/2006/relationships/slide" Target="slides/slide81.xml"/><Relationship Id="rId88" Type="http://schemas.openxmlformats.org/officeDocument/2006/relationships/slide" Target="slides/slide86.xml"/><Relationship Id="rId91" Type="http://schemas.openxmlformats.org/officeDocument/2006/relationships/slide" Target="slides/slide89.xml"/><Relationship Id="rId96" Type="http://schemas.openxmlformats.org/officeDocument/2006/relationships/slide" Target="slides/slide94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49" Type="http://schemas.openxmlformats.org/officeDocument/2006/relationships/slide" Target="slides/slide47.xml"/><Relationship Id="rId57" Type="http://schemas.openxmlformats.org/officeDocument/2006/relationships/slide" Target="slides/slide55.xml"/><Relationship Id="rId10" Type="http://schemas.openxmlformats.org/officeDocument/2006/relationships/slide" Target="slides/slide8.xml"/><Relationship Id="rId31" Type="http://schemas.openxmlformats.org/officeDocument/2006/relationships/slide" Target="slides/slide29.xml"/><Relationship Id="rId44" Type="http://schemas.openxmlformats.org/officeDocument/2006/relationships/slide" Target="slides/slide42.xml"/><Relationship Id="rId52" Type="http://schemas.openxmlformats.org/officeDocument/2006/relationships/slide" Target="slides/slide50.xml"/><Relationship Id="rId60" Type="http://schemas.openxmlformats.org/officeDocument/2006/relationships/slide" Target="slides/slide58.xml"/><Relationship Id="rId65" Type="http://schemas.openxmlformats.org/officeDocument/2006/relationships/slide" Target="slides/slide63.xml"/><Relationship Id="rId73" Type="http://schemas.openxmlformats.org/officeDocument/2006/relationships/slide" Target="slides/slide71.xml"/><Relationship Id="rId78" Type="http://schemas.openxmlformats.org/officeDocument/2006/relationships/slide" Target="slides/slide76.xml"/><Relationship Id="rId81" Type="http://schemas.openxmlformats.org/officeDocument/2006/relationships/slide" Target="slides/slide79.xml"/><Relationship Id="rId86" Type="http://schemas.openxmlformats.org/officeDocument/2006/relationships/slide" Target="slides/slide84.xml"/><Relationship Id="rId94" Type="http://schemas.openxmlformats.org/officeDocument/2006/relationships/slide" Target="slides/slide92.xml"/><Relationship Id="rId99" Type="http://schemas.openxmlformats.org/officeDocument/2006/relationships/notesMaster" Target="notesMasters/notesMaster1.xml"/><Relationship Id="rId101" Type="http://schemas.openxmlformats.org/officeDocument/2006/relationships/presProps" Target="presProp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39" Type="http://schemas.openxmlformats.org/officeDocument/2006/relationships/slide" Target="slides/slide37.xml"/><Relationship Id="rId34" Type="http://schemas.openxmlformats.org/officeDocument/2006/relationships/slide" Target="slides/slide32.xml"/><Relationship Id="rId50" Type="http://schemas.openxmlformats.org/officeDocument/2006/relationships/slide" Target="slides/slide48.xml"/><Relationship Id="rId55" Type="http://schemas.openxmlformats.org/officeDocument/2006/relationships/slide" Target="slides/slide53.xml"/><Relationship Id="rId76" Type="http://schemas.openxmlformats.org/officeDocument/2006/relationships/slide" Target="slides/slide74.xml"/><Relationship Id="rId97" Type="http://schemas.openxmlformats.org/officeDocument/2006/relationships/slide" Target="slides/slide95.xml"/><Relationship Id="rId104" Type="http://schemas.openxmlformats.org/officeDocument/2006/relationships/tableStyles" Target="tableStyles.xml"/><Relationship Id="rId7" Type="http://schemas.openxmlformats.org/officeDocument/2006/relationships/slide" Target="slides/slide5.xml"/><Relationship Id="rId71" Type="http://schemas.openxmlformats.org/officeDocument/2006/relationships/slide" Target="slides/slide69.xml"/><Relationship Id="rId92" Type="http://schemas.openxmlformats.org/officeDocument/2006/relationships/slide" Target="slides/slide90.xml"/><Relationship Id="rId2" Type="http://schemas.openxmlformats.org/officeDocument/2006/relationships/slideMaster" Target="slideMasters/slideMaster2.xml"/><Relationship Id="rId29" Type="http://schemas.openxmlformats.org/officeDocument/2006/relationships/slide" Target="slides/slide27.xml"/><Relationship Id="rId24" Type="http://schemas.openxmlformats.org/officeDocument/2006/relationships/slide" Target="slides/slide22.xml"/><Relationship Id="rId40" Type="http://schemas.openxmlformats.org/officeDocument/2006/relationships/slide" Target="slides/slide38.xml"/><Relationship Id="rId45" Type="http://schemas.openxmlformats.org/officeDocument/2006/relationships/slide" Target="slides/slide43.xml"/><Relationship Id="rId66" Type="http://schemas.openxmlformats.org/officeDocument/2006/relationships/slide" Target="slides/slide64.xml"/><Relationship Id="rId87" Type="http://schemas.openxmlformats.org/officeDocument/2006/relationships/slide" Target="slides/slide85.xml"/><Relationship Id="rId61" Type="http://schemas.openxmlformats.org/officeDocument/2006/relationships/slide" Target="slides/slide59.xml"/><Relationship Id="rId82" Type="http://schemas.openxmlformats.org/officeDocument/2006/relationships/slide" Target="slides/slide80.xml"/><Relationship Id="rId19" Type="http://schemas.openxmlformats.org/officeDocument/2006/relationships/slide" Target="slides/slide17.xml"/><Relationship Id="rId14" Type="http://schemas.openxmlformats.org/officeDocument/2006/relationships/slide" Target="slides/slide12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56" Type="http://schemas.openxmlformats.org/officeDocument/2006/relationships/slide" Target="slides/slide54.xml"/><Relationship Id="rId77" Type="http://schemas.openxmlformats.org/officeDocument/2006/relationships/slide" Target="slides/slide75.xml"/><Relationship Id="rId100" Type="http://schemas.openxmlformats.org/officeDocument/2006/relationships/handoutMaster" Target="handoutMasters/handoutMaster1.xml"/><Relationship Id="rId8" Type="http://schemas.openxmlformats.org/officeDocument/2006/relationships/slide" Target="slides/slide6.xml"/><Relationship Id="rId51" Type="http://schemas.openxmlformats.org/officeDocument/2006/relationships/slide" Target="slides/slide49.xml"/><Relationship Id="rId72" Type="http://schemas.openxmlformats.org/officeDocument/2006/relationships/slide" Target="slides/slide70.xml"/><Relationship Id="rId93" Type="http://schemas.openxmlformats.org/officeDocument/2006/relationships/slide" Target="slides/slide91.xml"/><Relationship Id="rId98" Type="http://schemas.openxmlformats.org/officeDocument/2006/relationships/slide" Target="slides/slide96.xml"/><Relationship Id="rId3" Type="http://schemas.openxmlformats.org/officeDocument/2006/relationships/slide" Target="slides/slide1.xml"/></Relationships>
</file>

<file path=ppt/_rels/viewProps.xml.rels><?xml version="1.0" encoding="UTF-8" standalone="yes"?>
<Relationships xmlns="http://schemas.openxmlformats.org/package/2006/relationships"><Relationship Id="rId1" Type="http://schemas.openxmlformats.org/officeDocument/2006/relationships/slide" Target="slides/slide19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7B4B9BB-6DE8-4551-91B0-1D212BA0667C}" type="datetimeFigureOut">
              <a:rPr lang="zh-CN" altLang="en-US" smtClean="0"/>
              <a:pPr/>
              <a:t>2024/10/15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7379E54-6977-419B-BC40-D913703F14B0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110456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57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>
              <a:defRPr sz="1200" b="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09571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 b="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97284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381000" y="685800"/>
            <a:ext cx="6096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09573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noProof="0"/>
              <a:t>单击此处编辑母版文本样式</a:t>
            </a:r>
          </a:p>
          <a:p>
            <a:pPr lvl="1"/>
            <a:r>
              <a:rPr lang="zh-CN" altLang="en-US" noProof="0"/>
              <a:t>第二级</a:t>
            </a:r>
          </a:p>
          <a:p>
            <a:pPr lvl="2"/>
            <a:r>
              <a:rPr lang="zh-CN" altLang="en-US" noProof="0"/>
              <a:t>第三级</a:t>
            </a:r>
          </a:p>
          <a:p>
            <a:pPr lvl="3"/>
            <a:r>
              <a:rPr lang="zh-CN" altLang="en-US" noProof="0"/>
              <a:t>第四级</a:t>
            </a:r>
          </a:p>
          <a:p>
            <a:pPr lvl="4"/>
            <a:r>
              <a:rPr lang="zh-CN" altLang="en-US" noProof="0"/>
              <a:t>第五级</a:t>
            </a:r>
          </a:p>
        </p:txBody>
      </p:sp>
      <p:sp>
        <p:nvSpPr>
          <p:cNvPr id="109574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>
              <a:defRPr sz="1200" b="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09575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 b="0"/>
            </a:lvl1pPr>
          </a:lstStyle>
          <a:p>
            <a:pPr>
              <a:defRPr/>
            </a:pPr>
            <a:fld id="{7470E5E1-4843-4932-A191-9860DB39C7B3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913797045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宋体" pitchFamily="2" charset="-122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宋体" pitchFamily="2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宋体" pitchFamily="2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宋体" pitchFamily="2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宋体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3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6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7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8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8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9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0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1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2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3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4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7470E5E1-4843-4932-A191-9860DB39C7B3}" type="slidenum">
              <a:rPr lang="en-US" altLang="zh-CN" smtClean="0"/>
              <a:pPr>
                <a:defRPr/>
              </a:pPr>
              <a:t>1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68923888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7470E5E1-4843-4932-A191-9860DB39C7B3}" type="slidenum">
              <a:rPr lang="en-US" altLang="zh-CN" smtClean="0"/>
              <a:pPr>
                <a:defRPr/>
              </a:pPr>
              <a:t>11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05479987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7470E5E1-4843-4932-A191-9860DB39C7B3}" type="slidenum">
              <a:rPr lang="en-US" altLang="zh-CN" smtClean="0"/>
              <a:pPr>
                <a:defRPr/>
              </a:pPr>
              <a:t>15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5172756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使用</a:t>
            </a:r>
            <a:r>
              <a:rPr lang="en-US" altLang="zh-CN" dirty="0"/>
              <a:t> gcc –v </a:t>
            </a:r>
            <a:r>
              <a:rPr lang="zh-CN" altLang="en-US" dirty="0"/>
              <a:t>命令可以查看</a:t>
            </a:r>
            <a:r>
              <a:rPr lang="en-US" altLang="zh-CN" dirty="0"/>
              <a:t>gcc</a:t>
            </a:r>
            <a:r>
              <a:rPr lang="zh-CN" altLang="en-US" dirty="0"/>
              <a:t>的版本信息</a:t>
            </a:r>
            <a:endParaRPr lang="en-US" altLang="zh-CN" dirty="0"/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7470E5E1-4843-4932-A191-9860DB39C7B3}" type="slidenum">
              <a:rPr lang="en-US" altLang="zh-CN" smtClean="0"/>
              <a:pPr>
                <a:defRPr/>
              </a:pPr>
              <a:t>19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87526882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-E</a:t>
            </a:r>
            <a:r>
              <a:rPr lang="en-US" altLang="zh-CN" baseline="0" dirty="0"/>
              <a:t> –S -c</a:t>
            </a:r>
            <a:r>
              <a:rPr lang="zh-CN" altLang="en-US" baseline="0" dirty="0"/>
              <a:t>这几个选项叫过程控制选项，用于控制</a:t>
            </a:r>
            <a:r>
              <a:rPr lang="en-US" altLang="zh-CN" baseline="0" dirty="0"/>
              <a:t>gcc</a:t>
            </a:r>
            <a:r>
              <a:rPr lang="zh-CN" altLang="en-US" baseline="0" dirty="0"/>
              <a:t>的编译过程，无过程控制选项时，</a:t>
            </a:r>
            <a:r>
              <a:rPr lang="en-US" altLang="zh-CN" baseline="0" dirty="0"/>
              <a:t>gcc</a:t>
            </a:r>
            <a:r>
              <a:rPr lang="zh-CN" altLang="en-US" baseline="0" dirty="0"/>
              <a:t>默认执行全部编译过程，产生可执行代码。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7470E5E1-4843-4932-A191-9860DB39C7B3}" type="slidenum">
              <a:rPr lang="en-US" altLang="zh-CN" smtClean="0"/>
              <a:pPr>
                <a:defRPr/>
              </a:pPr>
              <a:t>20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07092007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执行</a:t>
            </a:r>
            <a:r>
              <a:rPr lang="en-US" altLang="zh-CN" dirty="0"/>
              <a:t>a.out</a:t>
            </a:r>
            <a:r>
              <a:rPr lang="zh-CN" altLang="en-US" dirty="0"/>
              <a:t>文件时，要在文件前面添加“</a:t>
            </a:r>
            <a:r>
              <a:rPr lang="en-US" altLang="zh-CN" dirty="0"/>
              <a:t>./”</a:t>
            </a:r>
            <a:r>
              <a:rPr lang="zh-CN" altLang="en-US" dirty="0"/>
              <a:t>，不能省略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7470E5E1-4843-4932-A191-9860DB39C7B3}" type="slidenum">
              <a:rPr lang="en-US" altLang="zh-CN" smtClean="0"/>
              <a:pPr>
                <a:defRPr/>
              </a:pPr>
              <a:t>22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59833180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默认的是动态库链接</a:t>
            </a:r>
            <a:endParaRPr lang="en-US" altLang="zh-CN" dirty="0"/>
          </a:p>
          <a:p>
            <a:r>
              <a:rPr lang="zh-CN" altLang="en-US" dirty="0"/>
              <a:t>安装</a:t>
            </a:r>
            <a:r>
              <a:rPr lang="en-US" altLang="zh-CN" dirty="0"/>
              <a:t>gcc</a:t>
            </a:r>
            <a:r>
              <a:rPr lang="zh-CN" altLang="en-US" dirty="0"/>
              <a:t>静态库：</a:t>
            </a:r>
            <a:r>
              <a:rPr lang="en-US" altLang="zh-CN" dirty="0"/>
              <a:t>sudo yum install </a:t>
            </a:r>
            <a:r>
              <a:rPr lang="en-US" altLang="zh-CN" dirty="0" err="1"/>
              <a:t>glibc</a:t>
            </a:r>
            <a:r>
              <a:rPr lang="en-US" altLang="zh-CN" dirty="0"/>
              <a:t>-static</a:t>
            </a:r>
          </a:p>
          <a:p>
            <a:r>
              <a:rPr lang="zh-CN" altLang="en-US" dirty="0"/>
              <a:t>安装之前重启一下系统</a:t>
            </a:r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7470E5E1-4843-4932-A191-9860DB39C7B3}" type="slidenum">
              <a:rPr lang="en-US" altLang="zh-CN" smtClean="0"/>
              <a:pPr>
                <a:defRPr/>
              </a:pPr>
              <a:t>29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85182564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-O3</a:t>
            </a:r>
            <a:r>
              <a:rPr lang="zh-CN" altLang="en-US" dirty="0"/>
              <a:t>生成更小的可执行文件，适合用于嵌入式软件。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7470E5E1-4843-4932-A191-9860DB39C7B3}" type="slidenum">
              <a:rPr lang="en-US" altLang="zh-CN" smtClean="0"/>
              <a:pPr>
                <a:defRPr/>
              </a:pPr>
              <a:t>31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48190446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1200" b="0" baseline="0" dirty="0"/>
              <a:t> time</a:t>
            </a:r>
            <a:r>
              <a:rPr kumimoji="1" lang="zh-CN" altLang="en-US" sz="1200" b="0" kern="1200" dirty="0">
                <a:solidFill>
                  <a:schemeClr val="tx1"/>
                </a:solidFill>
                <a:latin typeface="+mn-ea"/>
                <a:ea typeface="宋体" pitchFamily="2" charset="-122"/>
                <a:cs typeface="+mn-cs"/>
              </a:rPr>
              <a:t>是计算命令执行的时间</a:t>
            </a:r>
            <a:r>
              <a:rPr kumimoji="0" lang="zh-CN" altLang="en-US" sz="1200" b="0" kern="1200" baseline="0" dirty="0">
                <a:solidFill>
                  <a:schemeClr val="tx1"/>
                </a:solidFill>
                <a:latin typeface="Arial" charset="0"/>
                <a:ea typeface="宋体" pitchFamily="2" charset="-122"/>
                <a:cs typeface="+mn-cs"/>
              </a:rPr>
              <a:t> </a:t>
            </a:r>
            <a:endParaRPr kumimoji="0" lang="en-US" altLang="zh-CN" sz="1200" b="0" kern="1200" baseline="0" dirty="0">
              <a:solidFill>
                <a:schemeClr val="tx1"/>
              </a:solidFill>
              <a:latin typeface="Arial" charset="0"/>
              <a:ea typeface="宋体" pitchFamily="2" charset="-122"/>
              <a:cs typeface="+mn-cs"/>
            </a:endParaRP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1200" b="0" kern="1200" dirty="0">
                <a:solidFill>
                  <a:schemeClr val="tx1"/>
                </a:solidFill>
                <a:latin typeface="+mn-ea"/>
                <a:ea typeface="宋体" pitchFamily="2" charset="-122"/>
                <a:cs typeface="+mn-cs"/>
              </a:rPr>
              <a:t>其中</a:t>
            </a:r>
            <a:r>
              <a:rPr kumimoji="1" lang="en-US" altLang="zh-CN" sz="1200" b="0" kern="1200" dirty="0">
                <a:solidFill>
                  <a:schemeClr val="tx1"/>
                </a:solidFill>
                <a:latin typeface="+mn-ea"/>
                <a:ea typeface="宋体" pitchFamily="2" charset="-122"/>
                <a:cs typeface="+mn-cs"/>
              </a:rPr>
              <a:t>“real”</a:t>
            </a:r>
            <a:r>
              <a:rPr kumimoji="1" lang="zh-CN" altLang="en-US" sz="1200" b="0" kern="1200" dirty="0">
                <a:solidFill>
                  <a:schemeClr val="tx1"/>
                </a:solidFill>
                <a:latin typeface="+mn-ea"/>
                <a:ea typeface="宋体" pitchFamily="2" charset="-122"/>
                <a:cs typeface="+mn-cs"/>
              </a:rPr>
              <a:t>为实际时间；</a:t>
            </a:r>
            <a:endParaRPr kumimoji="1" lang="en-US" altLang="zh-CN" sz="1200" b="0" kern="1200" dirty="0">
              <a:solidFill>
                <a:schemeClr val="tx1"/>
              </a:solidFill>
              <a:latin typeface="+mn-ea"/>
              <a:ea typeface="宋体" pitchFamily="2" charset="-122"/>
              <a:cs typeface="+mn-cs"/>
            </a:endParaRP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1200" b="0" kern="1200" dirty="0">
                <a:solidFill>
                  <a:schemeClr val="tx1"/>
                </a:solidFill>
                <a:latin typeface="+mn-ea"/>
                <a:ea typeface="宋体" pitchFamily="2" charset="-122"/>
                <a:cs typeface="+mn-cs"/>
              </a:rPr>
              <a:t>“user”</a:t>
            </a:r>
            <a:r>
              <a:rPr kumimoji="1" lang="zh-CN" altLang="en-US" sz="1200" b="0" kern="1200" dirty="0">
                <a:solidFill>
                  <a:schemeClr val="tx1"/>
                </a:solidFill>
                <a:latin typeface="+mn-ea"/>
                <a:ea typeface="宋体" pitchFamily="2" charset="-122"/>
                <a:cs typeface="+mn-cs"/>
              </a:rPr>
              <a:t>为用户</a:t>
            </a:r>
            <a:r>
              <a:rPr kumimoji="1" lang="en-US" altLang="zh-CN" sz="1200" b="0" kern="1200" dirty="0">
                <a:solidFill>
                  <a:schemeClr val="tx1"/>
                </a:solidFill>
                <a:latin typeface="+mn-ea"/>
                <a:ea typeface="宋体" pitchFamily="2" charset="-122"/>
                <a:cs typeface="+mn-cs"/>
              </a:rPr>
              <a:t>CPU</a:t>
            </a:r>
            <a:r>
              <a:rPr kumimoji="1" lang="zh-CN" altLang="en-US" sz="1200" b="0" kern="1200" dirty="0">
                <a:solidFill>
                  <a:schemeClr val="tx1"/>
                </a:solidFill>
                <a:latin typeface="+mn-ea"/>
                <a:ea typeface="宋体" pitchFamily="2" charset="-122"/>
                <a:cs typeface="+mn-cs"/>
              </a:rPr>
              <a:t>时间；</a:t>
            </a:r>
            <a:endParaRPr kumimoji="1" lang="en-US" altLang="zh-CN" sz="1200" b="0" kern="1200" dirty="0">
              <a:solidFill>
                <a:schemeClr val="tx1"/>
              </a:solidFill>
              <a:latin typeface="+mn-ea"/>
              <a:ea typeface="宋体" pitchFamily="2" charset="-122"/>
              <a:cs typeface="+mn-cs"/>
            </a:endParaRP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1200" b="0" kern="1200" dirty="0">
                <a:solidFill>
                  <a:schemeClr val="tx1"/>
                </a:solidFill>
                <a:latin typeface="+mn-ea"/>
                <a:ea typeface="宋体" pitchFamily="2" charset="-122"/>
                <a:cs typeface="+mn-cs"/>
              </a:rPr>
              <a:t>“sys”</a:t>
            </a:r>
            <a:r>
              <a:rPr kumimoji="1" lang="zh-CN" altLang="en-US" sz="1200" b="0" kern="1200" dirty="0">
                <a:solidFill>
                  <a:schemeClr val="tx1"/>
                </a:solidFill>
                <a:latin typeface="+mn-ea"/>
                <a:ea typeface="宋体" pitchFamily="2" charset="-122"/>
                <a:cs typeface="+mn-cs"/>
              </a:rPr>
              <a:t>为系统</a:t>
            </a:r>
            <a:r>
              <a:rPr kumimoji="1" lang="en-US" altLang="zh-CN" sz="1200" b="0" kern="1200" dirty="0">
                <a:solidFill>
                  <a:schemeClr val="tx1"/>
                </a:solidFill>
                <a:latin typeface="+mn-ea"/>
                <a:ea typeface="宋体" pitchFamily="2" charset="-122"/>
                <a:cs typeface="+mn-cs"/>
              </a:rPr>
              <a:t>CPU</a:t>
            </a:r>
            <a:r>
              <a:rPr kumimoji="1" lang="zh-CN" altLang="en-US" sz="1200" b="0" kern="1200" dirty="0">
                <a:solidFill>
                  <a:schemeClr val="tx1"/>
                </a:solidFill>
                <a:latin typeface="+mn-ea"/>
                <a:ea typeface="宋体" pitchFamily="2" charset="-122"/>
                <a:cs typeface="+mn-cs"/>
              </a:rPr>
              <a:t>时间。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7470E5E1-4843-4932-A191-9860DB39C7B3}" type="slidenum">
              <a:rPr lang="en-US" altLang="zh-CN" smtClean="0"/>
              <a:pPr>
                <a:defRPr/>
              </a:pPr>
              <a:t>33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55865987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7470E5E1-4843-4932-A191-9860DB39C7B3}" type="slidenum">
              <a:rPr lang="en-US" altLang="zh-CN" smtClean="0"/>
              <a:pPr>
                <a:defRPr/>
              </a:pPr>
              <a:t>34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56412654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gcc</a:t>
            </a:r>
            <a:r>
              <a:rPr lang="zh-CN" altLang="en-US" dirty="0"/>
              <a:t>有超过</a:t>
            </a:r>
            <a:r>
              <a:rPr lang="en-US" altLang="zh-CN" dirty="0"/>
              <a:t>100</a:t>
            </a:r>
            <a:r>
              <a:rPr lang="zh-CN" altLang="en-US" dirty="0"/>
              <a:t>个的编译选项，具体的可以使用命令</a:t>
            </a:r>
            <a:r>
              <a:rPr lang="en-US" altLang="zh-CN" dirty="0"/>
              <a:t>man gcc</a:t>
            </a:r>
            <a:r>
              <a:rPr lang="zh-CN" altLang="en-US" dirty="0"/>
              <a:t>查看。</a:t>
            </a:r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7470E5E1-4843-4932-A191-9860DB39C7B3}" type="slidenum">
              <a:rPr lang="en-US" altLang="zh-CN" smtClean="0"/>
              <a:pPr>
                <a:defRPr/>
              </a:pPr>
              <a:t>35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73957554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1200" b="0" dirty="0">
                <a:latin typeface="+mn-ea"/>
                <a:ea typeface="+mn-ea"/>
              </a:rPr>
              <a:t>这段程序没有错误，但调试正确的程序可以更加了解</a:t>
            </a:r>
            <a:r>
              <a:rPr kumimoji="1" lang="en-US" altLang="zh-CN" sz="1200" b="0" dirty="0">
                <a:latin typeface="+mn-ea"/>
                <a:ea typeface="+mn-ea"/>
              </a:rPr>
              <a:t>GDB</a:t>
            </a:r>
            <a:r>
              <a:rPr kumimoji="1" lang="zh-CN" altLang="en-US" sz="1200" b="0" dirty="0">
                <a:latin typeface="+mn-ea"/>
                <a:ea typeface="+mn-ea"/>
              </a:rPr>
              <a:t>的使用流程</a:t>
            </a:r>
            <a:r>
              <a:rPr kumimoji="1" lang="zh-CN" altLang="en-US" sz="1200" b="1" dirty="0">
                <a:latin typeface="+mn-ea"/>
                <a:ea typeface="+mn-ea"/>
              </a:rPr>
              <a:t>。    </a:t>
            </a:r>
            <a:endParaRPr kumimoji="1" lang="zh-CN" altLang="en-US" sz="1200" b="1" u="sng" dirty="0">
              <a:solidFill>
                <a:srgbClr val="0000CC"/>
              </a:solidFill>
              <a:latin typeface="+mn-ea"/>
              <a:ea typeface="+mn-ea"/>
            </a:endParaRPr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7470E5E1-4843-4932-A191-9860DB39C7B3}" type="slidenum">
              <a:rPr lang="en-US" altLang="zh-CN" smtClean="0"/>
              <a:pPr>
                <a:defRPr/>
              </a:pPr>
              <a:t>39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02610397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 err="1"/>
              <a:t>gdb</a:t>
            </a:r>
            <a:r>
              <a:rPr lang="en-US" altLang="zh-CN" baseline="0" dirty="0"/>
              <a:t> -q </a:t>
            </a:r>
            <a:r>
              <a:rPr lang="zh-CN" altLang="en-US" baseline="0" dirty="0"/>
              <a:t>文件名</a:t>
            </a:r>
            <a:endParaRPr lang="en-US" altLang="zh-CN" baseline="0" dirty="0"/>
          </a:p>
          <a:p>
            <a:r>
              <a:rPr lang="zh-CN" altLang="en-US" baseline="0" dirty="0"/>
              <a:t>选项</a:t>
            </a:r>
            <a:r>
              <a:rPr lang="en-US" altLang="zh-CN" baseline="0" dirty="0"/>
              <a:t>-q :</a:t>
            </a:r>
            <a:r>
              <a:rPr lang="zh-CN" altLang="en-US" baseline="0" dirty="0"/>
              <a:t>调试程序时，不显示版本信息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7470E5E1-4843-4932-A191-9860DB39C7B3}" type="slidenum">
              <a:rPr lang="en-US" altLang="zh-CN" smtClean="0"/>
              <a:pPr>
                <a:defRPr/>
              </a:pPr>
              <a:t>40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87175645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其他用法例如：</a:t>
            </a:r>
            <a:endParaRPr lang="en-US" altLang="zh-CN" dirty="0"/>
          </a:p>
          <a:p>
            <a:r>
              <a:rPr lang="en-US" altLang="zh-CN" dirty="0"/>
              <a:t>list 5,10</a:t>
            </a:r>
            <a:r>
              <a:rPr lang="zh-CN" altLang="en-US" dirty="0"/>
              <a:t>：显示</a:t>
            </a:r>
            <a:r>
              <a:rPr lang="en-US" altLang="zh-CN" dirty="0"/>
              <a:t>5~10</a:t>
            </a:r>
            <a:r>
              <a:rPr lang="zh-CN" altLang="en-US" dirty="0"/>
              <a:t>行代码</a:t>
            </a:r>
            <a:endParaRPr lang="en-US" altLang="zh-CN" dirty="0"/>
          </a:p>
          <a:p>
            <a:r>
              <a:rPr lang="en-US" altLang="zh-CN" baseline="0" dirty="0"/>
              <a:t>list 10 </a:t>
            </a:r>
            <a:r>
              <a:rPr lang="zh-CN" altLang="en-US" baseline="0" dirty="0"/>
              <a:t>显示程序第</a:t>
            </a:r>
            <a:r>
              <a:rPr lang="en-US" altLang="zh-CN" baseline="0" dirty="0"/>
              <a:t>10</a:t>
            </a:r>
            <a:r>
              <a:rPr lang="zh-CN" altLang="en-US" baseline="0" dirty="0"/>
              <a:t>行周围的程序（第</a:t>
            </a:r>
            <a:r>
              <a:rPr lang="en-US" altLang="zh-CN" baseline="0" dirty="0"/>
              <a:t>5</a:t>
            </a:r>
            <a:r>
              <a:rPr lang="zh-CN" altLang="en-US" baseline="0" dirty="0"/>
              <a:t>行到第</a:t>
            </a:r>
            <a:r>
              <a:rPr lang="en-US" altLang="zh-CN" baseline="0" dirty="0"/>
              <a:t>14</a:t>
            </a:r>
            <a:r>
              <a:rPr lang="zh-CN" altLang="en-US" baseline="0" dirty="0"/>
              <a:t>行）</a:t>
            </a:r>
            <a:endParaRPr lang="en-US" altLang="zh-CN" baseline="0" dirty="0"/>
          </a:p>
          <a:p>
            <a:r>
              <a:rPr lang="en-US" altLang="zh-CN" dirty="0"/>
              <a:t>list &lt;function&gt;</a:t>
            </a:r>
            <a:r>
              <a:rPr lang="zh-CN" altLang="en-US" dirty="0"/>
              <a:t>显示函数名为</a:t>
            </a:r>
            <a:r>
              <a:rPr lang="en-US" altLang="zh-CN" dirty="0"/>
              <a:t>function</a:t>
            </a:r>
            <a:r>
              <a:rPr lang="zh-CN" altLang="en-US" dirty="0"/>
              <a:t>的函数的源程序</a:t>
            </a:r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7470E5E1-4843-4932-A191-9860DB39C7B3}" type="slidenum">
              <a:rPr lang="en-US" altLang="zh-CN" smtClean="0"/>
              <a:pPr>
                <a:defRPr/>
              </a:pPr>
              <a:t>41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1847566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7470E5E1-4843-4932-A191-9860DB39C7B3}" type="slidenum">
              <a:rPr lang="en-US" altLang="zh-CN" smtClean="0"/>
              <a:pPr>
                <a:defRPr/>
              </a:pPr>
              <a:t>42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843943252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设置断点后的反馈信息，包括：当前设置的断点，断点所在的内存地址及所在行号。</a:t>
            </a:r>
            <a:endParaRPr lang="en-US" altLang="zh-CN"/>
          </a:p>
          <a:p>
            <a:r>
              <a:rPr lang="zh-CN" altLang="en-US"/>
              <a:t>输入</a:t>
            </a:r>
            <a:r>
              <a:rPr lang="en-US" altLang="zh-CN"/>
              <a:t>run</a:t>
            </a:r>
            <a:r>
              <a:rPr lang="zh-CN" altLang="en-US"/>
              <a:t>后，程序运行到第</a:t>
            </a:r>
            <a:r>
              <a:rPr lang="en-US" altLang="zh-CN"/>
              <a:t>5</a:t>
            </a:r>
            <a:r>
              <a:rPr lang="zh-CN" altLang="en-US"/>
              <a:t>行的指令后就暂停。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7470E5E1-4843-4932-A191-9860DB39C7B3}" type="slidenum">
              <a:rPr lang="en-US" altLang="zh-CN" smtClean="0"/>
              <a:pPr>
                <a:defRPr/>
              </a:pPr>
              <a:t>43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843943252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Num</a:t>
            </a:r>
            <a:r>
              <a:rPr lang="zh-CN" altLang="en-US" dirty="0"/>
              <a:t>：断点编号；</a:t>
            </a:r>
            <a:endParaRPr lang="en-US" altLang="zh-CN" dirty="0"/>
          </a:p>
          <a:p>
            <a:r>
              <a:rPr lang="en-US" altLang="zh-CN" dirty="0"/>
              <a:t>Type</a:t>
            </a:r>
            <a:r>
              <a:rPr lang="zh-CN" altLang="en-US" dirty="0"/>
              <a:t>：类型；</a:t>
            </a:r>
            <a:endParaRPr lang="en-US" altLang="zh-CN" dirty="0"/>
          </a:p>
          <a:p>
            <a:r>
              <a:rPr lang="en-US" altLang="zh-CN" dirty="0"/>
              <a:t>Disp</a:t>
            </a:r>
            <a:r>
              <a:rPr lang="zh-CN" altLang="en-US" dirty="0"/>
              <a:t>：指示中断点在生效一次后是否会失去作用，是位</a:t>
            </a:r>
            <a:r>
              <a:rPr lang="en-US" altLang="zh-CN" dirty="0"/>
              <a:t>dis</a:t>
            </a:r>
            <a:r>
              <a:rPr lang="zh-CN" altLang="en-US" dirty="0"/>
              <a:t>，否为</a:t>
            </a:r>
            <a:r>
              <a:rPr lang="en-US" altLang="zh-CN" dirty="0"/>
              <a:t>keep</a:t>
            </a:r>
            <a:r>
              <a:rPr lang="zh-CN" altLang="en-US" dirty="0"/>
              <a:t>；</a:t>
            </a:r>
            <a:endParaRPr lang="en-US" altLang="zh-CN" dirty="0"/>
          </a:p>
          <a:p>
            <a:r>
              <a:rPr lang="en-US" altLang="zh-CN" dirty="0"/>
              <a:t>Enb</a:t>
            </a:r>
            <a:r>
              <a:rPr lang="zh-CN" altLang="en-US" dirty="0"/>
              <a:t>：表明当前中断点是否有效；</a:t>
            </a:r>
            <a:endParaRPr lang="en-US" altLang="zh-CN" dirty="0"/>
          </a:p>
          <a:p>
            <a:r>
              <a:rPr lang="en-US" altLang="zh-CN" dirty="0" err="1"/>
              <a:t>Adress</a:t>
            </a:r>
            <a:r>
              <a:rPr lang="zh-CN" altLang="en-US" dirty="0"/>
              <a:t>：表示中断所处的内存地址；</a:t>
            </a:r>
            <a:endParaRPr lang="en-US" altLang="zh-CN" dirty="0"/>
          </a:p>
          <a:p>
            <a:r>
              <a:rPr lang="en-US" altLang="zh-CN" dirty="0"/>
              <a:t>What</a:t>
            </a:r>
            <a:r>
              <a:rPr lang="zh-CN" altLang="en-US" dirty="0"/>
              <a:t>：列出中断发生在哪个函数的第几行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7470E5E1-4843-4932-A191-9860DB39C7B3}" type="slidenum">
              <a:rPr lang="en-US" altLang="zh-CN" smtClean="0"/>
              <a:pPr>
                <a:defRPr/>
              </a:pPr>
              <a:t>44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773733573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7470E5E1-4843-4932-A191-9860DB39C7B3}" type="slidenum">
              <a:rPr lang="en-US" altLang="zh-CN" smtClean="0"/>
              <a:pPr>
                <a:defRPr/>
              </a:pPr>
              <a:t>46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457555982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”step”</a:t>
            </a:r>
            <a:r>
              <a:rPr lang="zh-CN" altLang="en-US" dirty="0"/>
              <a:t>就类似于</a:t>
            </a:r>
            <a:r>
              <a:rPr lang="en-US" altLang="zh-CN" dirty="0"/>
              <a:t>VC</a:t>
            </a:r>
            <a:r>
              <a:rPr lang="zh-CN" altLang="en-US" dirty="0"/>
              <a:t>等工具中的”</a:t>
            </a:r>
            <a:r>
              <a:rPr lang="en-US" altLang="zh-CN" dirty="0"/>
              <a:t>step in”</a:t>
            </a:r>
            <a:r>
              <a:rPr lang="zh-CN" altLang="en-US" dirty="0"/>
              <a:t>，</a:t>
            </a:r>
            <a:r>
              <a:rPr lang="zh-CN" altLang="en-US"/>
              <a:t>”</a:t>
            </a:r>
            <a:r>
              <a:rPr lang="en-US" altLang="zh-CN"/>
              <a:t>next”</a:t>
            </a:r>
            <a:r>
              <a:rPr lang="zh-CN" altLang="en-US" dirty="0"/>
              <a:t>类似与</a:t>
            </a:r>
            <a:r>
              <a:rPr lang="en-US" altLang="zh-CN" dirty="0"/>
              <a:t>VC</a:t>
            </a:r>
            <a:r>
              <a:rPr lang="zh-CN" altLang="en-US" dirty="0"/>
              <a:t>等工具中的”</a:t>
            </a:r>
            <a:r>
              <a:rPr lang="en-US" altLang="zh-CN" dirty="0" err="1"/>
              <a:t>stepover</a:t>
            </a:r>
            <a:r>
              <a:rPr lang="en-US" altLang="zh-CN" dirty="0"/>
              <a:t>”</a:t>
            </a:r>
            <a:r>
              <a:rPr lang="zh-CN" altLang="en-US" dirty="0"/>
              <a:t>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7470E5E1-4843-4932-A191-9860DB39C7B3}" type="slidenum">
              <a:rPr lang="en-US" altLang="zh-CN" smtClean="0"/>
              <a:pPr>
                <a:defRPr/>
              </a:pPr>
              <a:t>47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373966509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7470E5E1-4843-4932-A191-9860DB39C7B3}" type="slidenum">
              <a:rPr lang="en-US" altLang="zh-CN" smtClean="0"/>
              <a:pPr>
                <a:defRPr/>
              </a:pPr>
              <a:t>48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373966509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执行上述</a:t>
            </a:r>
            <a:r>
              <a:rPr lang="en-US" altLang="zh-CN" dirty="0"/>
              <a:t>next</a:t>
            </a:r>
            <a:r>
              <a:rPr lang="zh-CN" altLang="en-US" dirty="0"/>
              <a:t>之后的结果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7470E5E1-4843-4932-A191-9860DB39C7B3}" type="slidenum">
              <a:rPr lang="en-US" altLang="zh-CN" smtClean="0"/>
              <a:pPr>
                <a:defRPr/>
              </a:pPr>
              <a:t>49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007682306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7470E5E1-4843-4932-A191-9860DB39C7B3}" type="slidenum">
              <a:rPr lang="en-US" altLang="zh-CN" smtClean="0"/>
              <a:pPr>
                <a:defRPr/>
              </a:pPr>
              <a:t>51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199334412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条件断点：测试一个变量是否满足一个给定的值</a:t>
            </a:r>
            <a:endParaRPr lang="en-US" altLang="zh-CN" dirty="0"/>
          </a:p>
          <a:p>
            <a:r>
              <a:rPr lang="zh-CN" altLang="en-US" dirty="0"/>
              <a:t>该例中在第 </a:t>
            </a:r>
            <a:r>
              <a:rPr lang="en-US" altLang="zh-CN" dirty="0"/>
              <a:t>8 </a:t>
            </a:r>
            <a:r>
              <a:rPr lang="zh-CN" altLang="en-US" dirty="0"/>
              <a:t>行</a:t>
            </a:r>
            <a:r>
              <a:rPr lang="en-US" altLang="zh-CN" dirty="0"/>
              <a:t>(</a:t>
            </a:r>
            <a:r>
              <a:rPr lang="zh-CN" altLang="en-US" dirty="0"/>
              <a:t>也就是运行完第 </a:t>
            </a:r>
            <a:r>
              <a:rPr lang="en-US" altLang="zh-CN" dirty="0"/>
              <a:t>7 </a:t>
            </a:r>
            <a:r>
              <a:rPr lang="zh-CN" altLang="en-US" dirty="0"/>
              <a:t>行的 </a:t>
            </a:r>
            <a:r>
              <a:rPr lang="en-US" altLang="zh-CN" dirty="0"/>
              <a:t>for </a:t>
            </a:r>
            <a:r>
              <a:rPr lang="zh-CN" altLang="en-US" dirty="0"/>
              <a:t>循环</a:t>
            </a:r>
            <a:r>
              <a:rPr lang="en-US" altLang="zh-CN" dirty="0"/>
              <a:t>)</a:t>
            </a:r>
            <a:r>
              <a:rPr lang="zh-CN" altLang="en-US" dirty="0"/>
              <a:t>设置了一个“</a:t>
            </a:r>
            <a:r>
              <a:rPr lang="en-US" altLang="zh-CN" dirty="0" err="1"/>
              <a:t>i</a:t>
            </a:r>
            <a:r>
              <a:rPr lang="en-US" altLang="zh-CN" dirty="0"/>
              <a:t>==10”</a:t>
            </a:r>
            <a:r>
              <a:rPr lang="zh-CN" altLang="en-US" dirty="0"/>
              <a:t>的</a:t>
            </a:r>
          </a:p>
          <a:p>
            <a:r>
              <a:rPr lang="zh-CN" altLang="en-US" dirty="0"/>
              <a:t>条件断点</a:t>
            </a:r>
            <a:r>
              <a:rPr lang="en-US" altLang="zh-CN" dirty="0"/>
              <a:t>,</a:t>
            </a:r>
            <a:r>
              <a:rPr lang="zh-CN" altLang="en-US" dirty="0"/>
              <a:t>在程序运行之后可以看出</a:t>
            </a:r>
            <a:r>
              <a:rPr lang="en-US" altLang="zh-CN" dirty="0"/>
              <a:t>,</a:t>
            </a:r>
            <a:r>
              <a:rPr lang="zh-CN" altLang="en-US" dirty="0"/>
              <a:t>程序确实在 </a:t>
            </a:r>
            <a:r>
              <a:rPr lang="en-US" altLang="zh-CN" dirty="0" err="1"/>
              <a:t>i</a:t>
            </a:r>
            <a:r>
              <a:rPr lang="en-US" altLang="zh-CN" dirty="0"/>
              <a:t> </a:t>
            </a:r>
            <a:r>
              <a:rPr lang="zh-CN" altLang="en-US" dirty="0"/>
              <a:t>为 </a:t>
            </a:r>
            <a:r>
              <a:rPr lang="en-US" altLang="zh-CN" dirty="0"/>
              <a:t>10 </a:t>
            </a:r>
            <a:r>
              <a:rPr lang="zh-CN" altLang="en-US" dirty="0"/>
              <a:t>时暂停运行。</a:t>
            </a:r>
            <a:endParaRPr lang="en-US" altLang="zh-CN" dirty="0"/>
          </a:p>
          <a:p>
            <a:r>
              <a:rPr lang="en-US" altLang="zh-CN" dirty="0"/>
              <a:t>info</a:t>
            </a:r>
            <a:r>
              <a:rPr lang="en-US" altLang="zh-CN" baseline="0" dirty="0"/>
              <a:t> b</a:t>
            </a:r>
          </a:p>
          <a:p>
            <a:r>
              <a:rPr lang="en-US" altLang="zh-CN" baseline="0" dirty="0"/>
              <a:t>print n</a:t>
            </a:r>
          </a:p>
          <a:p>
            <a:r>
              <a:rPr lang="en-US" altLang="zh-CN" baseline="0" dirty="0"/>
              <a:t>$2 = 45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7470E5E1-4843-4932-A191-9860DB39C7B3}" type="slidenum">
              <a:rPr lang="en-US" altLang="zh-CN" smtClean="0"/>
              <a:pPr>
                <a:defRPr/>
              </a:pPr>
              <a:t>52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525821016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File</a:t>
            </a:r>
            <a:r>
              <a:rPr lang="zh-CN" altLang="en-US" dirty="0"/>
              <a:t>命令：加载可执行程序</a:t>
            </a:r>
            <a:r>
              <a:rPr lang="en-US" altLang="zh-CN" dirty="0"/>
              <a:t>test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7470E5E1-4843-4932-A191-9860DB39C7B3}" type="slidenum">
              <a:rPr lang="en-US" altLang="zh-CN" smtClean="0"/>
              <a:pPr>
                <a:defRPr/>
              </a:pPr>
              <a:t>59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421824012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或者</a:t>
            </a:r>
            <a:endParaRPr lang="en-US" altLang="zh-CN" dirty="0"/>
          </a:p>
          <a:p>
            <a:r>
              <a:rPr lang="en-US" altLang="zh-CN" dirty="0"/>
              <a:t>s</a:t>
            </a:r>
            <a:r>
              <a:rPr lang="en-US" altLang="zh-CN"/>
              <a:t>ize-1-i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7470E5E1-4843-4932-A191-9860DB39C7B3}" type="slidenum">
              <a:rPr lang="en-US" altLang="zh-CN" smtClean="0"/>
              <a:pPr>
                <a:defRPr/>
              </a:pPr>
              <a:t>65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519801073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7470E5E1-4843-4932-A191-9860DB39C7B3}" type="slidenum">
              <a:rPr lang="en-US" altLang="zh-CN" smtClean="0"/>
              <a:pPr>
                <a:defRPr/>
              </a:pPr>
              <a:t>66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994721724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Makefile</a:t>
            </a:r>
            <a:r>
              <a:rPr lang="zh-CN" altLang="en-US" dirty="0"/>
              <a:t>文件的命名可以为“</a:t>
            </a:r>
            <a:r>
              <a:rPr lang="en-US" altLang="zh-CN" dirty="0"/>
              <a:t>Makefile"</a:t>
            </a:r>
            <a:r>
              <a:rPr lang="zh-CN" altLang="en-US" dirty="0"/>
              <a:t>或</a:t>
            </a:r>
            <a:r>
              <a:rPr lang="en-US" altLang="zh-CN" dirty="0"/>
              <a:t>"</a:t>
            </a:r>
            <a:r>
              <a:rPr lang="en-US" altLang="zh-CN" dirty="0" err="1"/>
              <a:t>makefile</a:t>
            </a:r>
            <a:r>
              <a:rPr lang="en-US" altLang="zh-CN" dirty="0"/>
              <a:t>"</a:t>
            </a:r>
            <a:r>
              <a:rPr lang="zh-CN" altLang="en-US" dirty="0"/>
              <a:t>。</a:t>
            </a:r>
          </a:p>
          <a:p>
            <a:r>
              <a:rPr lang="zh-CN" altLang="en-US" dirty="0"/>
              <a:t>如果使用非标准命名的</a:t>
            </a:r>
            <a:r>
              <a:rPr lang="en-US" altLang="zh-CN" dirty="0" err="1"/>
              <a:t>makefile</a:t>
            </a:r>
            <a:r>
              <a:rPr lang="zh-CN" altLang="en-US" dirty="0"/>
              <a:t>，必须用命令参数</a:t>
            </a:r>
          </a:p>
          <a:p>
            <a:r>
              <a:rPr lang="zh-CN" altLang="en-US" dirty="0"/>
              <a:t>   “</a:t>
            </a:r>
            <a:r>
              <a:rPr lang="en-US" altLang="zh-CN" dirty="0"/>
              <a:t>-f name ” </a:t>
            </a:r>
            <a:r>
              <a:rPr lang="zh-CN" altLang="en-US" dirty="0"/>
              <a:t>或 “</a:t>
            </a:r>
            <a:r>
              <a:rPr lang="en-US" altLang="zh-CN" dirty="0"/>
              <a:t>--file name”</a:t>
            </a:r>
            <a:r>
              <a:rPr lang="zh-CN" altLang="en-US" dirty="0"/>
              <a:t>告诉</a:t>
            </a:r>
            <a:r>
              <a:rPr lang="en-US" altLang="zh-CN" dirty="0"/>
              <a:t>make </a:t>
            </a:r>
            <a:r>
              <a:rPr lang="zh-CN" altLang="en-US" dirty="0"/>
              <a:t>读入</a:t>
            </a:r>
            <a:r>
              <a:rPr lang="en-US" altLang="zh-CN" dirty="0"/>
              <a:t>name </a:t>
            </a:r>
            <a:r>
              <a:rPr lang="zh-CN" altLang="en-US" dirty="0"/>
              <a:t>作为</a:t>
            </a:r>
            <a:r>
              <a:rPr lang="en-US" altLang="zh-CN" dirty="0" err="1"/>
              <a:t>makefile</a:t>
            </a:r>
            <a:r>
              <a:rPr lang="zh-CN" altLang="en-US" dirty="0"/>
              <a:t>文件。</a:t>
            </a:r>
          </a:p>
          <a:p>
            <a:r>
              <a:rPr lang="zh-CN" altLang="en-US" dirty="0"/>
              <a:t>若当前目录下找不到相关的</a:t>
            </a:r>
            <a:r>
              <a:rPr lang="en-US" altLang="zh-CN" dirty="0"/>
              <a:t>Makefile</a:t>
            </a:r>
            <a:r>
              <a:rPr lang="zh-CN" altLang="en-US" dirty="0"/>
              <a:t>文件，则会出现错误：</a:t>
            </a:r>
          </a:p>
          <a:p>
            <a:r>
              <a:rPr lang="en-US" altLang="zh-CN" dirty="0"/>
              <a:t>make: *** No targets specified and no </a:t>
            </a:r>
            <a:r>
              <a:rPr lang="en-US" altLang="zh-CN" dirty="0" err="1"/>
              <a:t>makefile</a:t>
            </a:r>
            <a:r>
              <a:rPr lang="en-US" altLang="zh-CN" dirty="0"/>
              <a:t> found.  Stop.</a:t>
            </a:r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7470E5E1-4843-4932-A191-9860DB39C7B3}" type="slidenum">
              <a:rPr lang="en-US" altLang="zh-CN" smtClean="0"/>
              <a:pPr>
                <a:defRPr/>
              </a:pPr>
              <a:t>73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156166939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当首次执行</a:t>
            </a:r>
            <a:r>
              <a:rPr lang="en-US" altLang="zh-CN" dirty="0"/>
              <a:t>make</a:t>
            </a:r>
            <a:r>
              <a:rPr lang="zh-CN" altLang="en-US" dirty="0"/>
              <a:t>时，由于目标代码文件和可执行文件都不存在，</a:t>
            </a:r>
            <a:r>
              <a:rPr lang="en-US" altLang="zh-CN" dirty="0"/>
              <a:t>make</a:t>
            </a:r>
            <a:r>
              <a:rPr lang="zh-CN" altLang="en-US" dirty="0"/>
              <a:t>逐个编译生成了所有的目标代码和可执行文件。当随后再次执行</a:t>
            </a:r>
            <a:r>
              <a:rPr lang="en-US" altLang="zh-CN" dirty="0"/>
              <a:t>make</a:t>
            </a:r>
            <a:r>
              <a:rPr lang="zh-CN" altLang="en-US" dirty="0"/>
              <a:t>时，由于没有修改过任何文件，所以</a:t>
            </a:r>
            <a:r>
              <a:rPr lang="en-US" altLang="zh-CN" dirty="0"/>
              <a:t>make</a:t>
            </a:r>
            <a:r>
              <a:rPr lang="zh-CN" altLang="en-US" dirty="0"/>
              <a:t>也没有做任何更新操作。才修改了</a:t>
            </a:r>
            <a:r>
              <a:rPr lang="en-US" altLang="zh-CN" dirty="0" err="1"/>
              <a:t>print.c</a:t>
            </a:r>
            <a:r>
              <a:rPr lang="zh-CN" altLang="en-US" dirty="0"/>
              <a:t>文件后</a:t>
            </a:r>
            <a:r>
              <a:rPr lang="en-US" altLang="zh-CN" dirty="0"/>
              <a:t>(</a:t>
            </a:r>
            <a:r>
              <a:rPr lang="zh-CN" altLang="en-US" dirty="0"/>
              <a:t>这里只是改变了它的更新时间），再执行</a:t>
            </a:r>
            <a:r>
              <a:rPr lang="en-US" altLang="zh-CN" dirty="0"/>
              <a:t>make</a:t>
            </a:r>
            <a:r>
              <a:rPr lang="zh-CN" altLang="en-US" dirty="0"/>
              <a:t>时，所有依赖于</a:t>
            </a:r>
            <a:r>
              <a:rPr lang="en-US" altLang="zh-CN" dirty="0" err="1"/>
              <a:t>print.c</a:t>
            </a:r>
            <a:r>
              <a:rPr lang="zh-CN" altLang="en-US" dirty="0"/>
              <a:t>的文件都被更新了。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7470E5E1-4843-4932-A191-9860DB39C7B3}" type="slidenum">
              <a:rPr lang="en-US" altLang="zh-CN" smtClean="0"/>
              <a:pPr>
                <a:defRPr/>
              </a:pPr>
              <a:t>76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048093119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1507" name="备注占位符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B9E31E2A-E368-469B-A8E7-837E7EDFD151}" type="slidenum">
              <a:rPr lang="zh-CN" altLang="en-US" smtClean="0"/>
              <a:pPr>
                <a:defRPr/>
              </a:pPr>
              <a:t>77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1507" name="备注占位符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B9E31E2A-E368-469B-A8E7-837E7EDFD151}" type="slidenum">
              <a:rPr lang="zh-CN" altLang="en-US" smtClean="0"/>
              <a:pPr>
                <a:defRPr/>
              </a:pPr>
              <a:t>78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 err="1"/>
              <a:t>Autotools</a:t>
            </a:r>
            <a:r>
              <a:rPr lang="zh-CN" altLang="en-US" dirty="0"/>
              <a:t>并不是一个工具，是一系列工具：  </a:t>
            </a:r>
            <a:r>
              <a:rPr lang="en-US" altLang="zh-CN" dirty="0"/>
              <a:t>1. </a:t>
            </a:r>
            <a:r>
              <a:rPr lang="en-US" altLang="zh-CN" dirty="0" err="1"/>
              <a:t>autoscan</a:t>
            </a:r>
            <a:r>
              <a:rPr lang="en-US" altLang="zh-CN" dirty="0"/>
              <a:t>  2. </a:t>
            </a:r>
            <a:r>
              <a:rPr lang="en-US" altLang="zh-CN" dirty="0" err="1"/>
              <a:t>aclocal</a:t>
            </a:r>
            <a:r>
              <a:rPr lang="en-US" altLang="zh-CN" dirty="0"/>
              <a:t>  3. </a:t>
            </a:r>
            <a:r>
              <a:rPr lang="en-US" altLang="zh-CN" dirty="0" err="1"/>
              <a:t>autoconf</a:t>
            </a:r>
            <a:r>
              <a:rPr lang="en-US" altLang="zh-CN" dirty="0"/>
              <a:t>  4. </a:t>
            </a:r>
            <a:r>
              <a:rPr lang="en-US" altLang="zh-CN" dirty="0" err="1"/>
              <a:t>autoheader</a:t>
            </a:r>
            <a:r>
              <a:rPr lang="en-US" altLang="zh-CN" dirty="0"/>
              <a:t>  5. </a:t>
            </a:r>
            <a:r>
              <a:rPr lang="en-US" altLang="zh-CN" dirty="0" err="1"/>
              <a:t>automake</a:t>
            </a:r>
            <a:r>
              <a:rPr lang="zh-CN" altLang="en-US" dirty="0"/>
              <a:t>等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7470E5E1-4843-4932-A191-9860DB39C7B3}" type="slidenum">
              <a:rPr lang="en-US" altLang="zh-CN" smtClean="0"/>
              <a:pPr>
                <a:defRPr/>
              </a:pPr>
              <a:t>88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399427335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7470E5E1-4843-4932-A191-9860DB39C7B3}" type="slidenum">
              <a:rPr lang="en-US" altLang="zh-CN" smtClean="0"/>
              <a:pPr>
                <a:defRPr/>
              </a:pPr>
              <a:t>89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905145944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7470E5E1-4843-4932-A191-9860DB39C7B3}" type="slidenum">
              <a:rPr lang="en-US" altLang="zh-CN" smtClean="0"/>
              <a:pPr>
                <a:defRPr/>
              </a:pPr>
              <a:t>90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407124952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7470E5E1-4843-4932-A191-9860DB39C7B3}" type="slidenum">
              <a:rPr lang="en-US" altLang="zh-CN" smtClean="0"/>
              <a:pPr>
                <a:defRPr/>
              </a:pPr>
              <a:t>91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817197750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AUTOMAKE_OPTIONS</a:t>
            </a:r>
            <a:r>
              <a:rPr lang="zh-CN" altLang="en-US" dirty="0"/>
              <a:t>用来设置</a:t>
            </a:r>
            <a:r>
              <a:rPr lang="en-US" altLang="zh-CN" dirty="0" err="1"/>
              <a:t>automake</a:t>
            </a:r>
            <a:r>
              <a:rPr lang="zh-CN" altLang="en-US" dirty="0"/>
              <a:t>的软件等级，</a:t>
            </a:r>
            <a:r>
              <a:rPr lang="en-US" altLang="zh-CN" dirty="0"/>
              <a:t>3</a:t>
            </a:r>
            <a:r>
              <a:rPr lang="zh-CN" altLang="en-US" dirty="0"/>
              <a:t>种软件等级：</a:t>
            </a:r>
            <a:r>
              <a:rPr lang="en-US" altLang="zh-CN" dirty="0"/>
              <a:t>foreign</a:t>
            </a:r>
            <a:r>
              <a:rPr lang="zh-CN" altLang="en-US" dirty="0"/>
              <a:t>、</a:t>
            </a:r>
            <a:r>
              <a:rPr lang="en-US" altLang="zh-CN" dirty="0"/>
              <a:t>gnu</a:t>
            </a:r>
            <a:r>
              <a:rPr lang="zh-CN" altLang="en-US" dirty="0"/>
              <a:t>和</a:t>
            </a:r>
            <a:r>
              <a:rPr lang="en-US" altLang="zh-CN" dirty="0" err="1"/>
              <a:t>gnits</a:t>
            </a:r>
            <a:r>
              <a:rPr lang="zh-CN" altLang="en-US" dirty="0"/>
              <a:t>。默认等级是</a:t>
            </a:r>
            <a:r>
              <a:rPr lang="en-US" altLang="zh-CN" dirty="0"/>
              <a:t>gnu</a:t>
            </a:r>
            <a:r>
              <a:rPr lang="zh-CN" altLang="en-US" dirty="0"/>
              <a:t>。此处</a:t>
            </a:r>
            <a:r>
              <a:rPr lang="en-US" altLang="zh-CN" dirty="0"/>
              <a:t>AUTOMAKE_OPTIONS</a:t>
            </a:r>
            <a:r>
              <a:rPr lang="zh-CN" altLang="en-US" dirty="0"/>
              <a:t>使用的是</a:t>
            </a:r>
            <a:r>
              <a:rPr lang="en-US" altLang="zh-CN" dirty="0"/>
              <a:t>foreign</a:t>
            </a:r>
            <a:r>
              <a:rPr lang="zh-CN" altLang="en-US" dirty="0"/>
              <a:t>，表示只检测必要的文件</a:t>
            </a:r>
            <a:r>
              <a:rPr lang="en-US" altLang="zh-CN" dirty="0"/>
              <a:t>foreign</a:t>
            </a:r>
            <a:r>
              <a:rPr lang="zh-CN" altLang="en-US" dirty="0"/>
              <a:t>表示只检测必要的文件。</a:t>
            </a:r>
            <a:endParaRPr lang="en-US" altLang="zh-CN" dirty="0"/>
          </a:p>
          <a:p>
            <a:r>
              <a:rPr lang="en-US" altLang="zh-CN" dirty="0" err="1"/>
              <a:t>bin_PROGRAMS</a:t>
            </a:r>
            <a:r>
              <a:rPr lang="zh-CN" altLang="en-US" dirty="0"/>
              <a:t>定义了要产生的执行文件名。</a:t>
            </a:r>
            <a:endParaRPr lang="en-US" altLang="zh-CN" dirty="0"/>
          </a:p>
          <a:p>
            <a:r>
              <a:rPr lang="en-US" altLang="zh-CN" dirty="0" err="1"/>
              <a:t>file_SOURCES</a:t>
            </a:r>
            <a:r>
              <a:rPr lang="zh-CN" altLang="en-US" dirty="0"/>
              <a:t>定义</a:t>
            </a:r>
            <a:r>
              <a:rPr lang="en-US" altLang="zh-CN" dirty="0"/>
              <a:t>file</a:t>
            </a:r>
            <a:r>
              <a:rPr lang="zh-CN" altLang="en-US" dirty="0"/>
              <a:t>这个执行程序的依赖文件，其中“</a:t>
            </a:r>
            <a:r>
              <a:rPr lang="en-US" altLang="zh-CN" dirty="0" err="1"/>
              <a:t>file_SOURCES</a:t>
            </a:r>
            <a:r>
              <a:rPr lang="en-US" altLang="zh-CN" dirty="0"/>
              <a:t>”</a:t>
            </a:r>
            <a:r>
              <a:rPr lang="zh-CN" altLang="en-US" dirty="0"/>
              <a:t>中的前部分“</a:t>
            </a:r>
            <a:r>
              <a:rPr lang="en-US" altLang="zh-CN" dirty="0"/>
              <a:t>file”</a:t>
            </a:r>
            <a:r>
              <a:rPr lang="zh-CN" altLang="en-US" dirty="0"/>
              <a:t>要改写成可执行文件名，即与</a:t>
            </a:r>
            <a:r>
              <a:rPr lang="en-US" altLang="zh-CN" dirty="0" err="1"/>
              <a:t>bin_PROGRAMS</a:t>
            </a:r>
            <a:r>
              <a:rPr lang="zh-CN" altLang="en-US" dirty="0"/>
              <a:t>定义的名称一致，此处就是</a:t>
            </a:r>
            <a:r>
              <a:rPr lang="en-US" altLang="zh-CN" dirty="0"/>
              <a:t>test</a:t>
            </a:r>
            <a:r>
              <a:rPr lang="zh-CN" altLang="en-US" dirty="0"/>
              <a:t>。多个依赖文件用空格隔开。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7470E5E1-4843-4932-A191-9860DB39C7B3}" type="slidenum">
              <a:rPr lang="en-US" altLang="zh-CN" smtClean="0"/>
              <a:pPr>
                <a:defRPr/>
              </a:pPr>
              <a:t>92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784027716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autoreconf</a:t>
            </a:r>
            <a:r>
              <a:rPr lang="zh-CN" altLang="en-US" dirty="0"/>
              <a:t>是一个</a:t>
            </a:r>
            <a:r>
              <a:rPr lang="en-US" altLang="zh-CN" dirty="0"/>
              <a:t>GNU </a:t>
            </a:r>
            <a:r>
              <a:rPr lang="en-US" altLang="zh-CN" dirty="0" err="1"/>
              <a:t>Autotools</a:t>
            </a:r>
            <a:r>
              <a:rPr lang="zh-CN" altLang="en-US" dirty="0"/>
              <a:t>工具集中的一个命令，用于自动重新生成构建系统的配置脚本和相关文件。</a:t>
            </a:r>
            <a:endParaRPr lang="en-US" altLang="zh-CN" dirty="0"/>
          </a:p>
          <a:p>
            <a:r>
              <a:rPr lang="en-US" altLang="zh-CN" dirty="0"/>
              <a:t>autoreconf</a:t>
            </a:r>
            <a:r>
              <a:rPr lang="zh-CN" altLang="en-US" dirty="0"/>
              <a:t>命令的作用是根据项目中的</a:t>
            </a:r>
            <a:r>
              <a:rPr lang="en-US" altLang="zh-CN" dirty="0"/>
              <a:t>configure.ac</a:t>
            </a:r>
            <a:r>
              <a:rPr lang="zh-CN" altLang="en-US" dirty="0"/>
              <a:t>文件和相关的</a:t>
            </a:r>
            <a:r>
              <a:rPr lang="en-US" altLang="zh-CN" dirty="0"/>
              <a:t>Makefile.am</a:t>
            </a:r>
            <a:r>
              <a:rPr lang="zh-CN" altLang="en-US" dirty="0"/>
              <a:t>文件，自动生成</a:t>
            </a:r>
            <a:r>
              <a:rPr lang="en-US" altLang="zh-CN" dirty="0"/>
              <a:t>configure</a:t>
            </a:r>
            <a:r>
              <a:rPr lang="zh-CN" altLang="en-US" dirty="0"/>
              <a:t>脚本和其他必要的文件。这些文件包括编译器选项、库依赖、安装路径等配置信息，以及用于构建和安装软件的</a:t>
            </a:r>
            <a:r>
              <a:rPr lang="en-US" altLang="zh-CN" dirty="0"/>
              <a:t>Makefile</a:t>
            </a:r>
            <a:r>
              <a:rPr lang="zh-CN" altLang="en-US" dirty="0"/>
              <a:t>。</a:t>
            </a:r>
          </a:p>
          <a:p>
            <a:endParaRPr lang="zh-CN" altLang="en-US" dirty="0"/>
          </a:p>
          <a:p>
            <a:r>
              <a:rPr lang="zh-CN" altLang="en-US" dirty="0"/>
              <a:t>通过运行</a:t>
            </a:r>
            <a:r>
              <a:rPr lang="en-US" altLang="zh-CN" dirty="0"/>
              <a:t>autoreconf</a:t>
            </a:r>
            <a:r>
              <a:rPr lang="zh-CN" altLang="en-US" dirty="0"/>
              <a:t>命令，可以根据项目的配置文件自动生成构建系统所需的文件，以便进行后续的编译和安装操作。这样可以简化构建过程，减少手动配置的工作量，并提高项目的可移植性。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7470E5E1-4843-4932-A191-9860DB39C7B3}" type="slidenum">
              <a:rPr lang="en-US" altLang="zh-CN" smtClean="0"/>
              <a:pPr>
                <a:defRPr/>
              </a:pPr>
              <a:t>93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524623616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7470E5E1-4843-4932-A191-9860DB39C7B3}" type="slidenum">
              <a:rPr lang="en-US" altLang="zh-CN" smtClean="0"/>
              <a:pPr>
                <a:defRPr/>
              </a:pPr>
              <a:t>94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372856619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7470E5E1-4843-4932-A191-9860DB39C7B3}" type="slidenum">
              <a:rPr lang="en-US" altLang="zh-CN" smtClean="0"/>
              <a:pPr>
                <a:defRPr/>
              </a:pPr>
              <a:t>95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83362717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Line 2"/>
          <p:cNvSpPr>
            <a:spLocks noChangeShapeType="1"/>
          </p:cNvSpPr>
          <p:nvPr/>
        </p:nvSpPr>
        <p:spPr bwMode="auto">
          <a:xfrm>
            <a:off x="9753600" y="1066800"/>
            <a:ext cx="0" cy="449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pPr>
              <a:defRPr/>
            </a:pPr>
            <a:endParaRPr lang="zh-CN" altLang="en-US" b="0"/>
          </a:p>
        </p:txBody>
      </p:sp>
      <p:sp>
        <p:nvSpPr>
          <p:cNvPr id="5" name="Line 40"/>
          <p:cNvSpPr>
            <a:spLocks noChangeShapeType="1"/>
          </p:cNvSpPr>
          <p:nvPr/>
        </p:nvSpPr>
        <p:spPr bwMode="auto">
          <a:xfrm>
            <a:off x="406400" y="2819400"/>
            <a:ext cx="10972800" cy="0"/>
          </a:xfrm>
          <a:prstGeom prst="line">
            <a:avLst/>
          </a:prstGeom>
          <a:noFill/>
          <a:ln w="6350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pPr>
              <a:defRPr/>
            </a:pPr>
            <a:endParaRPr lang="zh-CN" altLang="en-US" b="0"/>
          </a:p>
        </p:txBody>
      </p:sp>
      <p:sp>
        <p:nvSpPr>
          <p:cNvPr id="28675" name="Rectangle 3"/>
          <p:cNvSpPr>
            <a:spLocks noGrp="1" noChangeArrowheads="1"/>
          </p:cNvSpPr>
          <p:nvPr>
            <p:ph type="ctrTitle"/>
          </p:nvPr>
        </p:nvSpPr>
        <p:spPr>
          <a:xfrm>
            <a:off x="421217" y="466725"/>
            <a:ext cx="9042400" cy="2133600"/>
          </a:xfrm>
        </p:spPr>
        <p:txBody>
          <a:bodyPr/>
          <a:lstStyle>
            <a:lvl1pPr algn="r">
              <a:defRPr sz="5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28676" name="Rectangle 4"/>
          <p:cNvSpPr>
            <a:spLocks noGrp="1" noChangeArrowheads="1"/>
          </p:cNvSpPr>
          <p:nvPr>
            <p:ph type="subTitle" idx="1"/>
          </p:nvPr>
        </p:nvSpPr>
        <p:spPr>
          <a:xfrm>
            <a:off x="1132417" y="3049588"/>
            <a:ext cx="8331200" cy="2362200"/>
          </a:xfrm>
        </p:spPr>
        <p:txBody>
          <a:bodyPr/>
          <a:lstStyle>
            <a:lvl1pPr marL="0" indent="0" algn="r">
              <a:buFont typeface="Wingdings" pitchFamily="2" charset="2"/>
              <a:buNone/>
              <a:defRPr sz="3200"/>
            </a:lvl1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38" name="Rectangle 5"/>
          <p:cNvSpPr>
            <a:spLocks noGrp="1" noChangeArrowheads="1"/>
          </p:cNvSpPr>
          <p:nvPr>
            <p:ph type="dt" sz="half" idx="10"/>
          </p:nvPr>
        </p:nvSpPr>
        <p:spPr bwMode="auto">
          <a:xfrm>
            <a:off x="609600" y="6248400"/>
            <a:ext cx="2844800" cy="457200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>
              <a:defRPr sz="1000" b="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9" name="Rectangle 6"/>
          <p:cNvSpPr>
            <a:spLocks noGrp="1" noChangeArrowheads="1"/>
          </p:cNvSpPr>
          <p:nvPr>
            <p:ph type="ftr" sz="quarter" idx="11"/>
          </p:nvPr>
        </p:nvSpPr>
        <p:spPr>
          <a:xfrm>
            <a:off x="239184" y="188913"/>
            <a:ext cx="38608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  <p:transition spd="slow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122239"/>
            <a:ext cx="9614859" cy="858837"/>
          </a:xfrm>
        </p:spPr>
        <p:txBody>
          <a:bodyPr/>
          <a:lstStyle>
            <a:lvl1pPr>
              <a:defRPr>
                <a:latin typeface="+mj-ea"/>
                <a:ea typeface="+mj-ea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7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10871B5-850E-4E14-A636-3EC679EBF038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</p:cSld>
  <p:clrMapOvr>
    <a:masterClrMapping/>
  </p:clrMapOvr>
  <p:transition spd="slow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7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7DF4681-0EF9-4093-ADCE-209947C6A470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</p:cSld>
  <p:clrMapOvr>
    <a:masterClrMapping/>
  </p:clrMapOvr>
  <p:transition spd="slow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122239"/>
            <a:ext cx="9614859" cy="858837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09600" y="1719263"/>
            <a:ext cx="5384800" cy="441166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97600" y="1719263"/>
            <a:ext cx="5384800" cy="441166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7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2FDFE95-E975-478F-A645-7C4EB3F7594E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</p:cSld>
  <p:clrMapOvr>
    <a:masterClrMapping/>
  </p:clrMapOvr>
  <p:transition spd="slow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Rectangle 6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" name="Rectangle 7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4E65B35-C933-4A04-A71C-03F9021F5B4F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</p:cSld>
  <p:clrMapOvr>
    <a:masterClrMapping/>
  </p:clrMapOvr>
  <p:transition spd="slow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240565" y="598328"/>
            <a:ext cx="9710869" cy="858837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Rectangle 6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7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BBB0021-1471-4A19-B058-3F89A7DAB666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</p:cSld>
  <p:clrMapOvr>
    <a:masterClrMapping/>
  </p:clrMapOvr>
  <p:transition spd="slow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6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" name="Rectangle 7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00C099A-6552-4724-AD39-B0EE2F003FA2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</p:cSld>
  <p:clrMapOvr>
    <a:masterClrMapping/>
  </p:clrMapOvr>
  <p:transition spd="slow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766734" y="598328"/>
            <a:ext cx="6815666" cy="5527836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7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ACCEEF5-A4E8-4B38-9B9A-645F7197AB0D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</p:cSld>
  <p:clrMapOvr>
    <a:masterClrMapping/>
  </p:clrMapOvr>
  <p:transition spd="slow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7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440781A-A4F2-4A76-904B-091E0D892C1E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</p:cSld>
  <p:clrMapOvr>
    <a:masterClrMapping/>
  </p:clrMapOvr>
  <p:transition spd="slow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7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73C00A0-2C46-4087-9057-200FC475DE87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</p:cSld>
  <p:clrMapOvr>
    <a:masterClrMapping/>
  </p:clrMapOvr>
  <p:transition spd="slow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839200" y="122239"/>
            <a:ext cx="2743200" cy="6008687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09600" y="122239"/>
            <a:ext cx="8026400" cy="6008687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7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ECDF150-94D8-4D32-8C0D-14E98644416A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</p:cSld>
  <p:clrMapOvr>
    <a:masterClrMapping/>
  </p:clrMapOvr>
  <p:transition spd="slow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标题，文本与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122239"/>
            <a:ext cx="9614859" cy="858837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609600" y="1719263"/>
            <a:ext cx="5384800" cy="4411662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97600" y="1719263"/>
            <a:ext cx="5384800" cy="4411662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7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79023B1-0CB4-4C69-A1E8-9B75F5986AF7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</p:cSld>
  <p:clrMapOvr>
    <a:masterClrMapping/>
  </p:clrMapOvr>
  <p:transition spd="slow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AndMedia" preserve="1">
  <p:cSld name="标题，文本与媒体剪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122239"/>
            <a:ext cx="10058400" cy="858837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609600" y="1719263"/>
            <a:ext cx="5384800" cy="4411662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媒体占位符 3"/>
          <p:cNvSpPr>
            <a:spLocks noGrp="1"/>
          </p:cNvSpPr>
          <p:nvPr>
            <p:ph type="media" sz="half" idx="2"/>
          </p:nvPr>
        </p:nvSpPr>
        <p:spPr>
          <a:xfrm>
            <a:off x="6197600" y="1719263"/>
            <a:ext cx="5384800" cy="4411662"/>
          </a:xfrm>
        </p:spPr>
        <p:txBody>
          <a:bodyPr/>
          <a:lstStyle/>
          <a:p>
            <a:pPr lvl="0"/>
            <a:endParaRPr lang="zh-CN" altLang="en-US" noProof="0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7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16F5EE4-F81D-4B65-813D-8973884A9E34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</p:cSld>
  <p:clrMapOvr>
    <a:masterClrMapping/>
  </p:clrMapOvr>
  <p:transition spd="slow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标题和表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122239"/>
            <a:ext cx="10058400" cy="858837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表格占位符 2"/>
          <p:cNvSpPr>
            <a:spLocks noGrp="1"/>
          </p:cNvSpPr>
          <p:nvPr>
            <p:ph type="tbl" idx="1"/>
          </p:nvPr>
        </p:nvSpPr>
        <p:spPr>
          <a:xfrm>
            <a:off x="609600" y="1719263"/>
            <a:ext cx="10972800" cy="4411662"/>
          </a:xfrm>
        </p:spPr>
        <p:txBody>
          <a:bodyPr/>
          <a:lstStyle/>
          <a:p>
            <a:pPr lvl="0"/>
            <a:endParaRPr lang="zh-CN" altLang="en-US" noProof="0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7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614ACCD-D9C7-48A9-AF67-F346CBBA37AF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</p:cSld>
  <p:clrMapOvr>
    <a:masterClrMapping/>
  </p:clrMapOvr>
  <p:transition spd="slow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7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7E199F4-F9C2-47F3-A9CF-C7E61E01A2A8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</p:cSld>
  <p:clrMapOvr>
    <a:masterClrMapping/>
  </p:clrMapOvr>
  <p:transition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7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6CF5370-F617-452E-810F-51450643CFF6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</p:cSld>
  <p:clrMapOvr>
    <a:masterClrMapping/>
  </p:clrMapOvr>
  <p:transition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7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DC2A26A-A11D-4C40-BEE9-C2540F45426C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</p:cSld>
  <p:clrMapOvr>
    <a:masterClrMapping/>
  </p:clrMapOvr>
  <p:transition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09600" y="1719263"/>
            <a:ext cx="5384800" cy="441166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97600" y="1719263"/>
            <a:ext cx="5384800" cy="441166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7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0250AA8-0700-402F-A230-C897B65B06C7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</p:cSld>
  <p:clrMapOvr>
    <a:masterClrMapping/>
  </p:clrMapOvr>
  <p:transition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Rectangle 6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" name="Rectangle 7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78EC45F-5BC3-4AFD-AE53-C02A6CCE0A72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</p:cSld>
  <p:clrMapOvr>
    <a:masterClrMapping/>
  </p:clrMapOvr>
  <p:transition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Rectangle 6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7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CA8214C-F769-43E3-96E2-59F4E44E6C02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</p:cSld>
  <p:clrMapOvr>
    <a:masterClrMapping/>
  </p:clrMapOvr>
  <p:transition/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6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" name="Rectangle 7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6CE68C6-869C-40A5-9B67-E3B41CE595A1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</p:cSld>
  <p:clrMapOvr>
    <a:masterClrMapping/>
  </p:clrMapOvr>
  <p:transition/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1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6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" name="Rectangle 7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6CE68C6-869C-40A5-9B67-E3B41CE595A1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</p:cSld>
  <p:clrMapOvr>
    <a:masterClrMapping/>
  </p:clrMapOvr>
  <p:transition/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7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015DD36-B387-4528-8554-6653607938B2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</p:cSld>
  <p:clrMapOvr>
    <a:masterClrMapping/>
  </p:clrMapOvr>
  <p:transition/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7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983FD14-5D83-42E5-805D-56005BCDE088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</p:cSld>
  <p:clrMapOvr>
    <a:masterClrMapping/>
  </p:clrMapOvr>
  <p:transition/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7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5D4D261-371C-478E-9D92-CC4BEDE0F769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</p:cSld>
  <p:clrMapOvr>
    <a:masterClrMapping/>
  </p:clrMapOvr>
  <p:transition/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839200" y="122239"/>
            <a:ext cx="2743200" cy="6008687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09600" y="122239"/>
            <a:ext cx="8026400" cy="6008687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7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26A5805-CF17-4D74-92E1-6F9D498D634E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2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17.xml"/><Relationship Id="rId7" Type="http://schemas.openxmlformats.org/officeDocument/2006/relationships/slideLayout" Target="../slideLayouts/slideLayout21.xml"/><Relationship Id="rId12" Type="http://schemas.openxmlformats.org/officeDocument/2006/relationships/slideLayout" Target="../slideLayouts/slideLayout26.xml"/><Relationship Id="rId2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5.xml"/><Relationship Id="rId6" Type="http://schemas.openxmlformats.org/officeDocument/2006/relationships/slideLayout" Target="../slideLayouts/slideLayout20.xml"/><Relationship Id="rId11" Type="http://schemas.openxmlformats.org/officeDocument/2006/relationships/slideLayout" Target="../slideLayouts/slideLayout25.xml"/><Relationship Id="rId5" Type="http://schemas.openxmlformats.org/officeDocument/2006/relationships/slideLayout" Target="../slideLayouts/slideLayout19.xml"/><Relationship Id="rId10" Type="http://schemas.openxmlformats.org/officeDocument/2006/relationships/slideLayout" Target="../slideLayouts/slideLayout24.xml"/><Relationship Id="rId4" Type="http://schemas.openxmlformats.org/officeDocument/2006/relationships/slideLayout" Target="../slideLayouts/slideLayout18.xml"/><Relationship Id="rId9" Type="http://schemas.openxmlformats.org/officeDocument/2006/relationships/slideLayout" Target="../slideLayouts/slideLayout2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6">
            <a:lum/>
          </a:blip>
          <a:srcRect/>
          <a:stretch>
            <a:fillRect l="-1000" r="-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63554468-C154-161D-5B6F-CF05EF34F2ED}"/>
              </a:ext>
            </a:extLst>
          </p:cNvPr>
          <p:cNvSpPr/>
          <p:nvPr userDrawn="1"/>
        </p:nvSpPr>
        <p:spPr>
          <a:xfrm>
            <a:off x="533400" y="579120"/>
            <a:ext cx="11125200" cy="5699760"/>
          </a:xfrm>
          <a:prstGeom prst="rect">
            <a:avLst/>
          </a:prstGeom>
          <a:solidFill>
            <a:schemeClr val="bg1"/>
          </a:solidFill>
          <a:ln w="1079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2050" name="Rectangle 3"/>
          <p:cNvSpPr>
            <a:spLocks noGrp="1" noChangeArrowheads="1"/>
          </p:cNvSpPr>
          <p:nvPr>
            <p:ph type="title"/>
          </p:nvPr>
        </p:nvSpPr>
        <p:spPr bwMode="auto">
          <a:xfrm>
            <a:off x="1127448" y="524690"/>
            <a:ext cx="9710869" cy="8588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dirty="0"/>
              <a:t>单击此处编辑母版标题样式</a:t>
            </a:r>
          </a:p>
        </p:txBody>
      </p:sp>
      <p:sp>
        <p:nvSpPr>
          <p:cNvPr id="2051" name="Rectangle 4"/>
          <p:cNvSpPr>
            <a:spLocks noGrp="1" noChangeArrowheads="1"/>
          </p:cNvSpPr>
          <p:nvPr>
            <p:ph type="body" idx="1"/>
          </p:nvPr>
        </p:nvSpPr>
        <p:spPr bwMode="auto">
          <a:xfrm>
            <a:off x="609600" y="1719263"/>
            <a:ext cx="10972800" cy="44116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27654" name="Rectangle 6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533400" y="5802472"/>
            <a:ext cx="3860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>
              <a:defRPr sz="2000" b="0">
                <a:ea typeface="+mn-ea"/>
              </a:defRPr>
            </a:lvl1pPr>
          </a:lstStyle>
          <a:p>
            <a:pPr>
              <a:defRPr/>
            </a:pPr>
            <a:endParaRPr lang="en-US" altLang="zh-CN" dirty="0"/>
          </a:p>
        </p:txBody>
      </p:sp>
      <p:sp>
        <p:nvSpPr>
          <p:cNvPr id="27655" name="Rectangle 7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4799856" y="5802472"/>
            <a:ext cx="2844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600" b="1"/>
            </a:lvl1pPr>
          </a:lstStyle>
          <a:p>
            <a:pPr>
              <a:defRPr/>
            </a:pPr>
            <a:fld id="{F1DF145E-C5AF-4A14-B9F0-BF7FA6800514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46" r:id="rId1"/>
    <p:sldLayoutId id="2147483747" r:id="rId2"/>
    <p:sldLayoutId id="2147483748" r:id="rId3"/>
    <p:sldLayoutId id="2147483749" r:id="rId4"/>
    <p:sldLayoutId id="2147483750" r:id="rId5"/>
    <p:sldLayoutId id="2147483751" r:id="rId6"/>
    <p:sldLayoutId id="2147483752" r:id="rId7"/>
    <p:sldLayoutId id="2147483753" r:id="rId8"/>
    <p:sldLayoutId id="2147483754" r:id="rId9"/>
    <p:sldLayoutId id="2147483755" r:id="rId10"/>
    <p:sldLayoutId id="2147483756" r:id="rId11"/>
    <p:sldLayoutId id="2147483757" r:id="rId12"/>
    <p:sldLayoutId id="2147483758" r:id="rId13"/>
    <p:sldLayoutId id="2147483759" r:id="rId14"/>
  </p:sldLayoutIdLst>
  <p:transition/>
  <p:hf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000" b="1">
          <a:solidFill>
            <a:schemeClr val="tx1"/>
          </a:solidFill>
          <a:latin typeface="+mj-ea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200" b="1">
          <a:solidFill>
            <a:schemeClr val="tx1"/>
          </a:solidFill>
          <a:latin typeface="Arial" charset="0"/>
          <a:ea typeface="黑体" pitchFamily="2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200" b="1">
          <a:solidFill>
            <a:schemeClr val="tx1"/>
          </a:solidFill>
          <a:latin typeface="Arial" charset="0"/>
          <a:ea typeface="黑体" pitchFamily="2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200" b="1">
          <a:solidFill>
            <a:schemeClr val="tx1"/>
          </a:solidFill>
          <a:latin typeface="Arial" charset="0"/>
          <a:ea typeface="黑体" pitchFamily="2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200" b="1">
          <a:solidFill>
            <a:schemeClr val="tx1"/>
          </a:solidFill>
          <a:latin typeface="Arial" charset="0"/>
          <a:ea typeface="黑体" pitchFamily="2" charset="-122"/>
        </a:defRPr>
      </a:lvl5pPr>
      <a:lvl6pPr marL="457200" algn="l" rtl="0" fontAlgn="base">
        <a:spcBef>
          <a:spcPct val="0"/>
        </a:spcBef>
        <a:spcAft>
          <a:spcPct val="0"/>
        </a:spcAft>
        <a:defRPr sz="4200" b="1">
          <a:solidFill>
            <a:schemeClr val="tx1"/>
          </a:solidFill>
          <a:latin typeface="Arial" charset="0"/>
          <a:ea typeface="黑体" pitchFamily="2" charset="-122"/>
        </a:defRPr>
      </a:lvl6pPr>
      <a:lvl7pPr marL="914400" algn="l" rtl="0" fontAlgn="base">
        <a:spcBef>
          <a:spcPct val="0"/>
        </a:spcBef>
        <a:spcAft>
          <a:spcPct val="0"/>
        </a:spcAft>
        <a:defRPr sz="4200" b="1">
          <a:solidFill>
            <a:schemeClr val="tx1"/>
          </a:solidFill>
          <a:latin typeface="Arial" charset="0"/>
          <a:ea typeface="黑体" pitchFamily="2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sz="4200" b="1">
          <a:solidFill>
            <a:schemeClr val="tx1"/>
          </a:solidFill>
          <a:latin typeface="Arial" charset="0"/>
          <a:ea typeface="黑体" pitchFamily="2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sz="4200" b="1">
          <a:solidFill>
            <a:schemeClr val="tx1"/>
          </a:solidFill>
          <a:latin typeface="Arial" charset="0"/>
          <a:ea typeface="黑体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SzPct val="70000"/>
        <a:buFont typeface="Wingdings" pitchFamily="2" charset="2"/>
        <a:buChar char="l"/>
        <a:defRPr sz="3000" b="1">
          <a:solidFill>
            <a:schemeClr val="tx1"/>
          </a:solidFill>
          <a:latin typeface="+mn-lt"/>
          <a:ea typeface="+mn-ea"/>
          <a:cs typeface="+mn-cs"/>
        </a:defRPr>
      </a:lvl1pPr>
      <a:lvl2pPr marL="692150" indent="-347663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70000"/>
        <a:buFont typeface="Wingdings" pitchFamily="2" charset="2"/>
        <a:buChar char="l"/>
        <a:defRPr sz="2600" b="1">
          <a:solidFill>
            <a:schemeClr val="tx1"/>
          </a:solidFill>
          <a:latin typeface="+mn-lt"/>
          <a:ea typeface="+mn-ea"/>
        </a:defRPr>
      </a:lvl2pPr>
      <a:lvl3pPr marL="987425" indent="-293688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70000"/>
        <a:buFont typeface="Wingdings" pitchFamily="2" charset="2"/>
        <a:buChar char="l"/>
        <a:defRPr sz="2300" b="1">
          <a:solidFill>
            <a:schemeClr val="tx1"/>
          </a:solidFill>
          <a:latin typeface="+mn-lt"/>
          <a:ea typeface="+mn-ea"/>
        </a:defRPr>
      </a:lvl3pPr>
      <a:lvl4pPr marL="1281113" indent="-292100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SzPct val="75000"/>
        <a:buFont typeface="Wingdings" pitchFamily="2" charset="2"/>
        <a:buChar char="§"/>
        <a:defRPr sz="2000" b="1">
          <a:solidFill>
            <a:schemeClr val="tx1"/>
          </a:solidFill>
          <a:latin typeface="+mn-lt"/>
          <a:ea typeface="+mn-ea"/>
        </a:defRPr>
      </a:lvl4pPr>
      <a:lvl5pPr marL="1598613" indent="-315913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80000"/>
        <a:buFont typeface="Wingdings" pitchFamily="2" charset="2"/>
        <a:buChar char="§"/>
        <a:defRPr sz="2000" b="1">
          <a:solidFill>
            <a:schemeClr val="tx1"/>
          </a:solidFill>
          <a:latin typeface="+mn-lt"/>
          <a:ea typeface="+mn-ea"/>
        </a:defRPr>
      </a:lvl5pPr>
      <a:lvl6pPr marL="2055813" indent="-315913" algn="l" rtl="0" fontAlgn="base">
        <a:spcBef>
          <a:spcPct val="20000"/>
        </a:spcBef>
        <a:spcAft>
          <a:spcPct val="0"/>
        </a:spcAft>
        <a:buClr>
          <a:schemeClr val="folHlink"/>
        </a:buClr>
        <a:buSzPct val="80000"/>
        <a:buFont typeface="Wingdings" pitchFamily="2" charset="2"/>
        <a:buChar char="§"/>
        <a:defRPr sz="2000" b="1">
          <a:solidFill>
            <a:schemeClr val="tx1"/>
          </a:solidFill>
          <a:latin typeface="+mn-lt"/>
          <a:ea typeface="+mn-ea"/>
        </a:defRPr>
      </a:lvl6pPr>
      <a:lvl7pPr marL="2513013" indent="-315913" algn="l" rtl="0" fontAlgn="base">
        <a:spcBef>
          <a:spcPct val="20000"/>
        </a:spcBef>
        <a:spcAft>
          <a:spcPct val="0"/>
        </a:spcAft>
        <a:buClr>
          <a:schemeClr val="folHlink"/>
        </a:buClr>
        <a:buSzPct val="80000"/>
        <a:buFont typeface="Wingdings" pitchFamily="2" charset="2"/>
        <a:buChar char="§"/>
        <a:defRPr sz="2000" b="1">
          <a:solidFill>
            <a:schemeClr val="tx1"/>
          </a:solidFill>
          <a:latin typeface="+mn-lt"/>
          <a:ea typeface="+mn-ea"/>
        </a:defRPr>
      </a:lvl7pPr>
      <a:lvl8pPr marL="2970213" indent="-315913" algn="l" rtl="0" fontAlgn="base">
        <a:spcBef>
          <a:spcPct val="20000"/>
        </a:spcBef>
        <a:spcAft>
          <a:spcPct val="0"/>
        </a:spcAft>
        <a:buClr>
          <a:schemeClr val="folHlink"/>
        </a:buClr>
        <a:buSzPct val="80000"/>
        <a:buFont typeface="Wingdings" pitchFamily="2" charset="2"/>
        <a:buChar char="§"/>
        <a:defRPr sz="2000" b="1">
          <a:solidFill>
            <a:schemeClr val="tx1"/>
          </a:solidFill>
          <a:latin typeface="+mn-lt"/>
          <a:ea typeface="+mn-ea"/>
        </a:defRPr>
      </a:lvl8pPr>
      <a:lvl9pPr marL="3427413" indent="-315913" algn="l" rtl="0" fontAlgn="base">
        <a:spcBef>
          <a:spcPct val="20000"/>
        </a:spcBef>
        <a:spcAft>
          <a:spcPct val="0"/>
        </a:spcAft>
        <a:buClr>
          <a:schemeClr val="folHlink"/>
        </a:buClr>
        <a:buSzPct val="80000"/>
        <a:buFont typeface="Wingdings" pitchFamily="2" charset="2"/>
        <a:buChar char="§"/>
        <a:defRPr sz="2000" b="1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3"/>
          <p:cNvSpPr>
            <a:spLocks noGrp="1" noChangeArrowheads="1"/>
          </p:cNvSpPr>
          <p:nvPr>
            <p:ph type="title"/>
          </p:nvPr>
        </p:nvSpPr>
        <p:spPr bwMode="auto">
          <a:xfrm>
            <a:off x="609600" y="122239"/>
            <a:ext cx="10058400" cy="8588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dirty="0"/>
              <a:t>单击此处编辑母版标题样式</a:t>
            </a:r>
          </a:p>
        </p:txBody>
      </p:sp>
      <p:sp>
        <p:nvSpPr>
          <p:cNvPr id="3075" name="Rectangle 4"/>
          <p:cNvSpPr>
            <a:spLocks noGrp="1" noChangeArrowheads="1"/>
          </p:cNvSpPr>
          <p:nvPr>
            <p:ph type="body" idx="1"/>
          </p:nvPr>
        </p:nvSpPr>
        <p:spPr bwMode="auto">
          <a:xfrm>
            <a:off x="609600" y="1719263"/>
            <a:ext cx="10972800" cy="44116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27654" name="Rectangle 6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04800" y="6180138"/>
            <a:ext cx="3860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>
              <a:defRPr sz="2000" b="0">
                <a:ea typeface="+mn-ea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27655" name="Rectangle 7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4705351" y="6240463"/>
            <a:ext cx="2844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600" b="1"/>
            </a:lvl1pPr>
          </a:lstStyle>
          <a:p>
            <a:pPr>
              <a:defRPr/>
            </a:pPr>
            <a:fld id="{49D54238-E30E-46E7-B70F-7CD955956951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35" r:id="rId1"/>
    <p:sldLayoutId id="2147483736" r:id="rId2"/>
    <p:sldLayoutId id="2147483737" r:id="rId3"/>
    <p:sldLayoutId id="2147483738" r:id="rId4"/>
    <p:sldLayoutId id="2147483739" r:id="rId5"/>
    <p:sldLayoutId id="2147483740" r:id="rId6"/>
    <p:sldLayoutId id="2147483741" r:id="rId7"/>
    <p:sldLayoutId id="2147483760" r:id="rId8"/>
    <p:sldLayoutId id="2147483742" r:id="rId9"/>
    <p:sldLayoutId id="2147483743" r:id="rId10"/>
    <p:sldLayoutId id="2147483744" r:id="rId11"/>
    <p:sldLayoutId id="2147483745" r:id="rId12"/>
  </p:sldLayoutIdLst>
  <p:transition/>
  <p:hf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200" b="1">
          <a:solidFill>
            <a:schemeClr val="tx1"/>
          </a:solidFill>
          <a:latin typeface="Arial" charset="0"/>
          <a:ea typeface="宋体" pitchFamily="2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200" b="1">
          <a:solidFill>
            <a:schemeClr val="tx1"/>
          </a:solidFill>
          <a:latin typeface="Arial" charset="0"/>
          <a:ea typeface="宋体" pitchFamily="2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200" b="1">
          <a:solidFill>
            <a:schemeClr val="tx1"/>
          </a:solidFill>
          <a:latin typeface="Arial" charset="0"/>
          <a:ea typeface="宋体" pitchFamily="2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200" b="1">
          <a:solidFill>
            <a:schemeClr val="tx1"/>
          </a:solidFill>
          <a:latin typeface="Arial" charset="0"/>
          <a:ea typeface="宋体" pitchFamily="2" charset="-122"/>
        </a:defRPr>
      </a:lvl5pPr>
      <a:lvl6pPr marL="457200" algn="l" rtl="0" fontAlgn="base">
        <a:spcBef>
          <a:spcPct val="0"/>
        </a:spcBef>
        <a:spcAft>
          <a:spcPct val="0"/>
        </a:spcAft>
        <a:defRPr sz="4200" b="1">
          <a:solidFill>
            <a:schemeClr val="tx1"/>
          </a:solidFill>
          <a:latin typeface="Arial" charset="0"/>
          <a:ea typeface="宋体" pitchFamily="2" charset="-122"/>
        </a:defRPr>
      </a:lvl6pPr>
      <a:lvl7pPr marL="914400" algn="l" rtl="0" fontAlgn="base">
        <a:spcBef>
          <a:spcPct val="0"/>
        </a:spcBef>
        <a:spcAft>
          <a:spcPct val="0"/>
        </a:spcAft>
        <a:defRPr sz="4200" b="1">
          <a:solidFill>
            <a:schemeClr val="tx1"/>
          </a:solidFill>
          <a:latin typeface="Arial" charset="0"/>
          <a:ea typeface="宋体" pitchFamily="2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sz="4200" b="1">
          <a:solidFill>
            <a:schemeClr val="tx1"/>
          </a:solidFill>
          <a:latin typeface="Arial" charset="0"/>
          <a:ea typeface="宋体" pitchFamily="2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sz="4200" b="1">
          <a:solidFill>
            <a:schemeClr val="tx1"/>
          </a:solidFill>
          <a:latin typeface="Arial" charset="0"/>
          <a:ea typeface="宋体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SzPct val="70000"/>
        <a:buFont typeface="Wingdings" pitchFamily="2" charset="2"/>
        <a:buChar char="l"/>
        <a:defRPr sz="30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1pPr>
      <a:lvl2pPr marL="692150" indent="-347663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70000"/>
        <a:buFont typeface="Wingdings" pitchFamily="2" charset="2"/>
        <a:buChar char="l"/>
        <a:defRPr sz="26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marL="987425" indent="-293688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70000"/>
        <a:buFont typeface="Wingdings" pitchFamily="2" charset="2"/>
        <a:buChar char="l"/>
        <a:defRPr sz="23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marL="1281113" indent="-292100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SzPct val="75000"/>
        <a:buFont typeface="Wingdings" pitchFamily="2" charset="2"/>
        <a:buChar char="§"/>
        <a:defRPr sz="20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marL="1598613" indent="-315913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80000"/>
        <a:buFont typeface="Wingdings" pitchFamily="2" charset="2"/>
        <a:buChar char="§"/>
        <a:defRPr sz="20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2055813" indent="-315913" algn="l" rtl="0" fontAlgn="base">
        <a:spcBef>
          <a:spcPct val="20000"/>
        </a:spcBef>
        <a:spcAft>
          <a:spcPct val="0"/>
        </a:spcAft>
        <a:buClr>
          <a:schemeClr val="folHlink"/>
        </a:buClr>
        <a:buSzPct val="80000"/>
        <a:buFont typeface="Wingdings" pitchFamily="2" charset="2"/>
        <a:buChar char="§"/>
        <a:defRPr sz="2000" b="1">
          <a:solidFill>
            <a:schemeClr val="tx1"/>
          </a:solidFill>
          <a:latin typeface="+mn-lt"/>
          <a:ea typeface="+mn-ea"/>
        </a:defRPr>
      </a:lvl6pPr>
      <a:lvl7pPr marL="2513013" indent="-315913" algn="l" rtl="0" fontAlgn="base">
        <a:spcBef>
          <a:spcPct val="20000"/>
        </a:spcBef>
        <a:spcAft>
          <a:spcPct val="0"/>
        </a:spcAft>
        <a:buClr>
          <a:schemeClr val="folHlink"/>
        </a:buClr>
        <a:buSzPct val="80000"/>
        <a:buFont typeface="Wingdings" pitchFamily="2" charset="2"/>
        <a:buChar char="§"/>
        <a:defRPr sz="2000" b="1">
          <a:solidFill>
            <a:schemeClr val="tx1"/>
          </a:solidFill>
          <a:latin typeface="+mn-lt"/>
          <a:ea typeface="+mn-ea"/>
        </a:defRPr>
      </a:lvl7pPr>
      <a:lvl8pPr marL="2970213" indent="-315913" algn="l" rtl="0" fontAlgn="base">
        <a:spcBef>
          <a:spcPct val="20000"/>
        </a:spcBef>
        <a:spcAft>
          <a:spcPct val="0"/>
        </a:spcAft>
        <a:buClr>
          <a:schemeClr val="folHlink"/>
        </a:buClr>
        <a:buSzPct val="80000"/>
        <a:buFont typeface="Wingdings" pitchFamily="2" charset="2"/>
        <a:buChar char="§"/>
        <a:defRPr sz="2000" b="1">
          <a:solidFill>
            <a:schemeClr val="tx1"/>
          </a:solidFill>
          <a:latin typeface="+mn-lt"/>
          <a:ea typeface="+mn-ea"/>
        </a:defRPr>
      </a:lvl8pPr>
      <a:lvl9pPr marL="3427413" indent="-315913" algn="l" rtl="0" fontAlgn="base">
        <a:spcBef>
          <a:spcPct val="20000"/>
        </a:spcBef>
        <a:spcAft>
          <a:spcPct val="0"/>
        </a:spcAft>
        <a:buClr>
          <a:schemeClr val="folHlink"/>
        </a:buClr>
        <a:buSzPct val="80000"/>
        <a:buFont typeface="Wingdings" pitchFamily="2" charset="2"/>
        <a:buChar char="§"/>
        <a:defRPr sz="2000" b="1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7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7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7.xml"/></Relationships>
</file>

<file path=ppt/slides/_rels/slide8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7.xml"/></Relationships>
</file>

<file path=ppt/slides/_rels/slide9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7.xml"/></Relationships>
</file>

<file path=ppt/slides/_rels/slide9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7.xml"/></Relationships>
</file>

<file path=ppt/slides/_rels/slide9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7.xml"/></Relationships>
</file>

<file path=ppt/slides/_rels/slide9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7.xml"/></Relationships>
</file>

<file path=ppt/slides/_rels/slide9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7.xml"/></Relationships>
</file>

<file path=ppt/slides/_rels/slide9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1.png"/></Relationships>
</file>

<file path=ppt/slides/_rels/slide9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emf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5" name="Rectangle 2"/>
          <p:cNvSpPr>
            <a:spLocks noGrp="1" noChangeArrowheads="1"/>
          </p:cNvSpPr>
          <p:nvPr>
            <p:ph type="ctrTitle"/>
          </p:nvPr>
        </p:nvSpPr>
        <p:spPr>
          <a:xfrm>
            <a:off x="1343026" y="1438722"/>
            <a:ext cx="6911975" cy="1846262"/>
          </a:xfrm>
        </p:spPr>
        <p:txBody>
          <a:bodyPr/>
          <a:lstStyle/>
          <a:p>
            <a:pPr algn="ctr" eaLnBrk="1" hangingPunct="1"/>
            <a:r>
              <a:rPr lang="en-US" altLang="zh-CN" sz="5000" dirty="0"/>
              <a:t>    </a:t>
            </a:r>
            <a:r>
              <a:rPr lang="zh-CN" altLang="en-US" sz="5400" dirty="0">
                <a:solidFill>
                  <a:schemeClr val="bg1"/>
                </a:solidFill>
              </a:rPr>
              <a:t>第</a:t>
            </a:r>
            <a:r>
              <a:rPr lang="en-US" altLang="zh-CN" sz="5400" dirty="0">
                <a:solidFill>
                  <a:schemeClr val="bg1"/>
                </a:solidFill>
              </a:rPr>
              <a:t>6</a:t>
            </a:r>
            <a:r>
              <a:rPr lang="zh-CN" altLang="en-US" sz="5400" dirty="0">
                <a:solidFill>
                  <a:schemeClr val="bg1"/>
                </a:solidFill>
              </a:rPr>
              <a:t>章</a:t>
            </a:r>
            <a:br>
              <a:rPr lang="en-US" altLang="zh-CN" sz="5400" dirty="0"/>
            </a:br>
            <a:r>
              <a:rPr lang="en-US" altLang="zh-CN" sz="5400" dirty="0"/>
              <a:t>      </a:t>
            </a:r>
            <a:endParaRPr lang="zh-CN" altLang="en-US" sz="4200" dirty="0"/>
          </a:p>
        </p:txBody>
      </p:sp>
      <p:sp>
        <p:nvSpPr>
          <p:cNvPr id="18436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2279576" y="2778163"/>
            <a:ext cx="6619503" cy="1589707"/>
          </a:xfrm>
        </p:spPr>
        <p:txBody>
          <a:bodyPr/>
          <a:lstStyle/>
          <a:p>
            <a:pPr algn="ctr" eaLnBrk="1" hangingPunct="1"/>
            <a:r>
              <a:rPr lang="en-US" altLang="zh-CN" sz="5400" dirty="0">
                <a:solidFill>
                  <a:schemeClr val="bg1"/>
                </a:solidFill>
                <a:latin typeface="黑体" pitchFamily="2" charset="-122"/>
              </a:rPr>
              <a:t>Linux</a:t>
            </a:r>
            <a:r>
              <a:rPr lang="zh-CN" altLang="en-US" sz="5400" dirty="0">
                <a:solidFill>
                  <a:schemeClr val="bg1"/>
                </a:solidFill>
                <a:latin typeface="黑体" pitchFamily="2" charset="-122"/>
              </a:rPr>
              <a:t>编程基础</a:t>
            </a:r>
          </a:p>
          <a:p>
            <a:pPr algn="ctr" eaLnBrk="1" hangingPunct="1"/>
            <a:endParaRPr lang="en-US" altLang="zh-CN" sz="1000" dirty="0">
              <a:latin typeface="Times New Roman" pitchFamily="18" charset="0"/>
            </a:endParaRPr>
          </a:p>
          <a:p>
            <a:pPr algn="ctr" eaLnBrk="1" hangingPunct="1"/>
            <a:endParaRPr lang="en-US" altLang="zh-CN" sz="3000" dirty="0">
              <a:latin typeface="Times New Roman" pitchFamily="18" charset="0"/>
            </a:endParaRPr>
          </a:p>
        </p:txBody>
      </p:sp>
    </p:spTree>
  </p:cSld>
  <p:clrMapOvr>
    <a:masterClrMapping/>
  </p:clrMapOvr>
  <p:transition spd="slow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991544" y="1628800"/>
            <a:ext cx="7920880" cy="3888432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zh-CN" altLang="en-US" sz="3600" dirty="0"/>
              <a:t>文本编辑器</a:t>
            </a:r>
            <a:endParaRPr lang="en-US" altLang="zh-CN" sz="3600" dirty="0"/>
          </a:p>
          <a:p>
            <a:pPr>
              <a:lnSpc>
                <a:spcPct val="150000"/>
              </a:lnSpc>
            </a:pPr>
            <a:r>
              <a:rPr lang="en-US" altLang="zh-CN" sz="3600" dirty="0"/>
              <a:t>gcc</a:t>
            </a:r>
            <a:r>
              <a:rPr lang="zh-CN" altLang="en-US" sz="3600" dirty="0"/>
              <a:t>编译</a:t>
            </a:r>
            <a:endParaRPr lang="en-US" altLang="zh-CN" sz="3600" dirty="0"/>
          </a:p>
          <a:p>
            <a:pPr>
              <a:lnSpc>
                <a:spcPct val="150000"/>
              </a:lnSpc>
            </a:pPr>
            <a:r>
              <a:rPr lang="en-US" altLang="zh-CN" sz="3600" dirty="0" err="1"/>
              <a:t>gdb</a:t>
            </a:r>
            <a:r>
              <a:rPr lang="zh-CN" altLang="en-US" sz="3600" dirty="0"/>
              <a:t>调试</a:t>
            </a:r>
            <a:endParaRPr lang="en-US" altLang="zh-CN" sz="3600" dirty="0"/>
          </a:p>
          <a:p>
            <a:pPr>
              <a:lnSpc>
                <a:spcPct val="150000"/>
              </a:lnSpc>
            </a:pPr>
            <a:r>
              <a:rPr lang="en-US" altLang="zh-CN" sz="3600" dirty="0"/>
              <a:t>makefile</a:t>
            </a:r>
            <a:r>
              <a:rPr lang="zh-CN" altLang="en-US" sz="3600" dirty="0"/>
              <a:t>文件</a:t>
            </a:r>
            <a:endParaRPr lang="en-US" altLang="zh-CN" sz="3600" dirty="0"/>
          </a:p>
        </p:txBody>
      </p:sp>
      <p:sp>
        <p:nvSpPr>
          <p:cNvPr id="6" name="Rectangle 2"/>
          <p:cNvSpPr>
            <a:spLocks noGrp="1" noChangeArrowheads="1"/>
          </p:cNvSpPr>
          <p:nvPr>
            <p:ph type="title"/>
          </p:nvPr>
        </p:nvSpPr>
        <p:spPr>
          <a:xfrm>
            <a:off x="1991544" y="620688"/>
            <a:ext cx="7761288" cy="858838"/>
          </a:xfrm>
        </p:spPr>
        <p:txBody>
          <a:bodyPr/>
          <a:lstStyle/>
          <a:p>
            <a:pPr eaLnBrk="1" hangingPunct="1"/>
            <a:r>
              <a:rPr lang="zh-CN" altLang="en-US" sz="4600" dirty="0"/>
              <a:t>本章内容</a:t>
            </a: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110871B5-850E-4E14-A636-3EC679EBF038}" type="slidenum">
              <a:rPr lang="en-US" altLang="zh-CN" smtClean="0"/>
              <a:pPr>
                <a:defRPr/>
              </a:pPr>
              <a:t>2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290484844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28" name="Rectangle 8"/>
          <p:cNvSpPr>
            <a:spLocks noChangeArrowheads="1"/>
          </p:cNvSpPr>
          <p:nvPr/>
        </p:nvSpPr>
        <p:spPr bwMode="auto">
          <a:xfrm>
            <a:off x="1919536" y="548729"/>
            <a:ext cx="8064500" cy="10080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469900" indent="-469900"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Char char="o"/>
              <a:defRPr sz="3000"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1pPr>
            <a:lvl2pPr marL="908050" indent="-436563"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Char char="n"/>
              <a:defRPr sz="2600"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2pPr>
            <a:lvl3pPr marL="1304925" indent="-395288"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Char char="o"/>
              <a:defRPr sz="2300"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3pPr>
            <a:lvl4pPr marL="1693863" indent="-387350"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4pPr>
            <a:lvl5pPr marL="2093913" indent="-398463">
              <a:spcBef>
                <a:spcPct val="25000"/>
              </a:spcBef>
              <a:buClr>
                <a:schemeClr val="accent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5pPr>
            <a:lvl6pPr marL="2551113" indent="-398463" fontAlgn="base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6pPr>
            <a:lvl7pPr marL="3008313" indent="-398463" fontAlgn="base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7pPr>
            <a:lvl8pPr marL="3465513" indent="-398463" fontAlgn="base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8pPr>
            <a:lvl9pPr marL="3922713" indent="-398463" fontAlgn="base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9pPr>
          </a:lstStyle>
          <a:p>
            <a:pPr algn="ctr">
              <a:buFont typeface="Wingdings" pitchFamily="2" charset="2"/>
              <a:buNone/>
            </a:pPr>
            <a:r>
              <a:rPr lang="en-US" altLang="zh-CN" sz="4000" dirty="0">
                <a:latin typeface="+mj-lt"/>
                <a:ea typeface="+mj-ea"/>
                <a:cs typeface="+mj-cs"/>
              </a:rPr>
              <a:t>Linux</a:t>
            </a:r>
            <a:r>
              <a:rPr lang="zh-CN" altLang="en-US" sz="4000" dirty="0">
                <a:latin typeface="+mj-ea"/>
                <a:ea typeface="+mj-ea"/>
              </a:rPr>
              <a:t>编程 </a:t>
            </a:r>
          </a:p>
        </p:txBody>
      </p:sp>
      <p:sp>
        <p:nvSpPr>
          <p:cNvPr id="133130" name="Rectangle 10"/>
          <p:cNvSpPr>
            <a:spLocks noGrp="1" noChangeArrowheads="1"/>
          </p:cNvSpPr>
          <p:nvPr>
            <p:ph type="body" idx="1"/>
          </p:nvPr>
        </p:nvSpPr>
        <p:spPr>
          <a:xfrm>
            <a:off x="1127448" y="1296144"/>
            <a:ext cx="10081120" cy="4963528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kumimoji="1" lang="zh-CN" altLang="en-US" sz="2600" dirty="0"/>
              <a:t>多数</a:t>
            </a:r>
            <a:r>
              <a:rPr kumimoji="1" lang="en-US" altLang="zh-CN" sz="2600" dirty="0"/>
              <a:t>Linux</a:t>
            </a:r>
            <a:r>
              <a:rPr kumimoji="1" lang="zh-CN" altLang="en-US" sz="2600" dirty="0"/>
              <a:t>软件是经过自由软件基金会（</a:t>
            </a:r>
            <a:r>
              <a:rPr kumimoji="1" lang="en-US" altLang="zh-CN" sz="2600" dirty="0"/>
              <a:t>Free Software Foundation</a:t>
            </a:r>
            <a:r>
              <a:rPr kumimoji="1" lang="zh-CN" altLang="en-US" sz="2600" dirty="0"/>
              <a:t>）提供的</a:t>
            </a:r>
            <a:r>
              <a:rPr kumimoji="1" lang="en-US" altLang="zh-CN" sz="2600" dirty="0"/>
              <a:t>GNU</a:t>
            </a:r>
            <a:r>
              <a:rPr kumimoji="1" lang="zh-CN" altLang="en-US" sz="2600" dirty="0"/>
              <a:t>公开认证授权的，因而被称作</a:t>
            </a:r>
            <a:r>
              <a:rPr kumimoji="1" lang="en-US" altLang="zh-CN" sz="2600" dirty="0"/>
              <a:t>GNU</a:t>
            </a:r>
            <a:r>
              <a:rPr kumimoji="1" lang="zh-CN" altLang="en-US" sz="2600" dirty="0"/>
              <a:t>软件。许多流行的</a:t>
            </a:r>
            <a:r>
              <a:rPr kumimoji="1" lang="en-US" altLang="zh-CN" sz="2600" dirty="0"/>
              <a:t>Linux</a:t>
            </a:r>
            <a:r>
              <a:rPr kumimoji="1" lang="zh-CN" altLang="en-US" sz="2600" dirty="0"/>
              <a:t>实用程序如</a:t>
            </a:r>
            <a:r>
              <a:rPr kumimoji="1" lang="en-US" altLang="zh-CN" sz="2600" dirty="0"/>
              <a:t>C</a:t>
            </a:r>
            <a:r>
              <a:rPr kumimoji="1" lang="zh-CN" altLang="en-US" sz="2600" dirty="0"/>
              <a:t>编译器、</a:t>
            </a:r>
            <a:r>
              <a:rPr kumimoji="1" lang="en-US" altLang="zh-CN" sz="2600" dirty="0"/>
              <a:t>shell</a:t>
            </a:r>
            <a:r>
              <a:rPr kumimoji="1" lang="zh-CN" altLang="en-US" sz="2600" dirty="0"/>
              <a:t>和编辑器都是</a:t>
            </a:r>
            <a:r>
              <a:rPr kumimoji="1" lang="en-US" altLang="zh-CN" sz="2600" dirty="0"/>
              <a:t>GNU</a:t>
            </a:r>
            <a:r>
              <a:rPr kumimoji="1" lang="zh-CN" altLang="en-US" sz="2600" dirty="0"/>
              <a:t>软件应用程序。 </a:t>
            </a:r>
            <a:endParaRPr kumimoji="1" lang="en-US" altLang="zh-CN" sz="2600" dirty="0"/>
          </a:p>
          <a:p>
            <a:pPr>
              <a:lnSpc>
                <a:spcPct val="150000"/>
              </a:lnSpc>
            </a:pPr>
            <a:r>
              <a:rPr kumimoji="1" lang="en-US" altLang="zh-CN" sz="2600" dirty="0"/>
              <a:t>Linux</a:t>
            </a:r>
            <a:r>
              <a:rPr kumimoji="1" lang="zh-CN" altLang="en-US" sz="2600" dirty="0"/>
              <a:t>发行版中包含很多文本编辑器及软件开发工具，很多是基于</a:t>
            </a:r>
            <a:r>
              <a:rPr kumimoji="1" lang="en-US" altLang="zh-CN" sz="2600" dirty="0"/>
              <a:t>C</a:t>
            </a:r>
            <a:r>
              <a:rPr kumimoji="1" lang="zh-CN" altLang="en-US" sz="2600" dirty="0"/>
              <a:t>和</a:t>
            </a:r>
            <a:r>
              <a:rPr kumimoji="1" lang="en-US" altLang="zh-CN" sz="2600" dirty="0"/>
              <a:t>C++</a:t>
            </a:r>
            <a:r>
              <a:rPr kumimoji="1" lang="zh-CN" altLang="en-US" sz="2600" dirty="0"/>
              <a:t>等开发的。</a:t>
            </a:r>
            <a:endParaRPr kumimoji="1" lang="en-US" altLang="zh-CN" sz="2600" dirty="0"/>
          </a:p>
          <a:p>
            <a:pPr>
              <a:lnSpc>
                <a:spcPct val="150000"/>
              </a:lnSpc>
            </a:pPr>
            <a:r>
              <a:rPr kumimoji="1" lang="en-US" altLang="zh-CN" sz="2600" dirty="0"/>
              <a:t>Linux</a:t>
            </a:r>
            <a:r>
              <a:rPr kumimoji="1" lang="zh-CN" altLang="en-US" sz="2600" dirty="0"/>
              <a:t>下的程序设计与其他环境中的程序设计一样，主要涉及</a:t>
            </a:r>
            <a:r>
              <a:rPr kumimoji="1" lang="zh-CN" altLang="en-US" sz="2600" dirty="0">
                <a:solidFill>
                  <a:srgbClr val="0000CC"/>
                </a:solidFill>
              </a:rPr>
              <a:t>编辑器</a:t>
            </a:r>
            <a:r>
              <a:rPr kumimoji="1" lang="zh-CN" altLang="en-US" sz="2600" dirty="0"/>
              <a:t>、</a:t>
            </a:r>
            <a:r>
              <a:rPr kumimoji="1" lang="zh-CN" altLang="en-US" sz="2600" dirty="0">
                <a:solidFill>
                  <a:srgbClr val="0000CC"/>
                </a:solidFill>
              </a:rPr>
              <a:t>编译链接器</a:t>
            </a:r>
            <a:r>
              <a:rPr kumimoji="1" lang="zh-CN" altLang="en-US" sz="2600" dirty="0"/>
              <a:t>、</a:t>
            </a:r>
            <a:r>
              <a:rPr kumimoji="1" lang="zh-CN" altLang="en-US" sz="2600" dirty="0">
                <a:solidFill>
                  <a:srgbClr val="0000CC"/>
                </a:solidFill>
              </a:rPr>
              <a:t>调试器</a:t>
            </a:r>
            <a:r>
              <a:rPr kumimoji="1" lang="zh-CN" altLang="en-US" sz="2600" dirty="0"/>
              <a:t>及</a:t>
            </a:r>
            <a:r>
              <a:rPr kumimoji="1" lang="zh-CN" altLang="en-US" sz="2600" dirty="0">
                <a:solidFill>
                  <a:srgbClr val="0000CC"/>
                </a:solidFill>
              </a:rPr>
              <a:t>项目管理工具</a:t>
            </a:r>
            <a:r>
              <a:rPr kumimoji="1" lang="zh-CN" altLang="en-US" sz="2600" dirty="0"/>
              <a:t>。</a:t>
            </a: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110871B5-850E-4E14-A636-3EC679EBF038}" type="slidenum">
              <a:rPr lang="en-US" altLang="zh-CN" smtClean="0"/>
              <a:pPr>
                <a:defRPr/>
              </a:pPr>
              <a:t>3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238029224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300" name="Text Box 4"/>
          <p:cNvSpPr txBox="1">
            <a:spLocks noChangeArrowheads="1"/>
          </p:cNvSpPr>
          <p:nvPr/>
        </p:nvSpPr>
        <p:spPr bwMode="auto">
          <a:xfrm>
            <a:off x="1199456" y="1511840"/>
            <a:ext cx="9937103" cy="393338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algn="l">
              <a:spcBef>
                <a:spcPct val="20000"/>
              </a:spcBef>
              <a:buFont typeface="Wingdings" pitchFamily="2" charset="2"/>
              <a:buChar char="Ø"/>
            </a:pPr>
            <a:r>
              <a:rPr kumimoji="1" lang="zh-CN" altLang="en-US" sz="2600" dirty="0">
                <a:solidFill>
                  <a:srgbClr val="CC0099"/>
                </a:solidFill>
                <a:latin typeface="+mn-ea"/>
                <a:ea typeface="+mn-ea"/>
              </a:rPr>
              <a:t>编辑器</a:t>
            </a:r>
            <a:r>
              <a:rPr kumimoji="1" lang="en-US" altLang="zh-CN" sz="2600" dirty="0">
                <a:latin typeface="+mn-ea"/>
                <a:ea typeface="+mn-ea"/>
              </a:rPr>
              <a:t>——Linux</a:t>
            </a:r>
            <a:r>
              <a:rPr kumimoji="1" lang="zh-CN" altLang="en-US" sz="2600" dirty="0">
                <a:latin typeface="+mn-ea"/>
                <a:ea typeface="+mn-ea"/>
              </a:rPr>
              <a:t>中最常用的编辑器有</a:t>
            </a:r>
            <a:r>
              <a:rPr kumimoji="1" lang="en-US" altLang="zh-CN" sz="2600" dirty="0">
                <a:latin typeface="+mn-ea"/>
                <a:ea typeface="+mn-ea"/>
              </a:rPr>
              <a:t>Vi</a:t>
            </a:r>
            <a:r>
              <a:rPr kumimoji="1" lang="zh-CN" altLang="en-US" sz="2600" dirty="0">
                <a:latin typeface="+mn-ea"/>
                <a:ea typeface="+mn-ea"/>
              </a:rPr>
              <a:t>（</a:t>
            </a:r>
            <a:r>
              <a:rPr kumimoji="1" lang="en-US" altLang="zh-CN" sz="2600" dirty="0">
                <a:latin typeface="+mn-ea"/>
                <a:ea typeface="+mn-ea"/>
              </a:rPr>
              <a:t>Vim</a:t>
            </a:r>
            <a:r>
              <a:rPr kumimoji="1" lang="zh-CN" altLang="en-US" sz="2600" dirty="0">
                <a:latin typeface="+mn-ea"/>
                <a:ea typeface="+mn-ea"/>
              </a:rPr>
              <a:t>）和 </a:t>
            </a:r>
            <a:r>
              <a:rPr kumimoji="1" lang="en-US" altLang="zh-CN" sz="2600" dirty="0">
                <a:latin typeface="+mn-ea"/>
                <a:ea typeface="+mn-ea"/>
              </a:rPr>
              <a:t>Emacs</a:t>
            </a:r>
            <a:r>
              <a:rPr kumimoji="1" lang="zh-CN" altLang="en-US" sz="2600" dirty="0">
                <a:latin typeface="+mn-ea"/>
                <a:ea typeface="+mn-ea"/>
              </a:rPr>
              <a:t>，它们功能强大，使用方便，广受编程爱好者的喜爱。</a:t>
            </a:r>
          </a:p>
          <a:p>
            <a:pPr algn="l">
              <a:spcBef>
                <a:spcPct val="20000"/>
              </a:spcBef>
              <a:buFont typeface="Wingdings" pitchFamily="2" charset="2"/>
              <a:buChar char="Ø"/>
            </a:pPr>
            <a:r>
              <a:rPr kumimoji="1" lang="zh-CN" altLang="en-US" sz="2600" dirty="0">
                <a:solidFill>
                  <a:srgbClr val="CC0099"/>
                </a:solidFill>
                <a:latin typeface="+mn-ea"/>
                <a:ea typeface="+mn-ea"/>
              </a:rPr>
              <a:t>编译链接器</a:t>
            </a:r>
            <a:r>
              <a:rPr kumimoji="1" lang="en-US" altLang="zh-CN" sz="2600" dirty="0">
                <a:latin typeface="+mn-ea"/>
                <a:ea typeface="+mn-ea"/>
              </a:rPr>
              <a:t>——</a:t>
            </a:r>
            <a:r>
              <a:rPr kumimoji="1" lang="zh-CN" altLang="en-US" sz="2600" dirty="0">
                <a:latin typeface="+mn-ea"/>
                <a:ea typeface="+mn-ea"/>
              </a:rPr>
              <a:t>在</a:t>
            </a:r>
            <a:r>
              <a:rPr kumimoji="1" lang="en-US" altLang="zh-CN" sz="2600" dirty="0">
                <a:latin typeface="+mn-ea"/>
                <a:ea typeface="+mn-ea"/>
              </a:rPr>
              <a:t>Linux</a:t>
            </a:r>
            <a:r>
              <a:rPr kumimoji="1" lang="zh-CN" altLang="en-US" sz="2600" dirty="0">
                <a:latin typeface="+mn-ea"/>
                <a:ea typeface="+mn-ea"/>
              </a:rPr>
              <a:t>中，最常用的编译器是</a:t>
            </a:r>
            <a:r>
              <a:rPr kumimoji="1" lang="en-US" altLang="zh-CN" sz="2600" dirty="0">
                <a:latin typeface="+mn-ea"/>
                <a:ea typeface="+mn-ea"/>
              </a:rPr>
              <a:t>Gcc</a:t>
            </a:r>
            <a:r>
              <a:rPr kumimoji="1" lang="zh-CN" altLang="en-US" sz="2600" dirty="0">
                <a:latin typeface="+mn-ea"/>
                <a:ea typeface="+mn-ea"/>
              </a:rPr>
              <a:t>编译器。</a:t>
            </a:r>
          </a:p>
          <a:p>
            <a:pPr algn="l">
              <a:spcBef>
                <a:spcPct val="20000"/>
              </a:spcBef>
              <a:buFont typeface="Wingdings" pitchFamily="2" charset="2"/>
              <a:buChar char="Ø"/>
            </a:pPr>
            <a:r>
              <a:rPr kumimoji="1" lang="zh-CN" altLang="en-US" sz="2600" dirty="0">
                <a:solidFill>
                  <a:srgbClr val="CC0099"/>
                </a:solidFill>
                <a:latin typeface="+mn-ea"/>
                <a:ea typeface="+mn-ea"/>
              </a:rPr>
              <a:t>调试器</a:t>
            </a:r>
            <a:r>
              <a:rPr kumimoji="1" lang="en-US" altLang="zh-CN" sz="2600" dirty="0">
                <a:latin typeface="+mn-ea"/>
                <a:ea typeface="+mn-ea"/>
              </a:rPr>
              <a:t>——Gdb</a:t>
            </a:r>
            <a:r>
              <a:rPr kumimoji="1" lang="zh-CN" altLang="en-US" sz="2600" dirty="0">
                <a:latin typeface="+mn-ea"/>
                <a:ea typeface="+mn-ea"/>
              </a:rPr>
              <a:t>是绝大多数</a:t>
            </a:r>
            <a:r>
              <a:rPr kumimoji="1" lang="en-US" altLang="zh-CN" sz="2600" dirty="0">
                <a:latin typeface="+mn-ea"/>
                <a:ea typeface="+mn-ea"/>
              </a:rPr>
              <a:t>Linux </a:t>
            </a:r>
            <a:r>
              <a:rPr kumimoji="1" lang="zh-CN" altLang="en-US" sz="2600" dirty="0">
                <a:latin typeface="+mn-ea"/>
                <a:ea typeface="+mn-ea"/>
              </a:rPr>
              <a:t>开发人员所使用的调试器，它可以方便地设置断点、单步跟踪等，足以满足开发人员的需要。</a:t>
            </a:r>
          </a:p>
          <a:p>
            <a:pPr algn="l">
              <a:spcBef>
                <a:spcPct val="20000"/>
              </a:spcBef>
              <a:buFont typeface="Wingdings" pitchFamily="2" charset="2"/>
              <a:buChar char="Ø"/>
            </a:pPr>
            <a:r>
              <a:rPr kumimoji="1" lang="zh-CN" altLang="en-US" sz="2600" dirty="0">
                <a:solidFill>
                  <a:srgbClr val="CC0099"/>
                </a:solidFill>
                <a:latin typeface="+mn-ea"/>
                <a:ea typeface="+mn-ea"/>
              </a:rPr>
              <a:t>项目管理器</a:t>
            </a:r>
            <a:r>
              <a:rPr kumimoji="1" lang="en-US" altLang="zh-CN" sz="2600" dirty="0">
                <a:latin typeface="+mn-ea"/>
                <a:ea typeface="+mn-ea"/>
              </a:rPr>
              <a:t>——Linux</a:t>
            </a:r>
            <a:r>
              <a:rPr kumimoji="1" lang="zh-CN" altLang="en-US" sz="2600" dirty="0">
                <a:latin typeface="+mn-ea"/>
                <a:ea typeface="+mn-ea"/>
              </a:rPr>
              <a:t>中的项目管理器“</a:t>
            </a:r>
            <a:r>
              <a:rPr kumimoji="1" lang="en-US" altLang="zh-CN" sz="2600" dirty="0">
                <a:latin typeface="+mn-ea"/>
                <a:ea typeface="+mn-ea"/>
              </a:rPr>
              <a:t>make”</a:t>
            </a:r>
            <a:r>
              <a:rPr kumimoji="1" lang="zh-CN" altLang="en-US" sz="2600" dirty="0">
                <a:latin typeface="+mn-ea"/>
                <a:ea typeface="+mn-ea"/>
              </a:rPr>
              <a:t>有些类似于</a:t>
            </a:r>
            <a:r>
              <a:rPr kumimoji="1" lang="en-US" altLang="zh-CN" sz="2600" dirty="0">
                <a:latin typeface="+mn-ea"/>
                <a:ea typeface="+mn-ea"/>
              </a:rPr>
              <a:t>Windows</a:t>
            </a:r>
            <a:r>
              <a:rPr kumimoji="1" lang="zh-CN" altLang="en-US" sz="2600" dirty="0">
                <a:latin typeface="+mn-ea"/>
                <a:ea typeface="+mn-ea"/>
              </a:rPr>
              <a:t>中</a:t>
            </a:r>
            <a:r>
              <a:rPr kumimoji="1" lang="en-US" altLang="zh-CN" sz="2600" dirty="0">
                <a:latin typeface="+mn-ea"/>
                <a:ea typeface="+mn-ea"/>
              </a:rPr>
              <a:t>Visual C++</a:t>
            </a:r>
            <a:r>
              <a:rPr kumimoji="1" lang="zh-CN" altLang="en-US" sz="2600" dirty="0">
                <a:latin typeface="+mn-ea"/>
                <a:ea typeface="+mn-ea"/>
              </a:rPr>
              <a:t>里的“工程”，它是一种控制编译或者重复编译软件的工具，使程序员能够把精力集中在代码的编写上而不是在源代码的组织上。 </a:t>
            </a: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700C099A-6552-4724-AD39-B0EE2F003FA2}" type="slidenum">
              <a:rPr lang="en-US" altLang="zh-CN" smtClean="0"/>
              <a:pPr>
                <a:defRPr/>
              </a:pPr>
              <a:t>4</a:t>
            </a:fld>
            <a:endParaRPr lang="en-US" altLang="zh-CN"/>
          </a:p>
        </p:txBody>
      </p:sp>
      <p:sp>
        <p:nvSpPr>
          <p:cNvPr id="4" name="Rectangle 8"/>
          <p:cNvSpPr>
            <a:spLocks noChangeArrowheads="1"/>
          </p:cNvSpPr>
          <p:nvPr/>
        </p:nvSpPr>
        <p:spPr bwMode="auto">
          <a:xfrm>
            <a:off x="1919536" y="579975"/>
            <a:ext cx="8064500" cy="85985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469900" indent="-469900"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Char char="o"/>
              <a:defRPr sz="3000"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1pPr>
            <a:lvl2pPr marL="908050" indent="-436563"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Char char="n"/>
              <a:defRPr sz="2600"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2pPr>
            <a:lvl3pPr marL="1304925" indent="-395288"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Char char="o"/>
              <a:defRPr sz="2300"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3pPr>
            <a:lvl4pPr marL="1693863" indent="-387350"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4pPr>
            <a:lvl5pPr marL="2093913" indent="-398463">
              <a:spcBef>
                <a:spcPct val="25000"/>
              </a:spcBef>
              <a:buClr>
                <a:schemeClr val="accent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5pPr>
            <a:lvl6pPr marL="2551113" indent="-398463" fontAlgn="base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6pPr>
            <a:lvl7pPr marL="3008313" indent="-398463" fontAlgn="base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7pPr>
            <a:lvl8pPr marL="3465513" indent="-398463" fontAlgn="base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8pPr>
            <a:lvl9pPr marL="3922713" indent="-398463" fontAlgn="base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9pPr>
          </a:lstStyle>
          <a:p>
            <a:pPr algn="ctr">
              <a:buFont typeface="Wingdings" pitchFamily="2" charset="2"/>
              <a:buNone/>
            </a:pPr>
            <a:r>
              <a:rPr lang="en-US" altLang="zh-CN" sz="4000" dirty="0">
                <a:latin typeface="+mj-lt"/>
                <a:ea typeface="+mj-ea"/>
                <a:cs typeface="+mj-cs"/>
              </a:rPr>
              <a:t>Linux</a:t>
            </a:r>
            <a:r>
              <a:rPr lang="zh-CN" altLang="en-US" sz="4000" dirty="0">
                <a:latin typeface="+mj-ea"/>
                <a:ea typeface="+mj-ea"/>
              </a:rPr>
              <a:t>编程 </a:t>
            </a:r>
          </a:p>
        </p:txBody>
      </p:sp>
    </p:spTree>
    <p:extLst>
      <p:ext uri="{BB962C8B-B14F-4D97-AF65-F5344CB8AC3E}">
        <p14:creationId xmlns:p14="http://schemas.microsoft.com/office/powerpoint/2010/main" val="158843581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058" name="Rectangle 2"/>
          <p:cNvSpPr>
            <a:spLocks noGrp="1" noChangeArrowheads="1"/>
          </p:cNvSpPr>
          <p:nvPr>
            <p:ph type="title"/>
          </p:nvPr>
        </p:nvSpPr>
        <p:spPr>
          <a:xfrm>
            <a:off x="609600" y="553939"/>
            <a:ext cx="10814992" cy="858837"/>
          </a:xfrm>
        </p:spPr>
        <p:txBody>
          <a:bodyPr/>
          <a:lstStyle/>
          <a:p>
            <a:pPr>
              <a:spcBef>
                <a:spcPct val="20000"/>
              </a:spcBef>
            </a:pPr>
            <a:r>
              <a:rPr lang="en-US" altLang="zh-CN" dirty="0">
                <a:latin typeface="+mj-lt"/>
              </a:rPr>
              <a:t>6.1</a:t>
            </a:r>
            <a:r>
              <a:rPr kumimoji="1" lang="en-US" altLang="zh-CN" dirty="0"/>
              <a:t> </a:t>
            </a:r>
            <a:r>
              <a:rPr kumimoji="1" lang="zh-CN" altLang="en-US" dirty="0"/>
              <a:t>文本编辑器</a:t>
            </a:r>
            <a:r>
              <a:rPr lang="en-US" altLang="zh-CN" dirty="0">
                <a:latin typeface="+mj-lt"/>
              </a:rPr>
              <a:t>vim</a:t>
            </a:r>
          </a:p>
        </p:txBody>
      </p:sp>
      <p:sp>
        <p:nvSpPr>
          <p:cNvPr id="30105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199456" y="1386682"/>
            <a:ext cx="10009112" cy="4411662"/>
          </a:xfrm>
        </p:spPr>
        <p:txBody>
          <a:bodyPr/>
          <a:lstStyle/>
          <a:p>
            <a:pPr>
              <a:lnSpc>
                <a:spcPct val="120000"/>
              </a:lnSpc>
            </a:pPr>
            <a:r>
              <a:rPr kumimoji="1" lang="en-US" altLang="zh-CN" sz="2600" dirty="0">
                <a:latin typeface="+mn-ea"/>
              </a:rPr>
              <a:t>Vim</a:t>
            </a:r>
            <a:r>
              <a:rPr kumimoji="1" lang="zh-CN" altLang="en-US" sz="2600" dirty="0">
                <a:latin typeface="+mn-ea"/>
              </a:rPr>
              <a:t>编辑器是一个可视化的编辑器，是</a:t>
            </a:r>
            <a:r>
              <a:rPr kumimoji="1" lang="en-US" altLang="zh-CN" sz="2600" dirty="0">
                <a:latin typeface="+mn-ea"/>
              </a:rPr>
              <a:t>Vi</a:t>
            </a:r>
            <a:r>
              <a:rPr kumimoji="1" lang="zh-CN" altLang="en-US" sz="2600" dirty="0">
                <a:latin typeface="+mn-ea"/>
              </a:rPr>
              <a:t>的一个增强版本，有彩色和高亮的特征。</a:t>
            </a:r>
            <a:endParaRPr kumimoji="1" lang="en-US" altLang="zh-CN" sz="2600" dirty="0">
              <a:latin typeface="+mn-ea"/>
            </a:endParaRPr>
          </a:p>
          <a:p>
            <a:pPr>
              <a:lnSpc>
                <a:spcPct val="120000"/>
              </a:lnSpc>
            </a:pPr>
            <a:r>
              <a:rPr kumimoji="1" lang="en-US" altLang="zh-CN" sz="2600" dirty="0">
                <a:latin typeface="+mn-ea"/>
              </a:rPr>
              <a:t>vim</a:t>
            </a:r>
            <a:r>
              <a:rPr kumimoji="1" lang="zh-CN" altLang="en-US" sz="2600" dirty="0">
                <a:latin typeface="+mn-ea"/>
              </a:rPr>
              <a:t>编辑器的工作模式包括三种：</a:t>
            </a:r>
          </a:p>
          <a:p>
            <a:pPr lvl="1">
              <a:lnSpc>
                <a:spcPct val="120000"/>
              </a:lnSpc>
            </a:pPr>
            <a:r>
              <a:rPr kumimoji="1" lang="zh-CN" altLang="en-US" b="1" dirty="0">
                <a:solidFill>
                  <a:srgbClr val="CC0099"/>
                </a:solidFill>
                <a:latin typeface="+mn-ea"/>
              </a:rPr>
              <a:t>命令</a:t>
            </a:r>
            <a:r>
              <a:rPr kumimoji="1" lang="zh-CN" altLang="en-US" dirty="0">
                <a:solidFill>
                  <a:srgbClr val="CC0099"/>
                </a:solidFill>
                <a:latin typeface="+mn-ea"/>
              </a:rPr>
              <a:t>行</a:t>
            </a:r>
            <a:r>
              <a:rPr kumimoji="1" lang="zh-CN" altLang="en-US" b="1" dirty="0">
                <a:solidFill>
                  <a:srgbClr val="CC0099"/>
                </a:solidFill>
                <a:latin typeface="+mn-ea"/>
              </a:rPr>
              <a:t>模式</a:t>
            </a:r>
            <a:r>
              <a:rPr kumimoji="1" lang="en-US" altLang="zh-CN" b="1" dirty="0">
                <a:latin typeface="+mn-ea"/>
              </a:rPr>
              <a:t>——</a:t>
            </a:r>
            <a:r>
              <a:rPr kumimoji="1" lang="zh-CN" altLang="en-US" b="1" dirty="0">
                <a:latin typeface="+mn-ea"/>
              </a:rPr>
              <a:t>编辑器的普通操作，如移动光标、查找</a:t>
            </a:r>
            <a:r>
              <a:rPr kumimoji="1" lang="en-US" altLang="zh-CN" b="1" dirty="0">
                <a:latin typeface="+mn-ea"/>
              </a:rPr>
              <a:t>/</a:t>
            </a:r>
            <a:r>
              <a:rPr kumimoji="1" lang="zh-CN" altLang="en-US" b="1" dirty="0">
                <a:latin typeface="+mn-ea"/>
              </a:rPr>
              <a:t>替换等。</a:t>
            </a:r>
          </a:p>
          <a:p>
            <a:pPr lvl="1">
              <a:lnSpc>
                <a:spcPct val="120000"/>
              </a:lnSpc>
            </a:pPr>
            <a:r>
              <a:rPr kumimoji="1" lang="zh-CN" altLang="en-US" b="1" dirty="0">
                <a:solidFill>
                  <a:srgbClr val="CC0099"/>
                </a:solidFill>
                <a:latin typeface="+mn-ea"/>
              </a:rPr>
              <a:t>文本插入模式</a:t>
            </a:r>
            <a:r>
              <a:rPr kumimoji="1" lang="en-US" altLang="zh-CN" b="1" dirty="0">
                <a:latin typeface="+mn-ea"/>
              </a:rPr>
              <a:t>——</a:t>
            </a:r>
            <a:r>
              <a:rPr kumimoji="1" lang="zh-CN" altLang="en-US" b="1" dirty="0">
                <a:latin typeface="+mn-ea"/>
              </a:rPr>
              <a:t>在编辑器内输入文本信息。</a:t>
            </a:r>
          </a:p>
          <a:p>
            <a:pPr lvl="1">
              <a:lnSpc>
                <a:spcPct val="120000"/>
              </a:lnSpc>
            </a:pPr>
            <a:r>
              <a:rPr kumimoji="1" lang="zh-CN" altLang="en-US" b="1" dirty="0">
                <a:solidFill>
                  <a:srgbClr val="CC0099"/>
                </a:solidFill>
                <a:latin typeface="+mn-ea"/>
              </a:rPr>
              <a:t>末行模式</a:t>
            </a:r>
            <a:r>
              <a:rPr kumimoji="1" lang="en-US" altLang="zh-CN" b="1" dirty="0">
                <a:latin typeface="+mn-ea"/>
              </a:rPr>
              <a:t>——</a:t>
            </a:r>
            <a:r>
              <a:rPr kumimoji="1" lang="zh-CN" altLang="en-US" b="1" dirty="0">
                <a:latin typeface="+mn-ea"/>
              </a:rPr>
              <a:t>执行一些特殊命令。</a:t>
            </a:r>
          </a:p>
          <a:p>
            <a:pPr>
              <a:lnSpc>
                <a:spcPct val="120000"/>
              </a:lnSpc>
            </a:pPr>
            <a:r>
              <a:rPr kumimoji="1" lang="en-US" altLang="zh-CN" sz="2600" dirty="0">
                <a:latin typeface="+mn-ea"/>
              </a:rPr>
              <a:t>vim</a:t>
            </a:r>
            <a:r>
              <a:rPr kumimoji="1" lang="zh-CN" altLang="en-US" sz="2600" dirty="0">
                <a:latin typeface="+mn-ea"/>
              </a:rPr>
              <a:t>编辑器的三种模式可相互切换。</a:t>
            </a:r>
          </a:p>
          <a:p>
            <a:pPr>
              <a:lnSpc>
                <a:spcPct val="120000"/>
              </a:lnSpc>
              <a:buFont typeface="Wingdings" pitchFamily="2" charset="2"/>
              <a:buNone/>
            </a:pPr>
            <a:r>
              <a:rPr kumimoji="1" lang="zh-CN" altLang="en-US" sz="2600" dirty="0">
                <a:solidFill>
                  <a:srgbClr val="0000CC"/>
                </a:solidFill>
                <a:latin typeface="+mn-ea"/>
              </a:rPr>
              <a:t>注意</a:t>
            </a:r>
            <a:r>
              <a:rPr kumimoji="1" lang="zh-CN" altLang="en-US" sz="2600" dirty="0">
                <a:latin typeface="+mn-ea"/>
              </a:rPr>
              <a:t>：改变</a:t>
            </a:r>
            <a:r>
              <a:rPr kumimoji="1" lang="en-US" altLang="zh-CN" sz="2600" dirty="0">
                <a:latin typeface="+mn-ea"/>
              </a:rPr>
              <a:t>vim</a:t>
            </a:r>
            <a:r>
              <a:rPr kumimoji="1" lang="zh-CN" altLang="en-US" sz="2600" dirty="0">
                <a:latin typeface="+mn-ea"/>
              </a:rPr>
              <a:t>的工作模式意味着改变键盘上按键的功能。</a:t>
            </a: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110871B5-850E-4E14-A636-3EC679EBF038}" type="slidenum">
              <a:rPr lang="en-US" altLang="zh-CN" smtClean="0"/>
              <a:pPr>
                <a:defRPr/>
              </a:pPr>
              <a:t>5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95942420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700C099A-6552-4724-AD39-B0EE2F003FA2}" type="slidenum">
              <a:rPr lang="en-US" altLang="zh-CN" smtClean="0"/>
              <a:pPr>
                <a:defRPr/>
              </a:pPr>
              <a:t>6</a:t>
            </a:fld>
            <a:endParaRPr lang="en-US" altLang="zh-CN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79576" y="908721"/>
            <a:ext cx="7200800" cy="475252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288557239"/>
      </p:ext>
    </p:extLst>
  </p:cSld>
  <p:clrMapOvr>
    <a:masterClrMapping/>
  </p:clrMapOvr>
  <p:transition spd="slow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106" name="Rectangle 2"/>
          <p:cNvSpPr>
            <a:spLocks noGrp="1" noChangeArrowheads="1"/>
          </p:cNvSpPr>
          <p:nvPr>
            <p:ph type="title"/>
          </p:nvPr>
        </p:nvSpPr>
        <p:spPr>
          <a:xfrm>
            <a:off x="609600" y="553939"/>
            <a:ext cx="10959008" cy="858837"/>
          </a:xfrm>
        </p:spPr>
        <p:txBody>
          <a:bodyPr/>
          <a:lstStyle/>
          <a:p>
            <a:r>
              <a:rPr kumimoji="1" lang="zh-CN" altLang="en-US" b="1" dirty="0"/>
              <a:t>命令行模式</a:t>
            </a:r>
          </a:p>
        </p:txBody>
      </p:sp>
      <p:sp>
        <p:nvSpPr>
          <p:cNvPr id="30310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127448" y="1487576"/>
            <a:ext cx="10009112" cy="4677728"/>
          </a:xfrm>
        </p:spPr>
        <p:txBody>
          <a:bodyPr/>
          <a:lstStyle/>
          <a:p>
            <a:pPr>
              <a:lnSpc>
                <a:spcPct val="120000"/>
              </a:lnSpc>
            </a:pPr>
            <a:r>
              <a:rPr kumimoji="1" lang="zh-CN" altLang="en-US" sz="2600" dirty="0">
                <a:solidFill>
                  <a:srgbClr val="0000CC"/>
                </a:solidFill>
                <a:latin typeface="+mn-ea"/>
              </a:rPr>
              <a:t>启动</a:t>
            </a:r>
            <a:r>
              <a:rPr kumimoji="1" lang="en-US" altLang="zh-CN" sz="2600" dirty="0">
                <a:solidFill>
                  <a:srgbClr val="0000CC"/>
                </a:solidFill>
                <a:latin typeface="+mn-ea"/>
              </a:rPr>
              <a:t>vim</a:t>
            </a:r>
            <a:r>
              <a:rPr kumimoji="1" lang="zh-CN" altLang="en-US" sz="2600" dirty="0">
                <a:solidFill>
                  <a:srgbClr val="0000CC"/>
                </a:solidFill>
                <a:latin typeface="+mn-ea"/>
              </a:rPr>
              <a:t>后首先就是处于命令行模式</a:t>
            </a:r>
            <a:r>
              <a:rPr kumimoji="1" lang="zh-CN" altLang="en-US" sz="2600" dirty="0">
                <a:latin typeface="+mn-ea"/>
              </a:rPr>
              <a:t>。在任何模</a:t>
            </a:r>
            <a:endParaRPr kumimoji="1" lang="en-US" altLang="zh-CN" sz="2600" dirty="0">
              <a:latin typeface="+mn-ea"/>
            </a:endParaRPr>
          </a:p>
          <a:p>
            <a:pPr marL="0" indent="0">
              <a:lnSpc>
                <a:spcPct val="120000"/>
              </a:lnSpc>
              <a:buNone/>
            </a:pPr>
            <a:r>
              <a:rPr kumimoji="1" lang="zh-CN" altLang="en-US" sz="2600" dirty="0">
                <a:latin typeface="+mn-ea"/>
              </a:rPr>
              <a:t>式下，键入“</a:t>
            </a:r>
            <a:r>
              <a:rPr kumimoji="1" lang="en-US" altLang="zh-CN" sz="2600" dirty="0">
                <a:latin typeface="+mn-ea"/>
              </a:rPr>
              <a:t>Esc”</a:t>
            </a:r>
            <a:r>
              <a:rPr kumimoji="1" lang="zh-CN" altLang="en-US" sz="2600" dirty="0">
                <a:latin typeface="+mn-ea"/>
              </a:rPr>
              <a:t>键都会自动进入命令模式。此时，所有从键盘的键入都被作为命令来接收。用户可以输入各种命令，用于管理自己的文档。此时，键盘上的任何字符都被当做编辑命令来解释。</a:t>
            </a:r>
            <a:endParaRPr kumimoji="1" lang="en-US" altLang="zh-CN" sz="2600" dirty="0">
              <a:latin typeface="+mn-ea"/>
            </a:endParaRPr>
          </a:p>
          <a:p>
            <a:pPr>
              <a:lnSpc>
                <a:spcPct val="120000"/>
              </a:lnSpc>
            </a:pPr>
            <a:r>
              <a:rPr kumimoji="1" lang="zh-CN" altLang="en-US" sz="2600" dirty="0">
                <a:solidFill>
                  <a:srgbClr val="0000CC"/>
                </a:solidFill>
                <a:latin typeface="+mn-ea"/>
              </a:rPr>
              <a:t>注意的是</a:t>
            </a:r>
            <a:r>
              <a:rPr kumimoji="1" lang="zh-CN" altLang="en-US" sz="2600" dirty="0">
                <a:latin typeface="+mn-ea"/>
              </a:rPr>
              <a:t>，所输入的命令并不在屏幕上显示出来。若输入的字符不是合法命令，系统会响铃提示用户。</a:t>
            </a:r>
          </a:p>
          <a:p>
            <a:pPr>
              <a:lnSpc>
                <a:spcPct val="120000"/>
              </a:lnSpc>
            </a:pPr>
            <a:r>
              <a:rPr kumimoji="1" lang="en-US" altLang="zh-CN" sz="2600" dirty="0">
                <a:latin typeface="+mn-ea"/>
              </a:rPr>
              <a:t>vim</a:t>
            </a:r>
            <a:r>
              <a:rPr kumimoji="1" lang="zh-CN" altLang="en-US" sz="2600" dirty="0">
                <a:latin typeface="+mn-ea"/>
              </a:rPr>
              <a:t>编辑器的命令模式下几乎所有的命令都是</a:t>
            </a:r>
            <a:r>
              <a:rPr kumimoji="1" lang="zh-CN" altLang="en-US" sz="2600" dirty="0">
                <a:solidFill>
                  <a:srgbClr val="CC0099"/>
                </a:solidFill>
                <a:latin typeface="+mn-ea"/>
              </a:rPr>
              <a:t>单字符</a:t>
            </a:r>
            <a:r>
              <a:rPr kumimoji="1" lang="zh-CN" altLang="en-US" sz="2600" dirty="0">
                <a:latin typeface="+mn-ea"/>
              </a:rPr>
              <a:t>的命令。</a:t>
            </a:r>
            <a:endParaRPr lang="zh-CN" altLang="en-US" sz="2600" dirty="0">
              <a:latin typeface="+mn-ea"/>
            </a:endParaRP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110871B5-850E-4E14-A636-3EC679EBF038}" type="slidenum">
              <a:rPr lang="en-US" altLang="zh-CN" smtClean="0"/>
              <a:pPr>
                <a:defRPr/>
              </a:pPr>
              <a:t>7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41482344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516" name="Text Box 4"/>
          <p:cNvSpPr txBox="1">
            <a:spLocks noChangeArrowheads="1"/>
          </p:cNvSpPr>
          <p:nvPr/>
        </p:nvSpPr>
        <p:spPr bwMode="auto">
          <a:xfrm>
            <a:off x="1774825" y="539969"/>
            <a:ext cx="8642350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en-US" altLang="zh-CN" sz="3200" dirty="0">
                <a:latin typeface="+mj-ea"/>
                <a:ea typeface="+mj-ea"/>
              </a:rPr>
              <a:t>Vim</a:t>
            </a:r>
            <a:r>
              <a:rPr kumimoji="1" lang="zh-CN" altLang="en-US" sz="3200" dirty="0">
                <a:latin typeface="+mj-ea"/>
                <a:ea typeface="+mj-ea"/>
              </a:rPr>
              <a:t>编辑器常用命令</a:t>
            </a:r>
          </a:p>
        </p:txBody>
      </p:sp>
      <p:graphicFrame>
        <p:nvGraphicFramePr>
          <p:cNvPr id="193072" name="Group 56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56105341"/>
              </p:ext>
            </p:extLst>
          </p:nvPr>
        </p:nvGraphicFramePr>
        <p:xfrm>
          <a:off x="695400" y="1196752"/>
          <a:ext cx="10729193" cy="5074198"/>
        </p:xfrm>
        <a:graphic>
          <a:graphicData uri="http://schemas.openxmlformats.org/drawingml/2006/table">
            <a:tbl>
              <a:tblPr/>
              <a:tblGrid>
                <a:gridCol w="81622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9745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5469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66082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60122">
                <a:tc>
                  <a:txBody>
                    <a:bodyPr/>
                    <a:lstStyle>
                      <a:lvl1pPr marL="469900" indent="-46990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itchFamily="2" charset="2"/>
                        <a:defRPr sz="2600">
                          <a:solidFill>
                            <a:schemeClr val="tx1"/>
                          </a:solidFill>
                          <a:latin typeface="Verdana" pitchFamily="34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itchFamily="2" charset="2"/>
                        <a:defRPr sz="2200">
                          <a:solidFill>
                            <a:schemeClr val="tx1"/>
                          </a:solidFill>
                          <a:latin typeface="Verdana" pitchFamily="34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itchFamily="2" charset="2"/>
                        <a:defRPr sz="2100">
                          <a:solidFill>
                            <a:schemeClr val="tx1"/>
                          </a:solidFill>
                          <a:latin typeface="Verdana" pitchFamily="34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Verdana" pitchFamily="34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25000"/>
                        </a:spcBef>
                        <a:buClr>
                          <a:schemeClr val="accent2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Verdana" pitchFamily="34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Verdana" pitchFamily="34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Verdana" pitchFamily="34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Verdana" pitchFamily="34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Verdana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469900" marR="0" lvl="0" indent="-46990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ea typeface="方正书宋简体" charset="-122"/>
                          <a:cs typeface="Times New Roman" pitchFamily="18" charset="0"/>
                        </a:rPr>
                        <a:t>命令</a:t>
                      </a:r>
                    </a:p>
                  </a:txBody>
                  <a:tcPr marL="54000" marR="54000" marT="36000" marB="360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FF"/>
                    </a:solidFill>
                  </a:tcPr>
                </a:tc>
                <a:tc>
                  <a:txBody>
                    <a:bodyPr/>
                    <a:lstStyle>
                      <a:lvl1pPr marL="469900" indent="-46990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itchFamily="2" charset="2"/>
                        <a:defRPr sz="2600">
                          <a:solidFill>
                            <a:schemeClr val="tx1"/>
                          </a:solidFill>
                          <a:latin typeface="Verdana" pitchFamily="34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itchFamily="2" charset="2"/>
                        <a:defRPr sz="2200">
                          <a:solidFill>
                            <a:schemeClr val="tx1"/>
                          </a:solidFill>
                          <a:latin typeface="Verdana" pitchFamily="34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itchFamily="2" charset="2"/>
                        <a:defRPr sz="2100">
                          <a:solidFill>
                            <a:schemeClr val="tx1"/>
                          </a:solidFill>
                          <a:latin typeface="Verdana" pitchFamily="34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Verdana" pitchFamily="34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25000"/>
                        </a:spcBef>
                        <a:buClr>
                          <a:schemeClr val="accent2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Verdana" pitchFamily="34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Verdana" pitchFamily="34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Verdana" pitchFamily="34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Verdana" pitchFamily="34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Verdana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469900" marR="0" lvl="0" indent="-46990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ea typeface="方正书宋简体" charset="-122"/>
                          <a:cs typeface="Times New Roman" pitchFamily="18" charset="0"/>
                        </a:rPr>
                        <a:t>作用</a:t>
                      </a:r>
                    </a:p>
                  </a:txBody>
                  <a:tcPr marL="54000" marR="54000" marT="36000" marB="3600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FF"/>
                    </a:solidFill>
                  </a:tcPr>
                </a:tc>
                <a:tc>
                  <a:txBody>
                    <a:bodyPr/>
                    <a:lstStyle>
                      <a:lvl1pPr marL="469900" indent="-46990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itchFamily="2" charset="2"/>
                        <a:defRPr sz="2600">
                          <a:solidFill>
                            <a:schemeClr val="tx1"/>
                          </a:solidFill>
                          <a:latin typeface="Verdana" pitchFamily="34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itchFamily="2" charset="2"/>
                        <a:defRPr sz="2200">
                          <a:solidFill>
                            <a:schemeClr val="tx1"/>
                          </a:solidFill>
                          <a:latin typeface="Verdana" pitchFamily="34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itchFamily="2" charset="2"/>
                        <a:defRPr sz="2100">
                          <a:solidFill>
                            <a:schemeClr val="tx1"/>
                          </a:solidFill>
                          <a:latin typeface="Verdana" pitchFamily="34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Verdana" pitchFamily="34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25000"/>
                        </a:spcBef>
                        <a:buClr>
                          <a:schemeClr val="accent2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Verdana" pitchFamily="34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Verdana" pitchFamily="34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Verdana" pitchFamily="34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Verdana" pitchFamily="34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Verdana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469900" marR="0" lvl="0" indent="-46990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ea typeface="方正书宋简体" charset="-122"/>
                          <a:cs typeface="Times New Roman" pitchFamily="18" charset="0"/>
                        </a:rPr>
                        <a:t>命令</a:t>
                      </a:r>
                    </a:p>
                  </a:txBody>
                  <a:tcPr marL="54000" marR="54000" marT="36000" marB="360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FF"/>
                    </a:solidFill>
                  </a:tcPr>
                </a:tc>
                <a:tc>
                  <a:txBody>
                    <a:bodyPr/>
                    <a:lstStyle>
                      <a:lvl1pPr marL="469900" indent="-46990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itchFamily="2" charset="2"/>
                        <a:defRPr sz="2600">
                          <a:solidFill>
                            <a:schemeClr val="tx1"/>
                          </a:solidFill>
                          <a:latin typeface="Verdana" pitchFamily="34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itchFamily="2" charset="2"/>
                        <a:defRPr sz="2200">
                          <a:solidFill>
                            <a:schemeClr val="tx1"/>
                          </a:solidFill>
                          <a:latin typeface="Verdana" pitchFamily="34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itchFamily="2" charset="2"/>
                        <a:defRPr sz="2100">
                          <a:solidFill>
                            <a:schemeClr val="tx1"/>
                          </a:solidFill>
                          <a:latin typeface="Verdana" pitchFamily="34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Verdana" pitchFamily="34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25000"/>
                        </a:spcBef>
                        <a:buClr>
                          <a:schemeClr val="accent2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Verdana" pitchFamily="34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Verdana" pitchFamily="34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Verdana" pitchFamily="34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Verdana" pitchFamily="34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Verdana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469900" marR="0" lvl="0" indent="-46990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ea typeface="方正书宋简体" charset="-122"/>
                          <a:cs typeface="Times New Roman" pitchFamily="18" charset="0"/>
                        </a:rPr>
                        <a:t>作用</a:t>
                      </a:r>
                    </a:p>
                  </a:txBody>
                  <a:tcPr marL="54000" marR="54000" marT="36000" marB="3600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8604">
                <a:tc>
                  <a:txBody>
                    <a:bodyPr/>
                    <a:lstStyle>
                      <a:lvl1pPr marL="469900" indent="-46990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itchFamily="2" charset="2"/>
                        <a:defRPr sz="2600">
                          <a:solidFill>
                            <a:schemeClr val="tx1"/>
                          </a:solidFill>
                          <a:latin typeface="Verdana" pitchFamily="34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itchFamily="2" charset="2"/>
                        <a:defRPr sz="2200">
                          <a:solidFill>
                            <a:schemeClr val="tx1"/>
                          </a:solidFill>
                          <a:latin typeface="Verdana" pitchFamily="34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itchFamily="2" charset="2"/>
                        <a:defRPr sz="2100">
                          <a:solidFill>
                            <a:schemeClr val="tx1"/>
                          </a:solidFill>
                          <a:latin typeface="Verdana" pitchFamily="34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Verdana" pitchFamily="34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25000"/>
                        </a:spcBef>
                        <a:buClr>
                          <a:schemeClr val="accent2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Verdana" pitchFamily="34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Verdana" pitchFamily="34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Verdana" pitchFamily="34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Verdana" pitchFamily="34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Verdana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469900" marR="0" lvl="0" indent="-46990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ea typeface="方正书宋简体" charset="-122"/>
                          <a:cs typeface="Times New Roman" pitchFamily="18" charset="0"/>
                        </a:rPr>
                        <a:t>i</a:t>
                      </a:r>
                    </a:p>
                  </a:txBody>
                  <a:tcPr marL="54000" marR="54000" marT="36000" marB="360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FF"/>
                    </a:solidFill>
                  </a:tcPr>
                </a:tc>
                <a:tc>
                  <a:txBody>
                    <a:bodyPr/>
                    <a:lstStyle>
                      <a:lvl1pPr marL="469900" indent="-46990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itchFamily="2" charset="2"/>
                        <a:defRPr sz="2600">
                          <a:solidFill>
                            <a:schemeClr val="tx1"/>
                          </a:solidFill>
                          <a:latin typeface="Verdana" pitchFamily="34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itchFamily="2" charset="2"/>
                        <a:defRPr sz="2200">
                          <a:solidFill>
                            <a:schemeClr val="tx1"/>
                          </a:solidFill>
                          <a:latin typeface="Verdana" pitchFamily="34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itchFamily="2" charset="2"/>
                        <a:defRPr sz="2100">
                          <a:solidFill>
                            <a:schemeClr val="tx1"/>
                          </a:solidFill>
                          <a:latin typeface="Verdana" pitchFamily="34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Verdana" pitchFamily="34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25000"/>
                        </a:spcBef>
                        <a:buClr>
                          <a:schemeClr val="accent2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Verdana" pitchFamily="34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Verdana" pitchFamily="34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Verdana" pitchFamily="34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Verdana" pitchFamily="34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Verdana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469900" marR="0" lvl="0" indent="-46990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ea typeface="方正书宋简体" charset="-122"/>
                          <a:cs typeface="Times New Roman" pitchFamily="18" charset="0"/>
                        </a:rPr>
                        <a:t>切换到插入模式，此时可以从光标当前位置插入文本；</a:t>
                      </a:r>
                    </a:p>
                  </a:txBody>
                  <a:tcPr marL="54000" marR="54000" marT="36000" marB="360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FF"/>
                    </a:solidFill>
                  </a:tcPr>
                </a:tc>
                <a:tc>
                  <a:txBody>
                    <a:bodyPr/>
                    <a:lstStyle>
                      <a:lvl1pPr marL="469900" indent="-46990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itchFamily="2" charset="2"/>
                        <a:defRPr sz="2600">
                          <a:solidFill>
                            <a:schemeClr val="tx1"/>
                          </a:solidFill>
                          <a:latin typeface="Verdana" pitchFamily="34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itchFamily="2" charset="2"/>
                        <a:defRPr sz="2200">
                          <a:solidFill>
                            <a:schemeClr val="tx1"/>
                          </a:solidFill>
                          <a:latin typeface="Verdana" pitchFamily="34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itchFamily="2" charset="2"/>
                        <a:defRPr sz="2100">
                          <a:solidFill>
                            <a:schemeClr val="tx1"/>
                          </a:solidFill>
                          <a:latin typeface="Verdana" pitchFamily="34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Verdana" pitchFamily="34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25000"/>
                        </a:spcBef>
                        <a:buClr>
                          <a:schemeClr val="accent2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Verdana" pitchFamily="34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Verdana" pitchFamily="34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Verdana" pitchFamily="34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Verdana" pitchFamily="34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Verdana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469900" marR="0" lvl="0" indent="-46990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4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ea typeface="方正书宋简体" charset="-122"/>
                          <a:cs typeface="Times New Roman" pitchFamily="18" charset="0"/>
                        </a:rPr>
                        <a:t>dG</a:t>
                      </a:r>
                      <a:endParaRPr kumimoji="0" lang="en-US" altLang="zh-CN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ea typeface="方正书宋简体" charset="-122"/>
                        <a:cs typeface="Times New Roman" pitchFamily="18" charset="0"/>
                      </a:endParaRPr>
                    </a:p>
                  </a:txBody>
                  <a:tcPr marL="54000" marR="54000" marT="36000" marB="360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FF"/>
                    </a:solidFill>
                  </a:tcPr>
                </a:tc>
                <a:tc>
                  <a:txBody>
                    <a:bodyPr/>
                    <a:lstStyle>
                      <a:lvl1pPr marL="469900" indent="-46990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itchFamily="2" charset="2"/>
                        <a:defRPr sz="2600">
                          <a:solidFill>
                            <a:schemeClr val="tx1"/>
                          </a:solidFill>
                          <a:latin typeface="Verdana" pitchFamily="34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itchFamily="2" charset="2"/>
                        <a:defRPr sz="2200">
                          <a:solidFill>
                            <a:schemeClr val="tx1"/>
                          </a:solidFill>
                          <a:latin typeface="Verdana" pitchFamily="34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itchFamily="2" charset="2"/>
                        <a:defRPr sz="2100">
                          <a:solidFill>
                            <a:schemeClr val="tx1"/>
                          </a:solidFill>
                          <a:latin typeface="Verdana" pitchFamily="34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Verdana" pitchFamily="34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25000"/>
                        </a:spcBef>
                        <a:buClr>
                          <a:schemeClr val="accent2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Verdana" pitchFamily="34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Verdana" pitchFamily="34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Verdana" pitchFamily="34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Verdana" pitchFamily="34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Verdana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469900" marR="0" lvl="0" indent="-46990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ea typeface="方正书宋简体" charset="-122"/>
                          <a:cs typeface="Times New Roman" pitchFamily="18" charset="0"/>
                        </a:rPr>
                        <a:t>删除从光标至文件尾的内容；</a:t>
                      </a:r>
                    </a:p>
                  </a:txBody>
                  <a:tcPr marL="54000" marR="54000" marT="36000" marB="360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4612">
                <a:tc>
                  <a:txBody>
                    <a:bodyPr/>
                    <a:lstStyle>
                      <a:lvl1pPr marL="469900" indent="-46990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itchFamily="2" charset="2"/>
                        <a:defRPr sz="2600">
                          <a:solidFill>
                            <a:schemeClr val="tx1"/>
                          </a:solidFill>
                          <a:latin typeface="Verdana" pitchFamily="34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itchFamily="2" charset="2"/>
                        <a:defRPr sz="2200">
                          <a:solidFill>
                            <a:schemeClr val="tx1"/>
                          </a:solidFill>
                          <a:latin typeface="Verdana" pitchFamily="34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itchFamily="2" charset="2"/>
                        <a:defRPr sz="2100">
                          <a:solidFill>
                            <a:schemeClr val="tx1"/>
                          </a:solidFill>
                          <a:latin typeface="Verdana" pitchFamily="34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Verdana" pitchFamily="34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25000"/>
                        </a:spcBef>
                        <a:buClr>
                          <a:schemeClr val="accent2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Verdana" pitchFamily="34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Verdana" pitchFamily="34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Verdana" pitchFamily="34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Verdana" pitchFamily="34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Verdana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469900" marR="0" lvl="0" indent="-46990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ea typeface="方正书宋简体" charset="-122"/>
                          <a:cs typeface="Times New Roman" pitchFamily="18" charset="0"/>
                        </a:rPr>
                        <a:t>a</a:t>
                      </a:r>
                    </a:p>
                  </a:txBody>
                  <a:tcPr marL="54000" marR="54000" marT="36000" marB="360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FF"/>
                    </a:solidFill>
                  </a:tcPr>
                </a:tc>
                <a:tc>
                  <a:txBody>
                    <a:bodyPr/>
                    <a:lstStyle>
                      <a:lvl1pPr marL="469900" indent="-46990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itchFamily="2" charset="2"/>
                        <a:defRPr sz="2600">
                          <a:solidFill>
                            <a:schemeClr val="tx1"/>
                          </a:solidFill>
                          <a:latin typeface="Verdana" pitchFamily="34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itchFamily="2" charset="2"/>
                        <a:defRPr sz="2200">
                          <a:solidFill>
                            <a:schemeClr val="tx1"/>
                          </a:solidFill>
                          <a:latin typeface="Verdana" pitchFamily="34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itchFamily="2" charset="2"/>
                        <a:defRPr sz="2100">
                          <a:solidFill>
                            <a:schemeClr val="tx1"/>
                          </a:solidFill>
                          <a:latin typeface="Verdana" pitchFamily="34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Verdana" pitchFamily="34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25000"/>
                        </a:spcBef>
                        <a:buClr>
                          <a:schemeClr val="accent2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Verdana" pitchFamily="34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Verdana" pitchFamily="34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Verdana" pitchFamily="34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Verdana" pitchFamily="34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Verdana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469900" marR="0" lvl="0" indent="-46990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ea typeface="方正书宋简体" charset="-122"/>
                          <a:cs typeface="Times New Roman" pitchFamily="18" charset="0"/>
                        </a:rPr>
                        <a:t>切换到插入模式，此时可以在光标所在字符后插入文本；</a:t>
                      </a:r>
                    </a:p>
                  </a:txBody>
                  <a:tcPr marL="54000" marR="54000" marT="36000" marB="360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FF"/>
                    </a:solidFill>
                  </a:tcPr>
                </a:tc>
                <a:tc>
                  <a:txBody>
                    <a:bodyPr/>
                    <a:lstStyle>
                      <a:lvl1pPr marL="469900" indent="-46990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itchFamily="2" charset="2"/>
                        <a:defRPr sz="2600">
                          <a:solidFill>
                            <a:schemeClr val="tx1"/>
                          </a:solidFill>
                          <a:latin typeface="Verdana" pitchFamily="34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itchFamily="2" charset="2"/>
                        <a:defRPr sz="2200">
                          <a:solidFill>
                            <a:schemeClr val="tx1"/>
                          </a:solidFill>
                          <a:latin typeface="Verdana" pitchFamily="34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itchFamily="2" charset="2"/>
                        <a:defRPr sz="2100">
                          <a:solidFill>
                            <a:schemeClr val="tx1"/>
                          </a:solidFill>
                          <a:latin typeface="Verdana" pitchFamily="34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Verdana" pitchFamily="34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25000"/>
                        </a:spcBef>
                        <a:buClr>
                          <a:schemeClr val="accent2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Verdana" pitchFamily="34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Verdana" pitchFamily="34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Verdana" pitchFamily="34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Verdana" pitchFamily="34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Verdana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469900" marR="0" lvl="0" indent="-46990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ea typeface="方正书宋简体" charset="-122"/>
                          <a:cs typeface="Times New Roman" pitchFamily="18" charset="0"/>
                        </a:rPr>
                        <a:t>d1G</a:t>
                      </a:r>
                    </a:p>
                  </a:txBody>
                  <a:tcPr marL="54000" marR="54000" marT="36000" marB="360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FF"/>
                    </a:solidFill>
                  </a:tcPr>
                </a:tc>
                <a:tc>
                  <a:txBody>
                    <a:bodyPr/>
                    <a:lstStyle>
                      <a:lvl1pPr marL="469900" indent="-46990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itchFamily="2" charset="2"/>
                        <a:defRPr sz="2600">
                          <a:solidFill>
                            <a:schemeClr val="tx1"/>
                          </a:solidFill>
                          <a:latin typeface="Verdana" pitchFamily="34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itchFamily="2" charset="2"/>
                        <a:defRPr sz="2200">
                          <a:solidFill>
                            <a:schemeClr val="tx1"/>
                          </a:solidFill>
                          <a:latin typeface="Verdana" pitchFamily="34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itchFamily="2" charset="2"/>
                        <a:defRPr sz="2100">
                          <a:solidFill>
                            <a:schemeClr val="tx1"/>
                          </a:solidFill>
                          <a:latin typeface="Verdana" pitchFamily="34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Verdana" pitchFamily="34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25000"/>
                        </a:spcBef>
                        <a:buClr>
                          <a:schemeClr val="accent2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Verdana" pitchFamily="34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Verdana" pitchFamily="34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Verdana" pitchFamily="34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Verdana" pitchFamily="34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Verdana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469900" marR="0" lvl="0" indent="-46990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ea typeface="方正书宋简体" charset="-122"/>
                          <a:cs typeface="Times New Roman" pitchFamily="18" charset="0"/>
                        </a:rPr>
                        <a:t>删除从光标至文件首的内容；</a:t>
                      </a:r>
                    </a:p>
                  </a:txBody>
                  <a:tcPr marL="54000" marR="54000" marT="36000" marB="360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4612">
                <a:tc>
                  <a:txBody>
                    <a:bodyPr/>
                    <a:lstStyle>
                      <a:lvl1pPr marL="469900" indent="-46990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itchFamily="2" charset="2"/>
                        <a:defRPr sz="2600">
                          <a:solidFill>
                            <a:schemeClr val="tx1"/>
                          </a:solidFill>
                          <a:latin typeface="Verdana" pitchFamily="34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itchFamily="2" charset="2"/>
                        <a:defRPr sz="2200">
                          <a:solidFill>
                            <a:schemeClr val="tx1"/>
                          </a:solidFill>
                          <a:latin typeface="Verdana" pitchFamily="34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itchFamily="2" charset="2"/>
                        <a:defRPr sz="2100">
                          <a:solidFill>
                            <a:schemeClr val="tx1"/>
                          </a:solidFill>
                          <a:latin typeface="Verdana" pitchFamily="34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Verdana" pitchFamily="34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25000"/>
                        </a:spcBef>
                        <a:buClr>
                          <a:schemeClr val="accent2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Verdana" pitchFamily="34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Verdana" pitchFamily="34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Verdana" pitchFamily="34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Verdana" pitchFamily="34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Verdana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469900" marR="0" lvl="0" indent="-46990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ea typeface="方正书宋简体" charset="-122"/>
                          <a:cs typeface="Times New Roman" pitchFamily="18" charset="0"/>
                        </a:rPr>
                        <a:t>o</a:t>
                      </a:r>
                    </a:p>
                  </a:txBody>
                  <a:tcPr marL="54000" marR="54000" marT="36000" marB="360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FF"/>
                    </a:solidFill>
                  </a:tcPr>
                </a:tc>
                <a:tc>
                  <a:txBody>
                    <a:bodyPr/>
                    <a:lstStyle>
                      <a:lvl1pPr marL="469900" indent="-46990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itchFamily="2" charset="2"/>
                        <a:defRPr sz="2600">
                          <a:solidFill>
                            <a:schemeClr val="tx1"/>
                          </a:solidFill>
                          <a:latin typeface="Verdana" pitchFamily="34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itchFamily="2" charset="2"/>
                        <a:defRPr sz="2200">
                          <a:solidFill>
                            <a:schemeClr val="tx1"/>
                          </a:solidFill>
                          <a:latin typeface="Verdana" pitchFamily="34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itchFamily="2" charset="2"/>
                        <a:defRPr sz="2100">
                          <a:solidFill>
                            <a:schemeClr val="tx1"/>
                          </a:solidFill>
                          <a:latin typeface="Verdana" pitchFamily="34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Verdana" pitchFamily="34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25000"/>
                        </a:spcBef>
                        <a:buClr>
                          <a:schemeClr val="accent2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Verdana" pitchFamily="34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Verdana" pitchFamily="34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Verdana" pitchFamily="34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Verdana" pitchFamily="34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Verdana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469900" marR="0" lvl="0" indent="-46990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ea typeface="方正书宋简体" charset="-122"/>
                          <a:cs typeface="Times New Roman" pitchFamily="18" charset="0"/>
                        </a:rPr>
                        <a:t>切换到插入模式，在光标所在位置下插入新行来输入文本；</a:t>
                      </a:r>
                    </a:p>
                  </a:txBody>
                  <a:tcPr marL="54000" marR="54000" marT="36000" marB="360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FF"/>
                    </a:solidFill>
                  </a:tcPr>
                </a:tc>
                <a:tc>
                  <a:txBody>
                    <a:bodyPr/>
                    <a:lstStyle>
                      <a:lvl1pPr marL="469900" indent="-46990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itchFamily="2" charset="2"/>
                        <a:defRPr sz="2600">
                          <a:solidFill>
                            <a:schemeClr val="tx1"/>
                          </a:solidFill>
                          <a:latin typeface="Verdana" pitchFamily="34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itchFamily="2" charset="2"/>
                        <a:defRPr sz="2200">
                          <a:solidFill>
                            <a:schemeClr val="tx1"/>
                          </a:solidFill>
                          <a:latin typeface="Verdana" pitchFamily="34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itchFamily="2" charset="2"/>
                        <a:defRPr sz="2100">
                          <a:solidFill>
                            <a:schemeClr val="tx1"/>
                          </a:solidFill>
                          <a:latin typeface="Verdana" pitchFamily="34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Verdana" pitchFamily="34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25000"/>
                        </a:spcBef>
                        <a:buClr>
                          <a:schemeClr val="accent2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Verdana" pitchFamily="34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Verdana" pitchFamily="34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Verdana" pitchFamily="34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Verdana" pitchFamily="34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Verdana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469900" marR="0" lvl="0" indent="-46990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ea typeface="方正书宋简体" charset="-122"/>
                          <a:cs typeface="Times New Roman" pitchFamily="18" charset="0"/>
                        </a:rPr>
                        <a:t>yy </a:t>
                      </a:r>
                    </a:p>
                  </a:txBody>
                  <a:tcPr marL="54000" marR="54000" marT="36000" marB="360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FF"/>
                    </a:solidFill>
                  </a:tcPr>
                </a:tc>
                <a:tc>
                  <a:txBody>
                    <a:bodyPr/>
                    <a:lstStyle>
                      <a:lvl1pPr marL="469900" indent="-46990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itchFamily="2" charset="2"/>
                        <a:defRPr sz="2600">
                          <a:solidFill>
                            <a:schemeClr val="tx1"/>
                          </a:solidFill>
                          <a:latin typeface="Verdana" pitchFamily="34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itchFamily="2" charset="2"/>
                        <a:defRPr sz="2200">
                          <a:solidFill>
                            <a:schemeClr val="tx1"/>
                          </a:solidFill>
                          <a:latin typeface="Verdana" pitchFamily="34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itchFamily="2" charset="2"/>
                        <a:defRPr sz="2100">
                          <a:solidFill>
                            <a:schemeClr val="tx1"/>
                          </a:solidFill>
                          <a:latin typeface="Verdana" pitchFamily="34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Verdana" pitchFamily="34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25000"/>
                        </a:spcBef>
                        <a:buClr>
                          <a:schemeClr val="accent2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Verdana" pitchFamily="34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Verdana" pitchFamily="34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Verdana" pitchFamily="34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Verdana" pitchFamily="34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Verdana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469900" marR="0" lvl="0" indent="-46990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ea typeface="方正书宋简体" charset="-122"/>
                          <a:cs typeface="Times New Roman" pitchFamily="18" charset="0"/>
                        </a:rPr>
                        <a:t>复制光标所在行；</a:t>
                      </a:r>
                    </a:p>
                  </a:txBody>
                  <a:tcPr marL="54000" marR="54000" marT="36000" marB="360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49102">
                <a:tc>
                  <a:txBody>
                    <a:bodyPr/>
                    <a:lstStyle>
                      <a:lvl1pPr marL="469900" indent="-46990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itchFamily="2" charset="2"/>
                        <a:defRPr sz="2600">
                          <a:solidFill>
                            <a:schemeClr val="tx1"/>
                          </a:solidFill>
                          <a:latin typeface="Verdana" pitchFamily="34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itchFamily="2" charset="2"/>
                        <a:defRPr sz="2200">
                          <a:solidFill>
                            <a:schemeClr val="tx1"/>
                          </a:solidFill>
                          <a:latin typeface="Verdana" pitchFamily="34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itchFamily="2" charset="2"/>
                        <a:defRPr sz="2100">
                          <a:solidFill>
                            <a:schemeClr val="tx1"/>
                          </a:solidFill>
                          <a:latin typeface="Verdana" pitchFamily="34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Verdana" pitchFamily="34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25000"/>
                        </a:spcBef>
                        <a:buClr>
                          <a:schemeClr val="accent2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Verdana" pitchFamily="34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Verdana" pitchFamily="34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Verdana" pitchFamily="34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Verdana" pitchFamily="34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Verdana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469900" marR="0" lvl="0" indent="-46990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ea typeface="方正书宋简体" charset="-122"/>
                          <a:cs typeface="Times New Roman" pitchFamily="18" charset="0"/>
                        </a:rPr>
                        <a:t>I </a:t>
                      </a:r>
                    </a:p>
                  </a:txBody>
                  <a:tcPr marL="54000" marR="54000" marT="36000" marB="360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FF"/>
                    </a:solidFill>
                  </a:tcPr>
                </a:tc>
                <a:tc>
                  <a:txBody>
                    <a:bodyPr/>
                    <a:lstStyle>
                      <a:lvl1pPr marL="469900" indent="-46990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itchFamily="2" charset="2"/>
                        <a:defRPr sz="2600">
                          <a:solidFill>
                            <a:schemeClr val="tx1"/>
                          </a:solidFill>
                          <a:latin typeface="Verdana" pitchFamily="34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itchFamily="2" charset="2"/>
                        <a:defRPr sz="2200">
                          <a:solidFill>
                            <a:schemeClr val="tx1"/>
                          </a:solidFill>
                          <a:latin typeface="Verdana" pitchFamily="34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itchFamily="2" charset="2"/>
                        <a:defRPr sz="2100">
                          <a:solidFill>
                            <a:schemeClr val="tx1"/>
                          </a:solidFill>
                          <a:latin typeface="Verdana" pitchFamily="34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Verdana" pitchFamily="34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25000"/>
                        </a:spcBef>
                        <a:buClr>
                          <a:schemeClr val="accent2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Verdana" pitchFamily="34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Verdana" pitchFamily="34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Verdana" pitchFamily="34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Verdana" pitchFamily="34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Verdana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469900" marR="0" lvl="0" indent="-46990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ea typeface="方正书宋简体" charset="-122"/>
                          <a:cs typeface="Times New Roman" pitchFamily="18" charset="0"/>
                        </a:rPr>
                        <a:t>切换到插入模式，此时光标处于行首；</a:t>
                      </a:r>
                    </a:p>
                  </a:txBody>
                  <a:tcPr marL="54000" marR="54000" marT="36000" marB="360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FF"/>
                    </a:solidFill>
                  </a:tcPr>
                </a:tc>
                <a:tc>
                  <a:txBody>
                    <a:bodyPr/>
                    <a:lstStyle>
                      <a:lvl1pPr marL="469900" indent="-46990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itchFamily="2" charset="2"/>
                        <a:defRPr sz="2600">
                          <a:solidFill>
                            <a:schemeClr val="tx1"/>
                          </a:solidFill>
                          <a:latin typeface="Verdana" pitchFamily="34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itchFamily="2" charset="2"/>
                        <a:defRPr sz="2200">
                          <a:solidFill>
                            <a:schemeClr val="tx1"/>
                          </a:solidFill>
                          <a:latin typeface="Verdana" pitchFamily="34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itchFamily="2" charset="2"/>
                        <a:defRPr sz="2100">
                          <a:solidFill>
                            <a:schemeClr val="tx1"/>
                          </a:solidFill>
                          <a:latin typeface="Verdana" pitchFamily="34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Verdana" pitchFamily="34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25000"/>
                        </a:spcBef>
                        <a:buClr>
                          <a:schemeClr val="accent2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Verdana" pitchFamily="34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Verdana" pitchFamily="34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Verdana" pitchFamily="34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Verdana" pitchFamily="34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Verdana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469900" marR="0" lvl="0" indent="-46990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4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ea typeface="方正书宋简体" charset="-122"/>
                          <a:cs typeface="Times New Roman" pitchFamily="18" charset="0"/>
                        </a:rPr>
                        <a:t>nyy</a:t>
                      </a:r>
                      <a:r>
                        <a:rPr kumimoji="0" lang="en-US" altLang="zh-CN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ea typeface="方正书宋简体" charset="-122"/>
                          <a:cs typeface="Times New Roman" pitchFamily="18" charset="0"/>
                        </a:rPr>
                        <a:t> </a:t>
                      </a:r>
                    </a:p>
                  </a:txBody>
                  <a:tcPr marL="54000" marR="54000" marT="36000" marB="360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FF"/>
                    </a:solidFill>
                  </a:tcPr>
                </a:tc>
                <a:tc>
                  <a:txBody>
                    <a:bodyPr/>
                    <a:lstStyle>
                      <a:lvl1pPr marL="469900" indent="-46990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itchFamily="2" charset="2"/>
                        <a:defRPr sz="2600">
                          <a:solidFill>
                            <a:schemeClr val="tx1"/>
                          </a:solidFill>
                          <a:latin typeface="Verdana" pitchFamily="34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itchFamily="2" charset="2"/>
                        <a:defRPr sz="2200">
                          <a:solidFill>
                            <a:schemeClr val="tx1"/>
                          </a:solidFill>
                          <a:latin typeface="Verdana" pitchFamily="34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itchFamily="2" charset="2"/>
                        <a:defRPr sz="2100">
                          <a:solidFill>
                            <a:schemeClr val="tx1"/>
                          </a:solidFill>
                          <a:latin typeface="Verdana" pitchFamily="34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Verdana" pitchFamily="34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25000"/>
                        </a:spcBef>
                        <a:buClr>
                          <a:schemeClr val="accent2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Verdana" pitchFamily="34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Verdana" pitchFamily="34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Verdana" pitchFamily="34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Verdana" pitchFamily="34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Verdana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469900" marR="0" lvl="0" indent="-46990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ea typeface="方正书宋简体" charset="-122"/>
                          <a:cs typeface="Times New Roman" pitchFamily="18" charset="0"/>
                        </a:rPr>
                        <a:t>从光标所在行开始，向下复制</a:t>
                      </a:r>
                      <a:r>
                        <a:rPr kumimoji="0" lang="en-US" altLang="zh-CN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ea typeface="方正书宋简体" charset="-122"/>
                          <a:cs typeface="Times New Roman" pitchFamily="18" charset="0"/>
                        </a:rPr>
                        <a:t>n</a:t>
                      </a:r>
                      <a:r>
                        <a:rPr kumimoji="0" lang="zh-CN" alt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ea typeface="方正书宋简体" charset="-122"/>
                          <a:cs typeface="Times New Roman" pitchFamily="18" charset="0"/>
                        </a:rPr>
                        <a:t>行，类似于</a:t>
                      </a:r>
                      <a:r>
                        <a:rPr kumimoji="0" lang="en-US" altLang="zh-CN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ea typeface="方正书宋简体" charset="-122"/>
                          <a:cs typeface="Times New Roman" pitchFamily="18" charset="0"/>
                        </a:rPr>
                        <a:t>Windows</a:t>
                      </a:r>
                      <a:r>
                        <a:rPr kumimoji="0" lang="zh-CN" alt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ea typeface="方正书宋简体" charset="-122"/>
                          <a:cs typeface="Times New Roman" pitchFamily="18" charset="0"/>
                        </a:rPr>
                        <a:t>环境下，选中</a:t>
                      </a:r>
                      <a:r>
                        <a:rPr kumimoji="0" lang="en-US" altLang="zh-CN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ea typeface="方正书宋简体" charset="-122"/>
                          <a:cs typeface="Times New Roman" pitchFamily="18" charset="0"/>
                        </a:rPr>
                        <a:t>n</a:t>
                      </a:r>
                      <a:r>
                        <a:rPr kumimoji="0" lang="zh-CN" alt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ea typeface="方正书宋简体" charset="-122"/>
                          <a:cs typeface="Times New Roman" pitchFamily="18" charset="0"/>
                        </a:rPr>
                        <a:t>行后，再按下的</a:t>
                      </a:r>
                      <a:r>
                        <a:rPr kumimoji="0" lang="zh-CN" alt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/>
                          <a:ea typeface="方正书宋简体" charset="-122"/>
                          <a:cs typeface="Times New Roman" pitchFamily="18" charset="0"/>
                        </a:rPr>
                        <a:t>“</a:t>
                      </a:r>
                      <a:r>
                        <a:rPr kumimoji="0" lang="en-US" altLang="zh-CN" sz="14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ea typeface="方正书宋简体" charset="-122"/>
                          <a:cs typeface="Times New Roman" pitchFamily="18" charset="0"/>
                        </a:rPr>
                        <a:t>Ctrl+C</a:t>
                      </a:r>
                      <a:r>
                        <a:rPr kumimoji="0" lang="en-US" altLang="zh-CN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/>
                          <a:ea typeface="方正书宋简体" charset="-122"/>
                          <a:cs typeface="Times New Roman" pitchFamily="18" charset="0"/>
                        </a:rPr>
                        <a:t>”</a:t>
                      </a:r>
                      <a:r>
                        <a:rPr kumimoji="0" lang="zh-CN" alt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ea typeface="方正书宋简体" charset="-122"/>
                          <a:cs typeface="Times New Roman" pitchFamily="18" charset="0"/>
                        </a:rPr>
                        <a:t>；</a:t>
                      </a:r>
                    </a:p>
                  </a:txBody>
                  <a:tcPr marL="54000" marR="54000" marT="36000" marB="360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49102">
                <a:tc>
                  <a:txBody>
                    <a:bodyPr/>
                    <a:lstStyle>
                      <a:lvl1pPr marL="469900" indent="-46990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itchFamily="2" charset="2"/>
                        <a:defRPr sz="2600">
                          <a:solidFill>
                            <a:schemeClr val="tx1"/>
                          </a:solidFill>
                          <a:latin typeface="Verdana" pitchFamily="34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itchFamily="2" charset="2"/>
                        <a:defRPr sz="2200">
                          <a:solidFill>
                            <a:schemeClr val="tx1"/>
                          </a:solidFill>
                          <a:latin typeface="Verdana" pitchFamily="34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itchFamily="2" charset="2"/>
                        <a:defRPr sz="2100">
                          <a:solidFill>
                            <a:schemeClr val="tx1"/>
                          </a:solidFill>
                          <a:latin typeface="Verdana" pitchFamily="34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Verdana" pitchFamily="34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25000"/>
                        </a:spcBef>
                        <a:buClr>
                          <a:schemeClr val="accent2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Verdana" pitchFamily="34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Verdana" pitchFamily="34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Verdana" pitchFamily="34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Verdana" pitchFamily="34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Verdana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469900" marR="0" lvl="0" indent="-46990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ea typeface="方正书宋简体" charset="-122"/>
                          <a:cs typeface="Times New Roman" pitchFamily="18" charset="0"/>
                        </a:rPr>
                        <a:t>A </a:t>
                      </a:r>
                    </a:p>
                  </a:txBody>
                  <a:tcPr marL="54000" marR="54000" marT="36000" marB="360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FF"/>
                    </a:solidFill>
                  </a:tcPr>
                </a:tc>
                <a:tc>
                  <a:txBody>
                    <a:bodyPr/>
                    <a:lstStyle>
                      <a:lvl1pPr marL="469900" indent="-46990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itchFamily="2" charset="2"/>
                        <a:defRPr sz="2600">
                          <a:solidFill>
                            <a:schemeClr val="tx1"/>
                          </a:solidFill>
                          <a:latin typeface="Verdana" pitchFamily="34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itchFamily="2" charset="2"/>
                        <a:defRPr sz="2200">
                          <a:solidFill>
                            <a:schemeClr val="tx1"/>
                          </a:solidFill>
                          <a:latin typeface="Verdana" pitchFamily="34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itchFamily="2" charset="2"/>
                        <a:defRPr sz="2100">
                          <a:solidFill>
                            <a:schemeClr val="tx1"/>
                          </a:solidFill>
                          <a:latin typeface="Verdana" pitchFamily="34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Verdana" pitchFamily="34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25000"/>
                        </a:spcBef>
                        <a:buClr>
                          <a:schemeClr val="accent2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Verdana" pitchFamily="34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Verdana" pitchFamily="34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Verdana" pitchFamily="34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Verdana" pitchFamily="34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Verdana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469900" marR="0" lvl="0" indent="-46990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ea typeface="方正书宋简体" charset="-122"/>
                          <a:cs typeface="Times New Roman" pitchFamily="18" charset="0"/>
                        </a:rPr>
                        <a:t>切换到插入模式，此时光标处于行尾；</a:t>
                      </a:r>
                    </a:p>
                  </a:txBody>
                  <a:tcPr marL="54000" marR="54000" marT="36000" marB="360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FF"/>
                    </a:solidFill>
                  </a:tcPr>
                </a:tc>
                <a:tc>
                  <a:txBody>
                    <a:bodyPr/>
                    <a:lstStyle>
                      <a:lvl1pPr marL="469900" indent="-46990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itchFamily="2" charset="2"/>
                        <a:defRPr sz="2600">
                          <a:solidFill>
                            <a:schemeClr val="tx1"/>
                          </a:solidFill>
                          <a:latin typeface="Verdana" pitchFamily="34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itchFamily="2" charset="2"/>
                        <a:defRPr sz="2200">
                          <a:solidFill>
                            <a:schemeClr val="tx1"/>
                          </a:solidFill>
                          <a:latin typeface="Verdana" pitchFamily="34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itchFamily="2" charset="2"/>
                        <a:defRPr sz="2100">
                          <a:solidFill>
                            <a:schemeClr val="tx1"/>
                          </a:solidFill>
                          <a:latin typeface="Verdana" pitchFamily="34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Verdana" pitchFamily="34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25000"/>
                        </a:spcBef>
                        <a:buClr>
                          <a:schemeClr val="accent2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Verdana" pitchFamily="34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Verdana" pitchFamily="34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Verdana" pitchFamily="34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Verdana" pitchFamily="34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Verdana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469900" marR="0" lvl="0" indent="-46990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ea typeface="方正书宋简体" charset="-122"/>
                          <a:cs typeface="Times New Roman" pitchFamily="18" charset="0"/>
                        </a:rPr>
                        <a:t>p </a:t>
                      </a:r>
                    </a:p>
                  </a:txBody>
                  <a:tcPr marL="54000" marR="54000" marT="36000" marB="360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FF"/>
                    </a:solidFill>
                  </a:tcPr>
                </a:tc>
                <a:tc>
                  <a:txBody>
                    <a:bodyPr/>
                    <a:lstStyle>
                      <a:lvl1pPr marL="469900" indent="-46990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itchFamily="2" charset="2"/>
                        <a:defRPr sz="2600">
                          <a:solidFill>
                            <a:schemeClr val="tx1"/>
                          </a:solidFill>
                          <a:latin typeface="Verdana" pitchFamily="34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itchFamily="2" charset="2"/>
                        <a:defRPr sz="2200">
                          <a:solidFill>
                            <a:schemeClr val="tx1"/>
                          </a:solidFill>
                          <a:latin typeface="Verdana" pitchFamily="34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itchFamily="2" charset="2"/>
                        <a:defRPr sz="2100">
                          <a:solidFill>
                            <a:schemeClr val="tx1"/>
                          </a:solidFill>
                          <a:latin typeface="Verdana" pitchFamily="34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Verdana" pitchFamily="34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25000"/>
                        </a:spcBef>
                        <a:buClr>
                          <a:schemeClr val="accent2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Verdana" pitchFamily="34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Verdana" pitchFamily="34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Verdana" pitchFamily="34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Verdana" pitchFamily="34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Verdana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469900" marR="0" lvl="0" indent="-46990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ea typeface="方正书宋简体" charset="-122"/>
                          <a:cs typeface="Times New Roman" pitchFamily="18" charset="0"/>
                        </a:rPr>
                        <a:t>将缓冲区内的信息粘贴到光标所在位置（与</a:t>
                      </a:r>
                      <a:r>
                        <a:rPr kumimoji="0" lang="en-US" altLang="zh-CN" sz="14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ea typeface="方正书宋简体" charset="-122"/>
                          <a:cs typeface="Times New Roman" pitchFamily="18" charset="0"/>
                        </a:rPr>
                        <a:t>yy</a:t>
                      </a:r>
                      <a:r>
                        <a:rPr kumimoji="0" lang="zh-CN" alt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ea typeface="方正书宋简体" charset="-122"/>
                          <a:cs typeface="Times New Roman" pitchFamily="18" charset="0"/>
                        </a:rPr>
                        <a:t>或</a:t>
                      </a:r>
                      <a:r>
                        <a:rPr kumimoji="0" lang="en-US" altLang="zh-CN" sz="14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ea typeface="方正书宋简体" charset="-122"/>
                          <a:cs typeface="Times New Roman" pitchFamily="18" charset="0"/>
                        </a:rPr>
                        <a:t>nyy</a:t>
                      </a:r>
                      <a:r>
                        <a:rPr kumimoji="0" lang="zh-CN" alt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ea typeface="方正书宋简体" charset="-122"/>
                          <a:cs typeface="Times New Roman" pitchFamily="18" charset="0"/>
                        </a:rPr>
                        <a:t>搭配），类似于</a:t>
                      </a:r>
                      <a:r>
                        <a:rPr kumimoji="0" lang="en-US" altLang="zh-CN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ea typeface="方正书宋简体" charset="-122"/>
                          <a:cs typeface="Times New Roman" pitchFamily="18" charset="0"/>
                        </a:rPr>
                        <a:t>Windows</a:t>
                      </a:r>
                      <a:r>
                        <a:rPr kumimoji="0" lang="zh-CN" alt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ea typeface="方正书宋简体" charset="-122"/>
                          <a:cs typeface="Times New Roman" pitchFamily="18" charset="0"/>
                        </a:rPr>
                        <a:t>环境下，选中</a:t>
                      </a:r>
                      <a:r>
                        <a:rPr kumimoji="0" lang="en-US" altLang="zh-CN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ea typeface="方正书宋简体" charset="-122"/>
                          <a:cs typeface="Times New Roman" pitchFamily="18" charset="0"/>
                        </a:rPr>
                        <a:t>n</a:t>
                      </a:r>
                      <a:r>
                        <a:rPr kumimoji="0" lang="zh-CN" alt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ea typeface="方正书宋简体" charset="-122"/>
                          <a:cs typeface="Times New Roman" pitchFamily="18" charset="0"/>
                        </a:rPr>
                        <a:t>行后，再按下的</a:t>
                      </a:r>
                      <a:r>
                        <a:rPr kumimoji="0" lang="zh-CN" alt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/>
                          <a:ea typeface="方正书宋简体" charset="-122"/>
                          <a:cs typeface="Times New Roman" pitchFamily="18" charset="0"/>
                        </a:rPr>
                        <a:t>“</a:t>
                      </a:r>
                      <a:r>
                        <a:rPr kumimoji="0" lang="en-US" altLang="zh-CN" sz="14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ea typeface="方正书宋简体" charset="-122"/>
                          <a:cs typeface="Times New Roman" pitchFamily="18" charset="0"/>
                        </a:rPr>
                        <a:t>Ctrl+V</a:t>
                      </a:r>
                      <a:r>
                        <a:rPr kumimoji="0" lang="en-US" altLang="zh-CN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/>
                          <a:ea typeface="方正书宋简体" charset="-122"/>
                          <a:cs typeface="Times New Roman" pitchFamily="18" charset="0"/>
                        </a:rPr>
                        <a:t>”</a:t>
                      </a:r>
                      <a:r>
                        <a:rPr kumimoji="0" lang="zh-CN" alt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ea typeface="方正书宋简体" charset="-122"/>
                          <a:cs typeface="Times New Roman" pitchFamily="18" charset="0"/>
                        </a:rPr>
                        <a:t>；</a:t>
                      </a:r>
                    </a:p>
                  </a:txBody>
                  <a:tcPr marL="54000" marR="54000" marT="36000" marB="360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54612">
                <a:tc>
                  <a:txBody>
                    <a:bodyPr/>
                    <a:lstStyle>
                      <a:lvl1pPr marL="469900" indent="-46990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itchFamily="2" charset="2"/>
                        <a:defRPr sz="2600">
                          <a:solidFill>
                            <a:schemeClr val="tx1"/>
                          </a:solidFill>
                          <a:latin typeface="Verdana" pitchFamily="34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itchFamily="2" charset="2"/>
                        <a:defRPr sz="2200">
                          <a:solidFill>
                            <a:schemeClr val="tx1"/>
                          </a:solidFill>
                          <a:latin typeface="Verdana" pitchFamily="34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itchFamily="2" charset="2"/>
                        <a:defRPr sz="2100">
                          <a:solidFill>
                            <a:schemeClr val="tx1"/>
                          </a:solidFill>
                          <a:latin typeface="Verdana" pitchFamily="34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Verdana" pitchFamily="34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25000"/>
                        </a:spcBef>
                        <a:buClr>
                          <a:schemeClr val="accent2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Verdana" pitchFamily="34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Verdana" pitchFamily="34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Verdana" pitchFamily="34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Verdana" pitchFamily="34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Verdana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469900" marR="0" lvl="0" indent="-46990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ea typeface="方正书宋简体" charset="-122"/>
                          <a:cs typeface="Times New Roman" pitchFamily="18" charset="0"/>
                        </a:rPr>
                        <a:t>O </a:t>
                      </a:r>
                    </a:p>
                  </a:txBody>
                  <a:tcPr marL="54000" marR="54000" marT="36000" marB="360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FF"/>
                    </a:solidFill>
                  </a:tcPr>
                </a:tc>
                <a:tc>
                  <a:txBody>
                    <a:bodyPr/>
                    <a:lstStyle>
                      <a:lvl1pPr marL="469900" indent="-46990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itchFamily="2" charset="2"/>
                        <a:defRPr sz="2600">
                          <a:solidFill>
                            <a:schemeClr val="tx1"/>
                          </a:solidFill>
                          <a:latin typeface="Verdana" pitchFamily="34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itchFamily="2" charset="2"/>
                        <a:defRPr sz="2200">
                          <a:solidFill>
                            <a:schemeClr val="tx1"/>
                          </a:solidFill>
                          <a:latin typeface="Verdana" pitchFamily="34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itchFamily="2" charset="2"/>
                        <a:defRPr sz="2100">
                          <a:solidFill>
                            <a:schemeClr val="tx1"/>
                          </a:solidFill>
                          <a:latin typeface="Verdana" pitchFamily="34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Verdana" pitchFamily="34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25000"/>
                        </a:spcBef>
                        <a:buClr>
                          <a:schemeClr val="accent2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Verdana" pitchFamily="34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Verdana" pitchFamily="34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Verdana" pitchFamily="34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Verdana" pitchFamily="34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Verdana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469900" marR="0" lvl="0" indent="-46990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ea typeface="方正书宋简体" charset="-122"/>
                          <a:cs typeface="Times New Roman" pitchFamily="18" charset="0"/>
                        </a:rPr>
                        <a:t>切换到插入模式，在光标所在位置上插入新行来输入文本；</a:t>
                      </a:r>
                    </a:p>
                  </a:txBody>
                  <a:tcPr marL="54000" marR="54000" marT="36000" marB="360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FF"/>
                    </a:solidFill>
                  </a:tcPr>
                </a:tc>
                <a:tc>
                  <a:txBody>
                    <a:bodyPr/>
                    <a:lstStyle>
                      <a:lvl1pPr marL="469900" indent="-46990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itchFamily="2" charset="2"/>
                        <a:defRPr sz="2600">
                          <a:solidFill>
                            <a:schemeClr val="tx1"/>
                          </a:solidFill>
                          <a:latin typeface="Verdana" pitchFamily="34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itchFamily="2" charset="2"/>
                        <a:defRPr sz="2200">
                          <a:solidFill>
                            <a:schemeClr val="tx1"/>
                          </a:solidFill>
                          <a:latin typeface="Verdana" pitchFamily="34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itchFamily="2" charset="2"/>
                        <a:defRPr sz="2100">
                          <a:solidFill>
                            <a:schemeClr val="tx1"/>
                          </a:solidFill>
                          <a:latin typeface="Verdana" pitchFamily="34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Verdana" pitchFamily="34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25000"/>
                        </a:spcBef>
                        <a:buClr>
                          <a:schemeClr val="accent2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Verdana" pitchFamily="34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Verdana" pitchFamily="34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Verdana" pitchFamily="34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Verdana" pitchFamily="34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Verdana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469900" marR="0" lvl="0" indent="-46990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ea typeface="方正书宋简体" charset="-122"/>
                          <a:cs typeface="Times New Roman" pitchFamily="18" charset="0"/>
                        </a:rPr>
                        <a:t>r </a:t>
                      </a:r>
                    </a:p>
                  </a:txBody>
                  <a:tcPr marL="54000" marR="54000" marT="36000" marB="360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FF"/>
                    </a:solidFill>
                  </a:tcPr>
                </a:tc>
                <a:tc>
                  <a:txBody>
                    <a:bodyPr/>
                    <a:lstStyle>
                      <a:lvl1pPr marL="469900" indent="-46990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itchFamily="2" charset="2"/>
                        <a:defRPr sz="2600">
                          <a:solidFill>
                            <a:schemeClr val="tx1"/>
                          </a:solidFill>
                          <a:latin typeface="Verdana" pitchFamily="34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itchFamily="2" charset="2"/>
                        <a:defRPr sz="2200">
                          <a:solidFill>
                            <a:schemeClr val="tx1"/>
                          </a:solidFill>
                          <a:latin typeface="Verdana" pitchFamily="34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itchFamily="2" charset="2"/>
                        <a:defRPr sz="2100">
                          <a:solidFill>
                            <a:schemeClr val="tx1"/>
                          </a:solidFill>
                          <a:latin typeface="Verdana" pitchFamily="34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Verdana" pitchFamily="34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25000"/>
                        </a:spcBef>
                        <a:buClr>
                          <a:schemeClr val="accent2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Verdana" pitchFamily="34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Verdana" pitchFamily="34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Verdana" pitchFamily="34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Verdana" pitchFamily="34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Verdana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469900" marR="0" lvl="0" indent="-46990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ea typeface="方正书宋简体" charset="-122"/>
                          <a:cs typeface="Times New Roman" pitchFamily="18" charset="0"/>
                        </a:rPr>
                        <a:t>修改光标所在位置的字符；</a:t>
                      </a:r>
                    </a:p>
                  </a:txBody>
                  <a:tcPr marL="54000" marR="54000" marT="36000" marB="360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60122">
                <a:tc>
                  <a:txBody>
                    <a:bodyPr/>
                    <a:lstStyle>
                      <a:lvl1pPr marL="469900" indent="-46990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itchFamily="2" charset="2"/>
                        <a:defRPr sz="2600">
                          <a:solidFill>
                            <a:schemeClr val="tx1"/>
                          </a:solidFill>
                          <a:latin typeface="Verdana" pitchFamily="34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itchFamily="2" charset="2"/>
                        <a:defRPr sz="2200">
                          <a:solidFill>
                            <a:schemeClr val="tx1"/>
                          </a:solidFill>
                          <a:latin typeface="Verdana" pitchFamily="34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itchFamily="2" charset="2"/>
                        <a:defRPr sz="2100">
                          <a:solidFill>
                            <a:schemeClr val="tx1"/>
                          </a:solidFill>
                          <a:latin typeface="Verdana" pitchFamily="34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Verdana" pitchFamily="34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25000"/>
                        </a:spcBef>
                        <a:buClr>
                          <a:schemeClr val="accent2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Verdana" pitchFamily="34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Verdana" pitchFamily="34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Verdana" pitchFamily="34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Verdana" pitchFamily="34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Verdana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469900" marR="0" lvl="0" indent="-46990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ea typeface="方正书宋简体" charset="-122"/>
                          <a:cs typeface="Times New Roman" pitchFamily="18" charset="0"/>
                        </a:rPr>
                        <a:t>x</a:t>
                      </a:r>
                    </a:p>
                  </a:txBody>
                  <a:tcPr marL="54000" marR="54000" marT="36000" marB="360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FF"/>
                    </a:solidFill>
                  </a:tcPr>
                </a:tc>
                <a:tc>
                  <a:txBody>
                    <a:bodyPr/>
                    <a:lstStyle>
                      <a:lvl1pPr marL="469900" indent="-46990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itchFamily="2" charset="2"/>
                        <a:defRPr sz="2600">
                          <a:solidFill>
                            <a:schemeClr val="tx1"/>
                          </a:solidFill>
                          <a:latin typeface="Verdana" pitchFamily="34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itchFamily="2" charset="2"/>
                        <a:defRPr sz="2200">
                          <a:solidFill>
                            <a:schemeClr val="tx1"/>
                          </a:solidFill>
                          <a:latin typeface="Verdana" pitchFamily="34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itchFamily="2" charset="2"/>
                        <a:defRPr sz="2100">
                          <a:solidFill>
                            <a:schemeClr val="tx1"/>
                          </a:solidFill>
                          <a:latin typeface="Verdana" pitchFamily="34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Verdana" pitchFamily="34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25000"/>
                        </a:spcBef>
                        <a:buClr>
                          <a:schemeClr val="accent2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Verdana" pitchFamily="34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Verdana" pitchFamily="34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Verdana" pitchFamily="34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Verdana" pitchFamily="34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Verdana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469900" marR="0" lvl="0" indent="-46990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ea typeface="方正书宋简体" charset="-122"/>
                          <a:cs typeface="Times New Roman" pitchFamily="18" charset="0"/>
                        </a:rPr>
                        <a:t>删除光标所在位置的一个字符；</a:t>
                      </a:r>
                    </a:p>
                  </a:txBody>
                  <a:tcPr marL="54000" marR="54000" marT="36000" marB="360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FF"/>
                    </a:solidFill>
                  </a:tcPr>
                </a:tc>
                <a:tc>
                  <a:txBody>
                    <a:bodyPr/>
                    <a:lstStyle>
                      <a:lvl1pPr marL="469900" indent="-46990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itchFamily="2" charset="2"/>
                        <a:defRPr sz="2600">
                          <a:solidFill>
                            <a:schemeClr val="tx1"/>
                          </a:solidFill>
                          <a:latin typeface="Verdana" pitchFamily="34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itchFamily="2" charset="2"/>
                        <a:defRPr sz="2200">
                          <a:solidFill>
                            <a:schemeClr val="tx1"/>
                          </a:solidFill>
                          <a:latin typeface="Verdana" pitchFamily="34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itchFamily="2" charset="2"/>
                        <a:defRPr sz="2100">
                          <a:solidFill>
                            <a:schemeClr val="tx1"/>
                          </a:solidFill>
                          <a:latin typeface="Verdana" pitchFamily="34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Verdana" pitchFamily="34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25000"/>
                        </a:spcBef>
                        <a:buClr>
                          <a:schemeClr val="accent2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Verdana" pitchFamily="34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Verdana" pitchFamily="34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Verdana" pitchFamily="34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Verdana" pitchFamily="34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Verdana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469900" marR="0" lvl="0" indent="-46990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ea typeface="方正书宋简体" charset="-122"/>
                          <a:cs typeface="Times New Roman" pitchFamily="18" charset="0"/>
                        </a:rPr>
                        <a:t>R</a:t>
                      </a:r>
                    </a:p>
                  </a:txBody>
                  <a:tcPr marL="54000" marR="54000" marT="36000" marB="360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FF"/>
                    </a:solidFill>
                  </a:tcPr>
                </a:tc>
                <a:tc>
                  <a:txBody>
                    <a:bodyPr/>
                    <a:lstStyle>
                      <a:lvl1pPr marL="469900" indent="-46990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itchFamily="2" charset="2"/>
                        <a:defRPr sz="2600">
                          <a:solidFill>
                            <a:schemeClr val="tx1"/>
                          </a:solidFill>
                          <a:latin typeface="Verdana" pitchFamily="34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itchFamily="2" charset="2"/>
                        <a:defRPr sz="2200">
                          <a:solidFill>
                            <a:schemeClr val="tx1"/>
                          </a:solidFill>
                          <a:latin typeface="Verdana" pitchFamily="34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itchFamily="2" charset="2"/>
                        <a:defRPr sz="2100">
                          <a:solidFill>
                            <a:schemeClr val="tx1"/>
                          </a:solidFill>
                          <a:latin typeface="Verdana" pitchFamily="34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Verdana" pitchFamily="34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25000"/>
                        </a:spcBef>
                        <a:buClr>
                          <a:schemeClr val="accent2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Verdana" pitchFamily="34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Verdana" pitchFamily="34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Verdana" pitchFamily="34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Verdana" pitchFamily="34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Verdana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469900" marR="0" lvl="0" indent="-46990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ea typeface="方正书宋简体" charset="-122"/>
                          <a:cs typeface="Times New Roman" pitchFamily="18" charset="0"/>
                        </a:rPr>
                        <a:t>修改字符，直到按下</a:t>
                      </a:r>
                      <a:r>
                        <a:rPr kumimoji="0" lang="zh-CN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/>
                          <a:ea typeface="方正书宋简体" charset="-122"/>
                          <a:cs typeface="Times New Roman" pitchFamily="18" charset="0"/>
                        </a:rPr>
                        <a:t>“</a:t>
                      </a:r>
                      <a:r>
                        <a:rPr kumimoji="0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ea typeface="方正书宋简体" charset="-122"/>
                          <a:cs typeface="Times New Roman" pitchFamily="18" charset="0"/>
                        </a:rPr>
                        <a:t>Esc</a:t>
                      </a:r>
                      <a:r>
                        <a:rPr kumimoji="0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/>
                          <a:ea typeface="方正书宋简体" charset="-122"/>
                          <a:cs typeface="Times New Roman" pitchFamily="18" charset="0"/>
                        </a:rPr>
                        <a:t>”</a:t>
                      </a:r>
                      <a:r>
                        <a:rPr kumimoji="0" lang="zh-CN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ea typeface="方正书宋简体" charset="-122"/>
                          <a:cs typeface="Times New Roman" pitchFamily="18" charset="0"/>
                        </a:rPr>
                        <a:t>键为止；</a:t>
                      </a:r>
                    </a:p>
                  </a:txBody>
                  <a:tcPr marL="54000" marR="54000" marT="36000" marB="360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54612">
                <a:tc>
                  <a:txBody>
                    <a:bodyPr/>
                    <a:lstStyle>
                      <a:lvl1pPr marL="469900" indent="-46990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itchFamily="2" charset="2"/>
                        <a:defRPr sz="2600">
                          <a:solidFill>
                            <a:schemeClr val="tx1"/>
                          </a:solidFill>
                          <a:latin typeface="Verdana" pitchFamily="34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itchFamily="2" charset="2"/>
                        <a:defRPr sz="2200">
                          <a:solidFill>
                            <a:schemeClr val="tx1"/>
                          </a:solidFill>
                          <a:latin typeface="Verdana" pitchFamily="34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itchFamily="2" charset="2"/>
                        <a:defRPr sz="2100">
                          <a:solidFill>
                            <a:schemeClr val="tx1"/>
                          </a:solidFill>
                          <a:latin typeface="Verdana" pitchFamily="34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Verdana" pitchFamily="34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25000"/>
                        </a:spcBef>
                        <a:buClr>
                          <a:schemeClr val="accent2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Verdana" pitchFamily="34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Verdana" pitchFamily="34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Verdana" pitchFamily="34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Verdana" pitchFamily="34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Verdana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469900" marR="0" lvl="0" indent="-46990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ea typeface="方正书宋简体" charset="-122"/>
                          <a:cs typeface="Times New Roman" pitchFamily="18" charset="0"/>
                        </a:rPr>
                        <a:t>X</a:t>
                      </a:r>
                    </a:p>
                  </a:txBody>
                  <a:tcPr marL="54000" marR="54000" marT="36000" marB="360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FF"/>
                    </a:solidFill>
                  </a:tcPr>
                </a:tc>
                <a:tc>
                  <a:txBody>
                    <a:bodyPr/>
                    <a:lstStyle>
                      <a:lvl1pPr marL="469900" indent="-46990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itchFamily="2" charset="2"/>
                        <a:defRPr sz="2600">
                          <a:solidFill>
                            <a:schemeClr val="tx1"/>
                          </a:solidFill>
                          <a:latin typeface="Verdana" pitchFamily="34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itchFamily="2" charset="2"/>
                        <a:defRPr sz="2200">
                          <a:solidFill>
                            <a:schemeClr val="tx1"/>
                          </a:solidFill>
                          <a:latin typeface="Verdana" pitchFamily="34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itchFamily="2" charset="2"/>
                        <a:defRPr sz="2100">
                          <a:solidFill>
                            <a:schemeClr val="tx1"/>
                          </a:solidFill>
                          <a:latin typeface="Verdana" pitchFamily="34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Verdana" pitchFamily="34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25000"/>
                        </a:spcBef>
                        <a:buClr>
                          <a:schemeClr val="accent2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Verdana" pitchFamily="34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Verdana" pitchFamily="34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Verdana" pitchFamily="34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Verdana" pitchFamily="34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Verdana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469900" marR="0" lvl="0" indent="-46990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ea typeface="方正书宋简体" charset="-122"/>
                          <a:cs typeface="Times New Roman" pitchFamily="18" charset="0"/>
                        </a:rPr>
                        <a:t>删除光标前一个字符；</a:t>
                      </a:r>
                    </a:p>
                  </a:txBody>
                  <a:tcPr marL="54000" marR="54000" marT="36000" marB="360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FF"/>
                    </a:solidFill>
                  </a:tcPr>
                </a:tc>
                <a:tc>
                  <a:txBody>
                    <a:bodyPr/>
                    <a:lstStyle>
                      <a:lvl1pPr marL="469900" indent="-46990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itchFamily="2" charset="2"/>
                        <a:defRPr sz="2600">
                          <a:solidFill>
                            <a:schemeClr val="tx1"/>
                          </a:solidFill>
                          <a:latin typeface="Verdana" pitchFamily="34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itchFamily="2" charset="2"/>
                        <a:defRPr sz="2200">
                          <a:solidFill>
                            <a:schemeClr val="tx1"/>
                          </a:solidFill>
                          <a:latin typeface="Verdana" pitchFamily="34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itchFamily="2" charset="2"/>
                        <a:defRPr sz="2100">
                          <a:solidFill>
                            <a:schemeClr val="tx1"/>
                          </a:solidFill>
                          <a:latin typeface="Verdana" pitchFamily="34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Verdana" pitchFamily="34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25000"/>
                        </a:spcBef>
                        <a:buClr>
                          <a:schemeClr val="accent2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Verdana" pitchFamily="34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Verdana" pitchFamily="34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Verdana" pitchFamily="34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Verdana" pitchFamily="34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Verdana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469900" marR="0" lvl="0" indent="-46990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ea typeface="方正书宋简体" charset="-122"/>
                          <a:cs typeface="Times New Roman" pitchFamily="18" charset="0"/>
                        </a:rPr>
                        <a:t>/string </a:t>
                      </a:r>
                    </a:p>
                  </a:txBody>
                  <a:tcPr marL="54000" marR="54000" marT="36000" marB="360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FF"/>
                    </a:solidFill>
                  </a:tcPr>
                </a:tc>
                <a:tc>
                  <a:txBody>
                    <a:bodyPr/>
                    <a:lstStyle>
                      <a:lvl1pPr marL="469900" indent="-46990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itchFamily="2" charset="2"/>
                        <a:defRPr sz="2600">
                          <a:solidFill>
                            <a:schemeClr val="tx1"/>
                          </a:solidFill>
                          <a:latin typeface="Verdana" pitchFamily="34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itchFamily="2" charset="2"/>
                        <a:defRPr sz="2200">
                          <a:solidFill>
                            <a:schemeClr val="tx1"/>
                          </a:solidFill>
                          <a:latin typeface="Verdana" pitchFamily="34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itchFamily="2" charset="2"/>
                        <a:defRPr sz="2100">
                          <a:solidFill>
                            <a:schemeClr val="tx1"/>
                          </a:solidFill>
                          <a:latin typeface="Verdana" pitchFamily="34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Verdana" pitchFamily="34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25000"/>
                        </a:spcBef>
                        <a:buClr>
                          <a:schemeClr val="accent2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Verdana" pitchFamily="34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Verdana" pitchFamily="34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Verdana" pitchFamily="34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Verdana" pitchFamily="34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Verdana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469900" marR="0" lvl="0" indent="-46990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ea typeface="方正书宋简体" charset="-122"/>
                          <a:cs typeface="Times New Roman" pitchFamily="18" charset="0"/>
                        </a:rPr>
                        <a:t>在光标之后查找一个名为</a:t>
                      </a:r>
                      <a:r>
                        <a:rPr kumimoji="0" lang="en-US" altLang="zh-CN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ea typeface="方正书宋简体" charset="-122"/>
                          <a:cs typeface="Times New Roman" pitchFamily="18" charset="0"/>
                        </a:rPr>
                        <a:t>string</a:t>
                      </a:r>
                      <a:r>
                        <a:rPr kumimoji="0" lang="zh-CN" alt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ea typeface="方正书宋简体" charset="-122"/>
                          <a:cs typeface="Times New Roman" pitchFamily="18" charset="0"/>
                        </a:rPr>
                        <a:t>的字符串（</a:t>
                      </a:r>
                      <a:r>
                        <a:rPr kumimoji="0" lang="en-US" altLang="zh-CN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ea typeface="方正书宋简体" charset="-122"/>
                          <a:cs typeface="Times New Roman" pitchFamily="18" charset="0"/>
                        </a:rPr>
                        <a:t>string</a:t>
                      </a:r>
                      <a:r>
                        <a:rPr kumimoji="0" lang="zh-CN" alt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ea typeface="方正书宋简体" charset="-122"/>
                          <a:cs typeface="Times New Roman" pitchFamily="18" charset="0"/>
                        </a:rPr>
                        <a:t>可以是任意字符串）；</a:t>
                      </a:r>
                    </a:p>
                  </a:txBody>
                  <a:tcPr marL="54000" marR="54000" marT="36000" marB="360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54612">
                <a:tc>
                  <a:txBody>
                    <a:bodyPr/>
                    <a:lstStyle>
                      <a:lvl1pPr marL="469900" indent="-46990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itchFamily="2" charset="2"/>
                        <a:defRPr sz="2600">
                          <a:solidFill>
                            <a:schemeClr val="tx1"/>
                          </a:solidFill>
                          <a:latin typeface="Verdana" pitchFamily="34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itchFamily="2" charset="2"/>
                        <a:defRPr sz="2200">
                          <a:solidFill>
                            <a:schemeClr val="tx1"/>
                          </a:solidFill>
                          <a:latin typeface="Verdana" pitchFamily="34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itchFamily="2" charset="2"/>
                        <a:defRPr sz="2100">
                          <a:solidFill>
                            <a:schemeClr val="tx1"/>
                          </a:solidFill>
                          <a:latin typeface="Verdana" pitchFamily="34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Verdana" pitchFamily="34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25000"/>
                        </a:spcBef>
                        <a:buClr>
                          <a:schemeClr val="accent2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Verdana" pitchFamily="34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Verdana" pitchFamily="34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Verdana" pitchFamily="34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Verdana" pitchFamily="34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Verdana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469900" marR="0" lvl="0" indent="-46990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ea typeface="方正书宋简体" charset="-122"/>
                          <a:cs typeface="Times New Roman" pitchFamily="18" charset="0"/>
                        </a:rPr>
                        <a:t>dd</a:t>
                      </a:r>
                    </a:p>
                  </a:txBody>
                  <a:tcPr marL="54000" marR="54000" marT="36000" marB="360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FF"/>
                    </a:solidFill>
                  </a:tcPr>
                </a:tc>
                <a:tc>
                  <a:txBody>
                    <a:bodyPr/>
                    <a:lstStyle>
                      <a:lvl1pPr marL="469900" indent="-46990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itchFamily="2" charset="2"/>
                        <a:defRPr sz="2600">
                          <a:solidFill>
                            <a:schemeClr val="tx1"/>
                          </a:solidFill>
                          <a:latin typeface="Verdana" pitchFamily="34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itchFamily="2" charset="2"/>
                        <a:defRPr sz="2200">
                          <a:solidFill>
                            <a:schemeClr val="tx1"/>
                          </a:solidFill>
                          <a:latin typeface="Verdana" pitchFamily="34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itchFamily="2" charset="2"/>
                        <a:defRPr sz="2100">
                          <a:solidFill>
                            <a:schemeClr val="tx1"/>
                          </a:solidFill>
                          <a:latin typeface="Verdana" pitchFamily="34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Verdana" pitchFamily="34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25000"/>
                        </a:spcBef>
                        <a:buClr>
                          <a:schemeClr val="accent2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Verdana" pitchFamily="34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Verdana" pitchFamily="34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Verdana" pitchFamily="34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Verdana" pitchFamily="34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Verdana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469900" marR="0" lvl="0" indent="-46990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ea typeface="方正书宋简体" charset="-122"/>
                          <a:cs typeface="Times New Roman" pitchFamily="18" charset="0"/>
                        </a:rPr>
                        <a:t>将光标当前所在行剪切到剪贴板；</a:t>
                      </a:r>
                    </a:p>
                  </a:txBody>
                  <a:tcPr marL="54000" marR="54000" marT="36000" marB="360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FF"/>
                    </a:solidFill>
                  </a:tcPr>
                </a:tc>
                <a:tc>
                  <a:txBody>
                    <a:bodyPr/>
                    <a:lstStyle>
                      <a:lvl1pPr marL="469900" indent="-46990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itchFamily="2" charset="2"/>
                        <a:defRPr sz="2600">
                          <a:solidFill>
                            <a:schemeClr val="tx1"/>
                          </a:solidFill>
                          <a:latin typeface="Verdana" pitchFamily="34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itchFamily="2" charset="2"/>
                        <a:defRPr sz="2200">
                          <a:solidFill>
                            <a:schemeClr val="tx1"/>
                          </a:solidFill>
                          <a:latin typeface="Verdana" pitchFamily="34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itchFamily="2" charset="2"/>
                        <a:defRPr sz="2100">
                          <a:solidFill>
                            <a:schemeClr val="tx1"/>
                          </a:solidFill>
                          <a:latin typeface="Verdana" pitchFamily="34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Verdana" pitchFamily="34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25000"/>
                        </a:spcBef>
                        <a:buClr>
                          <a:schemeClr val="accent2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Verdana" pitchFamily="34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Verdana" pitchFamily="34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Verdana" pitchFamily="34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Verdana" pitchFamily="34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Verdana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469900" marR="0" lvl="0" indent="-46990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ea typeface="方正书宋简体" charset="-122"/>
                          <a:cs typeface="Times New Roman" pitchFamily="18" charset="0"/>
                        </a:rPr>
                        <a:t>?string </a:t>
                      </a:r>
                    </a:p>
                  </a:txBody>
                  <a:tcPr marL="54000" marR="54000" marT="36000" marB="360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FF"/>
                    </a:solidFill>
                  </a:tcPr>
                </a:tc>
                <a:tc>
                  <a:txBody>
                    <a:bodyPr/>
                    <a:lstStyle>
                      <a:lvl1pPr marL="469900" indent="-46990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itchFamily="2" charset="2"/>
                        <a:defRPr sz="2600">
                          <a:solidFill>
                            <a:schemeClr val="tx1"/>
                          </a:solidFill>
                          <a:latin typeface="Verdana" pitchFamily="34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itchFamily="2" charset="2"/>
                        <a:defRPr sz="2200">
                          <a:solidFill>
                            <a:schemeClr val="tx1"/>
                          </a:solidFill>
                          <a:latin typeface="Verdana" pitchFamily="34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itchFamily="2" charset="2"/>
                        <a:defRPr sz="2100">
                          <a:solidFill>
                            <a:schemeClr val="tx1"/>
                          </a:solidFill>
                          <a:latin typeface="Verdana" pitchFamily="34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Verdana" pitchFamily="34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25000"/>
                        </a:spcBef>
                        <a:buClr>
                          <a:schemeClr val="accent2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Verdana" pitchFamily="34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Verdana" pitchFamily="34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Verdana" pitchFamily="34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Verdana" pitchFamily="34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Verdana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469900" marR="0" lvl="0" indent="-46990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ea typeface="方正书宋简体" charset="-122"/>
                          <a:cs typeface="Times New Roman" pitchFamily="18" charset="0"/>
                        </a:rPr>
                        <a:t>在光标之前查找一个名为</a:t>
                      </a:r>
                      <a:r>
                        <a:rPr kumimoji="0" lang="en-US" altLang="zh-CN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ea typeface="方正书宋简体" charset="-122"/>
                          <a:cs typeface="Times New Roman" pitchFamily="18" charset="0"/>
                        </a:rPr>
                        <a:t>string</a:t>
                      </a:r>
                      <a:r>
                        <a:rPr kumimoji="0" lang="zh-CN" alt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ea typeface="方正书宋简体" charset="-122"/>
                          <a:cs typeface="Times New Roman" pitchFamily="18" charset="0"/>
                        </a:rPr>
                        <a:t>的字符串（</a:t>
                      </a:r>
                      <a:r>
                        <a:rPr kumimoji="0" lang="en-US" altLang="zh-CN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ea typeface="方正书宋简体" charset="-122"/>
                          <a:cs typeface="Times New Roman" pitchFamily="18" charset="0"/>
                        </a:rPr>
                        <a:t>string</a:t>
                      </a:r>
                      <a:r>
                        <a:rPr kumimoji="0" lang="zh-CN" alt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ea typeface="方正书宋简体" charset="-122"/>
                          <a:cs typeface="Times New Roman" pitchFamily="18" charset="0"/>
                        </a:rPr>
                        <a:t>可以是任意字符串）；</a:t>
                      </a:r>
                    </a:p>
                  </a:txBody>
                  <a:tcPr marL="54000" marR="54000" marT="36000" marB="360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649102">
                <a:tc>
                  <a:txBody>
                    <a:bodyPr/>
                    <a:lstStyle>
                      <a:lvl1pPr marL="469900" indent="-46990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itchFamily="2" charset="2"/>
                        <a:defRPr sz="2600">
                          <a:solidFill>
                            <a:schemeClr val="tx1"/>
                          </a:solidFill>
                          <a:latin typeface="Verdana" pitchFamily="34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itchFamily="2" charset="2"/>
                        <a:defRPr sz="2200">
                          <a:solidFill>
                            <a:schemeClr val="tx1"/>
                          </a:solidFill>
                          <a:latin typeface="Verdana" pitchFamily="34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itchFamily="2" charset="2"/>
                        <a:defRPr sz="2100">
                          <a:solidFill>
                            <a:schemeClr val="tx1"/>
                          </a:solidFill>
                          <a:latin typeface="Verdana" pitchFamily="34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Verdana" pitchFamily="34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25000"/>
                        </a:spcBef>
                        <a:buClr>
                          <a:schemeClr val="accent2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Verdana" pitchFamily="34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Verdana" pitchFamily="34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Verdana" pitchFamily="34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Verdana" pitchFamily="34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Verdana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469900" marR="0" lvl="0" indent="-46990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ea typeface="方正书宋简体" charset="-122"/>
                          <a:cs typeface="Times New Roman" pitchFamily="18" charset="0"/>
                        </a:rPr>
                        <a:t>ndd</a:t>
                      </a:r>
                    </a:p>
                  </a:txBody>
                  <a:tcPr marL="54000" marR="54000" marT="36000" marB="360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FF"/>
                    </a:solidFill>
                  </a:tcPr>
                </a:tc>
                <a:tc>
                  <a:txBody>
                    <a:bodyPr/>
                    <a:lstStyle>
                      <a:lvl1pPr marL="469900" indent="-46990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itchFamily="2" charset="2"/>
                        <a:defRPr sz="2600">
                          <a:solidFill>
                            <a:schemeClr val="tx1"/>
                          </a:solidFill>
                          <a:latin typeface="Verdana" pitchFamily="34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itchFamily="2" charset="2"/>
                        <a:defRPr sz="2200">
                          <a:solidFill>
                            <a:schemeClr val="tx1"/>
                          </a:solidFill>
                          <a:latin typeface="Verdana" pitchFamily="34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itchFamily="2" charset="2"/>
                        <a:defRPr sz="2100">
                          <a:solidFill>
                            <a:schemeClr val="tx1"/>
                          </a:solidFill>
                          <a:latin typeface="Verdana" pitchFamily="34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Verdana" pitchFamily="34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25000"/>
                        </a:spcBef>
                        <a:buClr>
                          <a:schemeClr val="accent2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Verdana" pitchFamily="34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Verdana" pitchFamily="34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Verdana" pitchFamily="34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Verdana" pitchFamily="34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Verdana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469900" marR="0" lvl="0" indent="-46990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ea typeface="方正书宋简体" charset="-122"/>
                          <a:cs typeface="Times New Roman" pitchFamily="18" charset="0"/>
                        </a:rPr>
                        <a:t>从光标所在行开始，向下剪切</a:t>
                      </a:r>
                      <a:r>
                        <a:rPr kumimoji="0" lang="en-US" altLang="zh-CN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ea typeface="方正书宋简体" charset="-122"/>
                          <a:cs typeface="Times New Roman" pitchFamily="18" charset="0"/>
                        </a:rPr>
                        <a:t>n</a:t>
                      </a:r>
                      <a:r>
                        <a:rPr kumimoji="0" lang="zh-CN" alt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ea typeface="方正书宋简体" charset="-122"/>
                          <a:cs typeface="Times New Roman" pitchFamily="18" charset="0"/>
                        </a:rPr>
                        <a:t>行到剪贴板，类似于</a:t>
                      </a:r>
                      <a:r>
                        <a:rPr kumimoji="0" lang="en-US" altLang="zh-CN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ea typeface="方正书宋简体" charset="-122"/>
                          <a:cs typeface="Times New Roman" pitchFamily="18" charset="0"/>
                        </a:rPr>
                        <a:t>Windows</a:t>
                      </a:r>
                      <a:r>
                        <a:rPr kumimoji="0" lang="zh-CN" alt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ea typeface="方正书宋简体" charset="-122"/>
                          <a:cs typeface="Times New Roman" pitchFamily="18" charset="0"/>
                        </a:rPr>
                        <a:t>环境下，选中</a:t>
                      </a:r>
                      <a:r>
                        <a:rPr kumimoji="0" lang="en-US" altLang="zh-CN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ea typeface="方正书宋简体" charset="-122"/>
                          <a:cs typeface="Times New Roman" pitchFamily="18" charset="0"/>
                        </a:rPr>
                        <a:t>n</a:t>
                      </a:r>
                      <a:r>
                        <a:rPr kumimoji="0" lang="zh-CN" alt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ea typeface="方正书宋简体" charset="-122"/>
                          <a:cs typeface="Times New Roman" pitchFamily="18" charset="0"/>
                        </a:rPr>
                        <a:t>行后，再按下的</a:t>
                      </a:r>
                      <a:r>
                        <a:rPr kumimoji="0" lang="zh-CN" alt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/>
                          <a:ea typeface="方正书宋简体" charset="-122"/>
                          <a:cs typeface="Times New Roman" pitchFamily="18" charset="0"/>
                        </a:rPr>
                        <a:t>“</a:t>
                      </a:r>
                      <a:r>
                        <a:rPr kumimoji="0" lang="en-US" altLang="zh-CN" sz="14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ea typeface="方正书宋简体" charset="-122"/>
                          <a:cs typeface="Times New Roman" pitchFamily="18" charset="0"/>
                        </a:rPr>
                        <a:t>Ctrl+X</a:t>
                      </a:r>
                      <a:r>
                        <a:rPr kumimoji="0" lang="en-US" altLang="zh-CN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/>
                          <a:ea typeface="方正书宋简体" charset="-122"/>
                          <a:cs typeface="Times New Roman" pitchFamily="18" charset="0"/>
                        </a:rPr>
                        <a:t>”</a:t>
                      </a:r>
                      <a:r>
                        <a:rPr kumimoji="0" lang="zh-CN" alt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ea typeface="方正书宋简体" charset="-122"/>
                          <a:cs typeface="Times New Roman" pitchFamily="18" charset="0"/>
                        </a:rPr>
                        <a:t>；</a:t>
                      </a:r>
                    </a:p>
                  </a:txBody>
                  <a:tcPr marL="54000" marR="54000" marT="36000" marB="360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FF"/>
                    </a:solidFill>
                  </a:tcPr>
                </a:tc>
                <a:tc>
                  <a:txBody>
                    <a:bodyPr/>
                    <a:lstStyle>
                      <a:lvl1pPr marL="469900" indent="-46990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itchFamily="2" charset="2"/>
                        <a:defRPr sz="2600">
                          <a:solidFill>
                            <a:schemeClr val="tx1"/>
                          </a:solidFill>
                          <a:latin typeface="Verdana" pitchFamily="34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itchFamily="2" charset="2"/>
                        <a:defRPr sz="2200">
                          <a:solidFill>
                            <a:schemeClr val="tx1"/>
                          </a:solidFill>
                          <a:latin typeface="Verdana" pitchFamily="34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itchFamily="2" charset="2"/>
                        <a:defRPr sz="2100">
                          <a:solidFill>
                            <a:schemeClr val="tx1"/>
                          </a:solidFill>
                          <a:latin typeface="Verdana" pitchFamily="34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Verdana" pitchFamily="34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25000"/>
                        </a:spcBef>
                        <a:buClr>
                          <a:schemeClr val="accent2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Verdana" pitchFamily="34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Verdana" pitchFamily="34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Verdana" pitchFamily="34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Verdana" pitchFamily="34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Verdana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469900" marR="0" lvl="0" indent="-46990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ea typeface="方正书宋简体" charset="-122"/>
                          <a:cs typeface="Times New Roman" pitchFamily="18" charset="0"/>
                        </a:rPr>
                        <a:t>u</a:t>
                      </a:r>
                    </a:p>
                  </a:txBody>
                  <a:tcPr marL="54000" marR="54000" marT="36000" marB="360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FF"/>
                    </a:solidFill>
                  </a:tcPr>
                </a:tc>
                <a:tc>
                  <a:txBody>
                    <a:bodyPr/>
                    <a:lstStyle>
                      <a:lvl1pPr marL="469900" indent="-46990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itchFamily="2" charset="2"/>
                        <a:defRPr sz="2600">
                          <a:solidFill>
                            <a:schemeClr val="tx1"/>
                          </a:solidFill>
                          <a:latin typeface="Verdana" pitchFamily="34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itchFamily="2" charset="2"/>
                        <a:defRPr sz="2200">
                          <a:solidFill>
                            <a:schemeClr val="tx1"/>
                          </a:solidFill>
                          <a:latin typeface="Verdana" pitchFamily="34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itchFamily="2" charset="2"/>
                        <a:defRPr sz="2100">
                          <a:solidFill>
                            <a:schemeClr val="tx1"/>
                          </a:solidFill>
                          <a:latin typeface="Verdana" pitchFamily="34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Verdana" pitchFamily="34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25000"/>
                        </a:spcBef>
                        <a:buClr>
                          <a:schemeClr val="accent2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Verdana" pitchFamily="34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Verdana" pitchFamily="34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Verdana" pitchFamily="34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Verdana" pitchFamily="34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Verdana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469900" marR="0" lvl="0" indent="-46990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ea typeface="方正书宋简体" charset="-122"/>
                          <a:cs typeface="Times New Roman" pitchFamily="18" charset="0"/>
                        </a:rPr>
                        <a:t>取消上一次的操作，相当于</a:t>
                      </a:r>
                      <a:r>
                        <a:rPr kumimoji="0" lang="en-US" altLang="zh-CN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ea typeface="方正书宋简体" charset="-122"/>
                          <a:cs typeface="Times New Roman" pitchFamily="18" charset="0"/>
                        </a:rPr>
                        <a:t>undo</a:t>
                      </a:r>
                      <a:r>
                        <a:rPr kumimoji="0" lang="zh-CN" alt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ea typeface="方正书宋简体" charset="-122"/>
                          <a:cs typeface="Times New Roman" pitchFamily="18" charset="0"/>
                        </a:rPr>
                        <a:t>。</a:t>
                      </a:r>
                    </a:p>
                  </a:txBody>
                  <a:tcPr marL="54000" marR="54000" marT="36000" marB="360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3089472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130" name="Rectangle 2"/>
          <p:cNvSpPr>
            <a:spLocks noGrp="1" noChangeArrowheads="1"/>
          </p:cNvSpPr>
          <p:nvPr>
            <p:ph type="title"/>
          </p:nvPr>
        </p:nvSpPr>
        <p:spPr>
          <a:xfrm>
            <a:off x="688504" y="551309"/>
            <a:ext cx="10742984" cy="858837"/>
          </a:xfrm>
        </p:spPr>
        <p:txBody>
          <a:bodyPr/>
          <a:lstStyle/>
          <a:p>
            <a:r>
              <a:rPr kumimoji="1" lang="zh-CN" altLang="en-US" dirty="0"/>
              <a:t>文本输入模式</a:t>
            </a:r>
            <a:endParaRPr kumimoji="1" lang="zh-CN" altLang="en-US" sz="3200" dirty="0">
              <a:ea typeface="楷体_GB2312" pitchFamily="49" charset="-122"/>
            </a:endParaRPr>
          </a:p>
        </p:txBody>
      </p:sp>
      <p:sp>
        <p:nvSpPr>
          <p:cNvPr id="30413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199456" y="1556792"/>
            <a:ext cx="10081120" cy="4320480"/>
          </a:xfrm>
        </p:spPr>
        <p:txBody>
          <a:bodyPr/>
          <a:lstStyle/>
          <a:p>
            <a:pPr>
              <a:lnSpc>
                <a:spcPct val="130000"/>
              </a:lnSpc>
            </a:pPr>
            <a:r>
              <a:rPr kumimoji="1" lang="zh-CN" altLang="en-US" sz="2600" dirty="0"/>
              <a:t>在</a:t>
            </a:r>
            <a:r>
              <a:rPr kumimoji="1" lang="zh-CN" altLang="en-US" sz="2600" dirty="0">
                <a:solidFill>
                  <a:srgbClr val="CC0099"/>
                </a:solidFill>
              </a:rPr>
              <a:t>命令模式下</a:t>
            </a:r>
            <a:r>
              <a:rPr kumimoji="1" lang="zh-CN" altLang="en-US" sz="2600" dirty="0"/>
              <a:t>输入</a:t>
            </a:r>
            <a:r>
              <a:rPr kumimoji="1" lang="zh-CN" altLang="en-US" sz="2600" dirty="0">
                <a:solidFill>
                  <a:srgbClr val="CC0099"/>
                </a:solidFill>
              </a:rPr>
              <a:t>插入命令</a:t>
            </a:r>
            <a:r>
              <a:rPr kumimoji="1" lang="en-US" altLang="zh-CN" sz="2600" dirty="0">
                <a:solidFill>
                  <a:srgbClr val="CC0099"/>
                </a:solidFill>
              </a:rPr>
              <a:t>i</a:t>
            </a:r>
            <a:r>
              <a:rPr kumimoji="1" lang="zh-CN" altLang="en-US" sz="2600" dirty="0"/>
              <a:t>、</a:t>
            </a:r>
            <a:r>
              <a:rPr kumimoji="1" lang="zh-CN" altLang="en-US" sz="2600" dirty="0">
                <a:solidFill>
                  <a:srgbClr val="CC0099"/>
                </a:solidFill>
              </a:rPr>
              <a:t>附加命令</a:t>
            </a:r>
            <a:r>
              <a:rPr kumimoji="1" lang="en-US" altLang="zh-CN" sz="2600" dirty="0">
                <a:solidFill>
                  <a:srgbClr val="CC0099"/>
                </a:solidFill>
              </a:rPr>
              <a:t>a</a:t>
            </a:r>
            <a:r>
              <a:rPr kumimoji="1" lang="zh-CN" altLang="en-US" sz="2600" dirty="0"/>
              <a:t>、</a:t>
            </a:r>
            <a:r>
              <a:rPr kumimoji="1" lang="zh-CN" altLang="en-US" sz="2600" dirty="0">
                <a:solidFill>
                  <a:srgbClr val="CC0099"/>
                </a:solidFill>
              </a:rPr>
              <a:t>打开命令</a:t>
            </a:r>
            <a:r>
              <a:rPr kumimoji="1" lang="en-US" altLang="zh-CN" sz="2600" dirty="0">
                <a:solidFill>
                  <a:srgbClr val="CC0099"/>
                </a:solidFill>
              </a:rPr>
              <a:t>o</a:t>
            </a:r>
            <a:r>
              <a:rPr kumimoji="1" lang="zh-CN" altLang="en-US" sz="2600" dirty="0"/>
              <a:t>、</a:t>
            </a:r>
            <a:r>
              <a:rPr kumimoji="1" lang="zh-CN" altLang="en-US" sz="2600" dirty="0">
                <a:solidFill>
                  <a:srgbClr val="CC0099"/>
                </a:solidFill>
              </a:rPr>
              <a:t>修改命令</a:t>
            </a:r>
            <a:r>
              <a:rPr kumimoji="1" lang="en-US" altLang="zh-CN" sz="2600" dirty="0">
                <a:solidFill>
                  <a:srgbClr val="CC0099"/>
                </a:solidFill>
              </a:rPr>
              <a:t>c</a:t>
            </a:r>
            <a:r>
              <a:rPr kumimoji="1" lang="zh-CN" altLang="en-US" sz="2600" dirty="0"/>
              <a:t>、</a:t>
            </a:r>
            <a:r>
              <a:rPr kumimoji="1" lang="zh-CN" altLang="en-US" sz="2600" dirty="0">
                <a:solidFill>
                  <a:srgbClr val="CC0099"/>
                </a:solidFill>
              </a:rPr>
              <a:t>取代命令</a:t>
            </a:r>
            <a:r>
              <a:rPr kumimoji="1" lang="en-US" altLang="zh-CN" sz="2600" dirty="0">
                <a:solidFill>
                  <a:srgbClr val="CC0099"/>
                </a:solidFill>
              </a:rPr>
              <a:t>r</a:t>
            </a:r>
            <a:r>
              <a:rPr kumimoji="1" lang="zh-CN" altLang="en-US" sz="2600" dirty="0"/>
              <a:t>或</a:t>
            </a:r>
            <a:r>
              <a:rPr kumimoji="1" lang="zh-CN" altLang="en-US" sz="2600" dirty="0">
                <a:solidFill>
                  <a:srgbClr val="CC0099"/>
                </a:solidFill>
              </a:rPr>
              <a:t>替换命令</a:t>
            </a:r>
            <a:r>
              <a:rPr kumimoji="1" lang="en-US" altLang="zh-CN" sz="2600" dirty="0">
                <a:solidFill>
                  <a:srgbClr val="CC0099"/>
                </a:solidFill>
              </a:rPr>
              <a:t>s</a:t>
            </a:r>
            <a:r>
              <a:rPr kumimoji="1" lang="zh-CN" altLang="en-US" sz="2600" dirty="0"/>
              <a:t>都可以进入文本输入模式，也称编辑模式或插入模式。</a:t>
            </a:r>
          </a:p>
          <a:p>
            <a:pPr>
              <a:lnSpc>
                <a:spcPct val="130000"/>
              </a:lnSpc>
            </a:pPr>
            <a:r>
              <a:rPr kumimoji="1" lang="zh-CN" altLang="en-US" sz="2600" dirty="0"/>
              <a:t>一旦进入</a:t>
            </a:r>
            <a:r>
              <a:rPr kumimoji="1" lang="zh-CN" altLang="en-US" sz="2600" dirty="0">
                <a:solidFill>
                  <a:srgbClr val="0000CC"/>
                </a:solidFill>
              </a:rPr>
              <a:t>文本输入模式</a:t>
            </a:r>
            <a:r>
              <a:rPr kumimoji="1" lang="zh-CN" altLang="en-US" sz="2600" dirty="0"/>
              <a:t>，用户输入的任何字符都被</a:t>
            </a:r>
            <a:r>
              <a:rPr kumimoji="1" lang="en-US" altLang="zh-CN" sz="2600" dirty="0"/>
              <a:t>vim</a:t>
            </a:r>
            <a:r>
              <a:rPr kumimoji="1" lang="zh-CN" altLang="en-US" sz="2600" dirty="0"/>
              <a:t>当作文件内容保存起来，并在屏幕上显示。键入</a:t>
            </a:r>
            <a:r>
              <a:rPr kumimoji="1" lang="zh-CN" altLang="en-US" sz="2600" dirty="0">
                <a:latin typeface="Arial"/>
              </a:rPr>
              <a:t>“</a:t>
            </a:r>
            <a:r>
              <a:rPr kumimoji="1" lang="en-US" altLang="zh-CN" sz="2600" dirty="0">
                <a:solidFill>
                  <a:srgbClr val="CC0099"/>
                </a:solidFill>
              </a:rPr>
              <a:t>Esc</a:t>
            </a:r>
            <a:r>
              <a:rPr kumimoji="1" lang="en-US" altLang="zh-CN" sz="2600" dirty="0">
                <a:solidFill>
                  <a:srgbClr val="CC0099"/>
                </a:solidFill>
                <a:latin typeface="Arial"/>
              </a:rPr>
              <a:t>”</a:t>
            </a:r>
            <a:r>
              <a:rPr kumimoji="1" lang="zh-CN" altLang="en-US" sz="2600" dirty="0">
                <a:solidFill>
                  <a:srgbClr val="CC0099"/>
                </a:solidFill>
              </a:rPr>
              <a:t>键</a:t>
            </a:r>
            <a:r>
              <a:rPr kumimoji="1" lang="zh-CN" altLang="en-US" sz="2600" dirty="0"/>
              <a:t>，</a:t>
            </a:r>
            <a:r>
              <a:rPr kumimoji="1" lang="en-US" altLang="zh-CN" sz="2600" dirty="0"/>
              <a:t>vim</a:t>
            </a:r>
            <a:r>
              <a:rPr kumimoji="1" lang="zh-CN" altLang="en-US" sz="2600" dirty="0"/>
              <a:t>编辑器将</a:t>
            </a:r>
            <a:r>
              <a:rPr kumimoji="1" lang="zh-CN" altLang="en-US" sz="2600" dirty="0">
                <a:solidFill>
                  <a:srgbClr val="CC0099"/>
                </a:solidFill>
              </a:rPr>
              <a:t>自动回到命令模式</a:t>
            </a:r>
            <a:r>
              <a:rPr kumimoji="1" lang="zh-CN" altLang="en-US" sz="2600" dirty="0"/>
              <a:t>，此时所有的按键又称为命令键。</a:t>
            </a: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110871B5-850E-4E14-A636-3EC679EBF038}" type="slidenum">
              <a:rPr lang="en-US" altLang="zh-CN" smtClean="0"/>
              <a:pPr>
                <a:defRPr/>
              </a:pPr>
              <a:t>9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174122058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348" name="Text Box 4"/>
          <p:cNvSpPr txBox="1">
            <a:spLocks noChangeArrowheads="1"/>
          </p:cNvSpPr>
          <p:nvPr/>
        </p:nvSpPr>
        <p:spPr bwMode="auto">
          <a:xfrm>
            <a:off x="1127448" y="1628800"/>
            <a:ext cx="10225136" cy="378956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marL="457200" indent="-457200" algn="l">
              <a:lnSpc>
                <a:spcPct val="120000"/>
              </a:lnSpc>
              <a:spcBef>
                <a:spcPct val="50000"/>
              </a:spcBef>
              <a:buSzPct val="80000"/>
              <a:buFont typeface="Wingdings" panose="05000000000000000000" pitchFamily="2" charset="2"/>
              <a:buChar char="l"/>
            </a:pPr>
            <a:r>
              <a:rPr kumimoji="1" lang="zh-CN" altLang="en-US" sz="2600" dirty="0">
                <a:latin typeface="+mn-ea"/>
                <a:ea typeface="+mn-ea"/>
              </a:rPr>
              <a:t>在命令模式下，</a:t>
            </a:r>
            <a:r>
              <a:rPr kumimoji="1" lang="zh-CN" altLang="en-US" sz="2600" dirty="0">
                <a:solidFill>
                  <a:srgbClr val="CC0099"/>
                </a:solidFill>
                <a:latin typeface="+mn-ea"/>
                <a:ea typeface="+mn-ea"/>
              </a:rPr>
              <a:t>按“</a:t>
            </a:r>
            <a:r>
              <a:rPr kumimoji="1" lang="en-US" altLang="zh-CN" sz="2600" dirty="0">
                <a:solidFill>
                  <a:srgbClr val="CC0099"/>
                </a:solidFill>
                <a:latin typeface="+mn-ea"/>
                <a:ea typeface="+mn-ea"/>
              </a:rPr>
              <a:t>:”</a:t>
            </a:r>
            <a:r>
              <a:rPr kumimoji="1" lang="zh-CN" altLang="en-US" sz="2600" dirty="0">
                <a:solidFill>
                  <a:srgbClr val="CC0099"/>
                </a:solidFill>
                <a:latin typeface="+mn-ea"/>
                <a:ea typeface="+mn-ea"/>
              </a:rPr>
              <a:t>键即可进入末行模式</a:t>
            </a:r>
            <a:r>
              <a:rPr kumimoji="1" lang="zh-CN" altLang="en-US" sz="2600" dirty="0">
                <a:latin typeface="+mn-ea"/>
                <a:ea typeface="+mn-ea"/>
              </a:rPr>
              <a:t>。（此时屏幕的底行将出现一个编辑行，而光标将出现该行的行首。）</a:t>
            </a:r>
          </a:p>
          <a:p>
            <a:pPr marL="457200" indent="-457200" algn="l">
              <a:lnSpc>
                <a:spcPct val="120000"/>
              </a:lnSpc>
              <a:spcBef>
                <a:spcPct val="50000"/>
              </a:spcBef>
              <a:buSzPct val="80000"/>
              <a:buFont typeface="Wingdings" panose="05000000000000000000" pitchFamily="2" charset="2"/>
              <a:buChar char="l"/>
            </a:pPr>
            <a:r>
              <a:rPr kumimoji="1" lang="zh-CN" altLang="en-US" sz="2600" dirty="0">
                <a:latin typeface="+mn-ea"/>
                <a:ea typeface="+mn-ea"/>
              </a:rPr>
              <a:t>在末行模式下，可在该行上键入字符串形式的末行命令。（例如：文件存盘退出，进入末行模式，最后键入字符“</a:t>
            </a:r>
            <a:r>
              <a:rPr kumimoji="1" lang="en-US" altLang="zh-CN" sz="2600" dirty="0" err="1">
                <a:latin typeface="+mn-ea"/>
                <a:ea typeface="+mn-ea"/>
              </a:rPr>
              <a:t>wq</a:t>
            </a:r>
            <a:r>
              <a:rPr kumimoji="1" lang="en-US" altLang="zh-CN" sz="2600" dirty="0">
                <a:latin typeface="+mn-ea"/>
                <a:ea typeface="+mn-ea"/>
              </a:rPr>
              <a:t>”</a:t>
            </a:r>
            <a:r>
              <a:rPr kumimoji="1" lang="zh-CN" altLang="en-US" sz="2600" dirty="0">
                <a:latin typeface="+mn-ea"/>
                <a:ea typeface="+mn-ea"/>
              </a:rPr>
              <a:t>并回车即可实现编辑程序文件的保存，同时退出</a:t>
            </a:r>
            <a:r>
              <a:rPr kumimoji="1" lang="en-US" altLang="zh-CN" sz="2600" dirty="0">
                <a:latin typeface="+mn-ea"/>
                <a:ea typeface="+mn-ea"/>
              </a:rPr>
              <a:t>vim</a:t>
            </a:r>
            <a:r>
              <a:rPr kumimoji="1" lang="zh-CN" altLang="en-US" sz="2600" dirty="0">
                <a:latin typeface="+mn-ea"/>
                <a:ea typeface="+mn-ea"/>
              </a:rPr>
              <a:t>编辑器。）</a:t>
            </a:r>
          </a:p>
          <a:p>
            <a:pPr marL="457200" indent="-457200" algn="l">
              <a:lnSpc>
                <a:spcPct val="120000"/>
              </a:lnSpc>
              <a:spcBef>
                <a:spcPct val="50000"/>
              </a:spcBef>
              <a:buSzPct val="80000"/>
              <a:buFont typeface="Wingdings" panose="05000000000000000000" pitchFamily="2" charset="2"/>
              <a:buChar char="l"/>
            </a:pPr>
            <a:r>
              <a:rPr kumimoji="1" lang="zh-CN" altLang="en-US" sz="2600" dirty="0">
                <a:solidFill>
                  <a:srgbClr val="0000CC"/>
                </a:solidFill>
                <a:latin typeface="+mn-ea"/>
                <a:ea typeface="+mn-ea"/>
              </a:rPr>
              <a:t>末行模式</a:t>
            </a:r>
            <a:r>
              <a:rPr kumimoji="1" lang="zh-CN" altLang="en-US" sz="2600" dirty="0">
                <a:latin typeface="+mn-ea"/>
                <a:ea typeface="+mn-ea"/>
              </a:rPr>
              <a:t>只是</a:t>
            </a:r>
            <a:r>
              <a:rPr kumimoji="1" lang="zh-CN" altLang="en-US" sz="2600" dirty="0">
                <a:solidFill>
                  <a:srgbClr val="0000CC"/>
                </a:solidFill>
                <a:latin typeface="+mn-ea"/>
                <a:ea typeface="+mn-ea"/>
              </a:rPr>
              <a:t>暂时性的模式</a:t>
            </a:r>
            <a:r>
              <a:rPr kumimoji="1" lang="zh-CN" altLang="en-US" sz="2600" dirty="0">
                <a:latin typeface="+mn-ea"/>
                <a:ea typeface="+mn-ea"/>
              </a:rPr>
              <a:t>，键入“</a:t>
            </a:r>
            <a:r>
              <a:rPr kumimoji="1" lang="en-US" altLang="zh-CN" sz="2600" dirty="0">
                <a:latin typeface="+mn-ea"/>
                <a:ea typeface="+mn-ea"/>
              </a:rPr>
              <a:t>Enter”</a:t>
            </a:r>
            <a:r>
              <a:rPr kumimoji="1" lang="zh-CN" altLang="en-US" sz="2600" dirty="0">
                <a:latin typeface="+mn-ea"/>
                <a:ea typeface="+mn-ea"/>
              </a:rPr>
              <a:t>键执行完末行命令后将自动退出该模式，并自动进入命令模式或退出</a:t>
            </a:r>
            <a:r>
              <a:rPr kumimoji="1" lang="en-US" altLang="zh-CN" sz="2600" dirty="0">
                <a:latin typeface="+mn-ea"/>
                <a:ea typeface="+mn-ea"/>
              </a:rPr>
              <a:t>vim</a:t>
            </a:r>
            <a:r>
              <a:rPr kumimoji="1" lang="zh-CN" altLang="en-US" sz="2600" dirty="0">
                <a:latin typeface="+mn-ea"/>
                <a:ea typeface="+mn-ea"/>
              </a:rPr>
              <a:t>编辑器。   </a:t>
            </a:r>
          </a:p>
        </p:txBody>
      </p:sp>
      <p:sp>
        <p:nvSpPr>
          <p:cNvPr id="185349" name="Rectangle 5"/>
          <p:cNvSpPr>
            <a:spLocks noChangeArrowheads="1"/>
          </p:cNvSpPr>
          <p:nvPr/>
        </p:nvSpPr>
        <p:spPr bwMode="auto">
          <a:xfrm>
            <a:off x="1523492" y="548680"/>
            <a:ext cx="9145016" cy="838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b"/>
          <a:lstStyle>
            <a:lvl1pPr>
              <a:defRPr sz="3800">
                <a:solidFill>
                  <a:schemeClr val="tx2"/>
                </a:solidFill>
                <a:latin typeface="Verdana" pitchFamily="34" charset="0"/>
                <a:ea typeface="宋体" pitchFamily="2" charset="-122"/>
              </a:defRPr>
            </a:lvl1pPr>
            <a:lvl2pPr>
              <a:defRPr sz="3800">
                <a:solidFill>
                  <a:schemeClr val="tx2"/>
                </a:solidFill>
                <a:latin typeface="Verdana" pitchFamily="34" charset="0"/>
                <a:ea typeface="宋体" pitchFamily="2" charset="-122"/>
              </a:defRPr>
            </a:lvl2pPr>
            <a:lvl3pPr>
              <a:defRPr sz="3800">
                <a:solidFill>
                  <a:schemeClr val="tx2"/>
                </a:solidFill>
                <a:latin typeface="Verdana" pitchFamily="34" charset="0"/>
                <a:ea typeface="宋体" pitchFamily="2" charset="-122"/>
              </a:defRPr>
            </a:lvl3pPr>
            <a:lvl4pPr>
              <a:defRPr sz="3800">
                <a:solidFill>
                  <a:schemeClr val="tx2"/>
                </a:solidFill>
                <a:latin typeface="Verdana" pitchFamily="34" charset="0"/>
                <a:ea typeface="宋体" pitchFamily="2" charset="-122"/>
              </a:defRPr>
            </a:lvl4pPr>
            <a:lvl5pPr>
              <a:defRPr sz="3800">
                <a:solidFill>
                  <a:schemeClr val="tx2"/>
                </a:solidFill>
                <a:latin typeface="Verdana" pitchFamily="34" charset="0"/>
                <a:ea typeface="宋体" pitchFamily="2" charset="-122"/>
              </a:defRPr>
            </a:lvl5pPr>
            <a:lvl6pPr marL="457200" fontAlgn="base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itchFamily="34" charset="0"/>
                <a:ea typeface="宋体" pitchFamily="2" charset="-122"/>
              </a:defRPr>
            </a:lvl6pPr>
            <a:lvl7pPr marL="914400" fontAlgn="base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itchFamily="34" charset="0"/>
                <a:ea typeface="宋体" pitchFamily="2" charset="-122"/>
              </a:defRPr>
            </a:lvl7pPr>
            <a:lvl8pPr marL="1371600" fontAlgn="base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itchFamily="34" charset="0"/>
                <a:ea typeface="宋体" pitchFamily="2" charset="-122"/>
              </a:defRPr>
            </a:lvl8pPr>
            <a:lvl9pPr marL="1828800" fontAlgn="base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itchFamily="34" charset="0"/>
                <a:ea typeface="宋体" pitchFamily="2" charset="-122"/>
              </a:defRPr>
            </a:lvl9pPr>
          </a:lstStyle>
          <a:p>
            <a:r>
              <a:rPr kumimoji="1" lang="zh-CN" altLang="en-US" sz="4000" dirty="0">
                <a:solidFill>
                  <a:schemeClr val="tx1"/>
                </a:solidFill>
                <a:latin typeface="+mj-ea"/>
                <a:ea typeface="+mj-ea"/>
                <a:cs typeface="+mj-cs"/>
              </a:rPr>
              <a:t>末行模式</a:t>
            </a:r>
            <a:endParaRPr kumimoji="1" lang="zh-CN" altLang="en-US" sz="3200" dirty="0">
              <a:ea typeface="楷体_GB2312" pitchFamily="49" charset="-122"/>
            </a:endParaRP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41D94E44-2D0C-41AB-5A25-A70F762F5523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4799856" y="5802472"/>
            <a:ext cx="2844800" cy="457200"/>
          </a:xfrm>
        </p:spPr>
        <p:txBody>
          <a:bodyPr/>
          <a:lstStyle/>
          <a:p>
            <a:pPr>
              <a:defRPr/>
            </a:pPr>
            <a:fld id="{110871B5-850E-4E14-A636-3EC679EBF038}" type="slidenum">
              <a:rPr lang="en-US" altLang="zh-CN" smtClean="0"/>
              <a:pPr>
                <a:defRPr/>
              </a:pPr>
              <a:t>10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422906819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372" name="Text Box 4"/>
          <p:cNvSpPr txBox="1">
            <a:spLocks noChangeArrowheads="1"/>
          </p:cNvSpPr>
          <p:nvPr/>
        </p:nvSpPr>
        <p:spPr bwMode="auto">
          <a:xfrm>
            <a:off x="1055440" y="1373412"/>
            <a:ext cx="10153128" cy="457586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spcBef>
                <a:spcPct val="20000"/>
              </a:spcBef>
              <a:buSzPct val="80000"/>
            </a:pPr>
            <a:r>
              <a:rPr kumimoji="1" lang="zh-CN" altLang="en-US" sz="2600" dirty="0">
                <a:latin typeface="+mn-ea"/>
                <a:ea typeface="+mn-ea"/>
              </a:rPr>
              <a:t>使用</a:t>
            </a:r>
            <a:r>
              <a:rPr kumimoji="1" lang="en-US" altLang="zh-CN" sz="2600" dirty="0">
                <a:latin typeface="+mn-ea"/>
                <a:ea typeface="+mn-ea"/>
              </a:rPr>
              <a:t>vim</a:t>
            </a:r>
            <a:r>
              <a:rPr kumimoji="1" lang="zh-CN" altLang="en-US" sz="2600" dirty="0">
                <a:latin typeface="+mn-ea"/>
                <a:ea typeface="+mn-ea"/>
              </a:rPr>
              <a:t>进行编辑工作的第一步是进入编辑模式界面。</a:t>
            </a:r>
            <a:endParaRPr kumimoji="1" lang="en-US" altLang="zh-CN" sz="2600" dirty="0">
              <a:latin typeface="+mn-ea"/>
              <a:ea typeface="+mn-ea"/>
            </a:endParaRPr>
          </a:p>
          <a:p>
            <a:pPr algn="l">
              <a:lnSpc>
                <a:spcPct val="110000"/>
              </a:lnSpc>
              <a:spcBef>
                <a:spcPct val="20000"/>
              </a:spcBef>
            </a:pPr>
            <a:r>
              <a:rPr kumimoji="1" lang="zh-CN" altLang="en-US" sz="2600" dirty="0">
                <a:solidFill>
                  <a:srgbClr val="0000CC"/>
                </a:solidFill>
                <a:latin typeface="+mn-ea"/>
                <a:ea typeface="+mn-ea"/>
              </a:rPr>
              <a:t>基本格式</a:t>
            </a:r>
            <a:r>
              <a:rPr kumimoji="1" lang="zh-CN" altLang="en-US" sz="2600" dirty="0">
                <a:latin typeface="+mn-ea"/>
                <a:ea typeface="+mn-ea"/>
              </a:rPr>
              <a:t>：</a:t>
            </a:r>
            <a:r>
              <a:rPr kumimoji="1" lang="en-US" altLang="zh-CN" sz="2600" dirty="0">
                <a:solidFill>
                  <a:srgbClr val="CC0099"/>
                </a:solidFill>
                <a:latin typeface="+mn-ea"/>
                <a:ea typeface="+mn-ea"/>
              </a:rPr>
              <a:t>vim [</a:t>
            </a:r>
            <a:r>
              <a:rPr kumimoji="1" lang="zh-CN" altLang="en-US" sz="2600" dirty="0">
                <a:solidFill>
                  <a:srgbClr val="CC0099"/>
                </a:solidFill>
                <a:latin typeface="+mn-ea"/>
                <a:ea typeface="+mn-ea"/>
              </a:rPr>
              <a:t>选项</a:t>
            </a:r>
            <a:r>
              <a:rPr kumimoji="1" lang="en-US" altLang="zh-CN" sz="2600" dirty="0">
                <a:solidFill>
                  <a:srgbClr val="CC0099"/>
                </a:solidFill>
                <a:latin typeface="+mn-ea"/>
                <a:ea typeface="+mn-ea"/>
              </a:rPr>
              <a:t>] </a:t>
            </a:r>
            <a:r>
              <a:rPr kumimoji="1" lang="zh-CN" altLang="en-US" sz="2600" dirty="0">
                <a:solidFill>
                  <a:srgbClr val="CC0099"/>
                </a:solidFill>
                <a:latin typeface="+mn-ea"/>
                <a:ea typeface="+mn-ea"/>
              </a:rPr>
              <a:t>文件名列表</a:t>
            </a:r>
          </a:p>
          <a:p>
            <a:pPr algn="l">
              <a:lnSpc>
                <a:spcPct val="110000"/>
              </a:lnSpc>
              <a:spcBef>
                <a:spcPct val="20000"/>
              </a:spcBef>
            </a:pPr>
            <a:r>
              <a:rPr kumimoji="1" lang="zh-CN" altLang="en-US" sz="2600" dirty="0">
                <a:latin typeface="+mn-ea"/>
                <a:ea typeface="+mn-ea"/>
              </a:rPr>
              <a:t>常用选项说明：</a:t>
            </a:r>
            <a:endParaRPr kumimoji="1" lang="en-US" altLang="zh-CN" sz="2600" dirty="0">
              <a:latin typeface="+mn-ea"/>
              <a:ea typeface="+mn-ea"/>
            </a:endParaRPr>
          </a:p>
          <a:p>
            <a:pPr algn="l">
              <a:lnSpc>
                <a:spcPct val="110000"/>
              </a:lnSpc>
              <a:spcBef>
                <a:spcPct val="20000"/>
              </a:spcBef>
            </a:pPr>
            <a:r>
              <a:rPr kumimoji="1" lang="en-US" altLang="zh-CN" sz="2600" dirty="0">
                <a:latin typeface="+mn-ea"/>
                <a:ea typeface="+mn-ea"/>
              </a:rPr>
              <a:t>-r	</a:t>
            </a:r>
            <a:r>
              <a:rPr kumimoji="1" lang="zh-CN" altLang="en-US" sz="2600" dirty="0">
                <a:latin typeface="+mn-ea"/>
                <a:ea typeface="+mn-ea"/>
              </a:rPr>
              <a:t>用于恢复系统突然崩溃时正在编辑的文件；</a:t>
            </a:r>
          </a:p>
          <a:p>
            <a:pPr algn="l">
              <a:lnSpc>
                <a:spcPct val="110000"/>
              </a:lnSpc>
              <a:spcBef>
                <a:spcPct val="20000"/>
              </a:spcBef>
            </a:pPr>
            <a:r>
              <a:rPr kumimoji="1" lang="en-US" altLang="zh-CN" sz="2600" dirty="0">
                <a:latin typeface="+mn-ea"/>
                <a:ea typeface="+mn-ea"/>
              </a:rPr>
              <a:t>-R	</a:t>
            </a:r>
            <a:r>
              <a:rPr kumimoji="1" lang="zh-CN" altLang="en-US" sz="2600" dirty="0">
                <a:latin typeface="+mn-ea"/>
                <a:ea typeface="+mn-ea"/>
              </a:rPr>
              <a:t>用于以只读方式打开文件；</a:t>
            </a:r>
          </a:p>
          <a:p>
            <a:pPr algn="l">
              <a:lnSpc>
                <a:spcPct val="110000"/>
              </a:lnSpc>
              <a:spcBef>
                <a:spcPct val="20000"/>
              </a:spcBef>
            </a:pPr>
            <a:r>
              <a:rPr kumimoji="1" lang="en-US" altLang="zh-CN" sz="2600" dirty="0">
                <a:latin typeface="+mn-ea"/>
                <a:ea typeface="+mn-ea"/>
              </a:rPr>
              <a:t>+n	</a:t>
            </a:r>
            <a:r>
              <a:rPr kumimoji="1" lang="zh-CN" altLang="en-US" sz="2600" dirty="0">
                <a:latin typeface="+mn-ea"/>
                <a:ea typeface="+mn-ea"/>
              </a:rPr>
              <a:t>用来指明进入</a:t>
            </a:r>
            <a:r>
              <a:rPr kumimoji="1" lang="en-US" altLang="zh-CN" sz="2600" dirty="0">
                <a:latin typeface="+mn-ea"/>
                <a:ea typeface="+mn-ea"/>
              </a:rPr>
              <a:t>vim</a:t>
            </a:r>
            <a:r>
              <a:rPr kumimoji="1" lang="zh-CN" altLang="en-US" sz="2600" dirty="0">
                <a:latin typeface="+mn-ea"/>
                <a:ea typeface="+mn-ea"/>
              </a:rPr>
              <a:t>编辑器后，屏幕显示到文件的第</a:t>
            </a:r>
            <a:r>
              <a:rPr kumimoji="1" lang="en-US" altLang="zh-CN" sz="2600" dirty="0">
                <a:latin typeface="+mn-ea"/>
                <a:ea typeface="+mn-ea"/>
              </a:rPr>
              <a:t>n</a:t>
            </a:r>
            <a:r>
              <a:rPr kumimoji="1" lang="zh-CN" altLang="en-US" sz="2600" dirty="0">
                <a:latin typeface="+mn-ea"/>
                <a:ea typeface="+mn-ea"/>
              </a:rPr>
              <a:t>行为止，如果不指定</a:t>
            </a:r>
            <a:r>
              <a:rPr kumimoji="1" lang="en-US" altLang="zh-CN" sz="2600" dirty="0">
                <a:latin typeface="+mn-ea"/>
                <a:ea typeface="+mn-ea"/>
              </a:rPr>
              <a:t>n</a:t>
            </a:r>
            <a:r>
              <a:rPr kumimoji="1" lang="zh-CN" altLang="en-US" sz="2600" dirty="0">
                <a:latin typeface="+mn-ea"/>
                <a:ea typeface="+mn-ea"/>
              </a:rPr>
              <a:t>，则显示到末行。</a:t>
            </a:r>
          </a:p>
          <a:p>
            <a:pPr algn="l">
              <a:lnSpc>
                <a:spcPct val="110000"/>
              </a:lnSpc>
              <a:spcBef>
                <a:spcPct val="20000"/>
              </a:spcBef>
            </a:pPr>
            <a:r>
              <a:rPr kumimoji="1" lang="zh-CN" altLang="en-US" sz="2600" dirty="0">
                <a:latin typeface="+mn-ea"/>
                <a:ea typeface="+mn-ea"/>
              </a:rPr>
              <a:t>例如：在</a:t>
            </a:r>
            <a:r>
              <a:rPr kumimoji="1" lang="en-US" altLang="zh-CN" sz="2600" dirty="0">
                <a:latin typeface="+mn-ea"/>
                <a:ea typeface="+mn-ea"/>
              </a:rPr>
              <a:t>shell</a:t>
            </a:r>
            <a:r>
              <a:rPr kumimoji="1" lang="zh-CN" altLang="en-US" sz="2600" dirty="0">
                <a:latin typeface="+mn-ea"/>
                <a:ea typeface="+mn-ea"/>
              </a:rPr>
              <a:t>命令行下，键入 </a:t>
            </a:r>
            <a:r>
              <a:rPr kumimoji="1" lang="en-US" altLang="zh-CN" sz="2600" dirty="0">
                <a:latin typeface="+mn-ea"/>
                <a:ea typeface="+mn-ea"/>
              </a:rPr>
              <a:t>vim </a:t>
            </a:r>
            <a:r>
              <a:rPr kumimoji="1" lang="en-US" altLang="zh-CN" sz="2600" dirty="0" err="1">
                <a:latin typeface="+mn-ea"/>
                <a:ea typeface="+mn-ea"/>
              </a:rPr>
              <a:t>hello.c</a:t>
            </a:r>
            <a:endParaRPr kumimoji="1" lang="zh-CN" altLang="en-US" sz="2600" dirty="0">
              <a:latin typeface="+mn-ea"/>
              <a:ea typeface="+mn-ea"/>
            </a:endParaRPr>
          </a:p>
          <a:p>
            <a:pPr algn="l">
              <a:lnSpc>
                <a:spcPct val="110000"/>
              </a:lnSpc>
              <a:spcBef>
                <a:spcPct val="20000"/>
              </a:spcBef>
            </a:pPr>
            <a:r>
              <a:rPr lang="zh-CN" altLang="en-US" sz="2600" dirty="0"/>
              <a:t>［</a:t>
            </a:r>
            <a:r>
              <a:rPr lang="en-US" altLang="zh-CN" sz="2600" dirty="0"/>
              <a:t>root@ localhost ~ </a:t>
            </a:r>
            <a:r>
              <a:rPr lang="zh-CN" altLang="en-US" sz="2600" dirty="0"/>
              <a:t>］</a:t>
            </a:r>
            <a:r>
              <a:rPr lang="en-US" altLang="zh-CN" sz="2600" dirty="0"/>
              <a:t>#</a:t>
            </a:r>
            <a:r>
              <a:rPr lang="zh-CN" altLang="en-US" sz="2600" dirty="0"/>
              <a:t> </a:t>
            </a:r>
            <a:r>
              <a:rPr kumimoji="1" lang="en-US" altLang="zh-CN" sz="2600" dirty="0">
                <a:latin typeface="+mn-ea"/>
                <a:ea typeface="+mn-ea"/>
              </a:rPr>
              <a:t>vim </a:t>
            </a:r>
            <a:r>
              <a:rPr kumimoji="1" lang="en-US" altLang="zh-CN" sz="2600" dirty="0" err="1">
                <a:latin typeface="+mn-ea"/>
                <a:ea typeface="+mn-ea"/>
              </a:rPr>
              <a:t>hello.c</a:t>
            </a:r>
            <a:r>
              <a:rPr kumimoji="1" lang="en-US" altLang="zh-CN" sz="2600" dirty="0">
                <a:latin typeface="+mn-ea"/>
                <a:ea typeface="+mn-ea"/>
              </a:rPr>
              <a:t> </a:t>
            </a:r>
            <a:endParaRPr kumimoji="1" lang="zh-CN" altLang="en-US" sz="2600" dirty="0">
              <a:latin typeface="+mn-ea"/>
              <a:ea typeface="+mn-ea"/>
            </a:endParaRPr>
          </a:p>
        </p:txBody>
      </p:sp>
      <p:sp>
        <p:nvSpPr>
          <p:cNvPr id="186373" name="Rectangle 5"/>
          <p:cNvSpPr>
            <a:spLocks noChangeArrowheads="1"/>
          </p:cNvSpPr>
          <p:nvPr/>
        </p:nvSpPr>
        <p:spPr bwMode="auto">
          <a:xfrm>
            <a:off x="2567608" y="598328"/>
            <a:ext cx="7056784" cy="7114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Bef>
                <a:spcPct val="20000"/>
              </a:spcBef>
            </a:pPr>
            <a:r>
              <a:rPr lang="en-US" altLang="zh-CN" sz="4000" dirty="0">
                <a:latin typeface="+mj-lt"/>
                <a:ea typeface="+mj-ea"/>
                <a:cs typeface="+mj-cs"/>
              </a:rPr>
              <a:t>vim</a:t>
            </a:r>
            <a:r>
              <a:rPr kumimoji="1" lang="zh-CN" altLang="en-US" sz="4000" dirty="0">
                <a:latin typeface="+mj-ea"/>
                <a:ea typeface="+mj-ea"/>
              </a:rPr>
              <a:t>的运行与退出</a:t>
            </a: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700C099A-6552-4724-AD39-B0EE2F003FA2}" type="slidenum">
              <a:rPr lang="en-US" altLang="zh-CN" smtClean="0"/>
              <a:pPr>
                <a:defRPr/>
              </a:pPr>
              <a:t>11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83478234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396" name="Text Box 4"/>
          <p:cNvSpPr txBox="1">
            <a:spLocks noChangeArrowheads="1"/>
          </p:cNvSpPr>
          <p:nvPr/>
        </p:nvSpPr>
        <p:spPr bwMode="auto">
          <a:xfrm>
            <a:off x="1055440" y="5238062"/>
            <a:ext cx="10207376" cy="85523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spcBef>
                <a:spcPct val="20000"/>
              </a:spcBef>
            </a:pPr>
            <a:r>
              <a:rPr kumimoji="1" lang="zh-CN" altLang="en-US" sz="2400" dirty="0">
                <a:latin typeface="+mn-ea"/>
                <a:ea typeface="+mn-ea"/>
              </a:rPr>
              <a:t>如果当前目录下有</a:t>
            </a:r>
            <a:r>
              <a:rPr kumimoji="1" lang="en-US" altLang="zh-CN" sz="2400" dirty="0">
                <a:latin typeface="+mn-ea"/>
                <a:ea typeface="+mn-ea"/>
              </a:rPr>
              <a:t>hello.c</a:t>
            </a:r>
            <a:r>
              <a:rPr kumimoji="1" lang="zh-CN" altLang="en-US" sz="2400" dirty="0">
                <a:latin typeface="+mn-ea"/>
                <a:ea typeface="+mn-ea"/>
              </a:rPr>
              <a:t>文件，则打开该文件，如果当前目录下无该文件，则新建</a:t>
            </a:r>
            <a:r>
              <a:rPr kumimoji="1" lang="en-US" altLang="zh-CN" sz="2400" dirty="0">
                <a:latin typeface="+mn-ea"/>
                <a:ea typeface="+mn-ea"/>
              </a:rPr>
              <a:t>hello.c</a:t>
            </a:r>
            <a:r>
              <a:rPr kumimoji="1" lang="zh-CN" altLang="en-US" sz="2400" dirty="0">
                <a:latin typeface="+mn-ea"/>
                <a:ea typeface="+mn-ea"/>
              </a:rPr>
              <a:t>文件。此时进入的是命令模式，光标位于屏幕的顶端。</a:t>
            </a: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700C099A-6552-4724-AD39-B0EE2F003FA2}" type="slidenum">
              <a:rPr lang="en-US" altLang="zh-CN" smtClean="0"/>
              <a:pPr>
                <a:defRPr/>
              </a:pPr>
              <a:t>12</a:t>
            </a:fld>
            <a:endParaRPr lang="en-US" altLang="zh-CN"/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716F5821-2814-89BA-5E11-9C241800E67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63552" y="620688"/>
            <a:ext cx="7488832" cy="45545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577407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420" name="Text Box 4"/>
          <p:cNvSpPr txBox="1">
            <a:spLocks noChangeArrowheads="1"/>
          </p:cNvSpPr>
          <p:nvPr/>
        </p:nvSpPr>
        <p:spPr bwMode="auto">
          <a:xfrm>
            <a:off x="1127448" y="5310070"/>
            <a:ext cx="10081119" cy="85523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spcBef>
                <a:spcPct val="20000"/>
              </a:spcBef>
            </a:pPr>
            <a:r>
              <a:rPr kumimoji="1" lang="zh-CN" altLang="en-US" sz="2400" dirty="0">
                <a:latin typeface="+mn-ea"/>
                <a:ea typeface="+mn-ea"/>
              </a:rPr>
              <a:t>在命令行模式下键入</a:t>
            </a:r>
            <a:r>
              <a:rPr kumimoji="1" lang="en-US" altLang="zh-CN" sz="2400" dirty="0">
                <a:latin typeface="+mn-ea"/>
                <a:ea typeface="+mn-ea"/>
              </a:rPr>
              <a:t>i</a:t>
            </a:r>
            <a:r>
              <a:rPr kumimoji="1" lang="zh-CN" altLang="en-US" sz="2400" dirty="0">
                <a:latin typeface="+mn-ea"/>
                <a:ea typeface="+mn-ea"/>
              </a:rPr>
              <a:t>，可切换</a:t>
            </a:r>
            <a:r>
              <a:rPr kumimoji="1" lang="en-US" altLang="zh-CN" sz="2400" dirty="0">
                <a:latin typeface="+mn-ea"/>
                <a:ea typeface="+mn-ea"/>
              </a:rPr>
              <a:t>vim</a:t>
            </a:r>
            <a:r>
              <a:rPr kumimoji="1" lang="zh-CN" altLang="en-US" sz="2400" dirty="0">
                <a:latin typeface="+mn-ea"/>
                <a:ea typeface="+mn-ea"/>
              </a:rPr>
              <a:t>编辑器到插入模式，在屏幕底部显示有“插入”表示插入模式，在该模式下可以录入程序源代码。</a:t>
            </a: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700C099A-6552-4724-AD39-B0EE2F003FA2}" type="slidenum">
              <a:rPr lang="en-US" altLang="zh-CN" smtClean="0"/>
              <a:pPr>
                <a:defRPr/>
              </a:pPr>
              <a:t>13</a:t>
            </a:fld>
            <a:endParaRPr lang="en-US" altLang="zh-CN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43E21BC8-06B6-5EE7-F53E-90606321E233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46446" y="692696"/>
            <a:ext cx="8346689" cy="439248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40670026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444" name="Text Box 4"/>
          <p:cNvSpPr txBox="1">
            <a:spLocks noChangeArrowheads="1"/>
          </p:cNvSpPr>
          <p:nvPr/>
        </p:nvSpPr>
        <p:spPr bwMode="auto">
          <a:xfrm>
            <a:off x="1055440" y="4660834"/>
            <a:ext cx="10081120" cy="150810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algn="l">
              <a:spcBef>
                <a:spcPct val="20000"/>
              </a:spcBef>
            </a:pPr>
            <a:r>
              <a:rPr kumimoji="1" lang="zh-CN" altLang="en-US" sz="2300" dirty="0">
                <a:latin typeface="+mn-ea"/>
                <a:ea typeface="+mn-ea"/>
              </a:rPr>
              <a:t>在插入模式中，按下“</a:t>
            </a:r>
            <a:r>
              <a:rPr kumimoji="1" lang="en-US" altLang="zh-CN" sz="2300" dirty="0">
                <a:latin typeface="+mn-ea"/>
                <a:ea typeface="+mn-ea"/>
              </a:rPr>
              <a:t>Esc”</a:t>
            </a:r>
            <a:r>
              <a:rPr kumimoji="1" lang="zh-CN" altLang="en-US" sz="2300" dirty="0">
                <a:latin typeface="+mn-ea"/>
                <a:ea typeface="+mn-ea"/>
              </a:rPr>
              <a:t>建，则当前模式转入到命令模式，再键入“</a:t>
            </a:r>
            <a:r>
              <a:rPr kumimoji="1" lang="en-US" altLang="zh-CN" sz="2300" dirty="0">
                <a:latin typeface="+mn-ea"/>
                <a:ea typeface="+mn-ea"/>
              </a:rPr>
              <a:t>:”</a:t>
            </a:r>
            <a:r>
              <a:rPr kumimoji="1" lang="zh-CN" altLang="en-US" sz="2300" dirty="0">
                <a:latin typeface="+mn-ea"/>
                <a:ea typeface="+mn-ea"/>
              </a:rPr>
              <a:t>键，则从命令模式转入到末行模式，并在底行显示“</a:t>
            </a:r>
            <a:r>
              <a:rPr kumimoji="1" lang="en-US" altLang="zh-CN" sz="2300" dirty="0">
                <a:latin typeface="+mn-ea"/>
                <a:ea typeface="+mn-ea"/>
              </a:rPr>
              <a:t>:”</a:t>
            </a:r>
            <a:r>
              <a:rPr kumimoji="1" lang="zh-CN" altLang="en-US" sz="2300" dirty="0">
                <a:latin typeface="+mn-ea"/>
                <a:ea typeface="+mn-ea"/>
              </a:rPr>
              <a:t>，在末行模式下键入字符串命令“</a:t>
            </a:r>
            <a:r>
              <a:rPr kumimoji="1" lang="en-US" altLang="zh-CN" sz="2300" dirty="0" err="1">
                <a:latin typeface="+mn-ea"/>
                <a:ea typeface="+mn-ea"/>
              </a:rPr>
              <a:t>wq</a:t>
            </a:r>
            <a:r>
              <a:rPr kumimoji="1" lang="en-US" altLang="zh-CN" sz="2300" dirty="0">
                <a:latin typeface="+mn-ea"/>
                <a:ea typeface="+mn-ea"/>
              </a:rPr>
              <a:t>”</a:t>
            </a:r>
            <a:r>
              <a:rPr kumimoji="1" lang="zh-CN" altLang="en-US" sz="2300" dirty="0">
                <a:latin typeface="+mn-ea"/>
                <a:ea typeface="+mn-ea"/>
              </a:rPr>
              <a:t>（存盘退出），界面如图所示，未键入回车时，末行命令不被执行，键入回车可发现编辑器退出。 </a:t>
            </a: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700C099A-6552-4724-AD39-B0EE2F003FA2}" type="slidenum">
              <a:rPr lang="en-US" altLang="zh-CN" smtClean="0"/>
              <a:pPr>
                <a:defRPr/>
              </a:pPr>
              <a:t>14</a:t>
            </a:fld>
            <a:endParaRPr lang="en-US" altLang="zh-CN" dirty="0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1F7E17C6-B054-CDED-9703-EE3C29AB1435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79576" y="598328"/>
            <a:ext cx="8300658" cy="4085991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57134809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807D5B14-D777-42CF-8582-FAA5692CF43B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700C099A-6552-4724-AD39-B0EE2F003FA2}" type="slidenum">
              <a:rPr lang="en-US" altLang="zh-CN" smtClean="0"/>
              <a:pPr>
                <a:defRPr/>
              </a:pPr>
              <a:t>15</a:t>
            </a:fld>
            <a:endParaRPr lang="en-US" altLang="zh-CN"/>
          </a:p>
        </p:txBody>
      </p:sp>
      <p:sp>
        <p:nvSpPr>
          <p:cNvPr id="5" name="Text Box 4">
            <a:extLst>
              <a:ext uri="{FF2B5EF4-FFF2-40B4-BE49-F238E27FC236}">
                <a16:creationId xmlns:a16="http://schemas.microsoft.com/office/drawing/2014/main" id="{DD6D6CA9-B575-422C-8891-8544DFEACAB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11338" y="5195588"/>
            <a:ext cx="8569325" cy="44896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l">
              <a:lnSpc>
                <a:spcPct val="110000"/>
              </a:lnSpc>
              <a:spcBef>
                <a:spcPct val="20000"/>
              </a:spcBef>
            </a:pPr>
            <a:r>
              <a:rPr kumimoji="1" lang="zh-CN" altLang="en-US" sz="2400" dirty="0">
                <a:latin typeface="+mn-ea"/>
                <a:ea typeface="+mn-ea"/>
              </a:rPr>
              <a:t>编译程序、运行程序。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F0EEB2B3-B7F6-ABE7-2022-D5ED1FB4B6E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30844" y="836713"/>
            <a:ext cx="8549819" cy="40408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2800129"/>
      </p:ext>
    </p:extLst>
  </p:cSld>
  <p:clrMapOvr>
    <a:masterClrMapping/>
  </p:clrMapOvr>
  <p:transition spd="slow"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5" name="Rectangle 2"/>
          <p:cNvSpPr>
            <a:spLocks noGrp="1" noChangeArrowheads="1"/>
          </p:cNvSpPr>
          <p:nvPr>
            <p:ph type="title"/>
          </p:nvPr>
        </p:nvSpPr>
        <p:spPr>
          <a:xfrm>
            <a:off x="2351584" y="465749"/>
            <a:ext cx="6870700" cy="844550"/>
          </a:xfrm>
        </p:spPr>
        <p:txBody>
          <a:bodyPr/>
          <a:lstStyle/>
          <a:p>
            <a:pPr eaLnBrk="1" hangingPunct="1"/>
            <a:r>
              <a:rPr lang="zh-CN" altLang="en-US" dirty="0"/>
              <a:t>末行常用命令</a:t>
            </a:r>
            <a:endParaRPr lang="zh-CN" altLang="zh-CN" sz="2400" dirty="0"/>
          </a:p>
        </p:txBody>
      </p:sp>
      <p:sp>
        <p:nvSpPr>
          <p:cNvPr id="1843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343472" y="1340768"/>
            <a:ext cx="9793088" cy="4608512"/>
          </a:xfrm>
        </p:spPr>
        <p:txBody>
          <a:bodyPr/>
          <a:lstStyle/>
          <a:p>
            <a:pPr eaLnBrk="1" hangingPunct="1">
              <a:lnSpc>
                <a:spcPct val="120000"/>
              </a:lnSpc>
              <a:buFontTx/>
              <a:buNone/>
            </a:pPr>
            <a:r>
              <a:rPr lang="en-US" altLang="zh-CN" sz="2600" dirty="0"/>
              <a:t>(</a:t>
            </a:r>
            <a:r>
              <a:rPr lang="zh-CN" altLang="zh-CN" sz="2600" dirty="0"/>
              <a:t>1) 列出行号 </a:t>
            </a:r>
          </a:p>
          <a:p>
            <a:pPr eaLnBrk="1" hangingPunct="1">
              <a:lnSpc>
                <a:spcPct val="120000"/>
              </a:lnSpc>
              <a:buFontTx/>
              <a:buNone/>
            </a:pPr>
            <a:r>
              <a:rPr lang="zh-CN" altLang="zh-CN" sz="2600" dirty="0"/>
              <a:t>　</a:t>
            </a:r>
            <a:r>
              <a:rPr lang="en-US" altLang="zh-CN" sz="2600" dirty="0"/>
              <a:t>: </a:t>
            </a:r>
            <a:r>
              <a:rPr lang="zh-CN" altLang="zh-CN" sz="2600" dirty="0">
                <a:solidFill>
                  <a:srgbClr val="0000CC"/>
                </a:solidFill>
              </a:rPr>
              <a:t>se nu</a:t>
            </a:r>
            <a:endParaRPr lang="en-US" altLang="zh-CN" sz="2600" dirty="0">
              <a:solidFill>
                <a:srgbClr val="0000CC"/>
              </a:solidFill>
            </a:endParaRPr>
          </a:p>
          <a:p>
            <a:pPr eaLnBrk="1" hangingPunct="1">
              <a:lnSpc>
                <a:spcPct val="120000"/>
              </a:lnSpc>
              <a:buFontTx/>
              <a:buNone/>
            </a:pPr>
            <a:r>
              <a:rPr lang="zh-CN" altLang="zh-CN" sz="2600" dirty="0"/>
              <a:t>输入</a:t>
            </a:r>
            <a:r>
              <a:rPr lang="zh-CN" altLang="en-US" sz="2600" dirty="0"/>
              <a:t>“</a:t>
            </a:r>
            <a:r>
              <a:rPr lang="zh-CN" altLang="zh-CN" sz="2600" dirty="0"/>
              <a:t>se</a:t>
            </a:r>
            <a:r>
              <a:rPr lang="en-US" altLang="zh-CN" sz="2600" dirty="0"/>
              <a:t>  </a:t>
            </a:r>
            <a:r>
              <a:rPr lang="zh-CN" altLang="zh-CN" sz="2600" dirty="0"/>
              <a:t>nu</a:t>
            </a:r>
            <a:r>
              <a:rPr lang="zh-CN" altLang="en-US" sz="2600" dirty="0"/>
              <a:t>”</a:t>
            </a:r>
            <a:r>
              <a:rPr lang="zh-CN" altLang="zh-CN" sz="2600" dirty="0"/>
              <a:t>后，会在文件中的每一行前面列出行号。 </a:t>
            </a:r>
          </a:p>
          <a:p>
            <a:pPr eaLnBrk="1" hangingPunct="1">
              <a:lnSpc>
                <a:spcPct val="120000"/>
              </a:lnSpc>
              <a:buFontTx/>
              <a:buNone/>
            </a:pPr>
            <a:r>
              <a:rPr lang="en-US" altLang="zh-CN" sz="2600" dirty="0"/>
              <a:t>(</a:t>
            </a:r>
            <a:r>
              <a:rPr lang="zh-CN" altLang="zh-CN" sz="2600" dirty="0"/>
              <a:t>2) 跳到文件中的某一行 </a:t>
            </a:r>
          </a:p>
          <a:p>
            <a:pPr eaLnBrk="1" hangingPunct="1">
              <a:lnSpc>
                <a:spcPct val="120000"/>
              </a:lnSpc>
              <a:buFontTx/>
              <a:buNone/>
            </a:pPr>
            <a:r>
              <a:rPr lang="zh-CN" altLang="zh-CN" sz="2600" dirty="0"/>
              <a:t>　</a:t>
            </a:r>
            <a:r>
              <a:rPr lang="zh-CN" altLang="en-US" sz="2600" dirty="0"/>
              <a:t>：</a:t>
            </a:r>
            <a:r>
              <a:rPr lang="zh-CN" altLang="zh-CN" sz="2600" dirty="0">
                <a:solidFill>
                  <a:srgbClr val="0000CC"/>
                </a:solidFill>
              </a:rPr>
              <a:t>#</a:t>
            </a:r>
            <a:endParaRPr lang="en-US" altLang="zh-CN" sz="2600" dirty="0">
              <a:solidFill>
                <a:srgbClr val="0000CC"/>
              </a:solidFill>
            </a:endParaRPr>
          </a:p>
          <a:p>
            <a:pPr eaLnBrk="1" hangingPunct="1">
              <a:lnSpc>
                <a:spcPct val="120000"/>
              </a:lnSpc>
              <a:buFontTx/>
              <a:buNone/>
            </a:pPr>
            <a:r>
              <a:rPr lang="zh-CN" altLang="en-US" sz="2600" dirty="0"/>
              <a:t>“</a:t>
            </a:r>
            <a:r>
              <a:rPr lang="zh-CN" altLang="zh-CN" sz="2600" dirty="0"/>
              <a:t>#</a:t>
            </a:r>
            <a:r>
              <a:rPr lang="zh-CN" altLang="en-US" sz="2600" dirty="0"/>
              <a:t>”</a:t>
            </a:r>
            <a:r>
              <a:rPr lang="zh-CN" altLang="zh-CN" sz="2600" dirty="0"/>
              <a:t>号表示一个数字，在冒号后输入一个数字，再按回车键就会跳到该行了，</a:t>
            </a:r>
            <a:r>
              <a:rPr lang="zh-CN" altLang="en-US" sz="2600" dirty="0"/>
              <a:t>例如</a:t>
            </a:r>
            <a:r>
              <a:rPr lang="zh-CN" altLang="zh-CN" sz="2600" dirty="0"/>
              <a:t>输入数字15，再回车，就会跳到文章的第15行。 </a:t>
            </a:r>
          </a:p>
          <a:p>
            <a:pPr eaLnBrk="1" hangingPunct="1">
              <a:buFontTx/>
              <a:buNone/>
            </a:pPr>
            <a:endParaRPr lang="zh-CN" altLang="zh-CN" b="1" dirty="0"/>
          </a:p>
        </p:txBody>
      </p:sp>
      <p:sp>
        <p:nvSpPr>
          <p:cNvPr id="5" name="灯片编号占位符 1"/>
          <p:cNvSpPr>
            <a:spLocks noGrp="1"/>
          </p:cNvSpPr>
          <p:nvPr>
            <p:ph type="sldNum" sz="quarter" idx="11"/>
          </p:nvPr>
        </p:nvSpPr>
        <p:spPr>
          <a:xfrm>
            <a:off x="5053013" y="6240463"/>
            <a:ext cx="2133600" cy="457200"/>
          </a:xfrm>
        </p:spPr>
        <p:txBody>
          <a:bodyPr/>
          <a:lstStyle/>
          <a:p>
            <a:pPr>
              <a:defRPr/>
            </a:pPr>
            <a:fld id="{700C099A-6552-4724-AD39-B0EE2F003FA2}" type="slidenum">
              <a:rPr lang="en-US" altLang="zh-CN" smtClean="0"/>
              <a:pPr>
                <a:defRPr/>
              </a:pPr>
              <a:t>16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429081050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9" name="Rectangle 2"/>
          <p:cNvSpPr>
            <a:spLocks noGrp="1" noChangeArrowheads="1"/>
          </p:cNvSpPr>
          <p:nvPr>
            <p:ph type="title"/>
          </p:nvPr>
        </p:nvSpPr>
        <p:spPr>
          <a:xfrm>
            <a:off x="2279576" y="565211"/>
            <a:ext cx="6870700" cy="844550"/>
          </a:xfrm>
        </p:spPr>
        <p:txBody>
          <a:bodyPr/>
          <a:lstStyle/>
          <a:p>
            <a:pPr eaLnBrk="1" hangingPunct="1"/>
            <a:r>
              <a:rPr lang="zh-CN" altLang="en-US" dirty="0"/>
              <a:t>末行常用命令</a:t>
            </a:r>
            <a:endParaRPr lang="zh-CN" altLang="zh-CN" sz="2400" dirty="0"/>
          </a:p>
        </p:txBody>
      </p:sp>
      <p:sp>
        <p:nvSpPr>
          <p:cNvPr id="1946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091444" y="1305244"/>
            <a:ext cx="10009111" cy="4935219"/>
          </a:xfrm>
        </p:spPr>
        <p:txBody>
          <a:bodyPr/>
          <a:lstStyle/>
          <a:p>
            <a:pPr eaLnBrk="1" hangingPunct="1">
              <a:lnSpc>
                <a:spcPct val="120000"/>
              </a:lnSpc>
              <a:buFontTx/>
              <a:buNone/>
            </a:pPr>
            <a:r>
              <a:rPr lang="en-US" altLang="zh-CN" sz="2600" dirty="0"/>
              <a:t>(</a:t>
            </a:r>
            <a:r>
              <a:rPr lang="zh-CN" altLang="zh-CN" sz="2600" dirty="0"/>
              <a:t>3) 查找字符 </a:t>
            </a:r>
          </a:p>
          <a:p>
            <a:pPr eaLnBrk="1" hangingPunct="1">
              <a:lnSpc>
                <a:spcPct val="120000"/>
              </a:lnSpc>
              <a:buFontTx/>
              <a:buNone/>
            </a:pPr>
            <a:r>
              <a:rPr lang="zh-CN" altLang="zh-CN" sz="2600" dirty="0"/>
              <a:t>　</a:t>
            </a:r>
            <a:r>
              <a:rPr lang="en-US" altLang="zh-CN" sz="2600" dirty="0">
                <a:solidFill>
                  <a:srgbClr val="0000CC"/>
                </a:solidFill>
              </a:rPr>
              <a:t>:  </a:t>
            </a:r>
            <a:r>
              <a:rPr lang="zh-CN" altLang="zh-CN" sz="2600" dirty="0">
                <a:solidFill>
                  <a:srgbClr val="0000CC"/>
                </a:solidFill>
              </a:rPr>
              <a:t>/关键字</a:t>
            </a:r>
            <a:endParaRPr lang="en-US" altLang="zh-CN" sz="2600" dirty="0">
              <a:solidFill>
                <a:srgbClr val="0000CC"/>
              </a:solidFill>
            </a:endParaRPr>
          </a:p>
          <a:p>
            <a:pPr eaLnBrk="1" hangingPunct="1">
              <a:lnSpc>
                <a:spcPct val="120000"/>
              </a:lnSpc>
              <a:buFontTx/>
              <a:buNone/>
            </a:pPr>
            <a:r>
              <a:rPr lang="en-US" altLang="zh-CN" sz="2600" dirty="0">
                <a:solidFill>
                  <a:srgbClr val="0000CC"/>
                </a:solidFill>
              </a:rPr>
              <a:t>    </a:t>
            </a:r>
            <a:r>
              <a:rPr lang="zh-CN" altLang="zh-CN" sz="2600" dirty="0"/>
              <a:t>先按</a:t>
            </a:r>
            <a:r>
              <a:rPr lang="zh-CN" altLang="en-US" sz="2600" dirty="0"/>
              <a:t>“</a:t>
            </a:r>
            <a:r>
              <a:rPr lang="zh-CN" altLang="zh-CN" sz="2600" dirty="0"/>
              <a:t>/</a:t>
            </a:r>
            <a:r>
              <a:rPr lang="en-US" altLang="zh-CN" sz="2600" dirty="0"/>
              <a:t>”</a:t>
            </a:r>
            <a:r>
              <a:rPr lang="zh-CN" altLang="zh-CN" sz="2600" dirty="0"/>
              <a:t>，再输入您想寻找的字符，如果第一次找的关键字不是想要的，可以一直按</a:t>
            </a:r>
            <a:r>
              <a:rPr lang="zh-CN" altLang="en-US" sz="2600" dirty="0"/>
              <a:t>“</a:t>
            </a:r>
            <a:r>
              <a:rPr lang="zh-CN" altLang="zh-CN" sz="2600" dirty="0"/>
              <a:t>n</a:t>
            </a:r>
            <a:r>
              <a:rPr lang="zh-CN" altLang="en-US" sz="2600" dirty="0"/>
              <a:t>”</a:t>
            </a:r>
            <a:r>
              <a:rPr lang="zh-CN" altLang="zh-CN" sz="2600" dirty="0"/>
              <a:t>会往</a:t>
            </a:r>
            <a:r>
              <a:rPr lang="zh-CN" altLang="zh-CN" sz="2600" dirty="0">
                <a:solidFill>
                  <a:srgbClr val="FF0000"/>
                </a:solidFill>
              </a:rPr>
              <a:t>后</a:t>
            </a:r>
            <a:r>
              <a:rPr lang="zh-CN" altLang="zh-CN" sz="2600" dirty="0"/>
              <a:t>寻找到要的关键字为止。 </a:t>
            </a:r>
          </a:p>
          <a:p>
            <a:pPr eaLnBrk="1" hangingPunct="1">
              <a:lnSpc>
                <a:spcPct val="120000"/>
              </a:lnSpc>
              <a:buFontTx/>
              <a:buNone/>
            </a:pPr>
            <a:r>
              <a:rPr lang="zh-CN" altLang="zh-CN" sz="2600" dirty="0"/>
              <a:t>　</a:t>
            </a:r>
            <a:r>
              <a:rPr lang="en-US" altLang="zh-CN" sz="2600" dirty="0"/>
              <a:t>: </a:t>
            </a:r>
            <a:r>
              <a:rPr lang="zh-CN" altLang="zh-CN" sz="2600" dirty="0">
                <a:solidFill>
                  <a:srgbClr val="0000CC"/>
                </a:solidFill>
              </a:rPr>
              <a:t>?关键字</a:t>
            </a:r>
            <a:endParaRPr lang="en-US" altLang="zh-CN" sz="2600" dirty="0">
              <a:solidFill>
                <a:srgbClr val="0000CC"/>
              </a:solidFill>
            </a:endParaRPr>
          </a:p>
          <a:p>
            <a:pPr eaLnBrk="1" hangingPunct="1">
              <a:lnSpc>
                <a:spcPct val="120000"/>
              </a:lnSpc>
              <a:buFontTx/>
              <a:buNone/>
            </a:pPr>
            <a:r>
              <a:rPr lang="en-US" altLang="zh-CN" sz="2600" dirty="0">
                <a:solidFill>
                  <a:srgbClr val="0000CC"/>
                </a:solidFill>
              </a:rPr>
              <a:t>   </a:t>
            </a:r>
            <a:r>
              <a:rPr lang="zh-CN" altLang="zh-CN" sz="2600" dirty="0"/>
              <a:t>先按</a:t>
            </a:r>
            <a:r>
              <a:rPr lang="zh-CN" altLang="en-US" sz="2600" dirty="0"/>
              <a:t>“</a:t>
            </a:r>
            <a:r>
              <a:rPr lang="zh-CN" altLang="zh-CN" sz="2600" dirty="0"/>
              <a:t>?</a:t>
            </a:r>
            <a:r>
              <a:rPr lang="zh-CN" altLang="en-US" sz="2600" dirty="0"/>
              <a:t>”</a:t>
            </a:r>
            <a:r>
              <a:rPr lang="zh-CN" altLang="zh-CN" sz="2600" dirty="0"/>
              <a:t>，再输入您想寻找的字符，如果第一次找的关键字不是想要的，可以一直按</a:t>
            </a:r>
            <a:r>
              <a:rPr lang="zh-CN" altLang="en-US" sz="2600" dirty="0"/>
              <a:t>“</a:t>
            </a:r>
            <a:r>
              <a:rPr lang="zh-CN" altLang="zh-CN" sz="2600" dirty="0"/>
              <a:t>n</a:t>
            </a:r>
            <a:r>
              <a:rPr lang="zh-CN" altLang="en-US" sz="2600" dirty="0"/>
              <a:t>”</a:t>
            </a:r>
            <a:r>
              <a:rPr lang="zh-CN" altLang="zh-CN" sz="2600" dirty="0"/>
              <a:t>会往</a:t>
            </a:r>
            <a:r>
              <a:rPr lang="zh-CN" altLang="zh-CN" sz="2600" dirty="0">
                <a:solidFill>
                  <a:srgbClr val="FF0000"/>
                </a:solidFill>
              </a:rPr>
              <a:t>前</a:t>
            </a:r>
            <a:r>
              <a:rPr lang="zh-CN" altLang="zh-CN" sz="2600" dirty="0"/>
              <a:t>寻找到您要的关键字为止。 </a:t>
            </a:r>
          </a:p>
        </p:txBody>
      </p:sp>
      <p:sp>
        <p:nvSpPr>
          <p:cNvPr id="5" name="灯片编号占位符 1"/>
          <p:cNvSpPr>
            <a:spLocks noGrp="1"/>
          </p:cNvSpPr>
          <p:nvPr>
            <p:ph type="sldNum" sz="quarter" idx="11"/>
          </p:nvPr>
        </p:nvSpPr>
        <p:spPr>
          <a:xfrm>
            <a:off x="5053013" y="6240463"/>
            <a:ext cx="2133600" cy="457200"/>
          </a:xfrm>
        </p:spPr>
        <p:txBody>
          <a:bodyPr/>
          <a:lstStyle/>
          <a:p>
            <a:pPr>
              <a:defRPr/>
            </a:pPr>
            <a:fld id="{700C099A-6552-4724-AD39-B0EE2F003FA2}" type="slidenum">
              <a:rPr lang="en-US" altLang="zh-CN" smtClean="0"/>
              <a:pPr>
                <a:defRPr/>
              </a:pPr>
              <a:t>17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100175617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3" name="Rectangle 2"/>
          <p:cNvSpPr>
            <a:spLocks noGrp="1" noChangeArrowheads="1"/>
          </p:cNvSpPr>
          <p:nvPr>
            <p:ph type="title"/>
          </p:nvPr>
        </p:nvSpPr>
        <p:spPr>
          <a:xfrm>
            <a:off x="2495600" y="466619"/>
            <a:ext cx="6870700" cy="881063"/>
          </a:xfrm>
        </p:spPr>
        <p:txBody>
          <a:bodyPr/>
          <a:lstStyle/>
          <a:p>
            <a:pPr eaLnBrk="1" hangingPunct="1"/>
            <a:r>
              <a:rPr lang="zh-CN" altLang="en-US" dirty="0"/>
              <a:t>末行常用命令</a:t>
            </a:r>
            <a:endParaRPr lang="zh-CN" altLang="zh-CN" sz="2400" dirty="0"/>
          </a:p>
        </p:txBody>
      </p:sp>
      <p:sp>
        <p:nvSpPr>
          <p:cNvPr id="2048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259273" y="1296470"/>
            <a:ext cx="9721080" cy="5112568"/>
          </a:xfrm>
        </p:spPr>
        <p:txBody>
          <a:bodyPr/>
          <a:lstStyle/>
          <a:p>
            <a:pPr eaLnBrk="1" hangingPunct="1">
              <a:buFontTx/>
              <a:buNone/>
            </a:pPr>
            <a:r>
              <a:rPr lang="en-US" altLang="zh-CN" sz="2600" dirty="0"/>
              <a:t>(</a:t>
            </a:r>
            <a:r>
              <a:rPr lang="zh-CN" altLang="zh-CN" sz="2600" dirty="0"/>
              <a:t>4) 保存文件 </a:t>
            </a:r>
          </a:p>
          <a:p>
            <a:pPr eaLnBrk="1" hangingPunct="1">
              <a:buFontTx/>
              <a:buNone/>
            </a:pPr>
            <a:r>
              <a:rPr lang="zh-CN" altLang="zh-CN" sz="2600" dirty="0"/>
              <a:t>　</a:t>
            </a:r>
            <a:r>
              <a:rPr lang="en-US" altLang="zh-CN" sz="2600" dirty="0"/>
              <a:t>: </a:t>
            </a:r>
            <a:r>
              <a:rPr lang="zh-CN" altLang="zh-CN" sz="2600" dirty="0">
                <a:solidFill>
                  <a:srgbClr val="0000CC"/>
                </a:solidFill>
              </a:rPr>
              <a:t>w</a:t>
            </a:r>
            <a:endParaRPr lang="en-US" altLang="zh-CN" sz="2600" dirty="0">
              <a:solidFill>
                <a:srgbClr val="0000CC"/>
              </a:solidFill>
            </a:endParaRPr>
          </a:p>
          <a:p>
            <a:pPr eaLnBrk="1" hangingPunct="1">
              <a:buFontTx/>
              <a:buNone/>
            </a:pPr>
            <a:r>
              <a:rPr lang="en-US" altLang="zh-CN" sz="2600" dirty="0"/>
              <a:t>   </a:t>
            </a:r>
            <a:r>
              <a:rPr lang="zh-CN" altLang="zh-CN" sz="2600" dirty="0"/>
              <a:t>在冒号</a:t>
            </a:r>
            <a:r>
              <a:rPr lang="zh-CN" altLang="en-US" sz="2600" dirty="0"/>
              <a:t>后面</a:t>
            </a:r>
            <a:r>
              <a:rPr lang="zh-CN" altLang="zh-CN" sz="2600" dirty="0"/>
              <a:t>输入字母w就可以将文件保存起来。</a:t>
            </a:r>
            <a:endParaRPr lang="en-US" altLang="zh-CN" sz="2600" dirty="0"/>
          </a:p>
          <a:p>
            <a:pPr eaLnBrk="1" hangingPunct="1">
              <a:buFontTx/>
              <a:buNone/>
            </a:pPr>
            <a:r>
              <a:rPr lang="en-US" altLang="zh-CN" sz="2600" dirty="0"/>
              <a:t>  </a:t>
            </a:r>
            <a:r>
              <a:rPr lang="zh-CN" altLang="zh-CN" sz="2600" dirty="0"/>
              <a:t> </a:t>
            </a:r>
            <a:r>
              <a:rPr lang="zh-CN" altLang="en-US" sz="2600" dirty="0"/>
              <a:t>例如</a:t>
            </a:r>
            <a:r>
              <a:rPr lang="en-US" altLang="zh-CN" sz="2600" b="0" dirty="0"/>
              <a:t> </a:t>
            </a:r>
            <a:r>
              <a:rPr lang="en-US" altLang="zh-CN" sz="2600" dirty="0"/>
              <a:t>: </a:t>
            </a:r>
            <a:r>
              <a:rPr lang="en-US" altLang="zh-CN" sz="2600" dirty="0">
                <a:solidFill>
                  <a:srgbClr val="CC0099"/>
                </a:solidFill>
              </a:rPr>
              <a:t>w  filename  </a:t>
            </a:r>
            <a:r>
              <a:rPr lang="zh-CN" altLang="zh-CN" sz="2600" dirty="0"/>
              <a:t>将编辑的文本保存到名为</a:t>
            </a:r>
            <a:r>
              <a:rPr lang="en-US" altLang="zh-CN" sz="2600" dirty="0"/>
              <a:t>filename</a:t>
            </a:r>
            <a:r>
              <a:rPr lang="zh-CN" altLang="zh-CN" sz="2600" dirty="0"/>
              <a:t>的文件中。</a:t>
            </a:r>
          </a:p>
          <a:p>
            <a:pPr eaLnBrk="1" hangingPunct="1">
              <a:buFontTx/>
              <a:buNone/>
            </a:pPr>
            <a:r>
              <a:rPr lang="en-US" altLang="zh-CN" sz="2600" dirty="0"/>
              <a:t>(</a:t>
            </a:r>
            <a:r>
              <a:rPr lang="zh-CN" altLang="zh-CN" sz="2600" dirty="0"/>
              <a:t>5) 离开vi</a:t>
            </a:r>
            <a:r>
              <a:rPr lang="en-US" altLang="zh-CN" sz="2600" dirty="0"/>
              <a:t>m</a:t>
            </a:r>
            <a:r>
              <a:rPr lang="zh-CN" altLang="zh-CN" sz="2600" dirty="0"/>
              <a:t> </a:t>
            </a:r>
          </a:p>
          <a:p>
            <a:pPr eaLnBrk="1" hangingPunct="1">
              <a:buFontTx/>
              <a:buNone/>
            </a:pPr>
            <a:r>
              <a:rPr lang="zh-CN" altLang="zh-CN" sz="2600" dirty="0"/>
              <a:t>　</a:t>
            </a:r>
            <a:r>
              <a:rPr lang="zh-CN" altLang="en-US" sz="2600" dirty="0"/>
              <a:t>：</a:t>
            </a:r>
            <a:r>
              <a:rPr lang="zh-CN" altLang="zh-CN" sz="2600" dirty="0">
                <a:solidFill>
                  <a:srgbClr val="0000CC"/>
                </a:solidFill>
              </a:rPr>
              <a:t>q</a:t>
            </a:r>
            <a:r>
              <a:rPr lang="en-US" altLang="zh-CN" sz="2600" dirty="0"/>
              <a:t> </a:t>
            </a:r>
          </a:p>
          <a:p>
            <a:pPr eaLnBrk="1" hangingPunct="1">
              <a:buFontTx/>
              <a:buNone/>
            </a:pPr>
            <a:r>
              <a:rPr lang="zh-CN" altLang="en-US" sz="2600" dirty="0"/>
              <a:t>    在冒号后面输入字母</a:t>
            </a:r>
            <a:r>
              <a:rPr lang="zh-CN" altLang="zh-CN" sz="2600" dirty="0"/>
              <a:t>q就是退出</a:t>
            </a:r>
            <a:r>
              <a:rPr lang="en-US" altLang="zh-CN" sz="2600" dirty="0"/>
              <a:t>vim</a:t>
            </a:r>
            <a:r>
              <a:rPr lang="zh-CN" altLang="zh-CN" sz="2600" dirty="0"/>
              <a:t>，如果无法离开vi</a:t>
            </a:r>
            <a:r>
              <a:rPr lang="en-US" altLang="zh-CN" sz="2600" dirty="0"/>
              <a:t>m</a:t>
            </a:r>
            <a:r>
              <a:rPr lang="zh-CN" altLang="zh-CN" sz="2600" dirty="0"/>
              <a:t>，可以在q后跟一个</a:t>
            </a:r>
            <a:r>
              <a:rPr lang="zh-CN" altLang="en-US" sz="2600" dirty="0">
                <a:solidFill>
                  <a:srgbClr val="CC0099"/>
                </a:solidFill>
              </a:rPr>
              <a:t>“</a:t>
            </a:r>
            <a:r>
              <a:rPr lang="zh-CN" altLang="zh-CN" sz="2600" dirty="0">
                <a:solidFill>
                  <a:srgbClr val="CC0099"/>
                </a:solidFill>
              </a:rPr>
              <a:t>!</a:t>
            </a:r>
            <a:r>
              <a:rPr lang="en-US" altLang="zh-CN" sz="2600" dirty="0">
                <a:solidFill>
                  <a:srgbClr val="CC0099"/>
                </a:solidFill>
              </a:rPr>
              <a:t>”</a:t>
            </a:r>
            <a:r>
              <a:rPr lang="zh-CN" altLang="zh-CN" sz="2600" dirty="0"/>
              <a:t>强制离开vi</a:t>
            </a:r>
            <a:r>
              <a:rPr lang="en-US" altLang="zh-CN" sz="2600" dirty="0"/>
              <a:t>m</a:t>
            </a:r>
            <a:r>
              <a:rPr lang="zh-CN" altLang="zh-CN" sz="2600" dirty="0"/>
              <a:t>。 </a:t>
            </a:r>
            <a:r>
              <a:rPr lang="zh-CN" altLang="zh-CN" sz="2600" dirty="0">
                <a:solidFill>
                  <a:srgbClr val="0000CC"/>
                </a:solidFill>
              </a:rPr>
              <a:t>一般建议离开时，搭配w</a:t>
            </a:r>
            <a:r>
              <a:rPr lang="en-US" altLang="zh-CN" sz="2600" dirty="0">
                <a:solidFill>
                  <a:srgbClr val="0000CC"/>
                </a:solidFill>
              </a:rPr>
              <a:t>q</a:t>
            </a:r>
            <a:r>
              <a:rPr lang="zh-CN" altLang="en-US" sz="2600" dirty="0">
                <a:solidFill>
                  <a:srgbClr val="0000CC"/>
                </a:solidFill>
              </a:rPr>
              <a:t>一起</a:t>
            </a:r>
            <a:r>
              <a:rPr lang="zh-CN" altLang="zh-CN" sz="2600" dirty="0">
                <a:solidFill>
                  <a:srgbClr val="0000CC"/>
                </a:solidFill>
              </a:rPr>
              <a:t>使用</a:t>
            </a:r>
            <a:r>
              <a:rPr lang="zh-CN" altLang="zh-CN" sz="2600" dirty="0"/>
              <a:t>，这样在退出的时候</a:t>
            </a:r>
            <a:r>
              <a:rPr lang="zh-CN" altLang="en-US" sz="2600" dirty="0"/>
              <a:t>是先</a:t>
            </a:r>
            <a:r>
              <a:rPr lang="zh-CN" altLang="zh-CN" sz="2600" dirty="0"/>
              <a:t>保存文件</a:t>
            </a:r>
            <a:r>
              <a:rPr lang="zh-CN" altLang="en-US" sz="2600" dirty="0"/>
              <a:t>再退出</a:t>
            </a:r>
            <a:r>
              <a:rPr lang="zh-CN" altLang="zh-CN" sz="2600" dirty="0"/>
              <a:t>。 </a:t>
            </a:r>
          </a:p>
        </p:txBody>
      </p:sp>
      <p:sp>
        <p:nvSpPr>
          <p:cNvPr id="5" name="灯片编号占位符 1"/>
          <p:cNvSpPr>
            <a:spLocks noGrp="1"/>
          </p:cNvSpPr>
          <p:nvPr>
            <p:ph type="sldNum" sz="quarter" idx="11"/>
          </p:nvPr>
        </p:nvSpPr>
        <p:spPr>
          <a:xfrm>
            <a:off x="5053013" y="6240463"/>
            <a:ext cx="2133600" cy="457200"/>
          </a:xfrm>
        </p:spPr>
        <p:txBody>
          <a:bodyPr/>
          <a:lstStyle/>
          <a:p>
            <a:pPr>
              <a:defRPr/>
            </a:pPr>
            <a:fld id="{700C099A-6552-4724-AD39-B0EE2F003FA2}" type="slidenum">
              <a:rPr lang="en-US" altLang="zh-CN" smtClean="0"/>
              <a:pPr>
                <a:defRPr/>
              </a:pPr>
              <a:t>18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195263453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127448" y="1556792"/>
            <a:ext cx="10225136" cy="4536579"/>
          </a:xfrm>
        </p:spPr>
        <p:txBody>
          <a:bodyPr/>
          <a:lstStyle/>
          <a:p>
            <a:r>
              <a:rPr lang="zh-CN" altLang="en-US" sz="2800" dirty="0"/>
              <a:t>使用</a:t>
            </a:r>
            <a:r>
              <a:rPr lang="en-US" altLang="zh-CN" sz="2800" dirty="0"/>
              <a:t>GCC</a:t>
            </a:r>
            <a:r>
              <a:rPr lang="zh-CN" altLang="en-US" sz="2800" dirty="0"/>
              <a:t>编译程序时</a:t>
            </a:r>
            <a:r>
              <a:rPr lang="en-US" altLang="zh-CN" sz="2800" dirty="0"/>
              <a:t>,</a:t>
            </a:r>
            <a:r>
              <a:rPr lang="zh-CN" altLang="en-US" sz="2800" dirty="0"/>
              <a:t>编译过程可以被细分为四个阶段</a:t>
            </a:r>
            <a:r>
              <a:rPr lang="en-US" altLang="zh-CN" sz="2800" dirty="0"/>
              <a:t>:</a:t>
            </a:r>
            <a:endParaRPr lang="zh-CN" altLang="en-US" sz="2800" dirty="0"/>
          </a:p>
          <a:p>
            <a:pPr lvl="1"/>
            <a:r>
              <a:rPr lang="zh-CN" altLang="en-US" dirty="0">
                <a:solidFill>
                  <a:srgbClr val="0000CC"/>
                </a:solidFill>
              </a:rPr>
              <a:t>预处理</a:t>
            </a:r>
            <a:r>
              <a:rPr lang="zh-CN" altLang="en-US" dirty="0"/>
              <a:t>：对源代码文件中的预处理语句，如</a:t>
            </a:r>
            <a:r>
              <a:rPr lang="en-US" altLang="zh-CN" dirty="0"/>
              <a:t>#include</a:t>
            </a:r>
            <a:r>
              <a:rPr lang="zh-CN" altLang="en-US" dirty="0"/>
              <a:t>、</a:t>
            </a:r>
            <a:r>
              <a:rPr lang="en-US" altLang="zh-CN" dirty="0"/>
              <a:t>#define </a:t>
            </a:r>
            <a:r>
              <a:rPr lang="zh-CN" altLang="en-US" dirty="0"/>
              <a:t>等进行解析和处理。</a:t>
            </a:r>
          </a:p>
          <a:p>
            <a:pPr lvl="1"/>
            <a:r>
              <a:rPr lang="zh-CN" altLang="en-US" dirty="0">
                <a:solidFill>
                  <a:srgbClr val="0000CC"/>
                </a:solidFill>
              </a:rPr>
              <a:t>编译</a:t>
            </a:r>
            <a:r>
              <a:rPr lang="zh-CN" altLang="en-US" dirty="0"/>
              <a:t>：就是把预处理后的源代码进行词法和语法分析，生成汇编代码。</a:t>
            </a:r>
          </a:p>
          <a:p>
            <a:pPr lvl="1"/>
            <a:r>
              <a:rPr lang="zh-CN" altLang="en-US" dirty="0">
                <a:solidFill>
                  <a:srgbClr val="0000CC"/>
                </a:solidFill>
              </a:rPr>
              <a:t>汇编</a:t>
            </a:r>
            <a:r>
              <a:rPr lang="zh-CN" altLang="en-US" dirty="0"/>
              <a:t>：将第二步输出的汇编代码进行优化，生成目标代码文件。</a:t>
            </a:r>
          </a:p>
          <a:p>
            <a:pPr lvl="1"/>
            <a:r>
              <a:rPr lang="zh-CN" altLang="en-US" dirty="0">
                <a:solidFill>
                  <a:srgbClr val="0000CC"/>
                </a:solidFill>
              </a:rPr>
              <a:t>链接</a:t>
            </a:r>
            <a:r>
              <a:rPr lang="zh-CN" altLang="en-US" dirty="0"/>
              <a:t>：将上步生成的目标文件和系统库的目标文件和库文件链接起来，最终生成了可以在特定平台运行的可执行文件。</a:t>
            </a: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110871B5-850E-4E14-A636-3EC679EBF038}" type="slidenum">
              <a:rPr lang="en-US" altLang="zh-CN" smtClean="0"/>
              <a:pPr>
                <a:defRPr/>
              </a:pPr>
              <a:t>19</a:t>
            </a:fld>
            <a:endParaRPr lang="en-US" altLang="zh-CN"/>
          </a:p>
        </p:txBody>
      </p:sp>
      <p:sp>
        <p:nvSpPr>
          <p:cNvPr id="7" name="Text Box 4">
            <a:extLst>
              <a:ext uri="{FF2B5EF4-FFF2-40B4-BE49-F238E27FC236}">
                <a16:creationId xmlns:a16="http://schemas.microsoft.com/office/drawing/2014/main" id="{C7CBD952-B4EA-43BF-8A7A-45353F8739E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03388" y="592277"/>
            <a:ext cx="8640762" cy="701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>
              <a:spcBef>
                <a:spcPct val="20000"/>
              </a:spcBef>
            </a:pPr>
            <a:r>
              <a:rPr lang="en-US" altLang="zh-CN" sz="4000" dirty="0">
                <a:latin typeface="+mj-lt"/>
                <a:ea typeface="+mj-ea"/>
                <a:cs typeface="+mj-cs"/>
              </a:rPr>
              <a:t>6.2</a:t>
            </a:r>
            <a:r>
              <a:rPr kumimoji="1" lang="en-US" altLang="zh-CN" sz="4000" dirty="0">
                <a:latin typeface="+mj-ea"/>
                <a:ea typeface="+mj-ea"/>
              </a:rPr>
              <a:t>  </a:t>
            </a:r>
            <a:r>
              <a:rPr lang="en-US" altLang="zh-CN" sz="4000" dirty="0">
                <a:latin typeface="+mj-lt"/>
                <a:ea typeface="+mj-ea"/>
                <a:cs typeface="+mj-cs"/>
              </a:rPr>
              <a:t>GCC</a:t>
            </a:r>
            <a:r>
              <a:rPr kumimoji="1" lang="zh-CN" altLang="en-US" sz="4000" dirty="0">
                <a:latin typeface="+mj-ea"/>
                <a:ea typeface="+mj-ea"/>
              </a:rPr>
              <a:t>编译器</a:t>
            </a:r>
          </a:p>
        </p:txBody>
      </p:sp>
    </p:spTree>
    <p:extLst>
      <p:ext uri="{BB962C8B-B14F-4D97-AF65-F5344CB8AC3E}">
        <p14:creationId xmlns:p14="http://schemas.microsoft.com/office/powerpoint/2010/main" val="66380889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612" name="Text Box 4"/>
          <p:cNvSpPr txBox="1">
            <a:spLocks noChangeArrowheads="1"/>
          </p:cNvSpPr>
          <p:nvPr/>
        </p:nvSpPr>
        <p:spPr bwMode="auto">
          <a:xfrm>
            <a:off x="1775619" y="511496"/>
            <a:ext cx="8640762" cy="7078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20000"/>
              </a:spcBef>
            </a:pPr>
            <a:r>
              <a:rPr lang="en-US" altLang="zh-CN" sz="4000" dirty="0">
                <a:latin typeface="+mj-lt"/>
                <a:ea typeface="+mj-ea"/>
                <a:cs typeface="+mj-cs"/>
              </a:rPr>
              <a:t>GCC</a:t>
            </a:r>
            <a:r>
              <a:rPr kumimoji="1" lang="zh-CN" altLang="en-US" sz="4000" dirty="0">
                <a:latin typeface="+mj-ea"/>
                <a:ea typeface="+mj-ea"/>
              </a:rPr>
              <a:t>语法格式 </a:t>
            </a:r>
          </a:p>
        </p:txBody>
      </p:sp>
      <p:sp>
        <p:nvSpPr>
          <p:cNvPr id="196613" name="Text Box 5"/>
          <p:cNvSpPr txBox="1">
            <a:spLocks noChangeArrowheads="1"/>
          </p:cNvSpPr>
          <p:nvPr/>
        </p:nvSpPr>
        <p:spPr bwMode="auto">
          <a:xfrm>
            <a:off x="1343472" y="1459587"/>
            <a:ext cx="9721080" cy="421346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spcBef>
                <a:spcPct val="25000"/>
              </a:spcBef>
              <a:buFont typeface="Wingdings" pitchFamily="2" charset="2"/>
              <a:buNone/>
            </a:pPr>
            <a:r>
              <a:rPr kumimoji="1" lang="zh-CN" altLang="en-US" sz="2600" dirty="0">
                <a:latin typeface="+mn-ea"/>
                <a:ea typeface="+mn-ea"/>
              </a:rPr>
              <a:t>使用</a:t>
            </a:r>
            <a:r>
              <a:rPr kumimoji="1" lang="en-US" altLang="zh-CN" sz="2600" dirty="0">
                <a:latin typeface="+mn-ea"/>
                <a:ea typeface="+mn-ea"/>
              </a:rPr>
              <a:t>GCC</a:t>
            </a:r>
            <a:r>
              <a:rPr kumimoji="1" lang="zh-CN" altLang="en-US" sz="2600" dirty="0">
                <a:latin typeface="+mn-ea"/>
                <a:ea typeface="+mn-ea"/>
              </a:rPr>
              <a:t>编译器的基本语法格式如下</a:t>
            </a:r>
            <a:r>
              <a:rPr kumimoji="1" lang="en-US" altLang="zh-CN" sz="2600" dirty="0">
                <a:latin typeface="+mn-ea"/>
                <a:ea typeface="+mn-ea"/>
              </a:rPr>
              <a:t>:</a:t>
            </a:r>
          </a:p>
          <a:p>
            <a:pPr algn="l">
              <a:lnSpc>
                <a:spcPct val="110000"/>
              </a:lnSpc>
              <a:spcBef>
                <a:spcPct val="25000"/>
              </a:spcBef>
            </a:pPr>
            <a:r>
              <a:rPr kumimoji="1" lang="en-US" altLang="zh-CN" sz="2600" dirty="0">
                <a:latin typeface="+mn-ea"/>
                <a:ea typeface="+mn-ea"/>
              </a:rPr>
              <a:t> </a:t>
            </a:r>
            <a:r>
              <a:rPr kumimoji="1" lang="en-US" altLang="zh-CN" sz="2600" dirty="0">
                <a:solidFill>
                  <a:srgbClr val="CC0099"/>
                </a:solidFill>
                <a:latin typeface="+mn-ea"/>
                <a:ea typeface="+mn-ea"/>
              </a:rPr>
              <a:t>gcc [</a:t>
            </a:r>
            <a:r>
              <a:rPr kumimoji="1" lang="zh-CN" altLang="en-US" sz="2600" dirty="0">
                <a:solidFill>
                  <a:srgbClr val="CC0099"/>
                </a:solidFill>
                <a:latin typeface="+mn-ea"/>
                <a:ea typeface="+mn-ea"/>
              </a:rPr>
              <a:t>选项</a:t>
            </a:r>
            <a:r>
              <a:rPr kumimoji="1" lang="en-US" altLang="zh-CN" sz="2600" dirty="0">
                <a:solidFill>
                  <a:srgbClr val="CC0099"/>
                </a:solidFill>
                <a:latin typeface="+mn-ea"/>
                <a:ea typeface="+mn-ea"/>
              </a:rPr>
              <a:t>] </a:t>
            </a:r>
            <a:r>
              <a:rPr kumimoji="1" lang="zh-CN" altLang="en-US" sz="2600" dirty="0">
                <a:solidFill>
                  <a:srgbClr val="CC0099"/>
                </a:solidFill>
                <a:latin typeface="+mn-ea"/>
                <a:ea typeface="+mn-ea"/>
              </a:rPr>
              <a:t>准备编译的文件 </a:t>
            </a:r>
            <a:r>
              <a:rPr kumimoji="1" lang="en-US" altLang="zh-CN" sz="2600" dirty="0">
                <a:solidFill>
                  <a:srgbClr val="CC0099"/>
                </a:solidFill>
                <a:latin typeface="+mn-ea"/>
                <a:ea typeface="+mn-ea"/>
              </a:rPr>
              <a:t>[</a:t>
            </a:r>
            <a:r>
              <a:rPr kumimoji="1" lang="zh-CN" altLang="en-US" sz="2600" dirty="0">
                <a:solidFill>
                  <a:srgbClr val="CC0099"/>
                </a:solidFill>
                <a:latin typeface="+mn-ea"/>
                <a:ea typeface="+mn-ea"/>
              </a:rPr>
              <a:t>选项</a:t>
            </a:r>
            <a:r>
              <a:rPr kumimoji="1" lang="en-US" altLang="zh-CN" sz="2600" dirty="0">
                <a:solidFill>
                  <a:srgbClr val="CC0099"/>
                </a:solidFill>
                <a:latin typeface="+mn-ea"/>
                <a:ea typeface="+mn-ea"/>
              </a:rPr>
              <a:t>]  [</a:t>
            </a:r>
            <a:r>
              <a:rPr kumimoji="1" lang="zh-CN" altLang="en-US" sz="2600" dirty="0">
                <a:solidFill>
                  <a:srgbClr val="CC0099"/>
                </a:solidFill>
                <a:latin typeface="+mn-ea"/>
                <a:ea typeface="+mn-ea"/>
              </a:rPr>
              <a:t>目标文件</a:t>
            </a:r>
            <a:r>
              <a:rPr kumimoji="1" lang="en-US" altLang="zh-CN" sz="2600" dirty="0">
                <a:solidFill>
                  <a:srgbClr val="CC0099"/>
                </a:solidFill>
                <a:latin typeface="+mn-ea"/>
                <a:ea typeface="+mn-ea"/>
              </a:rPr>
              <a:t>] </a:t>
            </a:r>
          </a:p>
          <a:p>
            <a:pPr algn="l">
              <a:lnSpc>
                <a:spcPct val="110000"/>
              </a:lnSpc>
              <a:spcBef>
                <a:spcPct val="25000"/>
              </a:spcBef>
            </a:pPr>
            <a:r>
              <a:rPr kumimoji="1" lang="zh-CN" altLang="en-US" sz="2600" dirty="0">
                <a:latin typeface="+mn-ea"/>
                <a:ea typeface="+mn-ea"/>
              </a:rPr>
              <a:t>常用选项说明：</a:t>
            </a:r>
          </a:p>
          <a:p>
            <a:pPr algn="l">
              <a:lnSpc>
                <a:spcPct val="110000"/>
              </a:lnSpc>
              <a:spcBef>
                <a:spcPct val="25000"/>
              </a:spcBef>
            </a:pPr>
            <a:r>
              <a:rPr kumimoji="1" lang="en-US" altLang="zh-CN" sz="2600" dirty="0">
                <a:latin typeface="+mn-ea"/>
                <a:ea typeface="+mn-ea"/>
              </a:rPr>
              <a:t>-E       </a:t>
            </a:r>
            <a:r>
              <a:rPr kumimoji="1" lang="zh-CN" altLang="en-US" sz="2600" dirty="0">
                <a:latin typeface="+mn-ea"/>
                <a:ea typeface="+mn-ea"/>
              </a:rPr>
              <a:t>预处理，产生预处理过的源代码，不编译</a:t>
            </a:r>
            <a:endParaRPr kumimoji="1" lang="en-US" altLang="zh-CN" sz="2600" dirty="0">
              <a:latin typeface="+mn-ea"/>
              <a:ea typeface="+mn-ea"/>
            </a:endParaRPr>
          </a:p>
          <a:p>
            <a:pPr algn="l">
              <a:lnSpc>
                <a:spcPct val="110000"/>
              </a:lnSpc>
              <a:spcBef>
                <a:spcPct val="25000"/>
              </a:spcBef>
            </a:pPr>
            <a:r>
              <a:rPr kumimoji="1" lang="en-US" altLang="zh-CN" sz="2600" dirty="0">
                <a:latin typeface="+mn-ea"/>
                <a:ea typeface="+mn-ea"/>
              </a:rPr>
              <a:t>-S       </a:t>
            </a:r>
            <a:r>
              <a:rPr kumimoji="1" lang="zh-CN" altLang="en-US" sz="2600" dirty="0">
                <a:latin typeface="+mn-ea"/>
                <a:ea typeface="+mn-ea"/>
              </a:rPr>
              <a:t>产生汇编代码，不汇编</a:t>
            </a:r>
          </a:p>
          <a:p>
            <a:pPr algn="l">
              <a:lnSpc>
                <a:spcPct val="110000"/>
              </a:lnSpc>
              <a:spcBef>
                <a:spcPct val="25000"/>
              </a:spcBef>
            </a:pPr>
            <a:r>
              <a:rPr kumimoji="1" lang="en-US" altLang="zh-CN" sz="2600" dirty="0">
                <a:latin typeface="+mn-ea"/>
                <a:ea typeface="+mn-ea"/>
              </a:rPr>
              <a:t>-c       </a:t>
            </a:r>
            <a:r>
              <a:rPr kumimoji="1" lang="zh-CN" altLang="en-US" sz="2600" dirty="0">
                <a:latin typeface="+mn-ea"/>
                <a:ea typeface="+mn-ea"/>
              </a:rPr>
              <a:t>编译为目标文件，不连接库</a:t>
            </a:r>
          </a:p>
          <a:p>
            <a:pPr algn="l">
              <a:lnSpc>
                <a:spcPct val="110000"/>
              </a:lnSpc>
              <a:spcBef>
                <a:spcPct val="25000"/>
              </a:spcBef>
            </a:pPr>
            <a:r>
              <a:rPr kumimoji="1" lang="zh-CN" altLang="en-US" sz="2600" dirty="0">
                <a:solidFill>
                  <a:srgbClr val="0000CC"/>
                </a:solidFill>
                <a:latin typeface="+mn-ea"/>
                <a:ea typeface="+mn-ea"/>
              </a:rPr>
              <a:t>说明</a:t>
            </a:r>
            <a:r>
              <a:rPr kumimoji="1" lang="zh-CN" altLang="en-US" sz="2600" dirty="0">
                <a:latin typeface="+mn-ea"/>
                <a:ea typeface="+mn-ea"/>
              </a:rPr>
              <a:t>：如果目标文件缺省，</a:t>
            </a:r>
            <a:r>
              <a:rPr kumimoji="1" lang="en-US" altLang="zh-CN" sz="2600" dirty="0">
                <a:latin typeface="+mn-ea"/>
                <a:ea typeface="+mn-ea"/>
              </a:rPr>
              <a:t>gcc</a:t>
            </a:r>
            <a:r>
              <a:rPr kumimoji="1" lang="zh-CN" altLang="en-US" sz="2600" dirty="0">
                <a:latin typeface="+mn-ea"/>
                <a:ea typeface="+mn-ea"/>
              </a:rPr>
              <a:t>编译出来的程序是一个名为</a:t>
            </a:r>
            <a:r>
              <a:rPr kumimoji="1" lang="en-US" altLang="zh-CN" sz="2600" dirty="0" err="1">
                <a:latin typeface="+mn-ea"/>
                <a:ea typeface="+mn-ea"/>
              </a:rPr>
              <a:t>a.out</a:t>
            </a:r>
            <a:r>
              <a:rPr kumimoji="1" lang="zh-CN" altLang="en-US" sz="2600" dirty="0">
                <a:latin typeface="+mn-ea"/>
                <a:ea typeface="+mn-ea"/>
              </a:rPr>
              <a:t>的可执行文件。</a:t>
            </a: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700C099A-6552-4724-AD39-B0EE2F003FA2}" type="slidenum">
              <a:rPr lang="en-US" altLang="zh-CN" smtClean="0"/>
              <a:pPr>
                <a:defRPr/>
              </a:pPr>
              <a:t>20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24826093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Text Box 4"/>
          <p:cNvSpPr txBox="1">
            <a:spLocks noChangeArrowheads="1"/>
          </p:cNvSpPr>
          <p:nvPr/>
        </p:nvSpPr>
        <p:spPr bwMode="auto">
          <a:xfrm>
            <a:off x="1343472" y="1273896"/>
            <a:ext cx="9649072" cy="460337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9pPr>
          </a:lstStyle>
          <a:p>
            <a:pPr algn="l" eaLnBrk="1" hangingPunct="1">
              <a:lnSpc>
                <a:spcPct val="120000"/>
              </a:lnSpc>
            </a:pPr>
            <a:r>
              <a:rPr kumimoji="1" lang="zh-CN" altLang="en-US" sz="2600" dirty="0">
                <a:latin typeface="+mn-ea"/>
                <a:ea typeface="+mn-ea"/>
              </a:rPr>
              <a:t>举例说明</a:t>
            </a:r>
            <a:r>
              <a:rPr kumimoji="1" lang="en-US" altLang="zh-CN" sz="2600" dirty="0">
                <a:latin typeface="+mn-ea"/>
                <a:ea typeface="+mn-ea"/>
              </a:rPr>
              <a:t>gcc</a:t>
            </a:r>
            <a:r>
              <a:rPr kumimoji="1" lang="zh-CN" altLang="en-US" sz="2600" dirty="0">
                <a:latin typeface="+mn-ea"/>
                <a:ea typeface="+mn-ea"/>
              </a:rPr>
              <a:t>的最基本语法，首先创建一个</a:t>
            </a:r>
            <a:r>
              <a:rPr kumimoji="1" lang="en-US" altLang="zh-CN" sz="2600" dirty="0">
                <a:latin typeface="+mn-ea"/>
                <a:ea typeface="+mn-ea"/>
              </a:rPr>
              <a:t>Hello.c</a:t>
            </a:r>
            <a:r>
              <a:rPr kumimoji="1" lang="zh-CN" altLang="en-US" sz="2600" dirty="0">
                <a:latin typeface="+mn-ea"/>
                <a:ea typeface="+mn-ea"/>
              </a:rPr>
              <a:t>的文件。</a:t>
            </a:r>
            <a:endParaRPr kumimoji="1" lang="en-US" altLang="zh-CN" sz="2600" dirty="0">
              <a:latin typeface="+mn-ea"/>
              <a:ea typeface="+mn-ea"/>
            </a:endParaRPr>
          </a:p>
          <a:p>
            <a:pPr algn="l" eaLnBrk="1" hangingPunct="1">
              <a:lnSpc>
                <a:spcPct val="120000"/>
              </a:lnSpc>
            </a:pPr>
            <a:r>
              <a:rPr kumimoji="1" lang="en-US" altLang="zh-CN" sz="2800" dirty="0">
                <a:solidFill>
                  <a:srgbClr val="0000CC"/>
                </a:solidFill>
                <a:latin typeface="+mn-ea"/>
                <a:ea typeface="+mn-ea"/>
              </a:rPr>
              <a:t>vim Hello.c</a:t>
            </a:r>
          </a:p>
          <a:p>
            <a:pPr algn="l" eaLnBrk="1" hangingPunct="1">
              <a:lnSpc>
                <a:spcPct val="120000"/>
              </a:lnSpc>
            </a:pPr>
            <a:r>
              <a:rPr kumimoji="1" lang="zh-CN" altLang="en-US" sz="2600" dirty="0">
                <a:latin typeface="+mn-ea"/>
                <a:ea typeface="+mn-ea"/>
              </a:rPr>
              <a:t>输入如下内容，并保存。</a:t>
            </a:r>
            <a:endParaRPr kumimoji="1" lang="en-US" altLang="zh-CN" sz="2600" dirty="0">
              <a:latin typeface="楷体_GB2312" pitchFamily="49" charset="-122"/>
              <a:ea typeface="楷体_GB2312" pitchFamily="49" charset="-122"/>
            </a:endParaRPr>
          </a:p>
          <a:p>
            <a:pPr algn="l" eaLnBrk="1" hangingPunct="1">
              <a:lnSpc>
                <a:spcPct val="120000"/>
              </a:lnSpc>
            </a:pPr>
            <a:r>
              <a:rPr kumimoji="1" lang="en-US" altLang="zh-CN" sz="2800" dirty="0">
                <a:solidFill>
                  <a:srgbClr val="0000CC"/>
                </a:solidFill>
                <a:latin typeface="+mn-ea"/>
                <a:ea typeface="+mn-ea"/>
              </a:rPr>
              <a:t>#include &lt;</a:t>
            </a:r>
            <a:r>
              <a:rPr kumimoji="1" lang="en-US" altLang="zh-CN" sz="2800" dirty="0" err="1">
                <a:solidFill>
                  <a:srgbClr val="0000CC"/>
                </a:solidFill>
                <a:latin typeface="+mn-ea"/>
                <a:ea typeface="+mn-ea"/>
              </a:rPr>
              <a:t>stdio.h</a:t>
            </a:r>
            <a:r>
              <a:rPr kumimoji="1" lang="en-US" altLang="zh-CN" sz="2800" dirty="0">
                <a:solidFill>
                  <a:srgbClr val="0000CC"/>
                </a:solidFill>
                <a:latin typeface="+mn-ea"/>
                <a:ea typeface="+mn-ea"/>
              </a:rPr>
              <a:t>&gt;</a:t>
            </a:r>
          </a:p>
          <a:p>
            <a:pPr algn="l" eaLnBrk="1" hangingPunct="1">
              <a:lnSpc>
                <a:spcPct val="120000"/>
              </a:lnSpc>
            </a:pPr>
            <a:r>
              <a:rPr kumimoji="1" lang="en-US" altLang="zh-CN" sz="2800" dirty="0">
                <a:solidFill>
                  <a:srgbClr val="0000CC"/>
                </a:solidFill>
                <a:latin typeface="+mn-ea"/>
                <a:ea typeface="+mn-ea"/>
              </a:rPr>
              <a:t>int main()</a:t>
            </a:r>
          </a:p>
          <a:p>
            <a:pPr algn="l" eaLnBrk="1" hangingPunct="1">
              <a:lnSpc>
                <a:spcPct val="120000"/>
              </a:lnSpc>
            </a:pPr>
            <a:r>
              <a:rPr kumimoji="1" lang="en-US" altLang="zh-CN" sz="2800" dirty="0">
                <a:solidFill>
                  <a:srgbClr val="0000CC"/>
                </a:solidFill>
                <a:latin typeface="+mn-ea"/>
                <a:ea typeface="+mn-ea"/>
              </a:rPr>
              <a:t>{</a:t>
            </a:r>
          </a:p>
          <a:p>
            <a:pPr algn="l" eaLnBrk="1" hangingPunct="1">
              <a:lnSpc>
                <a:spcPct val="120000"/>
              </a:lnSpc>
            </a:pPr>
            <a:r>
              <a:rPr kumimoji="1" lang="en-US" altLang="zh-CN" sz="2800" dirty="0">
                <a:solidFill>
                  <a:srgbClr val="0000CC"/>
                </a:solidFill>
                <a:latin typeface="+mn-ea"/>
                <a:ea typeface="+mn-ea"/>
              </a:rPr>
              <a:t>   </a:t>
            </a:r>
            <a:r>
              <a:rPr kumimoji="1" lang="en-US" altLang="zh-CN" sz="2800" dirty="0" err="1">
                <a:solidFill>
                  <a:srgbClr val="0000CC"/>
                </a:solidFill>
                <a:latin typeface="+mn-ea"/>
                <a:ea typeface="+mn-ea"/>
              </a:rPr>
              <a:t>printf</a:t>
            </a:r>
            <a:r>
              <a:rPr kumimoji="1" lang="en-US" altLang="zh-CN" sz="2800" dirty="0">
                <a:solidFill>
                  <a:srgbClr val="0000CC"/>
                </a:solidFill>
                <a:latin typeface="+mn-ea"/>
                <a:ea typeface="+mn-ea"/>
              </a:rPr>
              <a:t>("Hello</a:t>
            </a:r>
            <a:r>
              <a:rPr kumimoji="1" lang="zh-CN" altLang="en-US" sz="2800" dirty="0">
                <a:solidFill>
                  <a:srgbClr val="0000CC"/>
                </a:solidFill>
                <a:latin typeface="+mn-ea"/>
                <a:ea typeface="+mn-ea"/>
              </a:rPr>
              <a:t>，</a:t>
            </a:r>
            <a:r>
              <a:rPr kumimoji="1" lang="en-US" altLang="zh-CN" sz="2800" dirty="0">
                <a:solidFill>
                  <a:srgbClr val="0000CC"/>
                </a:solidFill>
                <a:latin typeface="+mn-ea"/>
                <a:ea typeface="+mn-ea"/>
              </a:rPr>
              <a:t>my dear friend!\n");</a:t>
            </a:r>
          </a:p>
          <a:p>
            <a:pPr algn="l" eaLnBrk="1" hangingPunct="1">
              <a:lnSpc>
                <a:spcPct val="120000"/>
              </a:lnSpc>
            </a:pPr>
            <a:r>
              <a:rPr kumimoji="1" lang="en-US" altLang="zh-CN" sz="2800" dirty="0">
                <a:solidFill>
                  <a:srgbClr val="0000CC"/>
                </a:solidFill>
                <a:latin typeface="+mn-ea"/>
                <a:ea typeface="+mn-ea"/>
              </a:rPr>
              <a:t>   return</a:t>
            </a:r>
            <a:r>
              <a:rPr kumimoji="1" lang="zh-CN" altLang="en-US" sz="2800" dirty="0">
                <a:solidFill>
                  <a:srgbClr val="0000CC"/>
                </a:solidFill>
                <a:latin typeface="+mn-ea"/>
                <a:ea typeface="+mn-ea"/>
              </a:rPr>
              <a:t>（</a:t>
            </a:r>
            <a:r>
              <a:rPr kumimoji="1" lang="en-US" altLang="zh-CN" sz="2800" dirty="0">
                <a:solidFill>
                  <a:srgbClr val="0000CC"/>
                </a:solidFill>
                <a:latin typeface="+mn-ea"/>
                <a:ea typeface="+mn-ea"/>
              </a:rPr>
              <a:t>0</a:t>
            </a:r>
            <a:r>
              <a:rPr kumimoji="1" lang="zh-CN" altLang="en-US" sz="2800" dirty="0">
                <a:solidFill>
                  <a:srgbClr val="0000CC"/>
                </a:solidFill>
                <a:latin typeface="+mn-ea"/>
                <a:ea typeface="+mn-ea"/>
              </a:rPr>
              <a:t>）</a:t>
            </a:r>
            <a:r>
              <a:rPr kumimoji="1" lang="en-US" altLang="zh-CN" sz="2800" dirty="0">
                <a:solidFill>
                  <a:srgbClr val="0000CC"/>
                </a:solidFill>
                <a:latin typeface="+mn-ea"/>
                <a:ea typeface="+mn-ea"/>
              </a:rPr>
              <a:t>;</a:t>
            </a:r>
          </a:p>
          <a:p>
            <a:pPr algn="l" eaLnBrk="1" hangingPunct="1">
              <a:lnSpc>
                <a:spcPct val="120000"/>
              </a:lnSpc>
            </a:pPr>
            <a:r>
              <a:rPr kumimoji="1" lang="en-US" altLang="zh-CN" sz="2800" dirty="0">
                <a:solidFill>
                  <a:srgbClr val="0000CC"/>
                </a:solidFill>
                <a:latin typeface="+mn-ea"/>
                <a:ea typeface="+mn-ea"/>
              </a:rPr>
              <a:t>}</a:t>
            </a:r>
          </a:p>
        </p:txBody>
      </p:sp>
      <p:sp>
        <p:nvSpPr>
          <p:cNvPr id="4" name="灯片编号占位符 1"/>
          <p:cNvSpPr>
            <a:spLocks noGrp="1"/>
          </p:cNvSpPr>
          <p:nvPr>
            <p:ph type="sldNum" sz="quarter" idx="11"/>
          </p:nvPr>
        </p:nvSpPr>
        <p:spPr>
          <a:xfrm>
            <a:off x="5053013" y="6240463"/>
            <a:ext cx="2133600" cy="457200"/>
          </a:xfrm>
        </p:spPr>
        <p:txBody>
          <a:bodyPr/>
          <a:lstStyle/>
          <a:p>
            <a:pPr>
              <a:defRPr/>
            </a:pPr>
            <a:fld id="{700C099A-6552-4724-AD39-B0EE2F003FA2}" type="slidenum">
              <a:rPr lang="en-US" altLang="zh-CN" smtClean="0"/>
              <a:pPr>
                <a:defRPr/>
              </a:pPr>
              <a:t>21</a:t>
            </a:fld>
            <a:endParaRPr lang="en-US" altLang="zh-CN" dirty="0"/>
          </a:p>
        </p:txBody>
      </p:sp>
      <p:sp>
        <p:nvSpPr>
          <p:cNvPr id="5" name="标题 1"/>
          <p:cNvSpPr txBox="1">
            <a:spLocks/>
          </p:cNvSpPr>
          <p:nvPr/>
        </p:nvSpPr>
        <p:spPr>
          <a:xfrm>
            <a:off x="2347913" y="530848"/>
            <a:ext cx="7543800" cy="858837"/>
          </a:xfrm>
          <a:prstGeom prst="rect">
            <a:avLst/>
          </a:prstGeom>
        </p:spPr>
        <p:txBody>
          <a:bodyPr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+mj-ea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4200" b="1">
                <a:solidFill>
                  <a:schemeClr val="tx1"/>
                </a:solidFill>
                <a:latin typeface="Arial" charset="0"/>
                <a:ea typeface="黑体" pitchFamily="2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4200" b="1">
                <a:solidFill>
                  <a:schemeClr val="tx1"/>
                </a:solidFill>
                <a:latin typeface="Arial" charset="0"/>
                <a:ea typeface="黑体" pitchFamily="2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4200" b="1">
                <a:solidFill>
                  <a:schemeClr val="tx1"/>
                </a:solidFill>
                <a:latin typeface="Arial" charset="0"/>
                <a:ea typeface="黑体" pitchFamily="2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4200" b="1">
                <a:solidFill>
                  <a:schemeClr val="tx1"/>
                </a:solidFill>
                <a:latin typeface="Arial" charset="0"/>
                <a:ea typeface="黑体" pitchFamily="2" charset="-122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4200" b="1">
                <a:solidFill>
                  <a:schemeClr val="tx1"/>
                </a:solidFill>
                <a:latin typeface="Arial" charset="0"/>
                <a:ea typeface="黑体" pitchFamily="2" charset="-122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4200" b="1">
                <a:solidFill>
                  <a:schemeClr val="tx1"/>
                </a:solidFill>
                <a:latin typeface="Arial" charset="0"/>
                <a:ea typeface="黑体" pitchFamily="2" charset="-122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4200" b="1">
                <a:solidFill>
                  <a:schemeClr val="tx1"/>
                </a:solidFill>
                <a:latin typeface="Arial" charset="0"/>
                <a:ea typeface="黑体" pitchFamily="2" charset="-122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4200" b="1">
                <a:solidFill>
                  <a:schemeClr val="tx1"/>
                </a:solidFill>
                <a:latin typeface="Arial" charset="0"/>
                <a:ea typeface="黑体" pitchFamily="2" charset="-122"/>
              </a:defRPr>
            </a:lvl9pPr>
          </a:lstStyle>
          <a:p>
            <a:r>
              <a:rPr lang="en-US" altLang="zh-CN" dirty="0">
                <a:latin typeface="+mj-lt"/>
              </a:rPr>
              <a:t>GCC</a:t>
            </a:r>
            <a:r>
              <a:rPr kumimoji="1" lang="zh-CN" altLang="en-US" kern="0" dirty="0"/>
              <a:t>编译</a:t>
            </a:r>
            <a:endParaRPr lang="zh-CN" altLang="en-US" kern="0" dirty="0"/>
          </a:p>
        </p:txBody>
      </p:sp>
    </p:spTree>
    <p:extLst>
      <p:ext uri="{BB962C8B-B14F-4D97-AF65-F5344CB8AC3E}">
        <p14:creationId xmlns:p14="http://schemas.microsoft.com/office/powerpoint/2010/main" val="175837874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Text Box 4"/>
          <p:cNvSpPr txBox="1">
            <a:spLocks noChangeArrowheads="1"/>
          </p:cNvSpPr>
          <p:nvPr/>
        </p:nvSpPr>
        <p:spPr bwMode="auto">
          <a:xfrm>
            <a:off x="1127448" y="1124745"/>
            <a:ext cx="10297144" cy="52629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9pPr>
          </a:lstStyle>
          <a:p>
            <a:pPr algn="l" eaLnBrk="1" hangingPunct="1">
              <a:lnSpc>
                <a:spcPct val="120000"/>
              </a:lnSpc>
            </a:pPr>
            <a:r>
              <a:rPr kumimoji="1" lang="zh-CN" altLang="en-US" sz="2600" dirty="0">
                <a:latin typeface="+mn-ea"/>
                <a:ea typeface="+mn-ea"/>
              </a:rPr>
              <a:t>然后编译运行</a:t>
            </a:r>
            <a:endParaRPr kumimoji="1" lang="en-US" altLang="zh-CN" sz="2600" dirty="0">
              <a:latin typeface="+mn-ea"/>
              <a:ea typeface="+mn-ea"/>
            </a:endParaRPr>
          </a:p>
          <a:p>
            <a:pPr algn="l" eaLnBrk="1" hangingPunct="1">
              <a:lnSpc>
                <a:spcPct val="120000"/>
              </a:lnSpc>
            </a:pPr>
            <a:r>
              <a:rPr kumimoji="1" lang="zh-CN" altLang="en-US" sz="2600" dirty="0">
                <a:latin typeface="+mn-ea"/>
              </a:rPr>
              <a:t>［</a:t>
            </a:r>
            <a:r>
              <a:rPr kumimoji="1" lang="en-US" altLang="zh-CN" sz="2600" dirty="0">
                <a:latin typeface="+mn-ea"/>
              </a:rPr>
              <a:t>root@ localhost </a:t>
            </a:r>
            <a:r>
              <a:rPr lang="en-US" altLang="zh-CN" sz="2400" dirty="0"/>
              <a:t>~</a:t>
            </a:r>
            <a:r>
              <a:rPr kumimoji="1" lang="zh-CN" altLang="en-US" sz="2600" dirty="0">
                <a:latin typeface="+mn-ea"/>
              </a:rPr>
              <a:t>］</a:t>
            </a:r>
            <a:r>
              <a:rPr kumimoji="1" lang="en-US" altLang="zh-CN" sz="2600" dirty="0">
                <a:latin typeface="+mn-ea"/>
              </a:rPr>
              <a:t># </a:t>
            </a:r>
            <a:r>
              <a:rPr kumimoji="1" lang="en-US" altLang="zh-CN" sz="2600" dirty="0">
                <a:solidFill>
                  <a:srgbClr val="0000CC"/>
                </a:solidFill>
                <a:latin typeface="+mn-ea"/>
                <a:ea typeface="+mn-ea"/>
              </a:rPr>
              <a:t>gcc Hello.c</a:t>
            </a:r>
          </a:p>
          <a:p>
            <a:pPr algn="l" eaLnBrk="1" hangingPunct="1">
              <a:lnSpc>
                <a:spcPct val="120000"/>
              </a:lnSpc>
            </a:pPr>
            <a:r>
              <a:rPr kumimoji="1" lang="zh-CN" altLang="en-US" sz="2600" dirty="0">
                <a:latin typeface="+mn-ea"/>
              </a:rPr>
              <a:t>［</a:t>
            </a:r>
            <a:r>
              <a:rPr kumimoji="1" lang="en-US" altLang="zh-CN" sz="2600" dirty="0">
                <a:latin typeface="+mn-ea"/>
              </a:rPr>
              <a:t>root@ localhost </a:t>
            </a:r>
            <a:r>
              <a:rPr lang="en-US" altLang="zh-CN" sz="2400" dirty="0"/>
              <a:t>~</a:t>
            </a:r>
            <a:r>
              <a:rPr kumimoji="1" lang="zh-CN" altLang="en-US" sz="2600" dirty="0">
                <a:latin typeface="+mn-ea"/>
              </a:rPr>
              <a:t>］</a:t>
            </a:r>
            <a:r>
              <a:rPr kumimoji="1" lang="en-US" altLang="zh-CN" sz="2600" dirty="0">
                <a:latin typeface="+mn-ea"/>
              </a:rPr>
              <a:t># </a:t>
            </a:r>
            <a:r>
              <a:rPr kumimoji="1" lang="en-US" altLang="zh-CN" sz="2600" dirty="0">
                <a:solidFill>
                  <a:srgbClr val="0000CC"/>
                </a:solidFill>
                <a:latin typeface="+mn-ea"/>
              </a:rPr>
              <a:t>./a.out</a:t>
            </a:r>
          </a:p>
          <a:p>
            <a:pPr algn="l" eaLnBrk="1" hangingPunct="1">
              <a:lnSpc>
                <a:spcPct val="120000"/>
              </a:lnSpc>
            </a:pPr>
            <a:r>
              <a:rPr kumimoji="1" lang="en-US" altLang="zh-CN" sz="2600" dirty="0">
                <a:latin typeface="+mn-ea"/>
              </a:rPr>
              <a:t>   Hello</a:t>
            </a:r>
            <a:r>
              <a:rPr kumimoji="1" lang="zh-CN" altLang="en-US" sz="2600" dirty="0">
                <a:latin typeface="+mn-ea"/>
              </a:rPr>
              <a:t>，</a:t>
            </a:r>
            <a:r>
              <a:rPr kumimoji="1" lang="en-US" altLang="zh-CN" sz="2600" dirty="0">
                <a:latin typeface="+mn-ea"/>
              </a:rPr>
              <a:t>my dear friend! </a:t>
            </a:r>
          </a:p>
          <a:p>
            <a:pPr algn="l" eaLnBrk="1" hangingPunct="1">
              <a:lnSpc>
                <a:spcPct val="120000"/>
              </a:lnSpc>
            </a:pPr>
            <a:r>
              <a:rPr kumimoji="1" lang="zh-CN" altLang="en-US" sz="2600" dirty="0">
                <a:latin typeface="+mn-ea"/>
                <a:ea typeface="+mn-ea"/>
              </a:rPr>
              <a:t>这样，</a:t>
            </a:r>
            <a:r>
              <a:rPr kumimoji="1" lang="en-US" altLang="zh-CN" sz="2600" dirty="0">
                <a:latin typeface="+mn-ea"/>
                <a:ea typeface="+mn-ea"/>
              </a:rPr>
              <a:t>gcc </a:t>
            </a:r>
            <a:r>
              <a:rPr kumimoji="1" lang="zh-CN" altLang="en-US" sz="2600" dirty="0">
                <a:latin typeface="+mn-ea"/>
                <a:ea typeface="+mn-ea"/>
              </a:rPr>
              <a:t>编译器会生成一个名为</a:t>
            </a:r>
            <a:r>
              <a:rPr kumimoji="1" lang="en-US" altLang="zh-CN" sz="2600" dirty="0" err="1">
                <a:latin typeface="+mn-ea"/>
                <a:ea typeface="+mn-ea"/>
              </a:rPr>
              <a:t>a.out</a:t>
            </a:r>
            <a:r>
              <a:rPr kumimoji="1" lang="zh-CN" altLang="en-US" sz="2600" dirty="0">
                <a:latin typeface="+mn-ea"/>
                <a:ea typeface="+mn-ea"/>
              </a:rPr>
              <a:t>的可执行文件，然后执行</a:t>
            </a:r>
            <a:r>
              <a:rPr kumimoji="1" lang="en-US" altLang="zh-CN" sz="2600" dirty="0">
                <a:latin typeface="+mn-ea"/>
                <a:ea typeface="+mn-ea"/>
              </a:rPr>
              <a:t>./</a:t>
            </a:r>
            <a:r>
              <a:rPr kumimoji="1" lang="en-US" altLang="zh-CN" sz="2600" dirty="0" err="1">
                <a:latin typeface="+mn-ea"/>
                <a:ea typeface="+mn-ea"/>
              </a:rPr>
              <a:t>a.out</a:t>
            </a:r>
            <a:r>
              <a:rPr kumimoji="1" lang="zh-CN" altLang="en-US" sz="2600" dirty="0">
                <a:latin typeface="+mn-ea"/>
                <a:ea typeface="+mn-ea"/>
              </a:rPr>
              <a:t>就可以看到程序的输出结果了。 在终端上显示：</a:t>
            </a:r>
            <a:r>
              <a:rPr kumimoji="1" lang="en-US" altLang="zh-CN" sz="2600" dirty="0">
                <a:latin typeface="+mn-ea"/>
                <a:ea typeface="+mn-ea"/>
              </a:rPr>
              <a:t>Hello</a:t>
            </a:r>
            <a:r>
              <a:rPr kumimoji="1" lang="zh-CN" altLang="en-US" sz="2600" dirty="0">
                <a:latin typeface="+mn-ea"/>
                <a:ea typeface="+mn-ea"/>
              </a:rPr>
              <a:t>，</a:t>
            </a:r>
            <a:r>
              <a:rPr kumimoji="1" lang="en-US" altLang="zh-CN" sz="2600" dirty="0">
                <a:latin typeface="+mn-ea"/>
                <a:ea typeface="+mn-ea"/>
              </a:rPr>
              <a:t>my dear friend!</a:t>
            </a:r>
          </a:p>
          <a:p>
            <a:pPr marL="457200" indent="-457200" algn="l" eaLnBrk="1" hangingPunct="1">
              <a:lnSpc>
                <a:spcPct val="120000"/>
              </a:lnSpc>
              <a:buSzPct val="80000"/>
              <a:buFont typeface="Wingdings" panose="05000000000000000000" pitchFamily="2" charset="2"/>
              <a:buChar char="l"/>
            </a:pPr>
            <a:r>
              <a:rPr kumimoji="1" lang="zh-CN" altLang="en-US" sz="2600" dirty="0">
                <a:latin typeface="+mn-ea"/>
                <a:ea typeface="+mn-ea"/>
              </a:rPr>
              <a:t>在执行</a:t>
            </a:r>
            <a:r>
              <a:rPr kumimoji="1" lang="en-US" altLang="zh-CN" sz="2600" dirty="0" err="1">
                <a:latin typeface="+mn-ea"/>
                <a:ea typeface="+mn-ea"/>
              </a:rPr>
              <a:t>a.out</a:t>
            </a:r>
            <a:r>
              <a:rPr kumimoji="1" lang="zh-CN" altLang="en-US" sz="2600" dirty="0">
                <a:latin typeface="+mn-ea"/>
                <a:ea typeface="+mn-ea"/>
              </a:rPr>
              <a:t>文件时，在文件前面添加</a:t>
            </a:r>
            <a:r>
              <a:rPr kumimoji="1" lang="zh-CN" altLang="en-US" sz="2600" dirty="0">
                <a:solidFill>
                  <a:srgbClr val="0000CC"/>
                </a:solidFill>
                <a:latin typeface="+mn-ea"/>
                <a:ea typeface="+mn-ea"/>
              </a:rPr>
              <a:t>“</a:t>
            </a:r>
            <a:r>
              <a:rPr kumimoji="1" lang="en-US" altLang="zh-CN" sz="2600" dirty="0">
                <a:solidFill>
                  <a:srgbClr val="0000CC"/>
                </a:solidFill>
                <a:latin typeface="+mn-ea"/>
                <a:ea typeface="+mn-ea"/>
              </a:rPr>
              <a:t>./</a:t>
            </a:r>
            <a:r>
              <a:rPr kumimoji="1" lang="zh-CN" altLang="en-US" sz="2600" dirty="0">
                <a:solidFill>
                  <a:srgbClr val="0000CC"/>
                </a:solidFill>
                <a:latin typeface="+mn-ea"/>
                <a:ea typeface="+mn-ea"/>
              </a:rPr>
              <a:t>”</a:t>
            </a:r>
            <a:r>
              <a:rPr kumimoji="1" lang="zh-CN" altLang="en-US" sz="2600" dirty="0">
                <a:latin typeface="+mn-ea"/>
                <a:ea typeface="+mn-ea"/>
              </a:rPr>
              <a:t>，这是让</a:t>
            </a:r>
            <a:r>
              <a:rPr kumimoji="1" lang="en-US" altLang="zh-CN" sz="2600" dirty="0">
                <a:latin typeface="+mn-ea"/>
                <a:ea typeface="+mn-ea"/>
              </a:rPr>
              <a:t>Shell</a:t>
            </a:r>
            <a:r>
              <a:rPr kumimoji="1" lang="zh-CN" altLang="en-US" sz="2600" dirty="0">
                <a:latin typeface="+mn-ea"/>
                <a:ea typeface="+mn-ea"/>
              </a:rPr>
              <a:t>在</a:t>
            </a:r>
            <a:r>
              <a:rPr kumimoji="1" lang="zh-CN" altLang="en-US" sz="2600" dirty="0">
                <a:solidFill>
                  <a:srgbClr val="0000CC"/>
                </a:solidFill>
                <a:latin typeface="+mn-ea"/>
                <a:ea typeface="+mn-ea"/>
              </a:rPr>
              <a:t>当前目录</a:t>
            </a:r>
            <a:r>
              <a:rPr kumimoji="1" lang="zh-CN" altLang="en-US" sz="2600" dirty="0">
                <a:latin typeface="+mn-ea"/>
                <a:ea typeface="+mn-ea"/>
              </a:rPr>
              <a:t>下去寻找需要运行的可执行文件。</a:t>
            </a:r>
            <a:endParaRPr kumimoji="1" lang="en-US" altLang="zh-CN" sz="2600" dirty="0">
              <a:latin typeface="+mn-ea"/>
              <a:ea typeface="+mn-ea"/>
            </a:endParaRPr>
          </a:p>
          <a:p>
            <a:pPr marL="457200" indent="-457200" algn="l" eaLnBrk="1" hangingPunct="1">
              <a:lnSpc>
                <a:spcPct val="120000"/>
              </a:lnSpc>
              <a:buSzPct val="80000"/>
              <a:buFont typeface="Wingdings" panose="05000000000000000000" pitchFamily="2" charset="2"/>
              <a:buChar char="l"/>
            </a:pPr>
            <a:r>
              <a:rPr kumimoji="1" lang="zh-CN" altLang="en-US" sz="2600" dirty="0">
                <a:latin typeface="+mn-ea"/>
                <a:ea typeface="+mn-ea"/>
              </a:rPr>
              <a:t>下面具体的分析一下编译过程的这四个阶段</a:t>
            </a:r>
            <a:r>
              <a:rPr kumimoji="1" lang="en-US" altLang="zh-CN" sz="2600" dirty="0">
                <a:latin typeface="+mn-ea"/>
                <a:ea typeface="+mn-ea"/>
              </a:rPr>
              <a:t>:</a:t>
            </a:r>
            <a:endParaRPr kumimoji="1" lang="zh-CN" altLang="en-US" sz="2600" dirty="0">
              <a:latin typeface="+mn-ea"/>
              <a:ea typeface="+mn-ea"/>
            </a:endParaRPr>
          </a:p>
          <a:p>
            <a:pPr algn="l" eaLnBrk="1" hangingPunct="1"/>
            <a:endParaRPr kumimoji="1" lang="zh-CN" altLang="en-US" sz="2400" dirty="0">
              <a:latin typeface="+mn-ea"/>
              <a:ea typeface="+mn-ea"/>
            </a:endParaRPr>
          </a:p>
        </p:txBody>
      </p:sp>
      <p:sp>
        <p:nvSpPr>
          <p:cNvPr id="4" name="灯片编号占位符 1"/>
          <p:cNvSpPr>
            <a:spLocks noGrp="1"/>
          </p:cNvSpPr>
          <p:nvPr>
            <p:ph type="sldNum" sz="quarter" idx="11"/>
          </p:nvPr>
        </p:nvSpPr>
        <p:spPr>
          <a:xfrm>
            <a:off x="5053013" y="6240463"/>
            <a:ext cx="2133600" cy="457200"/>
          </a:xfrm>
        </p:spPr>
        <p:txBody>
          <a:bodyPr/>
          <a:lstStyle/>
          <a:p>
            <a:pPr>
              <a:defRPr/>
            </a:pPr>
            <a:fld id="{700C099A-6552-4724-AD39-B0EE2F003FA2}" type="slidenum">
              <a:rPr lang="en-US" altLang="zh-CN" smtClean="0"/>
              <a:pPr>
                <a:defRPr/>
              </a:pPr>
              <a:t>22</a:t>
            </a:fld>
            <a:endParaRPr lang="en-US" altLang="zh-CN" dirty="0"/>
          </a:p>
        </p:txBody>
      </p:sp>
      <p:sp>
        <p:nvSpPr>
          <p:cNvPr id="5" name="标题 1"/>
          <p:cNvSpPr txBox="1">
            <a:spLocks/>
          </p:cNvSpPr>
          <p:nvPr/>
        </p:nvSpPr>
        <p:spPr>
          <a:xfrm>
            <a:off x="2504120" y="487570"/>
            <a:ext cx="7543800" cy="858837"/>
          </a:xfrm>
          <a:prstGeom prst="rect">
            <a:avLst/>
          </a:prstGeom>
        </p:spPr>
        <p:txBody>
          <a:bodyPr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+mj-ea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4200" b="1">
                <a:solidFill>
                  <a:schemeClr val="tx1"/>
                </a:solidFill>
                <a:latin typeface="Arial" charset="0"/>
                <a:ea typeface="黑体" pitchFamily="2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4200" b="1">
                <a:solidFill>
                  <a:schemeClr val="tx1"/>
                </a:solidFill>
                <a:latin typeface="Arial" charset="0"/>
                <a:ea typeface="黑体" pitchFamily="2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4200" b="1">
                <a:solidFill>
                  <a:schemeClr val="tx1"/>
                </a:solidFill>
                <a:latin typeface="Arial" charset="0"/>
                <a:ea typeface="黑体" pitchFamily="2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4200" b="1">
                <a:solidFill>
                  <a:schemeClr val="tx1"/>
                </a:solidFill>
                <a:latin typeface="Arial" charset="0"/>
                <a:ea typeface="黑体" pitchFamily="2" charset="-122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4200" b="1">
                <a:solidFill>
                  <a:schemeClr val="tx1"/>
                </a:solidFill>
                <a:latin typeface="Arial" charset="0"/>
                <a:ea typeface="黑体" pitchFamily="2" charset="-122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4200" b="1">
                <a:solidFill>
                  <a:schemeClr val="tx1"/>
                </a:solidFill>
                <a:latin typeface="Arial" charset="0"/>
                <a:ea typeface="黑体" pitchFamily="2" charset="-122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4200" b="1">
                <a:solidFill>
                  <a:schemeClr val="tx1"/>
                </a:solidFill>
                <a:latin typeface="Arial" charset="0"/>
                <a:ea typeface="黑体" pitchFamily="2" charset="-122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4200" b="1">
                <a:solidFill>
                  <a:schemeClr val="tx1"/>
                </a:solidFill>
                <a:latin typeface="Arial" charset="0"/>
                <a:ea typeface="黑体" pitchFamily="2" charset="-122"/>
              </a:defRPr>
            </a:lvl9pPr>
          </a:lstStyle>
          <a:p>
            <a:r>
              <a:rPr lang="en-US" altLang="zh-CN" dirty="0">
                <a:latin typeface="+mj-lt"/>
              </a:rPr>
              <a:t>GCC</a:t>
            </a:r>
            <a:r>
              <a:rPr kumimoji="1" lang="zh-CN" altLang="en-US" kern="0" dirty="0"/>
              <a:t>编译</a:t>
            </a:r>
            <a:endParaRPr lang="zh-CN" altLang="en-US" kern="0" dirty="0"/>
          </a:p>
        </p:txBody>
      </p:sp>
    </p:spTree>
    <p:extLst>
      <p:ext uri="{BB962C8B-B14F-4D97-AF65-F5344CB8AC3E}">
        <p14:creationId xmlns:p14="http://schemas.microsoft.com/office/powerpoint/2010/main" val="392343399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Text Box 4"/>
          <p:cNvSpPr txBox="1">
            <a:spLocks noChangeArrowheads="1"/>
          </p:cNvSpPr>
          <p:nvPr/>
        </p:nvSpPr>
        <p:spPr bwMode="auto">
          <a:xfrm>
            <a:off x="1199456" y="1020106"/>
            <a:ext cx="9937104" cy="47131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9pPr>
          </a:lstStyle>
          <a:p>
            <a:pPr algn="l" eaLnBrk="1" hangingPunct="1">
              <a:lnSpc>
                <a:spcPct val="120000"/>
              </a:lnSpc>
              <a:spcBef>
                <a:spcPct val="20000"/>
              </a:spcBef>
            </a:pPr>
            <a:r>
              <a:rPr kumimoji="1" lang="en-US" altLang="zh-CN" sz="2600" dirty="0">
                <a:solidFill>
                  <a:srgbClr val="0000CC"/>
                </a:solidFill>
                <a:latin typeface="+mn-ea"/>
                <a:ea typeface="+mn-ea"/>
              </a:rPr>
              <a:t>1</a:t>
            </a:r>
            <a:r>
              <a:rPr kumimoji="1" lang="zh-CN" altLang="en-US" sz="2600" dirty="0">
                <a:solidFill>
                  <a:srgbClr val="0000CC"/>
                </a:solidFill>
                <a:latin typeface="+mn-ea"/>
                <a:ea typeface="+mn-ea"/>
              </a:rPr>
              <a:t>．预处理阶段</a:t>
            </a:r>
          </a:p>
          <a:p>
            <a:pPr algn="l" eaLnBrk="1" hangingPunct="1">
              <a:lnSpc>
                <a:spcPct val="120000"/>
              </a:lnSpc>
              <a:spcBef>
                <a:spcPct val="20000"/>
              </a:spcBef>
            </a:pPr>
            <a:r>
              <a:rPr kumimoji="1" lang="zh-CN" altLang="en-US" sz="2600" dirty="0">
                <a:latin typeface="+mn-ea"/>
                <a:ea typeface="+mn-ea"/>
              </a:rPr>
              <a:t>   执行如下命令进行</a:t>
            </a:r>
            <a:r>
              <a:rPr kumimoji="1" lang="en-US" altLang="zh-CN" sz="2600" dirty="0">
                <a:latin typeface="+mn-ea"/>
                <a:ea typeface="+mn-ea"/>
              </a:rPr>
              <a:t>hello.c</a:t>
            </a:r>
            <a:r>
              <a:rPr kumimoji="1" lang="zh-CN" altLang="en-US" sz="2600" dirty="0">
                <a:latin typeface="+mn-ea"/>
                <a:ea typeface="+mn-ea"/>
              </a:rPr>
              <a:t>程序的预处理</a:t>
            </a:r>
            <a:r>
              <a:rPr kumimoji="1" lang="en-US" altLang="zh-CN" sz="2600" dirty="0">
                <a:latin typeface="+mn-ea"/>
                <a:ea typeface="+mn-ea"/>
              </a:rPr>
              <a:t>:</a:t>
            </a:r>
          </a:p>
          <a:p>
            <a:pPr algn="l" eaLnBrk="1" hangingPunct="1">
              <a:lnSpc>
                <a:spcPct val="120000"/>
              </a:lnSpc>
              <a:spcBef>
                <a:spcPct val="20000"/>
              </a:spcBef>
            </a:pPr>
            <a:r>
              <a:rPr kumimoji="1" lang="zh-CN" altLang="en-US" sz="2300" dirty="0">
                <a:latin typeface="+mn-ea"/>
              </a:rPr>
              <a:t>［</a:t>
            </a:r>
            <a:r>
              <a:rPr kumimoji="1" lang="en-US" altLang="zh-CN" sz="2300" dirty="0">
                <a:latin typeface="+mn-ea"/>
              </a:rPr>
              <a:t>root@localhost </a:t>
            </a:r>
            <a:r>
              <a:rPr lang="en-US" altLang="zh-CN" sz="2400" dirty="0"/>
              <a:t>~</a:t>
            </a:r>
            <a:r>
              <a:rPr kumimoji="1" lang="zh-CN" altLang="en-US" sz="2300" dirty="0">
                <a:latin typeface="+mn-ea"/>
              </a:rPr>
              <a:t>］</a:t>
            </a:r>
            <a:r>
              <a:rPr kumimoji="1" lang="en-US" altLang="zh-CN" sz="2300" dirty="0">
                <a:latin typeface="+mn-ea"/>
              </a:rPr>
              <a:t># </a:t>
            </a:r>
            <a:r>
              <a:rPr kumimoji="1" lang="en-US" altLang="zh-CN" sz="2300" dirty="0">
                <a:solidFill>
                  <a:srgbClr val="0000CC"/>
                </a:solidFill>
                <a:latin typeface="+mn-ea"/>
                <a:ea typeface="+mn-ea"/>
              </a:rPr>
              <a:t>gcc -E Hello.c -o </a:t>
            </a:r>
            <a:r>
              <a:rPr kumimoji="1" lang="en-US" altLang="zh-CN" sz="2300" dirty="0" err="1">
                <a:solidFill>
                  <a:srgbClr val="0000CC"/>
                </a:solidFill>
                <a:latin typeface="+mn-ea"/>
                <a:ea typeface="+mn-ea"/>
              </a:rPr>
              <a:t>Hello.i</a:t>
            </a:r>
            <a:endParaRPr kumimoji="1" lang="en-US" altLang="zh-CN" sz="2300" dirty="0">
              <a:solidFill>
                <a:srgbClr val="0000CC"/>
              </a:solidFill>
              <a:latin typeface="+mn-ea"/>
              <a:ea typeface="+mn-ea"/>
            </a:endParaRPr>
          </a:p>
          <a:p>
            <a:pPr algn="l" eaLnBrk="1" hangingPunct="1">
              <a:lnSpc>
                <a:spcPct val="120000"/>
              </a:lnSpc>
              <a:spcBef>
                <a:spcPct val="20000"/>
              </a:spcBef>
            </a:pPr>
            <a:r>
              <a:rPr kumimoji="1" lang="zh-CN" altLang="en-US" sz="2600" dirty="0">
                <a:solidFill>
                  <a:srgbClr val="0000CC"/>
                </a:solidFill>
                <a:latin typeface="+mn-ea"/>
                <a:ea typeface="+mn-ea"/>
              </a:rPr>
              <a:t>  </a:t>
            </a:r>
            <a:r>
              <a:rPr kumimoji="1" lang="zh-CN" altLang="en-US" sz="2600" dirty="0">
                <a:latin typeface="+mn-ea"/>
                <a:ea typeface="+mn-ea"/>
              </a:rPr>
              <a:t>该命令使用选项</a:t>
            </a:r>
            <a:r>
              <a:rPr kumimoji="1" lang="zh-CN" altLang="en-US" sz="2600" dirty="0">
                <a:solidFill>
                  <a:srgbClr val="CC0099"/>
                </a:solidFill>
                <a:latin typeface="+mn-ea"/>
                <a:ea typeface="+mn-ea"/>
              </a:rPr>
              <a:t>“</a:t>
            </a:r>
            <a:r>
              <a:rPr kumimoji="1" lang="en-US" altLang="zh-CN" sz="2600" dirty="0">
                <a:solidFill>
                  <a:srgbClr val="CC0099"/>
                </a:solidFill>
                <a:latin typeface="+mn-ea"/>
                <a:ea typeface="+mn-ea"/>
              </a:rPr>
              <a:t>-E”</a:t>
            </a:r>
            <a:r>
              <a:rPr kumimoji="1" lang="zh-CN" altLang="en-US" sz="2600" dirty="0">
                <a:solidFill>
                  <a:srgbClr val="CC0099"/>
                </a:solidFill>
                <a:latin typeface="+mn-ea"/>
                <a:ea typeface="+mn-ea"/>
              </a:rPr>
              <a:t>指定只进行预处理</a:t>
            </a:r>
            <a:r>
              <a:rPr kumimoji="1" lang="zh-CN" altLang="en-US" sz="2600" dirty="0">
                <a:latin typeface="+mn-ea"/>
                <a:ea typeface="+mn-ea"/>
              </a:rPr>
              <a:t>，“</a:t>
            </a:r>
            <a:r>
              <a:rPr kumimoji="1" lang="en-US" altLang="zh-CN" sz="2600" dirty="0">
                <a:latin typeface="+mn-ea"/>
                <a:ea typeface="+mn-ea"/>
              </a:rPr>
              <a:t>Hello.c”</a:t>
            </a:r>
            <a:r>
              <a:rPr kumimoji="1" lang="zh-CN" altLang="en-US" sz="2600" dirty="0">
                <a:latin typeface="+mn-ea"/>
                <a:ea typeface="+mn-ea"/>
              </a:rPr>
              <a:t>是源程序文件，选项</a:t>
            </a:r>
            <a:r>
              <a:rPr kumimoji="1" lang="zh-CN" altLang="en-US" sz="2600" dirty="0">
                <a:solidFill>
                  <a:srgbClr val="CC0099"/>
                </a:solidFill>
                <a:latin typeface="+mn-ea"/>
                <a:ea typeface="+mn-ea"/>
              </a:rPr>
              <a:t>“</a:t>
            </a:r>
            <a:r>
              <a:rPr kumimoji="1" lang="en-US" altLang="zh-CN" sz="2600" dirty="0">
                <a:solidFill>
                  <a:srgbClr val="CC0099"/>
                </a:solidFill>
                <a:latin typeface="+mn-ea"/>
                <a:ea typeface="+mn-ea"/>
              </a:rPr>
              <a:t>-o”</a:t>
            </a:r>
            <a:r>
              <a:rPr kumimoji="1" lang="zh-CN" altLang="en-US" sz="2600" dirty="0">
                <a:solidFill>
                  <a:srgbClr val="CC0099"/>
                </a:solidFill>
                <a:latin typeface="+mn-ea"/>
                <a:ea typeface="+mn-ea"/>
              </a:rPr>
              <a:t>指定生成目标文件</a:t>
            </a:r>
            <a:r>
              <a:rPr kumimoji="1" lang="zh-CN" altLang="en-US" sz="2600" dirty="0">
                <a:latin typeface="+mn-ea"/>
                <a:ea typeface="+mn-ea"/>
              </a:rPr>
              <a:t>，“</a:t>
            </a:r>
            <a:r>
              <a:rPr kumimoji="1" lang="en-US" altLang="zh-CN" sz="2600" dirty="0" err="1">
                <a:latin typeface="+mn-ea"/>
                <a:ea typeface="+mn-ea"/>
              </a:rPr>
              <a:t>Hello.i</a:t>
            </a:r>
            <a:r>
              <a:rPr kumimoji="1" lang="en-US" altLang="zh-CN" sz="2600" dirty="0">
                <a:latin typeface="+mn-ea"/>
                <a:ea typeface="+mn-ea"/>
              </a:rPr>
              <a:t>”</a:t>
            </a:r>
            <a:r>
              <a:rPr kumimoji="1" lang="zh-CN" altLang="en-US" sz="2600" dirty="0">
                <a:latin typeface="+mn-ea"/>
                <a:ea typeface="+mn-ea"/>
              </a:rPr>
              <a:t>是预处理过程生成的目标文件。因此，本次编译到预处理结束后就停止编译过程，但要把源代码中的</a:t>
            </a:r>
            <a:r>
              <a:rPr kumimoji="1" lang="en-US" altLang="zh-CN" sz="2600" dirty="0">
                <a:latin typeface="+mn-ea"/>
                <a:ea typeface="+mn-ea"/>
              </a:rPr>
              <a:t>stdio.h</a:t>
            </a:r>
            <a:r>
              <a:rPr kumimoji="1" lang="zh-CN" altLang="en-US" sz="2600" dirty="0">
                <a:latin typeface="+mn-ea"/>
                <a:ea typeface="+mn-ea"/>
              </a:rPr>
              <a:t>编译进来。</a:t>
            </a:r>
          </a:p>
          <a:p>
            <a:pPr algn="l" eaLnBrk="1" hangingPunct="1">
              <a:lnSpc>
                <a:spcPct val="120000"/>
              </a:lnSpc>
              <a:spcBef>
                <a:spcPct val="20000"/>
              </a:spcBef>
            </a:pPr>
            <a:r>
              <a:rPr kumimoji="1" lang="zh-CN" altLang="en-US" sz="2600" dirty="0">
                <a:latin typeface="+mn-ea"/>
                <a:ea typeface="+mn-ea"/>
              </a:rPr>
              <a:t>使用如下命令查看预处理过程生成的目标文件</a:t>
            </a:r>
            <a:r>
              <a:rPr kumimoji="1" lang="en-US" altLang="zh-CN" sz="2400" dirty="0">
                <a:latin typeface="+mn-ea"/>
                <a:ea typeface="+mn-ea"/>
              </a:rPr>
              <a:t>helloworld.i</a:t>
            </a:r>
            <a:r>
              <a:rPr kumimoji="1" lang="zh-CN" altLang="en-US" sz="2400" dirty="0">
                <a:latin typeface="+mn-ea"/>
                <a:ea typeface="+mn-ea"/>
              </a:rPr>
              <a:t>。</a:t>
            </a:r>
          </a:p>
          <a:p>
            <a:pPr algn="l" eaLnBrk="1" hangingPunct="1">
              <a:lnSpc>
                <a:spcPct val="120000"/>
              </a:lnSpc>
              <a:spcBef>
                <a:spcPct val="20000"/>
              </a:spcBef>
            </a:pPr>
            <a:r>
              <a:rPr kumimoji="1" lang="zh-CN" altLang="en-US" sz="2600" dirty="0">
                <a:latin typeface="+mn-ea"/>
              </a:rPr>
              <a:t>［</a:t>
            </a:r>
            <a:r>
              <a:rPr kumimoji="1" lang="en-US" altLang="zh-CN" sz="2600" dirty="0">
                <a:latin typeface="+mn-ea"/>
              </a:rPr>
              <a:t>root@localhost </a:t>
            </a:r>
            <a:r>
              <a:rPr lang="en-US" altLang="zh-CN" sz="2400" dirty="0"/>
              <a:t>~</a:t>
            </a:r>
            <a:r>
              <a:rPr kumimoji="1" lang="zh-CN" altLang="en-US" sz="2600" dirty="0">
                <a:latin typeface="+mn-ea"/>
              </a:rPr>
              <a:t>］</a:t>
            </a:r>
            <a:r>
              <a:rPr kumimoji="1" lang="en-US" altLang="zh-CN" sz="2600" dirty="0">
                <a:latin typeface="+mn-ea"/>
              </a:rPr>
              <a:t># </a:t>
            </a:r>
            <a:r>
              <a:rPr kumimoji="1" lang="en-US" altLang="zh-CN" sz="2600" dirty="0">
                <a:solidFill>
                  <a:srgbClr val="0000CC"/>
                </a:solidFill>
                <a:latin typeface="+mn-ea"/>
                <a:ea typeface="+mn-ea"/>
              </a:rPr>
              <a:t>vim </a:t>
            </a:r>
            <a:r>
              <a:rPr kumimoji="1" lang="en-US" altLang="zh-CN" sz="2600" dirty="0" err="1">
                <a:solidFill>
                  <a:srgbClr val="0000CC"/>
                </a:solidFill>
                <a:latin typeface="+mn-ea"/>
                <a:ea typeface="+mn-ea"/>
              </a:rPr>
              <a:t>Hello.i</a:t>
            </a:r>
            <a:endParaRPr kumimoji="1" lang="en-US" altLang="zh-CN" sz="2600" dirty="0">
              <a:solidFill>
                <a:srgbClr val="0000CC"/>
              </a:solidFill>
              <a:latin typeface="+mn-ea"/>
              <a:ea typeface="+mn-ea"/>
            </a:endParaRP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700C099A-6552-4724-AD39-B0EE2F003FA2}" type="slidenum">
              <a:rPr lang="en-US" altLang="zh-CN" smtClean="0"/>
              <a:pPr>
                <a:defRPr/>
              </a:pPr>
              <a:t>23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00636114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9" name="Text Box 5"/>
          <p:cNvSpPr txBox="1">
            <a:spLocks noChangeArrowheads="1"/>
          </p:cNvSpPr>
          <p:nvPr/>
        </p:nvSpPr>
        <p:spPr bwMode="auto">
          <a:xfrm>
            <a:off x="983432" y="636925"/>
            <a:ext cx="10297144" cy="919867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9pPr>
          </a:lstStyle>
          <a:p>
            <a:pPr algn="l" eaLnBrk="1" hangingPunct="1">
              <a:lnSpc>
                <a:spcPct val="120000"/>
              </a:lnSpc>
              <a:spcBef>
                <a:spcPct val="20000"/>
              </a:spcBef>
            </a:pPr>
            <a:r>
              <a:rPr kumimoji="1" lang="zh-CN" altLang="en-US" sz="2400" dirty="0">
                <a:latin typeface="+mn-ea"/>
                <a:ea typeface="+mn-ea"/>
              </a:rPr>
              <a:t>下图给出了</a:t>
            </a:r>
            <a:r>
              <a:rPr kumimoji="1" lang="en-US" altLang="zh-CN" sz="2400" dirty="0" err="1">
                <a:latin typeface="+mn-ea"/>
                <a:ea typeface="+mn-ea"/>
              </a:rPr>
              <a:t>Hello.i</a:t>
            </a:r>
            <a:r>
              <a:rPr kumimoji="1" lang="zh-CN" altLang="en-US" sz="2400" dirty="0">
                <a:latin typeface="+mn-ea"/>
                <a:ea typeface="+mn-ea"/>
              </a:rPr>
              <a:t>文件末尾部分的截图，可以看出预处理过后，</a:t>
            </a:r>
            <a:r>
              <a:rPr kumimoji="1" lang="en-US" altLang="zh-CN" sz="2400" dirty="0" err="1">
                <a:latin typeface="+mn-ea"/>
                <a:ea typeface="+mn-ea"/>
              </a:rPr>
              <a:t>Hello.i</a:t>
            </a:r>
            <a:r>
              <a:rPr kumimoji="1" lang="zh-CN" altLang="en-US" sz="2400" dirty="0">
                <a:latin typeface="+mn-ea"/>
                <a:ea typeface="+mn-ea"/>
              </a:rPr>
              <a:t>文件有</a:t>
            </a:r>
            <a:r>
              <a:rPr kumimoji="1" lang="en-US" altLang="zh-CN" sz="2400" dirty="0">
                <a:latin typeface="+mn-ea"/>
                <a:ea typeface="+mn-ea"/>
              </a:rPr>
              <a:t>841</a:t>
            </a:r>
            <a:r>
              <a:rPr kumimoji="1" lang="zh-CN" altLang="en-US" sz="2400" dirty="0">
                <a:latin typeface="+mn-ea"/>
                <a:ea typeface="+mn-ea"/>
              </a:rPr>
              <a:t>行，因为预处理过程把头文件</a:t>
            </a:r>
            <a:r>
              <a:rPr kumimoji="1" lang="en-US" altLang="zh-CN" sz="2400" dirty="0" err="1">
                <a:latin typeface="+mn-ea"/>
                <a:ea typeface="+mn-ea"/>
              </a:rPr>
              <a:t>stdio.h</a:t>
            </a:r>
            <a:r>
              <a:rPr kumimoji="1" lang="zh-CN" altLang="en-US" sz="2400" dirty="0">
                <a:latin typeface="+mn-ea"/>
                <a:ea typeface="+mn-ea"/>
              </a:rPr>
              <a:t>编译进来了。</a:t>
            </a: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700C099A-6552-4724-AD39-B0EE2F003FA2}" type="slidenum">
              <a:rPr lang="en-US" altLang="zh-CN" smtClean="0"/>
              <a:pPr>
                <a:defRPr/>
              </a:pPr>
              <a:t>24</a:t>
            </a:fld>
            <a:endParaRPr lang="en-US" altLang="zh-CN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24B4D89C-3A59-D360-3547-CE642BECE82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6425" y="1628800"/>
            <a:ext cx="7464647" cy="46104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631670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Text Box 4"/>
          <p:cNvSpPr txBox="1">
            <a:spLocks noChangeArrowheads="1"/>
          </p:cNvSpPr>
          <p:nvPr/>
        </p:nvSpPr>
        <p:spPr bwMode="auto">
          <a:xfrm>
            <a:off x="1325712" y="1021965"/>
            <a:ext cx="9882856" cy="463928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9pPr>
          </a:lstStyle>
          <a:p>
            <a:pPr algn="l" eaLnBrk="1" hangingPunct="1">
              <a:lnSpc>
                <a:spcPct val="120000"/>
              </a:lnSpc>
              <a:spcBef>
                <a:spcPct val="20000"/>
              </a:spcBef>
            </a:pPr>
            <a:r>
              <a:rPr kumimoji="1" lang="en-US" altLang="zh-CN" sz="2600" dirty="0">
                <a:solidFill>
                  <a:srgbClr val="0000CC"/>
                </a:solidFill>
                <a:latin typeface="+mn-ea"/>
                <a:ea typeface="+mn-ea"/>
              </a:rPr>
              <a:t>2</a:t>
            </a:r>
            <a:r>
              <a:rPr kumimoji="1" lang="zh-CN" altLang="en-US" sz="2600" dirty="0">
                <a:solidFill>
                  <a:srgbClr val="0000CC"/>
                </a:solidFill>
                <a:latin typeface="+mn-ea"/>
                <a:ea typeface="+mn-ea"/>
              </a:rPr>
              <a:t>．编译阶段</a:t>
            </a:r>
          </a:p>
          <a:p>
            <a:pPr algn="l" eaLnBrk="1" hangingPunct="1">
              <a:lnSpc>
                <a:spcPct val="120000"/>
              </a:lnSpc>
              <a:spcBef>
                <a:spcPct val="20000"/>
              </a:spcBef>
            </a:pPr>
            <a:r>
              <a:rPr kumimoji="1" lang="zh-CN" altLang="en-US" sz="2600" dirty="0">
                <a:latin typeface="+mn-ea"/>
                <a:ea typeface="+mn-ea"/>
              </a:rPr>
              <a:t>执行如下命令对预处理文件</a:t>
            </a:r>
            <a:r>
              <a:rPr kumimoji="1" lang="en-US" altLang="zh-CN" sz="2600" dirty="0" err="1">
                <a:latin typeface="+mn-ea"/>
                <a:ea typeface="+mn-ea"/>
              </a:rPr>
              <a:t>hello.i</a:t>
            </a:r>
            <a:r>
              <a:rPr kumimoji="1" lang="zh-CN" altLang="en-US" sz="2600" dirty="0">
                <a:latin typeface="+mn-ea"/>
                <a:ea typeface="+mn-ea"/>
              </a:rPr>
              <a:t>进行编译</a:t>
            </a:r>
            <a:r>
              <a:rPr kumimoji="1" lang="zh-CN" altLang="en-US" sz="2200" dirty="0">
                <a:latin typeface="+mn-ea"/>
              </a:rPr>
              <a:t>［</a:t>
            </a:r>
            <a:r>
              <a:rPr kumimoji="1" lang="en-US" altLang="zh-CN" sz="2200" dirty="0">
                <a:latin typeface="+mn-ea"/>
              </a:rPr>
              <a:t>root@localhost </a:t>
            </a:r>
            <a:r>
              <a:rPr lang="en-US" altLang="zh-CN" sz="2400" dirty="0"/>
              <a:t>~</a:t>
            </a:r>
            <a:r>
              <a:rPr kumimoji="1" lang="zh-CN" altLang="en-US" sz="2200" dirty="0">
                <a:latin typeface="+mn-ea"/>
              </a:rPr>
              <a:t>］</a:t>
            </a:r>
            <a:r>
              <a:rPr kumimoji="1" lang="en-US" altLang="zh-CN" sz="2200" dirty="0">
                <a:latin typeface="+mn-ea"/>
              </a:rPr>
              <a:t># </a:t>
            </a:r>
            <a:r>
              <a:rPr kumimoji="1" lang="en-US" altLang="zh-CN" sz="2200" dirty="0">
                <a:solidFill>
                  <a:srgbClr val="0000CC"/>
                </a:solidFill>
                <a:latin typeface="+mn-ea"/>
                <a:ea typeface="+mn-ea"/>
              </a:rPr>
              <a:t>gcc -S </a:t>
            </a:r>
            <a:r>
              <a:rPr kumimoji="1" lang="en-US" altLang="zh-CN" sz="2200" dirty="0" err="1">
                <a:solidFill>
                  <a:srgbClr val="0000CC"/>
                </a:solidFill>
                <a:latin typeface="+mn-ea"/>
                <a:ea typeface="+mn-ea"/>
              </a:rPr>
              <a:t>Hello.i</a:t>
            </a:r>
            <a:r>
              <a:rPr kumimoji="1" lang="en-US" altLang="zh-CN" sz="2200" dirty="0">
                <a:solidFill>
                  <a:srgbClr val="0000CC"/>
                </a:solidFill>
                <a:latin typeface="+mn-ea"/>
                <a:ea typeface="+mn-ea"/>
              </a:rPr>
              <a:t> -o </a:t>
            </a:r>
            <a:r>
              <a:rPr kumimoji="1" lang="en-US" altLang="zh-CN" sz="2200" dirty="0" err="1">
                <a:solidFill>
                  <a:srgbClr val="0000CC"/>
                </a:solidFill>
                <a:latin typeface="+mn-ea"/>
                <a:ea typeface="+mn-ea"/>
              </a:rPr>
              <a:t>Hello.S</a:t>
            </a:r>
            <a:endParaRPr kumimoji="1" lang="en-US" altLang="zh-CN" sz="2200" dirty="0">
              <a:solidFill>
                <a:srgbClr val="0000CC"/>
              </a:solidFill>
              <a:latin typeface="+mn-ea"/>
              <a:ea typeface="+mn-ea"/>
            </a:endParaRPr>
          </a:p>
          <a:p>
            <a:pPr algn="l" eaLnBrk="1" hangingPunct="1">
              <a:lnSpc>
                <a:spcPct val="120000"/>
              </a:lnSpc>
              <a:spcBef>
                <a:spcPct val="20000"/>
              </a:spcBef>
            </a:pPr>
            <a:r>
              <a:rPr kumimoji="1" lang="zh-CN" altLang="en-US" sz="2600" dirty="0">
                <a:latin typeface="+mn-ea"/>
                <a:ea typeface="+mn-ea"/>
              </a:rPr>
              <a:t>该命令使用选项</a:t>
            </a:r>
            <a:r>
              <a:rPr kumimoji="1" lang="zh-CN" altLang="en-US" sz="2600" dirty="0">
                <a:solidFill>
                  <a:srgbClr val="CC0099"/>
                </a:solidFill>
                <a:latin typeface="+mn-ea"/>
                <a:ea typeface="+mn-ea"/>
              </a:rPr>
              <a:t>“</a:t>
            </a:r>
            <a:r>
              <a:rPr kumimoji="1" lang="en-US" altLang="zh-CN" sz="2600" dirty="0">
                <a:solidFill>
                  <a:srgbClr val="CC0099"/>
                </a:solidFill>
                <a:latin typeface="+mn-ea"/>
                <a:ea typeface="+mn-ea"/>
              </a:rPr>
              <a:t>-S”</a:t>
            </a:r>
            <a:r>
              <a:rPr kumimoji="1" lang="zh-CN" altLang="en-US" sz="2600" dirty="0">
                <a:solidFill>
                  <a:srgbClr val="CC0099"/>
                </a:solidFill>
                <a:latin typeface="+mn-ea"/>
                <a:ea typeface="+mn-ea"/>
              </a:rPr>
              <a:t>指定只进行到编译阶段</a:t>
            </a:r>
            <a:r>
              <a:rPr kumimoji="1" lang="zh-CN" altLang="en-US" sz="2600" dirty="0">
                <a:latin typeface="+mn-ea"/>
                <a:ea typeface="+mn-ea"/>
              </a:rPr>
              <a:t>，“</a:t>
            </a:r>
            <a:r>
              <a:rPr kumimoji="1" lang="en-US" altLang="zh-CN" sz="2600" dirty="0" err="1">
                <a:latin typeface="+mn-ea"/>
                <a:ea typeface="+mn-ea"/>
              </a:rPr>
              <a:t>Hello.i</a:t>
            </a:r>
            <a:r>
              <a:rPr kumimoji="1" lang="en-US" altLang="zh-CN" sz="2600" dirty="0">
                <a:latin typeface="+mn-ea"/>
                <a:ea typeface="+mn-ea"/>
              </a:rPr>
              <a:t>”</a:t>
            </a:r>
            <a:r>
              <a:rPr kumimoji="1" lang="zh-CN" altLang="en-US" sz="2600" dirty="0">
                <a:latin typeface="+mn-ea"/>
                <a:ea typeface="+mn-ea"/>
              </a:rPr>
              <a:t>是进行编译的源文件，选项</a:t>
            </a:r>
            <a:r>
              <a:rPr kumimoji="1" lang="zh-CN" altLang="en-US" sz="2600" dirty="0">
                <a:solidFill>
                  <a:srgbClr val="CC0099"/>
                </a:solidFill>
                <a:latin typeface="+mn-ea"/>
                <a:ea typeface="+mn-ea"/>
              </a:rPr>
              <a:t>“</a:t>
            </a:r>
            <a:r>
              <a:rPr kumimoji="1" lang="en-US" altLang="zh-CN" sz="2600" dirty="0">
                <a:solidFill>
                  <a:srgbClr val="CC0099"/>
                </a:solidFill>
                <a:latin typeface="+mn-ea"/>
                <a:ea typeface="+mn-ea"/>
              </a:rPr>
              <a:t>-o”</a:t>
            </a:r>
            <a:r>
              <a:rPr kumimoji="1" lang="zh-CN" altLang="en-US" sz="2600" dirty="0">
                <a:solidFill>
                  <a:srgbClr val="CC0099"/>
                </a:solidFill>
                <a:latin typeface="+mn-ea"/>
                <a:ea typeface="+mn-ea"/>
              </a:rPr>
              <a:t>指定生成目标文件</a:t>
            </a:r>
            <a:r>
              <a:rPr kumimoji="1" lang="zh-CN" altLang="en-US" sz="2600" dirty="0">
                <a:latin typeface="+mn-ea"/>
                <a:ea typeface="+mn-ea"/>
              </a:rPr>
              <a:t>，“</a:t>
            </a:r>
            <a:r>
              <a:rPr kumimoji="1" lang="en-US" altLang="zh-CN" sz="2600" dirty="0" err="1">
                <a:latin typeface="+mn-ea"/>
                <a:ea typeface="+mn-ea"/>
              </a:rPr>
              <a:t>Hello.S</a:t>
            </a:r>
            <a:r>
              <a:rPr kumimoji="1" lang="en-US" altLang="zh-CN" sz="2600" dirty="0">
                <a:latin typeface="+mn-ea"/>
                <a:ea typeface="+mn-ea"/>
              </a:rPr>
              <a:t>”</a:t>
            </a:r>
            <a:r>
              <a:rPr kumimoji="1" lang="zh-CN" altLang="en-US" sz="2600" dirty="0">
                <a:latin typeface="+mn-ea"/>
                <a:ea typeface="+mn-ea"/>
              </a:rPr>
              <a:t>是编译生成的目标文件名。因此，本次编译到编译阶段结束后就停止编译过程，不进入汇编阶段。</a:t>
            </a:r>
            <a:endParaRPr kumimoji="1" lang="en-US" altLang="zh-CN" sz="2600" dirty="0">
              <a:latin typeface="+mn-ea"/>
              <a:ea typeface="+mn-ea"/>
            </a:endParaRPr>
          </a:p>
          <a:p>
            <a:pPr algn="l" eaLnBrk="1" hangingPunct="1">
              <a:lnSpc>
                <a:spcPct val="120000"/>
              </a:lnSpc>
              <a:spcBef>
                <a:spcPct val="20000"/>
              </a:spcBef>
            </a:pPr>
            <a:r>
              <a:rPr kumimoji="1" lang="zh-CN" altLang="en-US" sz="2600" dirty="0">
                <a:latin typeface="+mn-ea"/>
                <a:ea typeface="+mn-ea"/>
              </a:rPr>
              <a:t>使用如下命令查看编译过程生成的目标文件</a:t>
            </a:r>
            <a:r>
              <a:rPr kumimoji="1" lang="en-US" altLang="zh-CN" sz="2600" dirty="0" err="1">
                <a:latin typeface="+mn-ea"/>
                <a:ea typeface="+mn-ea"/>
              </a:rPr>
              <a:t>Hello.S</a:t>
            </a:r>
            <a:r>
              <a:rPr kumimoji="1" lang="zh-CN" altLang="en-US" sz="2600" dirty="0">
                <a:latin typeface="+mn-ea"/>
                <a:ea typeface="+mn-ea"/>
              </a:rPr>
              <a:t>。</a:t>
            </a:r>
          </a:p>
          <a:p>
            <a:pPr algn="l" eaLnBrk="1" hangingPunct="1">
              <a:lnSpc>
                <a:spcPct val="120000"/>
              </a:lnSpc>
              <a:spcBef>
                <a:spcPct val="20000"/>
              </a:spcBef>
            </a:pPr>
            <a:r>
              <a:rPr kumimoji="1" lang="zh-CN" altLang="en-US" sz="2600" dirty="0">
                <a:latin typeface="+mn-ea"/>
              </a:rPr>
              <a:t>［</a:t>
            </a:r>
            <a:r>
              <a:rPr kumimoji="1" lang="en-US" altLang="zh-CN" sz="2600" dirty="0">
                <a:latin typeface="+mn-ea"/>
              </a:rPr>
              <a:t>root@localhost </a:t>
            </a:r>
            <a:r>
              <a:rPr lang="en-US" altLang="zh-CN" sz="2400" dirty="0"/>
              <a:t>~</a:t>
            </a:r>
            <a:r>
              <a:rPr kumimoji="1" lang="zh-CN" altLang="en-US" sz="2600" dirty="0">
                <a:latin typeface="+mn-ea"/>
              </a:rPr>
              <a:t>］</a:t>
            </a:r>
            <a:r>
              <a:rPr kumimoji="1" lang="en-US" altLang="zh-CN" sz="2600" dirty="0">
                <a:latin typeface="+mn-ea"/>
              </a:rPr>
              <a:t># </a:t>
            </a:r>
            <a:r>
              <a:rPr kumimoji="1" lang="en-US" altLang="zh-CN" sz="2600" dirty="0">
                <a:solidFill>
                  <a:srgbClr val="0000CC"/>
                </a:solidFill>
                <a:latin typeface="+mn-ea"/>
                <a:ea typeface="+mn-ea"/>
              </a:rPr>
              <a:t>vim  </a:t>
            </a:r>
            <a:r>
              <a:rPr kumimoji="1" lang="en-US" altLang="zh-CN" sz="2600" dirty="0" err="1">
                <a:solidFill>
                  <a:srgbClr val="0000CC"/>
                </a:solidFill>
                <a:latin typeface="+mn-ea"/>
                <a:ea typeface="+mn-ea"/>
              </a:rPr>
              <a:t>Hello.S</a:t>
            </a:r>
            <a:endParaRPr kumimoji="1" lang="zh-CN" altLang="en-US" sz="2600" dirty="0">
              <a:solidFill>
                <a:srgbClr val="0000CC"/>
              </a:solidFill>
              <a:latin typeface="+mn-ea"/>
              <a:ea typeface="+mn-ea"/>
            </a:endParaRP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700C099A-6552-4724-AD39-B0EE2F003FA2}" type="slidenum">
              <a:rPr lang="en-US" altLang="zh-CN" smtClean="0"/>
              <a:pPr>
                <a:defRPr/>
              </a:pPr>
              <a:t>25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99568669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Text Box 4"/>
          <p:cNvSpPr txBox="1">
            <a:spLocks noChangeArrowheads="1"/>
          </p:cNvSpPr>
          <p:nvPr/>
        </p:nvSpPr>
        <p:spPr bwMode="auto">
          <a:xfrm>
            <a:off x="1163452" y="598328"/>
            <a:ext cx="9973108" cy="919867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9pPr>
          </a:lstStyle>
          <a:p>
            <a:pPr algn="l" eaLnBrk="1" hangingPunct="1">
              <a:lnSpc>
                <a:spcPct val="120000"/>
              </a:lnSpc>
              <a:spcBef>
                <a:spcPct val="20000"/>
              </a:spcBef>
            </a:pPr>
            <a:r>
              <a:rPr kumimoji="1" lang="zh-CN" altLang="en-US" sz="2400" dirty="0">
                <a:latin typeface="楷体_GB2312" pitchFamily="49" charset="-122"/>
                <a:ea typeface="楷体_GB2312" pitchFamily="49" charset="-122"/>
              </a:rPr>
              <a:t>下</a:t>
            </a:r>
            <a:r>
              <a:rPr kumimoji="1" lang="zh-CN" altLang="en-US" sz="2400" dirty="0">
                <a:latin typeface="+mn-ea"/>
                <a:ea typeface="+mn-ea"/>
              </a:rPr>
              <a:t>图给出了观察到的</a:t>
            </a:r>
            <a:r>
              <a:rPr kumimoji="1" lang="en-US" altLang="zh-CN" sz="2400" dirty="0" err="1">
                <a:latin typeface="+mn-ea"/>
                <a:ea typeface="+mn-ea"/>
              </a:rPr>
              <a:t>Hello.S</a:t>
            </a:r>
            <a:r>
              <a:rPr kumimoji="1" lang="zh-CN" altLang="en-US" sz="2400" dirty="0">
                <a:latin typeface="+mn-ea"/>
                <a:ea typeface="+mn-ea"/>
              </a:rPr>
              <a:t>文件的部分截图，可以看出编译阶段过后，</a:t>
            </a:r>
            <a:r>
              <a:rPr kumimoji="1" lang="en-US" altLang="zh-CN" sz="2400" dirty="0">
                <a:latin typeface="+mn-ea"/>
                <a:ea typeface="+mn-ea"/>
              </a:rPr>
              <a:t>GCC</a:t>
            </a:r>
            <a:r>
              <a:rPr kumimoji="1" lang="zh-CN" altLang="en-US" sz="2400" dirty="0">
                <a:latin typeface="+mn-ea"/>
                <a:ea typeface="+mn-ea"/>
              </a:rPr>
              <a:t>已经将</a:t>
            </a:r>
            <a:r>
              <a:rPr kumimoji="1" lang="en-US" altLang="zh-CN" sz="2400" dirty="0" err="1">
                <a:latin typeface="+mn-ea"/>
                <a:ea typeface="+mn-ea"/>
              </a:rPr>
              <a:t>Hello.i</a:t>
            </a:r>
            <a:r>
              <a:rPr kumimoji="1" lang="zh-CN" altLang="en-US" sz="2400" dirty="0">
                <a:latin typeface="+mn-ea"/>
                <a:ea typeface="+mn-ea"/>
              </a:rPr>
              <a:t>文件转化为汇编文件。</a:t>
            </a: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700C099A-6552-4724-AD39-B0EE2F003FA2}" type="slidenum">
              <a:rPr lang="en-US" altLang="zh-CN" smtClean="0"/>
              <a:pPr>
                <a:defRPr/>
              </a:pPr>
              <a:t>26</a:t>
            </a:fld>
            <a:endParaRPr lang="en-US" altLang="zh-CN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9E4E31F8-FF9A-0835-4183-92A3C395498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39616" y="1708690"/>
            <a:ext cx="7416824" cy="45519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567677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Text Box 4"/>
          <p:cNvSpPr txBox="1">
            <a:spLocks noChangeArrowheads="1"/>
          </p:cNvSpPr>
          <p:nvPr/>
        </p:nvSpPr>
        <p:spPr bwMode="auto">
          <a:xfrm>
            <a:off x="1127448" y="1183543"/>
            <a:ext cx="10081120" cy="418967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9pPr>
          </a:lstStyle>
          <a:p>
            <a:pPr algn="l" eaLnBrk="1" hangingPunct="1">
              <a:lnSpc>
                <a:spcPct val="120000"/>
              </a:lnSpc>
              <a:spcBef>
                <a:spcPct val="20000"/>
              </a:spcBef>
            </a:pPr>
            <a:r>
              <a:rPr kumimoji="1" lang="en-US" altLang="zh-CN" sz="2600" dirty="0">
                <a:solidFill>
                  <a:srgbClr val="0000CC"/>
                </a:solidFill>
                <a:latin typeface="+mn-ea"/>
                <a:ea typeface="+mn-ea"/>
              </a:rPr>
              <a:t>3</a:t>
            </a:r>
            <a:r>
              <a:rPr kumimoji="1" lang="zh-CN" altLang="en-US" sz="2600" dirty="0">
                <a:solidFill>
                  <a:srgbClr val="0000CC"/>
                </a:solidFill>
                <a:latin typeface="+mn-ea"/>
                <a:ea typeface="+mn-ea"/>
              </a:rPr>
              <a:t>．汇编阶段</a:t>
            </a:r>
          </a:p>
          <a:p>
            <a:pPr algn="l" eaLnBrk="1" hangingPunct="1">
              <a:lnSpc>
                <a:spcPct val="120000"/>
              </a:lnSpc>
              <a:spcBef>
                <a:spcPct val="20000"/>
              </a:spcBef>
            </a:pPr>
            <a:r>
              <a:rPr kumimoji="1" lang="zh-CN" altLang="en-US" sz="2600" dirty="0">
                <a:latin typeface="+mn-ea"/>
                <a:ea typeface="+mn-ea"/>
              </a:rPr>
              <a:t>执行如下命令对文件</a:t>
            </a:r>
            <a:r>
              <a:rPr kumimoji="1" lang="en-US" altLang="zh-CN" sz="2600" dirty="0" err="1">
                <a:latin typeface="+mn-ea"/>
                <a:ea typeface="+mn-ea"/>
              </a:rPr>
              <a:t>Hello.S</a:t>
            </a:r>
            <a:r>
              <a:rPr kumimoji="1" lang="zh-CN" altLang="en-US" sz="2600" dirty="0">
                <a:latin typeface="+mn-ea"/>
                <a:ea typeface="+mn-ea"/>
              </a:rPr>
              <a:t>进行汇编。</a:t>
            </a:r>
          </a:p>
          <a:p>
            <a:pPr algn="l" eaLnBrk="1" hangingPunct="1">
              <a:lnSpc>
                <a:spcPct val="120000"/>
              </a:lnSpc>
              <a:spcBef>
                <a:spcPct val="20000"/>
              </a:spcBef>
            </a:pPr>
            <a:r>
              <a:rPr kumimoji="1" lang="zh-CN" altLang="en-US" sz="2600" dirty="0">
                <a:latin typeface="+mn-ea"/>
              </a:rPr>
              <a:t>［</a:t>
            </a:r>
            <a:r>
              <a:rPr kumimoji="1" lang="en-US" altLang="zh-CN" sz="2600" dirty="0">
                <a:latin typeface="+mn-ea"/>
              </a:rPr>
              <a:t>root@localhost </a:t>
            </a:r>
            <a:r>
              <a:rPr lang="en-US" altLang="zh-CN" sz="2400" dirty="0"/>
              <a:t>~</a:t>
            </a:r>
            <a:r>
              <a:rPr kumimoji="1" lang="zh-CN" altLang="en-US" sz="2600" dirty="0">
                <a:latin typeface="+mn-ea"/>
              </a:rPr>
              <a:t>］</a:t>
            </a:r>
            <a:r>
              <a:rPr kumimoji="1" lang="en-US" altLang="zh-CN" sz="2600" dirty="0">
                <a:latin typeface="+mn-ea"/>
              </a:rPr>
              <a:t># </a:t>
            </a:r>
            <a:r>
              <a:rPr kumimoji="1" lang="en-US" altLang="zh-CN" sz="2600" dirty="0">
                <a:solidFill>
                  <a:srgbClr val="0000FF"/>
                </a:solidFill>
                <a:latin typeface="+mn-ea"/>
                <a:ea typeface="+mn-ea"/>
              </a:rPr>
              <a:t>gcc -c </a:t>
            </a:r>
            <a:r>
              <a:rPr kumimoji="1" lang="en-US" altLang="zh-CN" sz="2600" dirty="0" err="1">
                <a:solidFill>
                  <a:srgbClr val="0000FF"/>
                </a:solidFill>
                <a:latin typeface="+mn-ea"/>
                <a:ea typeface="+mn-ea"/>
              </a:rPr>
              <a:t>Hello.S</a:t>
            </a:r>
            <a:r>
              <a:rPr kumimoji="1" lang="en-US" altLang="zh-CN" sz="2600" dirty="0">
                <a:solidFill>
                  <a:srgbClr val="0000FF"/>
                </a:solidFill>
                <a:latin typeface="+mn-ea"/>
                <a:ea typeface="+mn-ea"/>
              </a:rPr>
              <a:t> -o </a:t>
            </a:r>
            <a:r>
              <a:rPr kumimoji="1" lang="en-US" altLang="zh-CN" sz="2600" dirty="0" err="1">
                <a:solidFill>
                  <a:srgbClr val="0000FF"/>
                </a:solidFill>
                <a:latin typeface="+mn-ea"/>
                <a:ea typeface="+mn-ea"/>
              </a:rPr>
              <a:t>Hello.o</a:t>
            </a:r>
            <a:endParaRPr kumimoji="1" lang="en-US" altLang="zh-CN" sz="2600" dirty="0">
              <a:solidFill>
                <a:srgbClr val="0000FF"/>
              </a:solidFill>
              <a:latin typeface="+mn-ea"/>
              <a:ea typeface="+mn-ea"/>
            </a:endParaRPr>
          </a:p>
          <a:p>
            <a:pPr algn="l" eaLnBrk="1" hangingPunct="1">
              <a:lnSpc>
                <a:spcPct val="120000"/>
              </a:lnSpc>
              <a:spcBef>
                <a:spcPct val="20000"/>
              </a:spcBef>
            </a:pPr>
            <a:r>
              <a:rPr kumimoji="1" lang="zh-CN" altLang="en-US" sz="2600" dirty="0">
                <a:latin typeface="+mn-ea"/>
                <a:ea typeface="+mn-ea"/>
              </a:rPr>
              <a:t> 该命令使用选项“</a:t>
            </a:r>
            <a:r>
              <a:rPr kumimoji="1" lang="en-US" altLang="zh-CN" sz="2600" dirty="0">
                <a:solidFill>
                  <a:srgbClr val="CC0099"/>
                </a:solidFill>
                <a:latin typeface="+mn-ea"/>
                <a:ea typeface="+mn-ea"/>
              </a:rPr>
              <a:t>-c”</a:t>
            </a:r>
            <a:r>
              <a:rPr kumimoji="1" lang="zh-CN" altLang="en-US" sz="2600" dirty="0">
                <a:solidFill>
                  <a:srgbClr val="CC0099"/>
                </a:solidFill>
                <a:latin typeface="+mn-ea"/>
                <a:ea typeface="+mn-ea"/>
              </a:rPr>
              <a:t>指定只进行到汇编阶段结束为止</a:t>
            </a:r>
            <a:r>
              <a:rPr kumimoji="1" lang="zh-CN" altLang="en-US" sz="2600" dirty="0">
                <a:latin typeface="+mn-ea"/>
                <a:ea typeface="+mn-ea"/>
              </a:rPr>
              <a:t>，“</a:t>
            </a:r>
            <a:r>
              <a:rPr kumimoji="1" lang="en-US" altLang="zh-CN" sz="2600" dirty="0" err="1">
                <a:latin typeface="+mn-ea"/>
                <a:ea typeface="+mn-ea"/>
              </a:rPr>
              <a:t>Hello.S</a:t>
            </a:r>
            <a:r>
              <a:rPr kumimoji="1" lang="en-US" altLang="zh-CN" sz="2600" dirty="0">
                <a:latin typeface="+mn-ea"/>
                <a:ea typeface="+mn-ea"/>
              </a:rPr>
              <a:t>”</a:t>
            </a:r>
            <a:r>
              <a:rPr kumimoji="1" lang="zh-CN" altLang="en-US" sz="2600" dirty="0">
                <a:latin typeface="+mn-ea"/>
                <a:ea typeface="+mn-ea"/>
              </a:rPr>
              <a:t>是进行汇编的源文件，</a:t>
            </a:r>
            <a:r>
              <a:rPr kumimoji="1" lang="zh-CN" altLang="en-US" sz="2600" dirty="0">
                <a:solidFill>
                  <a:srgbClr val="CC0099"/>
                </a:solidFill>
                <a:latin typeface="+mn-ea"/>
                <a:ea typeface="+mn-ea"/>
              </a:rPr>
              <a:t>选项“</a:t>
            </a:r>
            <a:r>
              <a:rPr kumimoji="1" lang="en-US" altLang="zh-CN" sz="2600" dirty="0">
                <a:solidFill>
                  <a:srgbClr val="CC0099"/>
                </a:solidFill>
                <a:latin typeface="+mn-ea"/>
                <a:ea typeface="+mn-ea"/>
              </a:rPr>
              <a:t>-o”</a:t>
            </a:r>
            <a:r>
              <a:rPr kumimoji="1" lang="zh-CN" altLang="en-US" sz="2600" dirty="0">
                <a:solidFill>
                  <a:srgbClr val="CC0099"/>
                </a:solidFill>
                <a:latin typeface="+mn-ea"/>
                <a:ea typeface="+mn-ea"/>
              </a:rPr>
              <a:t>指定生成目标文件</a:t>
            </a:r>
            <a:r>
              <a:rPr kumimoji="1" lang="zh-CN" altLang="en-US" sz="2600" dirty="0">
                <a:latin typeface="+mn-ea"/>
                <a:ea typeface="+mn-ea"/>
              </a:rPr>
              <a:t>，“</a:t>
            </a:r>
            <a:r>
              <a:rPr kumimoji="1" lang="en-US" altLang="zh-CN" sz="2600" dirty="0" err="1">
                <a:latin typeface="+mn-ea"/>
                <a:ea typeface="+mn-ea"/>
              </a:rPr>
              <a:t>Hello.o</a:t>
            </a:r>
            <a:r>
              <a:rPr kumimoji="1" lang="en-US" altLang="zh-CN" sz="2600" dirty="0">
                <a:latin typeface="+mn-ea"/>
                <a:ea typeface="+mn-ea"/>
              </a:rPr>
              <a:t>”</a:t>
            </a:r>
            <a:r>
              <a:rPr kumimoji="1" lang="zh-CN" altLang="en-US" sz="2600" dirty="0">
                <a:latin typeface="+mn-ea"/>
                <a:ea typeface="+mn-ea"/>
              </a:rPr>
              <a:t>是编译生成的目标文件名。</a:t>
            </a:r>
          </a:p>
          <a:p>
            <a:pPr algn="l" eaLnBrk="1" hangingPunct="1">
              <a:lnSpc>
                <a:spcPct val="120000"/>
              </a:lnSpc>
              <a:spcBef>
                <a:spcPct val="20000"/>
              </a:spcBef>
            </a:pPr>
            <a:r>
              <a:rPr kumimoji="1" lang="zh-CN" altLang="en-US" sz="2600" dirty="0">
                <a:latin typeface="+mn-ea"/>
                <a:ea typeface="+mn-ea"/>
              </a:rPr>
              <a:t> 本次编译到汇编阶段结束后就停止编译过程，不进入连接阶段。</a:t>
            </a:r>
            <a:r>
              <a:rPr kumimoji="1" lang="en-US" altLang="zh-CN" sz="2600" dirty="0" err="1">
                <a:latin typeface="+mn-ea"/>
                <a:ea typeface="+mn-ea"/>
              </a:rPr>
              <a:t>Hello.o</a:t>
            </a:r>
            <a:r>
              <a:rPr kumimoji="1" lang="zh-CN" altLang="en-US" sz="2600" dirty="0">
                <a:latin typeface="+mn-ea"/>
                <a:ea typeface="+mn-ea"/>
              </a:rPr>
              <a:t>为二进制目标代码文件。</a:t>
            </a: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700C099A-6552-4724-AD39-B0EE2F003FA2}" type="slidenum">
              <a:rPr lang="en-US" altLang="zh-CN" smtClean="0"/>
              <a:pPr>
                <a:defRPr/>
              </a:pPr>
              <a:t>27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48969993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Text Box 4"/>
          <p:cNvSpPr txBox="1">
            <a:spLocks noChangeArrowheads="1"/>
          </p:cNvSpPr>
          <p:nvPr/>
        </p:nvSpPr>
        <p:spPr bwMode="auto">
          <a:xfrm>
            <a:off x="1271464" y="1052736"/>
            <a:ext cx="9937104" cy="465358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9pPr>
          </a:lstStyle>
          <a:p>
            <a:pPr algn="l" eaLnBrk="1" hangingPunct="1">
              <a:lnSpc>
                <a:spcPct val="120000"/>
              </a:lnSpc>
              <a:spcBef>
                <a:spcPct val="20000"/>
              </a:spcBef>
            </a:pPr>
            <a:r>
              <a:rPr kumimoji="1" lang="en-US" altLang="zh-CN" sz="2600" dirty="0">
                <a:solidFill>
                  <a:srgbClr val="0000CC"/>
                </a:solidFill>
                <a:latin typeface="+mn-ea"/>
                <a:ea typeface="+mn-ea"/>
              </a:rPr>
              <a:t>4</a:t>
            </a:r>
            <a:r>
              <a:rPr kumimoji="1" lang="zh-CN" altLang="en-US" sz="2600" dirty="0">
                <a:solidFill>
                  <a:srgbClr val="0000CC"/>
                </a:solidFill>
                <a:latin typeface="+mn-ea"/>
                <a:ea typeface="+mn-ea"/>
              </a:rPr>
              <a:t>．链接阶段</a:t>
            </a:r>
            <a:endParaRPr kumimoji="1" lang="en-US" altLang="zh-CN" sz="2600" dirty="0">
              <a:latin typeface="+mn-ea"/>
              <a:ea typeface="+mn-ea"/>
            </a:endParaRPr>
          </a:p>
          <a:p>
            <a:pPr algn="l" eaLnBrk="1" hangingPunct="1">
              <a:lnSpc>
                <a:spcPct val="120000"/>
              </a:lnSpc>
              <a:spcBef>
                <a:spcPct val="20000"/>
              </a:spcBef>
            </a:pPr>
            <a:r>
              <a:rPr kumimoji="1" lang="zh-CN" altLang="en-US" sz="2600" dirty="0">
                <a:latin typeface="+mn-ea"/>
                <a:ea typeface="+mn-ea"/>
              </a:rPr>
              <a:t>函数库一般分为</a:t>
            </a:r>
            <a:r>
              <a:rPr kumimoji="1" lang="zh-CN" altLang="en-US" sz="2600" dirty="0">
                <a:solidFill>
                  <a:srgbClr val="CC0099"/>
                </a:solidFill>
                <a:latin typeface="+mn-ea"/>
                <a:ea typeface="+mn-ea"/>
              </a:rPr>
              <a:t>静态库</a:t>
            </a:r>
            <a:r>
              <a:rPr kumimoji="1" lang="zh-CN" altLang="en-US" sz="2600" dirty="0">
                <a:latin typeface="+mn-ea"/>
                <a:ea typeface="+mn-ea"/>
              </a:rPr>
              <a:t>和</a:t>
            </a:r>
            <a:r>
              <a:rPr kumimoji="1" lang="zh-CN" altLang="en-US" sz="2600" dirty="0">
                <a:solidFill>
                  <a:srgbClr val="CC0099"/>
                </a:solidFill>
                <a:latin typeface="+mn-ea"/>
                <a:ea typeface="+mn-ea"/>
              </a:rPr>
              <a:t>动态库</a:t>
            </a:r>
            <a:r>
              <a:rPr kumimoji="1" lang="zh-CN" altLang="en-US" sz="2600" dirty="0">
                <a:latin typeface="+mn-ea"/>
                <a:ea typeface="+mn-ea"/>
              </a:rPr>
              <a:t>两种。</a:t>
            </a:r>
          </a:p>
          <a:p>
            <a:pPr marL="342900" indent="-342900" algn="l" eaLnBrk="1" hangingPunct="1">
              <a:lnSpc>
                <a:spcPct val="120000"/>
              </a:lnSpc>
              <a:spcBef>
                <a:spcPct val="20000"/>
              </a:spcBef>
              <a:buSzPct val="80000"/>
              <a:buFont typeface="Wingdings" panose="05000000000000000000" pitchFamily="2" charset="2"/>
              <a:buChar char="l"/>
            </a:pPr>
            <a:r>
              <a:rPr kumimoji="1" lang="zh-CN" altLang="en-US" sz="2600" dirty="0">
                <a:latin typeface="+mn-ea"/>
                <a:ea typeface="+mn-ea"/>
              </a:rPr>
              <a:t> </a:t>
            </a:r>
            <a:r>
              <a:rPr kumimoji="1" lang="zh-CN" altLang="en-US" sz="2600" dirty="0">
                <a:solidFill>
                  <a:srgbClr val="CC0099"/>
                </a:solidFill>
                <a:latin typeface="+mn-ea"/>
                <a:ea typeface="+mn-ea"/>
              </a:rPr>
              <a:t>静态库</a:t>
            </a:r>
            <a:r>
              <a:rPr kumimoji="1" lang="zh-CN" altLang="en-US" sz="2600" dirty="0">
                <a:latin typeface="+mn-ea"/>
                <a:ea typeface="+mn-ea"/>
              </a:rPr>
              <a:t>是指编译链接时，把库文件的代码全部加入到可执行文件中，因此生成的文件比较大，但在运行时也就不再需要库文件了，其后缀名一般为“</a:t>
            </a:r>
            <a:r>
              <a:rPr kumimoji="1" lang="en-US" altLang="zh-CN" sz="2600" dirty="0">
                <a:latin typeface="+mn-ea"/>
                <a:ea typeface="+mn-ea"/>
              </a:rPr>
              <a:t>.a”</a:t>
            </a:r>
            <a:r>
              <a:rPr kumimoji="1" lang="zh-CN" altLang="en-US" sz="2600" dirty="0">
                <a:latin typeface="+mn-ea"/>
                <a:ea typeface="+mn-ea"/>
              </a:rPr>
              <a:t>。</a:t>
            </a:r>
          </a:p>
          <a:p>
            <a:pPr marL="342900" indent="-342900" algn="l" eaLnBrk="1" hangingPunct="1">
              <a:lnSpc>
                <a:spcPct val="120000"/>
              </a:lnSpc>
              <a:spcBef>
                <a:spcPct val="20000"/>
              </a:spcBef>
              <a:buSzPct val="80000"/>
              <a:buFont typeface="Wingdings" panose="05000000000000000000" pitchFamily="2" charset="2"/>
              <a:buChar char="l"/>
            </a:pPr>
            <a:r>
              <a:rPr kumimoji="1" lang="zh-CN" altLang="en-US" sz="2600" dirty="0">
                <a:latin typeface="+mn-ea"/>
                <a:ea typeface="+mn-ea"/>
              </a:rPr>
              <a:t> </a:t>
            </a:r>
            <a:r>
              <a:rPr kumimoji="1" lang="zh-CN" altLang="en-US" sz="2600" dirty="0">
                <a:solidFill>
                  <a:srgbClr val="CC0099"/>
                </a:solidFill>
                <a:latin typeface="+mn-ea"/>
                <a:ea typeface="+mn-ea"/>
              </a:rPr>
              <a:t>动态库</a:t>
            </a:r>
            <a:r>
              <a:rPr kumimoji="1" lang="zh-CN" altLang="en-US" sz="2600" dirty="0">
                <a:latin typeface="+mn-ea"/>
                <a:ea typeface="+mn-ea"/>
              </a:rPr>
              <a:t>与之相反，在编译链接时并没有把库文件的代码加入到可执行文件中，而是在程序执行时运行链接文件加载库，这样可以节省系统的开销。动态库一般后缀名为“</a:t>
            </a:r>
            <a:r>
              <a:rPr kumimoji="1" lang="en-US" altLang="zh-CN" sz="2600" dirty="0">
                <a:latin typeface="+mn-ea"/>
                <a:ea typeface="+mn-ea"/>
              </a:rPr>
              <a:t>.so”</a:t>
            </a:r>
            <a:r>
              <a:rPr kumimoji="1" lang="zh-CN" altLang="en-US" sz="2600" dirty="0">
                <a:latin typeface="+mn-ea"/>
                <a:ea typeface="+mn-ea"/>
              </a:rPr>
              <a:t>，</a:t>
            </a:r>
            <a:r>
              <a:rPr kumimoji="1" lang="en-US" altLang="zh-CN" sz="2600" dirty="0">
                <a:latin typeface="+mn-ea"/>
                <a:ea typeface="+mn-ea"/>
              </a:rPr>
              <a:t>gcc</a:t>
            </a:r>
            <a:r>
              <a:rPr kumimoji="1" lang="zh-CN" altLang="en-US" sz="2600" dirty="0">
                <a:latin typeface="+mn-ea"/>
                <a:ea typeface="+mn-ea"/>
              </a:rPr>
              <a:t>在编译时默认使用动态库。</a:t>
            </a: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700C099A-6552-4724-AD39-B0EE2F003FA2}" type="slidenum">
              <a:rPr lang="en-US" altLang="zh-CN" smtClean="0"/>
              <a:pPr>
                <a:defRPr/>
              </a:pPr>
              <a:t>28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64338394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58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199456" y="1412776"/>
            <a:ext cx="10081120" cy="4464496"/>
          </a:xfrm>
        </p:spPr>
        <p:txBody>
          <a:bodyPr/>
          <a:lstStyle/>
          <a:p>
            <a:pPr marL="0" indent="0">
              <a:lnSpc>
                <a:spcPct val="120000"/>
              </a:lnSpc>
              <a:buNone/>
            </a:pPr>
            <a:r>
              <a:rPr lang="en-US" altLang="zh-CN" sz="2600" dirty="0">
                <a:solidFill>
                  <a:srgbClr val="CC0099"/>
                </a:solidFill>
              </a:rPr>
              <a:t>-static</a:t>
            </a:r>
            <a:r>
              <a:rPr lang="zh-CN" altLang="en-US" sz="2600" dirty="0"/>
              <a:t>：静态链接库文件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zh-CN" altLang="en-US" sz="2600" dirty="0"/>
              <a:t>例如：</a:t>
            </a:r>
            <a:r>
              <a:rPr lang="en-US" altLang="zh-CN" sz="2600" dirty="0"/>
              <a:t>gcc -static Hello.c -o Hello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zh-CN" altLang="en-US" sz="2600" dirty="0"/>
              <a:t>当使用静态库时，链接器找出程序所需的函数，然后将它们拷贝到可执行文件，一旦链接成功，静态程序库也就不再需要了。对动态库而言，就不是这样，动态库会在执行程序内留下一个标记，指明当程序执行时，首先必须载入这个库。动态库节省空间。（可以比较静态链接与动态链接可执行文件的大小）</a:t>
            </a:r>
          </a:p>
          <a:p>
            <a:pPr marL="0" indent="0">
              <a:buNone/>
            </a:pPr>
            <a:endParaRPr lang="en-US" altLang="zh-CN" sz="2600" dirty="0"/>
          </a:p>
          <a:p>
            <a:pPr marL="0" indent="0">
              <a:buNone/>
            </a:pPr>
            <a:endParaRPr lang="zh-CN" altLang="en-US" sz="2600" dirty="0"/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110871B5-850E-4E14-A636-3EC679EBF038}" type="slidenum">
              <a:rPr lang="en-US" altLang="zh-CN" smtClean="0"/>
              <a:pPr>
                <a:defRPr/>
              </a:pPr>
              <a:t>29</a:t>
            </a:fld>
            <a:endParaRPr lang="en-US" altLang="zh-CN"/>
          </a:p>
        </p:txBody>
      </p:sp>
      <p:sp>
        <p:nvSpPr>
          <p:cNvPr id="4" name="Text Box 4"/>
          <p:cNvSpPr txBox="1">
            <a:spLocks noChangeArrowheads="1"/>
          </p:cNvSpPr>
          <p:nvPr/>
        </p:nvSpPr>
        <p:spPr bwMode="auto">
          <a:xfrm>
            <a:off x="2158400" y="664892"/>
            <a:ext cx="8042056" cy="7078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20000"/>
              </a:spcBef>
            </a:pPr>
            <a:r>
              <a:rPr lang="en-US" altLang="zh-CN" sz="4000" dirty="0">
                <a:latin typeface="+mj-lt"/>
                <a:ea typeface="+mj-ea"/>
                <a:cs typeface="+mj-cs"/>
              </a:rPr>
              <a:t>GCC</a:t>
            </a:r>
            <a:r>
              <a:rPr kumimoji="1" lang="zh-CN" altLang="en-US" sz="3600" dirty="0">
                <a:latin typeface="+mn-ea"/>
                <a:ea typeface="+mn-ea"/>
              </a:rPr>
              <a:t>编译选项</a:t>
            </a:r>
          </a:p>
        </p:txBody>
      </p:sp>
    </p:spTree>
    <p:extLst>
      <p:ext uri="{BB962C8B-B14F-4D97-AF65-F5344CB8AC3E}">
        <p14:creationId xmlns:p14="http://schemas.microsoft.com/office/powerpoint/2010/main" val="99160244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Text Box 4"/>
          <p:cNvSpPr txBox="1">
            <a:spLocks noChangeArrowheads="1"/>
          </p:cNvSpPr>
          <p:nvPr/>
        </p:nvSpPr>
        <p:spPr bwMode="auto">
          <a:xfrm>
            <a:off x="1145692" y="1196752"/>
            <a:ext cx="10153128" cy="3746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9pPr>
          </a:lstStyle>
          <a:p>
            <a:pPr algn="l" eaLnBrk="1" hangingPunct="1">
              <a:lnSpc>
                <a:spcPct val="120000"/>
              </a:lnSpc>
              <a:spcBef>
                <a:spcPct val="20000"/>
              </a:spcBef>
            </a:pPr>
            <a:r>
              <a:rPr kumimoji="1" lang="zh-CN" altLang="en-US" sz="2600" dirty="0">
                <a:latin typeface="+mn-ea"/>
                <a:ea typeface="+mn-ea"/>
              </a:rPr>
              <a:t>完成链接之后，</a:t>
            </a:r>
            <a:r>
              <a:rPr kumimoji="1" lang="en-US" altLang="zh-CN" sz="2600" dirty="0">
                <a:latin typeface="+mn-ea"/>
                <a:ea typeface="+mn-ea"/>
              </a:rPr>
              <a:t>gcc</a:t>
            </a:r>
            <a:r>
              <a:rPr kumimoji="1" lang="zh-CN" altLang="en-US" sz="2600" dirty="0">
                <a:latin typeface="+mn-ea"/>
                <a:ea typeface="+mn-ea"/>
              </a:rPr>
              <a:t>就可生成可执行文件，命令如下</a:t>
            </a:r>
            <a:r>
              <a:rPr kumimoji="1" lang="en-US" altLang="zh-CN" sz="2600" dirty="0">
                <a:latin typeface="+mn-ea"/>
                <a:ea typeface="+mn-ea"/>
              </a:rPr>
              <a:t>:</a:t>
            </a:r>
            <a:endParaRPr kumimoji="1" lang="zh-CN" altLang="en-US" sz="2600" dirty="0">
              <a:latin typeface="+mn-ea"/>
              <a:ea typeface="+mn-ea"/>
            </a:endParaRPr>
          </a:p>
          <a:p>
            <a:pPr algn="l" eaLnBrk="1" hangingPunct="1">
              <a:lnSpc>
                <a:spcPct val="120000"/>
              </a:lnSpc>
              <a:spcBef>
                <a:spcPct val="20000"/>
              </a:spcBef>
            </a:pPr>
            <a:r>
              <a:rPr kumimoji="1" lang="zh-CN" altLang="en-US" sz="2400" dirty="0">
                <a:latin typeface="+mn-ea"/>
              </a:rPr>
              <a:t>［</a:t>
            </a:r>
            <a:r>
              <a:rPr kumimoji="1" lang="en-US" altLang="zh-CN" sz="2400" dirty="0">
                <a:latin typeface="+mn-ea"/>
              </a:rPr>
              <a:t>root@localhost </a:t>
            </a:r>
            <a:r>
              <a:rPr lang="en-US" altLang="zh-CN" sz="2400" dirty="0"/>
              <a:t>~</a:t>
            </a:r>
            <a:r>
              <a:rPr kumimoji="1" lang="zh-CN" altLang="en-US" sz="2400" dirty="0">
                <a:latin typeface="+mn-ea"/>
              </a:rPr>
              <a:t>］</a:t>
            </a:r>
            <a:r>
              <a:rPr kumimoji="1" lang="en-US" altLang="zh-CN" sz="2400" dirty="0">
                <a:latin typeface="+mn-ea"/>
              </a:rPr>
              <a:t># </a:t>
            </a:r>
            <a:r>
              <a:rPr kumimoji="1" lang="en-US" altLang="zh-CN" sz="2400" dirty="0">
                <a:solidFill>
                  <a:srgbClr val="0000CC"/>
                </a:solidFill>
                <a:latin typeface="+mn-ea"/>
                <a:ea typeface="+mn-ea"/>
              </a:rPr>
              <a:t>gcc </a:t>
            </a:r>
            <a:r>
              <a:rPr kumimoji="1" lang="en-US" altLang="zh-CN" sz="2400" dirty="0" err="1">
                <a:solidFill>
                  <a:srgbClr val="0000CC"/>
                </a:solidFill>
                <a:latin typeface="+mn-ea"/>
                <a:ea typeface="+mn-ea"/>
              </a:rPr>
              <a:t>Hello.o</a:t>
            </a:r>
            <a:r>
              <a:rPr kumimoji="1" lang="en-US" altLang="zh-CN" sz="2400" dirty="0">
                <a:solidFill>
                  <a:srgbClr val="0000CC"/>
                </a:solidFill>
                <a:latin typeface="+mn-ea"/>
                <a:ea typeface="+mn-ea"/>
              </a:rPr>
              <a:t> -o Hello</a:t>
            </a:r>
          </a:p>
          <a:p>
            <a:pPr algn="l" eaLnBrk="1" hangingPunct="1">
              <a:lnSpc>
                <a:spcPct val="120000"/>
              </a:lnSpc>
              <a:spcBef>
                <a:spcPct val="20000"/>
              </a:spcBef>
            </a:pPr>
            <a:r>
              <a:rPr kumimoji="1" lang="zh-CN" altLang="en-US" sz="2600" dirty="0">
                <a:latin typeface="+mn-ea"/>
                <a:ea typeface="+mn-ea"/>
              </a:rPr>
              <a:t> 该命令</a:t>
            </a:r>
            <a:r>
              <a:rPr kumimoji="1" lang="en-US" altLang="zh-CN" sz="2600" dirty="0">
                <a:latin typeface="+mn-ea"/>
                <a:ea typeface="+mn-ea"/>
              </a:rPr>
              <a:t>gcc</a:t>
            </a:r>
            <a:r>
              <a:rPr kumimoji="1" lang="zh-CN" altLang="en-US" sz="2600" dirty="0">
                <a:latin typeface="+mn-ea"/>
                <a:ea typeface="+mn-ea"/>
              </a:rPr>
              <a:t>之后无选项参数，表示对指定的源文件进行编译，直到输出执行文件，示例中的源文件为</a:t>
            </a:r>
            <a:r>
              <a:rPr kumimoji="1" lang="en-US" altLang="zh-CN" sz="2600" dirty="0" err="1">
                <a:latin typeface="+mn-ea"/>
                <a:ea typeface="+mn-ea"/>
              </a:rPr>
              <a:t>Hello.o</a:t>
            </a:r>
            <a:r>
              <a:rPr kumimoji="1" lang="zh-CN" altLang="en-US" sz="2600" dirty="0">
                <a:latin typeface="+mn-ea"/>
                <a:ea typeface="+mn-ea"/>
              </a:rPr>
              <a:t>，输出的执行文件</a:t>
            </a:r>
            <a:r>
              <a:rPr kumimoji="1" lang="en-US" altLang="zh-CN" sz="2600" dirty="0">
                <a:latin typeface="+mn-ea"/>
                <a:ea typeface="+mn-ea"/>
              </a:rPr>
              <a:t>Hello</a:t>
            </a:r>
            <a:r>
              <a:rPr kumimoji="1" lang="zh-CN" altLang="en-US" sz="2600" dirty="0">
                <a:latin typeface="+mn-ea"/>
                <a:ea typeface="+mn-ea"/>
              </a:rPr>
              <a:t>。</a:t>
            </a:r>
          </a:p>
          <a:p>
            <a:pPr algn="l" eaLnBrk="1" hangingPunct="1">
              <a:lnSpc>
                <a:spcPct val="120000"/>
              </a:lnSpc>
              <a:spcBef>
                <a:spcPct val="20000"/>
              </a:spcBef>
            </a:pPr>
            <a:r>
              <a:rPr kumimoji="1" lang="zh-CN" altLang="en-US" sz="2600" dirty="0">
                <a:latin typeface="+mn-ea"/>
                <a:ea typeface="+mn-ea"/>
              </a:rPr>
              <a:t>运行该可执行文件</a:t>
            </a:r>
            <a:r>
              <a:rPr kumimoji="1" lang="en-US" altLang="zh-CN" sz="2600" dirty="0">
                <a:latin typeface="+mn-ea"/>
                <a:ea typeface="+mn-ea"/>
              </a:rPr>
              <a:t>,</a:t>
            </a:r>
            <a:r>
              <a:rPr kumimoji="1" lang="zh-CN" altLang="en-US" sz="2600" dirty="0">
                <a:latin typeface="+mn-ea"/>
                <a:ea typeface="+mn-ea"/>
              </a:rPr>
              <a:t>出现正确的结果如下。</a:t>
            </a:r>
          </a:p>
          <a:p>
            <a:pPr algn="l" eaLnBrk="1" hangingPunct="1">
              <a:lnSpc>
                <a:spcPct val="120000"/>
              </a:lnSpc>
              <a:spcBef>
                <a:spcPct val="20000"/>
              </a:spcBef>
            </a:pPr>
            <a:r>
              <a:rPr kumimoji="1" lang="zh-CN" altLang="en-US" sz="2600" dirty="0">
                <a:latin typeface="+mn-ea"/>
              </a:rPr>
              <a:t>［</a:t>
            </a:r>
            <a:r>
              <a:rPr kumimoji="1" lang="en-US" altLang="zh-CN" sz="2600" dirty="0">
                <a:latin typeface="+mn-ea"/>
              </a:rPr>
              <a:t>root@localhost</a:t>
            </a:r>
            <a:r>
              <a:rPr lang="en-US" altLang="zh-CN" sz="2400" dirty="0"/>
              <a:t> ~</a:t>
            </a:r>
            <a:r>
              <a:rPr kumimoji="1" lang="zh-CN" altLang="en-US" sz="2600" dirty="0">
                <a:latin typeface="+mn-ea"/>
              </a:rPr>
              <a:t>］</a:t>
            </a:r>
            <a:r>
              <a:rPr kumimoji="1" lang="en-US" altLang="zh-CN" sz="2600" dirty="0">
                <a:latin typeface="+mn-ea"/>
              </a:rPr>
              <a:t># ./</a:t>
            </a:r>
            <a:r>
              <a:rPr kumimoji="1" lang="en-US" altLang="zh-CN" sz="2600" dirty="0">
                <a:solidFill>
                  <a:srgbClr val="0000CC"/>
                </a:solidFill>
                <a:latin typeface="+mn-ea"/>
                <a:ea typeface="+mn-ea"/>
              </a:rPr>
              <a:t>Hello</a:t>
            </a:r>
          </a:p>
          <a:p>
            <a:pPr algn="l" eaLnBrk="1" hangingPunct="1">
              <a:lnSpc>
                <a:spcPct val="120000"/>
              </a:lnSpc>
              <a:spcBef>
                <a:spcPct val="20000"/>
              </a:spcBef>
            </a:pPr>
            <a:r>
              <a:rPr kumimoji="1" lang="en-US" altLang="zh-CN" sz="2600" dirty="0" err="1">
                <a:latin typeface="+mn-ea"/>
                <a:ea typeface="+mn-ea"/>
              </a:rPr>
              <a:t>Hello,my</a:t>
            </a:r>
            <a:r>
              <a:rPr kumimoji="1" lang="en-US" altLang="zh-CN" sz="2600" dirty="0">
                <a:latin typeface="+mn-ea"/>
                <a:ea typeface="+mn-ea"/>
              </a:rPr>
              <a:t> dear friend!</a:t>
            </a: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700C099A-6552-4724-AD39-B0EE2F003FA2}" type="slidenum">
              <a:rPr lang="en-US" altLang="zh-CN" smtClean="0"/>
              <a:pPr>
                <a:defRPr/>
              </a:pPr>
              <a:t>30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857526219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Text Box 4"/>
          <p:cNvSpPr txBox="1">
            <a:spLocks noChangeArrowheads="1"/>
          </p:cNvSpPr>
          <p:nvPr/>
        </p:nvSpPr>
        <p:spPr bwMode="auto">
          <a:xfrm>
            <a:off x="1091444" y="1262253"/>
            <a:ext cx="10117124" cy="433349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9pPr>
          </a:lstStyle>
          <a:p>
            <a:pPr algn="l" eaLnBrk="1" hangingPunct="1">
              <a:spcBef>
                <a:spcPct val="30000"/>
              </a:spcBef>
            </a:pPr>
            <a:r>
              <a:rPr kumimoji="1" lang="zh-CN" altLang="en-US" sz="2600" dirty="0">
                <a:solidFill>
                  <a:srgbClr val="CC0099"/>
                </a:solidFill>
                <a:latin typeface="+mn-ea"/>
                <a:ea typeface="+mn-ea"/>
              </a:rPr>
              <a:t>代码优化选项</a:t>
            </a:r>
          </a:p>
          <a:p>
            <a:pPr marL="342900" indent="-342900" algn="l" eaLnBrk="1" hangingPunct="1">
              <a:spcBef>
                <a:spcPct val="30000"/>
              </a:spcBef>
              <a:buSzPct val="80000"/>
              <a:buFont typeface="Wingdings" panose="05000000000000000000" pitchFamily="2" charset="2"/>
              <a:buChar char="l"/>
            </a:pPr>
            <a:r>
              <a:rPr kumimoji="1" lang="en-US" altLang="zh-CN" sz="2600" dirty="0">
                <a:latin typeface="+mn-ea"/>
                <a:ea typeface="+mn-ea"/>
              </a:rPr>
              <a:t>gcc</a:t>
            </a:r>
            <a:r>
              <a:rPr kumimoji="1" lang="zh-CN" altLang="en-US" sz="2600" dirty="0">
                <a:latin typeface="+mn-ea"/>
                <a:ea typeface="+mn-ea"/>
              </a:rPr>
              <a:t>可以对代码进行优化，它通过编译选项“</a:t>
            </a:r>
            <a:r>
              <a:rPr kumimoji="1" lang="en-US" altLang="zh-CN" sz="2600" dirty="0">
                <a:latin typeface="+mn-ea"/>
                <a:ea typeface="+mn-ea"/>
              </a:rPr>
              <a:t>-</a:t>
            </a:r>
            <a:r>
              <a:rPr kumimoji="1" lang="en-US" altLang="zh-CN" sz="2600" dirty="0">
                <a:latin typeface="Arial Narrow" panose="020B0606020202030204" pitchFamily="34" charset="0"/>
                <a:ea typeface="+mn-ea"/>
              </a:rPr>
              <a:t>O</a:t>
            </a:r>
            <a:r>
              <a:rPr kumimoji="1" lang="en-US" altLang="zh-CN" sz="2600" dirty="0">
                <a:latin typeface="+mn-ea"/>
                <a:ea typeface="+mn-ea"/>
              </a:rPr>
              <a:t>n”</a:t>
            </a:r>
            <a:r>
              <a:rPr kumimoji="1" lang="zh-CN" altLang="en-US" sz="2600" dirty="0">
                <a:latin typeface="+mn-ea"/>
                <a:ea typeface="+mn-ea"/>
              </a:rPr>
              <a:t>来控制优化代码的生成，其中</a:t>
            </a:r>
            <a:r>
              <a:rPr kumimoji="1" lang="en-US" altLang="zh-CN" sz="2600" dirty="0">
                <a:solidFill>
                  <a:srgbClr val="CC0099"/>
                </a:solidFill>
                <a:latin typeface="+mn-ea"/>
                <a:ea typeface="+mn-ea"/>
              </a:rPr>
              <a:t>n</a:t>
            </a:r>
            <a:r>
              <a:rPr kumimoji="1" lang="zh-CN" altLang="en-US" sz="2600" dirty="0">
                <a:solidFill>
                  <a:srgbClr val="CC0099"/>
                </a:solidFill>
                <a:latin typeface="+mn-ea"/>
                <a:ea typeface="+mn-ea"/>
              </a:rPr>
              <a:t>是一个代表优化级别的整数</a:t>
            </a:r>
            <a:r>
              <a:rPr kumimoji="1" lang="zh-CN" altLang="en-US" sz="2600" dirty="0">
                <a:latin typeface="+mn-ea"/>
                <a:ea typeface="+mn-ea"/>
              </a:rPr>
              <a:t>。对于不同版本的</a:t>
            </a:r>
            <a:r>
              <a:rPr kumimoji="1" lang="en-US" altLang="zh-CN" sz="2600" dirty="0">
                <a:latin typeface="+mn-ea"/>
                <a:ea typeface="+mn-ea"/>
              </a:rPr>
              <a:t>gcc</a:t>
            </a:r>
            <a:r>
              <a:rPr kumimoji="1" lang="zh-CN" altLang="en-US" sz="2600" dirty="0">
                <a:latin typeface="+mn-ea"/>
                <a:ea typeface="+mn-ea"/>
              </a:rPr>
              <a:t>来讲，</a:t>
            </a:r>
            <a:r>
              <a:rPr kumimoji="1" lang="en-US" altLang="zh-CN" sz="2600" dirty="0">
                <a:latin typeface="+mn-ea"/>
                <a:ea typeface="+mn-ea"/>
              </a:rPr>
              <a:t>n</a:t>
            </a:r>
            <a:r>
              <a:rPr kumimoji="1" lang="zh-CN" altLang="en-US" sz="2600" dirty="0">
                <a:latin typeface="+mn-ea"/>
                <a:ea typeface="+mn-ea"/>
              </a:rPr>
              <a:t>的取值范围及其对应的优化效果可能并不完全相同，通常的范围是从</a:t>
            </a:r>
            <a:r>
              <a:rPr kumimoji="1" lang="en-US" altLang="zh-CN" sz="2600" dirty="0">
                <a:latin typeface="+mn-ea"/>
                <a:ea typeface="+mn-ea"/>
              </a:rPr>
              <a:t>0</a:t>
            </a:r>
            <a:r>
              <a:rPr kumimoji="1" lang="zh-CN" altLang="en-US" sz="2600" dirty="0">
                <a:latin typeface="+mn-ea"/>
                <a:ea typeface="+mn-ea"/>
              </a:rPr>
              <a:t>变化到</a:t>
            </a:r>
            <a:r>
              <a:rPr kumimoji="1" lang="en-US" altLang="zh-CN" sz="2600" dirty="0">
                <a:latin typeface="+mn-ea"/>
                <a:ea typeface="+mn-ea"/>
              </a:rPr>
              <a:t>3</a:t>
            </a:r>
            <a:r>
              <a:rPr kumimoji="1" lang="zh-CN" altLang="en-US" sz="2600" dirty="0">
                <a:latin typeface="+mn-ea"/>
                <a:ea typeface="+mn-ea"/>
              </a:rPr>
              <a:t>。</a:t>
            </a:r>
          </a:p>
          <a:p>
            <a:pPr marL="342900" indent="-342900" algn="l" eaLnBrk="1" hangingPunct="1">
              <a:spcBef>
                <a:spcPct val="30000"/>
              </a:spcBef>
              <a:buSzPct val="80000"/>
              <a:buFont typeface="Wingdings" panose="05000000000000000000" pitchFamily="2" charset="2"/>
              <a:buChar char="l"/>
            </a:pPr>
            <a:r>
              <a:rPr kumimoji="1" lang="zh-CN" altLang="en-US" sz="2600" dirty="0">
                <a:latin typeface="+mn-ea"/>
                <a:ea typeface="+mn-ea"/>
              </a:rPr>
              <a:t>不同的优化级别对应不同的优化处理工作。如使用优化选项“</a:t>
            </a:r>
            <a:r>
              <a:rPr kumimoji="1" lang="en-US" altLang="zh-CN" sz="2600" dirty="0">
                <a:latin typeface="+mn-ea"/>
                <a:ea typeface="+mn-ea"/>
              </a:rPr>
              <a:t>-</a:t>
            </a:r>
            <a:r>
              <a:rPr kumimoji="1" lang="en-US" altLang="zh-CN" sz="2600" dirty="0">
                <a:latin typeface="Arial Narrow" panose="020B0606020202030204" pitchFamily="34" charset="0"/>
                <a:ea typeface="+mn-ea"/>
              </a:rPr>
              <a:t>O0</a:t>
            </a:r>
            <a:r>
              <a:rPr kumimoji="1" lang="en-US" altLang="zh-CN" sz="2600" dirty="0">
                <a:latin typeface="+mn-ea"/>
                <a:ea typeface="+mn-ea"/>
              </a:rPr>
              <a:t>”</a:t>
            </a:r>
            <a:r>
              <a:rPr kumimoji="1" lang="zh-CN" altLang="en-US" sz="2600" dirty="0">
                <a:latin typeface="+mn-ea"/>
                <a:ea typeface="+mn-ea"/>
              </a:rPr>
              <a:t>主要表示没有优化。“</a:t>
            </a:r>
            <a:r>
              <a:rPr kumimoji="1" lang="en-US" altLang="zh-CN" sz="2600" dirty="0">
                <a:latin typeface="+mn-ea"/>
                <a:ea typeface="+mn-ea"/>
              </a:rPr>
              <a:t>-</a:t>
            </a:r>
            <a:r>
              <a:rPr kumimoji="1" lang="en-US" altLang="zh-CN" sz="2600" dirty="0">
                <a:latin typeface="Arial Narrow" panose="020B0606020202030204" pitchFamily="34" charset="0"/>
                <a:ea typeface="+mn-ea"/>
              </a:rPr>
              <a:t>O</a:t>
            </a:r>
            <a:r>
              <a:rPr kumimoji="1" lang="en-US" altLang="zh-CN" sz="2600" dirty="0">
                <a:latin typeface="+mn-ea"/>
                <a:ea typeface="+mn-ea"/>
              </a:rPr>
              <a:t>1”</a:t>
            </a:r>
            <a:r>
              <a:rPr kumimoji="1" lang="zh-CN" altLang="en-US" sz="2600" dirty="0">
                <a:latin typeface="+mn-ea"/>
                <a:ea typeface="+mn-ea"/>
              </a:rPr>
              <a:t>为默认级别的优化。使用优化选项“</a:t>
            </a:r>
            <a:r>
              <a:rPr kumimoji="1" lang="en-US" altLang="zh-CN" sz="2600" dirty="0">
                <a:latin typeface="+mn-ea"/>
                <a:ea typeface="+mn-ea"/>
              </a:rPr>
              <a:t>-</a:t>
            </a:r>
            <a:r>
              <a:rPr kumimoji="1" lang="en-US" altLang="zh-CN" sz="2600" dirty="0">
                <a:latin typeface="Arial Narrow" panose="020B0606020202030204" pitchFamily="34" charset="0"/>
                <a:ea typeface="+mn-ea"/>
              </a:rPr>
              <a:t>O</a:t>
            </a:r>
            <a:r>
              <a:rPr kumimoji="1" lang="en-US" altLang="zh-CN" sz="2600" dirty="0">
                <a:latin typeface="+mn-ea"/>
                <a:ea typeface="+mn-ea"/>
              </a:rPr>
              <a:t>2”</a:t>
            </a:r>
            <a:r>
              <a:rPr kumimoji="1" lang="zh-CN" altLang="en-US" sz="2600" dirty="0">
                <a:latin typeface="+mn-ea"/>
                <a:ea typeface="+mn-ea"/>
              </a:rPr>
              <a:t>对代码进行深度优化，产生尽可能小和快的代码。选项“</a:t>
            </a:r>
            <a:r>
              <a:rPr kumimoji="1" lang="en-US" altLang="zh-CN" sz="2600" dirty="0">
                <a:latin typeface="+mn-ea"/>
                <a:ea typeface="+mn-ea"/>
              </a:rPr>
              <a:t>-</a:t>
            </a:r>
            <a:r>
              <a:rPr kumimoji="1" lang="en-US" altLang="zh-CN" sz="2600" dirty="0">
                <a:latin typeface="Arial Narrow" panose="020B0606020202030204" pitchFamily="34" charset="0"/>
                <a:ea typeface="+mn-ea"/>
              </a:rPr>
              <a:t>O</a:t>
            </a:r>
            <a:r>
              <a:rPr kumimoji="1" lang="en-US" altLang="zh-CN" sz="2600" dirty="0">
                <a:latin typeface="+mn-ea"/>
                <a:ea typeface="+mn-ea"/>
              </a:rPr>
              <a:t>3”</a:t>
            </a:r>
            <a:r>
              <a:rPr kumimoji="1" lang="zh-CN" altLang="en-US" sz="2600" dirty="0">
                <a:latin typeface="+mn-ea"/>
                <a:ea typeface="+mn-ea"/>
              </a:rPr>
              <a:t>则还包括循环展开和其他一些与处理器特性相关的优化工作。</a:t>
            </a: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700C099A-6552-4724-AD39-B0EE2F003FA2}" type="slidenum">
              <a:rPr lang="en-US" altLang="zh-CN" smtClean="0"/>
              <a:pPr>
                <a:defRPr/>
              </a:pPr>
              <a:t>31</a:t>
            </a:fld>
            <a:endParaRPr lang="en-US" altLang="zh-CN"/>
          </a:p>
        </p:txBody>
      </p:sp>
      <p:sp>
        <p:nvSpPr>
          <p:cNvPr id="4" name="Text Box 4"/>
          <p:cNvSpPr txBox="1">
            <a:spLocks noChangeArrowheads="1"/>
          </p:cNvSpPr>
          <p:nvPr/>
        </p:nvSpPr>
        <p:spPr bwMode="auto">
          <a:xfrm>
            <a:off x="1703512" y="567904"/>
            <a:ext cx="8042056" cy="7078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20000"/>
              </a:spcBef>
            </a:pPr>
            <a:r>
              <a:rPr lang="en-US" altLang="zh-CN" sz="4000" dirty="0">
                <a:latin typeface="+mj-lt"/>
                <a:ea typeface="+mj-ea"/>
                <a:cs typeface="+mj-cs"/>
              </a:rPr>
              <a:t>GCC</a:t>
            </a:r>
            <a:r>
              <a:rPr kumimoji="1" lang="zh-CN" altLang="en-US" sz="3600" dirty="0">
                <a:latin typeface="+mn-ea"/>
                <a:ea typeface="+mn-ea"/>
              </a:rPr>
              <a:t>编译选项</a:t>
            </a:r>
          </a:p>
        </p:txBody>
      </p:sp>
    </p:spTree>
    <p:extLst>
      <p:ext uri="{BB962C8B-B14F-4D97-AF65-F5344CB8AC3E}">
        <p14:creationId xmlns:p14="http://schemas.microsoft.com/office/powerpoint/2010/main" val="1143214727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Text Box 4"/>
          <p:cNvSpPr txBox="1">
            <a:spLocks noChangeArrowheads="1"/>
          </p:cNvSpPr>
          <p:nvPr/>
        </p:nvSpPr>
        <p:spPr bwMode="auto">
          <a:xfrm>
            <a:off x="1343472" y="620688"/>
            <a:ext cx="9361040" cy="566924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9pPr>
          </a:lstStyle>
          <a:p>
            <a:pPr algn="l" eaLnBrk="1" hangingPunct="1">
              <a:lnSpc>
                <a:spcPct val="110000"/>
              </a:lnSpc>
              <a:spcBef>
                <a:spcPct val="20000"/>
              </a:spcBef>
            </a:pPr>
            <a:r>
              <a:rPr kumimoji="1" lang="zh-CN" altLang="en-US" sz="2400" dirty="0">
                <a:latin typeface="楷体_GB2312" pitchFamily="49" charset="-122"/>
                <a:ea typeface="楷体_GB2312" pitchFamily="49" charset="-122"/>
              </a:rPr>
              <a:t> </a:t>
            </a:r>
            <a:r>
              <a:rPr kumimoji="1" lang="zh-CN" altLang="en-US" sz="2400" dirty="0">
                <a:latin typeface="+mn-ea"/>
                <a:ea typeface="+mn-ea"/>
              </a:rPr>
              <a:t>例如：源程序文件名为</a:t>
            </a:r>
            <a:r>
              <a:rPr kumimoji="1" lang="en-US" altLang="zh-CN" sz="2400" dirty="0" err="1">
                <a:latin typeface="+mn-ea"/>
                <a:ea typeface="+mn-ea"/>
              </a:rPr>
              <a:t>optimize.c</a:t>
            </a:r>
            <a:r>
              <a:rPr kumimoji="1" lang="zh-CN" altLang="en-US" sz="2400" dirty="0">
                <a:latin typeface="+mn-ea"/>
                <a:ea typeface="+mn-ea"/>
              </a:rPr>
              <a:t>，程序代码如清单</a:t>
            </a:r>
            <a:r>
              <a:rPr kumimoji="1" lang="en-US" altLang="zh-CN" sz="2400" dirty="0">
                <a:latin typeface="+mn-ea"/>
                <a:ea typeface="+mn-ea"/>
              </a:rPr>
              <a:t>5:</a:t>
            </a:r>
            <a:endParaRPr kumimoji="1" lang="zh-CN" altLang="en-US" sz="2400" dirty="0">
              <a:latin typeface="+mn-ea"/>
              <a:ea typeface="+mn-ea"/>
            </a:endParaRPr>
          </a:p>
          <a:p>
            <a:pPr algn="l" eaLnBrk="1" hangingPunct="1"/>
            <a:r>
              <a:rPr kumimoji="1" lang="en-US" altLang="zh-CN" sz="2400" dirty="0">
                <a:latin typeface="+mn-ea"/>
                <a:ea typeface="+mn-ea"/>
              </a:rPr>
              <a:t>#include &lt;</a:t>
            </a:r>
            <a:r>
              <a:rPr kumimoji="1" lang="en-US" altLang="zh-CN" sz="2400" dirty="0" err="1">
                <a:latin typeface="+mn-ea"/>
                <a:ea typeface="+mn-ea"/>
              </a:rPr>
              <a:t>stdio.h</a:t>
            </a:r>
            <a:r>
              <a:rPr kumimoji="1" lang="en-US" altLang="zh-CN" sz="2400" dirty="0">
                <a:latin typeface="+mn-ea"/>
                <a:ea typeface="+mn-ea"/>
              </a:rPr>
              <a:t>&gt;</a:t>
            </a:r>
          </a:p>
          <a:p>
            <a:pPr algn="l" eaLnBrk="1" hangingPunct="1"/>
            <a:r>
              <a:rPr kumimoji="1" lang="en-US" altLang="zh-CN" sz="2400" dirty="0" err="1">
                <a:latin typeface="+mn-ea"/>
                <a:ea typeface="+mn-ea"/>
              </a:rPr>
              <a:t>int</a:t>
            </a:r>
            <a:r>
              <a:rPr kumimoji="1" lang="en-US" altLang="zh-CN" sz="2400" dirty="0">
                <a:latin typeface="+mn-ea"/>
                <a:ea typeface="+mn-ea"/>
              </a:rPr>
              <a:t> main(void)</a:t>
            </a:r>
          </a:p>
          <a:p>
            <a:pPr algn="l" eaLnBrk="1" hangingPunct="1"/>
            <a:r>
              <a:rPr kumimoji="1" lang="en-US" altLang="zh-CN" sz="2400" dirty="0">
                <a:latin typeface="+mn-ea"/>
                <a:ea typeface="+mn-ea"/>
              </a:rPr>
              <a:t>{</a:t>
            </a:r>
          </a:p>
          <a:p>
            <a:pPr algn="l" eaLnBrk="1" hangingPunct="1"/>
            <a:r>
              <a:rPr kumimoji="1" lang="en-US" altLang="zh-CN" sz="2400" dirty="0">
                <a:latin typeface="+mn-ea"/>
                <a:ea typeface="+mn-ea"/>
              </a:rPr>
              <a:t>   double c;</a:t>
            </a:r>
          </a:p>
          <a:p>
            <a:pPr algn="l" eaLnBrk="1" hangingPunct="1"/>
            <a:r>
              <a:rPr kumimoji="1" lang="en-US" altLang="zh-CN" sz="2400" dirty="0">
                <a:latin typeface="+mn-ea"/>
                <a:ea typeface="+mn-ea"/>
              </a:rPr>
              <a:t>   double result;</a:t>
            </a:r>
          </a:p>
          <a:p>
            <a:pPr algn="l" eaLnBrk="1" hangingPunct="1"/>
            <a:r>
              <a:rPr kumimoji="1" lang="en-US" altLang="zh-CN" sz="2400" dirty="0">
                <a:latin typeface="+mn-ea"/>
                <a:ea typeface="+mn-ea"/>
              </a:rPr>
              <a:t>   double temp;</a:t>
            </a:r>
          </a:p>
          <a:p>
            <a:pPr algn="l" eaLnBrk="1" hangingPunct="1"/>
            <a:r>
              <a:rPr kumimoji="1" lang="en-US" altLang="zh-CN" sz="2400" dirty="0">
                <a:latin typeface="+mn-ea"/>
                <a:ea typeface="+mn-ea"/>
              </a:rPr>
              <a:t>   for(c=</a:t>
            </a:r>
            <a:r>
              <a:rPr kumimoji="1" lang="en-US" altLang="zh-CN" sz="2400" dirty="0" err="1">
                <a:latin typeface="+mn-ea"/>
                <a:ea typeface="+mn-ea"/>
              </a:rPr>
              <a:t>0;c</a:t>
            </a:r>
            <a:r>
              <a:rPr kumimoji="1" lang="en-US" altLang="zh-CN" sz="2400" dirty="0">
                <a:latin typeface="+mn-ea"/>
                <a:ea typeface="+mn-ea"/>
              </a:rPr>
              <a:t>&lt;2000.0*2000.0*2000.0/</a:t>
            </a:r>
            <a:r>
              <a:rPr kumimoji="1" lang="en-US" altLang="zh-CN" sz="2400" dirty="0" err="1">
                <a:latin typeface="+mn-ea"/>
                <a:ea typeface="+mn-ea"/>
              </a:rPr>
              <a:t>20.0+2020;c</a:t>
            </a:r>
            <a:r>
              <a:rPr kumimoji="1" lang="en-US" altLang="zh-CN" sz="2400" dirty="0">
                <a:latin typeface="+mn-ea"/>
                <a:ea typeface="+mn-ea"/>
              </a:rPr>
              <a:t>+=(5-1)/4)</a:t>
            </a:r>
          </a:p>
          <a:p>
            <a:pPr algn="l" eaLnBrk="1" hangingPunct="1"/>
            <a:r>
              <a:rPr kumimoji="1" lang="en-US" altLang="zh-CN" sz="2400" dirty="0">
                <a:latin typeface="+mn-ea"/>
                <a:ea typeface="+mn-ea"/>
              </a:rPr>
              <a:t>   {</a:t>
            </a:r>
          </a:p>
          <a:p>
            <a:pPr algn="l" eaLnBrk="1" hangingPunct="1"/>
            <a:r>
              <a:rPr kumimoji="1" lang="en-US" altLang="zh-CN" sz="2400" dirty="0">
                <a:latin typeface="+mn-ea"/>
                <a:ea typeface="+mn-ea"/>
              </a:rPr>
              <a:t>      temp = c/1979;</a:t>
            </a:r>
          </a:p>
          <a:p>
            <a:pPr algn="l" eaLnBrk="1" hangingPunct="1"/>
            <a:r>
              <a:rPr kumimoji="1" lang="en-US" altLang="zh-CN" sz="2400" dirty="0">
                <a:latin typeface="+mn-ea"/>
                <a:ea typeface="+mn-ea"/>
              </a:rPr>
              <a:t>      result = c;</a:t>
            </a:r>
          </a:p>
          <a:p>
            <a:pPr algn="l" eaLnBrk="1" hangingPunct="1"/>
            <a:r>
              <a:rPr kumimoji="1" lang="en-US" altLang="zh-CN" sz="2400" dirty="0">
                <a:latin typeface="+mn-ea"/>
                <a:ea typeface="+mn-ea"/>
              </a:rPr>
              <a:t>   }</a:t>
            </a:r>
          </a:p>
          <a:p>
            <a:pPr algn="l" eaLnBrk="1" hangingPunct="1"/>
            <a:r>
              <a:rPr kumimoji="1" lang="en-US" altLang="zh-CN" sz="2400" dirty="0">
                <a:latin typeface="+mn-ea"/>
                <a:ea typeface="+mn-ea"/>
              </a:rPr>
              <a:t>   printf("Result is %lf\n", result);</a:t>
            </a:r>
          </a:p>
          <a:p>
            <a:pPr algn="l" eaLnBrk="1" hangingPunct="1"/>
            <a:r>
              <a:rPr kumimoji="1" lang="en-US" altLang="zh-CN" sz="2400" dirty="0">
                <a:latin typeface="+mn-ea"/>
                <a:ea typeface="+mn-ea"/>
              </a:rPr>
              <a:t>   return(0);</a:t>
            </a:r>
          </a:p>
          <a:p>
            <a:pPr algn="l" eaLnBrk="1" hangingPunct="1"/>
            <a:r>
              <a:rPr kumimoji="1" lang="en-US" altLang="zh-CN" sz="2400" dirty="0">
                <a:latin typeface="+mn-ea"/>
                <a:ea typeface="+mn-ea"/>
              </a:rPr>
              <a:t>}</a:t>
            </a:r>
            <a:endParaRPr kumimoji="1" lang="zh-CN" altLang="en-US" sz="2400" dirty="0">
              <a:latin typeface="+mn-ea"/>
              <a:ea typeface="+mn-ea"/>
            </a:endParaRP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700C099A-6552-4724-AD39-B0EE2F003FA2}" type="slidenum">
              <a:rPr lang="en-US" altLang="zh-CN" smtClean="0"/>
              <a:pPr>
                <a:defRPr/>
              </a:pPr>
              <a:t>32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97868770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4"/>
          <p:cNvSpPr txBox="1">
            <a:spLocks noChangeArrowheads="1"/>
          </p:cNvSpPr>
          <p:nvPr/>
        </p:nvSpPr>
        <p:spPr bwMode="auto">
          <a:xfrm>
            <a:off x="839417" y="637699"/>
            <a:ext cx="10369152" cy="127913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9pPr>
          </a:lstStyle>
          <a:p>
            <a:pPr algn="l" eaLnBrk="1" hangingPunct="1">
              <a:lnSpc>
                <a:spcPct val="115000"/>
              </a:lnSpc>
              <a:spcBef>
                <a:spcPct val="25000"/>
              </a:spcBef>
            </a:pPr>
            <a:r>
              <a:rPr kumimoji="1" lang="zh-CN" altLang="en-US" sz="2400" dirty="0">
                <a:latin typeface="楷体_GB2312" pitchFamily="49" charset="-122"/>
                <a:ea typeface="楷体_GB2312" pitchFamily="49" charset="-122"/>
              </a:rPr>
              <a:t> </a:t>
            </a:r>
            <a:r>
              <a:rPr kumimoji="1" lang="zh-CN" altLang="en-US" sz="2300" dirty="0">
                <a:latin typeface="+mn-ea"/>
                <a:ea typeface="+mn-ea"/>
              </a:rPr>
              <a:t>首先不加任何优化选项进行编译，并借助</a:t>
            </a:r>
            <a:r>
              <a:rPr kumimoji="1" lang="en-US" altLang="zh-CN" sz="2300" dirty="0">
                <a:latin typeface="+mn-ea"/>
                <a:ea typeface="+mn-ea"/>
              </a:rPr>
              <a:t>Linux</a:t>
            </a:r>
            <a:r>
              <a:rPr kumimoji="1" lang="zh-CN" altLang="en-US" sz="2300" dirty="0">
                <a:latin typeface="+mn-ea"/>
                <a:ea typeface="+mn-ea"/>
              </a:rPr>
              <a:t>提供的</a:t>
            </a:r>
            <a:r>
              <a:rPr kumimoji="1" lang="en-US" altLang="zh-CN" sz="2300" dirty="0">
                <a:solidFill>
                  <a:srgbClr val="0000CC"/>
                </a:solidFill>
                <a:latin typeface="+mn-ea"/>
                <a:ea typeface="+mn-ea"/>
              </a:rPr>
              <a:t>time</a:t>
            </a:r>
            <a:r>
              <a:rPr kumimoji="1" lang="zh-CN" altLang="en-US" sz="2300" dirty="0">
                <a:solidFill>
                  <a:srgbClr val="0000CC"/>
                </a:solidFill>
                <a:latin typeface="+mn-ea"/>
                <a:ea typeface="+mn-ea"/>
              </a:rPr>
              <a:t>命令统计出该程序在运行时所需要的时间</a:t>
            </a:r>
            <a:r>
              <a:rPr kumimoji="1" lang="zh-CN" altLang="en-US" sz="2300" dirty="0">
                <a:latin typeface="+mn-ea"/>
                <a:ea typeface="+mn-ea"/>
              </a:rPr>
              <a:t>。然后使用优化选项来对代码进行优化处理，再次测试一下运行时间，两次运行的时间对比情况如图所示。</a:t>
            </a:r>
          </a:p>
        </p:txBody>
      </p:sp>
      <p:sp>
        <p:nvSpPr>
          <p:cNvPr id="6" name="灯片编号占位符 1">
            <a:extLst>
              <a:ext uri="{FF2B5EF4-FFF2-40B4-BE49-F238E27FC236}">
                <a16:creationId xmlns:a16="http://schemas.microsoft.com/office/drawing/2014/main" id="{571ED082-5281-4DFA-8E9F-4C076BB59E45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5053013" y="6240463"/>
            <a:ext cx="2133600" cy="457200"/>
          </a:xfrm>
        </p:spPr>
        <p:txBody>
          <a:bodyPr/>
          <a:lstStyle/>
          <a:p>
            <a:pPr>
              <a:defRPr/>
            </a:pPr>
            <a:fld id="{700C099A-6552-4724-AD39-B0EE2F003FA2}" type="slidenum">
              <a:rPr lang="en-US" altLang="zh-CN" smtClean="0"/>
              <a:pPr>
                <a:defRPr/>
              </a:pPr>
              <a:t>33</a:t>
            </a:fld>
            <a:endParaRPr lang="en-US" altLang="zh-CN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5800A671-10E6-59A4-2C51-CF7A4C9522E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75520" y="2132856"/>
            <a:ext cx="8640960" cy="41764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5651157"/>
      </p:ext>
    </p:extLst>
  </p:cSld>
  <p:clrMapOvr>
    <a:masterClrMapping/>
  </p:clrMapOvr>
  <p:transition spd="slow"/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Text Box 4"/>
          <p:cNvSpPr txBox="1">
            <a:spLocks noChangeArrowheads="1"/>
          </p:cNvSpPr>
          <p:nvPr/>
        </p:nvSpPr>
        <p:spPr bwMode="auto">
          <a:xfrm>
            <a:off x="911424" y="542637"/>
            <a:ext cx="10225136" cy="95186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9pPr>
          </a:lstStyle>
          <a:p>
            <a:pPr algn="l" eaLnBrk="1" hangingPunct="1">
              <a:lnSpc>
                <a:spcPct val="120000"/>
              </a:lnSpc>
              <a:spcBef>
                <a:spcPct val="20000"/>
              </a:spcBef>
            </a:pPr>
            <a:r>
              <a:rPr kumimoji="1" lang="zh-CN" altLang="en-US" sz="2400" dirty="0">
                <a:solidFill>
                  <a:srgbClr val="0000CC"/>
                </a:solidFill>
                <a:latin typeface="+mn-ea"/>
                <a:ea typeface="+mn-ea"/>
              </a:rPr>
              <a:t>同时编译多个文件</a:t>
            </a:r>
            <a:r>
              <a:rPr kumimoji="1" lang="en-US" altLang="zh-CN" sz="2400" dirty="0">
                <a:latin typeface="+mn-ea"/>
                <a:ea typeface="+mn-ea"/>
              </a:rPr>
              <a:t>:</a:t>
            </a:r>
            <a:r>
              <a:rPr kumimoji="1" lang="zh-CN" altLang="en-US" sz="2400" dirty="0">
                <a:latin typeface="+mn-ea"/>
                <a:ea typeface="+mn-ea"/>
              </a:rPr>
              <a:t>有一个由</a:t>
            </a:r>
            <a:r>
              <a:rPr kumimoji="1" lang="en-US" altLang="zh-CN" sz="2400" dirty="0" err="1">
                <a:latin typeface="+mn-ea"/>
                <a:ea typeface="+mn-ea"/>
              </a:rPr>
              <a:t>Helloworld.c</a:t>
            </a:r>
            <a:r>
              <a:rPr kumimoji="1" lang="zh-CN" altLang="en-US" sz="2400" dirty="0">
                <a:latin typeface="+mn-ea"/>
                <a:ea typeface="+mn-ea"/>
              </a:rPr>
              <a:t>、</a:t>
            </a:r>
            <a:r>
              <a:rPr kumimoji="1" lang="en-US" altLang="zh-CN" sz="2400" dirty="0" err="1">
                <a:latin typeface="+mn-ea"/>
                <a:ea typeface="+mn-ea"/>
              </a:rPr>
              <a:t>print.c</a:t>
            </a:r>
            <a:r>
              <a:rPr kumimoji="1" lang="zh-CN" altLang="en-US" sz="2400" dirty="0">
                <a:latin typeface="+mn-ea"/>
                <a:ea typeface="+mn-ea"/>
              </a:rPr>
              <a:t>、</a:t>
            </a:r>
            <a:r>
              <a:rPr kumimoji="1" lang="en-US" altLang="zh-CN" sz="2400" dirty="0" err="1">
                <a:latin typeface="+mn-ea"/>
                <a:ea typeface="+mn-ea"/>
              </a:rPr>
              <a:t>print.h</a:t>
            </a:r>
            <a:r>
              <a:rPr kumimoji="1" lang="zh-CN" altLang="en-US" sz="2400" dirty="0">
                <a:latin typeface="+mn-ea"/>
                <a:ea typeface="+mn-ea"/>
              </a:rPr>
              <a:t>三个源文件组成的程序，对它们进行编译最终生成可执行文件</a:t>
            </a:r>
            <a:r>
              <a:rPr kumimoji="1" lang="en-US" altLang="zh-CN" sz="2400" dirty="0">
                <a:latin typeface="+mn-ea"/>
                <a:ea typeface="+mn-ea"/>
              </a:rPr>
              <a:t>Helloworld</a:t>
            </a:r>
            <a:r>
              <a:rPr kumimoji="1" lang="zh-CN" altLang="en-US" sz="2400" dirty="0">
                <a:latin typeface="+mn-ea"/>
                <a:ea typeface="+mn-ea"/>
              </a:rPr>
              <a:t>。</a:t>
            </a:r>
            <a:r>
              <a:rPr kumimoji="1" lang="en-US" altLang="zh-CN" sz="2600" b="0" dirty="0">
                <a:solidFill>
                  <a:srgbClr val="0000CC"/>
                </a:solidFill>
                <a:latin typeface="+mn-ea"/>
                <a:ea typeface="+mn-ea"/>
              </a:rPr>
              <a:t> </a:t>
            </a:r>
            <a:endParaRPr kumimoji="1" lang="zh-CN" altLang="en-US" sz="2600" b="0" dirty="0">
              <a:solidFill>
                <a:srgbClr val="0000CC"/>
              </a:solidFill>
              <a:latin typeface="+mn-ea"/>
              <a:ea typeface="+mn-ea"/>
            </a:endParaRP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700C099A-6552-4724-AD39-B0EE2F003FA2}" type="slidenum">
              <a:rPr lang="en-US" altLang="zh-CN" smtClean="0"/>
              <a:pPr>
                <a:defRPr/>
              </a:pPr>
              <a:t>34</a:t>
            </a:fld>
            <a:endParaRPr lang="en-US" altLang="zh-CN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AA847617-42C9-3E7B-591D-B4691188A7D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67508" y="1556792"/>
            <a:ext cx="8856984" cy="47525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6090648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700C099A-6552-4724-AD39-B0EE2F003FA2}" type="slidenum">
              <a:rPr lang="en-US" altLang="zh-CN" smtClean="0"/>
              <a:pPr>
                <a:defRPr/>
              </a:pPr>
              <a:t>35</a:t>
            </a:fld>
            <a:endParaRPr lang="en-US" altLang="zh-CN" dirty="0"/>
          </a:p>
        </p:txBody>
      </p:sp>
      <p:sp>
        <p:nvSpPr>
          <p:cNvPr id="6" name="Text Box 4"/>
          <p:cNvSpPr txBox="1">
            <a:spLocks noChangeArrowheads="1"/>
          </p:cNvSpPr>
          <p:nvPr/>
        </p:nvSpPr>
        <p:spPr bwMode="auto">
          <a:xfrm>
            <a:off x="1253704" y="714645"/>
            <a:ext cx="9937104" cy="127419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9pPr>
          </a:lstStyle>
          <a:p>
            <a:pPr algn="l" eaLnBrk="1" hangingPunct="1">
              <a:spcBef>
                <a:spcPct val="20000"/>
              </a:spcBef>
              <a:buSzPct val="80000"/>
            </a:pPr>
            <a:r>
              <a:rPr kumimoji="1" lang="zh-CN" altLang="en-US" sz="2400" dirty="0">
                <a:latin typeface="+mn-ea"/>
                <a:ea typeface="+mn-ea"/>
              </a:rPr>
              <a:t>此例中，编译过程分</a:t>
            </a:r>
            <a:r>
              <a:rPr kumimoji="1" lang="en-US" altLang="zh-CN" sz="2400" dirty="0">
                <a:latin typeface="+mn-ea"/>
                <a:ea typeface="+mn-ea"/>
              </a:rPr>
              <a:t>3</a:t>
            </a:r>
            <a:r>
              <a:rPr kumimoji="1" lang="zh-CN" altLang="en-US" sz="2400" dirty="0">
                <a:latin typeface="+mn-ea"/>
                <a:ea typeface="+mn-ea"/>
              </a:rPr>
              <a:t>步完成，先分别编译两个源文件再将它们的目标代码连接起来，这三个命令可以合并为一个命令：</a:t>
            </a:r>
            <a:endParaRPr kumimoji="1" lang="en-US" altLang="zh-CN" sz="2400" dirty="0">
              <a:latin typeface="+mn-ea"/>
              <a:ea typeface="+mn-ea"/>
            </a:endParaRPr>
          </a:p>
          <a:p>
            <a:pPr algn="l" eaLnBrk="1" hangingPunct="1">
              <a:spcBef>
                <a:spcPct val="20000"/>
              </a:spcBef>
              <a:buSzPct val="80000"/>
            </a:pPr>
            <a:r>
              <a:rPr kumimoji="1" lang="en-US" altLang="zh-CN" sz="2400" dirty="0">
                <a:latin typeface="+mn-ea"/>
                <a:ea typeface="+mn-ea"/>
              </a:rPr>
              <a:t>gcc -o  Helloworld  </a:t>
            </a:r>
            <a:r>
              <a:rPr kumimoji="1" lang="en-US" altLang="zh-CN" sz="2400" dirty="0" err="1">
                <a:latin typeface="+mn-ea"/>
                <a:ea typeface="+mn-ea"/>
              </a:rPr>
              <a:t>Helloworld.c</a:t>
            </a:r>
            <a:r>
              <a:rPr kumimoji="1" lang="en-US" altLang="zh-CN" sz="2400" dirty="0">
                <a:latin typeface="+mn-ea"/>
                <a:ea typeface="+mn-ea"/>
              </a:rPr>
              <a:t>  </a:t>
            </a:r>
            <a:r>
              <a:rPr kumimoji="1" lang="en-US" altLang="zh-CN" sz="2400" dirty="0" err="1">
                <a:latin typeface="+mn-ea"/>
                <a:ea typeface="+mn-ea"/>
              </a:rPr>
              <a:t>print.c</a:t>
            </a:r>
            <a:endParaRPr kumimoji="1" lang="zh-CN" altLang="en-US" sz="2400" b="0" dirty="0">
              <a:solidFill>
                <a:srgbClr val="0000CC"/>
              </a:solidFill>
              <a:latin typeface="+mn-ea"/>
              <a:ea typeface="+mn-ea"/>
            </a:endParaRP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70AC9517-0AD9-278A-84A3-531EF169BAE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45718" y="2276872"/>
            <a:ext cx="8900564" cy="28083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701818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Text Box 4"/>
          <p:cNvSpPr txBox="1">
            <a:spLocks noChangeArrowheads="1"/>
          </p:cNvSpPr>
          <p:nvPr/>
        </p:nvSpPr>
        <p:spPr bwMode="auto">
          <a:xfrm>
            <a:off x="2207568" y="567085"/>
            <a:ext cx="7848872" cy="701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20000"/>
              </a:spcBef>
            </a:pPr>
            <a:r>
              <a:rPr lang="en-US" altLang="zh-CN" sz="4000" dirty="0">
                <a:latin typeface="+mj-lt"/>
                <a:ea typeface="+mj-ea"/>
                <a:cs typeface="+mj-cs"/>
              </a:rPr>
              <a:t>6.3</a:t>
            </a:r>
            <a:r>
              <a:rPr kumimoji="1" lang="en-US" altLang="zh-CN" sz="4000" dirty="0">
                <a:latin typeface="+mj-ea"/>
                <a:ea typeface="+mj-ea"/>
              </a:rPr>
              <a:t>  GDB</a:t>
            </a:r>
            <a:r>
              <a:rPr kumimoji="1" lang="zh-CN" altLang="en-US" sz="4000" dirty="0">
                <a:latin typeface="+mj-ea"/>
                <a:ea typeface="+mj-ea"/>
              </a:rPr>
              <a:t>调试器</a:t>
            </a:r>
          </a:p>
        </p:txBody>
      </p:sp>
      <p:sp>
        <p:nvSpPr>
          <p:cNvPr id="47107" name="Text Box 5"/>
          <p:cNvSpPr txBox="1">
            <a:spLocks noChangeArrowheads="1"/>
          </p:cNvSpPr>
          <p:nvPr/>
        </p:nvSpPr>
        <p:spPr bwMode="auto">
          <a:xfrm>
            <a:off x="1055440" y="1463873"/>
            <a:ext cx="10153128" cy="36933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9pPr>
          </a:lstStyle>
          <a:p>
            <a:pPr marL="342900" indent="-342900" algn="l" eaLnBrk="1" hangingPunct="1">
              <a:spcBef>
                <a:spcPct val="25000"/>
              </a:spcBef>
              <a:buSzPct val="80000"/>
              <a:buFont typeface="Wingdings" panose="05000000000000000000" pitchFamily="2" charset="2"/>
              <a:buChar char="l"/>
            </a:pPr>
            <a:r>
              <a:rPr kumimoji="1" lang="zh-CN" altLang="en-US" sz="2400" dirty="0">
                <a:latin typeface="楷体_GB2312" pitchFamily="49" charset="-122"/>
                <a:ea typeface="楷体_GB2312" pitchFamily="49" charset="-122"/>
              </a:rPr>
              <a:t> </a:t>
            </a:r>
            <a:r>
              <a:rPr kumimoji="1" lang="zh-CN" altLang="zh-CN" sz="2600" dirty="0">
                <a:latin typeface="+mn-ea"/>
                <a:ea typeface="+mn-ea"/>
              </a:rPr>
              <a:t>一个功能强大的调试器不仅为程序员提供了跟踪</a:t>
            </a:r>
            <a:endParaRPr kumimoji="1" lang="en-US" altLang="zh-CN" sz="2600" dirty="0">
              <a:latin typeface="+mn-ea"/>
              <a:ea typeface="+mn-ea"/>
            </a:endParaRPr>
          </a:p>
          <a:p>
            <a:pPr algn="l" eaLnBrk="1" hangingPunct="1">
              <a:spcBef>
                <a:spcPct val="25000"/>
              </a:spcBef>
              <a:buSzPct val="80000"/>
            </a:pPr>
            <a:r>
              <a:rPr kumimoji="1" lang="zh-CN" altLang="zh-CN" sz="2600" dirty="0">
                <a:latin typeface="+mn-ea"/>
                <a:ea typeface="+mn-ea"/>
              </a:rPr>
              <a:t>程序的手段，还</a:t>
            </a:r>
            <a:r>
              <a:rPr kumimoji="1" lang="zh-CN" altLang="en-US" sz="2600" dirty="0">
                <a:latin typeface="+mn-ea"/>
                <a:ea typeface="+mn-ea"/>
              </a:rPr>
              <a:t>能</a:t>
            </a:r>
            <a:r>
              <a:rPr kumimoji="1" lang="zh-CN" altLang="zh-CN" sz="2600" dirty="0">
                <a:latin typeface="+mn-ea"/>
                <a:ea typeface="+mn-ea"/>
              </a:rPr>
              <a:t>帮助程序员找到解决问题的方法。</a:t>
            </a:r>
            <a:r>
              <a:rPr kumimoji="1" lang="en-US" altLang="zh-CN" sz="2600" dirty="0" err="1">
                <a:latin typeface="+mn-ea"/>
                <a:ea typeface="+mn-ea"/>
              </a:rPr>
              <a:t>GDB</a:t>
            </a:r>
            <a:r>
              <a:rPr kumimoji="1" lang="zh-CN" altLang="en-US" sz="2600" dirty="0">
                <a:latin typeface="+mn-ea"/>
                <a:ea typeface="+mn-ea"/>
              </a:rPr>
              <a:t>是</a:t>
            </a:r>
            <a:r>
              <a:rPr kumimoji="1" lang="en-US" altLang="zh-CN" sz="2600" dirty="0">
                <a:latin typeface="+mn-ea"/>
                <a:ea typeface="+mn-ea"/>
              </a:rPr>
              <a:t>GNU</a:t>
            </a:r>
            <a:r>
              <a:rPr kumimoji="1" lang="zh-CN" altLang="en-US" sz="2600" dirty="0">
                <a:latin typeface="+mn-ea"/>
                <a:ea typeface="+mn-ea"/>
              </a:rPr>
              <a:t>开源组织发布的一个强大的</a:t>
            </a:r>
            <a:r>
              <a:rPr kumimoji="1" lang="en-US" altLang="zh-CN" sz="2600" dirty="0">
                <a:latin typeface="+mn-ea"/>
                <a:ea typeface="+mn-ea"/>
              </a:rPr>
              <a:t>UNIX</a:t>
            </a:r>
            <a:r>
              <a:rPr kumimoji="1" lang="zh-CN" altLang="en-US" sz="2600" dirty="0">
                <a:latin typeface="+mn-ea"/>
                <a:ea typeface="+mn-ea"/>
              </a:rPr>
              <a:t>下的程序调试工具。</a:t>
            </a:r>
            <a:endParaRPr kumimoji="1" lang="en-US" altLang="zh-CN" sz="2600" dirty="0">
              <a:latin typeface="+mn-ea"/>
              <a:ea typeface="+mn-ea"/>
            </a:endParaRPr>
          </a:p>
          <a:p>
            <a:pPr marL="342900" indent="-342900" algn="l" eaLnBrk="1" hangingPunct="1">
              <a:spcBef>
                <a:spcPct val="25000"/>
              </a:spcBef>
              <a:buSzPct val="80000"/>
              <a:buFont typeface="Wingdings" panose="05000000000000000000" pitchFamily="2" charset="2"/>
              <a:buChar char="l"/>
            </a:pPr>
            <a:r>
              <a:rPr kumimoji="1" lang="zh-CN" altLang="en-US" sz="2600" dirty="0">
                <a:latin typeface="+mn-ea"/>
                <a:ea typeface="+mn-ea"/>
              </a:rPr>
              <a:t> </a:t>
            </a:r>
            <a:r>
              <a:rPr kumimoji="1" lang="zh-CN" altLang="zh-CN" sz="2600" dirty="0">
                <a:latin typeface="+mn-ea"/>
                <a:ea typeface="+mn-ea"/>
              </a:rPr>
              <a:t>对于</a:t>
            </a:r>
            <a:r>
              <a:rPr kumimoji="1" lang="en-US" altLang="zh-CN" sz="2600" dirty="0">
                <a:latin typeface="+mn-ea"/>
                <a:ea typeface="+mn-ea"/>
              </a:rPr>
              <a:t>Linux</a:t>
            </a:r>
            <a:r>
              <a:rPr kumimoji="1" lang="zh-CN" altLang="en-US" sz="2600" dirty="0">
                <a:latin typeface="+mn-ea"/>
                <a:ea typeface="+mn-ea"/>
              </a:rPr>
              <a:t>程序员来讲，</a:t>
            </a:r>
            <a:r>
              <a:rPr kumimoji="1" lang="en-US" altLang="zh-CN" sz="2600" dirty="0" err="1">
                <a:solidFill>
                  <a:srgbClr val="0000CC"/>
                </a:solidFill>
                <a:latin typeface="+mn-ea"/>
                <a:ea typeface="+mn-ea"/>
              </a:rPr>
              <a:t>GDB</a:t>
            </a:r>
            <a:r>
              <a:rPr kumimoji="1" lang="zh-CN" altLang="en-US" sz="2600" dirty="0">
                <a:latin typeface="+mn-ea"/>
                <a:ea typeface="+mn-ea"/>
              </a:rPr>
              <a:t>（</a:t>
            </a:r>
            <a:r>
              <a:rPr kumimoji="1" lang="en-US" altLang="zh-CN" sz="2600" dirty="0">
                <a:latin typeface="+mn-ea"/>
                <a:ea typeface="+mn-ea"/>
              </a:rPr>
              <a:t>GNU Debugger</a:t>
            </a:r>
            <a:r>
              <a:rPr kumimoji="1" lang="zh-CN" altLang="en-US" sz="2600" dirty="0">
                <a:latin typeface="+mn-ea"/>
                <a:ea typeface="+mn-ea"/>
              </a:rPr>
              <a:t>）通过与</a:t>
            </a:r>
            <a:endParaRPr kumimoji="1" lang="en-US" altLang="zh-CN" sz="2600" dirty="0">
              <a:latin typeface="+mn-ea"/>
              <a:ea typeface="+mn-ea"/>
            </a:endParaRPr>
          </a:p>
          <a:p>
            <a:pPr algn="l" eaLnBrk="1" hangingPunct="1">
              <a:spcBef>
                <a:spcPct val="25000"/>
              </a:spcBef>
              <a:buSzPct val="80000"/>
            </a:pPr>
            <a:r>
              <a:rPr kumimoji="1" lang="en-US" altLang="zh-CN" sz="2600" dirty="0">
                <a:latin typeface="+mn-ea"/>
                <a:ea typeface="+mn-ea"/>
              </a:rPr>
              <a:t>GCC</a:t>
            </a:r>
            <a:r>
              <a:rPr kumimoji="1" lang="zh-CN" altLang="en-US" sz="2600" dirty="0">
                <a:latin typeface="+mn-ea"/>
                <a:ea typeface="+mn-ea"/>
              </a:rPr>
              <a:t>的配合使用，为基于</a:t>
            </a:r>
            <a:r>
              <a:rPr kumimoji="1" lang="en-US" altLang="zh-CN" sz="2600" dirty="0">
                <a:latin typeface="+mn-ea"/>
                <a:ea typeface="+mn-ea"/>
              </a:rPr>
              <a:t>Linux</a:t>
            </a:r>
            <a:r>
              <a:rPr kumimoji="1" lang="zh-CN" altLang="en-US" sz="2600" dirty="0">
                <a:latin typeface="+mn-ea"/>
                <a:ea typeface="+mn-ea"/>
              </a:rPr>
              <a:t>的软件开发提供了一个完善的调试环境。</a:t>
            </a:r>
          </a:p>
          <a:p>
            <a:pPr marL="342900" indent="-342900" algn="l" eaLnBrk="1" hangingPunct="1">
              <a:spcBef>
                <a:spcPct val="25000"/>
              </a:spcBef>
              <a:buSzPct val="80000"/>
              <a:buFont typeface="Wingdings" panose="05000000000000000000" pitchFamily="2" charset="2"/>
              <a:buChar char="l"/>
            </a:pPr>
            <a:r>
              <a:rPr kumimoji="1" lang="zh-CN" altLang="en-US" sz="2600" dirty="0">
                <a:latin typeface="+mn-ea"/>
                <a:ea typeface="+mn-ea"/>
              </a:rPr>
              <a:t> 默认情况下，</a:t>
            </a:r>
            <a:r>
              <a:rPr kumimoji="1" lang="en-US" altLang="zh-CN" sz="2600" dirty="0">
                <a:latin typeface="+mn-ea"/>
                <a:ea typeface="+mn-ea"/>
              </a:rPr>
              <a:t>GCC</a:t>
            </a:r>
            <a:r>
              <a:rPr kumimoji="1" lang="zh-CN" altLang="en-US" sz="2600" dirty="0">
                <a:latin typeface="+mn-ea"/>
                <a:ea typeface="+mn-ea"/>
              </a:rPr>
              <a:t>在编译时不会将调试符号插入到生成的二进制代码中，因为这样会增加可执行文件的大小。如果需要在编译时</a:t>
            </a:r>
            <a:r>
              <a:rPr kumimoji="1" lang="zh-CN" altLang="en-US" sz="2600" dirty="0">
                <a:solidFill>
                  <a:srgbClr val="0000CC"/>
                </a:solidFill>
                <a:latin typeface="+mn-ea"/>
                <a:ea typeface="+mn-ea"/>
              </a:rPr>
              <a:t>生成调试符号信息</a:t>
            </a:r>
            <a:r>
              <a:rPr kumimoji="1" lang="zh-CN" altLang="en-US" sz="2600" dirty="0">
                <a:latin typeface="+mn-ea"/>
                <a:ea typeface="+mn-ea"/>
              </a:rPr>
              <a:t>，可以使用</a:t>
            </a:r>
            <a:r>
              <a:rPr kumimoji="1" lang="en-US" altLang="zh-CN" sz="2600" dirty="0">
                <a:solidFill>
                  <a:srgbClr val="0000CC"/>
                </a:solidFill>
                <a:latin typeface="+mn-ea"/>
                <a:ea typeface="+mn-ea"/>
              </a:rPr>
              <a:t>GCC</a:t>
            </a:r>
            <a:r>
              <a:rPr kumimoji="1" lang="zh-CN" altLang="en-US" sz="2600" dirty="0">
                <a:solidFill>
                  <a:srgbClr val="0000CC"/>
                </a:solidFill>
                <a:latin typeface="+mn-ea"/>
                <a:ea typeface="+mn-ea"/>
              </a:rPr>
              <a:t>的</a:t>
            </a:r>
            <a:r>
              <a:rPr kumimoji="1" lang="en-US" altLang="zh-CN" sz="2600" dirty="0">
                <a:solidFill>
                  <a:srgbClr val="0000CC"/>
                </a:solidFill>
                <a:latin typeface="+mn-ea"/>
                <a:ea typeface="+mn-ea"/>
              </a:rPr>
              <a:t>-g</a:t>
            </a:r>
            <a:r>
              <a:rPr kumimoji="1" lang="zh-CN" altLang="en-US" sz="2600" dirty="0">
                <a:solidFill>
                  <a:srgbClr val="0000CC"/>
                </a:solidFill>
                <a:latin typeface="+mn-ea"/>
                <a:ea typeface="+mn-ea"/>
              </a:rPr>
              <a:t>选项。 </a:t>
            </a:r>
            <a:endParaRPr kumimoji="1" lang="en-US" altLang="zh-CN" sz="2600" dirty="0">
              <a:solidFill>
                <a:srgbClr val="0000CC"/>
              </a:solidFill>
              <a:latin typeface="+mn-ea"/>
              <a:ea typeface="+mn-ea"/>
            </a:endParaRP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700C099A-6552-4724-AD39-B0EE2F003FA2}" type="slidenum">
              <a:rPr lang="en-US" altLang="zh-CN" smtClean="0"/>
              <a:pPr>
                <a:defRPr/>
              </a:pPr>
              <a:t>36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366799898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Text Box 4"/>
          <p:cNvSpPr txBox="1">
            <a:spLocks noChangeArrowheads="1"/>
          </p:cNvSpPr>
          <p:nvPr/>
        </p:nvSpPr>
        <p:spPr bwMode="auto">
          <a:xfrm>
            <a:off x="2208214" y="567085"/>
            <a:ext cx="7776218" cy="701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20000"/>
              </a:spcBef>
            </a:pPr>
            <a:r>
              <a:rPr lang="en-US" altLang="zh-CN" sz="4000" dirty="0">
                <a:latin typeface="+mj-lt"/>
                <a:ea typeface="+mj-ea"/>
                <a:cs typeface="+mj-cs"/>
              </a:rPr>
              <a:t>GDB</a:t>
            </a:r>
            <a:r>
              <a:rPr kumimoji="1" lang="zh-CN" altLang="en-US" sz="4000" dirty="0">
                <a:latin typeface="+mj-ea"/>
                <a:ea typeface="+mj-ea"/>
              </a:rPr>
              <a:t>调试器</a:t>
            </a:r>
          </a:p>
        </p:txBody>
      </p:sp>
      <p:sp>
        <p:nvSpPr>
          <p:cNvPr id="47107" name="Text Box 5"/>
          <p:cNvSpPr txBox="1">
            <a:spLocks noChangeArrowheads="1"/>
          </p:cNvSpPr>
          <p:nvPr/>
        </p:nvSpPr>
        <p:spPr bwMode="auto">
          <a:xfrm>
            <a:off x="1271464" y="1124744"/>
            <a:ext cx="9865096" cy="479984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9pPr>
          </a:lstStyle>
          <a:p>
            <a:pPr marL="342900" indent="-342900" algn="l" eaLnBrk="1" hangingPunct="1">
              <a:lnSpc>
                <a:spcPct val="150000"/>
              </a:lnSpc>
              <a:spcBef>
                <a:spcPct val="25000"/>
              </a:spcBef>
              <a:buSzPct val="80000"/>
              <a:buFont typeface="Wingdings" panose="05000000000000000000" pitchFamily="2" charset="2"/>
              <a:buChar char="l"/>
            </a:pPr>
            <a:r>
              <a:rPr kumimoji="1" lang="zh-CN" altLang="en-US" sz="2600" dirty="0">
                <a:latin typeface="楷体_GB2312" pitchFamily="49" charset="-122"/>
                <a:ea typeface="楷体_GB2312" pitchFamily="49" charset="-122"/>
              </a:rPr>
              <a:t> </a:t>
            </a:r>
            <a:r>
              <a:rPr kumimoji="1" lang="en-US" altLang="zh-CN" sz="2600" dirty="0">
                <a:latin typeface="+mn-ea"/>
                <a:ea typeface="+mn-ea"/>
              </a:rPr>
              <a:t>GDB</a:t>
            </a:r>
            <a:r>
              <a:rPr kumimoji="1" lang="zh-CN" altLang="en-US" sz="2600" dirty="0">
                <a:latin typeface="+mn-ea"/>
                <a:ea typeface="+mn-ea"/>
              </a:rPr>
              <a:t>具有如下几个主要的功能：</a:t>
            </a:r>
            <a:endParaRPr kumimoji="1" lang="en-US" altLang="zh-CN" sz="2600" dirty="0">
              <a:latin typeface="+mn-ea"/>
              <a:ea typeface="+mn-ea"/>
            </a:endParaRPr>
          </a:p>
          <a:p>
            <a:pPr algn="l" eaLnBrk="1" hangingPunct="1">
              <a:lnSpc>
                <a:spcPct val="150000"/>
              </a:lnSpc>
              <a:spcBef>
                <a:spcPct val="25000"/>
              </a:spcBef>
              <a:buSzPct val="80000"/>
            </a:pPr>
            <a:r>
              <a:rPr kumimoji="1" lang="zh-CN" altLang="en-US" sz="2600" dirty="0">
                <a:latin typeface="+mn-ea"/>
                <a:ea typeface="+mn-ea"/>
              </a:rPr>
              <a:t>（</a:t>
            </a:r>
            <a:r>
              <a:rPr kumimoji="1" lang="en-US" altLang="zh-CN" sz="2600" dirty="0">
                <a:latin typeface="+mn-ea"/>
                <a:ea typeface="+mn-ea"/>
              </a:rPr>
              <a:t>1</a:t>
            </a:r>
            <a:r>
              <a:rPr kumimoji="1" lang="zh-CN" altLang="en-US" sz="2600" dirty="0">
                <a:latin typeface="+mn-ea"/>
                <a:ea typeface="+mn-ea"/>
              </a:rPr>
              <a:t>）查看文件</a:t>
            </a:r>
            <a:endParaRPr kumimoji="1" lang="en-US" altLang="zh-CN" sz="2600" dirty="0">
              <a:latin typeface="+mn-ea"/>
              <a:ea typeface="+mn-ea"/>
            </a:endParaRPr>
          </a:p>
          <a:p>
            <a:pPr algn="l" eaLnBrk="1" hangingPunct="1">
              <a:lnSpc>
                <a:spcPct val="150000"/>
              </a:lnSpc>
              <a:spcBef>
                <a:spcPct val="25000"/>
              </a:spcBef>
              <a:buSzPct val="80000"/>
            </a:pPr>
            <a:r>
              <a:rPr kumimoji="1" lang="zh-CN" altLang="en-US" sz="2600" dirty="0">
                <a:latin typeface="+mn-ea"/>
                <a:ea typeface="+mn-ea"/>
              </a:rPr>
              <a:t>（</a:t>
            </a:r>
            <a:r>
              <a:rPr kumimoji="1" lang="en-US" altLang="zh-CN" sz="2600" dirty="0">
                <a:latin typeface="+mn-ea"/>
                <a:ea typeface="+mn-ea"/>
              </a:rPr>
              <a:t>2) </a:t>
            </a:r>
            <a:r>
              <a:rPr kumimoji="1" lang="zh-CN" altLang="en-US" sz="2600" dirty="0">
                <a:latin typeface="+mn-ea"/>
                <a:ea typeface="+mn-ea"/>
              </a:rPr>
              <a:t>设置断点</a:t>
            </a:r>
            <a:endParaRPr kumimoji="1" lang="en-US" altLang="zh-CN" sz="2600" dirty="0">
              <a:latin typeface="+mn-ea"/>
              <a:ea typeface="+mn-ea"/>
            </a:endParaRPr>
          </a:p>
          <a:p>
            <a:pPr algn="l" eaLnBrk="1" hangingPunct="1">
              <a:lnSpc>
                <a:spcPct val="150000"/>
              </a:lnSpc>
              <a:spcBef>
                <a:spcPct val="25000"/>
              </a:spcBef>
              <a:buSzPct val="80000"/>
            </a:pPr>
            <a:r>
              <a:rPr kumimoji="1" lang="zh-CN" altLang="en-US" sz="2600" dirty="0">
                <a:latin typeface="+mn-ea"/>
                <a:ea typeface="+mn-ea"/>
              </a:rPr>
              <a:t>（</a:t>
            </a:r>
            <a:r>
              <a:rPr kumimoji="1" lang="en-US" altLang="zh-CN" sz="2600" dirty="0">
                <a:latin typeface="+mn-ea"/>
                <a:ea typeface="+mn-ea"/>
              </a:rPr>
              <a:t>3</a:t>
            </a:r>
            <a:r>
              <a:rPr kumimoji="1" lang="zh-CN" altLang="en-US" sz="2600" dirty="0">
                <a:latin typeface="+mn-ea"/>
                <a:ea typeface="+mn-ea"/>
              </a:rPr>
              <a:t>）查看断点情况</a:t>
            </a:r>
            <a:r>
              <a:rPr kumimoji="1" lang="en-US" altLang="zh-CN" sz="2600" dirty="0">
                <a:latin typeface="+mn-ea"/>
                <a:ea typeface="+mn-ea"/>
              </a:rPr>
              <a:t> </a:t>
            </a:r>
          </a:p>
          <a:p>
            <a:pPr algn="l" eaLnBrk="1" hangingPunct="1">
              <a:lnSpc>
                <a:spcPct val="150000"/>
              </a:lnSpc>
              <a:spcBef>
                <a:spcPct val="25000"/>
              </a:spcBef>
              <a:buSzPct val="80000"/>
            </a:pPr>
            <a:r>
              <a:rPr kumimoji="1" lang="zh-CN" altLang="en-US" sz="2600" dirty="0">
                <a:latin typeface="+mn-ea"/>
                <a:ea typeface="+mn-ea"/>
              </a:rPr>
              <a:t>（</a:t>
            </a:r>
            <a:r>
              <a:rPr kumimoji="1" lang="en-US" altLang="zh-CN" sz="2600" dirty="0">
                <a:latin typeface="+mn-ea"/>
                <a:ea typeface="+mn-ea"/>
              </a:rPr>
              <a:t>4</a:t>
            </a:r>
            <a:r>
              <a:rPr kumimoji="1" lang="zh-CN" altLang="en-US" sz="2600" dirty="0">
                <a:latin typeface="+mn-ea"/>
                <a:ea typeface="+mn-ea"/>
              </a:rPr>
              <a:t>）监视程序中变量的值</a:t>
            </a:r>
            <a:endParaRPr kumimoji="1" lang="en-US" altLang="zh-CN" sz="2600" dirty="0">
              <a:latin typeface="+mn-ea"/>
              <a:ea typeface="+mn-ea"/>
            </a:endParaRPr>
          </a:p>
          <a:p>
            <a:pPr algn="l" eaLnBrk="1" hangingPunct="1">
              <a:lnSpc>
                <a:spcPct val="150000"/>
              </a:lnSpc>
              <a:spcBef>
                <a:spcPct val="25000"/>
              </a:spcBef>
              <a:buSzPct val="80000"/>
            </a:pPr>
            <a:r>
              <a:rPr kumimoji="1" lang="zh-CN" altLang="en-US" sz="2600" dirty="0">
                <a:latin typeface="+mn-ea"/>
                <a:ea typeface="+mn-ea"/>
              </a:rPr>
              <a:t>（</a:t>
            </a:r>
            <a:r>
              <a:rPr kumimoji="1" lang="en-US" altLang="zh-CN" sz="2600" dirty="0">
                <a:latin typeface="+mn-ea"/>
                <a:ea typeface="+mn-ea"/>
              </a:rPr>
              <a:t>5</a:t>
            </a:r>
            <a:r>
              <a:rPr kumimoji="1" lang="zh-CN" altLang="en-US" sz="2600" dirty="0">
                <a:latin typeface="+mn-ea"/>
                <a:ea typeface="+mn-ea"/>
              </a:rPr>
              <a:t>）单步运行</a:t>
            </a:r>
            <a:endParaRPr kumimoji="1" lang="en-US" altLang="zh-CN" sz="2600" dirty="0">
              <a:latin typeface="+mn-ea"/>
              <a:ea typeface="+mn-ea"/>
            </a:endParaRPr>
          </a:p>
          <a:p>
            <a:pPr algn="l" eaLnBrk="1" hangingPunct="1">
              <a:lnSpc>
                <a:spcPct val="150000"/>
              </a:lnSpc>
              <a:spcBef>
                <a:spcPct val="25000"/>
              </a:spcBef>
              <a:buSzPct val="80000"/>
            </a:pPr>
            <a:r>
              <a:rPr kumimoji="1" lang="zh-CN" altLang="en-US" sz="2600" dirty="0">
                <a:latin typeface="+mn-ea"/>
                <a:ea typeface="+mn-ea"/>
              </a:rPr>
              <a:t>（</a:t>
            </a:r>
            <a:r>
              <a:rPr kumimoji="1" lang="en-US" altLang="zh-CN" sz="2600" dirty="0">
                <a:latin typeface="+mn-ea"/>
                <a:ea typeface="+mn-ea"/>
              </a:rPr>
              <a:t>6</a:t>
            </a:r>
            <a:r>
              <a:rPr kumimoji="1" lang="zh-CN" altLang="en-US" sz="2600" dirty="0">
                <a:latin typeface="+mn-ea"/>
                <a:ea typeface="+mn-ea"/>
              </a:rPr>
              <a:t>）恢复程序运行</a:t>
            </a:r>
            <a:endParaRPr kumimoji="1" lang="en-US" altLang="zh-CN" sz="2600" dirty="0">
              <a:latin typeface="+mn-ea"/>
              <a:ea typeface="+mn-ea"/>
            </a:endParaRP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700C099A-6552-4724-AD39-B0EE2F003FA2}" type="slidenum">
              <a:rPr lang="en-US" altLang="zh-CN" smtClean="0"/>
              <a:pPr>
                <a:defRPr/>
              </a:pPr>
              <a:t>37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800973159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Text Box 4"/>
          <p:cNvSpPr txBox="1">
            <a:spLocks noChangeArrowheads="1"/>
          </p:cNvSpPr>
          <p:nvPr/>
        </p:nvSpPr>
        <p:spPr bwMode="auto">
          <a:xfrm>
            <a:off x="1847850" y="560874"/>
            <a:ext cx="8064252" cy="7078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20000"/>
              </a:spcBef>
            </a:pPr>
            <a:r>
              <a:rPr kumimoji="1" lang="en-US" altLang="zh-CN" sz="4000" dirty="0">
                <a:latin typeface="+mj-ea"/>
                <a:ea typeface="+mj-ea"/>
              </a:rPr>
              <a:t>  </a:t>
            </a:r>
            <a:r>
              <a:rPr lang="en-US" altLang="zh-CN" sz="4000" dirty="0">
                <a:latin typeface="+mj-lt"/>
                <a:ea typeface="+mj-ea"/>
                <a:cs typeface="+mj-cs"/>
              </a:rPr>
              <a:t>GDB</a:t>
            </a:r>
            <a:r>
              <a:rPr kumimoji="1" lang="zh-CN" altLang="en-US" sz="4000" dirty="0">
                <a:latin typeface="+mj-ea"/>
                <a:ea typeface="+mj-ea"/>
              </a:rPr>
              <a:t>使用流程 </a:t>
            </a:r>
          </a:p>
        </p:txBody>
      </p:sp>
      <p:sp>
        <p:nvSpPr>
          <p:cNvPr id="48131" name="Text Box 5"/>
          <p:cNvSpPr txBox="1">
            <a:spLocks noChangeArrowheads="1"/>
          </p:cNvSpPr>
          <p:nvPr/>
        </p:nvSpPr>
        <p:spPr bwMode="auto">
          <a:xfrm>
            <a:off x="1055440" y="1124745"/>
            <a:ext cx="10009112" cy="9537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9pPr>
          </a:lstStyle>
          <a:p>
            <a:pPr algn="l" eaLnBrk="1" hangingPunct="1">
              <a:lnSpc>
                <a:spcPct val="115000"/>
              </a:lnSpc>
              <a:spcBef>
                <a:spcPct val="25000"/>
              </a:spcBef>
            </a:pPr>
            <a:r>
              <a:rPr kumimoji="1" lang="zh-CN" altLang="en-US" sz="2600" dirty="0">
                <a:latin typeface="+mn-ea"/>
                <a:ea typeface="+mn-ea"/>
              </a:rPr>
              <a:t>举例：程序文件名为</a:t>
            </a:r>
            <a:r>
              <a:rPr kumimoji="1" lang="en-US" altLang="zh-CN" sz="2600" dirty="0" err="1">
                <a:latin typeface="+mn-ea"/>
                <a:ea typeface="+mn-ea"/>
              </a:rPr>
              <a:t>test.c</a:t>
            </a:r>
            <a:r>
              <a:rPr kumimoji="1" lang="zh-CN" altLang="en-US" sz="2600" dirty="0">
                <a:latin typeface="+mn-ea"/>
                <a:ea typeface="+mn-ea"/>
              </a:rPr>
              <a:t>，程序代码如清单</a:t>
            </a:r>
            <a:r>
              <a:rPr kumimoji="1" lang="en-US" altLang="zh-CN" sz="2600" dirty="0">
                <a:latin typeface="+mn-ea"/>
                <a:ea typeface="+mn-ea"/>
              </a:rPr>
              <a:t>6,</a:t>
            </a:r>
            <a:r>
              <a:rPr kumimoji="1" lang="zh-CN" altLang="en-US" sz="2600" dirty="0">
                <a:latin typeface="+mn-ea"/>
                <a:ea typeface="+mn-ea"/>
              </a:rPr>
              <a:t>通过对该程序的调试示例</a:t>
            </a:r>
            <a:r>
              <a:rPr kumimoji="1" lang="en-US" altLang="zh-CN" sz="2600" dirty="0">
                <a:latin typeface="+mn-ea"/>
                <a:ea typeface="+mn-ea"/>
              </a:rPr>
              <a:t>,</a:t>
            </a:r>
            <a:r>
              <a:rPr kumimoji="1" lang="zh-CN" altLang="en-US" sz="2600" dirty="0">
                <a:latin typeface="+mn-ea"/>
                <a:ea typeface="+mn-ea"/>
              </a:rPr>
              <a:t>熟悉</a:t>
            </a:r>
            <a:r>
              <a:rPr kumimoji="1" lang="en-US" altLang="zh-CN" sz="2600" dirty="0" err="1">
                <a:latin typeface="+mn-ea"/>
                <a:ea typeface="+mn-ea"/>
              </a:rPr>
              <a:t>GDB</a:t>
            </a:r>
            <a:r>
              <a:rPr kumimoji="1" lang="zh-CN" altLang="en-US" sz="2600" dirty="0">
                <a:latin typeface="+mn-ea"/>
                <a:ea typeface="+mn-ea"/>
              </a:rPr>
              <a:t>的使用流程。</a:t>
            </a:r>
            <a:endParaRPr kumimoji="1" lang="en-US" altLang="zh-CN" sz="2600" dirty="0">
              <a:latin typeface="+mn-ea"/>
              <a:ea typeface="+mn-ea"/>
            </a:endParaRPr>
          </a:p>
        </p:txBody>
      </p:sp>
      <p:sp>
        <p:nvSpPr>
          <p:cNvPr id="48132" name="Text Box 6"/>
          <p:cNvSpPr txBox="1">
            <a:spLocks noChangeArrowheads="1"/>
          </p:cNvSpPr>
          <p:nvPr/>
        </p:nvSpPr>
        <p:spPr bwMode="auto">
          <a:xfrm>
            <a:off x="1271464" y="2191345"/>
            <a:ext cx="4392488" cy="4117975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bg2"/>
            </a:solidFill>
            <a:miter lim="800000"/>
            <a:headEnd/>
            <a:tailEnd/>
          </a:ln>
          <a:effectLst/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9pPr>
          </a:lstStyle>
          <a:p>
            <a:pPr algn="l" eaLnBrk="1" hangingPunct="1"/>
            <a:r>
              <a:rPr kumimoji="1" lang="en-US" altLang="zh-CN" sz="2400" dirty="0">
                <a:latin typeface="Times New Roman" pitchFamily="18" charset="0"/>
              </a:rPr>
              <a:t>【</a:t>
            </a:r>
            <a:r>
              <a:rPr kumimoji="1" lang="zh-CN" altLang="en-US" sz="2400" dirty="0">
                <a:latin typeface="Times New Roman" pitchFamily="18" charset="0"/>
              </a:rPr>
              <a:t>清单</a:t>
            </a:r>
            <a:r>
              <a:rPr kumimoji="1" lang="en-US" altLang="zh-CN" sz="2400" dirty="0">
                <a:latin typeface="Times New Roman" pitchFamily="18" charset="0"/>
              </a:rPr>
              <a:t>6】</a:t>
            </a:r>
          </a:p>
          <a:p>
            <a:pPr algn="l" eaLnBrk="1" hangingPunct="1"/>
            <a:r>
              <a:rPr kumimoji="1" lang="en-US" altLang="zh-CN" sz="2400" dirty="0">
                <a:latin typeface="Times New Roman" pitchFamily="18" charset="0"/>
              </a:rPr>
              <a:t>#include &lt;stdio.h&gt;</a:t>
            </a:r>
          </a:p>
          <a:p>
            <a:pPr algn="l" eaLnBrk="1" hangingPunct="1"/>
            <a:r>
              <a:rPr kumimoji="1" lang="en-US" altLang="zh-CN" sz="2400" dirty="0">
                <a:latin typeface="Times New Roman" pitchFamily="18" charset="0"/>
              </a:rPr>
              <a:t>void sum(</a:t>
            </a:r>
            <a:r>
              <a:rPr kumimoji="1" lang="en-US" altLang="zh-CN" sz="2400" dirty="0" err="1">
                <a:latin typeface="Times New Roman" pitchFamily="18" charset="0"/>
              </a:rPr>
              <a:t>int</a:t>
            </a:r>
            <a:r>
              <a:rPr kumimoji="1" lang="en-US" altLang="zh-CN" sz="2400" dirty="0">
                <a:latin typeface="Times New Roman" pitchFamily="18" charset="0"/>
              </a:rPr>
              <a:t> m);</a:t>
            </a:r>
          </a:p>
          <a:p>
            <a:pPr algn="l" eaLnBrk="1" hangingPunct="1"/>
            <a:r>
              <a:rPr kumimoji="1" lang="en-US" altLang="zh-CN" sz="2400" dirty="0" err="1">
                <a:latin typeface="Times New Roman" pitchFamily="18" charset="0"/>
              </a:rPr>
              <a:t>int</a:t>
            </a:r>
            <a:r>
              <a:rPr kumimoji="1" lang="en-US" altLang="zh-CN" sz="2400" dirty="0">
                <a:latin typeface="Times New Roman" pitchFamily="18" charset="0"/>
              </a:rPr>
              <a:t> main()</a:t>
            </a:r>
          </a:p>
          <a:p>
            <a:pPr algn="l" eaLnBrk="1" hangingPunct="1"/>
            <a:r>
              <a:rPr kumimoji="1" lang="en-US" altLang="zh-CN" sz="2400" dirty="0">
                <a:latin typeface="Times New Roman" pitchFamily="18" charset="0"/>
              </a:rPr>
              <a:t>{</a:t>
            </a:r>
          </a:p>
          <a:p>
            <a:pPr algn="l" eaLnBrk="1" hangingPunct="1"/>
            <a:r>
              <a:rPr kumimoji="1" lang="en-US" altLang="zh-CN" sz="2400" dirty="0">
                <a:latin typeface="Times New Roman" pitchFamily="18" charset="0"/>
              </a:rPr>
              <a:t>   int </a:t>
            </a:r>
            <a:r>
              <a:rPr kumimoji="1" lang="en-US" altLang="zh-CN" sz="2400" dirty="0" err="1">
                <a:latin typeface="Times New Roman" pitchFamily="18" charset="0"/>
              </a:rPr>
              <a:t>i,n</a:t>
            </a:r>
            <a:r>
              <a:rPr kumimoji="1" lang="en-US" altLang="zh-CN" sz="2400" dirty="0">
                <a:latin typeface="Times New Roman" pitchFamily="18" charset="0"/>
              </a:rPr>
              <a:t>=0;</a:t>
            </a:r>
          </a:p>
          <a:p>
            <a:pPr algn="l" eaLnBrk="1" hangingPunct="1"/>
            <a:r>
              <a:rPr kumimoji="1" lang="en-US" altLang="zh-CN" sz="2400" dirty="0">
                <a:latin typeface="Times New Roman" pitchFamily="18" charset="0"/>
              </a:rPr>
              <a:t>   sum(50);</a:t>
            </a:r>
          </a:p>
          <a:p>
            <a:pPr algn="l" eaLnBrk="1" hangingPunct="1"/>
            <a:r>
              <a:rPr kumimoji="1" lang="en-US" altLang="zh-CN" sz="2400" dirty="0">
                <a:latin typeface="Times New Roman" pitchFamily="18" charset="0"/>
              </a:rPr>
              <a:t>   for(i=1; i&lt;=50; i++)</a:t>
            </a:r>
          </a:p>
          <a:p>
            <a:pPr algn="l" eaLnBrk="1" hangingPunct="1"/>
            <a:r>
              <a:rPr kumimoji="1" lang="en-US" altLang="zh-CN" sz="2400" dirty="0">
                <a:latin typeface="Times New Roman" pitchFamily="18" charset="0"/>
              </a:rPr>
              <a:t>   {</a:t>
            </a:r>
          </a:p>
          <a:p>
            <a:pPr algn="l" eaLnBrk="1" hangingPunct="1"/>
            <a:r>
              <a:rPr kumimoji="1" lang="en-US" altLang="zh-CN" sz="2400" dirty="0">
                <a:latin typeface="Times New Roman" pitchFamily="18" charset="0"/>
              </a:rPr>
              <a:t>      n += i;</a:t>
            </a:r>
          </a:p>
          <a:p>
            <a:pPr algn="l" eaLnBrk="1" hangingPunct="1"/>
            <a:r>
              <a:rPr kumimoji="1" lang="en-US" altLang="zh-CN" sz="2400" dirty="0">
                <a:latin typeface="Times New Roman" pitchFamily="18" charset="0"/>
              </a:rPr>
              <a:t>   }</a:t>
            </a:r>
            <a:endParaRPr kumimoji="1" lang="zh-CN" altLang="en-US" sz="2400" dirty="0">
              <a:latin typeface="Times New Roman" pitchFamily="18" charset="0"/>
            </a:endParaRPr>
          </a:p>
        </p:txBody>
      </p:sp>
      <p:sp>
        <p:nvSpPr>
          <p:cNvPr id="48133" name="Text Box 7"/>
          <p:cNvSpPr txBox="1">
            <a:spLocks noChangeArrowheads="1"/>
          </p:cNvSpPr>
          <p:nvPr/>
        </p:nvSpPr>
        <p:spPr bwMode="auto">
          <a:xfrm>
            <a:off x="6096000" y="2388944"/>
            <a:ext cx="5256584" cy="3416320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bg2"/>
            </a:solidFill>
            <a:miter lim="800000"/>
            <a:headEnd/>
            <a:tailEnd/>
          </a:ln>
          <a:effectLst/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9pPr>
          </a:lstStyle>
          <a:p>
            <a:pPr algn="l" eaLnBrk="1" hangingPunct="1"/>
            <a:r>
              <a:rPr kumimoji="1" lang="en-US" altLang="zh-CN" sz="2400" dirty="0">
                <a:latin typeface="Times New Roman" pitchFamily="18" charset="0"/>
              </a:rPr>
              <a:t>printf("The sum of 1-50 is %d \n", n );</a:t>
            </a:r>
          </a:p>
          <a:p>
            <a:pPr algn="l" eaLnBrk="1" hangingPunct="1"/>
            <a:r>
              <a:rPr kumimoji="1" lang="en-US" altLang="zh-CN" sz="2400" dirty="0">
                <a:latin typeface="Times New Roman" pitchFamily="18" charset="0"/>
              </a:rPr>
              <a:t>   return(0);</a:t>
            </a:r>
          </a:p>
          <a:p>
            <a:pPr algn="l" eaLnBrk="1" hangingPunct="1"/>
            <a:r>
              <a:rPr kumimoji="1" lang="en-US" altLang="zh-CN" sz="2400" dirty="0">
                <a:latin typeface="Times New Roman" pitchFamily="18" charset="0"/>
              </a:rPr>
              <a:t>}</a:t>
            </a:r>
          </a:p>
          <a:p>
            <a:pPr algn="l" eaLnBrk="1" hangingPunct="1"/>
            <a:r>
              <a:rPr kumimoji="1" lang="en-US" altLang="zh-CN" sz="2400" dirty="0">
                <a:latin typeface="Times New Roman" pitchFamily="18" charset="0"/>
              </a:rPr>
              <a:t>void sum(</a:t>
            </a:r>
            <a:r>
              <a:rPr kumimoji="1" lang="en-US" altLang="zh-CN" sz="2400" dirty="0" err="1">
                <a:latin typeface="Times New Roman" pitchFamily="18" charset="0"/>
              </a:rPr>
              <a:t>int</a:t>
            </a:r>
            <a:r>
              <a:rPr kumimoji="1" lang="en-US" altLang="zh-CN" sz="2400" dirty="0">
                <a:latin typeface="Times New Roman" pitchFamily="18" charset="0"/>
              </a:rPr>
              <a:t> m)</a:t>
            </a:r>
          </a:p>
          <a:p>
            <a:pPr algn="l" eaLnBrk="1" hangingPunct="1"/>
            <a:r>
              <a:rPr kumimoji="1" lang="en-US" altLang="zh-CN" sz="2400" dirty="0">
                <a:latin typeface="Times New Roman" pitchFamily="18" charset="0"/>
              </a:rPr>
              <a:t>{</a:t>
            </a:r>
          </a:p>
          <a:p>
            <a:pPr algn="l" eaLnBrk="1" hangingPunct="1"/>
            <a:r>
              <a:rPr kumimoji="1" lang="en-US" altLang="zh-CN" sz="2400" dirty="0">
                <a:latin typeface="Times New Roman" pitchFamily="18" charset="0"/>
              </a:rPr>
              <a:t>   int </a:t>
            </a:r>
            <a:r>
              <a:rPr kumimoji="1" lang="en-US" altLang="zh-CN" sz="2400" dirty="0" err="1">
                <a:latin typeface="Times New Roman" pitchFamily="18" charset="0"/>
              </a:rPr>
              <a:t>i,n</a:t>
            </a:r>
            <a:r>
              <a:rPr kumimoji="1" lang="en-US" altLang="zh-CN" sz="2400" dirty="0">
                <a:latin typeface="Times New Roman" pitchFamily="18" charset="0"/>
              </a:rPr>
              <a:t>=0;</a:t>
            </a:r>
          </a:p>
          <a:p>
            <a:pPr algn="l" eaLnBrk="1" hangingPunct="1"/>
            <a:r>
              <a:rPr kumimoji="1" lang="en-US" altLang="zh-CN" sz="2400" dirty="0">
                <a:latin typeface="Times New Roman" pitchFamily="18" charset="0"/>
              </a:rPr>
              <a:t>   for(i=1; i&lt;=</a:t>
            </a:r>
            <a:r>
              <a:rPr kumimoji="1" lang="en-US" altLang="zh-CN" sz="2400" dirty="0" err="1">
                <a:latin typeface="Times New Roman" pitchFamily="18" charset="0"/>
              </a:rPr>
              <a:t>m;i</a:t>
            </a:r>
            <a:r>
              <a:rPr kumimoji="1" lang="en-US" altLang="zh-CN" sz="2400" dirty="0">
                <a:latin typeface="Times New Roman" pitchFamily="18" charset="0"/>
              </a:rPr>
              <a:t>++) n += i;</a:t>
            </a:r>
          </a:p>
          <a:p>
            <a:pPr algn="l" eaLnBrk="1" hangingPunct="1"/>
            <a:r>
              <a:rPr kumimoji="1" lang="en-US" altLang="zh-CN" sz="2400" dirty="0">
                <a:latin typeface="Times New Roman" pitchFamily="18" charset="0"/>
              </a:rPr>
              <a:t>   printf("The sum of 1-m is %d\n", n);</a:t>
            </a:r>
          </a:p>
          <a:p>
            <a:pPr algn="l" eaLnBrk="1" hangingPunct="1"/>
            <a:r>
              <a:rPr kumimoji="1" lang="en-US" altLang="zh-CN" sz="2400" dirty="0">
                <a:latin typeface="Times New Roman" pitchFamily="18" charset="0"/>
              </a:rPr>
              <a:t>}</a:t>
            </a:r>
            <a:endParaRPr kumimoji="1" lang="zh-CN" altLang="en-US" sz="2400" dirty="0">
              <a:latin typeface="Times New Roman" pitchFamily="18" charset="0"/>
            </a:endParaRPr>
          </a:p>
        </p:txBody>
      </p:sp>
      <p:sp>
        <p:nvSpPr>
          <p:cNvPr id="6" name="灯片编号占位符 1"/>
          <p:cNvSpPr>
            <a:spLocks noGrp="1"/>
          </p:cNvSpPr>
          <p:nvPr>
            <p:ph type="sldNum" sz="quarter" idx="11"/>
          </p:nvPr>
        </p:nvSpPr>
        <p:spPr>
          <a:xfrm>
            <a:off x="4943872" y="6453336"/>
            <a:ext cx="2133600" cy="457200"/>
          </a:xfrm>
        </p:spPr>
        <p:txBody>
          <a:bodyPr/>
          <a:lstStyle/>
          <a:p>
            <a:pPr>
              <a:defRPr/>
            </a:pPr>
            <a:fld id="{700C099A-6552-4724-AD39-B0EE2F003FA2}" type="slidenum">
              <a:rPr lang="en-US" altLang="zh-CN" smtClean="0"/>
              <a:pPr>
                <a:defRPr/>
              </a:pPr>
              <a:t>38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163056034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Text Box 4"/>
          <p:cNvSpPr txBox="1">
            <a:spLocks noChangeArrowheads="1"/>
          </p:cNvSpPr>
          <p:nvPr/>
        </p:nvSpPr>
        <p:spPr bwMode="auto">
          <a:xfrm>
            <a:off x="1127448" y="1484784"/>
            <a:ext cx="10081120" cy="31157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9pPr>
          </a:lstStyle>
          <a:p>
            <a:pPr algn="l" eaLnBrk="1" hangingPunct="1">
              <a:lnSpc>
                <a:spcPct val="120000"/>
              </a:lnSpc>
              <a:spcBef>
                <a:spcPct val="25000"/>
              </a:spcBef>
            </a:pPr>
            <a:r>
              <a:rPr kumimoji="1" lang="zh-CN" altLang="en-US" sz="2600" dirty="0">
                <a:latin typeface="+mn-ea"/>
                <a:ea typeface="+mn-ea"/>
              </a:rPr>
              <a:t>首先使用</a:t>
            </a:r>
            <a:r>
              <a:rPr kumimoji="1" lang="en-US" altLang="zh-CN" sz="2600" dirty="0">
                <a:latin typeface="+mn-ea"/>
                <a:ea typeface="+mn-ea"/>
              </a:rPr>
              <a:t>gcc</a:t>
            </a:r>
            <a:r>
              <a:rPr kumimoji="1" lang="zh-CN" altLang="en-US" sz="2600" dirty="0">
                <a:latin typeface="+mn-ea"/>
                <a:ea typeface="+mn-ea"/>
              </a:rPr>
              <a:t>对</a:t>
            </a:r>
            <a:r>
              <a:rPr kumimoji="1" lang="en-US" altLang="zh-CN" sz="2600" dirty="0" err="1">
                <a:latin typeface="+mn-ea"/>
                <a:ea typeface="+mn-ea"/>
              </a:rPr>
              <a:t>test.c</a:t>
            </a:r>
            <a:r>
              <a:rPr kumimoji="1" lang="zh-CN" altLang="en-US" sz="2600" dirty="0">
                <a:latin typeface="+mn-ea"/>
                <a:ea typeface="+mn-ea"/>
              </a:rPr>
              <a:t>进行编译。</a:t>
            </a:r>
          </a:p>
          <a:p>
            <a:pPr algn="l" eaLnBrk="1" hangingPunct="1">
              <a:lnSpc>
                <a:spcPct val="120000"/>
              </a:lnSpc>
              <a:spcBef>
                <a:spcPct val="25000"/>
              </a:spcBef>
            </a:pPr>
            <a:r>
              <a:rPr kumimoji="1" lang="zh-CN" altLang="en-US" sz="2600" dirty="0">
                <a:solidFill>
                  <a:srgbClr val="0000CC"/>
                </a:solidFill>
                <a:latin typeface="+mn-ea"/>
                <a:ea typeface="+mn-ea"/>
              </a:rPr>
              <a:t>注意：</a:t>
            </a:r>
            <a:r>
              <a:rPr kumimoji="1" lang="en-US" altLang="zh-CN" sz="2600" dirty="0" err="1">
                <a:latin typeface="+mn-ea"/>
                <a:ea typeface="+mn-ea"/>
              </a:rPr>
              <a:t>gdb</a:t>
            </a:r>
            <a:r>
              <a:rPr kumimoji="1" lang="zh-CN" altLang="en-US" sz="2600" dirty="0">
                <a:latin typeface="+mn-ea"/>
                <a:ea typeface="+mn-ea"/>
              </a:rPr>
              <a:t>进行调试的是</a:t>
            </a:r>
            <a:r>
              <a:rPr kumimoji="1" lang="zh-CN" altLang="en-US" sz="2600" dirty="0">
                <a:solidFill>
                  <a:srgbClr val="CC0099"/>
                </a:solidFill>
                <a:latin typeface="+mn-ea"/>
                <a:ea typeface="+mn-ea"/>
              </a:rPr>
              <a:t>可执行文件</a:t>
            </a:r>
            <a:r>
              <a:rPr kumimoji="1" lang="zh-CN" altLang="en-US" sz="2600" dirty="0">
                <a:latin typeface="+mn-ea"/>
                <a:ea typeface="+mn-ea"/>
              </a:rPr>
              <a:t>，而不是如“</a:t>
            </a:r>
            <a:r>
              <a:rPr kumimoji="1" lang="en-US" altLang="zh-CN" sz="2600" dirty="0">
                <a:latin typeface="+mn-ea"/>
                <a:ea typeface="+mn-ea"/>
              </a:rPr>
              <a:t>.c”</a:t>
            </a:r>
            <a:r>
              <a:rPr kumimoji="1" lang="zh-CN" altLang="en-US" sz="2600" dirty="0">
                <a:latin typeface="+mn-ea"/>
                <a:ea typeface="+mn-ea"/>
              </a:rPr>
              <a:t>的源代码，因此，需要先通过</a:t>
            </a:r>
            <a:r>
              <a:rPr kumimoji="1" lang="en-US" altLang="zh-CN" sz="2600" dirty="0">
                <a:latin typeface="+mn-ea"/>
                <a:ea typeface="+mn-ea"/>
              </a:rPr>
              <a:t>gcc</a:t>
            </a:r>
            <a:r>
              <a:rPr kumimoji="1" lang="zh-CN" altLang="en-US" sz="2600" dirty="0">
                <a:latin typeface="+mn-ea"/>
                <a:ea typeface="+mn-ea"/>
              </a:rPr>
              <a:t>编译生成可执行文件才能用</a:t>
            </a:r>
            <a:r>
              <a:rPr kumimoji="1" lang="en-US" altLang="zh-CN" sz="2600" dirty="0" err="1">
                <a:latin typeface="+mn-ea"/>
                <a:ea typeface="+mn-ea"/>
              </a:rPr>
              <a:t>gdb</a:t>
            </a:r>
            <a:r>
              <a:rPr kumimoji="1" lang="zh-CN" altLang="en-US" sz="2600" dirty="0">
                <a:latin typeface="+mn-ea"/>
                <a:ea typeface="+mn-ea"/>
              </a:rPr>
              <a:t>进行调试。编译时</a:t>
            </a:r>
            <a:r>
              <a:rPr kumimoji="1" lang="zh-CN" altLang="en-US" sz="2600" dirty="0">
                <a:solidFill>
                  <a:srgbClr val="CC0099"/>
                </a:solidFill>
                <a:latin typeface="+mn-ea"/>
                <a:ea typeface="+mn-ea"/>
              </a:rPr>
              <a:t>一定要加上选项“</a:t>
            </a:r>
            <a:r>
              <a:rPr kumimoji="1" lang="en-US" altLang="zh-CN" sz="2600" dirty="0">
                <a:solidFill>
                  <a:srgbClr val="CC0099"/>
                </a:solidFill>
                <a:latin typeface="+mn-ea"/>
                <a:ea typeface="+mn-ea"/>
              </a:rPr>
              <a:t>-g”</a:t>
            </a:r>
            <a:r>
              <a:rPr kumimoji="1" lang="zh-CN" altLang="en-US" sz="2600" dirty="0">
                <a:latin typeface="+mn-ea"/>
                <a:ea typeface="+mn-ea"/>
              </a:rPr>
              <a:t>，这样编译出的可执行代码中才包含调试信息，否则</a:t>
            </a:r>
            <a:r>
              <a:rPr kumimoji="1" lang="en-US" altLang="zh-CN" sz="2600" dirty="0" err="1">
                <a:latin typeface="+mn-ea"/>
                <a:ea typeface="+mn-ea"/>
              </a:rPr>
              <a:t>gdb</a:t>
            </a:r>
            <a:r>
              <a:rPr kumimoji="1" lang="zh-CN" altLang="en-US" sz="2600" dirty="0">
                <a:latin typeface="+mn-ea"/>
                <a:ea typeface="+mn-ea"/>
              </a:rPr>
              <a:t>无法载入该可执行文件。</a:t>
            </a:r>
          </a:p>
          <a:p>
            <a:pPr algn="l" eaLnBrk="1" hangingPunct="1">
              <a:lnSpc>
                <a:spcPct val="120000"/>
              </a:lnSpc>
              <a:spcBef>
                <a:spcPct val="25000"/>
              </a:spcBef>
            </a:pPr>
            <a:r>
              <a:rPr kumimoji="1" lang="zh-CN" altLang="en-US" sz="2600" dirty="0">
                <a:latin typeface="+mn-ea"/>
              </a:rPr>
              <a:t>［</a:t>
            </a:r>
            <a:r>
              <a:rPr kumimoji="1" lang="en-US" altLang="zh-CN" sz="2600" dirty="0">
                <a:latin typeface="+mn-ea"/>
              </a:rPr>
              <a:t>root@localhost </a:t>
            </a:r>
            <a:r>
              <a:rPr lang="en-US" altLang="zh-CN" sz="2400" dirty="0"/>
              <a:t>~</a:t>
            </a:r>
            <a:r>
              <a:rPr kumimoji="1" lang="zh-CN" altLang="en-US" sz="2600" dirty="0">
                <a:latin typeface="+mn-ea"/>
              </a:rPr>
              <a:t>］</a:t>
            </a:r>
            <a:r>
              <a:rPr kumimoji="1" lang="en-US" altLang="zh-CN" sz="2600" dirty="0">
                <a:latin typeface="+mn-ea"/>
              </a:rPr>
              <a:t># </a:t>
            </a:r>
            <a:r>
              <a:rPr kumimoji="1" lang="en-US" altLang="zh-CN" sz="2600" dirty="0">
                <a:solidFill>
                  <a:srgbClr val="0000CC"/>
                </a:solidFill>
                <a:latin typeface="+mn-ea"/>
                <a:ea typeface="+mn-ea"/>
              </a:rPr>
              <a:t>gcc -g test.c -o test</a:t>
            </a:r>
            <a:endParaRPr kumimoji="1" lang="en-US" altLang="zh-CN" sz="2600" dirty="0">
              <a:latin typeface="+mn-ea"/>
              <a:ea typeface="+mn-ea"/>
            </a:endParaRP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700C099A-6552-4724-AD39-B0EE2F003FA2}" type="slidenum">
              <a:rPr lang="en-US" altLang="zh-CN" smtClean="0"/>
              <a:pPr>
                <a:defRPr/>
              </a:pPr>
              <a:t>39</a:t>
            </a:fld>
            <a:endParaRPr lang="en-US" altLang="zh-CN"/>
          </a:p>
        </p:txBody>
      </p:sp>
      <p:sp>
        <p:nvSpPr>
          <p:cNvPr id="4" name="Text Box 4"/>
          <p:cNvSpPr txBox="1">
            <a:spLocks noChangeArrowheads="1"/>
          </p:cNvSpPr>
          <p:nvPr/>
        </p:nvSpPr>
        <p:spPr bwMode="auto">
          <a:xfrm>
            <a:off x="2208214" y="567085"/>
            <a:ext cx="7416178" cy="701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20000"/>
              </a:spcBef>
            </a:pPr>
            <a:r>
              <a:rPr lang="en-US" altLang="zh-CN" sz="4000" dirty="0" err="1">
                <a:latin typeface="+mj-lt"/>
                <a:ea typeface="+mj-ea"/>
                <a:cs typeface="+mj-cs"/>
              </a:rPr>
              <a:t>GDB</a:t>
            </a:r>
            <a:r>
              <a:rPr kumimoji="1" lang="zh-CN" altLang="en-US" sz="4000" dirty="0">
                <a:latin typeface="+mj-ea"/>
                <a:ea typeface="+mj-ea"/>
              </a:rPr>
              <a:t>调试器</a:t>
            </a:r>
          </a:p>
        </p:txBody>
      </p:sp>
    </p:spTree>
    <p:extLst>
      <p:ext uri="{BB962C8B-B14F-4D97-AF65-F5344CB8AC3E}">
        <p14:creationId xmlns:p14="http://schemas.microsoft.com/office/powerpoint/2010/main" val="4075089196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Text Box 4"/>
          <p:cNvSpPr txBox="1">
            <a:spLocks noChangeArrowheads="1"/>
          </p:cNvSpPr>
          <p:nvPr/>
        </p:nvSpPr>
        <p:spPr bwMode="auto">
          <a:xfrm>
            <a:off x="1847850" y="1044019"/>
            <a:ext cx="8856662" cy="4401205"/>
          </a:xfrm>
          <a:prstGeom prst="rect">
            <a:avLst/>
          </a:prstGeom>
          <a:solidFill>
            <a:srgbClr val="CCFFFF"/>
          </a:solidFill>
          <a:ln w="9525">
            <a:solidFill>
              <a:schemeClr val="bg2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9pPr>
          </a:lstStyle>
          <a:p>
            <a:pPr algn="l" eaLnBrk="1" hangingPunct="1"/>
            <a:r>
              <a:rPr kumimoji="1" lang="zh-CN" altLang="en-US" sz="2000" dirty="0">
                <a:latin typeface="+mn-ea"/>
              </a:rPr>
              <a:t>［</a:t>
            </a:r>
            <a:r>
              <a:rPr kumimoji="1" lang="en-US" altLang="zh-CN" sz="2000" dirty="0">
                <a:latin typeface="+mn-ea"/>
              </a:rPr>
              <a:t>root@localhost </a:t>
            </a:r>
            <a:r>
              <a:rPr lang="en-US" altLang="zh-CN" sz="2000" b="0" dirty="0"/>
              <a:t>~</a:t>
            </a:r>
            <a:r>
              <a:rPr lang="en-US" altLang="zh-CN" sz="2000" dirty="0"/>
              <a:t> </a:t>
            </a:r>
            <a:r>
              <a:rPr kumimoji="1" lang="zh-CN" altLang="en-US" sz="2000" dirty="0">
                <a:latin typeface="+mn-ea"/>
              </a:rPr>
              <a:t>］</a:t>
            </a:r>
            <a:r>
              <a:rPr kumimoji="1" lang="en-US" altLang="zh-CN" sz="2000" dirty="0">
                <a:latin typeface="+mn-ea"/>
              </a:rPr>
              <a:t># </a:t>
            </a:r>
            <a:r>
              <a:rPr kumimoji="1" lang="en-US" altLang="zh-CN" sz="2000" dirty="0">
                <a:latin typeface="Times New Roman" pitchFamily="18" charset="0"/>
              </a:rPr>
              <a:t>gdb test</a:t>
            </a:r>
          </a:p>
          <a:p>
            <a:pPr algn="l" eaLnBrk="1" hangingPunct="1"/>
            <a:r>
              <a:rPr kumimoji="1" lang="en-US" altLang="zh-CN" sz="2000" dirty="0">
                <a:latin typeface="Times New Roman" pitchFamily="18" charset="0"/>
              </a:rPr>
              <a:t>GNU </a:t>
            </a:r>
            <a:r>
              <a:rPr kumimoji="1" lang="en-US" altLang="zh-CN" sz="2000" dirty="0" err="1">
                <a:latin typeface="Times New Roman" pitchFamily="18" charset="0"/>
              </a:rPr>
              <a:t>gdb</a:t>
            </a:r>
            <a:r>
              <a:rPr kumimoji="1" lang="en-US" altLang="zh-CN" sz="2000" dirty="0">
                <a:latin typeface="Times New Roman" pitchFamily="18" charset="0"/>
              </a:rPr>
              <a:t> (GDB) Red Hat Enterprise Linux 7.6.1-51.el7</a:t>
            </a:r>
          </a:p>
          <a:p>
            <a:pPr algn="l" eaLnBrk="1" hangingPunct="1"/>
            <a:r>
              <a:rPr kumimoji="1" lang="en-US" altLang="zh-CN" sz="2000" dirty="0">
                <a:latin typeface="Times New Roman" pitchFamily="18" charset="0"/>
              </a:rPr>
              <a:t>Copyright (C) 2013 Free Software Foundation, Inc.</a:t>
            </a:r>
          </a:p>
          <a:p>
            <a:pPr algn="l" eaLnBrk="1" hangingPunct="1"/>
            <a:r>
              <a:rPr kumimoji="1" lang="en-US" altLang="zh-CN" sz="2000" dirty="0">
                <a:latin typeface="Times New Roman" pitchFamily="18" charset="0"/>
              </a:rPr>
              <a:t>License GPLv3+: GNU GPL version 3 or later &lt;http://gnu.org/licenses/gpl.html&gt;</a:t>
            </a:r>
          </a:p>
          <a:p>
            <a:pPr algn="l" eaLnBrk="1" hangingPunct="1"/>
            <a:r>
              <a:rPr kumimoji="1" lang="en-US" altLang="zh-CN" sz="2000" dirty="0">
                <a:latin typeface="Times New Roman" pitchFamily="18" charset="0"/>
              </a:rPr>
              <a:t>This is free software: you are free to change and redistribute it.</a:t>
            </a:r>
          </a:p>
          <a:p>
            <a:pPr algn="l" eaLnBrk="1" hangingPunct="1"/>
            <a:r>
              <a:rPr kumimoji="1" lang="en-US" altLang="zh-CN" sz="2000" dirty="0">
                <a:latin typeface="Times New Roman" pitchFamily="18" charset="0"/>
              </a:rPr>
              <a:t>There is NO WARRANTY, to the extent permitted by law.  Type "show copying"</a:t>
            </a:r>
          </a:p>
          <a:p>
            <a:pPr algn="l" eaLnBrk="1" hangingPunct="1"/>
            <a:r>
              <a:rPr kumimoji="1" lang="en-US" altLang="zh-CN" sz="2000" dirty="0">
                <a:latin typeface="Times New Roman" pitchFamily="18" charset="0"/>
              </a:rPr>
              <a:t>and "show warranty" for details.</a:t>
            </a:r>
          </a:p>
          <a:p>
            <a:pPr algn="l" eaLnBrk="1" hangingPunct="1"/>
            <a:r>
              <a:rPr kumimoji="1" lang="en-US" altLang="zh-CN" sz="2000" dirty="0">
                <a:latin typeface="Times New Roman" pitchFamily="18" charset="0"/>
              </a:rPr>
              <a:t>This GDB was configured as "x86_64-redhat-linux-gnu".</a:t>
            </a:r>
          </a:p>
          <a:p>
            <a:pPr algn="l" eaLnBrk="1" hangingPunct="1"/>
            <a:r>
              <a:rPr kumimoji="1" lang="en-US" altLang="zh-CN" sz="2000" dirty="0">
                <a:latin typeface="Times New Roman" pitchFamily="18" charset="0"/>
              </a:rPr>
              <a:t>For bug reporting instructions, please see:</a:t>
            </a:r>
          </a:p>
          <a:p>
            <a:pPr algn="l" eaLnBrk="1" hangingPunct="1"/>
            <a:r>
              <a:rPr kumimoji="1" lang="en-US" altLang="zh-CN" sz="2000" dirty="0">
                <a:latin typeface="Times New Roman" pitchFamily="18" charset="0"/>
              </a:rPr>
              <a:t>&lt;http://www.gnu.org/software/</a:t>
            </a:r>
            <a:r>
              <a:rPr kumimoji="1" lang="en-US" altLang="zh-CN" sz="2000" dirty="0" err="1">
                <a:latin typeface="Times New Roman" pitchFamily="18" charset="0"/>
              </a:rPr>
              <a:t>gdb</a:t>
            </a:r>
            <a:r>
              <a:rPr kumimoji="1" lang="en-US" altLang="zh-CN" sz="2000" dirty="0">
                <a:latin typeface="Times New Roman" pitchFamily="18" charset="0"/>
              </a:rPr>
              <a:t>/bugs/&gt;...</a:t>
            </a:r>
          </a:p>
          <a:p>
            <a:pPr algn="l" eaLnBrk="1" hangingPunct="1"/>
            <a:r>
              <a:rPr kumimoji="1" lang="en-US" altLang="zh-CN" sz="2000" dirty="0">
                <a:latin typeface="Times New Roman" pitchFamily="18" charset="0"/>
              </a:rPr>
              <a:t>Reading symbols from /root/test...done.</a:t>
            </a:r>
          </a:p>
          <a:p>
            <a:pPr algn="l" eaLnBrk="1" hangingPunct="1"/>
            <a:r>
              <a:rPr kumimoji="1" lang="en-US" altLang="zh-CN" sz="2000" dirty="0">
                <a:latin typeface="Times New Roman" pitchFamily="18" charset="0"/>
              </a:rPr>
              <a:t>(</a:t>
            </a:r>
            <a:r>
              <a:rPr kumimoji="1" lang="en-US" altLang="zh-CN" sz="2000" dirty="0" err="1">
                <a:latin typeface="Times New Roman" pitchFamily="18" charset="0"/>
              </a:rPr>
              <a:t>gdb</a:t>
            </a:r>
            <a:r>
              <a:rPr kumimoji="1" lang="en-US" altLang="zh-CN" sz="2000" dirty="0">
                <a:latin typeface="Times New Roman" pitchFamily="18" charset="0"/>
              </a:rPr>
              <a:t>) </a:t>
            </a:r>
          </a:p>
        </p:txBody>
      </p:sp>
      <p:sp>
        <p:nvSpPr>
          <p:cNvPr id="50179" name="Text Box 5"/>
          <p:cNvSpPr txBox="1">
            <a:spLocks noChangeArrowheads="1"/>
          </p:cNvSpPr>
          <p:nvPr/>
        </p:nvSpPr>
        <p:spPr bwMode="auto">
          <a:xfrm>
            <a:off x="983432" y="5421769"/>
            <a:ext cx="10153127" cy="88755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9pPr>
          </a:lstStyle>
          <a:p>
            <a:pPr algn="l" eaLnBrk="1" hangingPunct="1">
              <a:lnSpc>
                <a:spcPct val="115000"/>
              </a:lnSpc>
              <a:spcBef>
                <a:spcPct val="25000"/>
              </a:spcBef>
            </a:pPr>
            <a:r>
              <a:rPr kumimoji="1" lang="zh-CN" altLang="en-US" sz="2400" dirty="0">
                <a:latin typeface="+mn-ea"/>
                <a:ea typeface="+mn-ea"/>
              </a:rPr>
              <a:t>首先</a:t>
            </a:r>
            <a:r>
              <a:rPr kumimoji="1" lang="zh-CN" altLang="en-US" sz="2400" dirty="0">
                <a:solidFill>
                  <a:srgbClr val="0000CC"/>
                </a:solidFill>
                <a:latin typeface="+mn-ea"/>
                <a:ea typeface="+mn-ea"/>
              </a:rPr>
              <a:t>加载可执行文件</a:t>
            </a:r>
            <a:r>
              <a:rPr kumimoji="1" lang="zh-CN" altLang="en-US" sz="2400" dirty="0">
                <a:latin typeface="+mn-ea"/>
                <a:ea typeface="+mn-ea"/>
              </a:rPr>
              <a:t>，可以看出，在</a:t>
            </a:r>
            <a:r>
              <a:rPr kumimoji="1" lang="en-US" altLang="zh-CN" sz="2400" dirty="0" err="1">
                <a:latin typeface="+mn-ea"/>
                <a:ea typeface="+mn-ea"/>
              </a:rPr>
              <a:t>GDB</a:t>
            </a:r>
            <a:r>
              <a:rPr kumimoji="1" lang="zh-CN" altLang="en-US" sz="2400" dirty="0">
                <a:latin typeface="+mn-ea"/>
                <a:ea typeface="+mn-ea"/>
              </a:rPr>
              <a:t>的启动界面中显示了</a:t>
            </a:r>
            <a:r>
              <a:rPr kumimoji="1" lang="en-US" altLang="zh-CN" sz="2400" dirty="0" err="1">
                <a:latin typeface="+mn-ea"/>
                <a:ea typeface="+mn-ea"/>
              </a:rPr>
              <a:t>GDB</a:t>
            </a:r>
            <a:r>
              <a:rPr kumimoji="1" lang="zh-CN" altLang="en-US" sz="2400" dirty="0">
                <a:latin typeface="+mn-ea"/>
                <a:ea typeface="+mn-ea"/>
              </a:rPr>
              <a:t>的版本号等信息，最后进入“（</a:t>
            </a:r>
            <a:r>
              <a:rPr kumimoji="1" lang="en-US" altLang="zh-CN" sz="2400" dirty="0" err="1">
                <a:latin typeface="+mn-ea"/>
                <a:ea typeface="+mn-ea"/>
              </a:rPr>
              <a:t>gdb</a:t>
            </a:r>
            <a:r>
              <a:rPr kumimoji="1" lang="zh-CN" altLang="en-US" sz="2400" dirty="0">
                <a:latin typeface="+mn-ea"/>
                <a:ea typeface="+mn-ea"/>
              </a:rPr>
              <a:t>）”命令行调试界面。</a:t>
            </a:r>
          </a:p>
        </p:txBody>
      </p:sp>
      <p:sp>
        <p:nvSpPr>
          <p:cNvPr id="50180" name="Text Box 6"/>
          <p:cNvSpPr txBox="1">
            <a:spLocks noChangeArrowheads="1"/>
          </p:cNvSpPr>
          <p:nvPr/>
        </p:nvSpPr>
        <p:spPr bwMode="auto">
          <a:xfrm>
            <a:off x="2208214" y="528169"/>
            <a:ext cx="7704137" cy="52456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9pPr>
          </a:lstStyle>
          <a:p>
            <a:pPr eaLnBrk="1" hangingPunct="1">
              <a:lnSpc>
                <a:spcPct val="115000"/>
              </a:lnSpc>
              <a:spcBef>
                <a:spcPct val="25000"/>
              </a:spcBef>
            </a:pPr>
            <a:r>
              <a:rPr kumimoji="1" lang="zh-CN" altLang="en-US" sz="2800" dirty="0">
                <a:latin typeface="+mj-ea"/>
                <a:ea typeface="+mj-ea"/>
              </a:rPr>
              <a:t>进入</a:t>
            </a:r>
            <a:r>
              <a:rPr kumimoji="1" lang="en-US" altLang="zh-CN" sz="2800" dirty="0" err="1">
                <a:latin typeface="+mj-ea"/>
                <a:ea typeface="+mj-ea"/>
              </a:rPr>
              <a:t>GDB</a:t>
            </a:r>
            <a:r>
              <a:rPr kumimoji="1" lang="zh-CN" altLang="en-US" sz="2800" dirty="0">
                <a:latin typeface="+mj-ea"/>
                <a:ea typeface="+mj-ea"/>
              </a:rPr>
              <a:t>调试环境</a:t>
            </a:r>
          </a:p>
        </p:txBody>
      </p:sp>
    </p:spTree>
    <p:extLst>
      <p:ext uri="{BB962C8B-B14F-4D97-AF65-F5344CB8AC3E}">
        <p14:creationId xmlns:p14="http://schemas.microsoft.com/office/powerpoint/2010/main" val="1901363726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Text Box 4"/>
          <p:cNvSpPr txBox="1">
            <a:spLocks noChangeArrowheads="1"/>
          </p:cNvSpPr>
          <p:nvPr/>
        </p:nvSpPr>
        <p:spPr bwMode="auto">
          <a:xfrm>
            <a:off x="731404" y="518029"/>
            <a:ext cx="10729192" cy="105381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9pPr>
          </a:lstStyle>
          <a:p>
            <a:pPr algn="l" eaLnBrk="1" hangingPunct="1">
              <a:lnSpc>
                <a:spcPct val="115000"/>
              </a:lnSpc>
              <a:spcBef>
                <a:spcPct val="25000"/>
              </a:spcBef>
            </a:pPr>
            <a:r>
              <a:rPr kumimoji="1" lang="en-US" altLang="zh-CN" sz="2600" dirty="0">
                <a:solidFill>
                  <a:srgbClr val="CC0099"/>
                </a:solidFill>
                <a:latin typeface="+mn-ea"/>
                <a:ea typeface="+mn-ea"/>
              </a:rPr>
              <a:t>1</a:t>
            </a:r>
            <a:r>
              <a:rPr kumimoji="1" lang="zh-CN" altLang="en-US" sz="2600" dirty="0">
                <a:solidFill>
                  <a:srgbClr val="CC0099"/>
                </a:solidFill>
                <a:latin typeface="+mn-ea"/>
                <a:ea typeface="+mn-ea"/>
              </a:rPr>
              <a:t>．查看程序源文件</a:t>
            </a:r>
          </a:p>
          <a:p>
            <a:pPr algn="l" eaLnBrk="1" hangingPunct="1">
              <a:lnSpc>
                <a:spcPct val="115000"/>
              </a:lnSpc>
              <a:spcBef>
                <a:spcPct val="25000"/>
              </a:spcBef>
            </a:pPr>
            <a:r>
              <a:rPr kumimoji="1" lang="zh-CN" altLang="en-US" sz="2600" dirty="0">
                <a:latin typeface="+mn-ea"/>
                <a:ea typeface="+mn-ea"/>
              </a:rPr>
              <a:t>在</a:t>
            </a:r>
            <a:r>
              <a:rPr kumimoji="1" lang="en-US" altLang="zh-CN" sz="2600" dirty="0" err="1">
                <a:latin typeface="+mn-ea"/>
                <a:ea typeface="+mn-ea"/>
              </a:rPr>
              <a:t>GDB</a:t>
            </a:r>
            <a:r>
              <a:rPr kumimoji="1" lang="zh-CN" altLang="en-US" sz="2600" dirty="0">
                <a:latin typeface="+mn-ea"/>
                <a:ea typeface="+mn-ea"/>
              </a:rPr>
              <a:t>调试器中，查看源程序文件的调试命令是“</a:t>
            </a:r>
            <a:r>
              <a:rPr kumimoji="1" lang="en-US" altLang="zh-CN" sz="2600" dirty="0">
                <a:solidFill>
                  <a:srgbClr val="0000CC"/>
                </a:solidFill>
                <a:latin typeface="+mn-ea"/>
                <a:ea typeface="+mn-ea"/>
              </a:rPr>
              <a:t>list</a:t>
            </a:r>
            <a:r>
              <a:rPr kumimoji="1" lang="en-US" altLang="zh-CN" sz="2600" dirty="0">
                <a:latin typeface="+mn-ea"/>
                <a:ea typeface="+mn-ea"/>
              </a:rPr>
              <a:t>”</a:t>
            </a:r>
            <a:r>
              <a:rPr kumimoji="1" lang="zh-CN" altLang="en-US" sz="2600" dirty="0">
                <a:latin typeface="+mn-ea"/>
                <a:ea typeface="+mn-ea"/>
              </a:rPr>
              <a:t>，使用示例如下：</a:t>
            </a:r>
          </a:p>
        </p:txBody>
      </p:sp>
      <p:sp>
        <p:nvSpPr>
          <p:cNvPr id="51203" name="Text Box 5"/>
          <p:cNvSpPr txBox="1">
            <a:spLocks noChangeArrowheads="1"/>
          </p:cNvSpPr>
          <p:nvPr/>
        </p:nvSpPr>
        <p:spPr bwMode="auto">
          <a:xfrm>
            <a:off x="1487488" y="1843085"/>
            <a:ext cx="3168650" cy="3314700"/>
          </a:xfrm>
          <a:prstGeom prst="rect">
            <a:avLst/>
          </a:prstGeom>
          <a:solidFill>
            <a:srgbClr val="CCFFFF"/>
          </a:solidFill>
          <a:ln w="9525">
            <a:solidFill>
              <a:schemeClr val="bg2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18000" tIns="10800" rIns="18000" bIns="10800"/>
          <a:lstStyle>
            <a:lvl1pPr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9pPr>
          </a:lstStyle>
          <a:p>
            <a:pPr algn="l" eaLnBrk="1" hangingPunct="1">
              <a:lnSpc>
                <a:spcPct val="90000"/>
              </a:lnSpc>
            </a:pPr>
            <a:r>
              <a:rPr kumimoji="1" lang="en-US" altLang="zh-CN" sz="2000" dirty="0">
                <a:latin typeface="Times New Roman" pitchFamily="18" charset="0"/>
              </a:rPr>
              <a:t>(</a:t>
            </a:r>
            <a:r>
              <a:rPr kumimoji="1" lang="en-US" altLang="zh-CN" sz="2000" dirty="0" err="1">
                <a:latin typeface="Times New Roman" pitchFamily="18" charset="0"/>
              </a:rPr>
              <a:t>gdb</a:t>
            </a:r>
            <a:r>
              <a:rPr kumimoji="1" lang="en-US" altLang="zh-CN" sz="2000" dirty="0">
                <a:latin typeface="Times New Roman" pitchFamily="18" charset="0"/>
              </a:rPr>
              <a:t>) list</a:t>
            </a:r>
          </a:p>
          <a:p>
            <a:pPr algn="l" eaLnBrk="1" hangingPunct="1">
              <a:lnSpc>
                <a:spcPct val="90000"/>
              </a:lnSpc>
            </a:pPr>
            <a:r>
              <a:rPr kumimoji="1" lang="en-US" altLang="zh-CN" sz="2000" dirty="0">
                <a:latin typeface="Times New Roman" pitchFamily="18" charset="0"/>
              </a:rPr>
              <a:t>1 #include &lt;</a:t>
            </a:r>
            <a:r>
              <a:rPr kumimoji="1" lang="en-US" altLang="zh-CN" sz="2000" dirty="0" err="1">
                <a:latin typeface="Times New Roman" pitchFamily="18" charset="0"/>
              </a:rPr>
              <a:t>stdio.h</a:t>
            </a:r>
            <a:r>
              <a:rPr kumimoji="1" lang="en-US" altLang="zh-CN" sz="2000" dirty="0">
                <a:latin typeface="Times New Roman" pitchFamily="18" charset="0"/>
              </a:rPr>
              <a:t>&gt;</a:t>
            </a:r>
          </a:p>
          <a:p>
            <a:pPr algn="l" eaLnBrk="1" hangingPunct="1">
              <a:lnSpc>
                <a:spcPct val="90000"/>
              </a:lnSpc>
            </a:pPr>
            <a:r>
              <a:rPr kumimoji="1" lang="en-US" altLang="zh-CN" sz="2000" dirty="0">
                <a:latin typeface="Times New Roman" pitchFamily="18" charset="0"/>
              </a:rPr>
              <a:t>2 void sum(</a:t>
            </a:r>
            <a:r>
              <a:rPr kumimoji="1" lang="en-US" altLang="zh-CN" sz="2000" dirty="0" err="1">
                <a:latin typeface="Times New Roman" pitchFamily="18" charset="0"/>
              </a:rPr>
              <a:t>int</a:t>
            </a:r>
            <a:r>
              <a:rPr kumimoji="1" lang="en-US" altLang="zh-CN" sz="2000" dirty="0">
                <a:latin typeface="Times New Roman" pitchFamily="18" charset="0"/>
              </a:rPr>
              <a:t> m);</a:t>
            </a:r>
          </a:p>
          <a:p>
            <a:pPr algn="l" eaLnBrk="1" hangingPunct="1">
              <a:lnSpc>
                <a:spcPct val="90000"/>
              </a:lnSpc>
            </a:pPr>
            <a:r>
              <a:rPr kumimoji="1" lang="en-US" altLang="zh-CN" sz="2000" dirty="0">
                <a:latin typeface="Times New Roman" pitchFamily="18" charset="0"/>
              </a:rPr>
              <a:t>3 </a:t>
            </a:r>
            <a:r>
              <a:rPr kumimoji="1" lang="en-US" altLang="zh-CN" sz="2000" dirty="0" err="1">
                <a:latin typeface="Times New Roman" pitchFamily="18" charset="0"/>
              </a:rPr>
              <a:t>int</a:t>
            </a:r>
            <a:r>
              <a:rPr kumimoji="1" lang="en-US" altLang="zh-CN" sz="2000" dirty="0">
                <a:latin typeface="Times New Roman" pitchFamily="18" charset="0"/>
              </a:rPr>
              <a:t> main()</a:t>
            </a:r>
          </a:p>
          <a:p>
            <a:pPr algn="l" eaLnBrk="1" hangingPunct="1">
              <a:lnSpc>
                <a:spcPct val="90000"/>
              </a:lnSpc>
            </a:pPr>
            <a:r>
              <a:rPr kumimoji="1" lang="en-US" altLang="zh-CN" sz="2000" dirty="0">
                <a:latin typeface="Times New Roman" pitchFamily="18" charset="0"/>
              </a:rPr>
              <a:t>4 {</a:t>
            </a:r>
          </a:p>
          <a:p>
            <a:pPr algn="l" eaLnBrk="1" hangingPunct="1">
              <a:lnSpc>
                <a:spcPct val="90000"/>
              </a:lnSpc>
            </a:pPr>
            <a:r>
              <a:rPr kumimoji="1" lang="en-US" altLang="zh-CN" sz="2000" dirty="0">
                <a:latin typeface="Times New Roman" pitchFamily="18" charset="0"/>
              </a:rPr>
              <a:t>5 	int </a:t>
            </a:r>
            <a:r>
              <a:rPr kumimoji="1" lang="en-US" altLang="zh-CN" sz="2000" dirty="0" err="1">
                <a:latin typeface="Times New Roman" pitchFamily="18" charset="0"/>
              </a:rPr>
              <a:t>i,n</a:t>
            </a:r>
            <a:r>
              <a:rPr kumimoji="1" lang="en-US" altLang="zh-CN" sz="2000" dirty="0">
                <a:latin typeface="Times New Roman" pitchFamily="18" charset="0"/>
              </a:rPr>
              <a:t>=0;</a:t>
            </a:r>
          </a:p>
          <a:p>
            <a:pPr algn="l" eaLnBrk="1" hangingPunct="1">
              <a:lnSpc>
                <a:spcPct val="90000"/>
              </a:lnSpc>
            </a:pPr>
            <a:r>
              <a:rPr kumimoji="1" lang="en-US" altLang="zh-CN" sz="2000" dirty="0">
                <a:latin typeface="Times New Roman" pitchFamily="18" charset="0"/>
              </a:rPr>
              <a:t>6 	sum(50);</a:t>
            </a:r>
          </a:p>
          <a:p>
            <a:pPr algn="l" eaLnBrk="1" hangingPunct="1">
              <a:lnSpc>
                <a:spcPct val="90000"/>
              </a:lnSpc>
            </a:pPr>
            <a:r>
              <a:rPr kumimoji="1" lang="en-US" altLang="zh-CN" sz="2000" dirty="0">
                <a:latin typeface="Times New Roman" pitchFamily="18" charset="0"/>
              </a:rPr>
              <a:t>7 	for(i=1; i&lt;=50; i++)</a:t>
            </a:r>
          </a:p>
          <a:p>
            <a:pPr algn="l" eaLnBrk="1" hangingPunct="1">
              <a:lnSpc>
                <a:spcPct val="90000"/>
              </a:lnSpc>
            </a:pPr>
            <a:r>
              <a:rPr kumimoji="1" lang="en-US" altLang="zh-CN" sz="2000" dirty="0">
                <a:latin typeface="Times New Roman" pitchFamily="18" charset="0"/>
              </a:rPr>
              <a:t>8 	{</a:t>
            </a:r>
          </a:p>
          <a:p>
            <a:pPr algn="l" eaLnBrk="1" hangingPunct="1">
              <a:lnSpc>
                <a:spcPct val="90000"/>
              </a:lnSpc>
            </a:pPr>
            <a:r>
              <a:rPr kumimoji="1" lang="en-US" altLang="zh-CN" sz="2000" dirty="0">
                <a:latin typeface="Times New Roman" pitchFamily="18" charset="0"/>
              </a:rPr>
              <a:t>9 		n += i;</a:t>
            </a:r>
          </a:p>
          <a:p>
            <a:pPr algn="l" eaLnBrk="1" hangingPunct="1">
              <a:lnSpc>
                <a:spcPct val="90000"/>
              </a:lnSpc>
            </a:pPr>
            <a:r>
              <a:rPr kumimoji="1" lang="en-US" altLang="zh-CN" sz="2000" dirty="0">
                <a:latin typeface="Times New Roman" pitchFamily="18" charset="0"/>
              </a:rPr>
              <a:t>10 	}</a:t>
            </a:r>
          </a:p>
        </p:txBody>
      </p:sp>
      <p:sp>
        <p:nvSpPr>
          <p:cNvPr id="51204" name="Text Box 6"/>
          <p:cNvSpPr txBox="1">
            <a:spLocks noChangeArrowheads="1"/>
          </p:cNvSpPr>
          <p:nvPr/>
        </p:nvSpPr>
        <p:spPr bwMode="auto">
          <a:xfrm>
            <a:off x="4854624" y="1844672"/>
            <a:ext cx="5580063" cy="3311525"/>
          </a:xfrm>
          <a:prstGeom prst="rect">
            <a:avLst/>
          </a:prstGeom>
          <a:solidFill>
            <a:srgbClr val="CCFFFF"/>
          </a:solidFill>
          <a:ln w="9525" algn="ctr">
            <a:solidFill>
              <a:schemeClr val="bg2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18000" tIns="10800" rIns="18000" bIns="10800"/>
          <a:lstStyle>
            <a:lvl1pPr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9pPr>
          </a:lstStyle>
          <a:p>
            <a:pPr algn="l" eaLnBrk="1" hangingPunct="1">
              <a:lnSpc>
                <a:spcPct val="90000"/>
              </a:lnSpc>
            </a:pPr>
            <a:r>
              <a:rPr kumimoji="1" lang="en-US" altLang="zh-CN" sz="2000" dirty="0">
                <a:latin typeface="Times New Roman" pitchFamily="18" charset="0"/>
              </a:rPr>
              <a:t>(</a:t>
            </a:r>
            <a:r>
              <a:rPr kumimoji="1" lang="en-US" altLang="zh-CN" sz="2000" dirty="0" err="1">
                <a:latin typeface="Times New Roman" pitchFamily="18" charset="0"/>
              </a:rPr>
              <a:t>gdb</a:t>
            </a:r>
            <a:r>
              <a:rPr kumimoji="1" lang="en-US" altLang="zh-CN" sz="2000" dirty="0">
                <a:latin typeface="Times New Roman" pitchFamily="18" charset="0"/>
              </a:rPr>
              <a:t>) list</a:t>
            </a:r>
          </a:p>
          <a:p>
            <a:pPr algn="l" eaLnBrk="1" hangingPunct="1">
              <a:lnSpc>
                <a:spcPct val="90000"/>
              </a:lnSpc>
            </a:pPr>
            <a:r>
              <a:rPr kumimoji="1" lang="en-US" altLang="zh-CN" sz="2000" dirty="0">
                <a:latin typeface="Times New Roman" pitchFamily="18" charset="0"/>
              </a:rPr>
              <a:t>11 	printf("The sum of 1</a:t>
            </a:r>
            <a:r>
              <a:rPr kumimoji="1" lang="zh-CN" altLang="en-US" sz="2000" dirty="0">
                <a:latin typeface="Times New Roman" pitchFamily="18" charset="0"/>
              </a:rPr>
              <a:t>～</a:t>
            </a:r>
            <a:r>
              <a:rPr kumimoji="1" lang="en-US" altLang="zh-CN" sz="2000" dirty="0">
                <a:latin typeface="Times New Roman" pitchFamily="18" charset="0"/>
              </a:rPr>
              <a:t>50  is %d \n", n );</a:t>
            </a:r>
          </a:p>
          <a:p>
            <a:pPr algn="l" eaLnBrk="1" hangingPunct="1">
              <a:lnSpc>
                <a:spcPct val="90000"/>
              </a:lnSpc>
            </a:pPr>
            <a:r>
              <a:rPr kumimoji="1" lang="en-US" altLang="zh-CN" sz="2000" dirty="0">
                <a:latin typeface="Times New Roman" pitchFamily="18" charset="0"/>
              </a:rPr>
              <a:t>12	return</a:t>
            </a:r>
            <a:r>
              <a:rPr kumimoji="1" lang="zh-CN" altLang="en-US" sz="2000" dirty="0">
                <a:latin typeface="Times New Roman" pitchFamily="18" charset="0"/>
              </a:rPr>
              <a:t>（</a:t>
            </a:r>
            <a:r>
              <a:rPr kumimoji="1" lang="en-US" altLang="zh-CN" sz="2000" dirty="0">
                <a:latin typeface="Times New Roman" pitchFamily="18" charset="0"/>
              </a:rPr>
              <a:t>0</a:t>
            </a:r>
            <a:r>
              <a:rPr kumimoji="1" lang="zh-CN" altLang="en-US" sz="2000" dirty="0">
                <a:latin typeface="Times New Roman" pitchFamily="18" charset="0"/>
              </a:rPr>
              <a:t>）</a:t>
            </a:r>
            <a:r>
              <a:rPr kumimoji="1" lang="en-US" altLang="zh-CN" sz="2000" dirty="0">
                <a:latin typeface="Times New Roman" pitchFamily="18" charset="0"/>
              </a:rPr>
              <a:t>;</a:t>
            </a:r>
          </a:p>
          <a:p>
            <a:pPr algn="l" eaLnBrk="1" hangingPunct="1">
              <a:lnSpc>
                <a:spcPct val="90000"/>
              </a:lnSpc>
            </a:pPr>
            <a:r>
              <a:rPr kumimoji="1" lang="en-US" altLang="zh-CN" sz="2000" dirty="0">
                <a:latin typeface="Times New Roman" pitchFamily="18" charset="0"/>
              </a:rPr>
              <a:t>13 }</a:t>
            </a:r>
          </a:p>
          <a:p>
            <a:pPr algn="l" eaLnBrk="1" hangingPunct="1">
              <a:lnSpc>
                <a:spcPct val="90000"/>
              </a:lnSpc>
            </a:pPr>
            <a:r>
              <a:rPr kumimoji="1" lang="en-US" altLang="zh-CN" sz="2000" dirty="0">
                <a:latin typeface="Times New Roman" pitchFamily="18" charset="0"/>
              </a:rPr>
              <a:t>14 void sum(</a:t>
            </a:r>
            <a:r>
              <a:rPr kumimoji="1" lang="en-US" altLang="zh-CN" sz="2000" dirty="0" err="1">
                <a:latin typeface="Times New Roman" pitchFamily="18" charset="0"/>
              </a:rPr>
              <a:t>int</a:t>
            </a:r>
            <a:r>
              <a:rPr kumimoji="1" lang="en-US" altLang="zh-CN" sz="2000" dirty="0">
                <a:latin typeface="Times New Roman" pitchFamily="18" charset="0"/>
              </a:rPr>
              <a:t> m)</a:t>
            </a:r>
          </a:p>
          <a:p>
            <a:pPr algn="l" eaLnBrk="1" hangingPunct="1">
              <a:lnSpc>
                <a:spcPct val="90000"/>
              </a:lnSpc>
            </a:pPr>
            <a:r>
              <a:rPr kumimoji="1" lang="en-US" altLang="zh-CN" sz="2000" dirty="0">
                <a:latin typeface="Times New Roman" pitchFamily="18" charset="0"/>
              </a:rPr>
              <a:t>15 {</a:t>
            </a:r>
          </a:p>
          <a:p>
            <a:pPr algn="l" eaLnBrk="1" hangingPunct="1">
              <a:lnSpc>
                <a:spcPct val="90000"/>
              </a:lnSpc>
            </a:pPr>
            <a:r>
              <a:rPr kumimoji="1" lang="en-US" altLang="zh-CN" sz="2000" dirty="0">
                <a:latin typeface="Times New Roman" pitchFamily="18" charset="0"/>
              </a:rPr>
              <a:t>16 	int </a:t>
            </a:r>
            <a:r>
              <a:rPr kumimoji="1" lang="en-US" altLang="zh-CN" sz="2000" dirty="0" err="1">
                <a:latin typeface="Times New Roman" pitchFamily="18" charset="0"/>
              </a:rPr>
              <a:t>i,n</a:t>
            </a:r>
            <a:r>
              <a:rPr kumimoji="1" lang="en-US" altLang="zh-CN" sz="2000" dirty="0">
                <a:latin typeface="Times New Roman" pitchFamily="18" charset="0"/>
              </a:rPr>
              <a:t>=0;</a:t>
            </a:r>
          </a:p>
          <a:p>
            <a:pPr algn="l" eaLnBrk="1" hangingPunct="1">
              <a:lnSpc>
                <a:spcPct val="90000"/>
              </a:lnSpc>
            </a:pPr>
            <a:r>
              <a:rPr kumimoji="1" lang="en-US" altLang="zh-CN" sz="2000" dirty="0">
                <a:latin typeface="Times New Roman" pitchFamily="18" charset="0"/>
              </a:rPr>
              <a:t>17 	for(i=1; i&lt;=</a:t>
            </a:r>
            <a:r>
              <a:rPr kumimoji="1" lang="en-US" altLang="zh-CN" sz="2000" dirty="0" err="1">
                <a:latin typeface="Times New Roman" pitchFamily="18" charset="0"/>
              </a:rPr>
              <a:t>m;i</a:t>
            </a:r>
            <a:r>
              <a:rPr kumimoji="1" lang="en-US" altLang="zh-CN" sz="2000" dirty="0">
                <a:latin typeface="Times New Roman" pitchFamily="18" charset="0"/>
              </a:rPr>
              <a:t>++) n += i;</a:t>
            </a:r>
          </a:p>
          <a:p>
            <a:pPr algn="l" eaLnBrk="1" hangingPunct="1">
              <a:lnSpc>
                <a:spcPct val="90000"/>
              </a:lnSpc>
            </a:pPr>
            <a:r>
              <a:rPr kumimoji="1" lang="en-US" altLang="zh-CN" sz="2000" dirty="0">
                <a:latin typeface="Times New Roman" pitchFamily="18" charset="0"/>
              </a:rPr>
              <a:t>18 	printf("The sum of  1</a:t>
            </a:r>
            <a:r>
              <a:rPr kumimoji="1" lang="zh-CN" altLang="en-US" sz="2000" dirty="0">
                <a:latin typeface="Times New Roman" pitchFamily="18" charset="0"/>
              </a:rPr>
              <a:t>～</a:t>
            </a:r>
            <a:r>
              <a:rPr kumimoji="1" lang="en-US" altLang="zh-CN" sz="2000" dirty="0">
                <a:latin typeface="Times New Roman" pitchFamily="18" charset="0"/>
              </a:rPr>
              <a:t>m is = %d\n", n);</a:t>
            </a:r>
          </a:p>
          <a:p>
            <a:pPr algn="l" eaLnBrk="1" hangingPunct="1">
              <a:lnSpc>
                <a:spcPct val="90000"/>
              </a:lnSpc>
            </a:pPr>
            <a:r>
              <a:rPr kumimoji="1" lang="en-US" altLang="zh-CN" sz="2000" dirty="0">
                <a:latin typeface="Times New Roman" pitchFamily="18" charset="0"/>
              </a:rPr>
              <a:t>19 }</a:t>
            </a:r>
          </a:p>
          <a:p>
            <a:pPr algn="l" eaLnBrk="1" hangingPunct="1">
              <a:lnSpc>
                <a:spcPct val="90000"/>
              </a:lnSpc>
            </a:pPr>
            <a:r>
              <a:rPr kumimoji="1" lang="zh-CN" altLang="en-US" sz="2000" dirty="0">
                <a:latin typeface="Times New Roman" pitchFamily="18" charset="0"/>
              </a:rPr>
              <a:t>（</a:t>
            </a:r>
            <a:r>
              <a:rPr kumimoji="1" lang="en-US" altLang="zh-CN" sz="2000" dirty="0" err="1">
                <a:latin typeface="Times New Roman" pitchFamily="18" charset="0"/>
              </a:rPr>
              <a:t>gdb</a:t>
            </a:r>
            <a:r>
              <a:rPr kumimoji="1" lang="en-US" altLang="zh-CN" sz="2000" dirty="0">
                <a:latin typeface="Times New Roman" pitchFamily="18" charset="0"/>
              </a:rPr>
              <a:t>)</a:t>
            </a:r>
            <a:endParaRPr kumimoji="1" lang="zh-CN" altLang="en-US" sz="2000" dirty="0">
              <a:latin typeface="Times New Roman" pitchFamily="18" charset="0"/>
            </a:endParaRPr>
          </a:p>
        </p:txBody>
      </p:sp>
      <p:sp>
        <p:nvSpPr>
          <p:cNvPr id="51205" name="Rectangle 7"/>
          <p:cNvSpPr>
            <a:spLocks noChangeArrowheads="1"/>
          </p:cNvSpPr>
          <p:nvPr/>
        </p:nvSpPr>
        <p:spPr bwMode="auto">
          <a:xfrm>
            <a:off x="1055440" y="5301208"/>
            <a:ext cx="10081120" cy="88755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9pPr>
          </a:lstStyle>
          <a:p>
            <a:pPr algn="l" eaLnBrk="1" hangingPunct="1">
              <a:lnSpc>
                <a:spcPct val="115000"/>
              </a:lnSpc>
              <a:spcBef>
                <a:spcPct val="25000"/>
              </a:spcBef>
            </a:pPr>
            <a:r>
              <a:rPr kumimoji="1" lang="zh-CN" altLang="en-US" sz="2400" dirty="0">
                <a:solidFill>
                  <a:srgbClr val="0000CC"/>
                </a:solidFill>
                <a:latin typeface="+mn-ea"/>
                <a:ea typeface="+mn-ea"/>
              </a:rPr>
              <a:t>说明：</a:t>
            </a:r>
            <a:r>
              <a:rPr kumimoji="1" lang="zh-CN" altLang="en-US" sz="2400" dirty="0">
                <a:latin typeface="+mn-ea"/>
                <a:ea typeface="+mn-ea"/>
              </a:rPr>
              <a:t>每次执行</a:t>
            </a:r>
            <a:r>
              <a:rPr kumimoji="1" lang="en-US" altLang="zh-CN" sz="2400" dirty="0">
                <a:latin typeface="+mn-ea"/>
                <a:ea typeface="+mn-ea"/>
              </a:rPr>
              <a:t>list</a:t>
            </a:r>
            <a:r>
              <a:rPr kumimoji="1" lang="zh-CN" altLang="en-US" sz="2400" dirty="0">
                <a:latin typeface="+mn-ea"/>
                <a:ea typeface="+mn-ea"/>
              </a:rPr>
              <a:t>命令只显示</a:t>
            </a:r>
            <a:r>
              <a:rPr kumimoji="1" lang="en-US" altLang="zh-CN" sz="2400" dirty="0">
                <a:latin typeface="+mn-ea"/>
                <a:ea typeface="+mn-ea"/>
              </a:rPr>
              <a:t>10</a:t>
            </a:r>
            <a:r>
              <a:rPr kumimoji="1" lang="zh-CN" altLang="en-US" sz="2400" dirty="0">
                <a:latin typeface="+mn-ea"/>
                <a:ea typeface="+mn-ea"/>
              </a:rPr>
              <a:t>行源程序文件，如果程序超过</a:t>
            </a:r>
            <a:r>
              <a:rPr kumimoji="1" lang="en-US" altLang="zh-CN" sz="2400" dirty="0">
                <a:latin typeface="+mn-ea"/>
                <a:ea typeface="+mn-ea"/>
              </a:rPr>
              <a:t>10</a:t>
            </a:r>
            <a:r>
              <a:rPr kumimoji="1" lang="zh-CN" altLang="en-US" sz="2400" dirty="0">
                <a:latin typeface="+mn-ea"/>
                <a:ea typeface="+mn-ea"/>
              </a:rPr>
              <a:t>行，则可继续使用</a:t>
            </a:r>
            <a:r>
              <a:rPr kumimoji="1" lang="en-US" altLang="zh-CN" sz="2400" dirty="0">
                <a:latin typeface="+mn-ea"/>
                <a:ea typeface="+mn-ea"/>
              </a:rPr>
              <a:t>list</a:t>
            </a:r>
            <a:r>
              <a:rPr kumimoji="1" lang="zh-CN" altLang="en-US" sz="2400" dirty="0">
                <a:latin typeface="+mn-ea"/>
                <a:ea typeface="+mn-ea"/>
              </a:rPr>
              <a:t>命令接着显示程序后面的代码。</a:t>
            </a: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700C099A-6552-4724-AD39-B0EE2F003FA2}" type="slidenum">
              <a:rPr lang="en-US" altLang="zh-CN" smtClean="0"/>
              <a:pPr>
                <a:defRPr/>
              </a:pPr>
              <a:t>41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272555923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Text Box 4"/>
          <p:cNvSpPr txBox="1">
            <a:spLocks noChangeArrowheads="1"/>
          </p:cNvSpPr>
          <p:nvPr/>
        </p:nvSpPr>
        <p:spPr bwMode="auto">
          <a:xfrm>
            <a:off x="1055440" y="1268760"/>
            <a:ext cx="10081120" cy="40934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9pPr>
          </a:lstStyle>
          <a:p>
            <a:pPr algn="l" eaLnBrk="1" hangingPunct="1">
              <a:spcBef>
                <a:spcPct val="25000"/>
              </a:spcBef>
            </a:pPr>
            <a:r>
              <a:rPr kumimoji="1" lang="en-US" altLang="zh-CN" sz="2600" dirty="0">
                <a:solidFill>
                  <a:srgbClr val="CC0099"/>
                </a:solidFill>
                <a:latin typeface="+mn-ea"/>
                <a:ea typeface="+mn-ea"/>
              </a:rPr>
              <a:t>2</a:t>
            </a:r>
            <a:r>
              <a:rPr kumimoji="1" lang="zh-CN" altLang="en-US" sz="2600" dirty="0">
                <a:solidFill>
                  <a:srgbClr val="CC0099"/>
                </a:solidFill>
                <a:latin typeface="+mn-ea"/>
                <a:ea typeface="+mn-ea"/>
              </a:rPr>
              <a:t>．设置断点</a:t>
            </a:r>
          </a:p>
          <a:p>
            <a:pPr marL="342900" indent="-342900" algn="l" eaLnBrk="1" hangingPunct="1">
              <a:spcBef>
                <a:spcPct val="25000"/>
              </a:spcBef>
              <a:buClr>
                <a:srgbClr val="002060"/>
              </a:buClr>
              <a:buSzPct val="80000"/>
              <a:buFont typeface="Wingdings" pitchFamily="2" charset="2"/>
              <a:buChar char="l"/>
            </a:pPr>
            <a:r>
              <a:rPr kumimoji="1" lang="zh-CN" altLang="en-US" sz="2600" dirty="0">
                <a:latin typeface="+mn-ea"/>
                <a:ea typeface="+mn-ea"/>
              </a:rPr>
              <a:t>设置断点是使程序执行到一定位置时暂停运行，程序员在该位置可以方便地查看变量的值、堆栈情况等，从而找出代码的错误所在。</a:t>
            </a:r>
            <a:endParaRPr kumimoji="1" lang="en-US" altLang="zh-CN" sz="2600" dirty="0">
              <a:latin typeface="+mn-ea"/>
              <a:ea typeface="+mn-ea"/>
            </a:endParaRPr>
          </a:p>
          <a:p>
            <a:pPr algn="l" eaLnBrk="1" hangingPunct="1">
              <a:spcBef>
                <a:spcPct val="25000"/>
              </a:spcBef>
              <a:buClr>
                <a:srgbClr val="002060"/>
              </a:buClr>
              <a:buSzPct val="80000"/>
            </a:pPr>
            <a:r>
              <a:rPr kumimoji="1" lang="zh-CN" altLang="en-US" sz="2600" dirty="0">
                <a:solidFill>
                  <a:srgbClr val="0000CC"/>
                </a:solidFill>
                <a:latin typeface="+mn-ea"/>
                <a:ea typeface="+mn-ea"/>
              </a:rPr>
              <a:t>  设置断点命令：</a:t>
            </a:r>
            <a:endParaRPr kumimoji="1" lang="en-US" altLang="zh-CN" sz="2600" dirty="0">
              <a:solidFill>
                <a:srgbClr val="0000CC"/>
              </a:solidFill>
              <a:latin typeface="+mn-ea"/>
              <a:ea typeface="+mn-ea"/>
            </a:endParaRPr>
          </a:p>
          <a:p>
            <a:pPr algn="l" eaLnBrk="1" hangingPunct="1">
              <a:spcBef>
                <a:spcPct val="25000"/>
              </a:spcBef>
              <a:buClr>
                <a:srgbClr val="002060"/>
              </a:buClr>
              <a:buSzPct val="80000"/>
            </a:pPr>
            <a:r>
              <a:rPr kumimoji="1" lang="en-US" altLang="zh-CN" sz="2600" dirty="0">
                <a:solidFill>
                  <a:srgbClr val="0000CC"/>
                </a:solidFill>
                <a:latin typeface="+mn-ea"/>
                <a:ea typeface="+mn-ea"/>
              </a:rPr>
              <a:t>  break </a:t>
            </a:r>
            <a:r>
              <a:rPr kumimoji="1" lang="zh-CN" altLang="en-US" sz="2600" dirty="0">
                <a:solidFill>
                  <a:srgbClr val="0000CC"/>
                </a:solidFill>
                <a:latin typeface="+mn-ea"/>
                <a:ea typeface="+mn-ea"/>
              </a:rPr>
              <a:t>行号或函数名</a:t>
            </a:r>
            <a:endParaRPr kumimoji="1" lang="en-US" altLang="zh-CN" sz="2600" dirty="0">
              <a:solidFill>
                <a:srgbClr val="0000CC"/>
              </a:solidFill>
              <a:latin typeface="+mn-ea"/>
              <a:ea typeface="+mn-ea"/>
            </a:endParaRPr>
          </a:p>
          <a:p>
            <a:pPr marL="342900" indent="-342900" algn="l" eaLnBrk="1" hangingPunct="1">
              <a:spcBef>
                <a:spcPct val="25000"/>
              </a:spcBef>
              <a:buClr>
                <a:srgbClr val="002060"/>
              </a:buClr>
              <a:buSzPct val="80000"/>
              <a:buFont typeface="Wingdings" pitchFamily="2" charset="2"/>
              <a:buChar char="l"/>
            </a:pPr>
            <a:r>
              <a:rPr kumimoji="1" lang="zh-CN" altLang="en-US" sz="2600" dirty="0">
                <a:solidFill>
                  <a:srgbClr val="0000CC"/>
                </a:solidFill>
                <a:latin typeface="+mn-ea"/>
                <a:ea typeface="+mn-ea"/>
              </a:rPr>
              <a:t>注意：</a:t>
            </a:r>
            <a:r>
              <a:rPr kumimoji="1" lang="zh-CN" altLang="en-US" sz="2600" dirty="0">
                <a:latin typeface="+mn-ea"/>
                <a:ea typeface="+mn-ea"/>
              </a:rPr>
              <a:t>在</a:t>
            </a:r>
            <a:r>
              <a:rPr kumimoji="1" lang="en-US" altLang="zh-CN" sz="2600" dirty="0" err="1">
                <a:latin typeface="+mn-ea"/>
                <a:ea typeface="+mn-ea"/>
              </a:rPr>
              <a:t>gdb</a:t>
            </a:r>
            <a:r>
              <a:rPr kumimoji="1" lang="zh-CN" altLang="en-US" sz="2600" dirty="0">
                <a:latin typeface="+mn-ea"/>
                <a:ea typeface="+mn-ea"/>
              </a:rPr>
              <a:t>中利用行号设置断点是指代码运行到</a:t>
            </a:r>
            <a:r>
              <a:rPr kumimoji="1" lang="zh-CN" altLang="en-US" sz="2600" dirty="0">
                <a:solidFill>
                  <a:srgbClr val="CC0099"/>
                </a:solidFill>
                <a:latin typeface="+mn-ea"/>
                <a:ea typeface="+mn-ea"/>
              </a:rPr>
              <a:t>对应行之前</a:t>
            </a:r>
            <a:r>
              <a:rPr kumimoji="1" lang="zh-CN" altLang="en-US" sz="2600" dirty="0">
                <a:latin typeface="+mn-ea"/>
                <a:ea typeface="+mn-ea"/>
              </a:rPr>
              <a:t>将其停止，如果设置的是函数名则在该</a:t>
            </a:r>
            <a:r>
              <a:rPr kumimoji="1" lang="zh-CN" altLang="en-US" sz="2600" dirty="0">
                <a:solidFill>
                  <a:srgbClr val="CC0099"/>
                </a:solidFill>
                <a:latin typeface="+mn-ea"/>
                <a:ea typeface="+mn-ea"/>
              </a:rPr>
              <a:t>函数的第一个可执行语句</a:t>
            </a:r>
            <a:r>
              <a:rPr kumimoji="1" lang="zh-CN" altLang="en-US" sz="2600" dirty="0">
                <a:latin typeface="+mn-ea"/>
                <a:ea typeface="+mn-ea"/>
              </a:rPr>
              <a:t>处。命令完成后将返回断点的编号供后续操作引用。</a:t>
            </a: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700C099A-6552-4724-AD39-B0EE2F003FA2}" type="slidenum">
              <a:rPr lang="en-US" altLang="zh-CN" smtClean="0"/>
              <a:pPr>
                <a:defRPr/>
              </a:pPr>
              <a:t>42</a:t>
            </a:fld>
            <a:endParaRPr lang="en-US" altLang="zh-CN"/>
          </a:p>
        </p:txBody>
      </p:sp>
      <p:sp>
        <p:nvSpPr>
          <p:cNvPr id="4" name="Text Box 6"/>
          <p:cNvSpPr txBox="1">
            <a:spLocks noChangeArrowheads="1"/>
          </p:cNvSpPr>
          <p:nvPr/>
        </p:nvSpPr>
        <p:spPr bwMode="auto">
          <a:xfrm>
            <a:off x="2207568" y="598781"/>
            <a:ext cx="7776864" cy="54188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9pPr>
          </a:lstStyle>
          <a:p>
            <a:pPr eaLnBrk="1" hangingPunct="1">
              <a:lnSpc>
                <a:spcPct val="115000"/>
              </a:lnSpc>
              <a:spcBef>
                <a:spcPct val="25000"/>
              </a:spcBef>
            </a:pPr>
            <a:r>
              <a:rPr kumimoji="1" lang="zh-CN" altLang="en-US" sz="2800" dirty="0">
                <a:latin typeface="+mj-ea"/>
                <a:ea typeface="+mj-ea"/>
              </a:rPr>
              <a:t>进入</a:t>
            </a:r>
            <a:r>
              <a:rPr kumimoji="1" lang="en-US" altLang="zh-CN" sz="2800" dirty="0" err="1">
                <a:latin typeface="+mn-lt"/>
                <a:ea typeface="+mj-ea"/>
              </a:rPr>
              <a:t>GDB</a:t>
            </a:r>
            <a:r>
              <a:rPr kumimoji="1" lang="zh-CN" altLang="en-US" sz="2800" dirty="0">
                <a:latin typeface="+mj-ea"/>
                <a:ea typeface="+mj-ea"/>
              </a:rPr>
              <a:t>调试环境</a:t>
            </a:r>
          </a:p>
        </p:txBody>
      </p:sp>
    </p:spTree>
    <p:extLst>
      <p:ext uri="{BB962C8B-B14F-4D97-AF65-F5344CB8AC3E}">
        <p14:creationId xmlns:p14="http://schemas.microsoft.com/office/powerpoint/2010/main" val="3793371867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Text Box 4"/>
          <p:cNvSpPr txBox="1">
            <a:spLocks noChangeArrowheads="1"/>
          </p:cNvSpPr>
          <p:nvPr/>
        </p:nvSpPr>
        <p:spPr bwMode="auto">
          <a:xfrm>
            <a:off x="1487488" y="1628800"/>
            <a:ext cx="9649072" cy="259301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9pPr>
          </a:lstStyle>
          <a:p>
            <a:pPr algn="l" eaLnBrk="1" hangingPunct="1">
              <a:spcBef>
                <a:spcPct val="25000"/>
              </a:spcBef>
              <a:buClr>
                <a:srgbClr val="002060"/>
              </a:buClr>
              <a:buSzPct val="80000"/>
            </a:pPr>
            <a:r>
              <a:rPr kumimoji="1" lang="zh-CN" altLang="en-US" sz="2600" dirty="0">
                <a:latin typeface="+mn-ea"/>
                <a:ea typeface="+mn-ea"/>
              </a:rPr>
              <a:t>本例中：</a:t>
            </a:r>
          </a:p>
          <a:p>
            <a:pPr algn="l" eaLnBrk="1" hangingPunct="1">
              <a:lnSpc>
                <a:spcPct val="120000"/>
              </a:lnSpc>
              <a:spcBef>
                <a:spcPct val="30000"/>
              </a:spcBef>
            </a:pPr>
            <a:r>
              <a:rPr kumimoji="1" lang="en-US" altLang="zh-CN" sz="2600" dirty="0">
                <a:latin typeface="+mn-ea"/>
                <a:ea typeface="+mn-ea"/>
              </a:rPr>
              <a:t>(gdb) </a:t>
            </a:r>
            <a:r>
              <a:rPr kumimoji="1" lang="en-US" altLang="zh-CN" sz="2400" dirty="0">
                <a:solidFill>
                  <a:srgbClr val="0000CC"/>
                </a:solidFill>
                <a:latin typeface="+mn-lt"/>
                <a:ea typeface="+mn-ea"/>
              </a:rPr>
              <a:t>break 6</a:t>
            </a:r>
          </a:p>
          <a:p>
            <a:pPr algn="l" eaLnBrk="1" hangingPunct="1">
              <a:spcBef>
                <a:spcPct val="25000"/>
              </a:spcBef>
            </a:pPr>
            <a:r>
              <a:rPr kumimoji="1" lang="en-US" altLang="zh-CN" sz="2600" dirty="0">
                <a:latin typeface="+mn-ea"/>
                <a:ea typeface="+mn-ea"/>
              </a:rPr>
              <a:t>Breakpoint 1 at 0x8048384: file test.c, line 6. </a:t>
            </a:r>
          </a:p>
          <a:p>
            <a:pPr algn="l" eaLnBrk="1" hangingPunct="1">
              <a:spcBef>
                <a:spcPct val="25000"/>
              </a:spcBef>
            </a:pPr>
            <a:endParaRPr kumimoji="1" lang="en-US" altLang="zh-CN" sz="2600" dirty="0">
              <a:latin typeface="+mn-ea"/>
              <a:ea typeface="+mn-ea"/>
            </a:endParaRPr>
          </a:p>
          <a:p>
            <a:pPr algn="l" eaLnBrk="1" hangingPunct="1">
              <a:spcBef>
                <a:spcPct val="25000"/>
              </a:spcBef>
            </a:pPr>
            <a:r>
              <a:rPr kumimoji="1" lang="zh-CN" altLang="en-US" sz="2600" dirty="0">
                <a:latin typeface="+mn-ea"/>
                <a:ea typeface="+mn-ea"/>
              </a:rPr>
              <a:t>代码运行到第</a:t>
            </a:r>
            <a:r>
              <a:rPr kumimoji="1" lang="en-US" altLang="zh-CN" sz="2600" dirty="0">
                <a:latin typeface="+mn-ea"/>
                <a:ea typeface="+mn-ea"/>
              </a:rPr>
              <a:t>5</a:t>
            </a:r>
            <a:r>
              <a:rPr kumimoji="1" lang="zh-CN" altLang="en-US" sz="2600" dirty="0">
                <a:latin typeface="+mn-ea"/>
                <a:ea typeface="+mn-ea"/>
              </a:rPr>
              <a:t>行之后暂停（并没有运行第</a:t>
            </a:r>
            <a:r>
              <a:rPr kumimoji="1" lang="en-US" altLang="zh-CN" sz="2600" dirty="0">
                <a:latin typeface="+mn-ea"/>
                <a:ea typeface="+mn-ea"/>
              </a:rPr>
              <a:t>6 </a:t>
            </a:r>
            <a:r>
              <a:rPr kumimoji="1" lang="zh-CN" altLang="en-US" sz="2600" dirty="0">
                <a:latin typeface="+mn-ea"/>
                <a:ea typeface="+mn-ea"/>
              </a:rPr>
              <a:t>行）。</a:t>
            </a: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700C099A-6552-4724-AD39-B0EE2F003FA2}" type="slidenum">
              <a:rPr lang="en-US" altLang="zh-CN" smtClean="0"/>
              <a:pPr>
                <a:defRPr/>
              </a:pPr>
              <a:t>43</a:t>
            </a:fld>
            <a:endParaRPr lang="en-US" altLang="zh-CN"/>
          </a:p>
        </p:txBody>
      </p:sp>
      <p:sp>
        <p:nvSpPr>
          <p:cNvPr id="4" name="Text Box 6"/>
          <p:cNvSpPr txBox="1">
            <a:spLocks noChangeArrowheads="1"/>
          </p:cNvSpPr>
          <p:nvPr/>
        </p:nvSpPr>
        <p:spPr bwMode="auto">
          <a:xfrm>
            <a:off x="2279576" y="598328"/>
            <a:ext cx="7488832" cy="54188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9pPr>
          </a:lstStyle>
          <a:p>
            <a:pPr eaLnBrk="1" hangingPunct="1">
              <a:lnSpc>
                <a:spcPct val="115000"/>
              </a:lnSpc>
              <a:spcBef>
                <a:spcPct val="25000"/>
              </a:spcBef>
            </a:pPr>
            <a:r>
              <a:rPr kumimoji="1" lang="zh-CN" altLang="en-US" sz="2800" dirty="0">
                <a:latin typeface="+mj-ea"/>
                <a:ea typeface="+mj-ea"/>
              </a:rPr>
              <a:t>进入</a:t>
            </a:r>
            <a:r>
              <a:rPr kumimoji="1" lang="en-US" altLang="zh-CN" sz="2800" dirty="0">
                <a:latin typeface="+mn-lt"/>
                <a:ea typeface="+mj-ea"/>
              </a:rPr>
              <a:t>GDB</a:t>
            </a:r>
            <a:r>
              <a:rPr kumimoji="1" lang="zh-CN" altLang="en-US" sz="2800" dirty="0">
                <a:latin typeface="+mj-ea"/>
                <a:ea typeface="+mj-ea"/>
              </a:rPr>
              <a:t>调试环境</a:t>
            </a:r>
          </a:p>
        </p:txBody>
      </p:sp>
    </p:spTree>
    <p:extLst>
      <p:ext uri="{BB962C8B-B14F-4D97-AF65-F5344CB8AC3E}">
        <p14:creationId xmlns:p14="http://schemas.microsoft.com/office/powerpoint/2010/main" val="1879240043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Text Box 4"/>
          <p:cNvSpPr txBox="1">
            <a:spLocks noChangeArrowheads="1"/>
          </p:cNvSpPr>
          <p:nvPr/>
        </p:nvSpPr>
        <p:spPr bwMode="auto">
          <a:xfrm>
            <a:off x="1199456" y="1407065"/>
            <a:ext cx="10009112" cy="389414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9pPr>
          </a:lstStyle>
          <a:p>
            <a:pPr algn="l" eaLnBrk="1" hangingPunct="1">
              <a:lnSpc>
                <a:spcPct val="115000"/>
              </a:lnSpc>
              <a:spcBef>
                <a:spcPct val="25000"/>
              </a:spcBef>
            </a:pPr>
            <a:r>
              <a:rPr kumimoji="1" lang="en-US" altLang="zh-CN" sz="2600" dirty="0">
                <a:solidFill>
                  <a:srgbClr val="CC0099"/>
                </a:solidFill>
                <a:latin typeface="+mn-ea"/>
                <a:ea typeface="+mn-ea"/>
              </a:rPr>
              <a:t>3</a:t>
            </a:r>
            <a:r>
              <a:rPr kumimoji="1" lang="zh-CN" altLang="en-US" sz="2600" dirty="0">
                <a:solidFill>
                  <a:srgbClr val="CC0099"/>
                </a:solidFill>
                <a:latin typeface="+mn-ea"/>
                <a:ea typeface="+mn-ea"/>
              </a:rPr>
              <a:t>．查看断点设置情况</a:t>
            </a:r>
            <a:r>
              <a:rPr kumimoji="1" lang="zh-CN" altLang="en-US" sz="2600" dirty="0">
                <a:latin typeface="+mn-ea"/>
                <a:ea typeface="+mn-ea"/>
              </a:rPr>
              <a:t>。</a:t>
            </a:r>
            <a:endParaRPr kumimoji="1" lang="en-US" altLang="zh-CN" sz="2600" dirty="0">
              <a:latin typeface="+mn-ea"/>
              <a:ea typeface="+mn-ea"/>
            </a:endParaRPr>
          </a:p>
          <a:p>
            <a:pPr algn="l" eaLnBrk="1" hangingPunct="1">
              <a:lnSpc>
                <a:spcPct val="115000"/>
              </a:lnSpc>
              <a:spcBef>
                <a:spcPct val="25000"/>
              </a:spcBef>
            </a:pPr>
            <a:r>
              <a:rPr kumimoji="1" lang="zh-CN" altLang="en-US" sz="2600" dirty="0">
                <a:latin typeface="+mn-ea"/>
                <a:ea typeface="+mn-ea"/>
              </a:rPr>
              <a:t>在设置完断点之后，可以</a:t>
            </a:r>
            <a:r>
              <a:rPr kumimoji="1" lang="zh-CN" altLang="en-US" sz="2600" dirty="0">
                <a:solidFill>
                  <a:srgbClr val="0000CC"/>
                </a:solidFill>
                <a:latin typeface="+mn-ea"/>
                <a:ea typeface="+mn-ea"/>
              </a:rPr>
              <a:t>查看设置断点的情况</a:t>
            </a:r>
            <a:endParaRPr kumimoji="1" lang="en-US" altLang="zh-CN" sz="2600" dirty="0">
              <a:solidFill>
                <a:srgbClr val="0000CC"/>
              </a:solidFill>
              <a:latin typeface="+mn-ea"/>
              <a:ea typeface="+mn-ea"/>
            </a:endParaRPr>
          </a:p>
          <a:p>
            <a:pPr algn="l" eaLnBrk="1" hangingPunct="1">
              <a:lnSpc>
                <a:spcPct val="120000"/>
              </a:lnSpc>
              <a:spcBef>
                <a:spcPct val="30000"/>
              </a:spcBef>
            </a:pPr>
            <a:r>
              <a:rPr kumimoji="1" lang="zh-CN" altLang="en-US" sz="2600" dirty="0">
                <a:latin typeface="+mn-ea"/>
                <a:ea typeface="+mn-ea"/>
              </a:rPr>
              <a:t>查看断点命令：</a:t>
            </a:r>
            <a:r>
              <a:rPr kumimoji="1" lang="en-US" altLang="zh-CN" sz="2400" dirty="0">
                <a:solidFill>
                  <a:srgbClr val="0000CC"/>
                </a:solidFill>
                <a:latin typeface="+mn-lt"/>
                <a:ea typeface="+mn-ea"/>
              </a:rPr>
              <a:t>info break</a:t>
            </a:r>
          </a:p>
          <a:p>
            <a:pPr algn="l" eaLnBrk="1" hangingPunct="1">
              <a:lnSpc>
                <a:spcPct val="115000"/>
              </a:lnSpc>
              <a:spcBef>
                <a:spcPct val="25000"/>
              </a:spcBef>
            </a:pPr>
            <a:r>
              <a:rPr kumimoji="1" lang="zh-CN" altLang="en-US" sz="2600" dirty="0">
                <a:latin typeface="+mn-ea"/>
                <a:ea typeface="+mn-ea"/>
              </a:rPr>
              <a:t>本例中：</a:t>
            </a:r>
          </a:p>
          <a:p>
            <a:pPr algn="l" eaLnBrk="1" hangingPunct="1">
              <a:lnSpc>
                <a:spcPct val="120000"/>
              </a:lnSpc>
              <a:spcBef>
                <a:spcPct val="30000"/>
              </a:spcBef>
            </a:pPr>
            <a:r>
              <a:rPr kumimoji="1" lang="en-US" altLang="zh-CN" sz="2400" dirty="0">
                <a:latin typeface="+mn-lt"/>
                <a:ea typeface="+mn-ea"/>
              </a:rPr>
              <a:t>(</a:t>
            </a:r>
            <a:r>
              <a:rPr kumimoji="1" lang="en-US" altLang="zh-CN" sz="2400" dirty="0" err="1">
                <a:latin typeface="+mn-lt"/>
                <a:ea typeface="+mn-ea"/>
              </a:rPr>
              <a:t>gdb</a:t>
            </a:r>
            <a:r>
              <a:rPr kumimoji="1" lang="en-US" altLang="zh-CN" sz="2400" dirty="0">
                <a:latin typeface="+mn-lt"/>
                <a:ea typeface="+mn-ea"/>
              </a:rPr>
              <a:t>) </a:t>
            </a:r>
            <a:r>
              <a:rPr kumimoji="1" lang="en-US" altLang="zh-CN" sz="2400" dirty="0">
                <a:solidFill>
                  <a:srgbClr val="0000CC"/>
                </a:solidFill>
                <a:latin typeface="+mn-lt"/>
                <a:ea typeface="+mn-ea"/>
              </a:rPr>
              <a:t>info break</a:t>
            </a:r>
          </a:p>
          <a:p>
            <a:pPr algn="l" eaLnBrk="1" hangingPunct="1">
              <a:lnSpc>
                <a:spcPct val="120000"/>
              </a:lnSpc>
              <a:spcBef>
                <a:spcPct val="30000"/>
              </a:spcBef>
            </a:pPr>
            <a:r>
              <a:rPr kumimoji="1" lang="en-US" altLang="zh-CN" sz="2400" dirty="0">
                <a:latin typeface="+mn-lt"/>
                <a:ea typeface="+mn-ea"/>
              </a:rPr>
              <a:t>Num  Type      Disp  Enb  Address          What</a:t>
            </a:r>
          </a:p>
          <a:p>
            <a:pPr algn="l" eaLnBrk="1" hangingPunct="1">
              <a:lnSpc>
                <a:spcPct val="120000"/>
              </a:lnSpc>
              <a:spcBef>
                <a:spcPct val="30000"/>
              </a:spcBef>
            </a:pPr>
            <a:r>
              <a:rPr kumimoji="1" lang="en-US" altLang="zh-CN" sz="2400" dirty="0">
                <a:latin typeface="+mn-lt"/>
                <a:ea typeface="+mn-ea"/>
              </a:rPr>
              <a:t>1  breakpoint  keep   y     0x0804833f     in main at test.c:6</a:t>
            </a:r>
            <a:endParaRPr kumimoji="1" lang="zh-CN" altLang="en-US" sz="2400" dirty="0">
              <a:latin typeface="+mn-lt"/>
              <a:ea typeface="+mn-ea"/>
            </a:endParaRP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700C099A-6552-4724-AD39-B0EE2F003FA2}" type="slidenum">
              <a:rPr lang="en-US" altLang="zh-CN" smtClean="0"/>
              <a:pPr>
                <a:defRPr/>
              </a:pPr>
              <a:t>44</a:t>
            </a:fld>
            <a:endParaRPr lang="en-US" altLang="zh-CN"/>
          </a:p>
        </p:txBody>
      </p:sp>
      <p:sp>
        <p:nvSpPr>
          <p:cNvPr id="4" name="Text Box 4"/>
          <p:cNvSpPr txBox="1">
            <a:spLocks noChangeArrowheads="1"/>
          </p:cNvSpPr>
          <p:nvPr/>
        </p:nvSpPr>
        <p:spPr bwMode="auto">
          <a:xfrm>
            <a:off x="2279576" y="598328"/>
            <a:ext cx="7992888" cy="701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20000"/>
              </a:spcBef>
            </a:pPr>
            <a:r>
              <a:rPr kumimoji="1" lang="en-US" altLang="zh-CN" sz="4000" dirty="0" err="1">
                <a:latin typeface="+mn-lt"/>
                <a:ea typeface="+mj-ea"/>
              </a:rPr>
              <a:t>GDB</a:t>
            </a:r>
            <a:r>
              <a:rPr kumimoji="1" lang="zh-CN" altLang="en-US" sz="4000" dirty="0">
                <a:latin typeface="+mj-ea"/>
                <a:ea typeface="+mj-ea"/>
              </a:rPr>
              <a:t>调试器</a:t>
            </a:r>
          </a:p>
        </p:txBody>
      </p:sp>
    </p:spTree>
    <p:extLst>
      <p:ext uri="{BB962C8B-B14F-4D97-AF65-F5344CB8AC3E}">
        <p14:creationId xmlns:p14="http://schemas.microsoft.com/office/powerpoint/2010/main" val="1059318626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Text Box 5"/>
          <p:cNvSpPr txBox="1">
            <a:spLocks noChangeArrowheads="1"/>
          </p:cNvSpPr>
          <p:nvPr/>
        </p:nvSpPr>
        <p:spPr bwMode="auto">
          <a:xfrm>
            <a:off x="1199456" y="1315645"/>
            <a:ext cx="10009112" cy="4993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9pPr>
          </a:lstStyle>
          <a:p>
            <a:pPr algn="l" eaLnBrk="1" hangingPunct="1">
              <a:spcBef>
                <a:spcPct val="25000"/>
              </a:spcBef>
            </a:pPr>
            <a:r>
              <a:rPr kumimoji="1" lang="en-US" altLang="zh-CN" sz="2600" dirty="0">
                <a:solidFill>
                  <a:srgbClr val="CC0099"/>
                </a:solidFill>
                <a:latin typeface="+mn-ea"/>
                <a:ea typeface="+mn-ea"/>
              </a:rPr>
              <a:t>4</a:t>
            </a:r>
            <a:r>
              <a:rPr kumimoji="1" lang="zh-CN" altLang="en-US" sz="2600" dirty="0">
                <a:solidFill>
                  <a:srgbClr val="CC0099"/>
                </a:solidFill>
                <a:latin typeface="+mn-ea"/>
                <a:ea typeface="+mn-ea"/>
              </a:rPr>
              <a:t>．运行程序</a:t>
            </a:r>
          </a:p>
          <a:p>
            <a:pPr algn="l" eaLnBrk="1" hangingPunct="1">
              <a:spcBef>
                <a:spcPct val="25000"/>
              </a:spcBef>
            </a:pPr>
            <a:r>
              <a:rPr kumimoji="1" lang="zh-CN" altLang="en-US" sz="2600" dirty="0">
                <a:latin typeface="+mn-ea"/>
                <a:ea typeface="+mn-ea"/>
              </a:rPr>
              <a:t>接下来就可运行程序了，</a:t>
            </a:r>
            <a:r>
              <a:rPr kumimoji="1" lang="en-US" altLang="zh-CN" sz="2600" dirty="0" err="1">
                <a:latin typeface="+mn-ea"/>
                <a:ea typeface="+mn-ea"/>
              </a:rPr>
              <a:t>gdb</a:t>
            </a:r>
            <a:r>
              <a:rPr kumimoji="1" lang="zh-CN" altLang="en-US" sz="2600" dirty="0">
                <a:latin typeface="+mn-ea"/>
                <a:ea typeface="+mn-ea"/>
              </a:rPr>
              <a:t>默认从首行开始运行程序，</a:t>
            </a:r>
            <a:endParaRPr kumimoji="1" lang="en-US" altLang="zh-CN" sz="2600" dirty="0">
              <a:latin typeface="+mn-ea"/>
              <a:ea typeface="+mn-ea"/>
            </a:endParaRPr>
          </a:p>
          <a:p>
            <a:pPr algn="l" eaLnBrk="1" hangingPunct="1">
              <a:spcBef>
                <a:spcPct val="25000"/>
              </a:spcBef>
            </a:pPr>
            <a:r>
              <a:rPr kumimoji="1" lang="zh-CN" altLang="en-US" sz="2600" dirty="0">
                <a:latin typeface="+mn-ea"/>
                <a:ea typeface="+mn-ea"/>
              </a:rPr>
              <a:t>运行程序的命令为“</a:t>
            </a:r>
            <a:r>
              <a:rPr kumimoji="1" lang="en-US" altLang="zh-CN" sz="2600" dirty="0">
                <a:solidFill>
                  <a:srgbClr val="CC0099"/>
                </a:solidFill>
                <a:latin typeface="+mn-ea"/>
                <a:ea typeface="+mn-ea"/>
              </a:rPr>
              <a:t>run [</a:t>
            </a:r>
            <a:r>
              <a:rPr kumimoji="1" lang="zh-CN" altLang="en-US" sz="2600" dirty="0">
                <a:solidFill>
                  <a:srgbClr val="CC0099"/>
                </a:solidFill>
                <a:latin typeface="+mn-ea"/>
                <a:ea typeface="+mn-ea"/>
              </a:rPr>
              <a:t>行号</a:t>
            </a:r>
            <a:r>
              <a:rPr kumimoji="1" lang="en-US" altLang="zh-CN" sz="2600" dirty="0">
                <a:solidFill>
                  <a:srgbClr val="CC0099"/>
                </a:solidFill>
                <a:latin typeface="+mn-ea"/>
                <a:ea typeface="+mn-ea"/>
              </a:rPr>
              <a:t>]</a:t>
            </a:r>
            <a:r>
              <a:rPr kumimoji="1" lang="en-US" altLang="zh-CN" sz="2600" dirty="0">
                <a:latin typeface="+mn-ea"/>
                <a:ea typeface="+mn-ea"/>
              </a:rPr>
              <a:t>”</a:t>
            </a:r>
            <a:r>
              <a:rPr kumimoji="1" lang="zh-CN" altLang="en-US" sz="2600" dirty="0">
                <a:latin typeface="+mn-ea"/>
                <a:ea typeface="+mn-ea"/>
              </a:rPr>
              <a:t>，若想从程序中</a:t>
            </a:r>
            <a:r>
              <a:rPr kumimoji="1" lang="zh-CN" altLang="en-US" sz="2600" dirty="0">
                <a:solidFill>
                  <a:srgbClr val="CC0099"/>
                </a:solidFill>
                <a:latin typeface="+mn-ea"/>
                <a:ea typeface="+mn-ea"/>
              </a:rPr>
              <a:t>指定行开始运行</a:t>
            </a:r>
            <a:r>
              <a:rPr kumimoji="1" lang="zh-CN" altLang="en-US" sz="2600" dirty="0">
                <a:latin typeface="+mn-ea"/>
                <a:ea typeface="+mn-ea"/>
              </a:rPr>
              <a:t>，可</a:t>
            </a:r>
            <a:r>
              <a:rPr kumimoji="1" lang="zh-CN" altLang="en-US" sz="2600" dirty="0">
                <a:solidFill>
                  <a:srgbClr val="CC0099"/>
                </a:solidFill>
                <a:latin typeface="+mn-ea"/>
                <a:ea typeface="+mn-ea"/>
              </a:rPr>
              <a:t>在</a:t>
            </a:r>
            <a:r>
              <a:rPr kumimoji="1" lang="en-US" altLang="zh-CN" sz="2600" dirty="0">
                <a:solidFill>
                  <a:srgbClr val="CC0099"/>
                </a:solidFill>
                <a:latin typeface="+mn-ea"/>
                <a:ea typeface="+mn-ea"/>
              </a:rPr>
              <a:t>run</a:t>
            </a:r>
            <a:r>
              <a:rPr kumimoji="1" lang="zh-CN" altLang="en-US" sz="2600" dirty="0">
                <a:solidFill>
                  <a:srgbClr val="CC0099"/>
                </a:solidFill>
                <a:latin typeface="+mn-ea"/>
                <a:ea typeface="+mn-ea"/>
              </a:rPr>
              <a:t>后面加上行号</a:t>
            </a:r>
            <a:r>
              <a:rPr kumimoji="1" lang="zh-CN" altLang="en-US" sz="2600" dirty="0">
                <a:latin typeface="+mn-ea"/>
                <a:ea typeface="+mn-ea"/>
              </a:rPr>
              <a:t>。</a:t>
            </a:r>
          </a:p>
          <a:p>
            <a:pPr algn="l" eaLnBrk="1" hangingPunct="1">
              <a:lnSpc>
                <a:spcPct val="120000"/>
              </a:lnSpc>
              <a:spcBef>
                <a:spcPct val="30000"/>
              </a:spcBef>
            </a:pPr>
            <a:r>
              <a:rPr kumimoji="1" lang="en-US" altLang="zh-CN" sz="2600" dirty="0">
                <a:latin typeface="+mn-ea"/>
                <a:ea typeface="+mn-ea"/>
              </a:rPr>
              <a:t>(gdb) </a:t>
            </a:r>
            <a:r>
              <a:rPr kumimoji="1" lang="en-US" altLang="zh-CN" sz="2400" dirty="0">
                <a:solidFill>
                  <a:srgbClr val="0000CC"/>
                </a:solidFill>
                <a:latin typeface="+mn-lt"/>
                <a:ea typeface="+mn-ea"/>
              </a:rPr>
              <a:t>run</a:t>
            </a:r>
          </a:p>
          <a:p>
            <a:pPr algn="l" eaLnBrk="1" hangingPunct="1">
              <a:spcBef>
                <a:spcPct val="25000"/>
              </a:spcBef>
            </a:pPr>
            <a:r>
              <a:rPr kumimoji="1" lang="en-US" altLang="zh-CN" sz="2600" dirty="0">
                <a:latin typeface="+mn-ea"/>
                <a:ea typeface="+mn-ea"/>
              </a:rPr>
              <a:t>Starting program: /root/test</a:t>
            </a:r>
          </a:p>
          <a:p>
            <a:pPr algn="l" eaLnBrk="1" hangingPunct="1">
              <a:spcBef>
                <a:spcPct val="25000"/>
              </a:spcBef>
            </a:pPr>
            <a:endParaRPr kumimoji="1" lang="en-US" altLang="zh-CN" sz="2600" dirty="0">
              <a:latin typeface="+mn-ea"/>
              <a:ea typeface="+mn-ea"/>
            </a:endParaRPr>
          </a:p>
          <a:p>
            <a:pPr algn="l" eaLnBrk="1" hangingPunct="1">
              <a:spcBef>
                <a:spcPct val="25000"/>
              </a:spcBef>
            </a:pPr>
            <a:r>
              <a:rPr kumimoji="1" lang="en-US" altLang="zh-CN" sz="2600" dirty="0">
                <a:latin typeface="+mn-ea"/>
                <a:ea typeface="+mn-ea"/>
              </a:rPr>
              <a:t>Breakpoint 1, main () at </a:t>
            </a:r>
            <a:r>
              <a:rPr kumimoji="1" lang="en-US" altLang="zh-CN" sz="2600" dirty="0" err="1">
                <a:latin typeface="+mn-ea"/>
                <a:ea typeface="+mn-ea"/>
              </a:rPr>
              <a:t>test.c:6</a:t>
            </a:r>
            <a:endParaRPr kumimoji="1" lang="en-US" altLang="zh-CN" sz="2600" dirty="0">
              <a:latin typeface="+mn-ea"/>
              <a:ea typeface="+mn-ea"/>
            </a:endParaRPr>
          </a:p>
          <a:p>
            <a:pPr algn="l" eaLnBrk="1" hangingPunct="1">
              <a:spcBef>
                <a:spcPct val="25000"/>
              </a:spcBef>
            </a:pPr>
            <a:r>
              <a:rPr kumimoji="1" lang="en-US" altLang="zh-CN" sz="2600" dirty="0">
                <a:latin typeface="+mn-ea"/>
                <a:ea typeface="+mn-ea"/>
              </a:rPr>
              <a:t>6 sum(50);</a:t>
            </a:r>
          </a:p>
          <a:p>
            <a:pPr algn="l" eaLnBrk="1" hangingPunct="1">
              <a:spcBef>
                <a:spcPct val="25000"/>
              </a:spcBef>
            </a:pPr>
            <a:r>
              <a:rPr kumimoji="1" lang="zh-CN" altLang="en-US" sz="2600" dirty="0">
                <a:solidFill>
                  <a:srgbClr val="0000CC"/>
                </a:solidFill>
                <a:latin typeface="+mn-ea"/>
                <a:ea typeface="+mn-ea"/>
              </a:rPr>
              <a:t>注意：</a:t>
            </a:r>
            <a:r>
              <a:rPr kumimoji="1" lang="zh-CN" altLang="en-US" sz="2600" dirty="0">
                <a:latin typeface="+mn-ea"/>
                <a:ea typeface="+mn-ea"/>
              </a:rPr>
              <a:t>程序运行到断点处就停止了。</a:t>
            </a:r>
          </a:p>
        </p:txBody>
      </p:sp>
      <p:sp>
        <p:nvSpPr>
          <p:cNvPr id="3" name="Text Box 4"/>
          <p:cNvSpPr txBox="1">
            <a:spLocks noChangeArrowheads="1"/>
          </p:cNvSpPr>
          <p:nvPr/>
        </p:nvSpPr>
        <p:spPr bwMode="auto">
          <a:xfrm>
            <a:off x="2207568" y="548680"/>
            <a:ext cx="8346120" cy="701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20000"/>
              </a:spcBef>
            </a:pPr>
            <a:r>
              <a:rPr kumimoji="1" lang="en-US" altLang="zh-CN" sz="4000" dirty="0" err="1">
                <a:latin typeface="+mn-lt"/>
                <a:ea typeface="+mj-ea"/>
              </a:rPr>
              <a:t>GDB</a:t>
            </a:r>
            <a:r>
              <a:rPr kumimoji="1" lang="zh-CN" altLang="en-US" sz="4000" dirty="0">
                <a:latin typeface="+mj-ea"/>
                <a:ea typeface="+mj-ea"/>
              </a:rPr>
              <a:t>调试器</a:t>
            </a:r>
          </a:p>
        </p:txBody>
      </p:sp>
      <p:sp>
        <p:nvSpPr>
          <p:cNvPr id="4" name="灯片编号占位符 1"/>
          <p:cNvSpPr>
            <a:spLocks noGrp="1"/>
          </p:cNvSpPr>
          <p:nvPr>
            <p:ph type="sldNum" sz="quarter" idx="11"/>
          </p:nvPr>
        </p:nvSpPr>
        <p:spPr>
          <a:xfrm>
            <a:off x="5053013" y="6240463"/>
            <a:ext cx="2133600" cy="457200"/>
          </a:xfrm>
        </p:spPr>
        <p:txBody>
          <a:bodyPr/>
          <a:lstStyle/>
          <a:p>
            <a:pPr>
              <a:defRPr/>
            </a:pPr>
            <a:fld id="{700C099A-6552-4724-AD39-B0EE2F003FA2}" type="slidenum">
              <a:rPr lang="en-US" altLang="zh-CN" smtClean="0"/>
              <a:pPr>
                <a:defRPr/>
              </a:pPr>
              <a:t>45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174577893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Text Box 4"/>
          <p:cNvSpPr txBox="1">
            <a:spLocks noChangeArrowheads="1"/>
          </p:cNvSpPr>
          <p:nvPr/>
        </p:nvSpPr>
        <p:spPr bwMode="auto">
          <a:xfrm>
            <a:off x="1127448" y="1350518"/>
            <a:ext cx="10009111" cy="445474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9pPr>
          </a:lstStyle>
          <a:p>
            <a:pPr algn="l" eaLnBrk="1" hangingPunct="1">
              <a:spcBef>
                <a:spcPct val="25000"/>
              </a:spcBef>
            </a:pPr>
            <a:r>
              <a:rPr kumimoji="1" lang="en-US" altLang="zh-CN" sz="2600" dirty="0">
                <a:solidFill>
                  <a:srgbClr val="CC0099"/>
                </a:solidFill>
                <a:latin typeface="+mn-ea"/>
                <a:ea typeface="+mn-ea"/>
              </a:rPr>
              <a:t>5</a:t>
            </a:r>
            <a:r>
              <a:rPr kumimoji="1" lang="zh-CN" altLang="en-US" sz="2600" dirty="0">
                <a:solidFill>
                  <a:srgbClr val="CC0099"/>
                </a:solidFill>
                <a:latin typeface="+mn-ea"/>
                <a:ea typeface="+mn-ea"/>
              </a:rPr>
              <a:t>．查看变量值</a:t>
            </a:r>
          </a:p>
          <a:p>
            <a:pPr algn="l" eaLnBrk="1" hangingPunct="1">
              <a:spcBef>
                <a:spcPct val="25000"/>
              </a:spcBef>
            </a:pPr>
            <a:r>
              <a:rPr kumimoji="1" lang="zh-CN" altLang="en-US" sz="2600" dirty="0">
                <a:latin typeface="+mn-ea"/>
                <a:ea typeface="+mn-ea"/>
              </a:rPr>
              <a:t>在程序停止运行之后，程序员所要做的工作是查看断点处的相关变量值。显示变量的值的命令：</a:t>
            </a:r>
            <a:endParaRPr kumimoji="1" lang="en-US" altLang="zh-CN" sz="2600" dirty="0">
              <a:latin typeface="+mn-ea"/>
              <a:ea typeface="+mn-ea"/>
            </a:endParaRPr>
          </a:p>
          <a:p>
            <a:pPr algn="l" eaLnBrk="1" hangingPunct="1">
              <a:spcBef>
                <a:spcPct val="25000"/>
              </a:spcBef>
            </a:pPr>
            <a:r>
              <a:rPr kumimoji="1" lang="en-US" altLang="zh-CN" sz="2400" dirty="0">
                <a:solidFill>
                  <a:srgbClr val="0000CC"/>
                </a:solidFill>
                <a:latin typeface="+mn-lt"/>
                <a:ea typeface="+mn-ea"/>
              </a:rPr>
              <a:t>print</a:t>
            </a:r>
            <a:r>
              <a:rPr kumimoji="1" lang="en-US" altLang="zh-CN" sz="2600" dirty="0">
                <a:solidFill>
                  <a:srgbClr val="0000CC"/>
                </a:solidFill>
                <a:latin typeface="+mn-ea"/>
                <a:ea typeface="+mn-ea"/>
              </a:rPr>
              <a:t>   </a:t>
            </a:r>
            <a:r>
              <a:rPr kumimoji="1" lang="zh-CN" altLang="en-US" sz="2600" dirty="0">
                <a:solidFill>
                  <a:srgbClr val="0000CC"/>
                </a:solidFill>
                <a:latin typeface="+mn-ea"/>
                <a:ea typeface="+mn-ea"/>
              </a:rPr>
              <a:t>表达式</a:t>
            </a:r>
            <a:endParaRPr kumimoji="1" lang="en-US" altLang="zh-CN" sz="2600" dirty="0">
              <a:solidFill>
                <a:srgbClr val="0000CC"/>
              </a:solidFill>
              <a:latin typeface="+mn-ea"/>
              <a:ea typeface="+mn-ea"/>
            </a:endParaRPr>
          </a:p>
          <a:p>
            <a:pPr algn="l" eaLnBrk="1" hangingPunct="1">
              <a:spcBef>
                <a:spcPct val="25000"/>
              </a:spcBef>
            </a:pPr>
            <a:r>
              <a:rPr kumimoji="1" lang="zh-CN" altLang="en-US" sz="2600" dirty="0">
                <a:latin typeface="+mn-ea"/>
                <a:ea typeface="+mn-ea"/>
              </a:rPr>
              <a:t>该命令显示出指定表达式（包括变量）的值，并将值存放在临时变量</a:t>
            </a:r>
            <a:r>
              <a:rPr kumimoji="1" lang="en-US" altLang="zh-CN" sz="2600" dirty="0">
                <a:latin typeface="+mn-ea"/>
                <a:ea typeface="+mn-ea"/>
              </a:rPr>
              <a:t>$i</a:t>
            </a:r>
            <a:r>
              <a:rPr kumimoji="1" lang="zh-CN" altLang="en-US" sz="2600" dirty="0">
                <a:latin typeface="+mn-ea"/>
                <a:ea typeface="+mn-ea"/>
              </a:rPr>
              <a:t>中供后续操作使用。</a:t>
            </a:r>
            <a:r>
              <a:rPr kumimoji="1" lang="en-US" altLang="zh-CN" sz="2600" dirty="0">
                <a:latin typeface="+mn-ea"/>
                <a:ea typeface="+mn-ea"/>
              </a:rPr>
              <a:t>i</a:t>
            </a:r>
            <a:r>
              <a:rPr kumimoji="1" lang="zh-CN" altLang="en-US" sz="2600" dirty="0">
                <a:latin typeface="+mn-ea"/>
                <a:ea typeface="+mn-ea"/>
              </a:rPr>
              <a:t>序号由</a:t>
            </a:r>
            <a:r>
              <a:rPr kumimoji="1" lang="en-US" altLang="zh-CN" sz="2600" dirty="0">
                <a:latin typeface="+mn-ea"/>
                <a:ea typeface="+mn-ea"/>
              </a:rPr>
              <a:t>1</a:t>
            </a:r>
            <a:r>
              <a:rPr kumimoji="1" lang="zh-CN" altLang="en-US" sz="2600" dirty="0">
                <a:latin typeface="+mn-ea"/>
                <a:ea typeface="+mn-ea"/>
              </a:rPr>
              <a:t>开始顺序递增。</a:t>
            </a:r>
            <a:endParaRPr kumimoji="1" lang="en-US" altLang="zh-CN" sz="2600" dirty="0">
              <a:latin typeface="+mn-ea"/>
              <a:ea typeface="+mn-ea"/>
            </a:endParaRPr>
          </a:p>
          <a:p>
            <a:pPr algn="l" eaLnBrk="1" hangingPunct="1">
              <a:lnSpc>
                <a:spcPct val="115000"/>
              </a:lnSpc>
              <a:spcBef>
                <a:spcPct val="25000"/>
              </a:spcBef>
            </a:pPr>
            <a:r>
              <a:rPr kumimoji="1" lang="zh-CN" altLang="en-US" sz="2600" dirty="0">
                <a:latin typeface="+mn-ea"/>
                <a:ea typeface="+mn-ea"/>
              </a:rPr>
              <a:t>本例中：</a:t>
            </a:r>
          </a:p>
          <a:p>
            <a:pPr algn="l" eaLnBrk="1" hangingPunct="1">
              <a:lnSpc>
                <a:spcPct val="120000"/>
              </a:lnSpc>
              <a:spcBef>
                <a:spcPct val="30000"/>
              </a:spcBef>
            </a:pPr>
            <a:r>
              <a:rPr kumimoji="1" lang="en-US" altLang="zh-CN" sz="2600" dirty="0">
                <a:latin typeface="+mn-ea"/>
                <a:ea typeface="+mn-ea"/>
              </a:rPr>
              <a:t>(gdb) </a:t>
            </a:r>
            <a:r>
              <a:rPr kumimoji="1" lang="en-US" altLang="zh-CN" sz="2400" dirty="0">
                <a:solidFill>
                  <a:srgbClr val="0000CC"/>
                </a:solidFill>
                <a:latin typeface="+mn-lt"/>
                <a:ea typeface="+mn-ea"/>
              </a:rPr>
              <a:t>print  n</a:t>
            </a:r>
          </a:p>
          <a:p>
            <a:pPr algn="l" eaLnBrk="1" hangingPunct="1">
              <a:lnSpc>
                <a:spcPct val="115000"/>
              </a:lnSpc>
              <a:spcBef>
                <a:spcPct val="25000"/>
              </a:spcBef>
            </a:pPr>
            <a:r>
              <a:rPr kumimoji="1" lang="en-US" altLang="zh-CN" sz="2600" dirty="0">
                <a:latin typeface="+mn-ea"/>
                <a:ea typeface="+mn-ea"/>
              </a:rPr>
              <a:t>$1 = 0</a:t>
            </a:r>
            <a:endParaRPr kumimoji="1" lang="en-US" altLang="zh-CN" sz="2400" dirty="0">
              <a:latin typeface="+mn-ea"/>
              <a:ea typeface="+mn-ea"/>
            </a:endParaRPr>
          </a:p>
        </p:txBody>
      </p:sp>
      <p:sp>
        <p:nvSpPr>
          <p:cNvPr id="5" name="Text Box 4"/>
          <p:cNvSpPr txBox="1">
            <a:spLocks noChangeArrowheads="1"/>
          </p:cNvSpPr>
          <p:nvPr/>
        </p:nvSpPr>
        <p:spPr bwMode="auto">
          <a:xfrm>
            <a:off x="2279576" y="464640"/>
            <a:ext cx="7920880" cy="701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20000"/>
              </a:spcBef>
            </a:pPr>
            <a:r>
              <a:rPr kumimoji="1" lang="en-US" altLang="zh-CN" sz="4000" dirty="0" err="1">
                <a:latin typeface="+mn-lt"/>
                <a:ea typeface="+mj-ea"/>
              </a:rPr>
              <a:t>GDB</a:t>
            </a:r>
            <a:r>
              <a:rPr kumimoji="1" lang="zh-CN" altLang="en-US" sz="4000" dirty="0">
                <a:latin typeface="+mj-ea"/>
                <a:ea typeface="+mj-ea"/>
              </a:rPr>
              <a:t>调试器</a:t>
            </a:r>
          </a:p>
        </p:txBody>
      </p:sp>
      <p:sp>
        <p:nvSpPr>
          <p:cNvPr id="4" name="灯片编号占位符 2"/>
          <p:cNvSpPr>
            <a:spLocks noGrp="1"/>
          </p:cNvSpPr>
          <p:nvPr>
            <p:ph type="sldNum" sz="quarter" idx="11"/>
          </p:nvPr>
        </p:nvSpPr>
        <p:spPr>
          <a:xfrm>
            <a:off x="5186536" y="6356176"/>
            <a:ext cx="2133600" cy="457200"/>
          </a:xfrm>
        </p:spPr>
        <p:txBody>
          <a:bodyPr/>
          <a:lstStyle/>
          <a:p>
            <a:pPr>
              <a:defRPr/>
            </a:pPr>
            <a:fld id="{700C099A-6552-4724-AD39-B0EE2F003FA2}" type="slidenum">
              <a:rPr lang="en-US" altLang="zh-CN" smtClean="0"/>
              <a:pPr>
                <a:defRPr/>
              </a:pPr>
              <a:t>46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557659182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Text Box 4"/>
          <p:cNvSpPr txBox="1">
            <a:spLocks noChangeArrowheads="1"/>
          </p:cNvSpPr>
          <p:nvPr/>
        </p:nvSpPr>
        <p:spPr bwMode="auto">
          <a:xfrm>
            <a:off x="1199456" y="1205479"/>
            <a:ext cx="9937104" cy="459978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9pPr>
          </a:lstStyle>
          <a:p>
            <a:pPr algn="l" eaLnBrk="1" hangingPunct="1">
              <a:lnSpc>
                <a:spcPct val="150000"/>
              </a:lnSpc>
              <a:spcBef>
                <a:spcPct val="25000"/>
              </a:spcBef>
            </a:pPr>
            <a:r>
              <a:rPr kumimoji="1" lang="en-US" altLang="zh-CN" sz="2600" dirty="0">
                <a:solidFill>
                  <a:srgbClr val="CC0099"/>
                </a:solidFill>
                <a:latin typeface="+mn-ea"/>
                <a:ea typeface="+mn-ea"/>
              </a:rPr>
              <a:t>6</a:t>
            </a:r>
            <a:r>
              <a:rPr kumimoji="1" lang="zh-CN" altLang="en-US" sz="2600" dirty="0">
                <a:solidFill>
                  <a:srgbClr val="CC0099"/>
                </a:solidFill>
                <a:latin typeface="+mn-ea"/>
                <a:ea typeface="+mn-ea"/>
              </a:rPr>
              <a:t>．单步运行命令：</a:t>
            </a:r>
            <a:endParaRPr kumimoji="1" lang="en-US" altLang="zh-CN" sz="2600" dirty="0">
              <a:solidFill>
                <a:srgbClr val="CC0099"/>
              </a:solidFill>
              <a:latin typeface="+mn-ea"/>
              <a:ea typeface="+mn-ea"/>
            </a:endParaRPr>
          </a:p>
          <a:p>
            <a:pPr algn="l" eaLnBrk="1" hangingPunct="1">
              <a:lnSpc>
                <a:spcPct val="150000"/>
              </a:lnSpc>
              <a:spcBef>
                <a:spcPct val="20000"/>
              </a:spcBef>
            </a:pPr>
            <a:r>
              <a:rPr kumimoji="1" lang="en-US" altLang="zh-CN" sz="2600" dirty="0">
                <a:solidFill>
                  <a:srgbClr val="CC0099"/>
                </a:solidFill>
                <a:latin typeface="+mn-ea"/>
                <a:ea typeface="+mn-ea"/>
              </a:rPr>
              <a:t>   </a:t>
            </a:r>
            <a:r>
              <a:rPr kumimoji="1" lang="en-US" altLang="zh-CN" sz="2400" dirty="0">
                <a:solidFill>
                  <a:srgbClr val="0000CC"/>
                </a:solidFill>
                <a:latin typeface="+mn-lt"/>
                <a:ea typeface="+mn-ea"/>
              </a:rPr>
              <a:t>next</a:t>
            </a:r>
            <a:r>
              <a:rPr kumimoji="1" lang="en-US" altLang="zh-CN" sz="2600" dirty="0">
                <a:solidFill>
                  <a:srgbClr val="0000CC"/>
                </a:solidFill>
                <a:latin typeface="+mn-ea"/>
                <a:ea typeface="+mn-ea"/>
              </a:rPr>
              <a:t> [</a:t>
            </a:r>
            <a:r>
              <a:rPr kumimoji="1" lang="zh-CN" altLang="en-US" sz="2600" dirty="0">
                <a:solidFill>
                  <a:srgbClr val="0000CC"/>
                </a:solidFill>
                <a:latin typeface="+mn-ea"/>
                <a:ea typeface="+mn-ea"/>
              </a:rPr>
              <a:t>行数</a:t>
            </a:r>
            <a:r>
              <a:rPr kumimoji="1" lang="en-US" altLang="zh-CN" sz="2600" dirty="0">
                <a:solidFill>
                  <a:srgbClr val="0000CC"/>
                </a:solidFill>
                <a:latin typeface="+mn-ea"/>
                <a:ea typeface="+mn-ea"/>
              </a:rPr>
              <a:t>]</a:t>
            </a:r>
          </a:p>
          <a:p>
            <a:pPr algn="l" eaLnBrk="1" hangingPunct="1">
              <a:lnSpc>
                <a:spcPct val="150000"/>
              </a:lnSpc>
              <a:spcBef>
                <a:spcPct val="20000"/>
              </a:spcBef>
            </a:pPr>
            <a:r>
              <a:rPr kumimoji="1" lang="zh-CN" altLang="en-US" sz="2600" dirty="0">
                <a:latin typeface="+mn-ea"/>
                <a:ea typeface="+mn-ea"/>
              </a:rPr>
              <a:t>或 </a:t>
            </a:r>
            <a:endParaRPr kumimoji="1" lang="en-US" altLang="zh-CN" sz="2600" dirty="0">
              <a:latin typeface="+mn-ea"/>
              <a:ea typeface="+mn-ea"/>
            </a:endParaRPr>
          </a:p>
          <a:p>
            <a:pPr algn="l" eaLnBrk="1" hangingPunct="1">
              <a:lnSpc>
                <a:spcPct val="150000"/>
              </a:lnSpc>
              <a:spcBef>
                <a:spcPct val="20000"/>
              </a:spcBef>
            </a:pPr>
            <a:r>
              <a:rPr kumimoji="1" lang="en-US" altLang="zh-CN" sz="2600" dirty="0">
                <a:latin typeface="+mn-ea"/>
                <a:ea typeface="+mn-ea"/>
              </a:rPr>
              <a:t>  </a:t>
            </a:r>
            <a:r>
              <a:rPr kumimoji="1" lang="zh-CN" altLang="en-US" sz="2600" dirty="0">
                <a:latin typeface="+mn-ea"/>
                <a:ea typeface="+mn-ea"/>
              </a:rPr>
              <a:t> </a:t>
            </a:r>
            <a:r>
              <a:rPr kumimoji="1" lang="en-US" altLang="zh-CN" sz="2400" dirty="0">
                <a:solidFill>
                  <a:srgbClr val="0000CC"/>
                </a:solidFill>
                <a:latin typeface="+mn-lt"/>
                <a:ea typeface="+mn-ea"/>
              </a:rPr>
              <a:t>step</a:t>
            </a:r>
            <a:r>
              <a:rPr kumimoji="1" lang="en-US" altLang="zh-CN" sz="2600" dirty="0">
                <a:solidFill>
                  <a:srgbClr val="0000CC"/>
                </a:solidFill>
                <a:latin typeface="+mn-ea"/>
                <a:ea typeface="+mn-ea"/>
              </a:rPr>
              <a:t> [</a:t>
            </a:r>
            <a:r>
              <a:rPr kumimoji="1" lang="zh-CN" altLang="en-US" sz="2600" dirty="0">
                <a:solidFill>
                  <a:srgbClr val="0000CC"/>
                </a:solidFill>
                <a:latin typeface="+mn-ea"/>
                <a:ea typeface="+mn-ea"/>
              </a:rPr>
              <a:t>行数</a:t>
            </a:r>
            <a:r>
              <a:rPr kumimoji="1" lang="en-US" altLang="zh-CN" sz="2600" dirty="0">
                <a:solidFill>
                  <a:srgbClr val="0000CC"/>
                </a:solidFill>
                <a:latin typeface="+mn-ea"/>
                <a:ea typeface="+mn-ea"/>
              </a:rPr>
              <a:t>]</a:t>
            </a:r>
            <a:endParaRPr kumimoji="1" lang="zh-CN" altLang="en-US" sz="2600" dirty="0">
              <a:solidFill>
                <a:srgbClr val="0000CC"/>
              </a:solidFill>
              <a:latin typeface="+mn-ea"/>
              <a:ea typeface="+mn-ea"/>
            </a:endParaRPr>
          </a:p>
          <a:p>
            <a:pPr marL="342900" indent="-342900" algn="l" eaLnBrk="1" hangingPunct="1">
              <a:lnSpc>
                <a:spcPct val="150000"/>
              </a:lnSpc>
              <a:spcBef>
                <a:spcPct val="20000"/>
              </a:spcBef>
              <a:buClr>
                <a:srgbClr val="002060"/>
              </a:buClr>
              <a:buSzPct val="80000"/>
              <a:buFont typeface="Wingdings" pitchFamily="2" charset="2"/>
              <a:buChar char="l"/>
            </a:pPr>
            <a:r>
              <a:rPr kumimoji="1" lang="zh-CN" altLang="en-US" sz="2600" dirty="0">
                <a:latin typeface="+mn-ea"/>
                <a:ea typeface="+mn-ea"/>
              </a:rPr>
              <a:t>两个命令都是执行指定的行数（默认为</a:t>
            </a:r>
            <a:r>
              <a:rPr kumimoji="1" lang="en-US" altLang="zh-CN" sz="2600" dirty="0">
                <a:latin typeface="+mn-ea"/>
                <a:ea typeface="+mn-ea"/>
              </a:rPr>
              <a:t>1</a:t>
            </a:r>
            <a:r>
              <a:rPr kumimoji="1" lang="zh-CN" altLang="en-US" sz="2600" dirty="0">
                <a:latin typeface="+mn-ea"/>
                <a:ea typeface="+mn-ea"/>
              </a:rPr>
              <a:t>行）后停下。</a:t>
            </a:r>
            <a:endParaRPr kumimoji="1" lang="en-US" altLang="zh-CN" sz="2600" dirty="0">
              <a:latin typeface="+mn-ea"/>
              <a:ea typeface="+mn-ea"/>
            </a:endParaRPr>
          </a:p>
          <a:p>
            <a:pPr marL="342900" indent="-342900" algn="l" eaLnBrk="1" hangingPunct="1">
              <a:lnSpc>
                <a:spcPct val="150000"/>
              </a:lnSpc>
              <a:spcBef>
                <a:spcPct val="20000"/>
              </a:spcBef>
              <a:buClr>
                <a:srgbClr val="002060"/>
              </a:buClr>
              <a:buSzPct val="80000"/>
              <a:buFont typeface="Wingdings" pitchFamily="2" charset="2"/>
              <a:buChar char="l"/>
            </a:pPr>
            <a:r>
              <a:rPr kumimoji="1" lang="zh-CN" altLang="en-US" sz="2600" dirty="0">
                <a:latin typeface="+mn-ea"/>
                <a:ea typeface="+mn-ea"/>
              </a:rPr>
              <a:t>两者的区别：若有函数调用的时候，“</a:t>
            </a:r>
            <a:r>
              <a:rPr kumimoji="1" lang="en-US" altLang="zh-CN" sz="2600" dirty="0">
                <a:latin typeface="+mn-ea"/>
                <a:ea typeface="+mn-ea"/>
              </a:rPr>
              <a:t>step”</a:t>
            </a:r>
            <a:r>
              <a:rPr kumimoji="1" lang="zh-CN" altLang="en-US" sz="2600" dirty="0">
                <a:latin typeface="+mn-ea"/>
                <a:ea typeface="+mn-ea"/>
              </a:rPr>
              <a:t>会进入该函数，而“</a:t>
            </a:r>
            <a:r>
              <a:rPr kumimoji="1" lang="en-US" altLang="zh-CN" sz="2600" dirty="0">
                <a:latin typeface="+mn-ea"/>
                <a:ea typeface="+mn-ea"/>
              </a:rPr>
              <a:t>next”</a:t>
            </a:r>
            <a:r>
              <a:rPr kumimoji="1" lang="zh-CN" altLang="en-US" sz="2600" dirty="0">
                <a:latin typeface="+mn-ea"/>
                <a:ea typeface="+mn-ea"/>
              </a:rPr>
              <a:t>不会进入该函数。</a:t>
            </a:r>
            <a:r>
              <a:rPr kumimoji="1" lang="zh-CN" altLang="en-US" sz="2400" dirty="0">
                <a:latin typeface="+mn-ea"/>
                <a:ea typeface="+mn-ea"/>
              </a:rPr>
              <a:t> </a:t>
            </a:r>
          </a:p>
        </p:txBody>
      </p:sp>
      <p:sp>
        <p:nvSpPr>
          <p:cNvPr id="3" name="Text Box 4"/>
          <p:cNvSpPr txBox="1">
            <a:spLocks noChangeArrowheads="1"/>
          </p:cNvSpPr>
          <p:nvPr/>
        </p:nvSpPr>
        <p:spPr bwMode="auto">
          <a:xfrm>
            <a:off x="2207568" y="498361"/>
            <a:ext cx="8136904" cy="701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20000"/>
              </a:spcBef>
            </a:pPr>
            <a:r>
              <a:rPr kumimoji="1" lang="en-US" altLang="zh-CN" sz="4000" dirty="0" err="1">
                <a:latin typeface="+mn-lt"/>
                <a:ea typeface="+mj-ea"/>
              </a:rPr>
              <a:t>GDB</a:t>
            </a:r>
            <a:r>
              <a:rPr kumimoji="1" lang="zh-CN" altLang="en-US" sz="4000" dirty="0">
                <a:latin typeface="+mj-ea"/>
                <a:ea typeface="+mj-ea"/>
              </a:rPr>
              <a:t>调试器</a:t>
            </a:r>
          </a:p>
        </p:txBody>
      </p:sp>
      <p:sp>
        <p:nvSpPr>
          <p:cNvPr id="4" name="灯片编号占位符 1"/>
          <p:cNvSpPr>
            <a:spLocks noGrp="1"/>
          </p:cNvSpPr>
          <p:nvPr>
            <p:ph type="sldNum" sz="quarter" idx="11"/>
          </p:nvPr>
        </p:nvSpPr>
        <p:spPr>
          <a:xfrm>
            <a:off x="5053013" y="6240463"/>
            <a:ext cx="2133600" cy="457200"/>
          </a:xfrm>
        </p:spPr>
        <p:txBody>
          <a:bodyPr/>
          <a:lstStyle/>
          <a:p>
            <a:pPr>
              <a:defRPr/>
            </a:pPr>
            <a:fld id="{700C099A-6552-4724-AD39-B0EE2F003FA2}" type="slidenum">
              <a:rPr lang="en-US" altLang="zh-CN" smtClean="0"/>
              <a:pPr>
                <a:defRPr/>
              </a:pPr>
              <a:t>47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502327171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Text Box 4"/>
          <p:cNvSpPr txBox="1">
            <a:spLocks noChangeArrowheads="1"/>
          </p:cNvSpPr>
          <p:nvPr/>
        </p:nvSpPr>
        <p:spPr bwMode="auto">
          <a:xfrm>
            <a:off x="1271464" y="1293456"/>
            <a:ext cx="9865096" cy="479984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9pPr>
          </a:lstStyle>
          <a:p>
            <a:pPr algn="l" eaLnBrk="1" hangingPunct="1">
              <a:lnSpc>
                <a:spcPct val="110000"/>
              </a:lnSpc>
              <a:spcBef>
                <a:spcPct val="25000"/>
              </a:spcBef>
            </a:pPr>
            <a:r>
              <a:rPr kumimoji="1" lang="zh-CN" altLang="en-US" sz="2600" dirty="0">
                <a:latin typeface="+mn-ea"/>
                <a:ea typeface="+mn-ea"/>
              </a:rPr>
              <a:t>本例中：</a:t>
            </a:r>
          </a:p>
          <a:p>
            <a:pPr algn="l" eaLnBrk="1" hangingPunct="1">
              <a:lnSpc>
                <a:spcPct val="110000"/>
              </a:lnSpc>
              <a:spcBef>
                <a:spcPct val="10000"/>
              </a:spcBef>
            </a:pPr>
            <a:r>
              <a:rPr kumimoji="1" lang="en-US" altLang="zh-CN" sz="2600" i="1" dirty="0">
                <a:latin typeface="+mn-ea"/>
                <a:ea typeface="+mn-ea"/>
              </a:rPr>
              <a:t>(</a:t>
            </a:r>
            <a:r>
              <a:rPr kumimoji="1" lang="en-US" altLang="zh-CN" sz="2600" dirty="0">
                <a:latin typeface="+mn-ea"/>
                <a:ea typeface="+mn-ea"/>
              </a:rPr>
              <a:t>gdb)</a:t>
            </a:r>
            <a:r>
              <a:rPr kumimoji="1" lang="en-US" altLang="zh-CN" sz="2400" dirty="0">
                <a:solidFill>
                  <a:srgbClr val="0000CC"/>
                </a:solidFill>
                <a:latin typeface="+mn-lt"/>
                <a:ea typeface="+mn-ea"/>
              </a:rPr>
              <a:t>next</a:t>
            </a:r>
          </a:p>
          <a:p>
            <a:pPr algn="l" eaLnBrk="1" hangingPunct="1">
              <a:lnSpc>
                <a:spcPct val="110000"/>
              </a:lnSpc>
              <a:spcBef>
                <a:spcPct val="10000"/>
              </a:spcBef>
            </a:pPr>
            <a:r>
              <a:rPr kumimoji="1" lang="en-US" altLang="zh-CN" sz="2600" dirty="0">
                <a:latin typeface="+mn-ea"/>
                <a:ea typeface="+mn-ea"/>
              </a:rPr>
              <a:t>The sum of 1-m is 1275</a:t>
            </a:r>
          </a:p>
          <a:p>
            <a:pPr algn="l" eaLnBrk="1" hangingPunct="1">
              <a:lnSpc>
                <a:spcPct val="110000"/>
              </a:lnSpc>
              <a:spcBef>
                <a:spcPct val="10000"/>
              </a:spcBef>
            </a:pPr>
            <a:r>
              <a:rPr kumimoji="1" lang="en-US" altLang="zh-CN" sz="2600" dirty="0">
                <a:latin typeface="+mn-ea"/>
                <a:ea typeface="+mn-ea"/>
              </a:rPr>
              <a:t>7 for(i=1; i&lt;=50; i++)</a:t>
            </a:r>
          </a:p>
          <a:p>
            <a:pPr algn="l" eaLnBrk="1" hangingPunct="1">
              <a:lnSpc>
                <a:spcPct val="110000"/>
              </a:lnSpc>
              <a:spcBef>
                <a:spcPct val="10000"/>
              </a:spcBef>
            </a:pPr>
            <a:r>
              <a:rPr kumimoji="1" lang="zh-CN" altLang="en-US" sz="2600" dirty="0">
                <a:latin typeface="+mn-ea"/>
                <a:ea typeface="+mn-ea"/>
              </a:rPr>
              <a:t>如果输入</a:t>
            </a:r>
            <a:r>
              <a:rPr kumimoji="1" lang="en-US" altLang="zh-CN" sz="2600" dirty="0">
                <a:latin typeface="+mn-ea"/>
                <a:ea typeface="+mn-ea"/>
              </a:rPr>
              <a:t>step</a:t>
            </a:r>
            <a:r>
              <a:rPr kumimoji="1" lang="zh-CN" altLang="en-US" sz="2600" dirty="0">
                <a:latin typeface="+mn-ea"/>
                <a:ea typeface="+mn-ea"/>
              </a:rPr>
              <a:t>命令</a:t>
            </a:r>
            <a:endParaRPr kumimoji="1" lang="en-US" altLang="zh-CN" sz="2600" dirty="0">
              <a:latin typeface="+mn-ea"/>
              <a:ea typeface="+mn-ea"/>
            </a:endParaRPr>
          </a:p>
          <a:p>
            <a:pPr algn="l" eaLnBrk="1" hangingPunct="1">
              <a:lnSpc>
                <a:spcPct val="110000"/>
              </a:lnSpc>
              <a:spcBef>
                <a:spcPct val="10000"/>
              </a:spcBef>
            </a:pPr>
            <a:r>
              <a:rPr kumimoji="1" lang="en-US" altLang="zh-CN" sz="2600" dirty="0">
                <a:latin typeface="+mn-ea"/>
                <a:ea typeface="+mn-ea"/>
              </a:rPr>
              <a:t>(gdb) </a:t>
            </a:r>
            <a:r>
              <a:rPr kumimoji="1" lang="en-US" altLang="zh-CN" sz="2400" dirty="0">
                <a:solidFill>
                  <a:srgbClr val="0000CC"/>
                </a:solidFill>
                <a:latin typeface="+mn-lt"/>
                <a:ea typeface="+mn-ea"/>
              </a:rPr>
              <a:t>step</a:t>
            </a:r>
          </a:p>
          <a:p>
            <a:pPr algn="l" eaLnBrk="1" hangingPunct="1">
              <a:lnSpc>
                <a:spcPct val="110000"/>
              </a:lnSpc>
              <a:spcBef>
                <a:spcPct val="10000"/>
              </a:spcBef>
            </a:pPr>
            <a:r>
              <a:rPr kumimoji="1" lang="en-US" altLang="zh-CN" sz="2600" dirty="0">
                <a:latin typeface="+mn-ea"/>
                <a:ea typeface="+mn-ea"/>
              </a:rPr>
              <a:t>sum (m=50) at test.c:16</a:t>
            </a:r>
          </a:p>
          <a:p>
            <a:pPr algn="l" eaLnBrk="1" hangingPunct="1">
              <a:lnSpc>
                <a:spcPct val="110000"/>
              </a:lnSpc>
              <a:spcBef>
                <a:spcPct val="10000"/>
              </a:spcBef>
            </a:pPr>
            <a:r>
              <a:rPr kumimoji="1" lang="en-US" altLang="zh-CN" sz="2600" dirty="0">
                <a:latin typeface="+mn-ea"/>
                <a:ea typeface="+mn-ea"/>
              </a:rPr>
              <a:t>16   int </a:t>
            </a:r>
            <a:r>
              <a:rPr kumimoji="1" lang="en-US" altLang="zh-CN" sz="2600" dirty="0" err="1">
                <a:latin typeface="+mn-ea"/>
                <a:ea typeface="+mn-ea"/>
              </a:rPr>
              <a:t>i,n</a:t>
            </a:r>
            <a:r>
              <a:rPr kumimoji="1" lang="en-US" altLang="zh-CN" sz="2600" dirty="0">
                <a:latin typeface="+mn-ea"/>
                <a:ea typeface="+mn-ea"/>
              </a:rPr>
              <a:t>=0;</a:t>
            </a:r>
          </a:p>
          <a:p>
            <a:pPr algn="l" eaLnBrk="1" hangingPunct="1">
              <a:lnSpc>
                <a:spcPct val="110000"/>
              </a:lnSpc>
              <a:spcBef>
                <a:spcPct val="20000"/>
              </a:spcBef>
            </a:pPr>
            <a:r>
              <a:rPr kumimoji="1" lang="zh-CN" altLang="en-US" sz="2600" dirty="0">
                <a:latin typeface="+mn-ea"/>
                <a:ea typeface="+mn-ea"/>
              </a:rPr>
              <a:t>可见，使用“</a:t>
            </a:r>
            <a:r>
              <a:rPr kumimoji="1" lang="en-US" altLang="zh-CN" sz="2600" dirty="0">
                <a:latin typeface="+mn-ea"/>
                <a:ea typeface="+mn-ea"/>
              </a:rPr>
              <a:t>next”</a:t>
            </a:r>
            <a:r>
              <a:rPr kumimoji="1" lang="zh-CN" altLang="en-US" sz="2600" dirty="0">
                <a:latin typeface="+mn-ea"/>
                <a:ea typeface="+mn-ea"/>
              </a:rPr>
              <a:t>后，程序显示函数</a:t>
            </a:r>
            <a:r>
              <a:rPr kumimoji="1" lang="en-US" altLang="zh-CN" sz="2600" dirty="0">
                <a:latin typeface="+mn-ea"/>
                <a:ea typeface="+mn-ea"/>
              </a:rPr>
              <a:t>sum</a:t>
            </a:r>
            <a:r>
              <a:rPr kumimoji="1" lang="zh-CN" altLang="en-US" sz="2600" dirty="0">
                <a:latin typeface="+mn-ea"/>
                <a:ea typeface="+mn-ea"/>
              </a:rPr>
              <a:t>的运行结果并向下执行，而使用“</a:t>
            </a:r>
            <a:r>
              <a:rPr kumimoji="1" lang="en-US" altLang="zh-CN" sz="2600" dirty="0">
                <a:latin typeface="+mn-ea"/>
                <a:ea typeface="+mn-ea"/>
              </a:rPr>
              <a:t>step”</a:t>
            </a:r>
            <a:r>
              <a:rPr kumimoji="1" lang="zh-CN" altLang="en-US" sz="2600" dirty="0">
                <a:latin typeface="+mn-ea"/>
                <a:ea typeface="+mn-ea"/>
              </a:rPr>
              <a:t>后则进入到</a:t>
            </a:r>
            <a:r>
              <a:rPr kumimoji="1" lang="en-US" altLang="zh-CN" sz="2600" dirty="0">
                <a:latin typeface="+mn-ea"/>
                <a:ea typeface="+mn-ea"/>
              </a:rPr>
              <a:t>sum</a:t>
            </a:r>
            <a:r>
              <a:rPr kumimoji="1" lang="zh-CN" altLang="en-US" sz="2600" dirty="0">
                <a:latin typeface="+mn-ea"/>
                <a:ea typeface="+mn-ea"/>
              </a:rPr>
              <a:t>函数之中单步运行。</a:t>
            </a:r>
          </a:p>
        </p:txBody>
      </p:sp>
      <p:sp>
        <p:nvSpPr>
          <p:cNvPr id="3" name="Text Box 4"/>
          <p:cNvSpPr txBox="1">
            <a:spLocks noChangeArrowheads="1"/>
          </p:cNvSpPr>
          <p:nvPr/>
        </p:nvSpPr>
        <p:spPr bwMode="auto">
          <a:xfrm>
            <a:off x="2279576" y="567085"/>
            <a:ext cx="7920880" cy="701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20000"/>
              </a:spcBef>
            </a:pPr>
            <a:r>
              <a:rPr kumimoji="1" lang="en-US" altLang="zh-CN" sz="4000" dirty="0" err="1">
                <a:latin typeface="+mn-lt"/>
                <a:ea typeface="+mj-ea"/>
              </a:rPr>
              <a:t>GDB</a:t>
            </a:r>
            <a:r>
              <a:rPr kumimoji="1" lang="zh-CN" altLang="en-US" sz="4000" dirty="0">
                <a:latin typeface="+mj-ea"/>
                <a:ea typeface="+mj-ea"/>
              </a:rPr>
              <a:t>调试器</a:t>
            </a:r>
          </a:p>
        </p:txBody>
      </p:sp>
      <p:sp>
        <p:nvSpPr>
          <p:cNvPr id="4" name="灯片编号占位符 1"/>
          <p:cNvSpPr>
            <a:spLocks noGrp="1"/>
          </p:cNvSpPr>
          <p:nvPr>
            <p:ph type="sldNum" sz="quarter" idx="11"/>
          </p:nvPr>
        </p:nvSpPr>
        <p:spPr>
          <a:xfrm>
            <a:off x="5053013" y="6240463"/>
            <a:ext cx="2133600" cy="457200"/>
          </a:xfrm>
        </p:spPr>
        <p:txBody>
          <a:bodyPr/>
          <a:lstStyle/>
          <a:p>
            <a:pPr>
              <a:defRPr/>
            </a:pPr>
            <a:fld id="{700C099A-6552-4724-AD39-B0EE2F003FA2}" type="slidenum">
              <a:rPr lang="en-US" altLang="zh-CN" smtClean="0"/>
              <a:pPr>
                <a:defRPr/>
              </a:pPr>
              <a:t>48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459766283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Text Box 4"/>
          <p:cNvSpPr txBox="1">
            <a:spLocks noChangeArrowheads="1"/>
          </p:cNvSpPr>
          <p:nvPr/>
        </p:nvSpPr>
        <p:spPr bwMode="auto">
          <a:xfrm>
            <a:off x="1199456" y="1052736"/>
            <a:ext cx="10153128" cy="521373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9pPr>
          </a:lstStyle>
          <a:p>
            <a:pPr algn="l" eaLnBrk="1" hangingPunct="1">
              <a:lnSpc>
                <a:spcPct val="90000"/>
              </a:lnSpc>
              <a:spcBef>
                <a:spcPct val="25000"/>
              </a:spcBef>
            </a:pPr>
            <a:r>
              <a:rPr kumimoji="1" lang="en-US" altLang="zh-CN" sz="2600" dirty="0">
                <a:solidFill>
                  <a:srgbClr val="CC0099"/>
                </a:solidFill>
                <a:latin typeface="+mn-ea"/>
                <a:ea typeface="+mn-ea"/>
              </a:rPr>
              <a:t>7</a:t>
            </a:r>
            <a:r>
              <a:rPr kumimoji="1" lang="zh-CN" altLang="en-US" sz="2600" dirty="0">
                <a:solidFill>
                  <a:srgbClr val="CC0099"/>
                </a:solidFill>
                <a:latin typeface="+mn-ea"/>
                <a:ea typeface="+mn-ea"/>
              </a:rPr>
              <a:t>．继续执行命令</a:t>
            </a:r>
          </a:p>
          <a:p>
            <a:pPr algn="l" eaLnBrk="1" hangingPunct="1">
              <a:lnSpc>
                <a:spcPct val="90000"/>
              </a:lnSpc>
              <a:spcBef>
                <a:spcPct val="20000"/>
              </a:spcBef>
            </a:pPr>
            <a:r>
              <a:rPr kumimoji="1" lang="zh-CN" altLang="en-US" sz="2600" dirty="0">
                <a:latin typeface="+mn-ea"/>
                <a:ea typeface="+mn-ea"/>
              </a:rPr>
              <a:t>程序运行中断后，可以使用继续执行命令恢复：</a:t>
            </a:r>
            <a:endParaRPr kumimoji="1" lang="en-US" altLang="zh-CN" sz="2600" dirty="0">
              <a:latin typeface="+mn-ea"/>
              <a:ea typeface="+mn-ea"/>
            </a:endParaRPr>
          </a:p>
          <a:p>
            <a:pPr algn="l" eaLnBrk="1" hangingPunct="1">
              <a:lnSpc>
                <a:spcPct val="90000"/>
              </a:lnSpc>
              <a:spcBef>
                <a:spcPct val="20000"/>
              </a:spcBef>
            </a:pPr>
            <a:r>
              <a:rPr kumimoji="1" lang="en-US" altLang="zh-CN" sz="2600" dirty="0">
                <a:latin typeface="+mn-ea"/>
                <a:ea typeface="+mn-ea"/>
              </a:rPr>
              <a:t>   </a:t>
            </a:r>
            <a:r>
              <a:rPr kumimoji="1" lang="en-US" altLang="zh-CN" sz="2400" dirty="0">
                <a:solidFill>
                  <a:srgbClr val="0000CC"/>
                </a:solidFill>
                <a:latin typeface="+mn-lt"/>
                <a:ea typeface="+mn-ea"/>
              </a:rPr>
              <a:t>continue</a:t>
            </a:r>
          </a:p>
          <a:p>
            <a:pPr algn="l" eaLnBrk="1" hangingPunct="1">
              <a:lnSpc>
                <a:spcPct val="90000"/>
              </a:lnSpc>
              <a:spcBef>
                <a:spcPct val="20000"/>
              </a:spcBef>
            </a:pPr>
            <a:r>
              <a:rPr kumimoji="1" lang="zh-CN" altLang="en-US" sz="2600" dirty="0">
                <a:latin typeface="+mn-ea"/>
                <a:ea typeface="+mn-ea"/>
              </a:rPr>
              <a:t>该命令指示</a:t>
            </a:r>
            <a:r>
              <a:rPr kumimoji="1" lang="en-US" altLang="zh-CN" sz="2600" dirty="0">
                <a:latin typeface="+mn-ea"/>
                <a:ea typeface="+mn-ea"/>
              </a:rPr>
              <a:t>gdb</a:t>
            </a:r>
            <a:r>
              <a:rPr kumimoji="1" lang="zh-CN" altLang="en-US" sz="2600" dirty="0">
                <a:latin typeface="+mn-ea"/>
                <a:ea typeface="+mn-ea"/>
              </a:rPr>
              <a:t>执行到下一断点或把剩余还未执行的程序执行完，并显示剩余程序中的执行结果。</a:t>
            </a:r>
            <a:endParaRPr kumimoji="1" lang="en-US" altLang="zh-CN" sz="2600" dirty="0">
              <a:latin typeface="+mn-ea"/>
              <a:ea typeface="+mn-ea"/>
            </a:endParaRPr>
          </a:p>
          <a:p>
            <a:pPr algn="l" eaLnBrk="1" hangingPunct="1">
              <a:lnSpc>
                <a:spcPct val="90000"/>
              </a:lnSpc>
              <a:spcBef>
                <a:spcPct val="20000"/>
              </a:spcBef>
            </a:pPr>
            <a:r>
              <a:rPr kumimoji="1" lang="zh-CN" altLang="en-US" sz="2600" dirty="0">
                <a:latin typeface="+mn-ea"/>
                <a:ea typeface="+mn-ea"/>
              </a:rPr>
              <a:t>本例中：</a:t>
            </a:r>
          </a:p>
          <a:p>
            <a:pPr algn="l" eaLnBrk="1" hangingPunct="1">
              <a:lnSpc>
                <a:spcPct val="90000"/>
              </a:lnSpc>
              <a:spcBef>
                <a:spcPct val="20000"/>
              </a:spcBef>
            </a:pPr>
            <a:r>
              <a:rPr kumimoji="1" lang="en-US" altLang="zh-CN" sz="2600" dirty="0">
                <a:latin typeface="+mn-ea"/>
                <a:ea typeface="+mn-ea"/>
              </a:rPr>
              <a:t>(gdb) </a:t>
            </a:r>
            <a:r>
              <a:rPr kumimoji="1" lang="en-US" altLang="zh-CN" sz="2400" dirty="0">
                <a:solidFill>
                  <a:srgbClr val="0000CC"/>
                </a:solidFill>
                <a:latin typeface="+mn-lt"/>
                <a:ea typeface="+mn-ea"/>
              </a:rPr>
              <a:t>continue</a:t>
            </a:r>
          </a:p>
          <a:p>
            <a:pPr algn="l" eaLnBrk="1" hangingPunct="1">
              <a:lnSpc>
                <a:spcPct val="90000"/>
              </a:lnSpc>
              <a:spcBef>
                <a:spcPct val="20000"/>
              </a:spcBef>
            </a:pPr>
            <a:r>
              <a:rPr kumimoji="1" lang="en-US" altLang="zh-CN" sz="2600" dirty="0">
                <a:latin typeface="+mn-ea"/>
                <a:ea typeface="+mn-ea"/>
              </a:rPr>
              <a:t>continuing.</a:t>
            </a:r>
          </a:p>
          <a:p>
            <a:pPr algn="l" eaLnBrk="1" hangingPunct="1">
              <a:lnSpc>
                <a:spcPct val="90000"/>
              </a:lnSpc>
              <a:spcBef>
                <a:spcPct val="20000"/>
              </a:spcBef>
            </a:pPr>
            <a:r>
              <a:rPr kumimoji="1" lang="en-US" altLang="zh-CN" sz="2600" dirty="0">
                <a:latin typeface="+mn-ea"/>
                <a:ea typeface="+mn-ea"/>
              </a:rPr>
              <a:t>The sum of 1-50 is :1275</a:t>
            </a:r>
          </a:p>
          <a:p>
            <a:pPr algn="l" eaLnBrk="1" hangingPunct="1">
              <a:lnSpc>
                <a:spcPct val="90000"/>
              </a:lnSpc>
              <a:spcBef>
                <a:spcPct val="20000"/>
              </a:spcBef>
            </a:pPr>
            <a:r>
              <a:rPr kumimoji="1" lang="en-US" altLang="zh-CN" sz="2600" dirty="0">
                <a:latin typeface="+mn-ea"/>
                <a:ea typeface="+mn-ea"/>
              </a:rPr>
              <a:t>[Inferior 1 (process 6218) exited normally]</a:t>
            </a:r>
          </a:p>
          <a:p>
            <a:pPr algn="l" eaLnBrk="1" hangingPunct="1">
              <a:lnSpc>
                <a:spcPct val="90000"/>
              </a:lnSpc>
              <a:spcBef>
                <a:spcPct val="20000"/>
              </a:spcBef>
            </a:pPr>
            <a:r>
              <a:rPr kumimoji="1" lang="zh-CN" altLang="en-US" sz="2600" dirty="0">
                <a:latin typeface="+mn-ea"/>
                <a:ea typeface="+mn-ea"/>
              </a:rPr>
              <a:t>程序在运行完后正常退出，之后处于“停止状态”。</a:t>
            </a:r>
            <a:endParaRPr kumimoji="1" lang="en-US" altLang="zh-CN" sz="2600" dirty="0">
              <a:latin typeface="+mn-ea"/>
              <a:ea typeface="+mn-ea"/>
            </a:endParaRPr>
          </a:p>
          <a:p>
            <a:pPr algn="l" eaLnBrk="1" hangingPunct="1">
              <a:lnSpc>
                <a:spcPct val="90000"/>
              </a:lnSpc>
              <a:spcBef>
                <a:spcPct val="20000"/>
              </a:spcBef>
            </a:pPr>
            <a:r>
              <a:rPr kumimoji="1" lang="zh-CN" altLang="en-US" sz="2600" dirty="0">
                <a:solidFill>
                  <a:srgbClr val="0000CC"/>
                </a:solidFill>
                <a:latin typeface="+mn-ea"/>
                <a:ea typeface="+mn-ea"/>
              </a:rPr>
              <a:t>输入</a:t>
            </a:r>
            <a:r>
              <a:rPr kumimoji="1" lang="en-US" altLang="zh-CN" sz="2600" dirty="0">
                <a:solidFill>
                  <a:srgbClr val="0000CC"/>
                </a:solidFill>
                <a:latin typeface="+mn-ea"/>
                <a:ea typeface="+mn-ea"/>
              </a:rPr>
              <a:t>quit</a:t>
            </a:r>
            <a:r>
              <a:rPr kumimoji="1" lang="zh-CN" altLang="en-US" sz="2600" dirty="0">
                <a:solidFill>
                  <a:srgbClr val="0000CC"/>
                </a:solidFill>
                <a:latin typeface="+mn-ea"/>
                <a:ea typeface="+mn-ea"/>
              </a:rPr>
              <a:t>或者按下</a:t>
            </a:r>
            <a:r>
              <a:rPr kumimoji="1" lang="en-US" altLang="zh-CN" sz="2600" dirty="0">
                <a:solidFill>
                  <a:srgbClr val="0000CC"/>
                </a:solidFill>
                <a:latin typeface="+mn-ea"/>
                <a:ea typeface="+mn-ea"/>
              </a:rPr>
              <a:t>Ctrl-d</a:t>
            </a:r>
            <a:r>
              <a:rPr kumimoji="1" lang="zh-CN" altLang="en-US" sz="2600" dirty="0">
                <a:solidFill>
                  <a:srgbClr val="0000CC"/>
                </a:solidFill>
                <a:latin typeface="+mn-ea"/>
                <a:ea typeface="+mn-ea"/>
              </a:rPr>
              <a:t>退出调试状态</a:t>
            </a:r>
            <a:r>
              <a:rPr kumimoji="1" lang="zh-CN" altLang="en-US" sz="2600" dirty="0">
                <a:latin typeface="+mn-ea"/>
                <a:ea typeface="+mn-ea"/>
              </a:rPr>
              <a:t>。</a:t>
            </a:r>
          </a:p>
        </p:txBody>
      </p:sp>
      <p:sp>
        <p:nvSpPr>
          <p:cNvPr id="4" name="Text Box 4"/>
          <p:cNvSpPr txBox="1">
            <a:spLocks noChangeArrowheads="1"/>
          </p:cNvSpPr>
          <p:nvPr/>
        </p:nvSpPr>
        <p:spPr bwMode="auto">
          <a:xfrm>
            <a:off x="2225812" y="519520"/>
            <a:ext cx="7992888" cy="701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20000"/>
              </a:spcBef>
            </a:pPr>
            <a:r>
              <a:rPr kumimoji="1" lang="en-US" altLang="zh-CN" sz="4000" dirty="0" err="1">
                <a:latin typeface="+mn-lt"/>
                <a:ea typeface="+mj-ea"/>
              </a:rPr>
              <a:t>GDB</a:t>
            </a:r>
            <a:r>
              <a:rPr kumimoji="1" lang="zh-CN" altLang="en-US" sz="4000" dirty="0">
                <a:latin typeface="+mj-ea"/>
                <a:ea typeface="+mj-ea"/>
              </a:rPr>
              <a:t>调试器</a:t>
            </a:r>
          </a:p>
        </p:txBody>
      </p:sp>
    </p:spTree>
    <p:extLst>
      <p:ext uri="{BB962C8B-B14F-4D97-AF65-F5344CB8AC3E}">
        <p14:creationId xmlns:p14="http://schemas.microsoft.com/office/powerpoint/2010/main" val="219630953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Text Box 4"/>
          <p:cNvSpPr txBox="1">
            <a:spLocks noChangeArrowheads="1"/>
          </p:cNvSpPr>
          <p:nvPr/>
        </p:nvSpPr>
        <p:spPr bwMode="auto">
          <a:xfrm>
            <a:off x="983432" y="1469200"/>
            <a:ext cx="10225136" cy="39195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9pPr>
          </a:lstStyle>
          <a:p>
            <a:pPr marL="457200" indent="-457200" algn="l" eaLnBrk="1" hangingPunct="1">
              <a:lnSpc>
                <a:spcPct val="150000"/>
              </a:lnSpc>
              <a:spcBef>
                <a:spcPct val="20000"/>
              </a:spcBef>
              <a:buSzPct val="80000"/>
              <a:buFont typeface="Wingdings" panose="05000000000000000000" pitchFamily="2" charset="2"/>
              <a:buChar char="l"/>
            </a:pPr>
            <a:r>
              <a:rPr kumimoji="1" lang="en-US" altLang="zh-CN" sz="2600" dirty="0">
                <a:latin typeface="+mn-ea"/>
                <a:ea typeface="+mn-ea"/>
              </a:rPr>
              <a:t>GDB</a:t>
            </a:r>
            <a:r>
              <a:rPr kumimoji="1" lang="zh-CN" altLang="en-US" sz="2600" dirty="0">
                <a:latin typeface="+mn-ea"/>
                <a:ea typeface="+mn-ea"/>
              </a:rPr>
              <a:t>中设置断点的方式：</a:t>
            </a:r>
            <a:endParaRPr kumimoji="1" lang="en-US" altLang="zh-CN" sz="2600" dirty="0">
              <a:latin typeface="+mn-ea"/>
              <a:ea typeface="+mn-ea"/>
            </a:endParaRPr>
          </a:p>
          <a:p>
            <a:pPr lvl="1" algn="l" eaLnBrk="1" hangingPunct="1">
              <a:lnSpc>
                <a:spcPct val="150000"/>
              </a:lnSpc>
              <a:spcBef>
                <a:spcPct val="20000"/>
              </a:spcBef>
            </a:pPr>
            <a:r>
              <a:rPr kumimoji="1" lang="zh-CN" altLang="en-US" sz="2600" dirty="0">
                <a:solidFill>
                  <a:srgbClr val="CC0099"/>
                </a:solidFill>
                <a:latin typeface="+mn-ea"/>
                <a:ea typeface="+mn-ea"/>
              </a:rPr>
              <a:t>按行设置断点</a:t>
            </a:r>
            <a:r>
              <a:rPr kumimoji="1" lang="zh-CN" altLang="en-US" sz="2600" dirty="0">
                <a:latin typeface="+mn-ea"/>
                <a:ea typeface="+mn-ea"/>
              </a:rPr>
              <a:t>；</a:t>
            </a:r>
            <a:endParaRPr kumimoji="1" lang="en-US" altLang="zh-CN" sz="2600" dirty="0">
              <a:latin typeface="+mn-ea"/>
              <a:ea typeface="+mn-ea"/>
            </a:endParaRPr>
          </a:p>
          <a:p>
            <a:pPr lvl="1" algn="l" eaLnBrk="1" hangingPunct="1">
              <a:lnSpc>
                <a:spcPct val="150000"/>
              </a:lnSpc>
              <a:spcBef>
                <a:spcPct val="20000"/>
              </a:spcBef>
            </a:pPr>
            <a:r>
              <a:rPr kumimoji="1" lang="zh-CN" altLang="en-US" sz="2600" dirty="0">
                <a:solidFill>
                  <a:srgbClr val="CC0099"/>
                </a:solidFill>
                <a:latin typeface="+mn-ea"/>
                <a:ea typeface="+mn-ea"/>
              </a:rPr>
              <a:t>按函数设置断点</a:t>
            </a:r>
            <a:r>
              <a:rPr kumimoji="1" lang="zh-CN" altLang="en-US" sz="2600" dirty="0">
                <a:latin typeface="+mn-ea"/>
                <a:ea typeface="+mn-ea"/>
              </a:rPr>
              <a:t>；</a:t>
            </a:r>
            <a:endParaRPr kumimoji="1" lang="en-US" altLang="zh-CN" sz="2600" dirty="0">
              <a:latin typeface="+mn-ea"/>
              <a:ea typeface="+mn-ea"/>
            </a:endParaRPr>
          </a:p>
          <a:p>
            <a:pPr lvl="1" algn="l" eaLnBrk="1" hangingPunct="1">
              <a:lnSpc>
                <a:spcPct val="150000"/>
              </a:lnSpc>
              <a:spcBef>
                <a:spcPct val="20000"/>
              </a:spcBef>
            </a:pPr>
            <a:r>
              <a:rPr kumimoji="1" lang="zh-CN" altLang="en-US" sz="2600" dirty="0">
                <a:solidFill>
                  <a:srgbClr val="CC0099"/>
                </a:solidFill>
                <a:latin typeface="+mn-ea"/>
                <a:ea typeface="+mn-ea"/>
              </a:rPr>
              <a:t>按条件设置断点</a:t>
            </a:r>
            <a:r>
              <a:rPr kumimoji="1" lang="zh-CN" altLang="en-US" sz="2600" dirty="0">
                <a:latin typeface="+mn-ea"/>
                <a:ea typeface="+mn-ea"/>
              </a:rPr>
              <a:t>。</a:t>
            </a:r>
            <a:endParaRPr kumimoji="1" lang="en-US" altLang="zh-CN" sz="2600" dirty="0">
              <a:latin typeface="+mn-ea"/>
              <a:ea typeface="+mn-ea"/>
            </a:endParaRPr>
          </a:p>
          <a:p>
            <a:pPr marL="457200" indent="-457200" algn="l" eaLnBrk="1" hangingPunct="1">
              <a:lnSpc>
                <a:spcPct val="150000"/>
              </a:lnSpc>
              <a:spcBef>
                <a:spcPct val="20000"/>
              </a:spcBef>
              <a:buSzPct val="80000"/>
              <a:buFont typeface="Wingdings" panose="05000000000000000000" pitchFamily="2" charset="2"/>
              <a:buChar char="l"/>
            </a:pPr>
            <a:r>
              <a:rPr kumimoji="1" lang="zh-CN" altLang="en-US" sz="2600" dirty="0">
                <a:latin typeface="+mn-ea"/>
                <a:ea typeface="+mn-ea"/>
              </a:rPr>
              <a:t>按行设置断点的方法前文已介绍，下面结合前一节的代码，介绍后两种设置断点的方法。</a:t>
            </a: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700C099A-6552-4724-AD39-B0EE2F003FA2}" type="slidenum">
              <a:rPr lang="en-US" altLang="zh-CN" smtClean="0"/>
              <a:pPr>
                <a:defRPr/>
              </a:pPr>
              <a:t>50</a:t>
            </a:fld>
            <a:endParaRPr lang="en-US" altLang="zh-CN"/>
          </a:p>
        </p:txBody>
      </p:sp>
      <p:sp>
        <p:nvSpPr>
          <p:cNvPr id="4" name="Text Box 4"/>
          <p:cNvSpPr txBox="1">
            <a:spLocks noChangeArrowheads="1"/>
          </p:cNvSpPr>
          <p:nvPr/>
        </p:nvSpPr>
        <p:spPr bwMode="auto">
          <a:xfrm>
            <a:off x="2208214" y="548680"/>
            <a:ext cx="8208266" cy="701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20000"/>
              </a:spcBef>
            </a:pPr>
            <a:r>
              <a:rPr kumimoji="1" lang="en-US" altLang="zh-CN" sz="4000" dirty="0" err="1">
                <a:latin typeface="+mn-lt"/>
                <a:ea typeface="+mj-ea"/>
              </a:rPr>
              <a:t>GDB</a:t>
            </a:r>
            <a:r>
              <a:rPr kumimoji="1" lang="zh-CN" altLang="en-US" sz="4000" dirty="0">
                <a:latin typeface="+mj-ea"/>
                <a:ea typeface="+mj-ea"/>
              </a:rPr>
              <a:t>调试器</a:t>
            </a:r>
          </a:p>
        </p:txBody>
      </p:sp>
    </p:spTree>
    <p:extLst>
      <p:ext uri="{BB962C8B-B14F-4D97-AF65-F5344CB8AC3E}">
        <p14:creationId xmlns:p14="http://schemas.microsoft.com/office/powerpoint/2010/main" val="3476395774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Rectangle 2"/>
          <p:cNvSpPr>
            <a:spLocks noGrp="1" noChangeArrowheads="1"/>
          </p:cNvSpPr>
          <p:nvPr>
            <p:ph type="title"/>
          </p:nvPr>
        </p:nvSpPr>
        <p:spPr>
          <a:xfrm>
            <a:off x="1271464" y="1124744"/>
            <a:ext cx="7543800" cy="858837"/>
          </a:xfrm>
        </p:spPr>
        <p:txBody>
          <a:bodyPr/>
          <a:lstStyle/>
          <a:p>
            <a:pPr algn="l" eaLnBrk="1" hangingPunct="1"/>
            <a:r>
              <a:rPr kumimoji="1" lang="zh-CN" altLang="en-US" sz="2800" dirty="0">
                <a:solidFill>
                  <a:srgbClr val="0000CC"/>
                </a:solidFill>
                <a:latin typeface="+mn-ea"/>
                <a:ea typeface="+mn-ea"/>
              </a:rPr>
              <a:t>函数断点</a:t>
            </a:r>
          </a:p>
        </p:txBody>
      </p:sp>
      <p:sp>
        <p:nvSpPr>
          <p:cNvPr id="6553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271464" y="1916832"/>
            <a:ext cx="10081120" cy="3726455"/>
          </a:xfrm>
        </p:spPr>
        <p:txBody>
          <a:bodyPr/>
          <a:lstStyle/>
          <a:p>
            <a:pPr eaLnBrk="1" hangingPunct="1">
              <a:buFont typeface="Wingdings" pitchFamily="2" charset="2"/>
              <a:buNone/>
            </a:pPr>
            <a:r>
              <a:rPr kumimoji="1" lang="en-US" altLang="zh-CN" sz="2600" dirty="0">
                <a:latin typeface="+mn-ea"/>
              </a:rPr>
              <a:t>GDB</a:t>
            </a:r>
            <a:r>
              <a:rPr kumimoji="1" lang="zh-CN" altLang="en-US" sz="2600" dirty="0">
                <a:latin typeface="+mn-ea"/>
              </a:rPr>
              <a:t>中按函数设置断点只需</a:t>
            </a:r>
            <a:r>
              <a:rPr kumimoji="1" lang="zh-CN" altLang="en-US" sz="2600" dirty="0">
                <a:solidFill>
                  <a:srgbClr val="CC0099"/>
                </a:solidFill>
                <a:latin typeface="+mn-ea"/>
              </a:rPr>
              <a:t>把函数名放在命令“</a:t>
            </a:r>
            <a:r>
              <a:rPr kumimoji="1" lang="en-US" altLang="zh-CN" sz="2600" dirty="0">
                <a:solidFill>
                  <a:srgbClr val="CC0099"/>
                </a:solidFill>
                <a:latin typeface="+mn-ea"/>
              </a:rPr>
              <a:t>break”</a:t>
            </a:r>
            <a:r>
              <a:rPr kumimoji="1" lang="zh-CN" altLang="en-US" sz="2600" dirty="0">
                <a:solidFill>
                  <a:srgbClr val="CC0099"/>
                </a:solidFill>
                <a:latin typeface="+mn-ea"/>
              </a:rPr>
              <a:t>之</a:t>
            </a:r>
            <a:endParaRPr kumimoji="1" lang="en-US" altLang="zh-CN" sz="2600" dirty="0">
              <a:solidFill>
                <a:srgbClr val="CC0099"/>
              </a:solidFill>
              <a:latin typeface="+mn-ea"/>
            </a:endParaRPr>
          </a:p>
          <a:p>
            <a:pPr eaLnBrk="1" hangingPunct="1">
              <a:buFont typeface="Wingdings" pitchFamily="2" charset="2"/>
              <a:buNone/>
            </a:pPr>
            <a:r>
              <a:rPr kumimoji="1" lang="zh-CN" altLang="en-US" sz="2600" dirty="0">
                <a:solidFill>
                  <a:srgbClr val="CC0099"/>
                </a:solidFill>
                <a:latin typeface="+mn-ea"/>
              </a:rPr>
              <a:t>后</a:t>
            </a:r>
            <a:r>
              <a:rPr kumimoji="1" lang="zh-CN" altLang="en-US" sz="2600" dirty="0">
                <a:latin typeface="+mn-ea"/>
              </a:rPr>
              <a:t>。</a:t>
            </a:r>
            <a:endParaRPr kumimoji="1" lang="en-US" altLang="zh-CN" sz="2600" dirty="0">
              <a:latin typeface="+mn-ea"/>
            </a:endParaRPr>
          </a:p>
          <a:p>
            <a:pPr eaLnBrk="1" hangingPunct="1">
              <a:buFont typeface="Wingdings" pitchFamily="2" charset="2"/>
              <a:buNone/>
            </a:pPr>
            <a:r>
              <a:rPr kumimoji="1" lang="zh-CN" altLang="en-US" sz="2600" dirty="0">
                <a:latin typeface="+mn-ea"/>
              </a:rPr>
              <a:t>如下所示：</a:t>
            </a:r>
          </a:p>
          <a:p>
            <a:pPr eaLnBrk="1" hangingPunct="1">
              <a:buFont typeface="Wingdings" pitchFamily="2" charset="2"/>
              <a:buNone/>
            </a:pPr>
            <a:r>
              <a:rPr kumimoji="1" lang="en-US" altLang="zh-CN" sz="2300" dirty="0">
                <a:latin typeface="+mn-ea"/>
              </a:rPr>
              <a:t>(gdb) </a:t>
            </a:r>
            <a:r>
              <a:rPr kumimoji="1" lang="en-US" altLang="zh-CN" sz="2300" dirty="0">
                <a:solidFill>
                  <a:srgbClr val="0000CC"/>
                </a:solidFill>
                <a:latin typeface="+mn-ea"/>
              </a:rPr>
              <a:t>break sum</a:t>
            </a:r>
          </a:p>
          <a:p>
            <a:pPr eaLnBrk="1" hangingPunct="1">
              <a:buFont typeface="Wingdings" pitchFamily="2" charset="2"/>
              <a:buNone/>
            </a:pPr>
            <a:r>
              <a:rPr kumimoji="1" lang="en-US" altLang="zh-CN" sz="2300" dirty="0">
                <a:latin typeface="+mn-ea"/>
              </a:rPr>
              <a:t>Breakpoint 1 at 0x400588: file test.c, line 16.</a:t>
            </a:r>
          </a:p>
          <a:p>
            <a:pPr eaLnBrk="1" hangingPunct="1">
              <a:buFont typeface="Wingdings" pitchFamily="2" charset="2"/>
              <a:buNone/>
            </a:pPr>
            <a:r>
              <a:rPr kumimoji="1" lang="en-US" altLang="zh-CN" sz="2300" dirty="0">
                <a:latin typeface="+mn-ea"/>
              </a:rPr>
              <a:t>(gdb) </a:t>
            </a:r>
            <a:r>
              <a:rPr kumimoji="1" lang="en-US" altLang="zh-CN" sz="2300" dirty="0">
                <a:solidFill>
                  <a:srgbClr val="0000CC"/>
                </a:solidFill>
                <a:latin typeface="+mn-ea"/>
              </a:rPr>
              <a:t>info break</a:t>
            </a:r>
          </a:p>
          <a:p>
            <a:pPr eaLnBrk="1" hangingPunct="1">
              <a:buFont typeface="Wingdings" pitchFamily="2" charset="2"/>
              <a:buNone/>
            </a:pPr>
            <a:r>
              <a:rPr kumimoji="1" lang="en-US" altLang="zh-CN" sz="2300" dirty="0">
                <a:latin typeface="+mn-ea"/>
              </a:rPr>
              <a:t>Num    Type  Disp Enb Address          What</a:t>
            </a:r>
          </a:p>
          <a:p>
            <a:pPr eaLnBrk="1" hangingPunct="1">
              <a:buFont typeface="Wingdings" pitchFamily="2" charset="2"/>
              <a:buNone/>
            </a:pPr>
            <a:r>
              <a:rPr kumimoji="1" lang="en-US" altLang="zh-CN" sz="2300" dirty="0">
                <a:latin typeface="+mn-ea"/>
              </a:rPr>
              <a:t>1 breakpoint keep y 0x0000000000400588 in sum at test.c:16</a:t>
            </a:r>
            <a:endParaRPr lang="zh-CN" altLang="en-US" sz="2400" dirty="0"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110871B5-850E-4E14-A636-3EC679EBF038}" type="slidenum">
              <a:rPr lang="en-US" altLang="zh-CN" smtClean="0"/>
              <a:pPr>
                <a:defRPr/>
              </a:pPr>
              <a:t>51</a:t>
            </a:fld>
            <a:endParaRPr lang="en-US" altLang="zh-CN"/>
          </a:p>
        </p:txBody>
      </p:sp>
      <p:sp>
        <p:nvSpPr>
          <p:cNvPr id="5" name="Text Box 4"/>
          <p:cNvSpPr txBox="1">
            <a:spLocks noChangeArrowheads="1"/>
          </p:cNvSpPr>
          <p:nvPr/>
        </p:nvSpPr>
        <p:spPr bwMode="auto">
          <a:xfrm>
            <a:off x="2207568" y="550442"/>
            <a:ext cx="8280920" cy="701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20000"/>
              </a:spcBef>
            </a:pPr>
            <a:r>
              <a:rPr kumimoji="1" lang="en-US" altLang="zh-CN" sz="4000" dirty="0" err="1">
                <a:latin typeface="+mn-lt"/>
                <a:ea typeface="+mj-ea"/>
              </a:rPr>
              <a:t>GDB</a:t>
            </a:r>
            <a:r>
              <a:rPr kumimoji="1" lang="zh-CN" altLang="en-US" sz="4000" dirty="0">
                <a:latin typeface="+mj-ea"/>
                <a:ea typeface="+mj-ea"/>
              </a:rPr>
              <a:t>调试器</a:t>
            </a:r>
          </a:p>
        </p:txBody>
      </p:sp>
    </p:spTree>
    <p:extLst>
      <p:ext uri="{BB962C8B-B14F-4D97-AF65-F5344CB8AC3E}">
        <p14:creationId xmlns:p14="http://schemas.microsoft.com/office/powerpoint/2010/main" val="3119505827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Text Box 4"/>
          <p:cNvSpPr txBox="1">
            <a:spLocks noChangeArrowheads="1"/>
          </p:cNvSpPr>
          <p:nvPr/>
        </p:nvSpPr>
        <p:spPr bwMode="auto">
          <a:xfrm>
            <a:off x="1343472" y="585914"/>
            <a:ext cx="9793088" cy="568617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9pPr>
          </a:lstStyle>
          <a:p>
            <a:pPr algn="l" eaLnBrk="1" hangingPunct="1">
              <a:lnSpc>
                <a:spcPct val="110000"/>
              </a:lnSpc>
              <a:spcBef>
                <a:spcPct val="20000"/>
              </a:spcBef>
            </a:pPr>
            <a:r>
              <a:rPr kumimoji="1" lang="zh-CN" altLang="en-US" sz="2800" dirty="0">
                <a:solidFill>
                  <a:srgbClr val="0000CC"/>
                </a:solidFill>
                <a:latin typeface="+mn-ea"/>
                <a:ea typeface="+mn-ea"/>
              </a:rPr>
              <a:t>条件断点</a:t>
            </a:r>
            <a:endParaRPr kumimoji="1" lang="en-US" altLang="zh-CN" sz="2800" dirty="0">
              <a:solidFill>
                <a:srgbClr val="0000CC"/>
              </a:solidFill>
              <a:latin typeface="+mn-ea"/>
              <a:ea typeface="+mn-ea"/>
            </a:endParaRPr>
          </a:p>
          <a:p>
            <a:pPr algn="l" eaLnBrk="1" hangingPunct="1">
              <a:lnSpc>
                <a:spcPct val="90000"/>
              </a:lnSpc>
              <a:spcBef>
                <a:spcPct val="20000"/>
              </a:spcBef>
            </a:pPr>
            <a:r>
              <a:rPr kumimoji="1" lang="en-US" altLang="zh-CN" sz="2400" dirty="0">
                <a:latin typeface="+mn-ea"/>
                <a:ea typeface="+mn-ea"/>
              </a:rPr>
              <a:t>gdb</a:t>
            </a:r>
            <a:r>
              <a:rPr kumimoji="1" lang="zh-CN" altLang="en-US" sz="2400" dirty="0">
                <a:latin typeface="+mn-ea"/>
                <a:ea typeface="+mn-ea"/>
              </a:rPr>
              <a:t>中设置条件断点的格式为：</a:t>
            </a:r>
            <a:endParaRPr kumimoji="1" lang="en-US" altLang="zh-CN" sz="2400" dirty="0">
              <a:latin typeface="+mn-ea"/>
              <a:ea typeface="+mn-ea"/>
            </a:endParaRPr>
          </a:p>
          <a:p>
            <a:pPr algn="l" eaLnBrk="1" hangingPunct="1">
              <a:lnSpc>
                <a:spcPct val="90000"/>
              </a:lnSpc>
              <a:spcBef>
                <a:spcPct val="20000"/>
              </a:spcBef>
            </a:pPr>
            <a:r>
              <a:rPr kumimoji="1" lang="en-US" altLang="zh-CN" sz="2400" dirty="0">
                <a:solidFill>
                  <a:srgbClr val="CC0099"/>
                </a:solidFill>
                <a:latin typeface="+mn-ea"/>
                <a:ea typeface="+mn-ea"/>
              </a:rPr>
              <a:t>break  </a:t>
            </a:r>
            <a:r>
              <a:rPr kumimoji="1" lang="zh-CN" altLang="en-US" sz="2400" dirty="0">
                <a:solidFill>
                  <a:srgbClr val="CC0099"/>
                </a:solidFill>
                <a:latin typeface="+mn-ea"/>
                <a:ea typeface="+mn-ea"/>
              </a:rPr>
              <a:t>行数或函数名  </a:t>
            </a:r>
            <a:r>
              <a:rPr kumimoji="1" lang="en-US" altLang="zh-CN" sz="2400" dirty="0">
                <a:solidFill>
                  <a:srgbClr val="CC0099"/>
                </a:solidFill>
                <a:latin typeface="+mn-ea"/>
                <a:ea typeface="+mn-ea"/>
              </a:rPr>
              <a:t>if </a:t>
            </a:r>
            <a:r>
              <a:rPr kumimoji="1" lang="zh-CN" altLang="en-US" sz="2400" dirty="0">
                <a:solidFill>
                  <a:srgbClr val="CC0099"/>
                </a:solidFill>
                <a:latin typeface="+mn-ea"/>
                <a:ea typeface="+mn-ea"/>
              </a:rPr>
              <a:t>表达式    </a:t>
            </a:r>
            <a:r>
              <a:rPr kumimoji="1" lang="zh-CN" altLang="en-US" sz="2400" dirty="0">
                <a:latin typeface="+mn-ea"/>
                <a:ea typeface="+mn-ea"/>
              </a:rPr>
              <a:t>本例如下所示：</a:t>
            </a:r>
          </a:p>
          <a:p>
            <a:pPr algn="l" eaLnBrk="1" hangingPunct="1">
              <a:lnSpc>
                <a:spcPct val="90000"/>
              </a:lnSpc>
            </a:pPr>
            <a:r>
              <a:rPr kumimoji="1" lang="en-US" altLang="zh-CN" sz="2400" dirty="0">
                <a:latin typeface="+mn-ea"/>
                <a:ea typeface="+mn-ea"/>
              </a:rPr>
              <a:t>(gdb) </a:t>
            </a:r>
            <a:r>
              <a:rPr kumimoji="1" lang="en-US" altLang="zh-CN" sz="2400" dirty="0">
                <a:solidFill>
                  <a:srgbClr val="0000CC"/>
                </a:solidFill>
                <a:latin typeface="+mn-ea"/>
                <a:ea typeface="+mn-ea"/>
              </a:rPr>
              <a:t>break 8 if </a:t>
            </a:r>
            <a:r>
              <a:rPr kumimoji="1" lang="en-US" altLang="zh-CN" sz="2400" dirty="0" err="1">
                <a:solidFill>
                  <a:srgbClr val="0000CC"/>
                </a:solidFill>
                <a:latin typeface="+mn-ea"/>
                <a:ea typeface="+mn-ea"/>
              </a:rPr>
              <a:t>i</a:t>
            </a:r>
            <a:r>
              <a:rPr kumimoji="1" lang="en-US" altLang="zh-CN" sz="2400" dirty="0">
                <a:solidFill>
                  <a:srgbClr val="0000CC"/>
                </a:solidFill>
                <a:latin typeface="+mn-ea"/>
                <a:ea typeface="+mn-ea"/>
              </a:rPr>
              <a:t>==10</a:t>
            </a:r>
          </a:p>
          <a:p>
            <a:pPr algn="l" eaLnBrk="1" hangingPunct="1">
              <a:lnSpc>
                <a:spcPct val="90000"/>
              </a:lnSpc>
            </a:pPr>
            <a:r>
              <a:rPr kumimoji="1" lang="en-US" altLang="zh-CN" sz="2400" dirty="0">
                <a:latin typeface="+mn-ea"/>
                <a:ea typeface="+mn-ea"/>
              </a:rPr>
              <a:t>Breakpoint  1  at 0x400552: file  test.c, line 8.</a:t>
            </a:r>
          </a:p>
          <a:p>
            <a:pPr algn="l" eaLnBrk="1" hangingPunct="1">
              <a:lnSpc>
                <a:spcPct val="90000"/>
              </a:lnSpc>
            </a:pPr>
            <a:r>
              <a:rPr kumimoji="1" lang="en-US" altLang="zh-CN" sz="2400" dirty="0">
                <a:latin typeface="+mn-ea"/>
                <a:ea typeface="+mn-ea"/>
              </a:rPr>
              <a:t>(gdb) </a:t>
            </a:r>
            <a:r>
              <a:rPr kumimoji="1" lang="en-US" altLang="zh-CN" sz="2400" dirty="0">
                <a:solidFill>
                  <a:srgbClr val="0000CC"/>
                </a:solidFill>
                <a:latin typeface="+mn-ea"/>
                <a:ea typeface="+mn-ea"/>
              </a:rPr>
              <a:t>info break</a:t>
            </a:r>
          </a:p>
          <a:p>
            <a:pPr algn="l" eaLnBrk="1" hangingPunct="1">
              <a:lnSpc>
                <a:spcPct val="90000"/>
              </a:lnSpc>
            </a:pPr>
            <a:r>
              <a:rPr kumimoji="1" lang="en-US" altLang="zh-CN" sz="2400" dirty="0">
                <a:latin typeface="+mn-ea"/>
                <a:ea typeface="+mn-ea"/>
              </a:rPr>
              <a:t>Num Type    </a:t>
            </a:r>
            <a:r>
              <a:rPr kumimoji="1" lang="en-US" altLang="zh-CN" sz="2400" dirty="0" err="1">
                <a:latin typeface="+mn-ea"/>
                <a:ea typeface="+mn-ea"/>
              </a:rPr>
              <a:t>Disp</a:t>
            </a:r>
            <a:r>
              <a:rPr kumimoji="1" lang="en-US" altLang="zh-CN" sz="2400" dirty="0">
                <a:latin typeface="+mn-ea"/>
                <a:ea typeface="+mn-ea"/>
              </a:rPr>
              <a:t> Enb Address         What</a:t>
            </a:r>
          </a:p>
          <a:p>
            <a:pPr algn="l" eaLnBrk="1" hangingPunct="1">
              <a:lnSpc>
                <a:spcPct val="90000"/>
              </a:lnSpc>
            </a:pPr>
            <a:r>
              <a:rPr kumimoji="1" lang="en-US" altLang="zh-CN" sz="2300" dirty="0">
                <a:latin typeface="+mn-ea"/>
                <a:ea typeface="+mn-ea"/>
              </a:rPr>
              <a:t>1 breakpoint keep y 0x0000000000400552 in main at test.c:8</a:t>
            </a:r>
          </a:p>
          <a:p>
            <a:pPr algn="l" eaLnBrk="1" hangingPunct="1">
              <a:lnSpc>
                <a:spcPct val="90000"/>
              </a:lnSpc>
            </a:pPr>
            <a:r>
              <a:rPr kumimoji="1" lang="en-US" altLang="zh-CN" sz="2400" dirty="0">
                <a:latin typeface="+mn-ea"/>
                <a:ea typeface="+mn-ea"/>
              </a:rPr>
              <a:t>  stop only if </a:t>
            </a:r>
            <a:r>
              <a:rPr kumimoji="1" lang="en-US" altLang="zh-CN" sz="2400" dirty="0" err="1">
                <a:latin typeface="+mn-ea"/>
                <a:ea typeface="+mn-ea"/>
              </a:rPr>
              <a:t>i</a:t>
            </a:r>
            <a:r>
              <a:rPr kumimoji="1" lang="en-US" altLang="zh-CN" sz="2400" dirty="0">
                <a:latin typeface="+mn-ea"/>
                <a:ea typeface="+mn-ea"/>
              </a:rPr>
              <a:t> == 10</a:t>
            </a:r>
          </a:p>
          <a:p>
            <a:pPr algn="l" eaLnBrk="1" hangingPunct="1">
              <a:lnSpc>
                <a:spcPct val="90000"/>
              </a:lnSpc>
            </a:pPr>
            <a:r>
              <a:rPr kumimoji="1" lang="en-US" altLang="zh-CN" sz="2400" dirty="0">
                <a:latin typeface="+mn-ea"/>
                <a:ea typeface="+mn-ea"/>
              </a:rPr>
              <a:t>(gdb) </a:t>
            </a:r>
            <a:r>
              <a:rPr kumimoji="1" lang="en-US" altLang="zh-CN" sz="2400" dirty="0">
                <a:solidFill>
                  <a:srgbClr val="0000CC"/>
                </a:solidFill>
                <a:latin typeface="+mn-ea"/>
                <a:ea typeface="+mn-ea"/>
              </a:rPr>
              <a:t>run</a:t>
            </a:r>
          </a:p>
          <a:p>
            <a:pPr algn="l" eaLnBrk="1" hangingPunct="1">
              <a:lnSpc>
                <a:spcPct val="90000"/>
              </a:lnSpc>
            </a:pPr>
            <a:r>
              <a:rPr kumimoji="1" lang="en-US" altLang="zh-CN" sz="2400" dirty="0">
                <a:latin typeface="+mn-ea"/>
                <a:ea typeface="+mn-ea"/>
              </a:rPr>
              <a:t>Starting program: /root/test</a:t>
            </a:r>
          </a:p>
          <a:p>
            <a:pPr algn="l" eaLnBrk="1" hangingPunct="1">
              <a:lnSpc>
                <a:spcPct val="90000"/>
              </a:lnSpc>
            </a:pPr>
            <a:r>
              <a:rPr kumimoji="1" lang="en-US" altLang="zh-CN" sz="2400" dirty="0">
                <a:latin typeface="+mn-ea"/>
                <a:ea typeface="+mn-ea"/>
              </a:rPr>
              <a:t>The sum of 1-m is 1275</a:t>
            </a:r>
          </a:p>
          <a:p>
            <a:pPr algn="l" eaLnBrk="1" hangingPunct="1">
              <a:lnSpc>
                <a:spcPct val="90000"/>
              </a:lnSpc>
            </a:pPr>
            <a:r>
              <a:rPr kumimoji="1" lang="en-US" altLang="zh-CN" sz="2400" dirty="0">
                <a:latin typeface="+mn-ea"/>
                <a:ea typeface="+mn-ea"/>
              </a:rPr>
              <a:t>Breakpoint 1, main () at test.c:9</a:t>
            </a:r>
          </a:p>
          <a:p>
            <a:pPr algn="l" eaLnBrk="1" hangingPunct="1">
              <a:lnSpc>
                <a:spcPct val="90000"/>
              </a:lnSpc>
            </a:pPr>
            <a:r>
              <a:rPr kumimoji="1" lang="en-US" altLang="zh-CN" sz="2400" dirty="0">
                <a:latin typeface="+mn-ea"/>
                <a:ea typeface="+mn-ea"/>
              </a:rPr>
              <a:t>9  n += i;</a:t>
            </a:r>
          </a:p>
          <a:p>
            <a:pPr algn="l" eaLnBrk="1" hangingPunct="1">
              <a:lnSpc>
                <a:spcPct val="90000"/>
              </a:lnSpc>
            </a:pPr>
            <a:r>
              <a:rPr kumimoji="1" lang="en-US" altLang="zh-CN" sz="2400" dirty="0">
                <a:latin typeface="+mn-ea"/>
                <a:ea typeface="+mn-ea"/>
              </a:rPr>
              <a:t>(gdb) </a:t>
            </a:r>
            <a:r>
              <a:rPr kumimoji="1" lang="en-US" altLang="zh-CN" sz="2400" dirty="0">
                <a:solidFill>
                  <a:srgbClr val="0000CC"/>
                </a:solidFill>
                <a:latin typeface="+mn-ea"/>
                <a:ea typeface="+mn-ea"/>
              </a:rPr>
              <a:t>print i</a:t>
            </a:r>
          </a:p>
          <a:p>
            <a:pPr algn="l" eaLnBrk="1" hangingPunct="1">
              <a:lnSpc>
                <a:spcPct val="90000"/>
              </a:lnSpc>
            </a:pPr>
            <a:r>
              <a:rPr kumimoji="1" lang="en-US" altLang="zh-CN" sz="2400" dirty="0">
                <a:latin typeface="+mn-ea"/>
                <a:ea typeface="+mn-ea"/>
              </a:rPr>
              <a:t>$1 = 10                     </a:t>
            </a:r>
            <a:endParaRPr kumimoji="1" lang="zh-CN" altLang="en-US" sz="2400" dirty="0">
              <a:latin typeface="+mn-ea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345630653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Text Box 4"/>
          <p:cNvSpPr>
            <a:spLocks noGrp="1" noChangeArrowheads="1"/>
          </p:cNvSpPr>
          <p:nvPr>
            <p:ph type="body" idx="1"/>
          </p:nvPr>
        </p:nvSpPr>
        <p:spPr>
          <a:xfrm>
            <a:off x="1127448" y="1340768"/>
            <a:ext cx="10081120" cy="4392488"/>
          </a:xfrm>
          <a:noFill/>
          <a:extLs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lnSpc>
                <a:spcPct val="150000"/>
              </a:lnSpc>
              <a:spcBef>
                <a:spcPct val="40000"/>
              </a:spcBef>
            </a:pPr>
            <a:r>
              <a:rPr kumimoji="1" lang="en-US" altLang="zh-CN" sz="2600" dirty="0">
                <a:solidFill>
                  <a:srgbClr val="0000CC"/>
                </a:solidFill>
              </a:rPr>
              <a:t>GDB</a:t>
            </a:r>
            <a:r>
              <a:rPr kumimoji="1" lang="zh-CN" altLang="en-US" sz="2600" dirty="0">
                <a:solidFill>
                  <a:srgbClr val="0000CC"/>
                </a:solidFill>
              </a:rPr>
              <a:t>中修改运行参数相关命令</a:t>
            </a:r>
          </a:p>
          <a:p>
            <a:pPr eaLnBrk="1" hangingPunct="1">
              <a:lnSpc>
                <a:spcPct val="150000"/>
              </a:lnSpc>
              <a:spcBef>
                <a:spcPct val="40000"/>
              </a:spcBef>
              <a:buFont typeface="Wingdings" pitchFamily="2" charset="2"/>
              <a:buNone/>
            </a:pPr>
            <a:r>
              <a:rPr kumimoji="1" lang="en-US" altLang="zh-CN" sz="2600" dirty="0"/>
              <a:t>    gdb</a:t>
            </a:r>
            <a:r>
              <a:rPr kumimoji="1" lang="zh-CN" altLang="en-US" sz="2600" dirty="0"/>
              <a:t>还可以</a:t>
            </a:r>
            <a:r>
              <a:rPr kumimoji="1" lang="zh-CN" altLang="en-US" sz="2600" dirty="0">
                <a:solidFill>
                  <a:srgbClr val="0000CC"/>
                </a:solidFill>
              </a:rPr>
              <a:t>修改运行时的参数</a:t>
            </a:r>
            <a:r>
              <a:rPr kumimoji="1" lang="zh-CN" altLang="en-US" sz="2600" dirty="0"/>
              <a:t>，并使该变量按照当前输入的值继续运行。设置方法为：在单步执行的过程中，键入命令</a:t>
            </a:r>
            <a:r>
              <a:rPr kumimoji="1" lang="en-US" altLang="zh-CN" sz="2600" dirty="0"/>
              <a:t>:</a:t>
            </a:r>
          </a:p>
          <a:p>
            <a:pPr eaLnBrk="1" hangingPunct="1">
              <a:lnSpc>
                <a:spcPct val="150000"/>
              </a:lnSpc>
              <a:spcBef>
                <a:spcPct val="40000"/>
              </a:spcBef>
              <a:buFont typeface="Wingdings" pitchFamily="2" charset="2"/>
              <a:buNone/>
            </a:pPr>
            <a:r>
              <a:rPr kumimoji="1" lang="zh-CN" altLang="en-US" sz="2600" dirty="0">
                <a:solidFill>
                  <a:srgbClr val="0000CC"/>
                </a:solidFill>
                <a:latin typeface="Arial" pitchFamily="34" charset="0"/>
              </a:rPr>
              <a:t>    </a:t>
            </a:r>
            <a:r>
              <a:rPr kumimoji="1" lang="en-US" altLang="zh-CN" sz="2600" dirty="0">
                <a:solidFill>
                  <a:srgbClr val="0000CC"/>
                </a:solidFill>
              </a:rPr>
              <a:t>set  var </a:t>
            </a:r>
            <a:r>
              <a:rPr kumimoji="1" lang="zh-CN" altLang="en-US" sz="2600" dirty="0">
                <a:solidFill>
                  <a:srgbClr val="0000CC"/>
                </a:solidFill>
              </a:rPr>
              <a:t>变量＝设定值</a:t>
            </a:r>
            <a:endParaRPr kumimoji="1" lang="en-US" altLang="zh-CN" sz="2600" dirty="0">
              <a:latin typeface="Arial" pitchFamily="34" charset="0"/>
            </a:endParaRPr>
          </a:p>
          <a:p>
            <a:pPr eaLnBrk="1" hangingPunct="1">
              <a:lnSpc>
                <a:spcPct val="150000"/>
              </a:lnSpc>
              <a:spcBef>
                <a:spcPct val="40000"/>
              </a:spcBef>
              <a:buFont typeface="Wingdings" pitchFamily="2" charset="2"/>
              <a:buNone/>
            </a:pPr>
            <a:r>
              <a:rPr kumimoji="1" lang="zh-CN" altLang="en-US" sz="2600" dirty="0"/>
              <a:t>    这样，程序就会按照该设定的值运行。结合上一节的代码将</a:t>
            </a:r>
            <a:r>
              <a:rPr kumimoji="1" lang="en-US" altLang="zh-CN" sz="2600" dirty="0"/>
              <a:t>n</a:t>
            </a:r>
            <a:r>
              <a:rPr kumimoji="1" lang="zh-CN" altLang="en-US" sz="2600" dirty="0"/>
              <a:t>的初始值设为</a:t>
            </a:r>
            <a:r>
              <a:rPr kumimoji="1" lang="en-US" altLang="zh-CN" sz="2600" dirty="0"/>
              <a:t>4</a:t>
            </a:r>
            <a:r>
              <a:rPr kumimoji="1" lang="zh-CN" altLang="en-US" sz="2600" dirty="0"/>
              <a:t>，示例如下所示：</a:t>
            </a: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110871B5-850E-4E14-A636-3EC679EBF038}" type="slidenum">
              <a:rPr lang="en-US" altLang="zh-CN" smtClean="0"/>
              <a:pPr>
                <a:defRPr/>
              </a:pPr>
              <a:t>53</a:t>
            </a:fld>
            <a:endParaRPr lang="en-US" altLang="zh-CN"/>
          </a:p>
        </p:txBody>
      </p:sp>
      <p:sp>
        <p:nvSpPr>
          <p:cNvPr id="4" name="Text Box 4"/>
          <p:cNvSpPr txBox="1">
            <a:spLocks noGrp="1" noChangeArrowheads="1"/>
          </p:cNvSpPr>
          <p:nvPr>
            <p:ph type="title"/>
          </p:nvPr>
        </p:nvSpPr>
        <p:spPr bwMode="auto">
          <a:xfrm>
            <a:off x="1919536" y="560874"/>
            <a:ext cx="8424936" cy="7078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20000"/>
              </a:spcBef>
            </a:pPr>
            <a:r>
              <a:rPr kumimoji="1" lang="en-US" altLang="zh-CN" kern="1200" dirty="0" err="1">
                <a:latin typeface="+mn-lt"/>
                <a:ea typeface="+mj-ea"/>
                <a:cs typeface="+mn-cs"/>
              </a:rPr>
              <a:t>GDB</a:t>
            </a:r>
            <a:r>
              <a:rPr kumimoji="1" lang="zh-CN" altLang="en-US" dirty="0">
                <a:latin typeface="+mj-ea"/>
                <a:ea typeface="+mj-ea"/>
              </a:rPr>
              <a:t>调试器</a:t>
            </a:r>
          </a:p>
        </p:txBody>
      </p:sp>
    </p:spTree>
    <p:extLst>
      <p:ext uri="{BB962C8B-B14F-4D97-AF65-F5344CB8AC3E}">
        <p14:creationId xmlns:p14="http://schemas.microsoft.com/office/powerpoint/2010/main" val="3303237026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Text Box 4"/>
          <p:cNvSpPr txBox="1">
            <a:spLocks noChangeArrowheads="1"/>
          </p:cNvSpPr>
          <p:nvPr/>
        </p:nvSpPr>
        <p:spPr bwMode="auto">
          <a:xfrm>
            <a:off x="1631504" y="1257543"/>
            <a:ext cx="9433048" cy="51383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9pPr>
          </a:lstStyle>
          <a:p>
            <a:pPr algn="l" eaLnBrk="1" hangingPunct="1">
              <a:spcBef>
                <a:spcPct val="15000"/>
              </a:spcBef>
            </a:pPr>
            <a:r>
              <a:rPr kumimoji="1" lang="en-US" altLang="zh-CN" sz="2200" dirty="0">
                <a:latin typeface="+mn-ea"/>
                <a:ea typeface="+mn-ea"/>
              </a:rPr>
              <a:t>(</a:t>
            </a:r>
            <a:r>
              <a:rPr kumimoji="1" lang="en-US" altLang="zh-CN" sz="2200" dirty="0" err="1">
                <a:latin typeface="+mn-ea"/>
                <a:ea typeface="+mn-ea"/>
              </a:rPr>
              <a:t>gdb</a:t>
            </a:r>
            <a:r>
              <a:rPr kumimoji="1" lang="en-US" altLang="zh-CN" sz="2200" dirty="0">
                <a:latin typeface="+mn-ea"/>
                <a:ea typeface="+mn-ea"/>
              </a:rPr>
              <a:t>) </a:t>
            </a:r>
            <a:r>
              <a:rPr kumimoji="1" lang="en-US" altLang="zh-CN" sz="2200" dirty="0">
                <a:solidFill>
                  <a:srgbClr val="0000CC"/>
                </a:solidFill>
                <a:latin typeface="+mn-ea"/>
                <a:ea typeface="+mn-ea"/>
              </a:rPr>
              <a:t>break 7</a:t>
            </a:r>
          </a:p>
          <a:p>
            <a:pPr algn="l" eaLnBrk="1" hangingPunct="1">
              <a:spcBef>
                <a:spcPct val="15000"/>
              </a:spcBef>
            </a:pPr>
            <a:r>
              <a:rPr kumimoji="1" lang="en-US" altLang="zh-CN" sz="2200" dirty="0">
                <a:latin typeface="+mn-ea"/>
                <a:ea typeface="+mn-ea"/>
              </a:rPr>
              <a:t>Breakpoint 1 at 0x8048391: file </a:t>
            </a:r>
            <a:r>
              <a:rPr kumimoji="1" lang="en-US" altLang="zh-CN" sz="2200" dirty="0" err="1">
                <a:latin typeface="+mn-ea"/>
                <a:ea typeface="+mn-ea"/>
              </a:rPr>
              <a:t>test.c</a:t>
            </a:r>
            <a:r>
              <a:rPr kumimoji="1" lang="en-US" altLang="zh-CN" sz="2200" dirty="0">
                <a:latin typeface="+mn-ea"/>
                <a:ea typeface="+mn-ea"/>
              </a:rPr>
              <a:t>, line 7.</a:t>
            </a:r>
          </a:p>
          <a:p>
            <a:pPr algn="l" eaLnBrk="1" hangingPunct="1">
              <a:spcBef>
                <a:spcPct val="15000"/>
              </a:spcBef>
            </a:pPr>
            <a:r>
              <a:rPr kumimoji="1" lang="en-US" altLang="zh-CN" sz="2200" dirty="0">
                <a:latin typeface="+mn-ea"/>
                <a:ea typeface="+mn-ea"/>
              </a:rPr>
              <a:t>(</a:t>
            </a:r>
            <a:r>
              <a:rPr kumimoji="1" lang="en-US" altLang="zh-CN" sz="2200" dirty="0" err="1">
                <a:latin typeface="+mn-ea"/>
                <a:ea typeface="+mn-ea"/>
              </a:rPr>
              <a:t>gdb</a:t>
            </a:r>
            <a:r>
              <a:rPr kumimoji="1" lang="en-US" altLang="zh-CN" sz="2200" dirty="0">
                <a:latin typeface="+mn-ea"/>
                <a:ea typeface="+mn-ea"/>
              </a:rPr>
              <a:t>) </a:t>
            </a:r>
            <a:r>
              <a:rPr kumimoji="1" lang="en-US" altLang="zh-CN" sz="2200" dirty="0">
                <a:solidFill>
                  <a:srgbClr val="0000CC"/>
                </a:solidFill>
                <a:latin typeface="+mn-ea"/>
                <a:ea typeface="+mn-ea"/>
              </a:rPr>
              <a:t>run</a:t>
            </a:r>
          </a:p>
          <a:p>
            <a:pPr algn="l" eaLnBrk="1" hangingPunct="1">
              <a:spcBef>
                <a:spcPct val="15000"/>
              </a:spcBef>
            </a:pPr>
            <a:r>
              <a:rPr kumimoji="1" lang="en-US" altLang="zh-CN" sz="2200" dirty="0">
                <a:latin typeface="+mn-ea"/>
                <a:ea typeface="+mn-ea"/>
              </a:rPr>
              <a:t>Starting program: /root/test</a:t>
            </a:r>
          </a:p>
          <a:p>
            <a:pPr algn="l" eaLnBrk="1" hangingPunct="1">
              <a:spcBef>
                <a:spcPct val="15000"/>
              </a:spcBef>
            </a:pPr>
            <a:r>
              <a:rPr kumimoji="1" lang="en-US" altLang="zh-CN" sz="2200" dirty="0">
                <a:latin typeface="+mn-ea"/>
                <a:ea typeface="+mn-ea"/>
              </a:rPr>
              <a:t>The sum of 1-m is 1275</a:t>
            </a:r>
          </a:p>
          <a:p>
            <a:pPr algn="l" eaLnBrk="1" hangingPunct="1">
              <a:spcBef>
                <a:spcPct val="15000"/>
              </a:spcBef>
            </a:pPr>
            <a:r>
              <a:rPr kumimoji="1" lang="en-US" altLang="zh-CN" sz="2200" dirty="0">
                <a:latin typeface="+mn-ea"/>
                <a:ea typeface="+mn-ea"/>
              </a:rPr>
              <a:t>Breakpoint 1, main () at test.c:7</a:t>
            </a:r>
          </a:p>
          <a:p>
            <a:pPr algn="l" eaLnBrk="1" hangingPunct="1">
              <a:spcBef>
                <a:spcPct val="15000"/>
              </a:spcBef>
            </a:pPr>
            <a:r>
              <a:rPr kumimoji="1" lang="en-US" altLang="zh-CN" sz="2200" dirty="0">
                <a:latin typeface="+mn-ea"/>
                <a:ea typeface="+mn-ea"/>
              </a:rPr>
              <a:t>7     for(</a:t>
            </a:r>
            <a:r>
              <a:rPr kumimoji="1" lang="en-US" altLang="zh-CN" sz="2200" dirty="0" err="1">
                <a:latin typeface="+mn-ea"/>
                <a:ea typeface="+mn-ea"/>
              </a:rPr>
              <a:t>i</a:t>
            </a:r>
            <a:r>
              <a:rPr kumimoji="1" lang="en-US" altLang="zh-CN" sz="2200" dirty="0">
                <a:latin typeface="+mn-ea"/>
                <a:ea typeface="+mn-ea"/>
              </a:rPr>
              <a:t>=1; </a:t>
            </a:r>
            <a:r>
              <a:rPr kumimoji="1" lang="en-US" altLang="zh-CN" sz="2200" dirty="0" err="1">
                <a:latin typeface="+mn-ea"/>
                <a:ea typeface="+mn-ea"/>
              </a:rPr>
              <a:t>i</a:t>
            </a:r>
            <a:r>
              <a:rPr kumimoji="1" lang="en-US" altLang="zh-CN" sz="2200" dirty="0">
                <a:latin typeface="+mn-ea"/>
                <a:ea typeface="+mn-ea"/>
              </a:rPr>
              <a:t>&lt;=50; </a:t>
            </a:r>
            <a:r>
              <a:rPr kumimoji="1" lang="en-US" altLang="zh-CN" sz="2200" dirty="0" err="1">
                <a:latin typeface="+mn-ea"/>
                <a:ea typeface="+mn-ea"/>
              </a:rPr>
              <a:t>i</a:t>
            </a:r>
            <a:r>
              <a:rPr kumimoji="1" lang="en-US" altLang="zh-CN" sz="2200" dirty="0">
                <a:latin typeface="+mn-ea"/>
                <a:ea typeface="+mn-ea"/>
              </a:rPr>
              <a:t>++)</a:t>
            </a:r>
          </a:p>
          <a:p>
            <a:pPr algn="l" eaLnBrk="1" hangingPunct="1">
              <a:spcBef>
                <a:spcPct val="15000"/>
              </a:spcBef>
            </a:pPr>
            <a:r>
              <a:rPr kumimoji="1" lang="en-US" altLang="zh-CN" sz="2200" dirty="0">
                <a:latin typeface="+mn-ea"/>
                <a:ea typeface="+mn-ea"/>
              </a:rPr>
              <a:t>(</a:t>
            </a:r>
            <a:r>
              <a:rPr kumimoji="1" lang="en-US" altLang="zh-CN" sz="2200" dirty="0" err="1">
                <a:latin typeface="+mn-ea"/>
                <a:ea typeface="+mn-ea"/>
              </a:rPr>
              <a:t>gdb</a:t>
            </a:r>
            <a:r>
              <a:rPr kumimoji="1" lang="en-US" altLang="zh-CN" sz="2200" dirty="0">
                <a:latin typeface="+mn-ea"/>
                <a:ea typeface="+mn-ea"/>
              </a:rPr>
              <a:t>) </a:t>
            </a:r>
            <a:r>
              <a:rPr kumimoji="1" lang="en-US" altLang="zh-CN" sz="2200" dirty="0">
                <a:solidFill>
                  <a:srgbClr val="0000CC"/>
                </a:solidFill>
                <a:latin typeface="+mn-ea"/>
                <a:ea typeface="+mn-ea"/>
              </a:rPr>
              <a:t>set var n=4</a:t>
            </a:r>
          </a:p>
          <a:p>
            <a:pPr algn="l" eaLnBrk="1" hangingPunct="1">
              <a:spcBef>
                <a:spcPct val="15000"/>
              </a:spcBef>
            </a:pPr>
            <a:r>
              <a:rPr kumimoji="1" lang="en-US" altLang="zh-CN" sz="2200" dirty="0">
                <a:latin typeface="+mn-ea"/>
                <a:ea typeface="+mn-ea"/>
              </a:rPr>
              <a:t>(</a:t>
            </a:r>
            <a:r>
              <a:rPr kumimoji="1" lang="en-US" altLang="zh-CN" sz="2200" dirty="0" err="1">
                <a:latin typeface="+mn-ea"/>
                <a:ea typeface="+mn-ea"/>
              </a:rPr>
              <a:t>gdb</a:t>
            </a:r>
            <a:r>
              <a:rPr kumimoji="1" lang="en-US" altLang="zh-CN" sz="2200" dirty="0">
                <a:latin typeface="+mn-ea"/>
                <a:ea typeface="+mn-ea"/>
              </a:rPr>
              <a:t>) </a:t>
            </a:r>
            <a:r>
              <a:rPr kumimoji="1" lang="en-US" altLang="zh-CN" sz="2200" dirty="0">
                <a:solidFill>
                  <a:srgbClr val="0000CC"/>
                </a:solidFill>
                <a:latin typeface="+mn-ea"/>
                <a:ea typeface="+mn-ea"/>
              </a:rPr>
              <a:t>c</a:t>
            </a:r>
          </a:p>
          <a:p>
            <a:pPr algn="l" eaLnBrk="1" hangingPunct="1">
              <a:spcBef>
                <a:spcPct val="15000"/>
              </a:spcBef>
            </a:pPr>
            <a:r>
              <a:rPr kumimoji="1" lang="en-US" altLang="zh-CN" sz="2200" dirty="0">
                <a:latin typeface="+mn-ea"/>
                <a:ea typeface="+mn-ea"/>
              </a:rPr>
              <a:t>continuing.</a:t>
            </a:r>
          </a:p>
          <a:p>
            <a:pPr algn="l" eaLnBrk="1" hangingPunct="1">
              <a:spcBef>
                <a:spcPct val="15000"/>
              </a:spcBef>
            </a:pPr>
            <a:r>
              <a:rPr kumimoji="1" lang="en-US" altLang="zh-CN" sz="2200" dirty="0">
                <a:latin typeface="+mn-ea"/>
                <a:ea typeface="+mn-ea"/>
              </a:rPr>
              <a:t>The sum of 1-50 is 1279</a:t>
            </a:r>
          </a:p>
          <a:p>
            <a:pPr algn="l" eaLnBrk="1" hangingPunct="1">
              <a:spcBef>
                <a:spcPct val="15000"/>
              </a:spcBef>
            </a:pPr>
            <a:r>
              <a:rPr kumimoji="1" lang="en-US" altLang="zh-CN" sz="2200" dirty="0">
                <a:latin typeface="+mn-ea"/>
                <a:ea typeface="+mn-ea"/>
              </a:rPr>
              <a:t>[Inferior 1 (process 13282) exited normally]</a:t>
            </a:r>
          </a:p>
          <a:p>
            <a:pPr algn="l" eaLnBrk="1" hangingPunct="1">
              <a:spcBef>
                <a:spcPct val="15000"/>
              </a:spcBef>
            </a:pPr>
            <a:r>
              <a:rPr kumimoji="1" lang="zh-CN" altLang="en-US" sz="2600" dirty="0">
                <a:latin typeface="+mn-ea"/>
                <a:ea typeface="+mn-ea"/>
              </a:rPr>
              <a:t>可以看到，最后的运行结果确实比之前的值大。</a:t>
            </a: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700C099A-6552-4724-AD39-B0EE2F003FA2}" type="slidenum">
              <a:rPr lang="en-US" altLang="zh-CN" smtClean="0"/>
              <a:pPr>
                <a:defRPr/>
              </a:pPr>
              <a:t>54</a:t>
            </a:fld>
            <a:endParaRPr lang="en-US" altLang="zh-CN"/>
          </a:p>
        </p:txBody>
      </p:sp>
      <p:sp>
        <p:nvSpPr>
          <p:cNvPr id="4" name="Text Box 4"/>
          <p:cNvSpPr txBox="1">
            <a:spLocks noChangeArrowheads="1"/>
          </p:cNvSpPr>
          <p:nvPr/>
        </p:nvSpPr>
        <p:spPr bwMode="auto">
          <a:xfrm>
            <a:off x="2135560" y="560874"/>
            <a:ext cx="8064896" cy="7078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Verdana" pitchFamily="34" charset="0"/>
                <a:ea typeface="宋体" pitchFamily="2" charset="-122"/>
                <a:cs typeface="+mj-cs"/>
              </a:defRPr>
            </a:lvl1pPr>
            <a:lvl2pPr marL="742950" indent="-285750" algn="l" rtl="0" eaLnBrk="0" fontAlgn="base" hangingPunct="0">
              <a:spcBef>
                <a:spcPct val="0"/>
              </a:spcBef>
              <a:spcAft>
                <a:spcPct val="0"/>
              </a:spcAft>
              <a:defRPr sz="4200" b="1"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2pPr>
            <a:lvl3pPr marL="1143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4200" b="1"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3pPr>
            <a:lvl4pPr marL="1600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4200" b="1"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4pPr>
            <a:lvl5pPr marL="20574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4200" b="1"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4200" b="1"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4200" b="1"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4200" b="1"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4200" b="1"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20000"/>
              </a:spcBef>
            </a:pPr>
            <a:r>
              <a:rPr kumimoji="1" lang="en-US" altLang="zh-CN" dirty="0">
                <a:latin typeface="+mn-lt"/>
                <a:ea typeface="+mj-ea"/>
                <a:cs typeface="+mn-cs"/>
              </a:rPr>
              <a:t>GDB</a:t>
            </a:r>
            <a:r>
              <a:rPr kumimoji="1" lang="zh-CN" altLang="en-US" dirty="0">
                <a:latin typeface="+mj-ea"/>
                <a:ea typeface="+mj-ea"/>
              </a:rPr>
              <a:t>调试器</a:t>
            </a:r>
          </a:p>
        </p:txBody>
      </p:sp>
    </p:spTree>
    <p:extLst>
      <p:ext uri="{BB962C8B-B14F-4D97-AF65-F5344CB8AC3E}">
        <p14:creationId xmlns:p14="http://schemas.microsoft.com/office/powerpoint/2010/main" val="455676526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内容占位符 3"/>
          <p:cNvSpPr>
            <a:spLocks noGrp="1"/>
          </p:cNvSpPr>
          <p:nvPr>
            <p:ph idx="1"/>
          </p:nvPr>
        </p:nvSpPr>
        <p:spPr>
          <a:xfrm>
            <a:off x="1775520" y="1052736"/>
            <a:ext cx="8640960" cy="5544616"/>
          </a:xfrm>
        </p:spPr>
        <p:txBody>
          <a:bodyPr/>
          <a:lstStyle/>
          <a:p>
            <a:pPr marL="0" indent="0">
              <a:buNone/>
            </a:pPr>
            <a:r>
              <a:rPr lang="zh-CN" altLang="en-US" sz="2400" dirty="0"/>
              <a:t>查看所设断点情况：</a:t>
            </a:r>
            <a:endParaRPr lang="en-US" altLang="zh-CN" sz="2400" dirty="0"/>
          </a:p>
          <a:p>
            <a:pPr marL="0" indent="0">
              <a:buNone/>
            </a:pPr>
            <a:r>
              <a:rPr kumimoji="1" lang="zh-CN" altLang="en-US" sz="2200" dirty="0">
                <a:latin typeface="+mn-ea"/>
              </a:rPr>
              <a:t>（</a:t>
            </a:r>
            <a:r>
              <a:rPr kumimoji="1" lang="en-US" altLang="zh-CN" sz="2200" dirty="0" err="1">
                <a:latin typeface="+mn-ea"/>
              </a:rPr>
              <a:t>gdb</a:t>
            </a:r>
            <a:r>
              <a:rPr kumimoji="1" lang="en-US" altLang="zh-CN" sz="2200" dirty="0">
                <a:latin typeface="+mn-ea"/>
              </a:rPr>
              <a:t>) info breakpoint</a:t>
            </a:r>
          </a:p>
          <a:p>
            <a:pPr eaLnBrk="1" hangingPunct="1">
              <a:buNone/>
            </a:pPr>
            <a:r>
              <a:rPr kumimoji="1" lang="en-US" altLang="zh-CN" sz="2200" dirty="0">
                <a:latin typeface="+mn-ea"/>
              </a:rPr>
              <a:t>Num   Type 	 Disp   Enb     Address        What</a:t>
            </a:r>
          </a:p>
          <a:p>
            <a:pPr marL="0" indent="0" eaLnBrk="1" hangingPunct="1">
              <a:buNone/>
            </a:pPr>
            <a:r>
              <a:rPr kumimoji="1" lang="en-US" altLang="zh-CN" sz="2200" dirty="0">
                <a:latin typeface="+mn-ea"/>
              </a:rPr>
              <a:t>1 breakpoint  keep   y   </a:t>
            </a:r>
            <a:r>
              <a:rPr kumimoji="1" lang="en-US" altLang="zh-CN" sz="2200" dirty="0" err="1">
                <a:latin typeface="+mn-ea"/>
              </a:rPr>
              <a:t>0x0804838a</a:t>
            </a:r>
            <a:r>
              <a:rPr kumimoji="1" lang="en-US" altLang="zh-CN" sz="2200" dirty="0">
                <a:latin typeface="+mn-ea"/>
              </a:rPr>
              <a:t>    in sum at </a:t>
            </a:r>
            <a:r>
              <a:rPr kumimoji="1" lang="en-US" altLang="zh-CN" sz="2200" dirty="0" err="1">
                <a:latin typeface="+mn-ea"/>
              </a:rPr>
              <a:t>test.c:16</a:t>
            </a:r>
            <a:endParaRPr kumimoji="1" lang="en-US" altLang="zh-CN" sz="2200" dirty="0">
              <a:latin typeface="+mn-ea"/>
            </a:endParaRPr>
          </a:p>
          <a:p>
            <a:pPr marL="0" indent="0" eaLnBrk="1" hangingPunct="1">
              <a:buNone/>
            </a:pPr>
            <a:r>
              <a:rPr kumimoji="1" lang="en-US" altLang="zh-CN" sz="2200" dirty="0">
                <a:latin typeface="+mn-ea"/>
              </a:rPr>
              <a:t>2 breakpoint  keep   y   </a:t>
            </a:r>
            <a:r>
              <a:rPr kumimoji="1" lang="en-US" altLang="zh-CN" sz="2200" dirty="0" err="1">
                <a:latin typeface="+mn-ea"/>
              </a:rPr>
              <a:t>0x0804833f</a:t>
            </a:r>
            <a:r>
              <a:rPr kumimoji="1" lang="en-US" altLang="zh-CN" sz="2200" dirty="0">
                <a:latin typeface="+mn-ea"/>
              </a:rPr>
              <a:t>    in main at </a:t>
            </a:r>
            <a:r>
              <a:rPr kumimoji="1" lang="en-US" altLang="zh-CN" sz="2200" dirty="0" err="1">
                <a:latin typeface="+mn-ea"/>
              </a:rPr>
              <a:t>test.c:6</a:t>
            </a:r>
            <a:endParaRPr kumimoji="1" lang="en-US" altLang="zh-CN" sz="2200" dirty="0">
              <a:latin typeface="+mn-ea"/>
            </a:endParaRPr>
          </a:p>
          <a:p>
            <a:pPr marL="0" indent="0" eaLnBrk="1" hangingPunct="1">
              <a:buNone/>
            </a:pPr>
            <a:r>
              <a:rPr kumimoji="1" lang="en-US" altLang="zh-CN" sz="2200" dirty="0">
                <a:latin typeface="+mn-ea"/>
              </a:rPr>
              <a:t>(</a:t>
            </a:r>
            <a:r>
              <a:rPr kumimoji="1" lang="en-US" altLang="zh-CN" sz="2200" dirty="0" err="1">
                <a:latin typeface="+mn-ea"/>
              </a:rPr>
              <a:t>gdb</a:t>
            </a:r>
            <a:r>
              <a:rPr kumimoji="1" lang="en-US" altLang="zh-CN" sz="2200" dirty="0">
                <a:latin typeface="+mn-ea"/>
              </a:rPr>
              <a:t>) </a:t>
            </a:r>
            <a:r>
              <a:rPr kumimoji="1" lang="en-US" altLang="zh-CN" sz="2200" dirty="0">
                <a:solidFill>
                  <a:srgbClr val="0000CC"/>
                </a:solidFill>
                <a:latin typeface="+mn-ea"/>
              </a:rPr>
              <a:t>disable breakpoint </a:t>
            </a:r>
            <a:r>
              <a:rPr kumimoji="1" lang="en-US" altLang="zh-CN" sz="2200" dirty="0">
                <a:latin typeface="+mn-ea"/>
              </a:rPr>
              <a:t>1</a:t>
            </a:r>
          </a:p>
          <a:p>
            <a:pPr marL="0" indent="0" eaLnBrk="1" hangingPunct="1">
              <a:buNone/>
            </a:pPr>
            <a:r>
              <a:rPr kumimoji="1" lang="en-US" altLang="zh-CN" sz="2200" dirty="0">
                <a:latin typeface="+mn-ea"/>
              </a:rPr>
              <a:t>Num   Type 	 Disp   Enb     Address        What</a:t>
            </a:r>
          </a:p>
          <a:p>
            <a:pPr marL="0" indent="0" eaLnBrk="1" hangingPunct="1">
              <a:buNone/>
            </a:pPr>
            <a:r>
              <a:rPr kumimoji="1" lang="en-US" altLang="zh-CN" sz="2200" dirty="0">
                <a:latin typeface="+mn-ea"/>
              </a:rPr>
              <a:t>1 breakpoint  keep   n   </a:t>
            </a:r>
            <a:r>
              <a:rPr kumimoji="1" lang="en-US" altLang="zh-CN" sz="2200" dirty="0" err="1">
                <a:latin typeface="+mn-ea"/>
              </a:rPr>
              <a:t>0x0804838a</a:t>
            </a:r>
            <a:r>
              <a:rPr kumimoji="1" lang="en-US" altLang="zh-CN" sz="2200" dirty="0">
                <a:latin typeface="+mn-ea"/>
              </a:rPr>
              <a:t>    in sum at </a:t>
            </a:r>
            <a:r>
              <a:rPr kumimoji="1" lang="en-US" altLang="zh-CN" sz="2200" dirty="0" err="1">
                <a:latin typeface="+mn-ea"/>
              </a:rPr>
              <a:t>test.c:16</a:t>
            </a:r>
            <a:endParaRPr kumimoji="1" lang="en-US" altLang="zh-CN" sz="2200" dirty="0">
              <a:latin typeface="+mn-ea"/>
            </a:endParaRPr>
          </a:p>
          <a:p>
            <a:pPr marL="0" indent="0" eaLnBrk="1" hangingPunct="1">
              <a:buNone/>
            </a:pPr>
            <a:r>
              <a:rPr kumimoji="1" lang="en-US" altLang="zh-CN" sz="2200" dirty="0">
                <a:latin typeface="+mn-ea"/>
              </a:rPr>
              <a:t>2 breakpoint  keep   y   </a:t>
            </a:r>
            <a:r>
              <a:rPr kumimoji="1" lang="en-US" altLang="zh-CN" sz="2200" dirty="0" err="1">
                <a:latin typeface="+mn-ea"/>
              </a:rPr>
              <a:t>0x0804833f</a:t>
            </a:r>
            <a:r>
              <a:rPr kumimoji="1" lang="en-US" altLang="zh-CN" sz="2200" dirty="0">
                <a:latin typeface="+mn-ea"/>
              </a:rPr>
              <a:t>    in main at </a:t>
            </a:r>
            <a:r>
              <a:rPr kumimoji="1" lang="en-US" altLang="zh-CN" sz="2200" dirty="0" err="1">
                <a:latin typeface="+mn-ea"/>
              </a:rPr>
              <a:t>test.c:6</a:t>
            </a:r>
            <a:endParaRPr kumimoji="1" lang="en-US" altLang="zh-CN" sz="2200" dirty="0">
              <a:latin typeface="+mn-ea"/>
            </a:endParaRPr>
          </a:p>
          <a:p>
            <a:pPr marL="0" indent="0" eaLnBrk="1" hangingPunct="1">
              <a:buNone/>
            </a:pPr>
            <a:r>
              <a:rPr kumimoji="1" lang="en-US" altLang="zh-CN" sz="2200" dirty="0">
                <a:latin typeface="+mn-ea"/>
              </a:rPr>
              <a:t>(</a:t>
            </a:r>
            <a:r>
              <a:rPr kumimoji="1" lang="en-US" altLang="zh-CN" sz="2200" dirty="0" err="1">
                <a:latin typeface="+mn-ea"/>
              </a:rPr>
              <a:t>gdb</a:t>
            </a:r>
            <a:r>
              <a:rPr kumimoji="1" lang="en-US" altLang="zh-CN" sz="2200" dirty="0">
                <a:latin typeface="+mn-ea"/>
              </a:rPr>
              <a:t>) </a:t>
            </a:r>
            <a:r>
              <a:rPr kumimoji="1" lang="en-US" altLang="zh-CN" sz="2200" dirty="0" err="1">
                <a:solidFill>
                  <a:srgbClr val="0000CC"/>
                </a:solidFill>
                <a:latin typeface="+mn-ea"/>
              </a:rPr>
              <a:t>ensable</a:t>
            </a:r>
            <a:r>
              <a:rPr kumimoji="1" lang="en-US" altLang="zh-CN" sz="2200" dirty="0">
                <a:solidFill>
                  <a:srgbClr val="0000CC"/>
                </a:solidFill>
                <a:latin typeface="+mn-ea"/>
              </a:rPr>
              <a:t> breakpoint </a:t>
            </a:r>
            <a:r>
              <a:rPr kumimoji="1" lang="en-US" altLang="zh-CN" sz="2200" dirty="0">
                <a:latin typeface="+mn-ea"/>
              </a:rPr>
              <a:t>1</a:t>
            </a:r>
          </a:p>
          <a:p>
            <a:pPr marL="0" indent="0" eaLnBrk="1" hangingPunct="1">
              <a:buNone/>
            </a:pPr>
            <a:r>
              <a:rPr kumimoji="1" lang="en-US" altLang="zh-CN" sz="2200" dirty="0">
                <a:latin typeface="+mn-ea"/>
              </a:rPr>
              <a:t>Num   Type 	 Disp   Enb     Address        What</a:t>
            </a:r>
          </a:p>
          <a:p>
            <a:pPr marL="0" indent="0" eaLnBrk="1" hangingPunct="1">
              <a:buNone/>
            </a:pPr>
            <a:r>
              <a:rPr kumimoji="1" lang="en-US" altLang="zh-CN" sz="2200" dirty="0">
                <a:latin typeface="+mn-ea"/>
              </a:rPr>
              <a:t>1 breakpoint  keep   y   0x0804838a    in sum at test.c:16</a:t>
            </a:r>
          </a:p>
          <a:p>
            <a:pPr marL="0" indent="0" eaLnBrk="1" hangingPunct="1">
              <a:buNone/>
            </a:pPr>
            <a:r>
              <a:rPr kumimoji="1" lang="en-US" altLang="zh-CN" sz="2200" dirty="0">
                <a:latin typeface="+mn-ea"/>
              </a:rPr>
              <a:t>2 breakpoint  keep   y   </a:t>
            </a:r>
            <a:r>
              <a:rPr kumimoji="1" lang="en-US" altLang="zh-CN" sz="2200" dirty="0" err="1">
                <a:latin typeface="+mn-ea"/>
              </a:rPr>
              <a:t>0x0804833f</a:t>
            </a:r>
            <a:r>
              <a:rPr kumimoji="1" lang="en-US" altLang="zh-CN" sz="2200" dirty="0">
                <a:latin typeface="+mn-ea"/>
              </a:rPr>
              <a:t>    in main at </a:t>
            </a:r>
            <a:r>
              <a:rPr kumimoji="1" lang="en-US" altLang="zh-CN" sz="2200" dirty="0" err="1">
                <a:latin typeface="+mn-ea"/>
              </a:rPr>
              <a:t>test.c:6</a:t>
            </a:r>
            <a:endParaRPr kumimoji="1" lang="en-US" altLang="zh-CN" sz="2200" dirty="0">
              <a:latin typeface="+mn-ea"/>
            </a:endParaRPr>
          </a:p>
          <a:p>
            <a:pPr marL="0" indent="0" eaLnBrk="1" hangingPunct="1">
              <a:buNone/>
            </a:pPr>
            <a:endParaRPr kumimoji="1" lang="en-US" altLang="zh-CN" sz="2200" dirty="0">
              <a:latin typeface="+mn-ea"/>
            </a:endParaRPr>
          </a:p>
          <a:p>
            <a:pPr marL="0" indent="0" eaLnBrk="1" hangingPunct="1">
              <a:buNone/>
            </a:pPr>
            <a:endParaRPr kumimoji="1" lang="en-US" altLang="zh-CN" sz="2200" dirty="0">
              <a:latin typeface="+mn-ea"/>
            </a:endParaRPr>
          </a:p>
          <a:p>
            <a:pPr marL="0" indent="0" eaLnBrk="1" hangingPunct="1">
              <a:buNone/>
            </a:pPr>
            <a:endParaRPr kumimoji="1" lang="zh-CN" altLang="en-US" sz="2200" dirty="0">
              <a:latin typeface="+mn-ea"/>
            </a:endParaRPr>
          </a:p>
          <a:p>
            <a:pPr marL="0" indent="0" eaLnBrk="1" hangingPunct="1">
              <a:buNone/>
            </a:pPr>
            <a:endParaRPr kumimoji="1" lang="en-US" altLang="zh-CN" sz="2200" dirty="0">
              <a:latin typeface="+mn-ea"/>
            </a:endParaRPr>
          </a:p>
          <a:p>
            <a:pPr eaLnBrk="1" hangingPunct="1">
              <a:buNone/>
            </a:pPr>
            <a:endParaRPr kumimoji="1" lang="zh-CN" altLang="en-US" sz="2200" dirty="0">
              <a:latin typeface="+mn-ea"/>
            </a:endParaRPr>
          </a:p>
          <a:p>
            <a:pPr marL="0" indent="0">
              <a:buNone/>
            </a:pPr>
            <a:endParaRPr lang="zh-CN" altLang="en-US" sz="2400" dirty="0"/>
          </a:p>
        </p:txBody>
      </p:sp>
      <p:sp>
        <p:nvSpPr>
          <p:cNvPr id="5" name="Text Box 4"/>
          <p:cNvSpPr txBox="1">
            <a:spLocks noGrp="1" noChangeArrowheads="1"/>
          </p:cNvSpPr>
          <p:nvPr>
            <p:ph type="title"/>
          </p:nvPr>
        </p:nvSpPr>
        <p:spPr bwMode="auto">
          <a:xfrm>
            <a:off x="2063552" y="554777"/>
            <a:ext cx="8064896" cy="7078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20000"/>
              </a:spcBef>
            </a:pPr>
            <a:r>
              <a:rPr kumimoji="1" lang="en-US" altLang="zh-CN" kern="1200" dirty="0" err="1">
                <a:latin typeface="+mn-lt"/>
                <a:ea typeface="+mj-ea"/>
                <a:cs typeface="+mn-cs"/>
              </a:rPr>
              <a:t>GDB</a:t>
            </a:r>
            <a:r>
              <a:rPr kumimoji="1" lang="zh-CN" altLang="en-US" dirty="0">
                <a:latin typeface="+mj-ea"/>
                <a:ea typeface="+mj-ea"/>
              </a:rPr>
              <a:t>调试器</a:t>
            </a:r>
          </a:p>
        </p:txBody>
      </p:sp>
      <p:sp>
        <p:nvSpPr>
          <p:cNvPr id="6" name="灯片编号占位符 2"/>
          <p:cNvSpPr>
            <a:spLocks noGrp="1"/>
          </p:cNvSpPr>
          <p:nvPr>
            <p:ph type="sldNum" sz="quarter" idx="11"/>
          </p:nvPr>
        </p:nvSpPr>
        <p:spPr>
          <a:xfrm>
            <a:off x="5053013" y="6284168"/>
            <a:ext cx="2133600" cy="457200"/>
          </a:xfrm>
        </p:spPr>
        <p:txBody>
          <a:bodyPr/>
          <a:lstStyle/>
          <a:p>
            <a:pPr>
              <a:defRPr/>
            </a:pPr>
            <a:fld id="{700C099A-6552-4724-AD39-B0EE2F003FA2}" type="slidenum">
              <a:rPr lang="en-US" altLang="zh-CN" smtClean="0"/>
              <a:pPr>
                <a:defRPr/>
              </a:pPr>
              <a:t>55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2823863438"/>
      </p:ext>
    </p:extLst>
  </p:cSld>
  <p:clrMapOvr>
    <a:masterClrMapping/>
  </p:clrMapOvr>
  <p:transition spd="slow"/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Text Box 4"/>
          <p:cNvSpPr txBox="1">
            <a:spLocks noChangeArrowheads="1"/>
          </p:cNvSpPr>
          <p:nvPr/>
        </p:nvSpPr>
        <p:spPr bwMode="auto">
          <a:xfrm>
            <a:off x="1199456" y="1700809"/>
            <a:ext cx="9937104" cy="269304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9pPr>
          </a:lstStyle>
          <a:p>
            <a:pPr algn="l" eaLnBrk="1" hangingPunct="1">
              <a:lnSpc>
                <a:spcPct val="150000"/>
              </a:lnSpc>
              <a:spcBef>
                <a:spcPct val="25000"/>
              </a:spcBef>
            </a:pPr>
            <a:r>
              <a:rPr kumimoji="1" lang="zh-CN" altLang="en-US" sz="2600" dirty="0">
                <a:solidFill>
                  <a:srgbClr val="0000CC"/>
                </a:solidFill>
                <a:latin typeface="+mn-ea"/>
                <a:ea typeface="+mn-ea"/>
              </a:rPr>
              <a:t>删除断点命令：</a:t>
            </a:r>
            <a:endParaRPr kumimoji="1" lang="en-US" altLang="zh-CN" sz="2600" dirty="0">
              <a:solidFill>
                <a:srgbClr val="0000CC"/>
              </a:solidFill>
              <a:latin typeface="+mn-ea"/>
              <a:ea typeface="+mn-ea"/>
            </a:endParaRPr>
          </a:p>
          <a:p>
            <a:pPr algn="l" eaLnBrk="1" hangingPunct="1">
              <a:lnSpc>
                <a:spcPct val="150000"/>
              </a:lnSpc>
              <a:spcBef>
                <a:spcPct val="25000"/>
              </a:spcBef>
            </a:pPr>
            <a:r>
              <a:rPr kumimoji="1" lang="en-US" altLang="zh-CN" sz="2600" dirty="0">
                <a:solidFill>
                  <a:srgbClr val="CC0099"/>
                </a:solidFill>
                <a:latin typeface="+mn-ea"/>
                <a:ea typeface="+mn-ea"/>
              </a:rPr>
              <a:t>delete breakpoint [</a:t>
            </a:r>
            <a:r>
              <a:rPr kumimoji="1" lang="zh-CN" altLang="en-US" sz="2600" dirty="0">
                <a:solidFill>
                  <a:srgbClr val="CC0099"/>
                </a:solidFill>
                <a:latin typeface="+mn-ea"/>
                <a:ea typeface="+mn-ea"/>
              </a:rPr>
              <a:t>断点号</a:t>
            </a:r>
            <a:r>
              <a:rPr kumimoji="1" lang="en-US" altLang="zh-CN" sz="2600" dirty="0">
                <a:solidFill>
                  <a:srgbClr val="CC0099"/>
                </a:solidFill>
                <a:latin typeface="+mn-ea"/>
                <a:ea typeface="+mn-ea"/>
              </a:rPr>
              <a:t>]</a:t>
            </a:r>
          </a:p>
          <a:p>
            <a:pPr algn="l" eaLnBrk="1" hangingPunct="1">
              <a:lnSpc>
                <a:spcPct val="150000"/>
              </a:lnSpc>
              <a:spcBef>
                <a:spcPct val="25000"/>
              </a:spcBef>
            </a:pPr>
            <a:r>
              <a:rPr kumimoji="1" lang="zh-CN" altLang="en-US" sz="2600" dirty="0">
                <a:latin typeface="+mn-ea"/>
                <a:ea typeface="+mn-ea"/>
              </a:rPr>
              <a:t>该命令将删除指定编号的断点，如果不带编号参数，将删除所有的断点。</a:t>
            </a:r>
          </a:p>
        </p:txBody>
      </p:sp>
      <p:sp>
        <p:nvSpPr>
          <p:cNvPr id="4" name="Text Box 4"/>
          <p:cNvSpPr txBox="1">
            <a:spLocks noChangeArrowheads="1"/>
          </p:cNvSpPr>
          <p:nvPr/>
        </p:nvSpPr>
        <p:spPr bwMode="auto">
          <a:xfrm>
            <a:off x="2423592" y="620688"/>
            <a:ext cx="7560840" cy="7078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20000"/>
              </a:spcBef>
            </a:pPr>
            <a:r>
              <a:rPr kumimoji="1" lang="en-US" altLang="zh-CN" sz="4000" dirty="0">
                <a:latin typeface="+mn-lt"/>
                <a:ea typeface="+mj-ea"/>
              </a:rPr>
              <a:t>GDB</a:t>
            </a:r>
            <a:r>
              <a:rPr kumimoji="1" lang="zh-CN" altLang="en-US" sz="4000" dirty="0">
                <a:latin typeface="+mj-ea"/>
                <a:ea typeface="+mj-ea"/>
              </a:rPr>
              <a:t>调试器</a:t>
            </a:r>
          </a:p>
        </p:txBody>
      </p:sp>
      <p:sp>
        <p:nvSpPr>
          <p:cNvPr id="5" name="灯片编号占位符 1"/>
          <p:cNvSpPr>
            <a:spLocks noGrp="1"/>
          </p:cNvSpPr>
          <p:nvPr>
            <p:ph type="sldNum" sz="quarter" idx="11"/>
          </p:nvPr>
        </p:nvSpPr>
        <p:spPr>
          <a:xfrm>
            <a:off x="5053013" y="6240463"/>
            <a:ext cx="2133600" cy="457200"/>
          </a:xfrm>
        </p:spPr>
        <p:txBody>
          <a:bodyPr/>
          <a:lstStyle/>
          <a:p>
            <a:pPr>
              <a:defRPr/>
            </a:pPr>
            <a:fld id="{700C099A-6552-4724-AD39-B0EE2F003FA2}" type="slidenum">
              <a:rPr lang="en-US" altLang="zh-CN" smtClean="0"/>
              <a:pPr>
                <a:defRPr/>
              </a:pPr>
              <a:t>56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221588570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981200" y="265907"/>
            <a:ext cx="7543800" cy="858837"/>
          </a:xfrm>
        </p:spPr>
        <p:txBody>
          <a:bodyPr/>
          <a:lstStyle/>
          <a:p>
            <a:r>
              <a:rPr lang="en-US" altLang="zh-CN" dirty="0" err="1"/>
              <a:t>GDB</a:t>
            </a:r>
            <a:r>
              <a:rPr lang="zh-CN" altLang="en-US" dirty="0"/>
              <a:t>调试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415480" y="1196752"/>
            <a:ext cx="9649072" cy="5184576"/>
          </a:xfrm>
        </p:spPr>
        <p:txBody>
          <a:bodyPr/>
          <a:lstStyle/>
          <a:p>
            <a:pPr marL="0" indent="0">
              <a:lnSpc>
                <a:spcPct val="70000"/>
              </a:lnSpc>
              <a:buNone/>
            </a:pPr>
            <a:r>
              <a:rPr lang="zh-CN" altLang="en-US" sz="2400" dirty="0"/>
              <a:t>用</a:t>
            </a:r>
            <a:r>
              <a:rPr lang="en-US" altLang="zh-CN" sz="2400" dirty="0" err="1"/>
              <a:t>gdb</a:t>
            </a:r>
            <a:r>
              <a:rPr lang="zh-CN" altLang="en-US" sz="2400" dirty="0"/>
              <a:t>调试问题代码，程序文件名为</a:t>
            </a:r>
            <a:r>
              <a:rPr lang="en-US" altLang="zh-CN" sz="2400" dirty="0" err="1"/>
              <a:t>greeting.c</a:t>
            </a:r>
            <a:r>
              <a:rPr lang="zh-CN" altLang="en-US" sz="2400" dirty="0"/>
              <a:t>，程序代码如下：</a:t>
            </a:r>
            <a:endParaRPr lang="en-US" altLang="zh-CN" sz="2400" dirty="0"/>
          </a:p>
          <a:p>
            <a:pPr marL="0" indent="0">
              <a:lnSpc>
                <a:spcPct val="70000"/>
              </a:lnSpc>
              <a:buNone/>
            </a:pPr>
            <a:r>
              <a:rPr lang="en-US" altLang="zh-CN" sz="2200" dirty="0"/>
              <a:t>#include &lt;stdio.h&gt;</a:t>
            </a:r>
          </a:p>
          <a:p>
            <a:pPr marL="0" indent="0">
              <a:lnSpc>
                <a:spcPct val="70000"/>
              </a:lnSpc>
              <a:buNone/>
            </a:pPr>
            <a:r>
              <a:rPr lang="en-US" altLang="zh-CN" sz="2200" dirty="0"/>
              <a:t>#include&lt;stdlib.h&gt;</a:t>
            </a:r>
          </a:p>
          <a:p>
            <a:pPr marL="0" indent="0">
              <a:lnSpc>
                <a:spcPct val="70000"/>
              </a:lnSpc>
              <a:buNone/>
            </a:pPr>
            <a:r>
              <a:rPr lang="en-US" altLang="zh-CN" sz="2200" dirty="0"/>
              <a:t>#include&lt;string.h&gt;</a:t>
            </a:r>
          </a:p>
          <a:p>
            <a:pPr marL="0" indent="0">
              <a:lnSpc>
                <a:spcPct val="70000"/>
              </a:lnSpc>
              <a:buNone/>
            </a:pPr>
            <a:endParaRPr lang="en-US" altLang="zh-CN" sz="2200" dirty="0"/>
          </a:p>
          <a:p>
            <a:pPr marL="0" indent="0">
              <a:lnSpc>
                <a:spcPct val="70000"/>
              </a:lnSpc>
              <a:buNone/>
            </a:pPr>
            <a:r>
              <a:rPr lang="en-US" altLang="zh-CN" sz="2200" dirty="0"/>
              <a:t>void </a:t>
            </a:r>
            <a:r>
              <a:rPr lang="en-US" altLang="zh-CN" sz="2200" dirty="0" err="1"/>
              <a:t>my_print</a:t>
            </a:r>
            <a:r>
              <a:rPr lang="en-US" altLang="zh-CN" sz="2200" dirty="0"/>
              <a:t> (char  *string);</a:t>
            </a:r>
            <a:endParaRPr lang="zh-CN" altLang="zh-CN" sz="2200" dirty="0"/>
          </a:p>
          <a:p>
            <a:pPr marL="0" indent="0">
              <a:lnSpc>
                <a:spcPct val="70000"/>
              </a:lnSpc>
              <a:buNone/>
            </a:pPr>
            <a:r>
              <a:rPr lang="en-US" altLang="zh-CN" sz="2200" dirty="0"/>
              <a:t>void my_print2 (char  *string);</a:t>
            </a:r>
          </a:p>
          <a:p>
            <a:pPr marL="0" indent="0">
              <a:lnSpc>
                <a:spcPct val="70000"/>
              </a:lnSpc>
              <a:buNone/>
            </a:pPr>
            <a:r>
              <a:rPr lang="en-US" altLang="zh-CN" sz="2200" dirty="0"/>
              <a:t>main( )</a:t>
            </a:r>
          </a:p>
          <a:p>
            <a:pPr marL="0" indent="0">
              <a:lnSpc>
                <a:spcPct val="70000"/>
              </a:lnSpc>
              <a:buNone/>
            </a:pPr>
            <a:r>
              <a:rPr lang="en-US" altLang="zh-CN" sz="2200" dirty="0"/>
              <a:t>{</a:t>
            </a:r>
          </a:p>
          <a:p>
            <a:pPr marL="0" indent="0">
              <a:lnSpc>
                <a:spcPct val="70000"/>
              </a:lnSpc>
              <a:buNone/>
            </a:pPr>
            <a:r>
              <a:rPr lang="en-US" altLang="zh-CN" sz="2200" dirty="0"/>
              <a:t>  char </a:t>
            </a:r>
            <a:r>
              <a:rPr lang="en-US" altLang="zh-CN" sz="2200" dirty="0" err="1"/>
              <a:t>my_string</a:t>
            </a:r>
            <a:r>
              <a:rPr lang="en-US" altLang="zh-CN" sz="2200" dirty="0"/>
              <a:t>[ ] = "hello there";</a:t>
            </a:r>
          </a:p>
          <a:p>
            <a:pPr marL="0" indent="0">
              <a:lnSpc>
                <a:spcPct val="70000"/>
              </a:lnSpc>
              <a:buNone/>
            </a:pPr>
            <a:r>
              <a:rPr lang="en-US" altLang="zh-CN" sz="2200" dirty="0"/>
              <a:t>  </a:t>
            </a:r>
            <a:r>
              <a:rPr lang="en-US" altLang="zh-CN" sz="2200" dirty="0" err="1"/>
              <a:t>my_print</a:t>
            </a:r>
            <a:r>
              <a:rPr lang="en-US" altLang="zh-CN" sz="2200" dirty="0"/>
              <a:t> (</a:t>
            </a:r>
            <a:r>
              <a:rPr lang="en-US" altLang="zh-CN" sz="2200" dirty="0" err="1"/>
              <a:t>my_string</a:t>
            </a:r>
            <a:r>
              <a:rPr lang="en-US" altLang="zh-CN" sz="2200" dirty="0"/>
              <a:t>);</a:t>
            </a:r>
          </a:p>
          <a:p>
            <a:pPr marL="0" indent="0">
              <a:lnSpc>
                <a:spcPct val="70000"/>
              </a:lnSpc>
              <a:buNone/>
            </a:pPr>
            <a:r>
              <a:rPr lang="en-US" altLang="zh-CN" sz="2200" dirty="0"/>
              <a:t>  </a:t>
            </a:r>
            <a:r>
              <a:rPr lang="en-US" altLang="zh-CN" sz="2200" dirty="0" err="1"/>
              <a:t>my_print2</a:t>
            </a:r>
            <a:r>
              <a:rPr lang="en-US" altLang="zh-CN" sz="2200" dirty="0"/>
              <a:t> (</a:t>
            </a:r>
            <a:r>
              <a:rPr lang="en-US" altLang="zh-CN" sz="2200" dirty="0" err="1"/>
              <a:t>my_string</a:t>
            </a:r>
            <a:r>
              <a:rPr lang="en-US" altLang="zh-CN" sz="2200" dirty="0"/>
              <a:t>);</a:t>
            </a:r>
          </a:p>
          <a:p>
            <a:pPr marL="0" indent="0">
              <a:lnSpc>
                <a:spcPct val="70000"/>
              </a:lnSpc>
              <a:buNone/>
            </a:pPr>
            <a:r>
              <a:rPr lang="en-US" altLang="zh-CN" sz="2200" dirty="0"/>
              <a:t>}</a:t>
            </a:r>
          </a:p>
          <a:p>
            <a:pPr marL="0" indent="0">
              <a:lnSpc>
                <a:spcPct val="70000"/>
              </a:lnSpc>
              <a:buNone/>
            </a:pPr>
            <a:r>
              <a:rPr lang="en-US" altLang="zh-CN" sz="2200" dirty="0"/>
              <a:t>void  </a:t>
            </a:r>
            <a:r>
              <a:rPr lang="en-US" altLang="zh-CN" sz="2200" dirty="0" err="1"/>
              <a:t>my_print</a:t>
            </a:r>
            <a:r>
              <a:rPr lang="en-US" altLang="zh-CN" sz="2200" dirty="0"/>
              <a:t> (char *string)</a:t>
            </a:r>
          </a:p>
          <a:p>
            <a:pPr marL="0" indent="0">
              <a:lnSpc>
                <a:spcPct val="70000"/>
              </a:lnSpc>
              <a:buNone/>
            </a:pPr>
            <a:r>
              <a:rPr lang="en-US" altLang="zh-CN" sz="2200" dirty="0"/>
              <a:t>{</a:t>
            </a:r>
          </a:p>
          <a:p>
            <a:pPr marL="0" indent="0">
              <a:lnSpc>
                <a:spcPct val="70000"/>
              </a:lnSpc>
              <a:buNone/>
            </a:pPr>
            <a:r>
              <a:rPr lang="en-US" altLang="zh-CN" sz="2200" dirty="0"/>
              <a:t>  </a:t>
            </a:r>
            <a:r>
              <a:rPr lang="en-US" altLang="zh-CN" sz="2200" dirty="0" err="1"/>
              <a:t>printf</a:t>
            </a:r>
            <a:r>
              <a:rPr lang="en-US" altLang="zh-CN" sz="2200" dirty="0"/>
              <a:t> ("The string is %s\n", string);</a:t>
            </a:r>
          </a:p>
          <a:p>
            <a:pPr marL="0" indent="0">
              <a:lnSpc>
                <a:spcPct val="70000"/>
              </a:lnSpc>
              <a:buNone/>
            </a:pPr>
            <a:r>
              <a:rPr lang="en-US" altLang="zh-CN" sz="2200" dirty="0"/>
              <a:t>}                                                                         </a:t>
            </a:r>
            <a:r>
              <a:rPr lang="en-US" altLang="zh-CN" sz="2000" dirty="0"/>
              <a:t>              </a:t>
            </a:r>
          </a:p>
          <a:p>
            <a:pPr marL="0" indent="0">
              <a:buNone/>
            </a:pPr>
            <a:endParaRPr lang="zh-CN" altLang="en-US" sz="2400" dirty="0"/>
          </a:p>
        </p:txBody>
      </p:sp>
    </p:spTree>
    <p:extLst>
      <p:ext uri="{BB962C8B-B14F-4D97-AF65-F5344CB8AC3E}">
        <p14:creationId xmlns:p14="http://schemas.microsoft.com/office/powerpoint/2010/main" val="3293624460"/>
      </p:ext>
    </p:extLst>
  </p:cSld>
  <p:clrMapOvr>
    <a:masterClrMapping/>
  </p:clrMapOvr>
  <p:transition spd="slow"/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981200" y="337915"/>
            <a:ext cx="8291264" cy="858837"/>
          </a:xfrm>
        </p:spPr>
        <p:txBody>
          <a:bodyPr/>
          <a:lstStyle/>
          <a:p>
            <a:r>
              <a:rPr lang="en-US" altLang="zh-CN" dirty="0" err="1"/>
              <a:t>GDB</a:t>
            </a:r>
            <a:r>
              <a:rPr lang="zh-CN" altLang="en-US" dirty="0"/>
              <a:t>调试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271464" y="1196752"/>
            <a:ext cx="9793088" cy="5040560"/>
          </a:xfrm>
        </p:spPr>
        <p:txBody>
          <a:bodyPr/>
          <a:lstStyle/>
          <a:p>
            <a:pPr marL="0" indent="0">
              <a:buNone/>
            </a:pPr>
            <a:r>
              <a:rPr lang="en-US" altLang="zh-CN" sz="2300" dirty="0"/>
              <a:t>void </a:t>
            </a:r>
            <a:r>
              <a:rPr lang="en-US" altLang="zh-CN" sz="2300" dirty="0" err="1"/>
              <a:t>my_print2</a:t>
            </a:r>
            <a:r>
              <a:rPr lang="en-US" altLang="zh-CN" sz="2300" dirty="0"/>
              <a:t> (char *string)</a:t>
            </a:r>
          </a:p>
          <a:p>
            <a:pPr marL="0" indent="0">
              <a:buNone/>
            </a:pPr>
            <a:r>
              <a:rPr lang="en-US" altLang="zh-CN" sz="2300" dirty="0"/>
              <a:t>{</a:t>
            </a:r>
          </a:p>
          <a:p>
            <a:pPr marL="0" indent="0">
              <a:buNone/>
            </a:pPr>
            <a:r>
              <a:rPr lang="en-US" altLang="zh-CN" sz="2300" dirty="0"/>
              <a:t>  char  *</a:t>
            </a:r>
            <a:r>
              <a:rPr lang="en-US" altLang="zh-CN" sz="2300" dirty="0" err="1"/>
              <a:t>string2</a:t>
            </a:r>
            <a:r>
              <a:rPr lang="en-US" altLang="zh-CN" sz="2300" dirty="0"/>
              <a:t>;</a:t>
            </a:r>
          </a:p>
          <a:p>
            <a:pPr marL="0" indent="0">
              <a:buNone/>
            </a:pPr>
            <a:r>
              <a:rPr lang="en-US" altLang="zh-CN" sz="2300" dirty="0"/>
              <a:t>  </a:t>
            </a:r>
            <a:r>
              <a:rPr lang="en-US" altLang="zh-CN" sz="2300" dirty="0" err="1"/>
              <a:t>int</a:t>
            </a:r>
            <a:r>
              <a:rPr lang="en-US" altLang="zh-CN" sz="2300" dirty="0"/>
              <a:t>  size, </a:t>
            </a:r>
            <a:r>
              <a:rPr lang="en-US" altLang="zh-CN" sz="2300" dirty="0" err="1"/>
              <a:t>i</a:t>
            </a:r>
            <a:r>
              <a:rPr lang="en-US" altLang="zh-CN" sz="2300" dirty="0"/>
              <a:t>;</a:t>
            </a:r>
          </a:p>
          <a:p>
            <a:pPr marL="0" indent="0">
              <a:buNone/>
            </a:pPr>
            <a:r>
              <a:rPr lang="en-US" altLang="zh-CN" sz="2300" dirty="0"/>
              <a:t>  size = </a:t>
            </a:r>
            <a:r>
              <a:rPr lang="en-US" altLang="zh-CN" sz="2300" dirty="0" err="1"/>
              <a:t>strlen</a:t>
            </a:r>
            <a:r>
              <a:rPr lang="en-US" altLang="zh-CN" sz="2300" dirty="0"/>
              <a:t> (string);</a:t>
            </a:r>
          </a:p>
          <a:p>
            <a:pPr marL="0" indent="0">
              <a:buNone/>
            </a:pPr>
            <a:r>
              <a:rPr lang="en-US" altLang="zh-CN" sz="2300" dirty="0"/>
              <a:t>  string2 = (char *) malloc (size + 1);</a:t>
            </a:r>
          </a:p>
          <a:p>
            <a:pPr marL="0" indent="0">
              <a:buNone/>
            </a:pPr>
            <a:r>
              <a:rPr lang="en-US" altLang="zh-CN" sz="2300" dirty="0"/>
              <a:t> </a:t>
            </a:r>
          </a:p>
          <a:p>
            <a:pPr marL="0" indent="0">
              <a:buNone/>
            </a:pPr>
            <a:r>
              <a:rPr lang="en-US" altLang="zh-CN" sz="2300" dirty="0"/>
              <a:t>   for (</a:t>
            </a:r>
            <a:r>
              <a:rPr lang="en-US" altLang="zh-CN" sz="2300" dirty="0" err="1"/>
              <a:t>i</a:t>
            </a:r>
            <a:r>
              <a:rPr lang="en-US" altLang="zh-CN" sz="2300" dirty="0"/>
              <a:t> = 0; </a:t>
            </a:r>
            <a:r>
              <a:rPr lang="en-US" altLang="zh-CN" sz="2300" dirty="0" err="1"/>
              <a:t>i</a:t>
            </a:r>
            <a:r>
              <a:rPr lang="en-US" altLang="zh-CN" sz="2300" dirty="0"/>
              <a:t> &lt; size; </a:t>
            </a:r>
            <a:r>
              <a:rPr lang="en-US" altLang="zh-CN" sz="2300" dirty="0" err="1"/>
              <a:t>i</a:t>
            </a:r>
            <a:r>
              <a:rPr lang="en-US" altLang="zh-CN" sz="2300" dirty="0"/>
              <a:t>++)</a:t>
            </a:r>
          </a:p>
          <a:p>
            <a:pPr marL="0" indent="0">
              <a:buNone/>
            </a:pPr>
            <a:r>
              <a:rPr lang="en-US" altLang="zh-CN" sz="2300" dirty="0"/>
              <a:t>       </a:t>
            </a:r>
            <a:r>
              <a:rPr lang="en-US" altLang="zh-CN" sz="2300" dirty="0" err="1"/>
              <a:t>string2</a:t>
            </a:r>
            <a:r>
              <a:rPr lang="en-US" altLang="zh-CN" sz="2300" dirty="0"/>
              <a:t>[size - </a:t>
            </a:r>
            <a:r>
              <a:rPr lang="en-US" altLang="zh-CN" sz="2300" dirty="0" err="1"/>
              <a:t>i</a:t>
            </a:r>
            <a:r>
              <a:rPr lang="en-US" altLang="zh-CN" sz="2300" dirty="0"/>
              <a:t>] = string[</a:t>
            </a:r>
            <a:r>
              <a:rPr lang="en-US" altLang="zh-CN" sz="2300" dirty="0" err="1"/>
              <a:t>i</a:t>
            </a:r>
            <a:r>
              <a:rPr lang="en-US" altLang="zh-CN" sz="2300" dirty="0"/>
              <a:t>];</a:t>
            </a:r>
          </a:p>
          <a:p>
            <a:pPr marL="0" indent="0">
              <a:buNone/>
            </a:pPr>
            <a:r>
              <a:rPr lang="en-US" altLang="zh-CN" sz="2300" dirty="0"/>
              <a:t>  </a:t>
            </a:r>
            <a:r>
              <a:rPr lang="en-US" altLang="zh-CN" sz="2300" dirty="0" err="1"/>
              <a:t>string2</a:t>
            </a:r>
            <a:r>
              <a:rPr lang="en-US" altLang="zh-CN" sz="2300" dirty="0"/>
              <a:t>[size + 1] = '\0';</a:t>
            </a:r>
          </a:p>
          <a:p>
            <a:pPr marL="0" indent="0">
              <a:buNone/>
            </a:pPr>
            <a:r>
              <a:rPr lang="en-US" altLang="zh-CN" sz="2300" dirty="0"/>
              <a:t>  </a:t>
            </a:r>
            <a:r>
              <a:rPr lang="en-US" altLang="zh-CN" sz="2300" dirty="0" err="1"/>
              <a:t>printf</a:t>
            </a:r>
            <a:r>
              <a:rPr lang="en-US" altLang="zh-CN" sz="2300" dirty="0"/>
              <a:t> ("The string printed backward is %s\n", </a:t>
            </a:r>
            <a:r>
              <a:rPr lang="en-US" altLang="zh-CN" sz="2300" dirty="0" err="1"/>
              <a:t>string2</a:t>
            </a:r>
            <a:r>
              <a:rPr lang="en-US" altLang="zh-CN" sz="2300" dirty="0"/>
              <a:t>);</a:t>
            </a:r>
          </a:p>
          <a:p>
            <a:pPr marL="0" indent="0">
              <a:buNone/>
            </a:pPr>
            <a:r>
              <a:rPr lang="en-US" altLang="zh-CN" sz="2300" dirty="0"/>
              <a:t>}</a:t>
            </a:r>
          </a:p>
        </p:txBody>
      </p:sp>
      <p:sp>
        <p:nvSpPr>
          <p:cNvPr id="4" name="灯片编号占位符 1"/>
          <p:cNvSpPr>
            <a:spLocks noGrp="1"/>
          </p:cNvSpPr>
          <p:nvPr>
            <p:ph type="sldNum" sz="quarter" idx="11"/>
          </p:nvPr>
        </p:nvSpPr>
        <p:spPr>
          <a:xfrm>
            <a:off x="5053013" y="6240463"/>
            <a:ext cx="2133600" cy="457200"/>
          </a:xfrm>
        </p:spPr>
        <p:txBody>
          <a:bodyPr/>
          <a:lstStyle/>
          <a:p>
            <a:pPr>
              <a:defRPr/>
            </a:pPr>
            <a:fld id="{700C099A-6552-4724-AD39-B0EE2F003FA2}" type="slidenum">
              <a:rPr lang="en-US" altLang="zh-CN" smtClean="0"/>
              <a:pPr>
                <a:defRPr/>
              </a:pPr>
              <a:t>58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409255736"/>
      </p:ext>
    </p:extLst>
  </p:cSld>
  <p:clrMapOvr>
    <a:masterClrMapping/>
  </p:clrMapOvr>
  <p:transition spd="slow"/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981200" y="260648"/>
            <a:ext cx="8003232" cy="858837"/>
          </a:xfrm>
        </p:spPr>
        <p:txBody>
          <a:bodyPr/>
          <a:lstStyle/>
          <a:p>
            <a:r>
              <a:rPr lang="en-US" altLang="zh-CN" dirty="0" err="1"/>
              <a:t>GDB</a:t>
            </a:r>
            <a:r>
              <a:rPr lang="zh-CN" altLang="en-US" dirty="0"/>
              <a:t>调试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199456" y="1196752"/>
            <a:ext cx="10009112" cy="4896544"/>
          </a:xfrm>
        </p:spPr>
        <p:txBody>
          <a:bodyPr/>
          <a:lstStyle/>
          <a:p>
            <a:pPr marL="0" indent="0">
              <a:buNone/>
            </a:pPr>
            <a:r>
              <a:rPr lang="zh-CN" altLang="en-US" sz="2400" dirty="0"/>
              <a:t>该程序执行时，显示如下结果：</a:t>
            </a:r>
            <a:endParaRPr lang="en-US" altLang="zh-CN" sz="2400" dirty="0"/>
          </a:p>
          <a:p>
            <a:pPr marL="0" indent="0">
              <a:buNone/>
            </a:pPr>
            <a:r>
              <a:rPr lang="en-US" altLang="zh-CN" sz="2400" dirty="0"/>
              <a:t> The string is hello there</a:t>
            </a:r>
          </a:p>
          <a:p>
            <a:pPr marL="0" indent="0">
              <a:buNone/>
            </a:pPr>
            <a:r>
              <a:rPr lang="en-US" altLang="zh-CN" sz="2400" dirty="0"/>
              <a:t> The string printed backward is</a:t>
            </a:r>
          </a:p>
          <a:p>
            <a:pPr marL="0" indent="0">
              <a:buNone/>
            </a:pPr>
            <a:r>
              <a:rPr lang="zh-CN" altLang="en-US" sz="2400" dirty="0"/>
              <a:t>输出的第一行是正确的，但第二行打印出来的信息有误，正确的输出应该是：</a:t>
            </a:r>
            <a:endParaRPr lang="en-US" altLang="zh-CN" sz="2400" dirty="0"/>
          </a:p>
          <a:p>
            <a:pPr marL="0" indent="0">
              <a:buNone/>
            </a:pPr>
            <a:r>
              <a:rPr lang="en-US" altLang="zh-CN" sz="2400" dirty="0"/>
              <a:t>The string printed backward is </a:t>
            </a:r>
            <a:r>
              <a:rPr lang="en-US" altLang="zh-CN" sz="2400" dirty="0" err="1"/>
              <a:t>ereht</a:t>
            </a:r>
            <a:r>
              <a:rPr lang="en-US" altLang="zh-CN" sz="2400" dirty="0"/>
              <a:t> </a:t>
            </a:r>
            <a:r>
              <a:rPr lang="en-US" altLang="zh-CN" sz="2400" dirty="0" err="1"/>
              <a:t>olleh</a:t>
            </a:r>
            <a:endParaRPr lang="en-US" altLang="zh-CN" sz="2400" dirty="0"/>
          </a:p>
          <a:p>
            <a:pPr marL="0" indent="0">
              <a:buNone/>
            </a:pPr>
            <a:endParaRPr lang="en-US" altLang="zh-CN" sz="2400" dirty="0"/>
          </a:p>
          <a:p>
            <a:pPr marL="0" indent="0">
              <a:buNone/>
            </a:pPr>
            <a:r>
              <a:rPr lang="zh-CN" altLang="en-US" sz="2400" dirty="0"/>
              <a:t>下面用</a:t>
            </a:r>
            <a:r>
              <a:rPr lang="en-US" altLang="zh-CN" sz="2400" dirty="0" err="1"/>
              <a:t>gdb</a:t>
            </a:r>
            <a:r>
              <a:rPr lang="zh-CN" altLang="en-US" sz="2400" dirty="0"/>
              <a:t>对程序进行调试</a:t>
            </a:r>
            <a:endParaRPr lang="en-US" altLang="zh-CN" sz="2400" dirty="0"/>
          </a:p>
          <a:p>
            <a:pPr marL="0" indent="0">
              <a:buNone/>
            </a:pPr>
            <a:r>
              <a:rPr lang="en-US" altLang="zh-CN" sz="2400" dirty="0"/>
              <a:t>   # </a:t>
            </a:r>
            <a:r>
              <a:rPr lang="en-US" altLang="zh-CN" sz="2400" dirty="0" err="1"/>
              <a:t>gdb</a:t>
            </a:r>
            <a:r>
              <a:rPr lang="en-US" altLang="zh-CN" sz="2400" dirty="0"/>
              <a:t> greeting</a:t>
            </a:r>
          </a:p>
          <a:p>
            <a:pPr marL="0" indent="0">
              <a:buNone/>
            </a:pPr>
            <a:r>
              <a:rPr lang="en-US" altLang="zh-CN" sz="2400" dirty="0"/>
              <a:t>  (</a:t>
            </a:r>
            <a:r>
              <a:rPr lang="en-US" altLang="zh-CN" sz="2400" dirty="0" err="1"/>
              <a:t>gdb</a:t>
            </a:r>
            <a:r>
              <a:rPr lang="en-US" altLang="zh-CN" sz="2400" dirty="0"/>
              <a:t>) </a:t>
            </a:r>
            <a:r>
              <a:rPr lang="en-US" altLang="zh-CN" sz="2400" dirty="0">
                <a:solidFill>
                  <a:srgbClr val="0000CC"/>
                </a:solidFill>
              </a:rPr>
              <a:t>file</a:t>
            </a:r>
            <a:r>
              <a:rPr lang="en-US" altLang="zh-CN" sz="2400" dirty="0"/>
              <a:t> greeting</a:t>
            </a:r>
          </a:p>
          <a:p>
            <a:pPr marL="0" indent="0">
              <a:buNone/>
            </a:pPr>
            <a:r>
              <a:rPr lang="en-US" altLang="zh-CN" sz="2400" dirty="0"/>
              <a:t>  (</a:t>
            </a:r>
            <a:r>
              <a:rPr lang="en-US" altLang="zh-CN" sz="2400" dirty="0" err="1"/>
              <a:t>gdb</a:t>
            </a:r>
            <a:r>
              <a:rPr lang="en-US" altLang="zh-CN" sz="2400" dirty="0"/>
              <a:t>) run </a:t>
            </a:r>
          </a:p>
        </p:txBody>
      </p:sp>
    </p:spTree>
    <p:extLst>
      <p:ext uri="{BB962C8B-B14F-4D97-AF65-F5344CB8AC3E}">
        <p14:creationId xmlns:p14="http://schemas.microsoft.com/office/powerpoint/2010/main" val="1331269788"/>
      </p:ext>
    </p:extLst>
  </p:cSld>
  <p:clrMapOvr>
    <a:masterClrMapping/>
  </p:clrMapOvr>
  <p:transition spd="slow"/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4508" y="481931"/>
            <a:ext cx="10742984" cy="858837"/>
          </a:xfrm>
        </p:spPr>
        <p:txBody>
          <a:bodyPr/>
          <a:lstStyle/>
          <a:p>
            <a:r>
              <a:rPr lang="en-US" altLang="zh-CN" dirty="0" err="1"/>
              <a:t>GDB</a:t>
            </a:r>
            <a:r>
              <a:rPr lang="zh-CN" altLang="en-US" dirty="0"/>
              <a:t>调试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199456" y="1340768"/>
            <a:ext cx="9865096" cy="4896544"/>
          </a:xfrm>
        </p:spPr>
        <p:txBody>
          <a:bodyPr/>
          <a:lstStyle/>
          <a:p>
            <a:pPr marL="0" indent="0">
              <a:buNone/>
            </a:pPr>
            <a:r>
              <a:rPr lang="en-US" altLang="zh-CN" sz="2200" dirty="0"/>
              <a:t>Starting program:/root/greeting</a:t>
            </a:r>
          </a:p>
          <a:p>
            <a:pPr marL="0" indent="0">
              <a:buNone/>
            </a:pPr>
            <a:r>
              <a:rPr lang="en-US" altLang="zh-CN" sz="2200" dirty="0"/>
              <a:t>The string is hello there </a:t>
            </a:r>
          </a:p>
          <a:p>
            <a:pPr marL="0" indent="0">
              <a:buNone/>
            </a:pPr>
            <a:r>
              <a:rPr lang="en-US" altLang="zh-CN" sz="2200" dirty="0"/>
              <a:t>The string printed backward is</a:t>
            </a:r>
          </a:p>
          <a:p>
            <a:pPr marL="0" indent="0">
              <a:buNone/>
            </a:pPr>
            <a:r>
              <a:rPr lang="en-US" altLang="zh-CN" sz="2200" dirty="0"/>
              <a:t>Program exited with code 040</a:t>
            </a:r>
          </a:p>
          <a:p>
            <a:pPr marL="0" indent="0">
              <a:buNone/>
            </a:pPr>
            <a:r>
              <a:rPr lang="zh-CN" altLang="en-US" sz="2400" dirty="0"/>
              <a:t>可以看出，函数</a:t>
            </a:r>
            <a:r>
              <a:rPr lang="en-US" altLang="zh-CN" sz="2400" dirty="0" err="1"/>
              <a:t>my_printf2</a:t>
            </a:r>
            <a:r>
              <a:rPr lang="zh-CN" altLang="en-US" sz="2400" dirty="0"/>
              <a:t>没有正常工作，为了找出</a:t>
            </a:r>
            <a:r>
              <a:rPr lang="en-US" altLang="zh-CN" sz="2400" dirty="0"/>
              <a:t>bug</a:t>
            </a:r>
            <a:r>
              <a:rPr lang="zh-CN" altLang="en-US" sz="2400" dirty="0"/>
              <a:t>所在，可以在</a:t>
            </a:r>
            <a:r>
              <a:rPr lang="en-US" altLang="zh-CN" sz="2400" dirty="0" err="1"/>
              <a:t>my_printf2</a:t>
            </a:r>
            <a:r>
              <a:rPr lang="zh-CN" altLang="en-US" sz="2400" dirty="0"/>
              <a:t>函数的</a:t>
            </a:r>
            <a:r>
              <a:rPr lang="en-US" altLang="zh-CN" sz="2400" dirty="0"/>
              <a:t>for</a:t>
            </a:r>
            <a:r>
              <a:rPr lang="zh-CN" altLang="en-US" sz="2400" dirty="0"/>
              <a:t>语句后面设置一个断点，先使用</a:t>
            </a:r>
            <a:r>
              <a:rPr lang="en-US" altLang="zh-CN" sz="2400" dirty="0"/>
              <a:t>list</a:t>
            </a:r>
            <a:r>
              <a:rPr lang="zh-CN" altLang="en-US" sz="2400" dirty="0"/>
              <a:t>命令列出源代码。</a:t>
            </a:r>
            <a:endParaRPr lang="en-US" altLang="zh-CN" sz="2400" dirty="0"/>
          </a:p>
          <a:p>
            <a:pPr marL="0" indent="0">
              <a:buNone/>
            </a:pPr>
            <a:r>
              <a:rPr lang="zh-CN" altLang="en-US" sz="2400" dirty="0"/>
              <a:t>根据列出的源程序，可以看出要设置断点的地方在第</a:t>
            </a:r>
            <a:r>
              <a:rPr lang="en-US" altLang="zh-CN" sz="2400" dirty="0"/>
              <a:t>23</a:t>
            </a:r>
            <a:r>
              <a:rPr lang="zh-CN" altLang="en-US" sz="2400" dirty="0"/>
              <a:t>行。键入设置断点命令：</a:t>
            </a:r>
            <a:endParaRPr lang="en-US" altLang="zh-CN" sz="2400" dirty="0"/>
          </a:p>
          <a:p>
            <a:pPr marL="0" indent="0">
              <a:buNone/>
            </a:pPr>
            <a:r>
              <a:rPr lang="zh-CN" altLang="en-US" sz="2200" dirty="0"/>
              <a:t>（</a:t>
            </a:r>
            <a:r>
              <a:rPr lang="en-US" altLang="zh-CN" sz="2200" dirty="0"/>
              <a:t>gdb) break 23</a:t>
            </a:r>
          </a:p>
          <a:p>
            <a:pPr marL="0" indent="0">
              <a:buNone/>
            </a:pPr>
            <a:r>
              <a:rPr lang="en-US" altLang="zh-CN" sz="2200" dirty="0"/>
              <a:t>  gdb</a:t>
            </a:r>
            <a:r>
              <a:rPr lang="zh-CN" altLang="en-US" sz="2200" dirty="0"/>
              <a:t>做出如下显示：</a:t>
            </a:r>
            <a:endParaRPr lang="en-US" altLang="zh-CN" sz="2200" dirty="0"/>
          </a:p>
          <a:p>
            <a:pPr marL="0" indent="0">
              <a:buNone/>
            </a:pPr>
            <a:r>
              <a:rPr lang="en-US" altLang="zh-CN" sz="2200" dirty="0"/>
              <a:t>  Breakpoint 1   at  ox804842 : file greeting.c   line 23</a:t>
            </a:r>
          </a:p>
          <a:p>
            <a:pPr marL="0" indent="0">
              <a:buNone/>
            </a:pPr>
            <a:r>
              <a:rPr lang="en-US" altLang="zh-CN" sz="2200" dirty="0"/>
              <a:t> </a:t>
            </a:r>
            <a:endParaRPr lang="en-US" altLang="zh-CN" sz="2400" dirty="0"/>
          </a:p>
          <a:p>
            <a:pPr marL="0" indent="0">
              <a:buNone/>
            </a:pPr>
            <a:endParaRPr lang="en-US" altLang="zh-CN" sz="2400" dirty="0"/>
          </a:p>
        </p:txBody>
      </p:sp>
    </p:spTree>
    <p:extLst>
      <p:ext uri="{BB962C8B-B14F-4D97-AF65-F5344CB8AC3E}">
        <p14:creationId xmlns:p14="http://schemas.microsoft.com/office/powerpoint/2010/main" val="3392340244"/>
      </p:ext>
    </p:extLst>
  </p:cSld>
  <p:clrMapOvr>
    <a:masterClrMapping/>
  </p:clrMapOvr>
  <p:transition spd="slow"/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991544" y="416365"/>
            <a:ext cx="8280920" cy="858837"/>
          </a:xfrm>
        </p:spPr>
        <p:txBody>
          <a:bodyPr/>
          <a:lstStyle/>
          <a:p>
            <a:r>
              <a:rPr lang="en-US" altLang="zh-CN" dirty="0" err="1"/>
              <a:t>GDB</a:t>
            </a:r>
            <a:r>
              <a:rPr lang="zh-CN" altLang="en-US" dirty="0"/>
              <a:t>调试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271464" y="1304764"/>
            <a:ext cx="10153128" cy="4932548"/>
          </a:xfrm>
        </p:spPr>
        <p:txBody>
          <a:bodyPr/>
          <a:lstStyle/>
          <a:p>
            <a:pPr marL="0" indent="0">
              <a:lnSpc>
                <a:spcPct val="90000"/>
              </a:lnSpc>
              <a:buNone/>
            </a:pPr>
            <a:r>
              <a:rPr lang="zh-CN" altLang="en-US" sz="2400" dirty="0"/>
              <a:t>再使用</a:t>
            </a:r>
            <a:r>
              <a:rPr lang="en-US" altLang="zh-CN" sz="2400" dirty="0"/>
              <a:t>run</a:t>
            </a:r>
            <a:r>
              <a:rPr lang="zh-CN" altLang="en-US" sz="2400" dirty="0"/>
              <a:t>命令，输出如下结果：</a:t>
            </a:r>
            <a:endParaRPr lang="en-US" altLang="zh-CN" sz="2400" dirty="0"/>
          </a:p>
          <a:p>
            <a:pPr marL="0" indent="0">
              <a:lnSpc>
                <a:spcPct val="90000"/>
              </a:lnSpc>
              <a:buNone/>
            </a:pPr>
            <a:r>
              <a:rPr lang="en-US" altLang="zh-CN" sz="2200" dirty="0"/>
              <a:t>Starting program:/root/greeting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n-US" altLang="zh-CN" sz="2200" dirty="0"/>
              <a:t>The string is hello there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n-US" altLang="zh-CN" sz="2200" dirty="0"/>
              <a:t>Breakpoint </a:t>
            </a:r>
            <a:r>
              <a:rPr lang="en-US" altLang="zh-CN" sz="2200" dirty="0" err="1"/>
              <a:t>1,my_print2</a:t>
            </a:r>
            <a:r>
              <a:rPr lang="en-US" altLang="zh-CN" sz="2200" dirty="0"/>
              <a:t>(string=</a:t>
            </a:r>
            <a:r>
              <a:rPr lang="en-US" altLang="zh-CN" sz="2200" dirty="0" err="1"/>
              <a:t>oxbfffee00</a:t>
            </a:r>
            <a:r>
              <a:rPr lang="zh-CN" altLang="en-US" sz="2200" dirty="0"/>
              <a:t>“</a:t>
            </a:r>
            <a:r>
              <a:rPr lang="en-US" altLang="zh-CN" sz="2200" dirty="0"/>
              <a:t>hello there</a:t>
            </a:r>
            <a:r>
              <a:rPr lang="zh-CN" altLang="en-US" sz="2200" dirty="0"/>
              <a:t>”</a:t>
            </a:r>
            <a:r>
              <a:rPr lang="en-US" altLang="zh-CN" sz="2200" dirty="0"/>
              <a:t>) at </a:t>
            </a:r>
            <a:r>
              <a:rPr lang="en-US" altLang="zh-CN" sz="2200" dirty="0" err="1"/>
              <a:t>greeting.c</a:t>
            </a:r>
            <a:r>
              <a:rPr lang="en-US" altLang="zh-CN" sz="2200" dirty="0"/>
              <a:t> :23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n-US" altLang="zh-CN" sz="2200" dirty="0"/>
              <a:t>23          string2[size-</a:t>
            </a:r>
            <a:r>
              <a:rPr lang="en-US" altLang="zh-CN" sz="2200" dirty="0" err="1"/>
              <a:t>i</a:t>
            </a:r>
            <a:r>
              <a:rPr lang="en-US" altLang="zh-CN" sz="2200" dirty="0"/>
              <a:t>]=string[</a:t>
            </a:r>
            <a:r>
              <a:rPr lang="en-US" altLang="zh-CN" sz="2200" dirty="0" err="1"/>
              <a:t>i</a:t>
            </a:r>
            <a:r>
              <a:rPr lang="en-US" altLang="zh-CN" sz="2200" dirty="0"/>
              <a:t>];</a:t>
            </a:r>
          </a:p>
          <a:p>
            <a:pPr marL="0" indent="0">
              <a:lnSpc>
                <a:spcPct val="90000"/>
              </a:lnSpc>
              <a:buNone/>
            </a:pPr>
            <a:endParaRPr lang="en-US" altLang="zh-CN" sz="2200" dirty="0"/>
          </a:p>
          <a:p>
            <a:pPr marL="0" indent="0">
              <a:lnSpc>
                <a:spcPct val="90000"/>
              </a:lnSpc>
              <a:buNone/>
            </a:pPr>
            <a:r>
              <a:rPr lang="zh-CN" altLang="en-US" sz="2200" dirty="0"/>
              <a:t>下面用</a:t>
            </a:r>
            <a:r>
              <a:rPr lang="en-US" altLang="zh-CN" sz="2200" dirty="0"/>
              <a:t>next</a:t>
            </a:r>
            <a:r>
              <a:rPr lang="zh-CN" altLang="en-US" sz="2200" dirty="0"/>
              <a:t>命令来分步执行</a:t>
            </a:r>
            <a:r>
              <a:rPr lang="en-US" altLang="zh-CN" sz="2200" dirty="0"/>
              <a:t>for</a:t>
            </a:r>
            <a:r>
              <a:rPr lang="zh-CN" altLang="en-US" sz="2200" dirty="0"/>
              <a:t>循环，通过打印变量的值来检查错误产生的原因：</a:t>
            </a:r>
            <a:endParaRPr lang="en-US" altLang="zh-CN" sz="2200" dirty="0"/>
          </a:p>
          <a:p>
            <a:pPr marL="0" indent="0">
              <a:lnSpc>
                <a:spcPct val="90000"/>
              </a:lnSpc>
              <a:buNone/>
            </a:pPr>
            <a:r>
              <a:rPr lang="zh-CN" altLang="en-US" sz="2200" dirty="0"/>
              <a:t>（</a:t>
            </a:r>
            <a:r>
              <a:rPr lang="en-US" altLang="zh-CN" sz="2200" dirty="0"/>
              <a:t>gdb) next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nn-NO" altLang="zh-CN" sz="2200" dirty="0"/>
              <a:t>22	  for (i = 0; i &lt; size; i++)</a:t>
            </a:r>
            <a:endParaRPr lang="en-US" altLang="zh-CN" sz="2200" dirty="0"/>
          </a:p>
          <a:p>
            <a:pPr marL="0" indent="0">
              <a:lnSpc>
                <a:spcPct val="90000"/>
              </a:lnSpc>
              <a:buNone/>
            </a:pPr>
            <a:r>
              <a:rPr lang="zh-CN" altLang="en-US" sz="2200" dirty="0"/>
              <a:t>（</a:t>
            </a:r>
            <a:r>
              <a:rPr lang="en-US" altLang="zh-CN" sz="2200" dirty="0"/>
              <a:t>gdb</a:t>
            </a:r>
            <a:r>
              <a:rPr lang="zh-CN" altLang="en-US" sz="2200" dirty="0"/>
              <a:t>）</a:t>
            </a:r>
            <a:r>
              <a:rPr lang="en-US" altLang="zh-CN" sz="2200" dirty="0"/>
              <a:t>print  string2[size-</a:t>
            </a:r>
            <a:r>
              <a:rPr lang="en-US" altLang="zh-CN" sz="2200" dirty="0" err="1"/>
              <a:t>i</a:t>
            </a:r>
            <a:r>
              <a:rPr lang="en-US" altLang="zh-CN" sz="2200" dirty="0"/>
              <a:t>] 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n-US" altLang="zh-CN" sz="2200" dirty="0"/>
              <a:t>$1 = 104 'h'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zh-CN" altLang="en-US" sz="2200" dirty="0"/>
              <a:t>经过第一次循环后，打印</a:t>
            </a:r>
            <a:r>
              <a:rPr lang="en-US" altLang="zh-CN" sz="2200" dirty="0"/>
              <a:t>string2[size-</a:t>
            </a:r>
            <a:r>
              <a:rPr lang="en-US" altLang="zh-CN" sz="2200" dirty="0" err="1"/>
              <a:t>i</a:t>
            </a:r>
            <a:r>
              <a:rPr lang="en-US" altLang="zh-CN" sz="2200" dirty="0"/>
              <a:t>]</a:t>
            </a:r>
            <a:r>
              <a:rPr lang="zh-CN" altLang="en-US" sz="2200" dirty="0"/>
              <a:t>的值是“</a:t>
            </a:r>
            <a:r>
              <a:rPr lang="en-US" altLang="zh-CN" sz="2200" dirty="0"/>
              <a:t>h”,</a:t>
            </a:r>
            <a:r>
              <a:rPr lang="zh-CN" altLang="en-US" sz="2200" dirty="0"/>
              <a:t>该值是正确的。</a:t>
            </a:r>
            <a:endParaRPr lang="en-US" altLang="zh-CN" sz="2200" dirty="0"/>
          </a:p>
        </p:txBody>
      </p:sp>
    </p:spTree>
    <p:extLst>
      <p:ext uri="{BB962C8B-B14F-4D97-AF65-F5344CB8AC3E}">
        <p14:creationId xmlns:p14="http://schemas.microsoft.com/office/powerpoint/2010/main" val="2980121235"/>
      </p:ext>
    </p:extLst>
  </p:cSld>
  <p:clrMapOvr>
    <a:masterClrMapping/>
  </p:clrMapOvr>
  <p:transition spd="slow"/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96516" y="481931"/>
            <a:ext cx="10598968" cy="858837"/>
          </a:xfrm>
        </p:spPr>
        <p:txBody>
          <a:bodyPr/>
          <a:lstStyle/>
          <a:p>
            <a:r>
              <a:rPr lang="en-US" altLang="zh-CN" dirty="0" err="1"/>
              <a:t>GDB</a:t>
            </a:r>
            <a:r>
              <a:rPr lang="zh-CN" altLang="en-US" dirty="0"/>
              <a:t>调试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127448" y="1340768"/>
            <a:ext cx="10081120" cy="4824536"/>
          </a:xfrm>
        </p:spPr>
        <p:txBody>
          <a:bodyPr/>
          <a:lstStyle/>
          <a:p>
            <a:pPr marL="0" indent="0">
              <a:buNone/>
            </a:pPr>
            <a:r>
              <a:rPr lang="en-US" altLang="zh-CN" sz="2200" dirty="0"/>
              <a:t>……</a:t>
            </a:r>
          </a:p>
          <a:p>
            <a:pPr marL="0" indent="0">
              <a:buNone/>
            </a:pPr>
            <a:r>
              <a:rPr lang="en-US" altLang="zh-CN" sz="2200" dirty="0"/>
              <a:t>……</a:t>
            </a:r>
          </a:p>
          <a:p>
            <a:pPr marL="0" indent="0">
              <a:buNone/>
            </a:pPr>
            <a:r>
              <a:rPr lang="en-US" altLang="zh-CN" sz="2200" dirty="0"/>
              <a:t>gdb) print </a:t>
            </a:r>
            <a:r>
              <a:rPr lang="en-US" altLang="zh-CN" sz="2200" dirty="0" err="1"/>
              <a:t>i</a:t>
            </a:r>
            <a:endParaRPr lang="en-US" altLang="zh-CN" sz="2200" dirty="0"/>
          </a:p>
          <a:p>
            <a:pPr marL="0" indent="0">
              <a:buNone/>
            </a:pPr>
            <a:r>
              <a:rPr lang="en-US" altLang="zh-CN" sz="2200" dirty="0"/>
              <a:t>$11 = 10</a:t>
            </a:r>
          </a:p>
          <a:p>
            <a:pPr marL="0" indent="0">
              <a:buNone/>
            </a:pPr>
            <a:r>
              <a:rPr lang="en-US" altLang="zh-CN" sz="2200" dirty="0"/>
              <a:t>(gdb) print  string2[size-</a:t>
            </a:r>
            <a:r>
              <a:rPr lang="en-US" altLang="zh-CN" sz="2200" dirty="0" err="1"/>
              <a:t>i</a:t>
            </a:r>
            <a:r>
              <a:rPr lang="en-US" altLang="zh-CN" sz="2200" dirty="0"/>
              <a:t>] </a:t>
            </a:r>
          </a:p>
          <a:p>
            <a:pPr marL="0" indent="0">
              <a:buNone/>
            </a:pPr>
            <a:r>
              <a:rPr lang="en-US" altLang="zh-CN" sz="2200" dirty="0"/>
              <a:t>$12 = 101 'e'</a:t>
            </a:r>
            <a:endParaRPr lang="en-US" altLang="zh-CN" sz="2600" dirty="0"/>
          </a:p>
          <a:p>
            <a:r>
              <a:rPr lang="zh-CN" altLang="en-US" sz="2600" dirty="0"/>
              <a:t>后来的数次循环结果都是正确的。当 </a:t>
            </a:r>
            <a:r>
              <a:rPr lang="en-US" altLang="zh-CN" sz="2600" dirty="0" err="1"/>
              <a:t>i</a:t>
            </a:r>
            <a:r>
              <a:rPr lang="en-US" altLang="zh-CN" sz="2600" dirty="0"/>
              <a:t> = 10</a:t>
            </a:r>
            <a:r>
              <a:rPr lang="zh-CN" altLang="en-US" sz="2600" dirty="0"/>
              <a:t>时，表达式</a:t>
            </a:r>
            <a:r>
              <a:rPr lang="en-US" altLang="zh-CN" sz="2600" dirty="0" err="1"/>
              <a:t>string2</a:t>
            </a:r>
            <a:r>
              <a:rPr lang="en-US" altLang="zh-CN" sz="2600" dirty="0"/>
              <a:t>[size-</a:t>
            </a:r>
            <a:r>
              <a:rPr lang="en-US" altLang="zh-CN" sz="2600" dirty="0" err="1"/>
              <a:t>i</a:t>
            </a:r>
            <a:r>
              <a:rPr lang="en-US" altLang="zh-CN" sz="2600" dirty="0"/>
              <a:t>]</a:t>
            </a:r>
            <a:r>
              <a:rPr lang="zh-CN" altLang="en-US" sz="2600" dirty="0"/>
              <a:t>的值等于“</a:t>
            </a:r>
            <a:r>
              <a:rPr lang="en-US" altLang="zh-CN" sz="2600" dirty="0"/>
              <a:t>e</a:t>
            </a:r>
            <a:r>
              <a:rPr lang="zh-CN" altLang="en-US" sz="2600" dirty="0"/>
              <a:t>”</a:t>
            </a:r>
            <a:r>
              <a:rPr lang="en-US" altLang="zh-CN" sz="2600" dirty="0"/>
              <a:t>,size-</a:t>
            </a:r>
            <a:r>
              <a:rPr lang="en-US" altLang="zh-CN" sz="2600" dirty="0" err="1"/>
              <a:t>i</a:t>
            </a:r>
            <a:r>
              <a:rPr lang="zh-CN" altLang="en-US" sz="2600" dirty="0"/>
              <a:t>的值等于</a:t>
            </a:r>
            <a:r>
              <a:rPr lang="en-US" altLang="zh-CN" sz="2600" dirty="0"/>
              <a:t>1</a:t>
            </a:r>
            <a:r>
              <a:rPr lang="zh-CN" altLang="en-US" sz="2600" dirty="0"/>
              <a:t>，最后一个字符已经复制到新字符串了。再继续循环执行下去，已经没有值分配给</a:t>
            </a:r>
            <a:r>
              <a:rPr lang="en-US" altLang="zh-CN" sz="2600" dirty="0"/>
              <a:t>string2[0]</a:t>
            </a:r>
            <a:r>
              <a:rPr lang="zh-CN" altLang="en-US" sz="2600" dirty="0"/>
              <a:t>了，而它是新串的第一个字符。</a:t>
            </a:r>
            <a:endParaRPr lang="en-US" altLang="zh-CN" sz="2600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F7D091B6-5A60-254F-1027-56AD2D57A92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4799856" y="5802472"/>
            <a:ext cx="2844800" cy="457200"/>
          </a:xfrm>
        </p:spPr>
        <p:txBody>
          <a:bodyPr/>
          <a:lstStyle/>
          <a:p>
            <a:pPr>
              <a:defRPr/>
            </a:pPr>
            <a:fld id="{110871B5-850E-4E14-A636-3EC679EBF038}" type="slidenum">
              <a:rPr lang="en-US" altLang="zh-CN" smtClean="0"/>
              <a:pPr>
                <a:defRPr/>
              </a:pPr>
              <a:t>62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2608909490"/>
      </p:ext>
    </p:extLst>
  </p:cSld>
  <p:clrMapOvr>
    <a:masterClrMapping/>
  </p:clrMapOvr>
  <p:transition spd="slow"/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063552" y="404664"/>
            <a:ext cx="7920880" cy="858837"/>
          </a:xfrm>
        </p:spPr>
        <p:txBody>
          <a:bodyPr/>
          <a:lstStyle/>
          <a:p>
            <a:r>
              <a:rPr lang="en-US" altLang="zh-CN" dirty="0" err="1"/>
              <a:t>GDB</a:t>
            </a:r>
            <a:r>
              <a:rPr lang="zh-CN" altLang="en-US" dirty="0"/>
              <a:t>调试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127448" y="1412776"/>
            <a:ext cx="10153128" cy="4896544"/>
          </a:xfrm>
        </p:spPr>
        <p:txBody>
          <a:bodyPr/>
          <a:lstStyle/>
          <a:p>
            <a:pPr>
              <a:lnSpc>
                <a:spcPct val="120000"/>
              </a:lnSpc>
            </a:pPr>
            <a:r>
              <a:rPr lang="zh-CN" altLang="en-US" sz="2600" dirty="0"/>
              <a:t>因为</a:t>
            </a:r>
            <a:r>
              <a:rPr lang="en-US" altLang="zh-CN" sz="2600" dirty="0"/>
              <a:t>malloc</a:t>
            </a:r>
            <a:r>
              <a:rPr lang="zh-CN" altLang="en-US" sz="2600" dirty="0"/>
              <a:t>函数在分配内存时把该字符串初始化为空（</a:t>
            </a:r>
            <a:r>
              <a:rPr lang="en-US" altLang="zh-CN" sz="2600" dirty="0"/>
              <a:t>null)</a:t>
            </a:r>
            <a:r>
              <a:rPr lang="zh-CN" altLang="en-US" sz="2600" dirty="0"/>
              <a:t>字符。所以</a:t>
            </a:r>
            <a:r>
              <a:rPr lang="en-US" altLang="zh-CN" sz="2600" dirty="0">
                <a:solidFill>
                  <a:srgbClr val="0000CC"/>
                </a:solidFill>
              </a:rPr>
              <a:t>string2</a:t>
            </a:r>
            <a:r>
              <a:rPr lang="zh-CN" altLang="en-US" sz="2600" dirty="0">
                <a:solidFill>
                  <a:srgbClr val="0000CC"/>
                </a:solidFill>
              </a:rPr>
              <a:t>的第一个字符是空字符</a:t>
            </a:r>
            <a:r>
              <a:rPr lang="zh-CN" altLang="en-US" sz="2600" dirty="0"/>
              <a:t>，这就是为什么在打印</a:t>
            </a:r>
            <a:r>
              <a:rPr lang="en-US" altLang="zh-CN" sz="2600" dirty="0"/>
              <a:t>string2</a:t>
            </a:r>
            <a:r>
              <a:rPr lang="zh-CN" altLang="en-US" sz="2600" dirty="0"/>
              <a:t>时</a:t>
            </a:r>
            <a:r>
              <a:rPr lang="zh-CN" altLang="en-US" sz="2600" dirty="0">
                <a:solidFill>
                  <a:srgbClr val="0000CC"/>
                </a:solidFill>
              </a:rPr>
              <a:t>没有输出的原因</a:t>
            </a:r>
            <a:r>
              <a:rPr lang="zh-CN" altLang="en-US" sz="2600" dirty="0"/>
              <a:t>。</a:t>
            </a:r>
            <a:endParaRPr lang="en-US" altLang="zh-CN" sz="2600" dirty="0"/>
          </a:p>
          <a:p>
            <a:pPr>
              <a:lnSpc>
                <a:spcPct val="120000"/>
              </a:lnSpc>
            </a:pPr>
            <a:r>
              <a:rPr lang="zh-CN" altLang="en-US" sz="2600" dirty="0"/>
              <a:t>修正错误，只需要把代码里写入</a:t>
            </a:r>
            <a:r>
              <a:rPr lang="en-US" altLang="zh-CN" sz="2600" dirty="0"/>
              <a:t>string2</a:t>
            </a:r>
            <a:r>
              <a:rPr lang="zh-CN" altLang="en-US" sz="2600" dirty="0"/>
              <a:t>的第一个字符的偏移量改为</a:t>
            </a:r>
            <a:r>
              <a:rPr lang="en-US" altLang="zh-CN" sz="2600" dirty="0"/>
              <a:t>size-1</a:t>
            </a:r>
            <a:r>
              <a:rPr lang="zh-CN" altLang="en-US" sz="2600" dirty="0"/>
              <a:t>，而不是</a:t>
            </a:r>
            <a:r>
              <a:rPr lang="en-US" altLang="zh-CN" sz="2600" dirty="0"/>
              <a:t>size</a:t>
            </a:r>
            <a:r>
              <a:rPr lang="zh-CN" altLang="en-US" sz="2600" dirty="0"/>
              <a:t>。因为</a:t>
            </a:r>
            <a:r>
              <a:rPr lang="en-US" altLang="zh-CN" sz="2600" dirty="0"/>
              <a:t>string2</a:t>
            </a:r>
            <a:r>
              <a:rPr lang="zh-CN" altLang="en-US" sz="2600" dirty="0"/>
              <a:t>的大小为</a:t>
            </a:r>
            <a:r>
              <a:rPr lang="en-US" altLang="zh-CN" sz="2600" dirty="0"/>
              <a:t>12</a:t>
            </a:r>
            <a:r>
              <a:rPr lang="zh-CN" altLang="en-US" sz="2600" dirty="0"/>
              <a:t>，但起始偏移量是</a:t>
            </a:r>
            <a:r>
              <a:rPr lang="en-US" altLang="zh-CN" sz="2600" dirty="0"/>
              <a:t>0</a:t>
            </a:r>
            <a:r>
              <a:rPr lang="zh-CN" altLang="en-US" sz="2600" dirty="0"/>
              <a:t>，串内的字符从偏移量</a:t>
            </a:r>
            <a:r>
              <a:rPr lang="en-US" altLang="zh-CN" sz="2600" dirty="0"/>
              <a:t>0</a:t>
            </a:r>
            <a:r>
              <a:rPr lang="zh-CN" altLang="en-US" sz="2600" dirty="0"/>
              <a:t>到偏移量</a:t>
            </a:r>
            <a:r>
              <a:rPr lang="en-US" altLang="zh-CN" sz="2600" dirty="0"/>
              <a:t>10</a:t>
            </a:r>
            <a:r>
              <a:rPr lang="zh-CN" altLang="en-US" sz="2600" dirty="0"/>
              <a:t>，偏移量</a:t>
            </a:r>
            <a:r>
              <a:rPr lang="en-US" altLang="zh-CN" sz="2600" dirty="0"/>
              <a:t>11</a:t>
            </a:r>
            <a:r>
              <a:rPr lang="zh-CN" altLang="en-US" sz="2600" dirty="0"/>
              <a:t>为空字符保留，从而引起了字符错位，导致无法获得正确的输出结果。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110871B5-850E-4E14-A636-3EC679EBF038}" type="slidenum">
              <a:rPr lang="en-US" altLang="zh-CN" smtClean="0"/>
              <a:pPr>
                <a:defRPr/>
              </a:pPr>
              <a:t>63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2167508569"/>
      </p:ext>
    </p:extLst>
  </p:cSld>
  <p:clrMapOvr>
    <a:masterClrMapping/>
  </p:clrMapOvr>
  <p:transition spd="slow"/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341240" y="265907"/>
            <a:ext cx="7211144" cy="858837"/>
          </a:xfrm>
        </p:spPr>
        <p:txBody>
          <a:bodyPr/>
          <a:lstStyle/>
          <a:p>
            <a:r>
              <a:rPr lang="en-US" altLang="zh-CN" dirty="0" err="1"/>
              <a:t>GDB</a:t>
            </a:r>
            <a:r>
              <a:rPr lang="zh-CN" altLang="en-US" dirty="0"/>
              <a:t>调试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055440" y="908720"/>
            <a:ext cx="9937104" cy="4968552"/>
          </a:xfrm>
        </p:spPr>
        <p:txBody>
          <a:bodyPr/>
          <a:lstStyle/>
          <a:p>
            <a:pPr marL="0" indent="0">
              <a:lnSpc>
                <a:spcPct val="90000"/>
              </a:lnSpc>
              <a:buNone/>
            </a:pPr>
            <a:r>
              <a:rPr lang="zh-CN" altLang="en-US" sz="2400" dirty="0"/>
              <a:t>修正后的代码：</a:t>
            </a:r>
            <a:endParaRPr lang="en-US" altLang="zh-CN" sz="2400" dirty="0"/>
          </a:p>
          <a:p>
            <a:pPr marL="0" indent="0">
              <a:lnSpc>
                <a:spcPct val="90000"/>
              </a:lnSpc>
              <a:buNone/>
            </a:pPr>
            <a:r>
              <a:rPr lang="en-US" altLang="zh-CN" sz="2000" dirty="0"/>
              <a:t>#include &lt;stdio.h&gt;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n-US" altLang="zh-CN" sz="2000" dirty="0"/>
              <a:t>#include&lt;stdlib.h&gt;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n-US" altLang="zh-CN" sz="2000" dirty="0"/>
              <a:t>#include&lt;string.h&gt;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n-US" altLang="zh-CN" sz="2000" dirty="0"/>
              <a:t>void </a:t>
            </a:r>
            <a:r>
              <a:rPr lang="en-US" altLang="zh-CN" sz="2000" dirty="0" err="1"/>
              <a:t>my_print</a:t>
            </a:r>
            <a:r>
              <a:rPr lang="en-US" altLang="zh-CN" sz="2000" dirty="0"/>
              <a:t> (char *string);</a:t>
            </a:r>
            <a:endParaRPr lang="zh-CN" altLang="zh-CN" sz="2000" dirty="0"/>
          </a:p>
          <a:p>
            <a:pPr marL="0" indent="0">
              <a:lnSpc>
                <a:spcPct val="90000"/>
              </a:lnSpc>
              <a:buNone/>
            </a:pPr>
            <a:r>
              <a:rPr lang="en-US" altLang="zh-CN" sz="2000" dirty="0"/>
              <a:t>void </a:t>
            </a:r>
            <a:r>
              <a:rPr lang="en-US" altLang="zh-CN" sz="2000" dirty="0" err="1"/>
              <a:t>my_print2</a:t>
            </a:r>
            <a:r>
              <a:rPr lang="en-US" altLang="zh-CN" sz="2000" dirty="0"/>
              <a:t> (char *string);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n-US" altLang="zh-CN" sz="2000" dirty="0"/>
              <a:t>main( )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n-US" altLang="zh-CN" sz="2000" dirty="0"/>
              <a:t>{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n-US" altLang="zh-CN" sz="2000" dirty="0"/>
              <a:t>  char </a:t>
            </a:r>
            <a:r>
              <a:rPr lang="en-US" altLang="zh-CN" sz="2000" dirty="0" err="1"/>
              <a:t>my_string</a:t>
            </a:r>
            <a:r>
              <a:rPr lang="en-US" altLang="zh-CN" sz="2000" dirty="0"/>
              <a:t>[ ] = "hello there";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n-US" altLang="zh-CN" sz="2000" dirty="0"/>
              <a:t>  </a:t>
            </a:r>
            <a:r>
              <a:rPr lang="en-US" altLang="zh-CN" sz="2000" dirty="0" err="1"/>
              <a:t>my_print</a:t>
            </a:r>
            <a:r>
              <a:rPr lang="en-US" altLang="zh-CN" sz="2000" dirty="0"/>
              <a:t> (</a:t>
            </a:r>
            <a:r>
              <a:rPr lang="en-US" altLang="zh-CN" sz="2000" dirty="0" err="1"/>
              <a:t>my_string</a:t>
            </a:r>
            <a:r>
              <a:rPr lang="en-US" altLang="zh-CN" sz="2000" dirty="0"/>
              <a:t>);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n-US" altLang="zh-CN" sz="2000" dirty="0"/>
              <a:t>  </a:t>
            </a:r>
            <a:r>
              <a:rPr lang="en-US" altLang="zh-CN" sz="2000" dirty="0" err="1"/>
              <a:t>my_print2</a:t>
            </a:r>
            <a:r>
              <a:rPr lang="en-US" altLang="zh-CN" sz="2000" dirty="0"/>
              <a:t> (</a:t>
            </a:r>
            <a:r>
              <a:rPr lang="en-US" altLang="zh-CN" sz="2000" dirty="0" err="1"/>
              <a:t>my_string</a:t>
            </a:r>
            <a:r>
              <a:rPr lang="en-US" altLang="zh-CN" sz="2000" dirty="0"/>
              <a:t>);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n-US" altLang="zh-CN" sz="2000" dirty="0"/>
              <a:t>}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n-US" altLang="zh-CN" sz="2000" dirty="0"/>
              <a:t>void </a:t>
            </a:r>
            <a:r>
              <a:rPr lang="en-US" altLang="zh-CN" sz="2000" dirty="0" err="1"/>
              <a:t>my_print</a:t>
            </a:r>
            <a:r>
              <a:rPr lang="en-US" altLang="zh-CN" sz="2000" dirty="0"/>
              <a:t> (char *string)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n-US" altLang="zh-CN" sz="2000" dirty="0"/>
              <a:t>{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n-US" altLang="zh-CN" sz="2000" dirty="0"/>
              <a:t>  </a:t>
            </a:r>
            <a:r>
              <a:rPr lang="en-US" altLang="zh-CN" sz="2000" dirty="0" err="1"/>
              <a:t>printf</a:t>
            </a:r>
            <a:r>
              <a:rPr lang="en-US" altLang="zh-CN" sz="2000" dirty="0"/>
              <a:t> ("The string is %s\n", string);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n-US" altLang="zh-CN" sz="2000" dirty="0"/>
              <a:t>}</a:t>
            </a:r>
            <a:endParaRPr lang="zh-CN" altLang="en-US" sz="2000" dirty="0"/>
          </a:p>
        </p:txBody>
      </p:sp>
    </p:spTree>
    <p:extLst>
      <p:ext uri="{BB962C8B-B14F-4D97-AF65-F5344CB8AC3E}">
        <p14:creationId xmlns:p14="http://schemas.microsoft.com/office/powerpoint/2010/main" val="448553580"/>
      </p:ext>
    </p:extLst>
  </p:cSld>
  <p:clrMapOvr>
    <a:masterClrMapping/>
  </p:clrMapOvr>
  <p:transition spd="slow"/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233669" y="265907"/>
            <a:ext cx="9614859" cy="858837"/>
          </a:xfrm>
        </p:spPr>
        <p:txBody>
          <a:bodyPr/>
          <a:lstStyle/>
          <a:p>
            <a:r>
              <a:rPr lang="en-US" altLang="zh-CN" dirty="0" err="1"/>
              <a:t>GDB</a:t>
            </a:r>
            <a:r>
              <a:rPr lang="zh-CN" altLang="en-US" dirty="0"/>
              <a:t>调试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127448" y="1268760"/>
            <a:ext cx="10081120" cy="4411662"/>
          </a:xfrm>
        </p:spPr>
        <p:txBody>
          <a:bodyPr/>
          <a:lstStyle/>
          <a:p>
            <a:pPr marL="0" indent="0">
              <a:buNone/>
            </a:pPr>
            <a:r>
              <a:rPr lang="en-US" altLang="zh-CN" sz="2300" dirty="0"/>
              <a:t>void </a:t>
            </a:r>
            <a:r>
              <a:rPr lang="en-US" altLang="zh-CN" sz="2300" dirty="0" err="1"/>
              <a:t>my_print2</a:t>
            </a:r>
            <a:r>
              <a:rPr lang="en-US" altLang="zh-CN" sz="2300" dirty="0"/>
              <a:t> (char *string)</a:t>
            </a:r>
          </a:p>
          <a:p>
            <a:pPr marL="0" indent="0">
              <a:buNone/>
            </a:pPr>
            <a:r>
              <a:rPr lang="en-US" altLang="zh-CN" sz="2300" dirty="0"/>
              <a:t>{</a:t>
            </a:r>
          </a:p>
          <a:p>
            <a:pPr marL="0" indent="0">
              <a:buNone/>
            </a:pPr>
            <a:r>
              <a:rPr lang="en-US" altLang="zh-CN" sz="2300" dirty="0"/>
              <a:t>  char  *string2;</a:t>
            </a:r>
          </a:p>
          <a:p>
            <a:pPr marL="0" indent="0">
              <a:buNone/>
            </a:pPr>
            <a:r>
              <a:rPr lang="en-US" altLang="zh-CN" sz="2300" dirty="0"/>
              <a:t>  int size,  </a:t>
            </a:r>
            <a:r>
              <a:rPr lang="en-US" altLang="zh-CN" sz="2300" dirty="0">
                <a:solidFill>
                  <a:srgbClr val="0000CC"/>
                </a:solidFill>
              </a:rPr>
              <a:t>size2</a:t>
            </a:r>
            <a:r>
              <a:rPr lang="en-US" altLang="zh-CN" sz="2300" dirty="0"/>
              <a:t> , </a:t>
            </a:r>
            <a:r>
              <a:rPr lang="en-US" altLang="zh-CN" sz="2300" dirty="0" err="1"/>
              <a:t>i</a:t>
            </a:r>
            <a:r>
              <a:rPr lang="en-US" altLang="zh-CN" sz="2300" dirty="0"/>
              <a:t>;</a:t>
            </a:r>
          </a:p>
          <a:p>
            <a:pPr marL="0" indent="0">
              <a:buNone/>
            </a:pPr>
            <a:r>
              <a:rPr lang="en-US" altLang="zh-CN" sz="2300" dirty="0"/>
              <a:t>  size = </a:t>
            </a:r>
            <a:r>
              <a:rPr lang="en-US" altLang="zh-CN" sz="2300" dirty="0" err="1"/>
              <a:t>strlen</a:t>
            </a:r>
            <a:r>
              <a:rPr lang="en-US" altLang="zh-CN" sz="2300" dirty="0"/>
              <a:t> (string);</a:t>
            </a:r>
          </a:p>
          <a:p>
            <a:pPr marL="0" indent="0">
              <a:buNone/>
            </a:pPr>
            <a:r>
              <a:rPr lang="en-US" altLang="zh-CN" sz="2300" dirty="0"/>
              <a:t>  </a:t>
            </a:r>
            <a:r>
              <a:rPr lang="en-US" altLang="zh-CN" sz="2300" dirty="0" err="1">
                <a:solidFill>
                  <a:srgbClr val="0000CC"/>
                </a:solidFill>
              </a:rPr>
              <a:t>size2</a:t>
            </a:r>
            <a:r>
              <a:rPr lang="en-US" altLang="zh-CN" sz="2300" dirty="0">
                <a:solidFill>
                  <a:srgbClr val="0000CC"/>
                </a:solidFill>
              </a:rPr>
              <a:t> = size-1</a:t>
            </a:r>
            <a:r>
              <a:rPr lang="en-US" altLang="zh-CN" sz="2300" dirty="0"/>
              <a:t>;</a:t>
            </a:r>
          </a:p>
          <a:p>
            <a:pPr marL="0" indent="0">
              <a:buNone/>
            </a:pPr>
            <a:r>
              <a:rPr lang="en-US" altLang="zh-CN" sz="2300" dirty="0"/>
              <a:t>  </a:t>
            </a:r>
            <a:r>
              <a:rPr lang="en-US" altLang="zh-CN" sz="2300" dirty="0" err="1"/>
              <a:t>string2</a:t>
            </a:r>
            <a:r>
              <a:rPr lang="en-US" altLang="zh-CN" sz="2300" dirty="0"/>
              <a:t> = (char *) </a:t>
            </a:r>
            <a:r>
              <a:rPr lang="en-US" altLang="zh-CN" sz="2300" dirty="0" err="1"/>
              <a:t>malloc</a:t>
            </a:r>
            <a:r>
              <a:rPr lang="en-US" altLang="zh-CN" sz="2300" dirty="0"/>
              <a:t> (size + 1);</a:t>
            </a:r>
          </a:p>
          <a:p>
            <a:pPr marL="0" indent="0">
              <a:buNone/>
            </a:pPr>
            <a:r>
              <a:rPr lang="en-US" altLang="zh-CN" sz="2300" dirty="0"/>
              <a:t> for (</a:t>
            </a:r>
            <a:r>
              <a:rPr lang="en-US" altLang="zh-CN" sz="2300" dirty="0" err="1"/>
              <a:t>i</a:t>
            </a:r>
            <a:r>
              <a:rPr lang="en-US" altLang="zh-CN" sz="2300" dirty="0"/>
              <a:t> = 0; </a:t>
            </a:r>
            <a:r>
              <a:rPr lang="en-US" altLang="zh-CN" sz="2300" dirty="0" err="1"/>
              <a:t>i</a:t>
            </a:r>
            <a:r>
              <a:rPr lang="en-US" altLang="zh-CN" sz="2300" dirty="0"/>
              <a:t> &lt; size; </a:t>
            </a:r>
            <a:r>
              <a:rPr lang="en-US" altLang="zh-CN" sz="2300" dirty="0" err="1"/>
              <a:t>i</a:t>
            </a:r>
            <a:r>
              <a:rPr lang="en-US" altLang="zh-CN" sz="2300" dirty="0"/>
              <a:t>++)</a:t>
            </a:r>
          </a:p>
          <a:p>
            <a:pPr marL="0" indent="0">
              <a:buNone/>
            </a:pPr>
            <a:r>
              <a:rPr lang="en-US" altLang="zh-CN" sz="2300" dirty="0"/>
              <a:t>       string2[ </a:t>
            </a:r>
            <a:r>
              <a:rPr lang="en-US" altLang="zh-CN" sz="2300" dirty="0">
                <a:solidFill>
                  <a:srgbClr val="0000CC"/>
                </a:solidFill>
              </a:rPr>
              <a:t>size2 - </a:t>
            </a:r>
            <a:r>
              <a:rPr lang="en-US" altLang="zh-CN" sz="2300" dirty="0" err="1">
                <a:solidFill>
                  <a:srgbClr val="0000CC"/>
                </a:solidFill>
              </a:rPr>
              <a:t>i</a:t>
            </a:r>
            <a:r>
              <a:rPr lang="en-US" altLang="zh-CN" sz="2300" dirty="0">
                <a:solidFill>
                  <a:srgbClr val="0000CC"/>
                </a:solidFill>
              </a:rPr>
              <a:t> </a:t>
            </a:r>
            <a:r>
              <a:rPr lang="en-US" altLang="zh-CN" sz="2300" dirty="0"/>
              <a:t>] = string[</a:t>
            </a:r>
            <a:r>
              <a:rPr lang="en-US" altLang="zh-CN" sz="2300" dirty="0" err="1"/>
              <a:t>i</a:t>
            </a:r>
            <a:r>
              <a:rPr lang="en-US" altLang="zh-CN" sz="2300" dirty="0"/>
              <a:t>];</a:t>
            </a:r>
          </a:p>
          <a:p>
            <a:pPr marL="0" indent="0">
              <a:buNone/>
            </a:pPr>
            <a:r>
              <a:rPr lang="en-US" altLang="zh-CN" sz="2300" dirty="0"/>
              <a:t>  </a:t>
            </a:r>
            <a:r>
              <a:rPr lang="en-US" altLang="zh-CN" sz="2300" dirty="0" err="1"/>
              <a:t>string2</a:t>
            </a:r>
            <a:r>
              <a:rPr lang="en-US" altLang="zh-CN" sz="2300" dirty="0"/>
              <a:t>[</a:t>
            </a:r>
            <a:r>
              <a:rPr lang="en-US" altLang="zh-CN" sz="2300" dirty="0">
                <a:solidFill>
                  <a:srgbClr val="0000CC"/>
                </a:solidFill>
              </a:rPr>
              <a:t>size</a:t>
            </a:r>
            <a:r>
              <a:rPr lang="en-US" altLang="zh-CN" sz="2300" dirty="0"/>
              <a:t>] = '\0';</a:t>
            </a:r>
          </a:p>
          <a:p>
            <a:pPr marL="0" indent="0">
              <a:buNone/>
            </a:pPr>
            <a:r>
              <a:rPr lang="en-US" altLang="zh-CN" sz="2300" dirty="0"/>
              <a:t>  </a:t>
            </a:r>
            <a:r>
              <a:rPr lang="en-US" altLang="zh-CN" sz="2300" dirty="0" err="1"/>
              <a:t>printf</a:t>
            </a:r>
            <a:r>
              <a:rPr lang="en-US" altLang="zh-CN" sz="2300" dirty="0"/>
              <a:t> ("The string printed backward is %s\n", </a:t>
            </a:r>
            <a:r>
              <a:rPr lang="en-US" altLang="zh-CN" sz="2300" dirty="0" err="1"/>
              <a:t>string2</a:t>
            </a:r>
            <a:r>
              <a:rPr lang="en-US" altLang="zh-CN" sz="2300" dirty="0"/>
              <a:t>);</a:t>
            </a:r>
          </a:p>
          <a:p>
            <a:pPr marL="0" indent="0">
              <a:buNone/>
            </a:pPr>
            <a:r>
              <a:rPr lang="en-US" altLang="zh-CN" sz="2300" dirty="0"/>
              <a:t>}</a:t>
            </a:r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110871B5-850E-4E14-A636-3EC679EBF038}" type="slidenum">
              <a:rPr lang="en-US" altLang="zh-CN" smtClean="0"/>
              <a:pPr>
                <a:defRPr/>
              </a:pPr>
              <a:t>65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436952585"/>
      </p:ext>
    </p:extLst>
  </p:cSld>
  <p:clrMapOvr>
    <a:masterClrMapping/>
  </p:clrMapOvr>
  <p:transition spd="slow"/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Text Box 4"/>
          <p:cNvSpPr txBox="1">
            <a:spLocks noChangeArrowheads="1"/>
          </p:cNvSpPr>
          <p:nvPr/>
        </p:nvSpPr>
        <p:spPr bwMode="auto">
          <a:xfrm>
            <a:off x="1991940" y="567085"/>
            <a:ext cx="8064500" cy="701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20000"/>
              </a:spcBef>
            </a:pPr>
            <a:r>
              <a:rPr lang="en-US" altLang="zh-CN" sz="4000" dirty="0">
                <a:latin typeface="+mj-lt"/>
                <a:ea typeface="+mj-ea"/>
                <a:cs typeface="+mj-cs"/>
              </a:rPr>
              <a:t>6.4</a:t>
            </a:r>
            <a:r>
              <a:rPr kumimoji="1" lang="en-US" altLang="zh-CN" sz="4000" dirty="0">
                <a:latin typeface="+mj-ea"/>
                <a:ea typeface="+mj-ea"/>
              </a:rPr>
              <a:t>  </a:t>
            </a:r>
            <a:r>
              <a:rPr kumimoji="1" lang="en-US" altLang="zh-CN" sz="4000" dirty="0">
                <a:latin typeface="+mn-lt"/>
                <a:ea typeface="+mj-ea"/>
              </a:rPr>
              <a:t>Make</a:t>
            </a:r>
            <a:r>
              <a:rPr kumimoji="1" lang="zh-CN" altLang="en-US" sz="4000" dirty="0">
                <a:latin typeface="+mj-ea"/>
                <a:ea typeface="+mj-ea"/>
              </a:rPr>
              <a:t>工程管理器</a:t>
            </a:r>
          </a:p>
        </p:txBody>
      </p:sp>
      <p:sp>
        <p:nvSpPr>
          <p:cNvPr id="71683" name="Text Box 5"/>
          <p:cNvSpPr txBox="1">
            <a:spLocks noChangeArrowheads="1"/>
          </p:cNvSpPr>
          <p:nvPr/>
        </p:nvSpPr>
        <p:spPr bwMode="auto">
          <a:xfrm>
            <a:off x="1055440" y="1556792"/>
            <a:ext cx="10081120" cy="36395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9pPr>
          </a:lstStyle>
          <a:p>
            <a:pPr marL="342900" indent="-342900" algn="l" eaLnBrk="1" hangingPunct="1">
              <a:lnSpc>
                <a:spcPct val="110000"/>
              </a:lnSpc>
              <a:spcBef>
                <a:spcPct val="20000"/>
              </a:spcBef>
              <a:buSzPct val="80000"/>
              <a:buFont typeface="Wingdings" panose="05000000000000000000" pitchFamily="2" charset="2"/>
              <a:buChar char="l"/>
            </a:pPr>
            <a:r>
              <a:rPr kumimoji="1" lang="zh-CN" altLang="en-US" sz="2600" dirty="0">
                <a:latin typeface="+mn-ea"/>
                <a:ea typeface="+mn-ea"/>
              </a:rPr>
              <a:t>对于繁多的源文件，如果每次都要用</a:t>
            </a:r>
            <a:r>
              <a:rPr kumimoji="1" lang="en-US" altLang="zh-CN" sz="2600" dirty="0">
                <a:latin typeface="+mn-ea"/>
                <a:ea typeface="+mn-ea"/>
              </a:rPr>
              <a:t>gcc</a:t>
            </a:r>
            <a:r>
              <a:rPr kumimoji="1" lang="zh-CN" altLang="en-US" sz="2600" dirty="0">
                <a:latin typeface="+mn-ea"/>
                <a:ea typeface="+mn-ea"/>
              </a:rPr>
              <a:t>命令进行编译的话，那么程序员来说是一件很困难的事情。而</a:t>
            </a:r>
            <a:r>
              <a:rPr kumimoji="1" lang="en-US" altLang="zh-CN" sz="2600" dirty="0">
                <a:latin typeface="+mn-ea"/>
                <a:ea typeface="+mn-ea"/>
              </a:rPr>
              <a:t>make</a:t>
            </a:r>
            <a:r>
              <a:rPr kumimoji="1" lang="zh-CN" altLang="en-US" sz="2600" dirty="0">
                <a:latin typeface="+mn-ea"/>
                <a:ea typeface="+mn-ea"/>
              </a:rPr>
              <a:t>工具则可以</a:t>
            </a:r>
            <a:r>
              <a:rPr kumimoji="1" lang="zh-CN" altLang="en-US" sz="2600" dirty="0">
                <a:solidFill>
                  <a:srgbClr val="CC0099"/>
                </a:solidFill>
                <a:latin typeface="+mn-ea"/>
                <a:ea typeface="+mn-ea"/>
              </a:rPr>
              <a:t>自动完成编译工作</a:t>
            </a:r>
            <a:r>
              <a:rPr kumimoji="1" lang="zh-CN" altLang="en-US" sz="2600" dirty="0">
                <a:latin typeface="+mn-ea"/>
                <a:ea typeface="+mn-ea"/>
              </a:rPr>
              <a:t>，并且可以只对程序员在上次编译后修改过的部分进行编译。从而</a:t>
            </a:r>
            <a:r>
              <a:rPr kumimoji="1" lang="zh-CN" altLang="en-US" sz="2600" dirty="0">
                <a:solidFill>
                  <a:srgbClr val="CC0099"/>
                </a:solidFill>
                <a:latin typeface="+mn-ea"/>
                <a:ea typeface="+mn-ea"/>
              </a:rPr>
              <a:t>减少编译的工作量</a:t>
            </a:r>
            <a:r>
              <a:rPr kumimoji="1" lang="zh-CN" altLang="en-US" sz="2600" dirty="0">
                <a:latin typeface="+mn-ea"/>
                <a:ea typeface="+mn-ea"/>
              </a:rPr>
              <a:t>。</a:t>
            </a:r>
          </a:p>
          <a:p>
            <a:pPr marL="342900" indent="-342900" algn="l" eaLnBrk="1" hangingPunct="1">
              <a:lnSpc>
                <a:spcPct val="110000"/>
              </a:lnSpc>
              <a:spcBef>
                <a:spcPct val="20000"/>
              </a:spcBef>
              <a:buSzPct val="80000"/>
              <a:buFont typeface="Wingdings" panose="05000000000000000000" pitchFamily="2" charset="2"/>
              <a:buChar char="l"/>
            </a:pPr>
            <a:r>
              <a:rPr kumimoji="1" lang="en-US" altLang="zh-CN" sz="2600" dirty="0">
                <a:latin typeface="+mn-ea"/>
                <a:ea typeface="+mn-ea"/>
              </a:rPr>
              <a:t>make</a:t>
            </a:r>
            <a:r>
              <a:rPr kumimoji="1" lang="zh-CN" altLang="en-US" sz="2600" dirty="0">
                <a:latin typeface="+mn-ea"/>
                <a:ea typeface="+mn-ea"/>
              </a:rPr>
              <a:t>工程管理器就是一个“</a:t>
            </a:r>
            <a:r>
              <a:rPr kumimoji="1" lang="zh-CN" altLang="en-US" sz="2600" dirty="0">
                <a:solidFill>
                  <a:srgbClr val="0000CC"/>
                </a:solidFill>
                <a:latin typeface="+mn-ea"/>
                <a:ea typeface="+mn-ea"/>
              </a:rPr>
              <a:t>自动编译管理器</a:t>
            </a:r>
            <a:r>
              <a:rPr kumimoji="1" lang="zh-CN" altLang="en-US" sz="2600" dirty="0">
                <a:latin typeface="+mn-ea"/>
                <a:ea typeface="+mn-ea"/>
              </a:rPr>
              <a:t>”，这里的“</a:t>
            </a:r>
            <a:r>
              <a:rPr kumimoji="1" lang="zh-CN" altLang="en-US" sz="2600" dirty="0">
                <a:solidFill>
                  <a:srgbClr val="FF9900"/>
                </a:solidFill>
                <a:latin typeface="+mn-ea"/>
                <a:ea typeface="+mn-ea"/>
              </a:rPr>
              <a:t>自动</a:t>
            </a:r>
            <a:r>
              <a:rPr kumimoji="1" lang="zh-CN" altLang="en-US" sz="2600" dirty="0">
                <a:latin typeface="+mn-ea"/>
                <a:ea typeface="+mn-ea"/>
              </a:rPr>
              <a:t>”是指它能够将大型的开发项目分解为多个更为易于管理的模块，简洁明快地理顺各个源文件之间纷繁复杂的相对关系。因此，有效地利用</a:t>
            </a:r>
            <a:r>
              <a:rPr kumimoji="1" lang="en-US" altLang="zh-CN" sz="2600" dirty="0">
                <a:latin typeface="+mn-ea"/>
                <a:ea typeface="+mn-ea"/>
              </a:rPr>
              <a:t>make</a:t>
            </a:r>
            <a:r>
              <a:rPr kumimoji="1" lang="zh-CN" altLang="en-US" sz="2600" dirty="0">
                <a:latin typeface="+mn-ea"/>
                <a:ea typeface="+mn-ea"/>
              </a:rPr>
              <a:t>命令和</a:t>
            </a:r>
            <a:r>
              <a:rPr kumimoji="1" lang="en-US" altLang="zh-CN" sz="2600" dirty="0">
                <a:latin typeface="+mn-ea"/>
                <a:ea typeface="+mn-ea"/>
              </a:rPr>
              <a:t>make file</a:t>
            </a:r>
            <a:r>
              <a:rPr kumimoji="1" lang="zh-CN" altLang="en-US" sz="2600" dirty="0">
                <a:latin typeface="+mn-ea"/>
                <a:ea typeface="+mn-ea"/>
              </a:rPr>
              <a:t>文件可以大大</a:t>
            </a:r>
            <a:r>
              <a:rPr kumimoji="1" lang="zh-CN" altLang="en-US" sz="2600" dirty="0">
                <a:solidFill>
                  <a:srgbClr val="0000CC"/>
                </a:solidFill>
                <a:latin typeface="+mn-ea"/>
                <a:ea typeface="+mn-ea"/>
              </a:rPr>
              <a:t>提高项目开发的效率</a:t>
            </a:r>
            <a:r>
              <a:rPr kumimoji="1" lang="zh-CN" altLang="en-US" sz="2600" dirty="0">
                <a:latin typeface="+mn-ea"/>
                <a:ea typeface="+mn-ea"/>
              </a:rPr>
              <a:t>。</a:t>
            </a: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700C099A-6552-4724-AD39-B0EE2F003FA2}" type="slidenum">
              <a:rPr lang="en-US" altLang="zh-CN" smtClean="0"/>
              <a:pPr>
                <a:defRPr/>
              </a:pPr>
              <a:t>66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906957098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Text Box 4"/>
          <p:cNvSpPr txBox="1">
            <a:spLocks noChangeArrowheads="1"/>
          </p:cNvSpPr>
          <p:nvPr/>
        </p:nvSpPr>
        <p:spPr bwMode="auto">
          <a:xfrm>
            <a:off x="1792956" y="560874"/>
            <a:ext cx="8119468" cy="7078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20000"/>
              </a:spcBef>
            </a:pPr>
            <a:r>
              <a:rPr kumimoji="1" lang="en-US" altLang="zh-CN" sz="4000" dirty="0">
                <a:latin typeface="+mn-lt"/>
                <a:ea typeface="+mj-ea"/>
              </a:rPr>
              <a:t>Makefile</a:t>
            </a:r>
            <a:r>
              <a:rPr kumimoji="1" lang="zh-CN" altLang="en-US" sz="4000" dirty="0">
                <a:latin typeface="+mj-ea"/>
                <a:ea typeface="+mj-ea"/>
              </a:rPr>
              <a:t>文件</a:t>
            </a:r>
          </a:p>
        </p:txBody>
      </p:sp>
      <p:sp>
        <p:nvSpPr>
          <p:cNvPr id="72707" name="Text Box 5"/>
          <p:cNvSpPr txBox="1">
            <a:spLocks noChangeArrowheads="1"/>
          </p:cNvSpPr>
          <p:nvPr/>
        </p:nvSpPr>
        <p:spPr bwMode="auto">
          <a:xfrm>
            <a:off x="1127448" y="1504933"/>
            <a:ext cx="10081120" cy="395460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9pPr>
          </a:lstStyle>
          <a:p>
            <a:pPr marL="457200" indent="-457200" algn="l" eaLnBrk="1" hangingPunct="1">
              <a:lnSpc>
                <a:spcPct val="115000"/>
              </a:lnSpc>
              <a:spcBef>
                <a:spcPct val="30000"/>
              </a:spcBef>
              <a:buSzPct val="80000"/>
              <a:buFont typeface="Wingdings" panose="05000000000000000000" pitchFamily="2" charset="2"/>
              <a:buChar char="l"/>
            </a:pPr>
            <a:r>
              <a:rPr kumimoji="1" lang="en-US" altLang="zh-CN" sz="2600" dirty="0">
                <a:latin typeface="+mn-ea"/>
                <a:ea typeface="+mn-ea"/>
              </a:rPr>
              <a:t>make</a:t>
            </a:r>
            <a:r>
              <a:rPr kumimoji="1" lang="zh-CN" altLang="en-US" sz="2600" dirty="0">
                <a:latin typeface="+mn-ea"/>
                <a:ea typeface="+mn-ea"/>
              </a:rPr>
              <a:t>工具最主要最基本的功能是通过</a:t>
            </a:r>
            <a:r>
              <a:rPr kumimoji="1" lang="en-US" altLang="zh-CN" sz="2600" dirty="0" err="1">
                <a:latin typeface="+mn-ea"/>
                <a:ea typeface="+mn-ea"/>
              </a:rPr>
              <a:t>makefile</a:t>
            </a:r>
            <a:r>
              <a:rPr kumimoji="1" lang="zh-CN" altLang="en-US" sz="2600" dirty="0">
                <a:latin typeface="+mn-ea"/>
                <a:ea typeface="+mn-ea"/>
              </a:rPr>
              <a:t>文件来描述源程序之间的相互关系并自动维护编译工作。</a:t>
            </a:r>
            <a:endParaRPr kumimoji="1" lang="en-US" altLang="zh-CN" sz="2600" dirty="0">
              <a:latin typeface="+mn-ea"/>
              <a:ea typeface="+mn-ea"/>
            </a:endParaRPr>
          </a:p>
          <a:p>
            <a:pPr marL="457200" indent="-457200" algn="l" eaLnBrk="1" hangingPunct="1">
              <a:lnSpc>
                <a:spcPct val="115000"/>
              </a:lnSpc>
              <a:spcBef>
                <a:spcPct val="30000"/>
              </a:spcBef>
              <a:buSzPct val="80000"/>
              <a:buFont typeface="Wingdings" panose="05000000000000000000" pitchFamily="2" charset="2"/>
              <a:buChar char="l"/>
            </a:pPr>
            <a:r>
              <a:rPr kumimoji="1" lang="en-US" altLang="zh-CN" sz="2600" dirty="0" err="1">
                <a:latin typeface="+mn-ea"/>
                <a:ea typeface="+mn-ea"/>
              </a:rPr>
              <a:t>makefile</a:t>
            </a:r>
            <a:r>
              <a:rPr kumimoji="1" lang="zh-CN" altLang="en-US" sz="2600" dirty="0">
                <a:latin typeface="+mn-ea"/>
                <a:ea typeface="+mn-ea"/>
              </a:rPr>
              <a:t>是一个文本形式的数据库文件，其中包含一些规则，</a:t>
            </a:r>
            <a:r>
              <a:rPr kumimoji="1" lang="zh-CN" altLang="en-US" sz="2600" dirty="0">
                <a:solidFill>
                  <a:srgbClr val="CC0099"/>
                </a:solidFill>
                <a:latin typeface="+mn-ea"/>
                <a:ea typeface="+mn-ea"/>
              </a:rPr>
              <a:t>它告诉</a:t>
            </a:r>
            <a:r>
              <a:rPr kumimoji="1" lang="en-US" altLang="zh-CN" sz="2600" dirty="0">
                <a:solidFill>
                  <a:srgbClr val="CC0099"/>
                </a:solidFill>
                <a:latin typeface="+mn-ea"/>
                <a:ea typeface="+mn-ea"/>
              </a:rPr>
              <a:t>make</a:t>
            </a:r>
            <a:r>
              <a:rPr kumimoji="1" lang="zh-CN" altLang="en-US" sz="2600" dirty="0">
                <a:solidFill>
                  <a:srgbClr val="CC0099"/>
                </a:solidFill>
                <a:latin typeface="+mn-ea"/>
                <a:ea typeface="+mn-ea"/>
              </a:rPr>
              <a:t>编译哪些文件、怎样编译以及在什么条件下去编译</a:t>
            </a:r>
            <a:r>
              <a:rPr kumimoji="1" lang="zh-CN" altLang="en-US" sz="2600" dirty="0">
                <a:latin typeface="+mn-ea"/>
                <a:ea typeface="+mn-ea"/>
              </a:rPr>
              <a:t>。</a:t>
            </a:r>
            <a:endParaRPr kumimoji="1" lang="en-US" altLang="zh-CN" sz="2600" dirty="0">
              <a:latin typeface="+mn-ea"/>
              <a:ea typeface="+mn-ea"/>
            </a:endParaRPr>
          </a:p>
          <a:p>
            <a:pPr marL="457200" indent="-457200" algn="l" eaLnBrk="1" hangingPunct="1">
              <a:lnSpc>
                <a:spcPct val="115000"/>
              </a:lnSpc>
              <a:spcBef>
                <a:spcPct val="30000"/>
              </a:spcBef>
              <a:buSzPct val="80000"/>
              <a:buFont typeface="Wingdings" panose="05000000000000000000" pitchFamily="2" charset="2"/>
              <a:buChar char="l"/>
            </a:pPr>
            <a:r>
              <a:rPr kumimoji="1" lang="zh-CN" altLang="en-US" sz="2600" dirty="0">
                <a:latin typeface="+mn-ea"/>
                <a:ea typeface="+mn-ea"/>
              </a:rPr>
              <a:t>换句话说，这些规则主要是描述哪些文件（称为</a:t>
            </a:r>
            <a:r>
              <a:rPr kumimoji="1" lang="en-US" altLang="zh-CN" sz="2600" dirty="0">
                <a:solidFill>
                  <a:srgbClr val="0000CC"/>
                </a:solidFill>
                <a:latin typeface="+mn-ea"/>
                <a:ea typeface="+mn-ea"/>
              </a:rPr>
              <a:t>target</a:t>
            </a:r>
            <a:r>
              <a:rPr kumimoji="1" lang="zh-CN" altLang="en-US" sz="2600" dirty="0">
                <a:solidFill>
                  <a:srgbClr val="0000CC"/>
                </a:solidFill>
                <a:latin typeface="+mn-ea"/>
                <a:ea typeface="+mn-ea"/>
              </a:rPr>
              <a:t>目标文件</a:t>
            </a:r>
            <a:r>
              <a:rPr kumimoji="1" lang="zh-CN" altLang="en-US" sz="2600" dirty="0">
                <a:latin typeface="+mn-ea"/>
                <a:ea typeface="+mn-ea"/>
              </a:rPr>
              <a:t>，注意不要和编译时产生的目标文件相混淆）是从哪些别的文件（称为</a:t>
            </a:r>
            <a:r>
              <a:rPr kumimoji="1" lang="en-US" altLang="zh-CN" sz="2600" dirty="0">
                <a:solidFill>
                  <a:srgbClr val="0000CC"/>
                </a:solidFill>
                <a:latin typeface="+mn-ea"/>
                <a:ea typeface="+mn-ea"/>
              </a:rPr>
              <a:t>dependency</a:t>
            </a:r>
            <a:r>
              <a:rPr kumimoji="1" lang="zh-CN" altLang="en-US" sz="2600" dirty="0">
                <a:solidFill>
                  <a:srgbClr val="0000CC"/>
                </a:solidFill>
                <a:latin typeface="+mn-ea"/>
                <a:ea typeface="+mn-ea"/>
              </a:rPr>
              <a:t>依赖文件</a:t>
            </a:r>
            <a:r>
              <a:rPr kumimoji="1" lang="zh-CN" altLang="en-US" sz="2600" dirty="0">
                <a:latin typeface="+mn-ea"/>
                <a:ea typeface="+mn-ea"/>
              </a:rPr>
              <a:t>）中产生的，以及用什么命令（</a:t>
            </a:r>
            <a:r>
              <a:rPr kumimoji="1" lang="en-US" altLang="zh-CN" sz="2600" dirty="0">
                <a:latin typeface="+mn-ea"/>
                <a:ea typeface="+mn-ea"/>
              </a:rPr>
              <a:t>command</a:t>
            </a:r>
            <a:r>
              <a:rPr kumimoji="1" lang="zh-CN" altLang="en-US" sz="2600" dirty="0">
                <a:latin typeface="+mn-ea"/>
                <a:ea typeface="+mn-ea"/>
              </a:rPr>
              <a:t>）来执行这个过程。</a:t>
            </a:r>
            <a:r>
              <a:rPr kumimoji="1" lang="zh-CN" altLang="en-US" sz="2400" dirty="0">
                <a:latin typeface="+mn-ea"/>
                <a:ea typeface="+mn-ea"/>
              </a:rPr>
              <a:t>    </a:t>
            </a: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700C099A-6552-4724-AD39-B0EE2F003FA2}" type="slidenum">
              <a:rPr lang="en-US" altLang="zh-CN" smtClean="0"/>
              <a:pPr>
                <a:defRPr/>
              </a:pPr>
              <a:t>67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544968853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089653" y="404664"/>
            <a:ext cx="9830883" cy="858837"/>
          </a:xfrm>
        </p:spPr>
        <p:txBody>
          <a:bodyPr/>
          <a:lstStyle/>
          <a:p>
            <a:r>
              <a:rPr lang="en-US" altLang="zh-CN" dirty="0">
                <a:latin typeface="+mj-lt"/>
              </a:rPr>
              <a:t>Makefile</a:t>
            </a:r>
            <a:r>
              <a:rPr lang="zh-CN" altLang="en-US" dirty="0">
                <a:latin typeface="+mn-ea"/>
              </a:rPr>
              <a:t>文件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631504" y="1412776"/>
            <a:ext cx="8856984" cy="5040560"/>
          </a:xfrm>
        </p:spPr>
        <p:txBody>
          <a:bodyPr/>
          <a:lstStyle/>
          <a:p>
            <a:pPr marL="0" indent="0">
              <a:buNone/>
            </a:pPr>
            <a:r>
              <a:rPr lang="zh-CN" altLang="en-US" sz="2600" dirty="0"/>
              <a:t>例如，有</a:t>
            </a:r>
            <a:r>
              <a:rPr lang="en-US" altLang="zh-CN" sz="2600" dirty="0"/>
              <a:t>3</a:t>
            </a:r>
            <a:r>
              <a:rPr lang="zh-CN" altLang="en-US" sz="2600" dirty="0"/>
              <a:t>个头文件：</a:t>
            </a:r>
            <a:r>
              <a:rPr lang="en-US" altLang="zh-CN" sz="2600" dirty="0" err="1"/>
              <a:t>a.h</a:t>
            </a:r>
            <a:r>
              <a:rPr lang="zh-CN" altLang="en-US" sz="2600" dirty="0"/>
              <a:t>、</a:t>
            </a:r>
            <a:r>
              <a:rPr lang="en-US" altLang="zh-CN" sz="2600" dirty="0" err="1"/>
              <a:t>b.h</a:t>
            </a:r>
            <a:r>
              <a:rPr lang="zh-CN" altLang="en-US" sz="2600" dirty="0"/>
              <a:t>、</a:t>
            </a:r>
            <a:r>
              <a:rPr lang="en-US" altLang="zh-CN" sz="2600" dirty="0" err="1"/>
              <a:t>c.h</a:t>
            </a:r>
            <a:r>
              <a:rPr lang="zh-CN" altLang="en-US" sz="2600" dirty="0"/>
              <a:t>，</a:t>
            </a:r>
            <a:r>
              <a:rPr lang="en-US" altLang="zh-CN" sz="2600" dirty="0"/>
              <a:t>3</a:t>
            </a:r>
            <a:r>
              <a:rPr lang="zh-CN" altLang="en-US" sz="2600" dirty="0"/>
              <a:t>个</a:t>
            </a:r>
            <a:r>
              <a:rPr lang="en-US" altLang="zh-CN" sz="2600" dirty="0"/>
              <a:t>C</a:t>
            </a:r>
            <a:r>
              <a:rPr lang="zh-CN" altLang="en-US" sz="2600" dirty="0"/>
              <a:t>语言源文件：</a:t>
            </a:r>
            <a:r>
              <a:rPr lang="en-US" altLang="zh-CN" sz="2600" dirty="0" err="1"/>
              <a:t>main.c</a:t>
            </a:r>
            <a:r>
              <a:rPr lang="zh-CN" altLang="en-US" sz="2600" dirty="0"/>
              <a:t>、</a:t>
            </a:r>
            <a:r>
              <a:rPr lang="en-US" altLang="zh-CN" sz="2600" dirty="0" err="1"/>
              <a:t>2.c</a:t>
            </a:r>
            <a:r>
              <a:rPr lang="zh-CN" altLang="en-US" sz="2600" dirty="0"/>
              <a:t>、</a:t>
            </a:r>
            <a:r>
              <a:rPr lang="en-US" altLang="zh-CN" sz="2600" dirty="0" err="1"/>
              <a:t>3.c</a:t>
            </a:r>
            <a:r>
              <a:rPr lang="zh-CN" altLang="en-US" sz="2600" dirty="0"/>
              <a:t>，具体情况如下：</a:t>
            </a:r>
            <a:endParaRPr lang="en-US" altLang="zh-CN" sz="2600" dirty="0"/>
          </a:p>
          <a:p>
            <a:pPr marL="0" indent="0">
              <a:buNone/>
            </a:pPr>
            <a:r>
              <a:rPr lang="en-US" altLang="zh-CN" sz="2400" dirty="0"/>
              <a:t> </a:t>
            </a:r>
          </a:p>
          <a:p>
            <a:pPr marL="644525" lvl="2" indent="0">
              <a:lnSpc>
                <a:spcPct val="80000"/>
              </a:lnSpc>
              <a:buNone/>
            </a:pPr>
            <a:r>
              <a:rPr lang="en-US" altLang="zh-CN" sz="2200" dirty="0"/>
              <a:t>/******</a:t>
            </a:r>
            <a:r>
              <a:rPr lang="en-US" altLang="zh-CN" sz="2200" dirty="0" err="1"/>
              <a:t>main.c</a:t>
            </a:r>
            <a:r>
              <a:rPr lang="en-US" altLang="zh-CN" sz="2200" dirty="0"/>
              <a:t>*****/</a:t>
            </a:r>
          </a:p>
          <a:p>
            <a:pPr marL="644525" lvl="2" indent="0">
              <a:lnSpc>
                <a:spcPct val="80000"/>
              </a:lnSpc>
              <a:buNone/>
            </a:pPr>
            <a:r>
              <a:rPr lang="en-US" altLang="zh-CN" sz="2200" dirty="0"/>
              <a:t>#include</a:t>
            </a:r>
            <a:r>
              <a:rPr lang="zh-CN" altLang="en-US" sz="2200" dirty="0"/>
              <a:t>“</a:t>
            </a:r>
            <a:r>
              <a:rPr lang="en-US" altLang="zh-CN" sz="2200" dirty="0" err="1"/>
              <a:t>a.h</a:t>
            </a:r>
            <a:r>
              <a:rPr lang="zh-CN" altLang="en-US" sz="2200" dirty="0"/>
              <a:t>”</a:t>
            </a:r>
            <a:endParaRPr lang="en-US" altLang="zh-CN" sz="2200" dirty="0"/>
          </a:p>
          <a:p>
            <a:pPr marL="644525" lvl="2" indent="0">
              <a:lnSpc>
                <a:spcPct val="80000"/>
              </a:lnSpc>
              <a:buNone/>
            </a:pPr>
            <a:r>
              <a:rPr lang="en-US" altLang="zh-CN" sz="2200" dirty="0"/>
              <a:t>…</a:t>
            </a:r>
          </a:p>
          <a:p>
            <a:pPr marL="644525" lvl="2" indent="0">
              <a:lnSpc>
                <a:spcPct val="80000"/>
              </a:lnSpc>
              <a:buNone/>
            </a:pPr>
            <a:r>
              <a:rPr lang="en-US" altLang="zh-CN" sz="2200" dirty="0"/>
              <a:t>/******</a:t>
            </a:r>
            <a:r>
              <a:rPr lang="en-US" altLang="zh-CN" sz="2200" dirty="0" err="1"/>
              <a:t>2.c</a:t>
            </a:r>
            <a:r>
              <a:rPr lang="en-US" altLang="zh-CN" sz="2200" dirty="0"/>
              <a:t>*****/</a:t>
            </a:r>
          </a:p>
          <a:p>
            <a:pPr marL="644525" lvl="2" indent="0">
              <a:lnSpc>
                <a:spcPct val="80000"/>
              </a:lnSpc>
              <a:buNone/>
            </a:pPr>
            <a:r>
              <a:rPr lang="en-US" altLang="zh-CN" sz="2200" dirty="0"/>
              <a:t>#include</a:t>
            </a:r>
            <a:r>
              <a:rPr lang="zh-CN" altLang="en-US" sz="2200" dirty="0"/>
              <a:t>“</a:t>
            </a:r>
            <a:r>
              <a:rPr lang="en-US" altLang="zh-CN" sz="2200" dirty="0" err="1"/>
              <a:t>a.h</a:t>
            </a:r>
            <a:r>
              <a:rPr lang="zh-CN" altLang="en-US" sz="2200" dirty="0"/>
              <a:t>”</a:t>
            </a:r>
            <a:endParaRPr lang="en-US" altLang="zh-CN" sz="2200" dirty="0"/>
          </a:p>
          <a:p>
            <a:pPr marL="644525" lvl="2" indent="0">
              <a:lnSpc>
                <a:spcPct val="80000"/>
              </a:lnSpc>
              <a:buNone/>
            </a:pPr>
            <a:r>
              <a:rPr lang="en-US" altLang="zh-CN" sz="2200" dirty="0"/>
              <a:t>#include</a:t>
            </a:r>
            <a:r>
              <a:rPr lang="zh-CN" altLang="en-US" sz="2200" dirty="0"/>
              <a:t>“</a:t>
            </a:r>
            <a:r>
              <a:rPr lang="en-US" altLang="zh-CN" sz="2200" dirty="0" err="1"/>
              <a:t>b.h</a:t>
            </a:r>
            <a:r>
              <a:rPr lang="zh-CN" altLang="en-US" sz="2200" dirty="0"/>
              <a:t>”</a:t>
            </a:r>
            <a:endParaRPr lang="en-US" altLang="zh-CN" sz="2200" dirty="0"/>
          </a:p>
          <a:p>
            <a:pPr marL="644525" lvl="2" indent="0">
              <a:lnSpc>
                <a:spcPct val="80000"/>
              </a:lnSpc>
              <a:buNone/>
            </a:pPr>
            <a:r>
              <a:rPr lang="en-US" altLang="zh-CN" sz="2200" dirty="0"/>
              <a:t>…</a:t>
            </a:r>
          </a:p>
          <a:p>
            <a:pPr marL="644525" lvl="2" indent="0">
              <a:lnSpc>
                <a:spcPct val="80000"/>
              </a:lnSpc>
              <a:buNone/>
            </a:pPr>
            <a:r>
              <a:rPr lang="en-US" altLang="zh-CN" sz="2200" dirty="0"/>
              <a:t>/******</a:t>
            </a:r>
            <a:r>
              <a:rPr lang="en-US" altLang="zh-CN" sz="2200" dirty="0" err="1"/>
              <a:t>3.c</a:t>
            </a:r>
            <a:r>
              <a:rPr lang="en-US" altLang="zh-CN" sz="2200" dirty="0"/>
              <a:t>*****/</a:t>
            </a:r>
          </a:p>
          <a:p>
            <a:pPr marL="644525" lvl="2" indent="0">
              <a:lnSpc>
                <a:spcPct val="80000"/>
              </a:lnSpc>
              <a:buNone/>
            </a:pPr>
            <a:r>
              <a:rPr lang="en-US" altLang="zh-CN" sz="2200" dirty="0"/>
              <a:t>#include</a:t>
            </a:r>
            <a:r>
              <a:rPr lang="zh-CN" altLang="en-US" sz="2200" dirty="0"/>
              <a:t>“</a:t>
            </a:r>
            <a:r>
              <a:rPr lang="en-US" altLang="zh-CN" sz="2200" dirty="0" err="1"/>
              <a:t>b.h</a:t>
            </a:r>
            <a:r>
              <a:rPr lang="zh-CN" altLang="en-US" sz="2200" dirty="0"/>
              <a:t>”</a:t>
            </a:r>
            <a:endParaRPr lang="en-US" altLang="zh-CN" sz="2200" dirty="0"/>
          </a:p>
          <a:p>
            <a:pPr marL="644525" lvl="2" indent="0">
              <a:lnSpc>
                <a:spcPct val="80000"/>
              </a:lnSpc>
              <a:buNone/>
            </a:pPr>
            <a:r>
              <a:rPr lang="en-US" altLang="zh-CN" sz="2200" dirty="0"/>
              <a:t>#include</a:t>
            </a:r>
            <a:r>
              <a:rPr lang="zh-CN" altLang="en-US" sz="2200" dirty="0"/>
              <a:t>“</a:t>
            </a:r>
            <a:r>
              <a:rPr lang="en-US" altLang="zh-CN" sz="2200" dirty="0" err="1"/>
              <a:t>c.h</a:t>
            </a:r>
            <a:r>
              <a:rPr lang="zh-CN" altLang="en-US" sz="2200" dirty="0"/>
              <a:t>”</a:t>
            </a:r>
            <a:endParaRPr lang="en-US" altLang="zh-CN" sz="2200" dirty="0"/>
          </a:p>
          <a:p>
            <a:pPr marL="644525" lvl="2" indent="0">
              <a:lnSpc>
                <a:spcPct val="80000"/>
              </a:lnSpc>
              <a:buNone/>
            </a:pPr>
            <a:r>
              <a:rPr lang="en-US" altLang="zh-CN" sz="2200" dirty="0"/>
              <a:t>…</a:t>
            </a:r>
          </a:p>
          <a:p>
            <a:pPr marL="0" indent="0">
              <a:buNone/>
            </a:pPr>
            <a:endParaRPr lang="en-US" altLang="zh-CN" sz="2400" dirty="0"/>
          </a:p>
          <a:p>
            <a:pPr marL="0" indent="0">
              <a:buNone/>
            </a:pPr>
            <a:endParaRPr lang="zh-CN" altLang="en-US" sz="240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110871B5-850E-4E14-A636-3EC679EBF038}" type="slidenum">
              <a:rPr lang="en-US" altLang="zh-CN" smtClean="0"/>
              <a:pPr>
                <a:defRPr/>
              </a:pPr>
              <a:t>68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581847450"/>
      </p:ext>
    </p:extLst>
  </p:cSld>
  <p:clrMapOvr>
    <a:masterClrMapping/>
  </p:clrMapOvr>
  <p:transition spd="slow"/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305677" y="409923"/>
            <a:ext cx="9614859" cy="858837"/>
          </a:xfrm>
        </p:spPr>
        <p:txBody>
          <a:bodyPr/>
          <a:lstStyle/>
          <a:p>
            <a:r>
              <a:rPr lang="en-US" altLang="zh-CN" dirty="0">
                <a:latin typeface="+mj-lt"/>
              </a:rPr>
              <a:t>Makefile</a:t>
            </a:r>
            <a:r>
              <a:rPr lang="zh-CN" altLang="en-US" dirty="0">
                <a:latin typeface="+mn-ea"/>
              </a:rPr>
              <a:t>文件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055440" y="1484784"/>
            <a:ext cx="10081119" cy="4317688"/>
          </a:xfrm>
        </p:spPr>
        <p:txBody>
          <a:bodyPr/>
          <a:lstStyle/>
          <a:p>
            <a:pPr>
              <a:lnSpc>
                <a:spcPct val="120000"/>
              </a:lnSpc>
            </a:pPr>
            <a:r>
              <a:rPr lang="zh-CN" altLang="en-US" sz="2600" dirty="0"/>
              <a:t>如果程序员修改文件</a:t>
            </a:r>
            <a:r>
              <a:rPr lang="en-US" altLang="zh-CN" sz="2600" dirty="0" err="1"/>
              <a:t>c.h</a:t>
            </a:r>
            <a:r>
              <a:rPr lang="zh-CN" altLang="en-US" sz="2600" dirty="0"/>
              <a:t>，则源文件</a:t>
            </a:r>
            <a:r>
              <a:rPr lang="en-US" altLang="zh-CN" sz="2600" dirty="0" err="1"/>
              <a:t>main.c</a:t>
            </a:r>
            <a:r>
              <a:rPr lang="zh-CN" altLang="en-US" sz="2600" dirty="0"/>
              <a:t>和</a:t>
            </a:r>
            <a:r>
              <a:rPr lang="en-US" altLang="zh-CN" sz="2600" dirty="0" err="1"/>
              <a:t>2.c</a:t>
            </a:r>
            <a:r>
              <a:rPr lang="zh-CN" altLang="en-US" sz="2600" dirty="0"/>
              <a:t>无需修改，只</a:t>
            </a:r>
            <a:r>
              <a:rPr lang="en-US" altLang="zh-CN" sz="2600" dirty="0"/>
              <a:t>3.c</a:t>
            </a:r>
            <a:r>
              <a:rPr lang="zh-CN" altLang="en-US" sz="2600" dirty="0"/>
              <a:t>需要重新编译。但如果修改的是文件</a:t>
            </a:r>
            <a:r>
              <a:rPr lang="en-US" altLang="zh-CN" sz="2600" dirty="0" err="1"/>
              <a:t>b.h</a:t>
            </a:r>
            <a:r>
              <a:rPr lang="zh-CN" altLang="en-US" sz="2600" dirty="0"/>
              <a:t>，那么</a:t>
            </a:r>
            <a:r>
              <a:rPr lang="en-US" altLang="zh-CN" sz="2600" dirty="0"/>
              <a:t>2.c</a:t>
            </a:r>
            <a:r>
              <a:rPr lang="zh-CN" altLang="en-US" sz="2600" dirty="0"/>
              <a:t>和</a:t>
            </a:r>
            <a:r>
              <a:rPr lang="en-US" altLang="zh-CN" sz="2600" dirty="0"/>
              <a:t>3.c</a:t>
            </a:r>
            <a:r>
              <a:rPr lang="zh-CN" altLang="en-US" sz="2600" dirty="0"/>
              <a:t>都需要重新编译。如果程序员忘记重新编译源文件</a:t>
            </a:r>
            <a:r>
              <a:rPr lang="en-US" altLang="zh-CN" sz="2600" dirty="0"/>
              <a:t>2.c</a:t>
            </a:r>
            <a:r>
              <a:rPr lang="zh-CN" altLang="en-US" sz="2600" dirty="0"/>
              <a:t>，则最终程序可能无法正常工作。</a:t>
            </a:r>
            <a:endParaRPr lang="en-US" altLang="zh-CN" sz="2600" dirty="0"/>
          </a:p>
          <a:p>
            <a:pPr>
              <a:lnSpc>
                <a:spcPct val="120000"/>
              </a:lnSpc>
            </a:pPr>
            <a:r>
              <a:rPr lang="zh-CN" altLang="en-US" sz="2600" dirty="0"/>
              <a:t>可见手动处理这些问题很容易出错，那么</a:t>
            </a:r>
            <a:r>
              <a:rPr lang="zh-CN" altLang="en-US" sz="2600" dirty="0">
                <a:solidFill>
                  <a:srgbClr val="CC0099"/>
                </a:solidFill>
              </a:rPr>
              <a:t>自动的解决办法，</a:t>
            </a:r>
            <a:r>
              <a:rPr lang="zh-CN" altLang="en-US" sz="2600" dirty="0"/>
              <a:t>就是写一个</a:t>
            </a:r>
            <a:r>
              <a:rPr lang="en-US" altLang="zh-CN" sz="2600" dirty="0" err="1"/>
              <a:t>makefile</a:t>
            </a:r>
            <a:r>
              <a:rPr lang="zh-CN" altLang="en-US" sz="2600" dirty="0"/>
              <a:t>文件和源代码放在同一个目录下，</a:t>
            </a:r>
            <a:r>
              <a:rPr lang="en-US" altLang="zh-CN" sz="2600" dirty="0"/>
              <a:t>make</a:t>
            </a:r>
            <a:r>
              <a:rPr lang="zh-CN" altLang="en-US" sz="2600" dirty="0"/>
              <a:t>工具会依据</a:t>
            </a:r>
            <a:r>
              <a:rPr lang="en-US" altLang="zh-CN" sz="2600" dirty="0" err="1"/>
              <a:t>makefile</a:t>
            </a:r>
            <a:r>
              <a:rPr lang="zh-CN" altLang="en-US" sz="2600" dirty="0"/>
              <a:t>文件中说明的</a:t>
            </a:r>
            <a:r>
              <a:rPr lang="zh-CN" altLang="en-US" sz="2600" dirty="0">
                <a:solidFill>
                  <a:srgbClr val="FF9900"/>
                </a:solidFill>
              </a:rPr>
              <a:t>源文件之间的依赖关系</a:t>
            </a:r>
            <a:r>
              <a:rPr lang="zh-CN" altLang="en-US" sz="2600" dirty="0"/>
              <a:t>和</a:t>
            </a:r>
            <a:r>
              <a:rPr lang="zh-CN" altLang="en-US" sz="2600" dirty="0">
                <a:solidFill>
                  <a:srgbClr val="FF9900"/>
                </a:solidFill>
              </a:rPr>
              <a:t>构建规则</a:t>
            </a:r>
            <a:r>
              <a:rPr lang="zh-CN" altLang="en-US" sz="2600" dirty="0"/>
              <a:t>，在必要时重新编译所有受改动影响的源文件。</a:t>
            </a:r>
            <a:endParaRPr lang="en-US" altLang="zh-CN" sz="2600" dirty="0"/>
          </a:p>
          <a:p>
            <a:pPr marL="0" indent="0">
              <a:buNone/>
            </a:pPr>
            <a:endParaRPr lang="en-US" altLang="zh-CN" sz="2400" dirty="0"/>
          </a:p>
          <a:p>
            <a:endParaRPr lang="zh-CN" altLang="en-US" sz="240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110871B5-850E-4E14-A636-3EC679EBF038}" type="slidenum">
              <a:rPr lang="en-US" altLang="zh-CN" smtClean="0"/>
              <a:pPr>
                <a:defRPr/>
              </a:pPr>
              <a:t>69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672634481"/>
      </p:ext>
    </p:extLst>
  </p:cSld>
  <p:clrMapOvr>
    <a:masterClrMapping/>
  </p:clrMapOvr>
  <p:transition spd="slow"/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标题 1"/>
          <p:cNvSpPr>
            <a:spLocks noGrp="1"/>
          </p:cNvSpPr>
          <p:nvPr>
            <p:ph type="title"/>
          </p:nvPr>
        </p:nvSpPr>
        <p:spPr>
          <a:xfrm>
            <a:off x="801621" y="553939"/>
            <a:ext cx="10406947" cy="858837"/>
          </a:xfrm>
        </p:spPr>
        <p:txBody>
          <a:bodyPr/>
          <a:lstStyle/>
          <a:p>
            <a:r>
              <a:rPr lang="en-US" altLang="zh-CN" dirty="0">
                <a:latin typeface="+mj-lt"/>
              </a:rPr>
              <a:t>Makefile</a:t>
            </a:r>
            <a:r>
              <a:rPr lang="zh-CN" altLang="en-US" dirty="0">
                <a:latin typeface="+mn-ea"/>
              </a:rPr>
              <a:t>文件</a:t>
            </a:r>
            <a:endParaRPr lang="zh-CN" altLang="en-US" dirty="0"/>
          </a:p>
        </p:txBody>
      </p:sp>
      <p:sp>
        <p:nvSpPr>
          <p:cNvPr id="8195" name="内容占位符 2"/>
          <p:cNvSpPr>
            <a:spLocks noGrp="1"/>
          </p:cNvSpPr>
          <p:nvPr>
            <p:ph idx="1"/>
          </p:nvPr>
        </p:nvSpPr>
        <p:spPr>
          <a:xfrm>
            <a:off x="983432" y="1512962"/>
            <a:ext cx="10225136" cy="4724350"/>
          </a:xfrm>
        </p:spPr>
        <p:txBody>
          <a:bodyPr/>
          <a:lstStyle/>
          <a:p>
            <a:r>
              <a:rPr lang="zh-CN" altLang="en-US" sz="2600" dirty="0">
                <a:latin typeface="+mn-ea"/>
              </a:rPr>
              <a:t>写一个</a:t>
            </a:r>
            <a:r>
              <a:rPr lang="en-US" altLang="zh-CN" sz="2600" dirty="0" err="1">
                <a:solidFill>
                  <a:srgbClr val="0000CC"/>
                </a:solidFill>
                <a:latin typeface="+mn-ea"/>
              </a:rPr>
              <a:t>Makefil</a:t>
            </a:r>
            <a:r>
              <a:rPr lang="zh-CN" altLang="en-US" sz="2600" dirty="0">
                <a:solidFill>
                  <a:srgbClr val="0000CC"/>
                </a:solidFill>
                <a:latin typeface="+mn-ea"/>
              </a:rPr>
              <a:t>文件</a:t>
            </a:r>
            <a:r>
              <a:rPr lang="zh-CN" altLang="en-US" sz="2600" dirty="0">
                <a:latin typeface="+mn-ea"/>
              </a:rPr>
              <a:t>需要包含如下</a:t>
            </a:r>
            <a:r>
              <a:rPr lang="zh-CN" altLang="en-US" sz="2600" dirty="0">
                <a:solidFill>
                  <a:srgbClr val="0000CC"/>
                </a:solidFill>
                <a:latin typeface="+mn-ea"/>
              </a:rPr>
              <a:t>原则</a:t>
            </a:r>
            <a:r>
              <a:rPr lang="zh-CN" altLang="en-US" sz="2600" dirty="0">
                <a:latin typeface="+mn-ea"/>
              </a:rPr>
              <a:t>：</a:t>
            </a:r>
          </a:p>
          <a:p>
            <a:pPr lvl="1"/>
            <a:r>
              <a:rPr lang="zh-CN" altLang="en-US" sz="2400" dirty="0">
                <a:latin typeface="+mn-ea"/>
              </a:rPr>
              <a:t>如果这个工程没有编译过，那么我们的所有</a:t>
            </a:r>
            <a:r>
              <a:rPr lang="en-US" altLang="zh-CN" sz="2400" dirty="0">
                <a:latin typeface="+mn-ea"/>
              </a:rPr>
              <a:t>C</a:t>
            </a:r>
            <a:r>
              <a:rPr lang="zh-CN" altLang="en-US" sz="2400" dirty="0">
                <a:latin typeface="+mn-ea"/>
              </a:rPr>
              <a:t>文件都要编译并被链接。</a:t>
            </a:r>
          </a:p>
          <a:p>
            <a:pPr lvl="1"/>
            <a:r>
              <a:rPr lang="zh-CN" altLang="en-US" sz="2400" dirty="0">
                <a:latin typeface="+mn-ea"/>
              </a:rPr>
              <a:t>如果这个工程的某几个</a:t>
            </a:r>
            <a:r>
              <a:rPr lang="en-US" altLang="zh-CN" sz="2400" dirty="0">
                <a:latin typeface="+mn-ea"/>
              </a:rPr>
              <a:t>C</a:t>
            </a:r>
            <a:r>
              <a:rPr lang="zh-CN" altLang="en-US" sz="2400" dirty="0">
                <a:latin typeface="+mn-ea"/>
              </a:rPr>
              <a:t>文件被修改，那么我们只编译被修改的</a:t>
            </a:r>
            <a:r>
              <a:rPr lang="en-US" altLang="zh-CN" sz="2400" dirty="0">
                <a:latin typeface="+mn-ea"/>
              </a:rPr>
              <a:t>C</a:t>
            </a:r>
            <a:r>
              <a:rPr lang="zh-CN" altLang="en-US" sz="2400" dirty="0">
                <a:latin typeface="+mn-ea"/>
              </a:rPr>
              <a:t>文件，并链接目标程序。</a:t>
            </a:r>
          </a:p>
          <a:p>
            <a:pPr lvl="1"/>
            <a:r>
              <a:rPr lang="zh-CN" altLang="en-US" sz="2400" dirty="0">
                <a:latin typeface="+mn-ea"/>
              </a:rPr>
              <a:t>如果这个工程的头文件被改变了，那么我们需要编译引用了这几个头文件的</a:t>
            </a:r>
            <a:r>
              <a:rPr lang="en-US" altLang="zh-CN" sz="2400" dirty="0">
                <a:latin typeface="+mn-ea"/>
              </a:rPr>
              <a:t>C</a:t>
            </a:r>
            <a:r>
              <a:rPr lang="zh-CN" altLang="en-US" sz="2400" dirty="0">
                <a:latin typeface="+mn-ea"/>
              </a:rPr>
              <a:t>文件，并链接目标程序。</a:t>
            </a:r>
          </a:p>
          <a:p>
            <a:r>
              <a:rPr lang="zh-CN" altLang="en-US" sz="2600" dirty="0">
                <a:latin typeface="+mn-ea"/>
              </a:rPr>
              <a:t>只要</a:t>
            </a:r>
            <a:r>
              <a:rPr lang="en-US" altLang="zh-CN" sz="2600" dirty="0">
                <a:latin typeface="+mn-ea"/>
              </a:rPr>
              <a:t>Makefile</a:t>
            </a:r>
            <a:r>
              <a:rPr lang="zh-CN" altLang="en-US" sz="2600" dirty="0">
                <a:latin typeface="+mn-ea"/>
              </a:rPr>
              <a:t>写得够好，所有这一切只用一个</a:t>
            </a:r>
            <a:r>
              <a:rPr lang="en-US" altLang="zh-CN" sz="2600" dirty="0">
                <a:latin typeface="+mn-ea"/>
              </a:rPr>
              <a:t>make</a:t>
            </a:r>
            <a:r>
              <a:rPr lang="zh-CN" altLang="en-US" sz="2600" dirty="0">
                <a:latin typeface="+mn-ea"/>
              </a:rPr>
              <a:t>命令就可以完成，</a:t>
            </a:r>
            <a:r>
              <a:rPr lang="en-US" altLang="zh-CN" sz="2600" dirty="0">
                <a:latin typeface="+mn-ea"/>
              </a:rPr>
              <a:t>make</a:t>
            </a:r>
            <a:r>
              <a:rPr lang="zh-CN" altLang="en-US" sz="2600" dirty="0">
                <a:latin typeface="+mn-ea"/>
              </a:rPr>
              <a:t>命令会</a:t>
            </a:r>
            <a:r>
              <a:rPr lang="zh-CN" altLang="en-US" sz="2600" dirty="0">
                <a:solidFill>
                  <a:srgbClr val="CC0099"/>
                </a:solidFill>
                <a:latin typeface="+mn-ea"/>
              </a:rPr>
              <a:t>智能</a:t>
            </a:r>
            <a:r>
              <a:rPr lang="zh-CN" altLang="en-US" sz="2600" dirty="0">
                <a:latin typeface="+mn-ea"/>
              </a:rPr>
              <a:t>地根据当前文件修改的情况来确定哪些文件需要重编译，从而自动编译所需要的文件和链接目标程序。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1"/>
          </p:nvPr>
        </p:nvSpPr>
        <p:spPr>
          <a:xfrm>
            <a:off x="5053013" y="6240463"/>
            <a:ext cx="2133600" cy="457200"/>
          </a:xfrm>
        </p:spPr>
        <p:txBody>
          <a:bodyPr/>
          <a:lstStyle/>
          <a:p>
            <a:pPr>
              <a:defRPr/>
            </a:pPr>
            <a:fld id="{110871B5-850E-4E14-A636-3EC679EBF038}" type="slidenum">
              <a:rPr lang="en-US" altLang="zh-CN" smtClean="0"/>
              <a:pPr>
                <a:defRPr/>
              </a:pPr>
              <a:t>70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135054899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0" name="Rectangle 2"/>
          <p:cNvSpPr>
            <a:spLocks noGrp="1" noChangeArrowheads="1"/>
          </p:cNvSpPr>
          <p:nvPr>
            <p:ph type="title"/>
          </p:nvPr>
        </p:nvSpPr>
        <p:spPr>
          <a:xfrm>
            <a:off x="1199456" y="409923"/>
            <a:ext cx="9614859" cy="858837"/>
          </a:xfrm>
        </p:spPr>
        <p:txBody>
          <a:bodyPr/>
          <a:lstStyle/>
          <a:p>
            <a:pPr eaLnBrk="1" hangingPunct="1"/>
            <a:r>
              <a:rPr lang="en-US" altLang="zh-CN" b="1" dirty="0" err="1">
                <a:latin typeface="+mn-lt"/>
                <a:ea typeface="+mn-ea"/>
              </a:rPr>
              <a:t>Makefile</a:t>
            </a:r>
            <a:r>
              <a:rPr lang="zh-CN" altLang="en-US" b="1" dirty="0">
                <a:latin typeface="+mn-ea"/>
                <a:ea typeface="+mn-ea"/>
              </a:rPr>
              <a:t>文件格式</a:t>
            </a:r>
          </a:p>
        </p:txBody>
      </p:sp>
      <p:sp>
        <p:nvSpPr>
          <p:cNvPr id="7373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199456" y="1412776"/>
            <a:ext cx="10009112" cy="5112568"/>
          </a:xfrm>
        </p:spPr>
        <p:txBody>
          <a:bodyPr/>
          <a:lstStyle/>
          <a:p>
            <a:pPr eaLnBrk="1" hangingPunct="1">
              <a:lnSpc>
                <a:spcPct val="80000"/>
              </a:lnSpc>
              <a:spcBef>
                <a:spcPct val="30000"/>
              </a:spcBef>
            </a:pPr>
            <a:r>
              <a:rPr kumimoji="1" lang="zh-CN" altLang="en-US" sz="2500" dirty="0">
                <a:latin typeface="+mn-ea"/>
              </a:rPr>
              <a:t>一个简单的</a:t>
            </a:r>
            <a:r>
              <a:rPr kumimoji="1" lang="en-US" altLang="zh-CN" sz="2500" dirty="0" err="1">
                <a:latin typeface="+mn-ea"/>
              </a:rPr>
              <a:t>Makefile</a:t>
            </a:r>
            <a:r>
              <a:rPr kumimoji="1" lang="zh-CN" altLang="en-US" sz="2500" dirty="0">
                <a:latin typeface="+mn-ea"/>
              </a:rPr>
              <a:t>文件的语法格式如下：</a:t>
            </a:r>
          </a:p>
          <a:p>
            <a:pPr eaLnBrk="1" hangingPunct="1">
              <a:lnSpc>
                <a:spcPct val="80000"/>
              </a:lnSpc>
              <a:spcBef>
                <a:spcPct val="30000"/>
              </a:spcBef>
              <a:buFont typeface="Wingdings" pitchFamily="2" charset="2"/>
              <a:buNone/>
            </a:pPr>
            <a:r>
              <a:rPr kumimoji="1" lang="en-US" altLang="zh-CN" sz="2500" dirty="0">
                <a:latin typeface="+mn-ea"/>
              </a:rPr>
              <a:t> target… : dependency  [dependency […] ]</a:t>
            </a:r>
          </a:p>
          <a:p>
            <a:pPr eaLnBrk="1" hangingPunct="1">
              <a:lnSpc>
                <a:spcPct val="80000"/>
              </a:lnSpc>
              <a:spcBef>
                <a:spcPct val="30000"/>
              </a:spcBef>
              <a:buFont typeface="Wingdings" pitchFamily="2" charset="2"/>
              <a:buNone/>
            </a:pPr>
            <a:r>
              <a:rPr kumimoji="1" lang="en-US" altLang="zh-CN" sz="2500" dirty="0">
                <a:latin typeface="+mn-ea"/>
              </a:rPr>
              <a:t>			     COMMAND</a:t>
            </a:r>
          </a:p>
          <a:p>
            <a:pPr eaLnBrk="1" hangingPunct="1">
              <a:lnSpc>
                <a:spcPct val="80000"/>
              </a:lnSpc>
              <a:spcBef>
                <a:spcPct val="30000"/>
              </a:spcBef>
              <a:buFont typeface="Wingdings" pitchFamily="2" charset="2"/>
              <a:buNone/>
            </a:pPr>
            <a:r>
              <a:rPr kumimoji="1" lang="en-US" altLang="zh-CN" sz="2500" dirty="0">
                <a:latin typeface="+mn-ea"/>
              </a:rPr>
              <a:t>			     COMMAND</a:t>
            </a:r>
          </a:p>
          <a:p>
            <a:pPr eaLnBrk="1" hangingPunct="1">
              <a:lnSpc>
                <a:spcPct val="80000"/>
              </a:lnSpc>
              <a:spcBef>
                <a:spcPct val="30000"/>
              </a:spcBef>
              <a:buFont typeface="Wingdings" pitchFamily="2" charset="2"/>
              <a:buNone/>
            </a:pPr>
            <a:r>
              <a:rPr kumimoji="1" lang="en-US" altLang="zh-CN" sz="2500" dirty="0">
                <a:latin typeface="+mn-ea"/>
              </a:rPr>
              <a:t>			     […]</a:t>
            </a:r>
          </a:p>
          <a:p>
            <a:pPr eaLnBrk="1" hangingPunct="1">
              <a:lnSpc>
                <a:spcPct val="80000"/>
              </a:lnSpc>
              <a:spcBef>
                <a:spcPct val="30000"/>
              </a:spcBef>
            </a:pPr>
            <a:r>
              <a:rPr kumimoji="1" lang="en-US" altLang="zh-CN" sz="2500" dirty="0">
                <a:latin typeface="+mn-ea"/>
              </a:rPr>
              <a:t>target</a:t>
            </a:r>
            <a:r>
              <a:rPr kumimoji="1" lang="zh-CN" altLang="en-US" sz="2500" dirty="0">
                <a:latin typeface="+mn-ea"/>
              </a:rPr>
              <a:t>：</a:t>
            </a:r>
            <a:r>
              <a:rPr kumimoji="1" lang="zh-CN" altLang="en-US" sz="2500" dirty="0">
                <a:solidFill>
                  <a:srgbClr val="0000CC"/>
                </a:solidFill>
                <a:latin typeface="+mn-ea"/>
              </a:rPr>
              <a:t>目标体</a:t>
            </a:r>
            <a:r>
              <a:rPr kumimoji="1" lang="zh-CN" altLang="en-US" sz="2500" dirty="0">
                <a:latin typeface="+mn-ea"/>
              </a:rPr>
              <a:t>，即</a:t>
            </a:r>
            <a:r>
              <a:rPr kumimoji="1" lang="en-US" altLang="zh-CN" sz="2500" dirty="0">
                <a:latin typeface="+mn-ea"/>
              </a:rPr>
              <a:t>make</a:t>
            </a:r>
            <a:r>
              <a:rPr kumimoji="1" lang="zh-CN" altLang="en-US" sz="2500" dirty="0">
                <a:latin typeface="+mn-ea"/>
              </a:rPr>
              <a:t>最终需要创建的对象，目标也可以是一个</a:t>
            </a:r>
            <a:r>
              <a:rPr kumimoji="1" lang="en-US" altLang="zh-CN" sz="2500" dirty="0">
                <a:latin typeface="+mn-ea"/>
              </a:rPr>
              <a:t>make</a:t>
            </a:r>
            <a:r>
              <a:rPr kumimoji="1" lang="zh-CN" altLang="en-US" sz="2500" dirty="0">
                <a:latin typeface="+mn-ea"/>
              </a:rPr>
              <a:t>执行的动作名称。</a:t>
            </a:r>
          </a:p>
          <a:p>
            <a:pPr eaLnBrk="1" hangingPunct="1">
              <a:lnSpc>
                <a:spcPct val="80000"/>
              </a:lnSpc>
              <a:spcBef>
                <a:spcPct val="30000"/>
              </a:spcBef>
            </a:pPr>
            <a:r>
              <a:rPr kumimoji="1" lang="en-US" altLang="zh-CN" sz="2500" dirty="0">
                <a:latin typeface="+mn-ea"/>
              </a:rPr>
              <a:t>dependency</a:t>
            </a:r>
            <a:r>
              <a:rPr kumimoji="1" lang="zh-CN" altLang="en-US" sz="2500" dirty="0">
                <a:latin typeface="+mn-ea"/>
              </a:rPr>
              <a:t>：</a:t>
            </a:r>
            <a:r>
              <a:rPr kumimoji="1" lang="zh-CN" altLang="en-US" sz="2500" dirty="0">
                <a:solidFill>
                  <a:srgbClr val="0000CC"/>
                </a:solidFill>
                <a:latin typeface="+mn-ea"/>
              </a:rPr>
              <a:t>依赖体</a:t>
            </a:r>
            <a:r>
              <a:rPr kumimoji="1" lang="zh-CN" altLang="en-US" sz="2500" dirty="0">
                <a:latin typeface="+mn-ea"/>
              </a:rPr>
              <a:t>，编译目标体要依赖的一个或多个文件。</a:t>
            </a:r>
          </a:p>
          <a:p>
            <a:pPr eaLnBrk="1" hangingPunct="1">
              <a:lnSpc>
                <a:spcPct val="80000"/>
              </a:lnSpc>
              <a:spcBef>
                <a:spcPct val="30000"/>
              </a:spcBef>
            </a:pPr>
            <a:r>
              <a:rPr kumimoji="1" lang="en-US" altLang="zh-CN" sz="2500" dirty="0">
                <a:latin typeface="+mn-ea"/>
              </a:rPr>
              <a:t>command</a:t>
            </a:r>
            <a:r>
              <a:rPr kumimoji="1" lang="zh-CN" altLang="en-US" sz="2500" dirty="0">
                <a:latin typeface="+mn-ea"/>
              </a:rPr>
              <a:t>：</a:t>
            </a:r>
            <a:r>
              <a:rPr kumimoji="1" lang="zh-CN" altLang="en-US" sz="2500" dirty="0">
                <a:solidFill>
                  <a:srgbClr val="0000CC"/>
                </a:solidFill>
                <a:latin typeface="+mn-ea"/>
              </a:rPr>
              <a:t>命令</a:t>
            </a:r>
            <a:r>
              <a:rPr kumimoji="1" lang="zh-CN" altLang="en-US" sz="2500" dirty="0">
                <a:latin typeface="+mn-ea"/>
              </a:rPr>
              <a:t>，指定的依赖体创建出目标体所需执行的</a:t>
            </a:r>
            <a:r>
              <a:rPr kumimoji="1" lang="en-US" altLang="zh-CN" sz="2500" dirty="0">
                <a:latin typeface="+mn-ea"/>
              </a:rPr>
              <a:t>shell</a:t>
            </a:r>
            <a:r>
              <a:rPr kumimoji="1" lang="zh-CN" altLang="en-US" sz="2500" dirty="0">
                <a:latin typeface="+mn-ea"/>
              </a:rPr>
              <a:t>命令。可以有多个命令行，每一条命令占一行。也可使用续行号（</a:t>
            </a:r>
            <a:r>
              <a:rPr kumimoji="1" lang="en-US" altLang="zh-CN" sz="2500" dirty="0">
                <a:latin typeface="+mn-ea"/>
              </a:rPr>
              <a:t>\</a:t>
            </a:r>
            <a:r>
              <a:rPr kumimoji="1" lang="zh-CN" altLang="en-US" sz="2500" dirty="0">
                <a:latin typeface="+mn-ea"/>
              </a:rPr>
              <a:t>）将一个单独的命令行延续成几行。但要注意在续行号（</a:t>
            </a:r>
            <a:r>
              <a:rPr kumimoji="1" lang="en-US" altLang="zh-CN" sz="2500" dirty="0">
                <a:latin typeface="+mn-ea"/>
              </a:rPr>
              <a:t>\</a:t>
            </a:r>
            <a:r>
              <a:rPr kumimoji="1" lang="zh-CN" altLang="en-US" sz="2500" dirty="0">
                <a:latin typeface="+mn-ea"/>
              </a:rPr>
              <a:t>）后面不能跟任何字符（包括空格和键）。</a:t>
            </a:r>
          </a:p>
          <a:p>
            <a:pPr eaLnBrk="1" hangingPunct="1">
              <a:lnSpc>
                <a:spcPct val="150000"/>
              </a:lnSpc>
              <a:spcBef>
                <a:spcPct val="30000"/>
              </a:spcBef>
            </a:pPr>
            <a:endParaRPr kumimoji="1" lang="zh-CN" altLang="en-US" sz="2600" dirty="0">
              <a:latin typeface="+mn-ea"/>
            </a:endParaRPr>
          </a:p>
          <a:p>
            <a:pPr eaLnBrk="1" hangingPunct="1"/>
            <a:endParaRPr lang="zh-CN" altLang="en-US" sz="2400" dirty="0">
              <a:latin typeface="楷体_GB2312" pitchFamily="49" charset="-122"/>
              <a:ea typeface="楷体_GB2312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743896693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Text Box 4"/>
          <p:cNvSpPr txBox="1">
            <a:spLocks noChangeArrowheads="1"/>
          </p:cNvSpPr>
          <p:nvPr/>
        </p:nvSpPr>
        <p:spPr bwMode="auto">
          <a:xfrm>
            <a:off x="983432" y="1547814"/>
            <a:ext cx="10081120" cy="411343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9pPr>
          </a:lstStyle>
          <a:p>
            <a:pPr marL="342900" indent="-342900" algn="l" eaLnBrk="1" hangingPunct="1">
              <a:spcBef>
                <a:spcPct val="35000"/>
              </a:spcBef>
              <a:buSzPct val="80000"/>
              <a:buFont typeface="Wingdings" pitchFamily="2" charset="2"/>
              <a:buChar char="l"/>
            </a:pPr>
            <a:r>
              <a:rPr kumimoji="1" lang="zh-CN" altLang="en-US" sz="2600" dirty="0">
                <a:latin typeface="+mn-ea"/>
                <a:ea typeface="+mn-ea"/>
              </a:rPr>
              <a:t>注意：</a:t>
            </a:r>
            <a:r>
              <a:rPr kumimoji="1" lang="zh-CN" altLang="en-US" sz="2600" dirty="0">
                <a:solidFill>
                  <a:srgbClr val="0000CC"/>
                </a:solidFill>
                <a:latin typeface="+mn-ea"/>
                <a:ea typeface="+mn-ea"/>
              </a:rPr>
              <a:t>每一个命令的第一个字符必须是制表符</a:t>
            </a:r>
            <a:r>
              <a:rPr kumimoji="1" lang="en-US" altLang="zh-CN" sz="2600" dirty="0">
                <a:solidFill>
                  <a:srgbClr val="0000CC"/>
                </a:solidFill>
                <a:latin typeface="+mn-ea"/>
                <a:ea typeface="+mn-ea"/>
              </a:rPr>
              <a:t>[Tab]</a:t>
            </a:r>
            <a:r>
              <a:rPr kumimoji="1" lang="zh-CN" altLang="en-US" sz="2600" dirty="0">
                <a:latin typeface="+mn-ea"/>
                <a:ea typeface="+mn-ea"/>
              </a:rPr>
              <a:t>，如果使用空格会出问题，</a:t>
            </a:r>
            <a:r>
              <a:rPr kumimoji="1" lang="en-US" altLang="zh-CN" sz="2600" dirty="0">
                <a:latin typeface="+mn-ea"/>
                <a:ea typeface="+mn-ea"/>
              </a:rPr>
              <a:t>make</a:t>
            </a:r>
            <a:r>
              <a:rPr kumimoji="1" lang="zh-CN" altLang="en-US" sz="2600" dirty="0">
                <a:latin typeface="+mn-ea"/>
                <a:ea typeface="+mn-ea"/>
              </a:rPr>
              <a:t>会在执行过程中显示</a:t>
            </a:r>
            <a:r>
              <a:rPr kumimoji="1" lang="en-US" altLang="zh-CN" sz="2600" dirty="0">
                <a:latin typeface="+mn-ea"/>
                <a:ea typeface="+mn-ea"/>
              </a:rPr>
              <a:t>Missing Separator</a:t>
            </a:r>
            <a:r>
              <a:rPr kumimoji="1" lang="zh-CN" altLang="en-US" sz="2600" dirty="0">
                <a:latin typeface="+mn-ea"/>
                <a:ea typeface="+mn-ea"/>
              </a:rPr>
              <a:t>（缺少分隔符）并停止。</a:t>
            </a:r>
            <a:endParaRPr kumimoji="1" lang="en-US" altLang="zh-CN" sz="2600" dirty="0">
              <a:latin typeface="+mn-ea"/>
              <a:ea typeface="+mn-ea"/>
            </a:endParaRPr>
          </a:p>
          <a:p>
            <a:pPr marL="342900" indent="-342900" algn="l" eaLnBrk="1" hangingPunct="1">
              <a:spcBef>
                <a:spcPct val="35000"/>
              </a:spcBef>
              <a:buSzPct val="80000"/>
              <a:buFont typeface="Wingdings" pitchFamily="2" charset="2"/>
              <a:buChar char="l"/>
            </a:pPr>
            <a:r>
              <a:rPr kumimoji="1" lang="en-US" altLang="zh-CN" sz="2600" dirty="0">
                <a:latin typeface="+mn-ea"/>
                <a:ea typeface="+mn-ea"/>
              </a:rPr>
              <a:t>Makefile</a:t>
            </a:r>
            <a:r>
              <a:rPr kumimoji="1" lang="zh-CN" altLang="en-US" sz="2600" dirty="0">
                <a:latin typeface="+mn-ea"/>
                <a:ea typeface="+mn-ea"/>
              </a:rPr>
              <a:t>中把没有任何依赖只有执行动作的目标称为“</a:t>
            </a:r>
            <a:r>
              <a:rPr kumimoji="1" lang="zh-CN" altLang="en-US" sz="2600" dirty="0">
                <a:solidFill>
                  <a:srgbClr val="0000CC"/>
                </a:solidFill>
                <a:latin typeface="+mn-ea"/>
                <a:ea typeface="+mn-ea"/>
              </a:rPr>
              <a:t>伪目标</a:t>
            </a:r>
            <a:r>
              <a:rPr kumimoji="1" lang="zh-CN" altLang="en-US" sz="2600" dirty="0">
                <a:latin typeface="+mn-ea"/>
                <a:ea typeface="+mn-ea"/>
              </a:rPr>
              <a:t>”</a:t>
            </a:r>
            <a:r>
              <a:rPr kumimoji="1" lang="en-US" altLang="zh-CN" sz="2600" dirty="0">
                <a:latin typeface="+mn-ea"/>
                <a:ea typeface="+mn-ea"/>
              </a:rPr>
              <a:t>(phony targets)</a:t>
            </a:r>
            <a:r>
              <a:rPr kumimoji="1" lang="zh-CN" altLang="en-US" sz="2600" dirty="0">
                <a:latin typeface="+mn-ea"/>
                <a:ea typeface="+mn-ea"/>
              </a:rPr>
              <a:t>。例如清楚编译过程产生的中间结果文件、安装软件等，这些操作可以用“动作”目标来定义，一般都是放在文件的最后，比如：</a:t>
            </a:r>
            <a:r>
              <a:rPr kumimoji="1" lang="en-US" altLang="zh-CN" sz="2600" dirty="0">
                <a:latin typeface="+mn-ea"/>
                <a:ea typeface="+mn-ea"/>
              </a:rPr>
              <a:t>clean</a:t>
            </a:r>
            <a:r>
              <a:rPr kumimoji="1" lang="zh-CN" altLang="en-US" sz="2600" dirty="0">
                <a:latin typeface="+mn-ea"/>
                <a:ea typeface="+mn-ea"/>
              </a:rPr>
              <a:t>。</a:t>
            </a:r>
          </a:p>
          <a:p>
            <a:pPr algn="l" eaLnBrk="1" hangingPunct="1">
              <a:spcBef>
                <a:spcPct val="35000"/>
              </a:spcBef>
              <a:buSzPct val="80000"/>
            </a:pPr>
            <a:r>
              <a:rPr kumimoji="1" lang="zh-CN" altLang="en-US" sz="2600" dirty="0">
                <a:latin typeface="+mn-ea"/>
                <a:ea typeface="+mn-ea"/>
              </a:rPr>
              <a:t>       </a:t>
            </a:r>
            <a:r>
              <a:rPr kumimoji="1" lang="en-US" altLang="zh-CN" sz="2600" dirty="0">
                <a:latin typeface="+mn-ea"/>
                <a:ea typeface="+mn-ea"/>
              </a:rPr>
              <a:t>clean : </a:t>
            </a:r>
          </a:p>
          <a:p>
            <a:pPr algn="l" eaLnBrk="1" hangingPunct="1">
              <a:spcBef>
                <a:spcPct val="35000"/>
              </a:spcBef>
              <a:buSzPct val="80000"/>
            </a:pPr>
            <a:r>
              <a:rPr kumimoji="1" lang="en-US" altLang="zh-CN" sz="2600" dirty="0">
                <a:latin typeface="+mn-ea"/>
                <a:ea typeface="+mn-ea"/>
              </a:rPr>
              <a:t>	 rm  *.o *.a </a:t>
            </a:r>
          </a:p>
        </p:txBody>
      </p:sp>
      <p:sp>
        <p:nvSpPr>
          <p:cNvPr id="74755" name="Rectangle 5"/>
          <p:cNvSpPr>
            <a:spLocks noChangeArrowheads="1"/>
          </p:cNvSpPr>
          <p:nvPr/>
        </p:nvSpPr>
        <p:spPr bwMode="auto">
          <a:xfrm>
            <a:off x="1991545" y="560874"/>
            <a:ext cx="8352927" cy="7078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 sz="4000" dirty="0">
                <a:latin typeface="+mj-lt"/>
                <a:ea typeface="+mn-ea"/>
              </a:rPr>
              <a:t>Makefile</a:t>
            </a:r>
            <a:r>
              <a:rPr lang="zh-CN" altLang="en-US" sz="4000" dirty="0">
                <a:latin typeface="+mn-ea"/>
                <a:ea typeface="+mn-ea"/>
              </a:rPr>
              <a:t>的格式</a:t>
            </a:r>
            <a:endParaRPr kumimoji="1" lang="zh-CN" altLang="en-US" sz="4000" dirty="0">
              <a:latin typeface="+mn-ea"/>
              <a:ea typeface="+mn-ea"/>
            </a:endParaRPr>
          </a:p>
        </p:txBody>
      </p:sp>
      <p:sp>
        <p:nvSpPr>
          <p:cNvPr id="4" name="灯片编号占位符 1"/>
          <p:cNvSpPr>
            <a:spLocks noGrp="1"/>
          </p:cNvSpPr>
          <p:nvPr>
            <p:ph type="sldNum" sz="quarter" idx="11"/>
          </p:nvPr>
        </p:nvSpPr>
        <p:spPr>
          <a:xfrm>
            <a:off x="5053013" y="6240463"/>
            <a:ext cx="2133600" cy="457200"/>
          </a:xfrm>
        </p:spPr>
        <p:txBody>
          <a:bodyPr/>
          <a:lstStyle/>
          <a:p>
            <a:pPr>
              <a:defRPr/>
            </a:pPr>
            <a:fld id="{110871B5-850E-4E14-A636-3EC679EBF038}" type="slidenum">
              <a:rPr lang="en-US" altLang="zh-CN" smtClean="0"/>
              <a:pPr>
                <a:defRPr/>
              </a:pPr>
              <a:t>72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2545485598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/>
          <p:cNvSpPr>
            <a:spLocks noGrp="1" noChangeArrowheads="1"/>
          </p:cNvSpPr>
          <p:nvPr>
            <p:ph type="title"/>
          </p:nvPr>
        </p:nvSpPr>
        <p:spPr>
          <a:xfrm>
            <a:off x="609600" y="409923"/>
            <a:ext cx="10742984" cy="858837"/>
          </a:xfrm>
        </p:spPr>
        <p:txBody>
          <a:bodyPr/>
          <a:lstStyle/>
          <a:p>
            <a:r>
              <a:rPr lang="en-US" altLang="zh-CN" dirty="0">
                <a:latin typeface="+mj-lt"/>
              </a:rPr>
              <a:t>Make</a:t>
            </a:r>
            <a:r>
              <a:rPr lang="zh-CN" altLang="en-US" dirty="0"/>
              <a:t>命令</a:t>
            </a:r>
          </a:p>
        </p:txBody>
      </p:sp>
      <p:sp>
        <p:nvSpPr>
          <p:cNvPr id="921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199456" y="1311548"/>
            <a:ext cx="9793088" cy="4781748"/>
          </a:xfrm>
        </p:spPr>
        <p:txBody>
          <a:bodyPr/>
          <a:lstStyle/>
          <a:p>
            <a:r>
              <a:rPr lang="en-US" altLang="zh-CN" sz="2600" dirty="0">
                <a:latin typeface="+mn-ea"/>
              </a:rPr>
              <a:t>make</a:t>
            </a:r>
            <a:r>
              <a:rPr lang="zh-CN" altLang="en-US" sz="2600" dirty="0">
                <a:latin typeface="+mn-ea"/>
              </a:rPr>
              <a:t>是一个命令工具，是一个解释</a:t>
            </a:r>
            <a:r>
              <a:rPr lang="en-US" altLang="zh-CN" sz="2600" dirty="0" err="1">
                <a:latin typeface="+mn-ea"/>
              </a:rPr>
              <a:t>makefile</a:t>
            </a:r>
            <a:r>
              <a:rPr lang="zh-CN" altLang="en-US" sz="2600" dirty="0">
                <a:latin typeface="+mn-ea"/>
              </a:rPr>
              <a:t>文件中指令的命令工具。</a:t>
            </a:r>
            <a:endParaRPr lang="en-US" altLang="zh-CN" sz="2600" dirty="0">
              <a:latin typeface="+mn-ea"/>
            </a:endParaRPr>
          </a:p>
          <a:p>
            <a:r>
              <a:rPr lang="en-US" altLang="zh-CN" sz="2600" dirty="0">
                <a:latin typeface="+mn-ea"/>
              </a:rPr>
              <a:t>make</a:t>
            </a:r>
            <a:r>
              <a:rPr lang="zh-CN" altLang="en-US" sz="2600" dirty="0">
                <a:latin typeface="+mn-ea"/>
              </a:rPr>
              <a:t>命令的一般格式：</a:t>
            </a:r>
            <a:endParaRPr lang="en-US" altLang="zh-CN" sz="2600" dirty="0">
              <a:latin typeface="+mn-ea"/>
            </a:endParaRPr>
          </a:p>
          <a:p>
            <a:pPr marL="0" indent="0">
              <a:buNone/>
            </a:pPr>
            <a:r>
              <a:rPr lang="en-US" altLang="zh-CN" sz="2600" dirty="0">
                <a:latin typeface="+mn-ea"/>
              </a:rPr>
              <a:t>  </a:t>
            </a:r>
            <a:r>
              <a:rPr lang="en-US" altLang="zh-CN" sz="2600" dirty="0">
                <a:solidFill>
                  <a:srgbClr val="0000CC"/>
                </a:solidFill>
                <a:latin typeface="+mn-ea"/>
              </a:rPr>
              <a:t>make [ -f </a:t>
            </a:r>
            <a:r>
              <a:rPr lang="zh-CN" altLang="en-US" sz="2600" dirty="0">
                <a:solidFill>
                  <a:srgbClr val="0000CC"/>
                </a:solidFill>
                <a:latin typeface="+mn-ea"/>
              </a:rPr>
              <a:t>文件名 </a:t>
            </a:r>
            <a:r>
              <a:rPr lang="en-US" altLang="zh-CN" sz="2600" dirty="0">
                <a:solidFill>
                  <a:srgbClr val="0000CC"/>
                </a:solidFill>
                <a:latin typeface="+mn-ea"/>
              </a:rPr>
              <a:t>] [ </a:t>
            </a:r>
            <a:r>
              <a:rPr lang="zh-CN" altLang="en-US" sz="2600" dirty="0">
                <a:solidFill>
                  <a:srgbClr val="0000CC"/>
                </a:solidFill>
                <a:latin typeface="+mn-ea"/>
              </a:rPr>
              <a:t>目标 </a:t>
            </a:r>
            <a:r>
              <a:rPr lang="en-US" altLang="zh-CN" sz="2600" dirty="0">
                <a:solidFill>
                  <a:srgbClr val="0000CC"/>
                </a:solidFill>
                <a:latin typeface="+mn-ea"/>
              </a:rPr>
              <a:t>]</a:t>
            </a:r>
          </a:p>
          <a:p>
            <a:r>
              <a:rPr lang="en-US" altLang="zh-CN" sz="2600" dirty="0">
                <a:latin typeface="+mn-ea"/>
              </a:rPr>
              <a:t>make</a:t>
            </a:r>
            <a:r>
              <a:rPr lang="zh-CN" altLang="en-US" sz="2600" dirty="0">
                <a:latin typeface="+mn-ea"/>
              </a:rPr>
              <a:t>命令的执行过程：</a:t>
            </a:r>
            <a:endParaRPr lang="en-US" altLang="zh-CN" sz="2600" dirty="0">
              <a:latin typeface="+mn-ea"/>
            </a:endParaRPr>
          </a:p>
          <a:p>
            <a:pPr marL="0" indent="0">
              <a:lnSpc>
                <a:spcPct val="90000"/>
              </a:lnSpc>
              <a:buNone/>
            </a:pPr>
            <a:r>
              <a:rPr lang="zh-CN" altLang="en-US" sz="2500" dirty="0">
                <a:latin typeface="+mn-ea"/>
              </a:rPr>
              <a:t>（</a:t>
            </a:r>
            <a:r>
              <a:rPr lang="en-US" altLang="zh-CN" sz="2500" dirty="0">
                <a:latin typeface="+mn-ea"/>
              </a:rPr>
              <a:t>1</a:t>
            </a:r>
            <a:r>
              <a:rPr lang="zh-CN" altLang="en-US" sz="2500" dirty="0">
                <a:latin typeface="+mn-ea"/>
              </a:rPr>
              <a:t>）</a:t>
            </a:r>
            <a:r>
              <a:rPr lang="zh-CN" altLang="en-US" sz="2500" dirty="0">
                <a:solidFill>
                  <a:srgbClr val="0000CC"/>
                </a:solidFill>
                <a:latin typeface="+mn-ea"/>
              </a:rPr>
              <a:t>读</a:t>
            </a:r>
            <a:r>
              <a:rPr lang="zh-CN" altLang="en-US" sz="2500" dirty="0">
                <a:latin typeface="+mn-ea"/>
              </a:rPr>
              <a:t>入的</a:t>
            </a:r>
            <a:r>
              <a:rPr lang="en-US" altLang="zh-CN" sz="2500" dirty="0">
                <a:solidFill>
                  <a:srgbClr val="0000CC"/>
                </a:solidFill>
                <a:latin typeface="+mn-ea"/>
              </a:rPr>
              <a:t>Makefile</a:t>
            </a:r>
            <a:r>
              <a:rPr lang="zh-CN" altLang="en-US" sz="2500" dirty="0">
                <a:solidFill>
                  <a:srgbClr val="0000CC"/>
                </a:solidFill>
                <a:latin typeface="+mn-ea"/>
              </a:rPr>
              <a:t>文件</a:t>
            </a:r>
            <a:r>
              <a:rPr lang="zh-CN" altLang="en-US" sz="2500" dirty="0">
                <a:latin typeface="+mn-ea"/>
              </a:rPr>
              <a:t>。如果命令行有</a:t>
            </a:r>
            <a:r>
              <a:rPr lang="en-US" altLang="zh-CN" sz="2500" dirty="0">
                <a:latin typeface="+mn-ea"/>
              </a:rPr>
              <a:t>-f</a:t>
            </a:r>
            <a:r>
              <a:rPr lang="zh-CN" altLang="en-US" sz="2500" dirty="0">
                <a:latin typeface="+mn-ea"/>
              </a:rPr>
              <a:t>选项，</a:t>
            </a:r>
            <a:r>
              <a:rPr lang="en-US" altLang="zh-CN" sz="2500" dirty="0">
                <a:latin typeface="+mn-ea"/>
              </a:rPr>
              <a:t>make</a:t>
            </a:r>
            <a:r>
              <a:rPr lang="zh-CN" altLang="en-US" sz="2500" dirty="0">
                <a:latin typeface="+mn-ea"/>
              </a:rPr>
              <a:t>就读取选项指定的文件，否则默认在当前目录下读取名为</a:t>
            </a:r>
            <a:r>
              <a:rPr lang="en-US" altLang="zh-CN" sz="2500" dirty="0" err="1">
                <a:solidFill>
                  <a:srgbClr val="CC0099"/>
                </a:solidFill>
                <a:latin typeface="+mn-ea"/>
              </a:rPr>
              <a:t>makefile</a:t>
            </a:r>
            <a:r>
              <a:rPr lang="zh-CN" altLang="en-US" sz="2500" dirty="0">
                <a:solidFill>
                  <a:srgbClr val="CC0099"/>
                </a:solidFill>
                <a:latin typeface="+mn-ea"/>
              </a:rPr>
              <a:t>或</a:t>
            </a:r>
            <a:r>
              <a:rPr lang="en-US" altLang="zh-CN" sz="2500" dirty="0">
                <a:solidFill>
                  <a:srgbClr val="CC0099"/>
                </a:solidFill>
                <a:latin typeface="+mn-ea"/>
              </a:rPr>
              <a:t>Makefile</a:t>
            </a:r>
            <a:r>
              <a:rPr lang="zh-CN" altLang="en-US" sz="2500" dirty="0">
                <a:latin typeface="+mn-ea"/>
              </a:rPr>
              <a:t>的文件；</a:t>
            </a:r>
            <a:endParaRPr lang="en-US" altLang="zh-CN" sz="2500" dirty="0">
              <a:latin typeface="+mn-ea"/>
            </a:endParaRPr>
          </a:p>
          <a:p>
            <a:pPr marL="0" indent="0">
              <a:lnSpc>
                <a:spcPct val="90000"/>
              </a:lnSpc>
              <a:buNone/>
            </a:pPr>
            <a:r>
              <a:rPr lang="zh-CN" altLang="en-US" sz="2500" dirty="0">
                <a:latin typeface="+mn-ea"/>
              </a:rPr>
              <a:t>（</a:t>
            </a:r>
            <a:r>
              <a:rPr lang="en-US" altLang="zh-CN" sz="2500" dirty="0">
                <a:latin typeface="+mn-ea"/>
              </a:rPr>
              <a:t>2</a:t>
            </a:r>
            <a:r>
              <a:rPr lang="zh-CN" altLang="en-US" sz="2500" dirty="0">
                <a:latin typeface="+mn-ea"/>
              </a:rPr>
              <a:t>）</a:t>
            </a:r>
            <a:r>
              <a:rPr lang="zh-CN" altLang="en-US" sz="2500" dirty="0">
                <a:solidFill>
                  <a:srgbClr val="0000CC"/>
                </a:solidFill>
                <a:latin typeface="+mn-ea"/>
              </a:rPr>
              <a:t>确定</a:t>
            </a:r>
            <a:r>
              <a:rPr lang="zh-CN" altLang="en-US" sz="2500" dirty="0">
                <a:latin typeface="+mn-ea"/>
              </a:rPr>
              <a:t>要更新的</a:t>
            </a:r>
            <a:r>
              <a:rPr lang="zh-CN" altLang="en-US" sz="2500" dirty="0">
                <a:solidFill>
                  <a:srgbClr val="0000CC"/>
                </a:solidFill>
                <a:latin typeface="+mn-ea"/>
              </a:rPr>
              <a:t>目标</a:t>
            </a:r>
            <a:r>
              <a:rPr lang="zh-CN" altLang="en-US" sz="2500" dirty="0">
                <a:latin typeface="+mn-ea"/>
              </a:rPr>
              <a:t>。如果没有指定目标参数，默认为第一个目标，通常第一个目标称为“终极目标”。</a:t>
            </a:r>
            <a:endParaRPr lang="en-US" altLang="zh-CN" sz="2500" dirty="0">
              <a:latin typeface="+mn-ea"/>
            </a:endParaRPr>
          </a:p>
          <a:p>
            <a:pPr marL="0" indent="0">
              <a:lnSpc>
                <a:spcPct val="90000"/>
              </a:lnSpc>
              <a:buNone/>
            </a:pPr>
            <a:r>
              <a:rPr lang="zh-CN" altLang="en-US" sz="2500" dirty="0">
                <a:latin typeface="+mn-ea"/>
              </a:rPr>
              <a:t>（</a:t>
            </a:r>
            <a:r>
              <a:rPr lang="en-US" altLang="zh-CN" sz="2500" dirty="0">
                <a:latin typeface="+mn-ea"/>
              </a:rPr>
              <a:t>3) </a:t>
            </a:r>
            <a:r>
              <a:rPr lang="zh-CN" altLang="en-US" sz="2500" dirty="0">
                <a:solidFill>
                  <a:srgbClr val="0000CC"/>
                </a:solidFill>
                <a:latin typeface="+mn-ea"/>
              </a:rPr>
              <a:t>更新目标</a:t>
            </a:r>
            <a:r>
              <a:rPr lang="zh-CN" altLang="en-US" sz="2500" dirty="0">
                <a:latin typeface="+mn-ea"/>
              </a:rPr>
              <a:t>。</a:t>
            </a:r>
            <a:endParaRPr lang="en-US" altLang="zh-CN" sz="2500" dirty="0">
              <a:latin typeface="+mn-ea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1"/>
          </p:nvPr>
        </p:nvSpPr>
        <p:spPr>
          <a:xfrm>
            <a:off x="5053013" y="6240463"/>
            <a:ext cx="2133600" cy="457200"/>
          </a:xfrm>
        </p:spPr>
        <p:txBody>
          <a:bodyPr/>
          <a:lstStyle/>
          <a:p>
            <a:pPr>
              <a:defRPr/>
            </a:pPr>
            <a:fld id="{110871B5-850E-4E14-A636-3EC679EBF038}" type="slidenum">
              <a:rPr lang="en-US" altLang="zh-CN" smtClean="0"/>
              <a:pPr>
                <a:defRPr/>
              </a:pPr>
              <a:t>73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1895625881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3"/>
          <p:cNvSpPr>
            <a:spLocks noGrp="1" noRot="1" noChangeArrowheads="1"/>
          </p:cNvSpPr>
          <p:nvPr>
            <p:ph idx="1"/>
          </p:nvPr>
        </p:nvSpPr>
        <p:spPr>
          <a:xfrm>
            <a:off x="839416" y="620688"/>
            <a:ext cx="10513168" cy="858837"/>
          </a:xfrm>
        </p:spPr>
        <p:txBody>
          <a:bodyPr/>
          <a:lstStyle/>
          <a:p>
            <a:pPr eaLnBrk="1" hangingPunct="1">
              <a:lnSpc>
                <a:spcPct val="110000"/>
              </a:lnSpc>
              <a:buNone/>
            </a:pPr>
            <a:r>
              <a:rPr lang="zh-CN" altLang="en-US" sz="2400" dirty="0"/>
              <a:t>下面以</a:t>
            </a:r>
            <a:r>
              <a:rPr lang="en-US" altLang="zh-CN" sz="2400" dirty="0"/>
              <a:t>Helloworld</a:t>
            </a:r>
            <a:r>
              <a:rPr lang="zh-CN" altLang="en-US" sz="2400" dirty="0"/>
              <a:t>程序为例（由</a:t>
            </a:r>
            <a:r>
              <a:rPr lang="en-US" altLang="zh-CN" sz="2400" dirty="0"/>
              <a:t>print.h</a:t>
            </a:r>
            <a:r>
              <a:rPr lang="zh-CN" altLang="en-US" sz="2400" dirty="0"/>
              <a:t>、</a:t>
            </a:r>
            <a:r>
              <a:rPr lang="en-US" altLang="zh-CN" sz="2400" dirty="0" err="1"/>
              <a:t>Helloworld.c</a:t>
            </a:r>
            <a:r>
              <a:rPr lang="zh-CN" altLang="en-US" sz="2400" dirty="0"/>
              <a:t>、</a:t>
            </a:r>
            <a:r>
              <a:rPr lang="en-US" altLang="zh-CN" sz="2400" dirty="0" err="1"/>
              <a:t>print.c</a:t>
            </a:r>
            <a:r>
              <a:rPr lang="zh-CN" altLang="en-US" sz="2400" dirty="0"/>
              <a:t>、三个源文件组成），编写一个</a:t>
            </a:r>
            <a:r>
              <a:rPr lang="en-US" altLang="zh-CN" sz="2400" dirty="0" err="1"/>
              <a:t>makefile</a:t>
            </a:r>
            <a:r>
              <a:rPr lang="zh-CN" altLang="en-US" sz="2400" dirty="0"/>
              <a:t>文件：</a:t>
            </a:r>
            <a:endParaRPr lang="en-US" altLang="zh-CN" sz="2400" dirty="0"/>
          </a:p>
          <a:p>
            <a:pPr eaLnBrk="1" hangingPunct="1">
              <a:lnSpc>
                <a:spcPct val="110000"/>
              </a:lnSpc>
              <a:buNone/>
            </a:pPr>
            <a:endParaRPr lang="en-US" altLang="zh-CN" sz="2400" dirty="0"/>
          </a:p>
          <a:p>
            <a:pPr eaLnBrk="1" hangingPunct="1">
              <a:lnSpc>
                <a:spcPct val="110000"/>
              </a:lnSpc>
              <a:buFont typeface="Wingdings" pitchFamily="2" charset="2"/>
              <a:buNone/>
            </a:pPr>
            <a:endParaRPr lang="zh-CN" altLang="en-US" sz="2400" dirty="0"/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21A4843D-B605-8EED-E54A-1E1CFFC9348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24599" y="1561093"/>
            <a:ext cx="7742801" cy="47482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2527192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481931"/>
            <a:ext cx="10887000" cy="858837"/>
          </a:xfrm>
        </p:spPr>
        <p:txBody>
          <a:bodyPr/>
          <a:lstStyle/>
          <a:p>
            <a:r>
              <a:rPr lang="zh-CN" altLang="en-US" dirty="0">
                <a:latin typeface="+mj-lt"/>
              </a:rPr>
              <a:t>编写</a:t>
            </a:r>
            <a:r>
              <a:rPr lang="en-US" altLang="zh-CN" dirty="0">
                <a:latin typeface="+mj-lt"/>
              </a:rPr>
              <a:t>Makefile</a:t>
            </a:r>
            <a:r>
              <a:rPr lang="zh-CN" altLang="en-US" dirty="0">
                <a:latin typeface="+mn-ea"/>
              </a:rPr>
              <a:t>文件</a:t>
            </a:r>
            <a:endParaRPr lang="zh-CN" altLang="en-US" dirty="0"/>
          </a:p>
        </p:txBody>
      </p:sp>
      <p:sp>
        <p:nvSpPr>
          <p:cNvPr id="12290" name="Rectangle 3"/>
          <p:cNvSpPr>
            <a:spLocks noGrp="1" noRot="1" noChangeArrowheads="1"/>
          </p:cNvSpPr>
          <p:nvPr>
            <p:ph idx="1"/>
          </p:nvPr>
        </p:nvSpPr>
        <p:spPr>
          <a:xfrm>
            <a:off x="1487488" y="1412776"/>
            <a:ext cx="9721080" cy="5256584"/>
          </a:xfrm>
        </p:spPr>
        <p:txBody>
          <a:bodyPr/>
          <a:lstStyle/>
          <a:p>
            <a:pPr eaLnBrk="1" hangingPunct="1">
              <a:buFont typeface="Wingdings" pitchFamily="2" charset="2"/>
              <a:buNone/>
            </a:pPr>
            <a:r>
              <a:rPr lang="en-US" altLang="zh-CN" sz="2400" dirty="0"/>
              <a:t># a simple makefile for  Helloworld  </a:t>
            </a:r>
            <a:r>
              <a:rPr lang="zh-CN" altLang="en-US" sz="2200" dirty="0"/>
              <a:t>（</a:t>
            </a:r>
            <a:r>
              <a:rPr lang="zh-CN" altLang="en-US" sz="2200" dirty="0">
                <a:solidFill>
                  <a:srgbClr val="0000CC"/>
                </a:solidFill>
              </a:rPr>
              <a:t>以</a:t>
            </a:r>
            <a:r>
              <a:rPr lang="en-US" altLang="zh-CN" sz="2200" dirty="0">
                <a:solidFill>
                  <a:srgbClr val="0000CC"/>
                </a:solidFill>
              </a:rPr>
              <a:t>#</a:t>
            </a:r>
            <a:r>
              <a:rPr lang="zh-CN" altLang="en-US" sz="2200" dirty="0">
                <a:solidFill>
                  <a:srgbClr val="0000CC"/>
                </a:solidFill>
              </a:rPr>
              <a:t>开头的为注释行</a:t>
            </a:r>
            <a:r>
              <a:rPr lang="zh-CN" altLang="en-US" sz="2200" dirty="0"/>
              <a:t>）</a:t>
            </a:r>
            <a:endParaRPr lang="en-US" altLang="zh-CN" sz="2200" dirty="0"/>
          </a:p>
          <a:p>
            <a:pPr eaLnBrk="1" hangingPunct="1">
              <a:buFont typeface="Wingdings" pitchFamily="2" charset="2"/>
              <a:buNone/>
            </a:pPr>
            <a:r>
              <a:rPr lang="en-US" altLang="zh-CN" sz="2400" dirty="0"/>
              <a:t>Helloworld</a:t>
            </a:r>
            <a:r>
              <a:rPr lang="zh-CN" altLang="en-US" sz="2400" dirty="0"/>
              <a:t>： </a:t>
            </a:r>
            <a:r>
              <a:rPr lang="en-US" altLang="zh-CN" sz="2400" dirty="0"/>
              <a:t>Helloworld.o  </a:t>
            </a:r>
            <a:r>
              <a:rPr lang="en-US" altLang="zh-CN" sz="2400" dirty="0" err="1"/>
              <a:t>print.o</a:t>
            </a:r>
            <a:endParaRPr lang="en-US" altLang="zh-CN" sz="2400" dirty="0"/>
          </a:p>
          <a:p>
            <a:pPr eaLnBrk="1" hangingPunct="1">
              <a:buNone/>
            </a:pPr>
            <a:r>
              <a:rPr lang="en-US" altLang="zh-CN" sz="2400" dirty="0"/>
              <a:t>			gcc  -o Helloworld   Helloworld.o  </a:t>
            </a:r>
            <a:r>
              <a:rPr lang="en-US" altLang="zh-CN" sz="2400" dirty="0" err="1"/>
              <a:t>print.o</a:t>
            </a:r>
            <a:r>
              <a:rPr lang="en-US" altLang="zh-CN" sz="2400" dirty="0"/>
              <a:t> 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CN" sz="2400" dirty="0"/>
              <a:t>Helloworld.o</a:t>
            </a:r>
            <a:r>
              <a:rPr lang="zh-CN" altLang="en-US" sz="2400" dirty="0"/>
              <a:t>：</a:t>
            </a:r>
            <a:r>
              <a:rPr lang="en-US" altLang="zh-CN" sz="2400" dirty="0" err="1"/>
              <a:t>Helloworld.c</a:t>
            </a:r>
            <a:r>
              <a:rPr lang="en-US" altLang="zh-CN" sz="2400" dirty="0"/>
              <a:t>  </a:t>
            </a:r>
            <a:r>
              <a:rPr lang="en-US" altLang="zh-CN" sz="2400" dirty="0" err="1"/>
              <a:t>print.h</a:t>
            </a:r>
            <a:endParaRPr lang="en-US" altLang="zh-CN" sz="2400" dirty="0"/>
          </a:p>
          <a:p>
            <a:pPr eaLnBrk="1" hangingPunct="1">
              <a:buFont typeface="Wingdings" pitchFamily="2" charset="2"/>
              <a:buNone/>
            </a:pPr>
            <a:r>
              <a:rPr lang="en-US" altLang="zh-CN" sz="2400" dirty="0"/>
              <a:t>			gcc  </a:t>
            </a:r>
            <a:r>
              <a:rPr lang="en-US" altLang="zh-CN" sz="2400" dirty="0">
                <a:latin typeface="Arial" pitchFamily="34" charset="0"/>
              </a:rPr>
              <a:t>-</a:t>
            </a:r>
            <a:r>
              <a:rPr lang="en-US" altLang="zh-CN" sz="2400" dirty="0"/>
              <a:t>c  </a:t>
            </a:r>
            <a:r>
              <a:rPr lang="en-US" altLang="zh-CN" sz="2400" dirty="0" err="1"/>
              <a:t>Helloworld.c</a:t>
            </a:r>
            <a:endParaRPr lang="en-US" altLang="zh-CN" sz="2400" dirty="0"/>
          </a:p>
          <a:p>
            <a:pPr eaLnBrk="1" hangingPunct="1">
              <a:buFont typeface="Wingdings" pitchFamily="2" charset="2"/>
              <a:buNone/>
            </a:pPr>
            <a:r>
              <a:rPr lang="en-US" altLang="zh-CN" sz="2400" dirty="0" err="1"/>
              <a:t>print.o</a:t>
            </a:r>
            <a:r>
              <a:rPr lang="zh-CN" altLang="en-US" sz="2400" dirty="0"/>
              <a:t>：</a:t>
            </a:r>
            <a:r>
              <a:rPr lang="en-US" altLang="zh-CN" sz="2400" dirty="0" err="1"/>
              <a:t>print.c</a:t>
            </a:r>
            <a:r>
              <a:rPr lang="en-US" altLang="zh-CN" sz="2400" dirty="0"/>
              <a:t>  </a:t>
            </a:r>
            <a:r>
              <a:rPr lang="en-US" altLang="zh-CN" sz="2400" dirty="0" err="1"/>
              <a:t>print.h</a:t>
            </a:r>
            <a:endParaRPr lang="en-US" altLang="zh-CN" sz="2400" dirty="0"/>
          </a:p>
          <a:p>
            <a:pPr eaLnBrk="1" hangingPunct="1">
              <a:buFont typeface="Wingdings" pitchFamily="2" charset="2"/>
              <a:buNone/>
            </a:pPr>
            <a:r>
              <a:rPr lang="en-US" altLang="zh-CN" sz="2400" dirty="0"/>
              <a:t>			gcc  -c  </a:t>
            </a:r>
            <a:r>
              <a:rPr lang="en-US" altLang="zh-CN" sz="2400" dirty="0" err="1"/>
              <a:t>print.c</a:t>
            </a:r>
            <a:endParaRPr lang="en-US" altLang="zh-CN" sz="2400" dirty="0"/>
          </a:p>
          <a:p>
            <a:pPr eaLnBrk="1" hangingPunct="1">
              <a:buFont typeface="Wingdings" pitchFamily="2" charset="2"/>
              <a:buNone/>
            </a:pPr>
            <a:r>
              <a:rPr lang="en-US" altLang="zh-CN" sz="2400" dirty="0"/>
              <a:t>clean</a:t>
            </a:r>
            <a:r>
              <a:rPr lang="zh-CN" altLang="en-US" sz="2400" dirty="0"/>
              <a:t>：</a:t>
            </a:r>
          </a:p>
          <a:p>
            <a:pPr eaLnBrk="1" hangingPunct="1">
              <a:buFont typeface="Wingdings" pitchFamily="2" charset="2"/>
              <a:buNone/>
            </a:pPr>
            <a:r>
              <a:rPr lang="zh-CN" altLang="en-US" sz="2400" dirty="0"/>
              <a:t>		 </a:t>
            </a:r>
            <a:r>
              <a:rPr lang="en-US" altLang="zh-CN" sz="2400" dirty="0"/>
              <a:t>	rm  -f    *.o </a:t>
            </a:r>
          </a:p>
          <a:p>
            <a:pPr eaLnBrk="1" hangingPunct="1"/>
            <a:r>
              <a:rPr lang="zh-CN" altLang="en-US" sz="2400" dirty="0"/>
              <a:t>上面的</a:t>
            </a:r>
            <a:r>
              <a:rPr lang="en-US" altLang="zh-CN" sz="2400" dirty="0" err="1"/>
              <a:t>makefile</a:t>
            </a:r>
            <a:r>
              <a:rPr lang="zh-CN" altLang="en-US" sz="2400" dirty="0"/>
              <a:t>文件中共定义了四个目标：</a:t>
            </a:r>
          </a:p>
          <a:p>
            <a:pPr marL="0" indent="0" eaLnBrk="1" hangingPunct="1">
              <a:buNone/>
            </a:pPr>
            <a:r>
              <a:rPr lang="zh-CN" altLang="en-US" sz="2400" dirty="0"/>
              <a:t>       </a:t>
            </a:r>
            <a:r>
              <a:rPr lang="en-US" altLang="zh-CN" sz="2400" dirty="0"/>
              <a:t>Helloworld</a:t>
            </a:r>
            <a:r>
              <a:rPr lang="zh-CN" altLang="en-US" sz="2400" dirty="0"/>
              <a:t>、</a:t>
            </a:r>
            <a:r>
              <a:rPr lang="en-US" altLang="zh-CN" sz="2400" dirty="0"/>
              <a:t>Helloworld.o</a:t>
            </a:r>
            <a:r>
              <a:rPr lang="zh-CN" altLang="en-US" sz="2400" dirty="0"/>
              <a:t>、</a:t>
            </a:r>
            <a:r>
              <a:rPr lang="en-US" altLang="zh-CN" sz="2400" dirty="0" err="1"/>
              <a:t>print.o</a:t>
            </a:r>
            <a:r>
              <a:rPr lang="zh-CN" altLang="en-US" sz="2400" dirty="0"/>
              <a:t>、</a:t>
            </a:r>
            <a:r>
              <a:rPr lang="en-US" altLang="zh-CN" sz="2400" dirty="0"/>
              <a:t>clean</a:t>
            </a:r>
          </a:p>
          <a:p>
            <a:pPr marL="0" indent="0" eaLnBrk="1" hangingPunct="1">
              <a:lnSpc>
                <a:spcPct val="110000"/>
              </a:lnSpc>
              <a:buNone/>
            </a:pPr>
            <a:endParaRPr lang="en-US" altLang="zh-CN" sz="2400" dirty="0"/>
          </a:p>
        </p:txBody>
      </p:sp>
    </p:spTree>
    <p:extLst>
      <p:ext uri="{BB962C8B-B14F-4D97-AF65-F5344CB8AC3E}">
        <p14:creationId xmlns:p14="http://schemas.microsoft.com/office/powerpoint/2010/main" val="2911681574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830AD1EE-1A67-67B8-50FD-8E50DFB9EE8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4469" y="1268760"/>
            <a:ext cx="8543062" cy="5053841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135560" y="409923"/>
            <a:ext cx="7846440" cy="858837"/>
          </a:xfrm>
        </p:spPr>
        <p:txBody>
          <a:bodyPr/>
          <a:lstStyle/>
          <a:p>
            <a:r>
              <a:rPr lang="en-US" altLang="zh-CN" dirty="0">
                <a:latin typeface="+mj-lt"/>
              </a:rPr>
              <a:t>Make</a:t>
            </a:r>
            <a:r>
              <a:rPr lang="zh-CN" altLang="en-US" dirty="0">
                <a:latin typeface="+mj-lt"/>
              </a:rPr>
              <a:t>的用法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110871B5-850E-4E14-A636-3EC679EBF038}" type="slidenum">
              <a:rPr lang="en-US" altLang="zh-CN" smtClean="0"/>
              <a:pPr>
                <a:defRPr/>
              </a:pPr>
              <a:t>76</a:t>
            </a:fld>
            <a:endParaRPr lang="en-US" altLang="zh-CN"/>
          </a:p>
        </p:txBody>
      </p:sp>
      <p:sp>
        <p:nvSpPr>
          <p:cNvPr id="6" name="AutoShape 5"/>
          <p:cNvSpPr>
            <a:spLocks noChangeArrowheads="1"/>
          </p:cNvSpPr>
          <p:nvPr/>
        </p:nvSpPr>
        <p:spPr bwMode="auto">
          <a:xfrm>
            <a:off x="6822879" y="2056480"/>
            <a:ext cx="3384376" cy="266942"/>
          </a:xfrm>
          <a:prstGeom prst="wedgeRoundRectCallout">
            <a:avLst>
              <a:gd name="adj1" fmla="val -103251"/>
              <a:gd name="adj2" fmla="val 59499"/>
              <a:gd name="adj3" fmla="val 16667"/>
            </a:avLst>
          </a:prstGeom>
          <a:noFill/>
          <a:ln w="9525" algn="ctr">
            <a:solidFill>
              <a:schemeClr val="hlink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pPr algn="l"/>
            <a:r>
              <a:rPr lang="zh-CN" altLang="en-US" dirty="0"/>
              <a:t>首次</a:t>
            </a:r>
            <a:r>
              <a:rPr lang="en-US" altLang="zh-CN" dirty="0"/>
              <a:t>make Helloworld</a:t>
            </a:r>
            <a:r>
              <a:rPr lang="zh-CN" altLang="en-US" dirty="0"/>
              <a:t>程序</a:t>
            </a:r>
          </a:p>
        </p:txBody>
      </p:sp>
      <p:sp>
        <p:nvSpPr>
          <p:cNvPr id="7" name="AutoShape 5"/>
          <p:cNvSpPr>
            <a:spLocks noChangeArrowheads="1"/>
          </p:cNvSpPr>
          <p:nvPr/>
        </p:nvSpPr>
        <p:spPr bwMode="auto">
          <a:xfrm>
            <a:off x="6822879" y="2708921"/>
            <a:ext cx="3384376" cy="360040"/>
          </a:xfrm>
          <a:prstGeom prst="wedgeRoundRectCallout">
            <a:avLst>
              <a:gd name="adj1" fmla="val -105962"/>
              <a:gd name="adj2" fmla="val 174211"/>
              <a:gd name="adj3" fmla="val 16667"/>
            </a:avLst>
          </a:prstGeom>
          <a:noFill/>
          <a:ln w="9525" algn="ctr">
            <a:solidFill>
              <a:schemeClr val="hlink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pPr algn="l"/>
            <a:r>
              <a:rPr lang="zh-CN" altLang="en-US" dirty="0"/>
              <a:t>再次</a:t>
            </a:r>
            <a:r>
              <a:rPr lang="en-US" altLang="zh-CN" dirty="0"/>
              <a:t>make Helloworld</a:t>
            </a:r>
            <a:r>
              <a:rPr lang="zh-CN" altLang="en-US" dirty="0"/>
              <a:t>程序</a:t>
            </a:r>
          </a:p>
        </p:txBody>
      </p:sp>
      <p:sp>
        <p:nvSpPr>
          <p:cNvPr id="8" name="AutoShape 5"/>
          <p:cNvSpPr>
            <a:spLocks noChangeArrowheads="1"/>
          </p:cNvSpPr>
          <p:nvPr/>
        </p:nvSpPr>
        <p:spPr bwMode="auto">
          <a:xfrm>
            <a:off x="6983155" y="3828127"/>
            <a:ext cx="3384376" cy="504056"/>
          </a:xfrm>
          <a:prstGeom prst="wedgeRoundRectCallout">
            <a:avLst>
              <a:gd name="adj1" fmla="val -80157"/>
              <a:gd name="adj2" fmla="val -16947"/>
              <a:gd name="adj3" fmla="val 16667"/>
            </a:avLst>
          </a:prstGeom>
          <a:noFill/>
          <a:ln w="9525" algn="ctr">
            <a:solidFill>
              <a:schemeClr val="hlink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pPr algn="l"/>
            <a:r>
              <a:rPr lang="zh-CN" altLang="en-US" dirty="0"/>
              <a:t>修改</a:t>
            </a:r>
            <a:r>
              <a:rPr lang="en-US" altLang="zh-CN" dirty="0" err="1"/>
              <a:t>print.c</a:t>
            </a:r>
            <a:r>
              <a:rPr lang="zh-CN" altLang="en-US" dirty="0"/>
              <a:t>文件的更新时间</a:t>
            </a:r>
          </a:p>
        </p:txBody>
      </p:sp>
      <p:sp>
        <p:nvSpPr>
          <p:cNvPr id="11" name="AutoShape 5"/>
          <p:cNvSpPr>
            <a:spLocks noChangeArrowheads="1"/>
          </p:cNvSpPr>
          <p:nvPr/>
        </p:nvSpPr>
        <p:spPr bwMode="auto">
          <a:xfrm>
            <a:off x="6983156" y="4836240"/>
            <a:ext cx="3075045" cy="432048"/>
          </a:xfrm>
          <a:prstGeom prst="wedgeRoundRectCallout">
            <a:avLst>
              <a:gd name="adj1" fmla="val -113080"/>
              <a:gd name="adj2" fmla="val -193791"/>
              <a:gd name="adj3" fmla="val 16667"/>
            </a:avLst>
          </a:prstGeom>
          <a:noFill/>
          <a:ln w="9525" algn="ctr">
            <a:solidFill>
              <a:schemeClr val="hlink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pPr algn="l"/>
            <a:r>
              <a:rPr lang="zh-CN" altLang="en-US" dirty="0"/>
              <a:t>再次</a:t>
            </a:r>
            <a:r>
              <a:rPr lang="en-US" altLang="zh-CN" dirty="0"/>
              <a:t>make Helloworld</a:t>
            </a:r>
            <a:r>
              <a:rPr lang="zh-CN" altLang="en-US" dirty="0"/>
              <a:t>程序</a:t>
            </a:r>
          </a:p>
        </p:txBody>
      </p:sp>
      <p:sp>
        <p:nvSpPr>
          <p:cNvPr id="12" name="AutoShape 5"/>
          <p:cNvSpPr>
            <a:spLocks noChangeArrowheads="1"/>
          </p:cNvSpPr>
          <p:nvPr/>
        </p:nvSpPr>
        <p:spPr bwMode="auto">
          <a:xfrm>
            <a:off x="7326112" y="5853624"/>
            <a:ext cx="2655888" cy="432048"/>
          </a:xfrm>
          <a:prstGeom prst="wedgeRoundRectCallout">
            <a:avLst>
              <a:gd name="adj1" fmla="val -113727"/>
              <a:gd name="adj2" fmla="val -275555"/>
              <a:gd name="adj3" fmla="val 16667"/>
            </a:avLst>
          </a:prstGeom>
          <a:noFill/>
          <a:ln w="9525" algn="ctr">
            <a:solidFill>
              <a:schemeClr val="hlink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pPr algn="l"/>
            <a:r>
              <a:rPr lang="zh-CN" altLang="en-US" dirty="0"/>
              <a:t>清除所有目标代码</a:t>
            </a:r>
          </a:p>
        </p:txBody>
      </p:sp>
    </p:spTree>
    <p:extLst>
      <p:ext uri="{BB962C8B-B14F-4D97-AF65-F5344CB8AC3E}">
        <p14:creationId xmlns:p14="http://schemas.microsoft.com/office/powerpoint/2010/main" val="780880009"/>
      </p:ext>
    </p:extLst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8" grpId="0" animBg="1"/>
      <p:bldP spid="11" grpId="0" animBg="1"/>
      <p:bldP spid="12" grpId="0" animBg="1"/>
    </p:bldLst>
  </p:timing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标题 1"/>
          <p:cNvSpPr>
            <a:spLocks noGrp="1"/>
          </p:cNvSpPr>
          <p:nvPr>
            <p:ph type="title"/>
          </p:nvPr>
        </p:nvSpPr>
        <p:spPr>
          <a:xfrm>
            <a:off x="623392" y="476672"/>
            <a:ext cx="10670976" cy="858837"/>
          </a:xfrm>
        </p:spPr>
        <p:txBody>
          <a:bodyPr/>
          <a:lstStyle/>
          <a:p>
            <a:r>
              <a:rPr lang="en-US" altLang="zh-CN" dirty="0">
                <a:latin typeface="+mj-lt"/>
              </a:rPr>
              <a:t>make</a:t>
            </a:r>
            <a:r>
              <a:rPr lang="zh-CN" altLang="en-US" dirty="0"/>
              <a:t>的执行过程</a:t>
            </a:r>
          </a:p>
        </p:txBody>
      </p:sp>
      <p:sp>
        <p:nvSpPr>
          <p:cNvPr id="12291" name="内容占位符 2"/>
          <p:cNvSpPr>
            <a:spLocks noGrp="1"/>
          </p:cNvSpPr>
          <p:nvPr>
            <p:ph idx="1"/>
          </p:nvPr>
        </p:nvSpPr>
        <p:spPr>
          <a:xfrm>
            <a:off x="1271464" y="1484784"/>
            <a:ext cx="9865096" cy="4608512"/>
          </a:xfrm>
        </p:spPr>
        <p:txBody>
          <a:bodyPr/>
          <a:lstStyle/>
          <a:p>
            <a:pPr>
              <a:lnSpc>
                <a:spcPct val="120000"/>
              </a:lnSpc>
            </a:pPr>
            <a:r>
              <a:rPr lang="zh-CN" altLang="en-US" sz="2600" dirty="0">
                <a:solidFill>
                  <a:srgbClr val="0000CC"/>
                </a:solidFill>
                <a:latin typeface="+mn-ea"/>
              </a:rPr>
              <a:t>更新目标的步骤</a:t>
            </a:r>
            <a:r>
              <a:rPr lang="zh-CN" altLang="en-US" sz="2600" dirty="0">
                <a:latin typeface="+mn-ea"/>
              </a:rPr>
              <a:t>：</a:t>
            </a:r>
          </a:p>
          <a:p>
            <a:pPr>
              <a:lnSpc>
                <a:spcPct val="120000"/>
              </a:lnSpc>
              <a:buFont typeface="宋体" charset="-122"/>
              <a:buAutoNum type="arabicPeriod"/>
            </a:pPr>
            <a:r>
              <a:rPr lang="zh-CN" altLang="en-US" sz="2600" dirty="0">
                <a:latin typeface="+mn-ea"/>
              </a:rPr>
              <a:t>首先判断目标的依赖文件的是否都存在。若有依赖文件不存在，寻找以该文件为目标的规则，以生成该文件。</a:t>
            </a:r>
            <a:endParaRPr lang="en-US" altLang="zh-CN" sz="2600" dirty="0">
              <a:latin typeface="+mn-ea"/>
            </a:endParaRPr>
          </a:p>
          <a:p>
            <a:pPr>
              <a:lnSpc>
                <a:spcPct val="120000"/>
              </a:lnSpc>
              <a:buFont typeface="宋体" charset="-122"/>
              <a:buAutoNum type="arabicPeriod"/>
            </a:pPr>
            <a:r>
              <a:rPr lang="zh-CN" altLang="en-US" sz="2600" dirty="0">
                <a:latin typeface="+mn-ea"/>
              </a:rPr>
              <a:t>若目标的依赖文件都存在，判断目标文件是否存在。若目标文件不存在，则</a:t>
            </a:r>
            <a:r>
              <a:rPr lang="zh-CN" altLang="en-US" sz="2600" dirty="0">
                <a:solidFill>
                  <a:srgbClr val="CC0099"/>
                </a:solidFill>
                <a:latin typeface="+mn-ea"/>
              </a:rPr>
              <a:t>执行</a:t>
            </a:r>
            <a:r>
              <a:rPr lang="zh-CN" altLang="en-US" sz="2600" dirty="0">
                <a:latin typeface="+mn-ea"/>
              </a:rPr>
              <a:t>规则里的命令。若目标文件存在，</a:t>
            </a:r>
            <a:r>
              <a:rPr lang="zh-CN" altLang="en-US" sz="2600" dirty="0">
                <a:solidFill>
                  <a:srgbClr val="0000CC"/>
                </a:solidFill>
                <a:latin typeface="+mn-ea"/>
              </a:rPr>
              <a:t>判断目标文件的修改时间是否比所有的依赖文件都新</a:t>
            </a:r>
            <a:r>
              <a:rPr lang="zh-CN" altLang="en-US" sz="2600" dirty="0">
                <a:latin typeface="+mn-ea"/>
              </a:rPr>
              <a:t>，若是，说明目标文件是最新的，不执行命令</a:t>
            </a:r>
            <a:r>
              <a:rPr lang="en-US" altLang="zh-CN" sz="2600" dirty="0">
                <a:latin typeface="+mn-ea"/>
              </a:rPr>
              <a:t>,</a:t>
            </a:r>
            <a:r>
              <a:rPr lang="zh-CN" altLang="en-US" sz="2600" dirty="0">
                <a:latin typeface="+mn-ea"/>
              </a:rPr>
              <a:t>否则执行规则里的命令。</a:t>
            </a:r>
          </a:p>
          <a:p>
            <a:pPr marL="0" indent="0">
              <a:buNone/>
            </a:pPr>
            <a:endParaRPr lang="en-US" altLang="zh-CN" sz="2500" dirty="0">
              <a:latin typeface="+mn-ea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1"/>
          </p:nvPr>
        </p:nvSpPr>
        <p:spPr>
          <a:xfrm>
            <a:off x="5053013" y="6240463"/>
            <a:ext cx="2133600" cy="457200"/>
          </a:xfrm>
        </p:spPr>
        <p:txBody>
          <a:bodyPr/>
          <a:lstStyle/>
          <a:p>
            <a:pPr>
              <a:defRPr/>
            </a:pPr>
            <a:fld id="{110871B5-850E-4E14-A636-3EC679EBF038}" type="slidenum">
              <a:rPr lang="en-US" altLang="zh-CN" smtClean="0"/>
              <a:pPr>
                <a:defRPr/>
              </a:pPr>
              <a:t>77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2775063547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标题 1"/>
          <p:cNvSpPr>
            <a:spLocks noGrp="1"/>
          </p:cNvSpPr>
          <p:nvPr>
            <p:ph type="title"/>
          </p:nvPr>
        </p:nvSpPr>
        <p:spPr>
          <a:xfrm>
            <a:off x="1199456" y="479301"/>
            <a:ext cx="9865096" cy="858837"/>
          </a:xfrm>
        </p:spPr>
        <p:txBody>
          <a:bodyPr/>
          <a:lstStyle/>
          <a:p>
            <a:r>
              <a:rPr lang="en-US" altLang="zh-CN" dirty="0">
                <a:latin typeface="+mj-lt"/>
              </a:rPr>
              <a:t>make</a:t>
            </a:r>
            <a:r>
              <a:rPr lang="zh-CN" altLang="en-US" dirty="0"/>
              <a:t>的执行过程</a:t>
            </a:r>
          </a:p>
        </p:txBody>
      </p:sp>
      <p:sp>
        <p:nvSpPr>
          <p:cNvPr id="12291" name="内容占位符 2"/>
          <p:cNvSpPr>
            <a:spLocks noGrp="1"/>
          </p:cNvSpPr>
          <p:nvPr>
            <p:ph idx="1"/>
          </p:nvPr>
        </p:nvSpPr>
        <p:spPr>
          <a:xfrm>
            <a:off x="1199456" y="1484784"/>
            <a:ext cx="9865096" cy="4464496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zh-CN" altLang="en-US" sz="2600" dirty="0">
                <a:latin typeface="+mn-ea"/>
              </a:rPr>
              <a:t>以上步骤可以看出，这是一个递归的过程，这个过程保证了更新是从依赖关系的最底端开始逐步进行，直到最后更新命令参数指定的目标或最终目标。</a:t>
            </a:r>
            <a:endParaRPr lang="en-US" altLang="zh-CN" sz="2600" dirty="0"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en-US" altLang="zh-CN" sz="2600" dirty="0">
                <a:latin typeface="+mn-ea"/>
              </a:rPr>
              <a:t>make</a:t>
            </a:r>
            <a:r>
              <a:rPr lang="zh-CN" altLang="en-US" sz="2600" dirty="0">
                <a:latin typeface="+mn-ea"/>
              </a:rPr>
              <a:t>确保在依赖关系链上的目标都比依赖文件新。这就是</a:t>
            </a:r>
            <a:r>
              <a:rPr lang="en-US" altLang="zh-CN" sz="2600" dirty="0">
                <a:solidFill>
                  <a:srgbClr val="0000CC"/>
                </a:solidFill>
                <a:latin typeface="+mn-ea"/>
              </a:rPr>
              <a:t>make</a:t>
            </a:r>
            <a:r>
              <a:rPr lang="zh-CN" altLang="en-US" sz="2600" dirty="0">
                <a:solidFill>
                  <a:srgbClr val="0000CC"/>
                </a:solidFill>
                <a:latin typeface="+mn-ea"/>
              </a:rPr>
              <a:t>的基本工作原理</a:t>
            </a:r>
            <a:r>
              <a:rPr lang="zh-CN" altLang="en-US" sz="2600" dirty="0">
                <a:latin typeface="+mn-ea"/>
              </a:rPr>
              <a:t>，也是最核心的规则。</a:t>
            </a:r>
          </a:p>
          <a:p>
            <a:pPr marL="0" indent="0">
              <a:buNone/>
            </a:pPr>
            <a:endParaRPr lang="zh-CN" altLang="en-US" sz="2600" dirty="0">
              <a:latin typeface="+mn-ea"/>
            </a:endParaRPr>
          </a:p>
          <a:p>
            <a:pPr marL="0" indent="0">
              <a:buNone/>
            </a:pPr>
            <a:endParaRPr lang="en-US" altLang="zh-CN" sz="2500" dirty="0">
              <a:latin typeface="+mn-ea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1"/>
          </p:nvPr>
        </p:nvSpPr>
        <p:spPr>
          <a:xfrm>
            <a:off x="5053013" y="6240463"/>
            <a:ext cx="2133600" cy="457200"/>
          </a:xfrm>
        </p:spPr>
        <p:txBody>
          <a:bodyPr/>
          <a:lstStyle/>
          <a:p>
            <a:pPr>
              <a:defRPr/>
            </a:pPr>
            <a:fld id="{110871B5-850E-4E14-A636-3EC679EBF038}" type="slidenum">
              <a:rPr lang="en-US" altLang="zh-CN" smtClean="0"/>
              <a:pPr>
                <a:defRPr/>
              </a:pPr>
              <a:t>78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4178034917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416" y="481931"/>
            <a:ext cx="10369152" cy="858837"/>
          </a:xfrm>
        </p:spPr>
        <p:txBody>
          <a:bodyPr/>
          <a:lstStyle/>
          <a:p>
            <a:r>
              <a:rPr lang="en-US" altLang="zh-CN" dirty="0">
                <a:latin typeface="+mj-lt"/>
              </a:rPr>
              <a:t>Makefile</a:t>
            </a:r>
            <a:r>
              <a:rPr lang="zh-CN" altLang="en-US" dirty="0"/>
              <a:t>中的变量 </a:t>
            </a:r>
          </a:p>
        </p:txBody>
      </p:sp>
      <p:sp>
        <p:nvSpPr>
          <p:cNvPr id="18434" name="Rectangle 3"/>
          <p:cNvSpPr>
            <a:spLocks noGrp="1" noRot="1" noChangeArrowheads="1"/>
          </p:cNvSpPr>
          <p:nvPr>
            <p:ph idx="1"/>
          </p:nvPr>
        </p:nvSpPr>
        <p:spPr>
          <a:xfrm>
            <a:off x="1199456" y="1556792"/>
            <a:ext cx="9865096" cy="4411662"/>
          </a:xfrm>
        </p:spPr>
        <p:txBody>
          <a:bodyPr/>
          <a:lstStyle/>
          <a:p>
            <a:pPr eaLnBrk="1" hangingPunct="1"/>
            <a:r>
              <a:rPr lang="en-US" altLang="zh-CN" sz="2400" dirty="0"/>
              <a:t> </a:t>
            </a:r>
            <a:r>
              <a:rPr lang="en-US" altLang="zh-CN" sz="2600" dirty="0"/>
              <a:t>Makefile</a:t>
            </a:r>
            <a:r>
              <a:rPr lang="zh-CN" altLang="en-US" sz="2600" dirty="0"/>
              <a:t>里的变量就像一个环境变量。这些变量区分大小写，一般使用大写宇母。通常可以从任何地方引用定义的变量，</a:t>
            </a:r>
            <a:r>
              <a:rPr lang="zh-CN" altLang="en-US" sz="2600" dirty="0">
                <a:solidFill>
                  <a:srgbClr val="0000CC"/>
                </a:solidFill>
              </a:rPr>
              <a:t>变量的主要作用如下</a:t>
            </a:r>
            <a:r>
              <a:rPr lang="zh-CN" altLang="en-US" sz="2600" dirty="0"/>
              <a:t>： </a:t>
            </a:r>
          </a:p>
          <a:p>
            <a:pPr marL="349250" lvl="1" indent="0" eaLnBrk="1" hangingPunct="1">
              <a:buNone/>
            </a:pPr>
            <a:r>
              <a:rPr lang="zh-CN" altLang="en-US" dirty="0">
                <a:solidFill>
                  <a:srgbClr val="CC0099"/>
                </a:solidFill>
              </a:rPr>
              <a:t>（</a:t>
            </a:r>
            <a:r>
              <a:rPr lang="en-US" altLang="zh-CN" dirty="0">
                <a:solidFill>
                  <a:srgbClr val="CC0099"/>
                </a:solidFill>
              </a:rPr>
              <a:t>1</a:t>
            </a:r>
            <a:r>
              <a:rPr lang="zh-CN" altLang="en-US" dirty="0">
                <a:solidFill>
                  <a:srgbClr val="CC0099"/>
                </a:solidFill>
              </a:rPr>
              <a:t>）保存文件名列表</a:t>
            </a:r>
            <a:r>
              <a:rPr lang="zh-CN" altLang="en-US" dirty="0"/>
              <a:t>。在前面的示例中，作为依赖文件的一些目标文件名出现在可执行文件的规则中，而在这个规则的命令行里同样包含这些文件并传递给</a:t>
            </a:r>
            <a:r>
              <a:rPr lang="en-US" altLang="zh-CN" dirty="0"/>
              <a:t>gcc</a:t>
            </a:r>
            <a:r>
              <a:rPr lang="zh-CN" altLang="en-US" dirty="0"/>
              <a:t>做为命令参数。如果使用一个变量来保存所有的目标文件名，则可以方便地加入新的目标文件而且不易出错。 </a:t>
            </a:r>
          </a:p>
        </p:txBody>
      </p:sp>
      <p:sp>
        <p:nvSpPr>
          <p:cNvPr id="7" name="灯片编号占位符 1"/>
          <p:cNvSpPr>
            <a:spLocks noGrp="1"/>
          </p:cNvSpPr>
          <p:nvPr>
            <p:ph type="sldNum" sz="quarter" idx="11"/>
          </p:nvPr>
        </p:nvSpPr>
        <p:spPr>
          <a:xfrm>
            <a:off x="5053013" y="6240463"/>
            <a:ext cx="2133600" cy="457200"/>
          </a:xfrm>
        </p:spPr>
        <p:txBody>
          <a:bodyPr/>
          <a:lstStyle/>
          <a:p>
            <a:pPr>
              <a:defRPr/>
            </a:pPr>
            <a:fld id="{110871B5-850E-4E14-A636-3EC679EBF038}" type="slidenum">
              <a:rPr lang="en-US" altLang="zh-CN" smtClean="0"/>
              <a:pPr>
                <a:defRPr/>
              </a:pPr>
              <a:t>79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713068566"/>
      </p:ext>
    </p:extLst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416" y="553939"/>
            <a:ext cx="10441160" cy="858837"/>
          </a:xfrm>
        </p:spPr>
        <p:txBody>
          <a:bodyPr/>
          <a:lstStyle/>
          <a:p>
            <a:r>
              <a:rPr lang="en-US" altLang="zh-CN" dirty="0">
                <a:latin typeface="+mj-lt"/>
              </a:rPr>
              <a:t>Makefile</a:t>
            </a:r>
            <a:r>
              <a:rPr lang="zh-CN" altLang="en-US" dirty="0"/>
              <a:t>中的变量 </a:t>
            </a:r>
          </a:p>
        </p:txBody>
      </p:sp>
      <p:sp>
        <p:nvSpPr>
          <p:cNvPr id="19458" name="Rectangle 3"/>
          <p:cNvSpPr>
            <a:spLocks noGrp="1" noRot="1" noChangeArrowheads="1"/>
          </p:cNvSpPr>
          <p:nvPr>
            <p:ph idx="1"/>
          </p:nvPr>
        </p:nvSpPr>
        <p:spPr>
          <a:xfrm>
            <a:off x="983432" y="1465610"/>
            <a:ext cx="10153128" cy="4555678"/>
          </a:xfrm>
        </p:spPr>
        <p:txBody>
          <a:bodyPr/>
          <a:lstStyle/>
          <a:p>
            <a:pPr marL="0" indent="0" eaLnBrk="1" hangingPunct="1">
              <a:buNone/>
            </a:pPr>
            <a:r>
              <a:rPr lang="zh-CN" altLang="en-US" sz="2600" dirty="0">
                <a:solidFill>
                  <a:srgbClr val="CC0099"/>
                </a:solidFill>
              </a:rPr>
              <a:t>（</a:t>
            </a:r>
            <a:r>
              <a:rPr lang="en-US" altLang="zh-CN" sz="2600" dirty="0">
                <a:solidFill>
                  <a:srgbClr val="CC0099"/>
                </a:solidFill>
              </a:rPr>
              <a:t>2</a:t>
            </a:r>
            <a:r>
              <a:rPr lang="zh-CN" altLang="en-US" sz="2600" dirty="0">
                <a:solidFill>
                  <a:srgbClr val="CC0099"/>
                </a:solidFill>
              </a:rPr>
              <a:t>）保存可执行命令名</a:t>
            </a:r>
            <a:r>
              <a:rPr lang="zh-CN" altLang="en-US" sz="2600" dirty="0"/>
              <a:t>，如编译器。在不同的</a:t>
            </a:r>
            <a:r>
              <a:rPr lang="en-US" altLang="zh-CN" sz="2600" dirty="0"/>
              <a:t>Linux</a:t>
            </a:r>
            <a:r>
              <a:rPr lang="zh-CN" altLang="en-US" sz="2600" dirty="0"/>
              <a:t>系统中很多相似的编译器系统，这些编译器系统会有细微差别，如果项目被用在一个非</a:t>
            </a:r>
            <a:r>
              <a:rPr lang="en-US" altLang="zh-CN" sz="2600" dirty="0"/>
              <a:t>gcc</a:t>
            </a:r>
            <a:r>
              <a:rPr lang="zh-CN" altLang="en-US" sz="2600" dirty="0"/>
              <a:t>的系统里，则必须将所有出现编译器名的地方改成用新的编译器名。如果使用一个变量来代替编译器名，那么只需要改变该变量的值，其他所有地方的命令名就都改变了。 </a:t>
            </a:r>
            <a:endParaRPr lang="en-US" altLang="zh-CN" sz="2600" dirty="0"/>
          </a:p>
          <a:p>
            <a:pPr marL="0" indent="0" eaLnBrk="1" hangingPunct="1">
              <a:buNone/>
            </a:pPr>
            <a:r>
              <a:rPr lang="zh-CN" altLang="en-US" sz="2600" dirty="0">
                <a:solidFill>
                  <a:srgbClr val="CC0099"/>
                </a:solidFill>
              </a:rPr>
              <a:t>（</a:t>
            </a:r>
            <a:r>
              <a:rPr lang="en-US" altLang="zh-CN" sz="2600" dirty="0">
                <a:solidFill>
                  <a:srgbClr val="CC0099"/>
                </a:solidFill>
              </a:rPr>
              <a:t>3</a:t>
            </a:r>
            <a:r>
              <a:rPr lang="zh-CN" altLang="en-US" sz="2600" dirty="0">
                <a:solidFill>
                  <a:srgbClr val="CC0099"/>
                </a:solidFill>
              </a:rPr>
              <a:t>）保存编译器的参数</a:t>
            </a:r>
            <a:r>
              <a:rPr lang="zh-CN" altLang="en-US" sz="2600" dirty="0"/>
              <a:t>。很多源代码编译时，</a:t>
            </a:r>
            <a:r>
              <a:rPr lang="en-US" altLang="zh-CN" sz="2600" dirty="0"/>
              <a:t>gcc</a:t>
            </a:r>
            <a:r>
              <a:rPr lang="zh-CN" altLang="en-US" sz="2600" dirty="0"/>
              <a:t>需要很长的参数选项，有时，所有的编译命令使用一组相同的选项，如果把这组选项定义为一个变量，把这个变量放在所有引用编译器的地方。当要改变选项的时候，只需改变一次这个变量的内容即可。 </a:t>
            </a:r>
          </a:p>
          <a:p>
            <a:pPr marL="0" indent="0" eaLnBrk="1" hangingPunct="1">
              <a:buNone/>
            </a:pPr>
            <a:endParaRPr lang="zh-CN" altLang="en-US" sz="2400" dirty="0"/>
          </a:p>
          <a:p>
            <a:pPr marL="0" indent="0" eaLnBrk="1" hangingPunct="1">
              <a:buNone/>
            </a:pPr>
            <a:endParaRPr lang="en-US" altLang="zh-CN" sz="2800" dirty="0"/>
          </a:p>
        </p:txBody>
      </p:sp>
      <p:sp>
        <p:nvSpPr>
          <p:cNvPr id="5" name="灯片编号占位符 1"/>
          <p:cNvSpPr>
            <a:spLocks noGrp="1"/>
          </p:cNvSpPr>
          <p:nvPr>
            <p:ph type="sldNum" sz="quarter" idx="11"/>
          </p:nvPr>
        </p:nvSpPr>
        <p:spPr>
          <a:xfrm>
            <a:off x="5053013" y="6240463"/>
            <a:ext cx="2133600" cy="457200"/>
          </a:xfrm>
        </p:spPr>
        <p:txBody>
          <a:bodyPr/>
          <a:lstStyle/>
          <a:p>
            <a:pPr>
              <a:defRPr/>
            </a:pPr>
            <a:fld id="{110871B5-850E-4E14-A636-3EC679EBF038}" type="slidenum">
              <a:rPr lang="en-US" altLang="zh-CN" smtClean="0"/>
              <a:pPr>
                <a:defRPr/>
              </a:pPr>
              <a:t>80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60869212"/>
      </p:ext>
    </p:extLst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199456" y="481931"/>
            <a:ext cx="9937103" cy="858837"/>
          </a:xfrm>
        </p:spPr>
        <p:txBody>
          <a:bodyPr/>
          <a:lstStyle/>
          <a:p>
            <a:r>
              <a:rPr lang="zh-CN" altLang="en-US" dirty="0"/>
              <a:t>定义变量</a:t>
            </a:r>
          </a:p>
        </p:txBody>
      </p:sp>
      <p:sp>
        <p:nvSpPr>
          <p:cNvPr id="21506" name="Rectangle 3"/>
          <p:cNvSpPr>
            <a:spLocks noGrp="1" noRot="1" noChangeArrowheads="1"/>
          </p:cNvSpPr>
          <p:nvPr>
            <p:ph idx="1"/>
          </p:nvPr>
        </p:nvSpPr>
        <p:spPr>
          <a:xfrm>
            <a:off x="983432" y="1465610"/>
            <a:ext cx="10153127" cy="4843710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zh-CN" sz="2600" dirty="0"/>
              <a:t>Makefile</a:t>
            </a:r>
            <a:r>
              <a:rPr lang="zh-CN" altLang="en-US" sz="2600" dirty="0"/>
              <a:t>中的变量是用一个文本串在</a:t>
            </a:r>
            <a:r>
              <a:rPr lang="en-US" altLang="zh-CN" sz="2600" dirty="0"/>
              <a:t>Makefile</a:t>
            </a:r>
            <a:r>
              <a:rPr lang="zh-CN" altLang="en-US" sz="2600" dirty="0"/>
              <a:t>中来定义，这个文本串就是变量的值。定义变量：在一行的开始写下变量名，后面跟一个</a:t>
            </a:r>
            <a:r>
              <a:rPr lang="zh-CN" altLang="en-US" sz="2600" dirty="0">
                <a:latin typeface="Arial" pitchFamily="34" charset="0"/>
              </a:rPr>
              <a:t>“</a:t>
            </a:r>
            <a:r>
              <a:rPr lang="en-US" altLang="zh-CN" sz="2600" dirty="0"/>
              <a:t>=</a:t>
            </a:r>
            <a:r>
              <a:rPr lang="zh-CN" altLang="en-US" sz="2600" dirty="0">
                <a:latin typeface="Arial" pitchFamily="34" charset="0"/>
              </a:rPr>
              <a:t>”</a:t>
            </a:r>
            <a:r>
              <a:rPr lang="zh-CN" altLang="en-US" sz="2600" dirty="0"/>
              <a:t>号，等号</a:t>
            </a:r>
            <a:r>
              <a:rPr lang="zh-CN" altLang="en-US" sz="2600" dirty="0">
                <a:solidFill>
                  <a:srgbClr val="0000CC"/>
                </a:solidFill>
              </a:rPr>
              <a:t>右面设定这个变量的值</a:t>
            </a:r>
            <a:r>
              <a:rPr lang="zh-CN" altLang="en-US" sz="2600" dirty="0"/>
              <a:t>。下面是定义变量的语法：</a:t>
            </a:r>
          </a:p>
          <a:p>
            <a:pPr marL="0" indent="0" eaLnBrk="1" hangingPunct="1">
              <a:lnSpc>
                <a:spcPct val="90000"/>
              </a:lnSpc>
              <a:buNone/>
            </a:pPr>
            <a:r>
              <a:rPr lang="en-US" altLang="zh-CN" sz="2600" dirty="0"/>
              <a:t>                </a:t>
            </a:r>
            <a:r>
              <a:rPr lang="en-US" altLang="zh-CN" sz="2600" dirty="0" err="1"/>
              <a:t>VARNAME</a:t>
            </a:r>
            <a:r>
              <a:rPr lang="en-US" altLang="zh-CN" sz="2600" dirty="0"/>
              <a:t>=string</a:t>
            </a:r>
          </a:p>
          <a:p>
            <a:pPr eaLnBrk="1" hangingPunct="1">
              <a:lnSpc>
                <a:spcPct val="90000"/>
              </a:lnSpc>
            </a:pPr>
            <a:r>
              <a:rPr lang="zh-CN" altLang="en-US" sz="2600" dirty="0">
                <a:solidFill>
                  <a:srgbClr val="CC0099"/>
                </a:solidFill>
              </a:rPr>
              <a:t>引用时，把变量用括号括起来</a:t>
            </a:r>
            <a:r>
              <a:rPr lang="zh-CN" altLang="en-US" sz="2600" dirty="0"/>
              <a:t>，并在前面加上</a:t>
            </a:r>
            <a:r>
              <a:rPr lang="en-US" altLang="zh-CN" sz="2600" dirty="0">
                <a:solidFill>
                  <a:srgbClr val="CC0099"/>
                </a:solidFill>
              </a:rPr>
              <a:t>$</a:t>
            </a:r>
            <a:r>
              <a:rPr lang="zh-CN" altLang="en-US" sz="2600" dirty="0"/>
              <a:t>符号，就可以引用变量的值：</a:t>
            </a:r>
          </a:p>
          <a:p>
            <a:pPr marL="0" indent="0" eaLnBrk="1" hangingPunct="1">
              <a:lnSpc>
                <a:spcPct val="90000"/>
              </a:lnSpc>
              <a:buNone/>
            </a:pPr>
            <a:r>
              <a:rPr lang="zh-CN" altLang="en-US" sz="2600" dirty="0"/>
              <a:t>                </a:t>
            </a:r>
            <a:r>
              <a:rPr lang="en-US" altLang="zh-CN" sz="2600" dirty="0"/>
              <a:t>${</a:t>
            </a:r>
            <a:r>
              <a:rPr lang="en-US" altLang="zh-CN" sz="2600" dirty="0" err="1"/>
              <a:t>VARNAME</a:t>
            </a:r>
            <a:r>
              <a:rPr lang="en-US" altLang="zh-CN" sz="2600" dirty="0"/>
              <a:t>} </a:t>
            </a:r>
          </a:p>
          <a:p>
            <a:pPr eaLnBrk="1" hangingPunct="1">
              <a:lnSpc>
                <a:spcPct val="90000"/>
              </a:lnSpc>
            </a:pPr>
            <a:r>
              <a:rPr lang="en-US" altLang="zh-CN" sz="2600" dirty="0"/>
              <a:t>make</a:t>
            </a:r>
            <a:r>
              <a:rPr lang="zh-CN" altLang="en-US" sz="2600" dirty="0"/>
              <a:t>解释规则时，</a:t>
            </a:r>
            <a:r>
              <a:rPr lang="en-US" altLang="zh-CN" sz="2600" dirty="0" err="1"/>
              <a:t>VARNAME</a:t>
            </a:r>
            <a:r>
              <a:rPr lang="zh-CN" altLang="en-US" sz="2600" dirty="0"/>
              <a:t>在等式右端展开为定义它的字符串。</a:t>
            </a:r>
            <a:r>
              <a:rPr lang="zh-CN" altLang="en-US" sz="2600" dirty="0">
                <a:solidFill>
                  <a:srgbClr val="0000CC"/>
                </a:solidFill>
              </a:rPr>
              <a:t>变量一般都在</a:t>
            </a:r>
            <a:r>
              <a:rPr lang="en-US" altLang="zh-CN" sz="2600" dirty="0">
                <a:solidFill>
                  <a:srgbClr val="0000CC"/>
                </a:solidFill>
              </a:rPr>
              <a:t>Makefile</a:t>
            </a:r>
            <a:r>
              <a:rPr lang="zh-CN" altLang="en-US" sz="2600" dirty="0">
                <a:solidFill>
                  <a:srgbClr val="0000CC"/>
                </a:solidFill>
              </a:rPr>
              <a:t>的头部定义，</a:t>
            </a:r>
            <a:r>
              <a:rPr lang="zh-CN" altLang="en-US" sz="2600" dirty="0"/>
              <a:t>如果变量的值发生变化，就只需要在一个地方修改，从而简化了</a:t>
            </a:r>
            <a:r>
              <a:rPr lang="en-US" altLang="zh-CN" sz="2600" dirty="0"/>
              <a:t>Makefile</a:t>
            </a:r>
            <a:r>
              <a:rPr lang="zh-CN" altLang="en-US" sz="2600" dirty="0"/>
              <a:t>的维护。 </a:t>
            </a:r>
          </a:p>
          <a:p>
            <a:pPr marL="0" indent="0" eaLnBrk="1" hangingPunct="1">
              <a:buNone/>
            </a:pPr>
            <a:endParaRPr lang="en-US" altLang="zh-CN" sz="2400" dirty="0"/>
          </a:p>
        </p:txBody>
      </p:sp>
      <p:sp>
        <p:nvSpPr>
          <p:cNvPr id="6" name="灯片编号占位符 1"/>
          <p:cNvSpPr>
            <a:spLocks noGrp="1"/>
          </p:cNvSpPr>
          <p:nvPr>
            <p:ph type="sldNum" sz="quarter" idx="11"/>
          </p:nvPr>
        </p:nvSpPr>
        <p:spPr>
          <a:xfrm>
            <a:off x="5053013" y="6240463"/>
            <a:ext cx="2133600" cy="457200"/>
          </a:xfrm>
        </p:spPr>
        <p:txBody>
          <a:bodyPr/>
          <a:lstStyle/>
          <a:p>
            <a:pPr>
              <a:defRPr/>
            </a:pPr>
            <a:fld id="{110871B5-850E-4E14-A636-3EC679EBF038}" type="slidenum">
              <a:rPr lang="en-US" altLang="zh-CN" smtClean="0"/>
              <a:pPr>
                <a:defRPr/>
              </a:pPr>
              <a:t>81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619353389"/>
      </p:ext>
    </p:extLst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0E1E51D-7F70-40DA-8D93-9ACA55C245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53208" y="409923"/>
            <a:ext cx="8291264" cy="858837"/>
          </a:xfrm>
        </p:spPr>
        <p:txBody>
          <a:bodyPr/>
          <a:lstStyle/>
          <a:p>
            <a:r>
              <a:rPr lang="en-US" altLang="zh-CN" dirty="0">
                <a:latin typeface="+mj-lt"/>
              </a:rPr>
              <a:t>Makefile</a:t>
            </a:r>
            <a:r>
              <a:rPr lang="zh-CN" altLang="en-US" dirty="0"/>
              <a:t>中的变量 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689FBF5-E084-4CF0-B21A-80DD2A16E59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27448" y="1340768"/>
            <a:ext cx="10009112" cy="4824536"/>
          </a:xfrm>
        </p:spPr>
        <p:txBody>
          <a:bodyPr/>
          <a:lstStyle/>
          <a:p>
            <a:pPr marL="0" indent="0">
              <a:lnSpc>
                <a:spcPct val="80000"/>
              </a:lnSpc>
              <a:buNone/>
            </a:pPr>
            <a:r>
              <a:rPr lang="zh-CN" altLang="en-US" sz="2600" dirty="0"/>
              <a:t>现在利用变量把前面示例的</a:t>
            </a:r>
            <a:r>
              <a:rPr lang="en-US" altLang="zh-CN" sz="2600" dirty="0" err="1"/>
              <a:t>makefile</a:t>
            </a:r>
            <a:r>
              <a:rPr lang="zh-CN" altLang="en-US" sz="2600" dirty="0"/>
              <a:t>重写一遍：</a:t>
            </a:r>
            <a:endParaRPr lang="en-US" altLang="zh-CN" sz="2600" dirty="0"/>
          </a:p>
          <a:p>
            <a:pPr marL="0" indent="0">
              <a:lnSpc>
                <a:spcPct val="80000"/>
              </a:lnSpc>
              <a:buNone/>
            </a:pPr>
            <a:r>
              <a:rPr lang="en-US" altLang="zh-CN" sz="2600" dirty="0"/>
              <a:t># a simple makefile for  Helloworld</a:t>
            </a:r>
            <a:endParaRPr lang="zh-CN" altLang="en-US" sz="2600" dirty="0"/>
          </a:p>
          <a:p>
            <a:pPr marL="0" indent="0">
              <a:lnSpc>
                <a:spcPct val="80000"/>
              </a:lnSpc>
              <a:buNone/>
            </a:pPr>
            <a:r>
              <a:rPr lang="en-US" altLang="zh-CN" sz="2600" dirty="0"/>
              <a:t>OBJS=Helloworld.o </a:t>
            </a:r>
            <a:r>
              <a:rPr lang="en-US" altLang="zh-CN" sz="2600" dirty="0" err="1"/>
              <a:t>print.o</a:t>
            </a:r>
            <a:endParaRPr lang="en-US" altLang="zh-CN" sz="2600" dirty="0"/>
          </a:p>
          <a:p>
            <a:pPr marL="0" indent="0">
              <a:lnSpc>
                <a:spcPct val="80000"/>
              </a:lnSpc>
              <a:buNone/>
            </a:pPr>
            <a:r>
              <a:rPr lang="en-US" altLang="zh-CN" sz="2600" dirty="0"/>
              <a:t>CC=gcc</a:t>
            </a:r>
          </a:p>
          <a:p>
            <a:pPr marL="0" indent="0">
              <a:lnSpc>
                <a:spcPct val="80000"/>
              </a:lnSpc>
              <a:buNone/>
            </a:pPr>
            <a:r>
              <a:rPr lang="en-US" altLang="zh-CN" sz="2600" dirty="0"/>
              <a:t>Helloworld:${OBJS}</a:t>
            </a:r>
          </a:p>
          <a:p>
            <a:pPr marL="0" indent="0">
              <a:lnSpc>
                <a:spcPct val="80000"/>
              </a:lnSpc>
              <a:buNone/>
            </a:pPr>
            <a:r>
              <a:rPr lang="en-US" altLang="zh-CN" sz="2600" dirty="0"/>
              <a:t>	${CC}  -o Helloworld   ${OBJS} </a:t>
            </a:r>
          </a:p>
          <a:p>
            <a:pPr marL="0" indent="0">
              <a:lnSpc>
                <a:spcPct val="80000"/>
              </a:lnSpc>
              <a:buNone/>
            </a:pPr>
            <a:r>
              <a:rPr lang="en-US" altLang="zh-CN" sz="2600" dirty="0"/>
              <a:t>Helloworld.o:Helloworld.c  print.h</a:t>
            </a:r>
          </a:p>
          <a:p>
            <a:pPr marL="0" indent="0">
              <a:lnSpc>
                <a:spcPct val="80000"/>
              </a:lnSpc>
              <a:buNone/>
            </a:pPr>
            <a:r>
              <a:rPr lang="en-US" altLang="zh-CN" sz="2600" dirty="0"/>
              <a:t>	${CC}  -c  </a:t>
            </a:r>
            <a:r>
              <a:rPr lang="en-US" altLang="zh-CN" sz="2600" dirty="0" err="1"/>
              <a:t>Helloworld.c</a:t>
            </a:r>
            <a:endParaRPr lang="en-US" altLang="zh-CN" sz="2600" dirty="0"/>
          </a:p>
          <a:p>
            <a:pPr marL="0" indent="0">
              <a:lnSpc>
                <a:spcPct val="80000"/>
              </a:lnSpc>
              <a:buNone/>
            </a:pPr>
            <a:r>
              <a:rPr lang="en-US" altLang="zh-CN" sz="2600" dirty="0"/>
              <a:t>print.o:print.c  print.h</a:t>
            </a:r>
          </a:p>
          <a:p>
            <a:pPr marL="0" indent="0">
              <a:lnSpc>
                <a:spcPct val="80000"/>
              </a:lnSpc>
              <a:buNone/>
            </a:pPr>
            <a:r>
              <a:rPr lang="en-US" altLang="zh-CN" sz="2600" dirty="0"/>
              <a:t>	${CC} -c  print.c</a:t>
            </a:r>
          </a:p>
          <a:p>
            <a:pPr marL="0" indent="0">
              <a:lnSpc>
                <a:spcPct val="80000"/>
              </a:lnSpc>
              <a:buNone/>
            </a:pPr>
            <a:r>
              <a:rPr lang="en-US" altLang="zh-CN" sz="2600" dirty="0"/>
              <a:t>clean:</a:t>
            </a:r>
          </a:p>
          <a:p>
            <a:pPr marL="0" indent="0">
              <a:lnSpc>
                <a:spcPct val="80000"/>
              </a:lnSpc>
              <a:buNone/>
            </a:pPr>
            <a:r>
              <a:rPr lang="en-US" altLang="zh-CN" sz="2600" dirty="0"/>
              <a:t>	rm  -f    *.o a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200923607"/>
      </p:ext>
    </p:extLst>
  </p:cSld>
  <p:clrMapOvr>
    <a:masterClrMapping/>
  </p:clrMapOvr>
  <p:transition spd="slow"/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标题 1"/>
          <p:cNvSpPr>
            <a:spLocks noGrp="1"/>
          </p:cNvSpPr>
          <p:nvPr>
            <p:ph type="title"/>
          </p:nvPr>
        </p:nvSpPr>
        <p:spPr>
          <a:xfrm>
            <a:off x="681608" y="337915"/>
            <a:ext cx="10454952" cy="858837"/>
          </a:xfrm>
        </p:spPr>
        <p:txBody>
          <a:bodyPr/>
          <a:lstStyle/>
          <a:p>
            <a:r>
              <a:rPr lang="zh-CN" altLang="en-US" dirty="0"/>
              <a:t>特殊变量</a:t>
            </a:r>
          </a:p>
        </p:txBody>
      </p:sp>
      <p:sp>
        <p:nvSpPr>
          <p:cNvPr id="15363" name="内容占位符 2"/>
          <p:cNvSpPr>
            <a:spLocks noGrp="1"/>
          </p:cNvSpPr>
          <p:nvPr>
            <p:ph idx="1"/>
          </p:nvPr>
        </p:nvSpPr>
        <p:spPr>
          <a:xfrm>
            <a:off x="1055440" y="1143000"/>
            <a:ext cx="10009112" cy="5094288"/>
          </a:xfrm>
        </p:spPr>
        <p:txBody>
          <a:bodyPr/>
          <a:lstStyle/>
          <a:p>
            <a:r>
              <a:rPr lang="zh-CN" altLang="en-US" sz="2600" dirty="0">
                <a:latin typeface="+mn-ea"/>
              </a:rPr>
              <a:t>常用的特殊变量有：</a:t>
            </a:r>
          </a:p>
          <a:p>
            <a:pPr marL="0" indent="0">
              <a:buNone/>
            </a:pPr>
            <a:r>
              <a:rPr lang="en-US" altLang="zh-CN" sz="2600" dirty="0">
                <a:latin typeface="+mn-ea"/>
              </a:rPr>
              <a:t> $@	</a:t>
            </a:r>
            <a:r>
              <a:rPr lang="zh-CN" altLang="en-US" sz="2600" dirty="0">
                <a:latin typeface="+mn-ea"/>
              </a:rPr>
              <a:t>表示目标文件的完整名称。</a:t>
            </a:r>
          </a:p>
          <a:p>
            <a:pPr marL="0" indent="0">
              <a:buNone/>
            </a:pPr>
            <a:r>
              <a:rPr lang="en-US" altLang="zh-CN" sz="2600" dirty="0">
                <a:latin typeface="+mn-ea"/>
              </a:rPr>
              <a:t> $&lt;	</a:t>
            </a:r>
            <a:r>
              <a:rPr lang="zh-CN" altLang="en-US" sz="2600" dirty="0">
                <a:latin typeface="+mn-ea"/>
              </a:rPr>
              <a:t>表示规则中的第一个依赖文件。</a:t>
            </a:r>
          </a:p>
          <a:p>
            <a:pPr marL="0" indent="0">
              <a:buNone/>
            </a:pPr>
            <a:r>
              <a:rPr lang="en-US" altLang="zh-CN" sz="2600" dirty="0">
                <a:latin typeface="+mn-ea"/>
              </a:rPr>
              <a:t> $?	</a:t>
            </a:r>
            <a:r>
              <a:rPr lang="zh-CN" altLang="en-US" sz="2600" dirty="0">
                <a:latin typeface="+mn-ea"/>
              </a:rPr>
              <a:t>表示规则中所有比目标新的依赖文件，组成   </a:t>
            </a:r>
            <a:endParaRPr lang="en-US" altLang="zh-CN" sz="2600" dirty="0">
              <a:latin typeface="+mn-ea"/>
            </a:endParaRPr>
          </a:p>
          <a:p>
            <a:pPr marL="0" indent="0">
              <a:buNone/>
            </a:pPr>
            <a:r>
              <a:rPr lang="en-US" altLang="zh-CN" sz="2600" dirty="0">
                <a:latin typeface="+mn-ea"/>
              </a:rPr>
              <a:t>      </a:t>
            </a:r>
            <a:r>
              <a:rPr lang="zh-CN" altLang="en-US" sz="2600" dirty="0">
                <a:latin typeface="+mn-ea"/>
              </a:rPr>
              <a:t>一个列表，以空格分隔。</a:t>
            </a:r>
          </a:p>
          <a:p>
            <a:pPr marL="0" indent="0">
              <a:buNone/>
            </a:pPr>
            <a:r>
              <a:rPr lang="en-US" altLang="zh-CN" sz="2600" dirty="0">
                <a:latin typeface="+mn-ea"/>
              </a:rPr>
              <a:t> $^	</a:t>
            </a:r>
            <a:r>
              <a:rPr lang="zh-CN" altLang="en-US" sz="2600" dirty="0">
                <a:latin typeface="+mn-ea"/>
              </a:rPr>
              <a:t>表示规则中的所有依赖文件，组成一个列表，以空</a:t>
            </a:r>
            <a:endParaRPr lang="en-US" altLang="zh-CN" sz="2600" dirty="0">
              <a:latin typeface="+mn-ea"/>
            </a:endParaRPr>
          </a:p>
          <a:p>
            <a:pPr marL="0" indent="0">
              <a:buNone/>
            </a:pPr>
            <a:r>
              <a:rPr lang="en-US" altLang="zh-CN" sz="2600" dirty="0">
                <a:latin typeface="+mn-ea"/>
              </a:rPr>
              <a:t>      </a:t>
            </a:r>
            <a:r>
              <a:rPr lang="zh-CN" altLang="en-US" sz="2600" dirty="0">
                <a:latin typeface="+mn-ea"/>
              </a:rPr>
              <a:t>格分隔。</a:t>
            </a:r>
          </a:p>
          <a:p>
            <a:r>
              <a:rPr lang="zh-CN" altLang="en-US" sz="2600" dirty="0">
                <a:latin typeface="+mn-ea"/>
              </a:rPr>
              <a:t>例如：下面左边的规则，可以改写成右边的形式</a:t>
            </a:r>
          </a:p>
        </p:txBody>
      </p:sp>
      <p:sp>
        <p:nvSpPr>
          <p:cNvPr id="15364" name="TextBox 3"/>
          <p:cNvSpPr txBox="1">
            <a:spLocks noChangeArrowheads="1"/>
          </p:cNvSpPr>
          <p:nvPr/>
        </p:nvSpPr>
        <p:spPr bwMode="auto">
          <a:xfrm>
            <a:off x="1991544" y="5035824"/>
            <a:ext cx="4692310" cy="769441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algn="l" eaLnBrk="1" hangingPunct="1"/>
            <a:r>
              <a:rPr lang="en-US" altLang="zh-CN" sz="2200" dirty="0"/>
              <a:t>file1: file1.o file2.o</a:t>
            </a:r>
          </a:p>
          <a:p>
            <a:pPr algn="l" eaLnBrk="1" hangingPunct="1"/>
            <a:r>
              <a:rPr lang="en-US" altLang="zh-CN" sz="2200" dirty="0"/>
              <a:t>	gcc  -o  file1  file1.o  file2.o</a:t>
            </a:r>
            <a:endParaRPr lang="zh-CN" altLang="en-US" sz="2200" dirty="0"/>
          </a:p>
        </p:txBody>
      </p:sp>
      <p:sp>
        <p:nvSpPr>
          <p:cNvPr id="15365" name="TextBox 4"/>
          <p:cNvSpPr txBox="1">
            <a:spLocks noChangeArrowheads="1"/>
          </p:cNvSpPr>
          <p:nvPr/>
        </p:nvSpPr>
        <p:spPr bwMode="auto">
          <a:xfrm>
            <a:off x="7176121" y="5035824"/>
            <a:ext cx="3089307" cy="769441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algn="l" eaLnBrk="1" hangingPunct="1"/>
            <a:r>
              <a:rPr lang="en-US" altLang="zh-CN" sz="2200" dirty="0" err="1"/>
              <a:t>file1</a:t>
            </a:r>
            <a:r>
              <a:rPr lang="en-US" altLang="zh-CN" sz="2200" dirty="0"/>
              <a:t>: </a:t>
            </a:r>
            <a:r>
              <a:rPr lang="en-US" altLang="zh-CN" sz="2200" dirty="0" err="1"/>
              <a:t>file1.o</a:t>
            </a:r>
            <a:r>
              <a:rPr lang="en-US" altLang="zh-CN" sz="2200" dirty="0"/>
              <a:t> </a:t>
            </a:r>
            <a:r>
              <a:rPr lang="en-US" altLang="zh-CN" sz="2200" dirty="0" err="1"/>
              <a:t>file2.o</a:t>
            </a:r>
            <a:endParaRPr lang="en-US" altLang="zh-CN" sz="2200" dirty="0"/>
          </a:p>
          <a:p>
            <a:pPr algn="l" eaLnBrk="1" hangingPunct="1"/>
            <a:r>
              <a:rPr lang="en-US" altLang="zh-CN" sz="2200" dirty="0"/>
              <a:t>	gcc  -o  </a:t>
            </a:r>
            <a:r>
              <a:rPr lang="en-US" altLang="zh-CN" sz="2200" dirty="0">
                <a:solidFill>
                  <a:srgbClr val="0000CC"/>
                </a:solidFill>
              </a:rPr>
              <a:t>$@  $^</a:t>
            </a:r>
            <a:endParaRPr lang="zh-CN" altLang="en-US" sz="2200" dirty="0">
              <a:solidFill>
                <a:srgbClr val="0000CC"/>
              </a:solidFill>
            </a:endParaRPr>
          </a:p>
        </p:txBody>
      </p:sp>
      <p:sp>
        <p:nvSpPr>
          <p:cNvPr id="6" name="灯片编号占位符 1"/>
          <p:cNvSpPr>
            <a:spLocks noGrp="1"/>
          </p:cNvSpPr>
          <p:nvPr>
            <p:ph type="sldNum" sz="quarter" idx="11"/>
          </p:nvPr>
        </p:nvSpPr>
        <p:spPr>
          <a:xfrm>
            <a:off x="5053013" y="6240463"/>
            <a:ext cx="2133600" cy="457200"/>
          </a:xfrm>
        </p:spPr>
        <p:txBody>
          <a:bodyPr/>
          <a:lstStyle/>
          <a:p>
            <a:pPr>
              <a:defRPr/>
            </a:pPr>
            <a:fld id="{110871B5-850E-4E14-A636-3EC679EBF038}" type="slidenum">
              <a:rPr lang="en-US" altLang="zh-CN" smtClean="0"/>
              <a:pPr>
                <a:defRPr/>
              </a:pPr>
              <a:t>83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639198467"/>
      </p:ext>
    </p:extLst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919536" y="553939"/>
            <a:ext cx="8496944" cy="858837"/>
          </a:xfrm>
        </p:spPr>
        <p:txBody>
          <a:bodyPr/>
          <a:lstStyle/>
          <a:p>
            <a:r>
              <a:rPr lang="en-US" altLang="zh-CN" dirty="0">
                <a:latin typeface="+mj-lt"/>
              </a:rPr>
              <a:t>Makefile</a:t>
            </a:r>
            <a:r>
              <a:rPr lang="zh-CN" altLang="en-US" dirty="0"/>
              <a:t>的隐含规则 </a:t>
            </a:r>
          </a:p>
        </p:txBody>
      </p:sp>
      <p:sp>
        <p:nvSpPr>
          <p:cNvPr id="26626" name="Rectangle 3"/>
          <p:cNvSpPr>
            <a:spLocks noGrp="1" noRot="1" noChangeArrowheads="1"/>
          </p:cNvSpPr>
          <p:nvPr>
            <p:ph idx="1"/>
          </p:nvPr>
        </p:nvSpPr>
        <p:spPr>
          <a:xfrm>
            <a:off x="1055440" y="1633048"/>
            <a:ext cx="10153128" cy="4244224"/>
          </a:xfrm>
        </p:spPr>
        <p:txBody>
          <a:bodyPr/>
          <a:lstStyle/>
          <a:p>
            <a:pPr algn="just" eaLnBrk="1" hangingPunct="1">
              <a:lnSpc>
                <a:spcPct val="120000"/>
              </a:lnSpc>
              <a:buClrTx/>
              <a:buSzPct val="80000"/>
            </a:pPr>
            <a:r>
              <a:rPr kumimoji="1" lang="en-US" altLang="zh-CN" sz="2600" dirty="0">
                <a:solidFill>
                  <a:srgbClr val="CC0099"/>
                </a:solidFill>
              </a:rPr>
              <a:t>Make</a:t>
            </a:r>
            <a:r>
              <a:rPr kumimoji="1" lang="zh-CN" altLang="en-US" sz="2600" dirty="0">
                <a:solidFill>
                  <a:srgbClr val="CC0099"/>
                </a:solidFill>
              </a:rPr>
              <a:t>还可以使工作更加自动化</a:t>
            </a:r>
            <a:r>
              <a:rPr kumimoji="1" lang="zh-CN" altLang="en-US" sz="2600" dirty="0"/>
              <a:t>，</a:t>
            </a:r>
            <a:r>
              <a:rPr kumimoji="1" lang="en-US" altLang="zh-CN" sz="2600" dirty="0"/>
              <a:t>make</a:t>
            </a:r>
            <a:r>
              <a:rPr kumimoji="1" lang="zh-CN" altLang="en-US" sz="2600" dirty="0"/>
              <a:t>知道一些默认的动作，比如，“</a:t>
            </a:r>
            <a:r>
              <a:rPr kumimoji="1" lang="en-US" altLang="zh-CN" sz="2600" dirty="0"/>
              <a:t>.c”</a:t>
            </a:r>
            <a:r>
              <a:rPr kumimoji="1" lang="zh-CN" altLang="en-US" sz="2600" dirty="0"/>
              <a:t>的</a:t>
            </a:r>
            <a:r>
              <a:rPr kumimoji="1" lang="en-US" altLang="zh-CN" sz="2600" dirty="0"/>
              <a:t>C</a:t>
            </a:r>
            <a:r>
              <a:rPr kumimoji="1" lang="zh-CN" altLang="en-US" sz="2600" dirty="0"/>
              <a:t>语言源文件和相关文件通过编译产生“</a:t>
            </a:r>
            <a:r>
              <a:rPr kumimoji="1" lang="en-US" altLang="zh-CN" sz="2600" dirty="0"/>
              <a:t>.o”</a:t>
            </a:r>
            <a:r>
              <a:rPr kumimoji="1" lang="zh-CN" altLang="en-US" sz="2600" dirty="0"/>
              <a:t>目标文件，这也是一般的步骤。</a:t>
            </a:r>
          </a:p>
          <a:p>
            <a:pPr algn="just" eaLnBrk="1" hangingPunct="1">
              <a:lnSpc>
                <a:spcPct val="120000"/>
              </a:lnSpc>
              <a:buClrTx/>
              <a:buSzPct val="80000"/>
            </a:pPr>
            <a:r>
              <a:rPr kumimoji="1" lang="zh-CN" altLang="en-US" sz="2600" dirty="0"/>
              <a:t>因此，有一些称作</a:t>
            </a:r>
            <a:r>
              <a:rPr kumimoji="1" lang="zh-CN" altLang="en-US" sz="2600" dirty="0">
                <a:solidFill>
                  <a:srgbClr val="CC0099"/>
                </a:solidFill>
              </a:rPr>
              <a:t>隐含规则的内置的规则</a:t>
            </a:r>
            <a:r>
              <a:rPr kumimoji="1" lang="zh-CN" altLang="en-US" sz="2600" dirty="0"/>
              <a:t>，这些规则告诉</a:t>
            </a:r>
            <a:r>
              <a:rPr kumimoji="1" lang="en-US" altLang="zh-CN" sz="2600" dirty="0"/>
              <a:t>make</a:t>
            </a:r>
            <a:r>
              <a:rPr kumimoji="1" lang="zh-CN" altLang="en-US" sz="2600" dirty="0"/>
              <a:t>当用户没有完整地给出某些命令的时候，应该怎样执行。</a:t>
            </a:r>
            <a:endParaRPr kumimoji="1" lang="en-US" altLang="zh-CN" sz="2600" dirty="0"/>
          </a:p>
          <a:p>
            <a:pPr algn="just" eaLnBrk="1" hangingPunct="1">
              <a:lnSpc>
                <a:spcPct val="120000"/>
              </a:lnSpc>
              <a:buClrTx/>
              <a:buSzPct val="80000"/>
            </a:pPr>
            <a:r>
              <a:rPr kumimoji="1" lang="zh-CN" altLang="en-US" sz="2600" dirty="0"/>
              <a:t>比如，</a:t>
            </a:r>
            <a:r>
              <a:rPr lang="zh-CN" altLang="en-US" sz="2600" dirty="0"/>
              <a:t>若目标是</a:t>
            </a:r>
            <a:r>
              <a:rPr lang="en-US" altLang="zh-CN" sz="2600" dirty="0"/>
              <a:t>.o</a:t>
            </a:r>
            <a:r>
              <a:rPr lang="zh-CN" altLang="en-US" sz="2600" dirty="0"/>
              <a:t>文件，那么他会自动的去寻找相应的</a:t>
            </a:r>
            <a:r>
              <a:rPr lang="en-US" altLang="zh-CN" sz="2600" dirty="0"/>
              <a:t>.c</a:t>
            </a:r>
            <a:r>
              <a:rPr lang="zh-CN" altLang="en-US" sz="2600" dirty="0"/>
              <a:t>文件， 并隐式的进行编译。</a:t>
            </a:r>
          </a:p>
        </p:txBody>
      </p:sp>
      <p:sp>
        <p:nvSpPr>
          <p:cNvPr id="7" name="灯片编号占位符 1"/>
          <p:cNvSpPr>
            <a:spLocks noGrp="1"/>
          </p:cNvSpPr>
          <p:nvPr>
            <p:ph type="sldNum" sz="quarter" idx="11"/>
          </p:nvPr>
        </p:nvSpPr>
        <p:spPr>
          <a:xfrm>
            <a:off x="5053013" y="6240463"/>
            <a:ext cx="2133600" cy="457200"/>
          </a:xfrm>
        </p:spPr>
        <p:txBody>
          <a:bodyPr/>
          <a:lstStyle/>
          <a:p>
            <a:pPr>
              <a:defRPr/>
            </a:pPr>
            <a:fld id="{110871B5-850E-4E14-A636-3EC679EBF038}" type="slidenum">
              <a:rPr lang="en-US" altLang="zh-CN" smtClean="0"/>
              <a:pPr>
                <a:defRPr/>
              </a:pPr>
              <a:t>84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3741547996"/>
      </p:ext>
    </p:extLst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537E413-8188-4E4B-A7E0-36C4146505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91544" y="481931"/>
            <a:ext cx="8352928" cy="858837"/>
          </a:xfrm>
        </p:spPr>
        <p:txBody>
          <a:bodyPr/>
          <a:lstStyle/>
          <a:p>
            <a:r>
              <a:rPr lang="en-US" altLang="zh-CN" dirty="0">
                <a:latin typeface="+mj-lt"/>
              </a:rPr>
              <a:t>Makefile</a:t>
            </a:r>
            <a:r>
              <a:rPr lang="zh-CN" altLang="en-US" dirty="0"/>
              <a:t>的隐含规则 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F9FEB72-60C7-4068-9C75-058B4E7AAAF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99456" y="1303139"/>
            <a:ext cx="9865096" cy="4646141"/>
          </a:xfrm>
        </p:spPr>
        <p:txBody>
          <a:bodyPr/>
          <a:lstStyle/>
          <a:p>
            <a:pPr marL="0" indent="0">
              <a:buNone/>
            </a:pPr>
            <a:r>
              <a:rPr lang="zh-CN" altLang="en-US" sz="2600" dirty="0"/>
              <a:t>在上面的例子中，利用隐含规则，可以进一步简化为：</a:t>
            </a:r>
          </a:p>
          <a:p>
            <a:pPr marL="0" indent="0">
              <a:buNone/>
            </a:pPr>
            <a:r>
              <a:rPr lang="en-US" altLang="zh-CN" sz="2600" dirty="0"/>
              <a:t># a simple makefile for  Helloworld</a:t>
            </a:r>
            <a:endParaRPr lang="zh-CN" altLang="en-US" sz="2600" dirty="0"/>
          </a:p>
          <a:p>
            <a:pPr marL="0" indent="0">
              <a:buNone/>
            </a:pPr>
            <a:r>
              <a:rPr lang="en-US" altLang="zh-CN" sz="2600" dirty="0"/>
              <a:t>OBJS=Helloworld.o  </a:t>
            </a:r>
            <a:r>
              <a:rPr lang="en-US" altLang="zh-CN" sz="2600" dirty="0" err="1"/>
              <a:t>print.o</a:t>
            </a:r>
            <a:endParaRPr lang="en-US" altLang="zh-CN" sz="2600" dirty="0"/>
          </a:p>
          <a:p>
            <a:pPr marL="0" indent="0">
              <a:buNone/>
            </a:pPr>
            <a:r>
              <a:rPr lang="en-US" altLang="zh-CN" sz="2600" dirty="0"/>
              <a:t>CC=</a:t>
            </a:r>
            <a:r>
              <a:rPr lang="en-US" altLang="zh-CN" sz="2600" dirty="0" err="1"/>
              <a:t>gcc</a:t>
            </a:r>
            <a:endParaRPr lang="en-US" altLang="zh-CN" sz="2600" dirty="0"/>
          </a:p>
          <a:p>
            <a:pPr marL="0" indent="0">
              <a:buNone/>
            </a:pPr>
            <a:r>
              <a:rPr lang="en-US" altLang="zh-CN" sz="2600" dirty="0"/>
              <a:t>Helloworld:${OBJS}</a:t>
            </a:r>
          </a:p>
          <a:p>
            <a:pPr marL="0" indent="0">
              <a:buNone/>
            </a:pPr>
            <a:r>
              <a:rPr lang="en-US" altLang="zh-CN" sz="2600" dirty="0"/>
              <a:t>	${CC} -o  $@  $^</a:t>
            </a:r>
          </a:p>
          <a:p>
            <a:pPr marL="0" indent="0">
              <a:buNone/>
            </a:pPr>
            <a:r>
              <a:rPr lang="en-US" altLang="zh-CN" sz="2600" dirty="0"/>
              <a:t>Helloworld.o:Helloworld.c   print.h</a:t>
            </a:r>
          </a:p>
          <a:p>
            <a:pPr marL="0" indent="0">
              <a:buNone/>
            </a:pPr>
            <a:r>
              <a:rPr lang="en-US" altLang="zh-CN" sz="2600" dirty="0" err="1"/>
              <a:t>print.o:print.c</a:t>
            </a:r>
            <a:r>
              <a:rPr lang="en-US" altLang="zh-CN" sz="2600" dirty="0"/>
              <a:t>  </a:t>
            </a:r>
            <a:r>
              <a:rPr lang="en-US" altLang="zh-CN" sz="2600" dirty="0" err="1"/>
              <a:t>print.h</a:t>
            </a:r>
            <a:endParaRPr lang="en-US" altLang="zh-CN" sz="2600" dirty="0"/>
          </a:p>
          <a:p>
            <a:pPr marL="0" indent="0">
              <a:buNone/>
            </a:pPr>
            <a:r>
              <a:rPr lang="en-US" altLang="zh-CN" sz="2600" dirty="0"/>
              <a:t>clean:</a:t>
            </a:r>
          </a:p>
          <a:p>
            <a:pPr marL="0" indent="0">
              <a:buNone/>
            </a:pPr>
            <a:r>
              <a:rPr lang="en-US" altLang="zh-CN" sz="2600" dirty="0"/>
              <a:t>	rm  -f    *.o </a:t>
            </a:r>
            <a:endParaRPr lang="zh-CN" altLang="en-US" sz="2600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B1B95228-AE3A-42BC-96BC-92226D1743E3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110871B5-850E-4E14-A636-3EC679EBF038}" type="slidenum">
              <a:rPr lang="en-US" altLang="zh-CN" smtClean="0"/>
              <a:pPr>
                <a:defRPr/>
              </a:pPr>
              <a:t>85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289021815"/>
      </p:ext>
    </p:extLst>
  </p:cSld>
  <p:clrMapOvr>
    <a:masterClrMapping/>
  </p:clrMapOvr>
  <p:transition spd="slow"/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/>
          <p:cNvSpPr>
            <a:spLocks noGrp="1" noChangeArrowheads="1"/>
          </p:cNvSpPr>
          <p:nvPr>
            <p:ph type="title"/>
          </p:nvPr>
        </p:nvSpPr>
        <p:spPr>
          <a:xfrm>
            <a:off x="623392" y="481931"/>
            <a:ext cx="10729192" cy="858837"/>
          </a:xfrm>
        </p:spPr>
        <p:txBody>
          <a:bodyPr/>
          <a:lstStyle/>
          <a:p>
            <a:pPr eaLnBrk="1" hangingPunct="1"/>
            <a:r>
              <a:rPr lang="en-US" altLang="zh-CN" dirty="0">
                <a:latin typeface="+mj-lt"/>
              </a:rPr>
              <a:t>Makefile</a:t>
            </a:r>
            <a:r>
              <a:rPr lang="zh-CN" altLang="en-US" dirty="0"/>
              <a:t>的变量替换</a:t>
            </a:r>
          </a:p>
        </p:txBody>
      </p:sp>
      <p:sp>
        <p:nvSpPr>
          <p:cNvPr id="2253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199456" y="1321594"/>
            <a:ext cx="9793088" cy="4843710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zh-CN" altLang="en-US" sz="2600" dirty="0"/>
              <a:t>在</a:t>
            </a:r>
            <a:r>
              <a:rPr lang="en-US" altLang="zh-CN" sz="2600" dirty="0"/>
              <a:t>Makefile</a:t>
            </a:r>
            <a:r>
              <a:rPr lang="zh-CN" altLang="en-US" sz="2600" dirty="0"/>
              <a:t>中通常指定需要编译的</a:t>
            </a:r>
            <a:r>
              <a:rPr lang="en-US" altLang="zh-CN" sz="2600" dirty="0"/>
              <a:t>.c</a:t>
            </a:r>
            <a:r>
              <a:rPr lang="zh-CN" altLang="en-US" sz="2600" dirty="0"/>
              <a:t>文件，我们可以将多个</a:t>
            </a:r>
            <a:r>
              <a:rPr lang="en-US" altLang="zh-CN" sz="2600" dirty="0"/>
              <a:t>.c</a:t>
            </a:r>
            <a:r>
              <a:rPr lang="zh-CN" altLang="en-US" sz="2600" dirty="0"/>
              <a:t>文件名保存在变量</a:t>
            </a:r>
            <a:r>
              <a:rPr lang="en-US" altLang="zh-CN" sz="2600" dirty="0" err="1"/>
              <a:t>SRCS</a:t>
            </a:r>
            <a:r>
              <a:rPr lang="zh-CN" altLang="en-US" sz="2600" dirty="0"/>
              <a:t>中，再定义另一个变量</a:t>
            </a:r>
            <a:r>
              <a:rPr lang="en-US" altLang="zh-CN" sz="2600" dirty="0" err="1"/>
              <a:t>OBJS</a:t>
            </a:r>
            <a:r>
              <a:rPr lang="zh-CN" altLang="en-US" sz="2600" dirty="0"/>
              <a:t>使其保存</a:t>
            </a:r>
            <a:r>
              <a:rPr lang="en-US" altLang="zh-CN" sz="2600" dirty="0"/>
              <a:t>.o</a:t>
            </a:r>
            <a:r>
              <a:rPr lang="zh-CN" altLang="en-US" sz="2600" dirty="0"/>
              <a:t>文件名。</a:t>
            </a:r>
          </a:p>
          <a:p>
            <a:pPr eaLnBrk="1" hangingPunct="1">
              <a:lnSpc>
                <a:spcPct val="90000"/>
              </a:lnSpc>
            </a:pPr>
            <a:r>
              <a:rPr lang="zh-CN" altLang="en-US" sz="2600" dirty="0"/>
              <a:t>我们可以</a:t>
            </a:r>
            <a:r>
              <a:rPr lang="zh-CN" altLang="en-US" sz="2600" dirty="0">
                <a:solidFill>
                  <a:srgbClr val="0000CC"/>
                </a:solidFill>
              </a:rPr>
              <a:t>直接使用变量的替换方式</a:t>
            </a:r>
            <a:r>
              <a:rPr lang="zh-CN" altLang="en-US" sz="2600" dirty="0"/>
              <a:t>，将</a:t>
            </a:r>
            <a:r>
              <a:rPr lang="en-US" altLang="zh-CN" sz="2600" dirty="0" err="1"/>
              <a:t>SRCS</a:t>
            </a:r>
            <a:r>
              <a:rPr lang="zh-CN" altLang="en-US" sz="2600" dirty="0"/>
              <a:t>中的</a:t>
            </a:r>
            <a:r>
              <a:rPr lang="en-US" altLang="zh-CN" sz="2600" dirty="0"/>
              <a:t>“.c”</a:t>
            </a:r>
            <a:r>
              <a:rPr lang="zh-CN" altLang="en-US" sz="2600" dirty="0"/>
              <a:t>字符串替换成</a:t>
            </a:r>
            <a:r>
              <a:rPr lang="en-US" altLang="zh-CN" sz="2600" dirty="0"/>
              <a:t>“.o”</a:t>
            </a:r>
            <a:r>
              <a:rPr lang="zh-CN" altLang="en-US" sz="2600" dirty="0"/>
              <a:t>，赋值</a:t>
            </a:r>
            <a:r>
              <a:rPr lang="en-US" altLang="zh-CN" sz="2600" dirty="0" err="1"/>
              <a:t>OBJS</a:t>
            </a:r>
            <a:r>
              <a:rPr lang="zh-CN" altLang="en-US" sz="2600" dirty="0"/>
              <a:t>变量，其格式为：</a:t>
            </a:r>
            <a:endParaRPr lang="en-US" altLang="zh-CN" sz="2600" dirty="0"/>
          </a:p>
          <a:p>
            <a:pPr marL="0" indent="0" eaLnBrk="1" hangingPunct="1">
              <a:lnSpc>
                <a:spcPct val="90000"/>
              </a:lnSpc>
              <a:buNone/>
            </a:pPr>
            <a:r>
              <a:rPr lang="en-US" altLang="zh-CN" sz="2600" dirty="0">
                <a:solidFill>
                  <a:srgbClr val="CC0099"/>
                </a:solidFill>
              </a:rPr>
              <a:t>                        foo = $(</a:t>
            </a:r>
            <a:r>
              <a:rPr lang="en-US" altLang="zh-CN" sz="2600" dirty="0" err="1">
                <a:solidFill>
                  <a:srgbClr val="CC0099"/>
                </a:solidFill>
              </a:rPr>
              <a:t>var:a</a:t>
            </a:r>
            <a:r>
              <a:rPr lang="en-US" altLang="zh-CN" sz="2600" dirty="0">
                <a:solidFill>
                  <a:srgbClr val="CC0099"/>
                </a:solidFill>
              </a:rPr>
              <a:t>=b)</a:t>
            </a:r>
          </a:p>
          <a:p>
            <a:pPr marL="0" indent="0" eaLnBrk="1" hangingPunct="1">
              <a:lnSpc>
                <a:spcPct val="90000"/>
              </a:lnSpc>
              <a:buNone/>
            </a:pPr>
            <a:r>
              <a:rPr lang="en-US" altLang="zh-CN" sz="2600" dirty="0"/>
              <a:t>     </a:t>
            </a:r>
            <a:r>
              <a:rPr lang="zh-CN" altLang="en-US" sz="2600" dirty="0"/>
              <a:t>将</a:t>
            </a:r>
            <a:r>
              <a:rPr lang="en-US" altLang="zh-CN" sz="2600" dirty="0" err="1"/>
              <a:t>var</a:t>
            </a:r>
            <a:r>
              <a:rPr lang="zh-CN" altLang="en-US" sz="2600" dirty="0"/>
              <a:t>变量中的</a:t>
            </a:r>
            <a:r>
              <a:rPr lang="en-US" altLang="zh-CN" sz="2600" dirty="0"/>
              <a:t>a</a:t>
            </a:r>
            <a:r>
              <a:rPr lang="zh-CN" altLang="en-US" sz="2600" dirty="0"/>
              <a:t>替换成</a:t>
            </a:r>
            <a:r>
              <a:rPr lang="en-US" altLang="zh-CN" sz="2600" dirty="0"/>
              <a:t>b</a:t>
            </a:r>
            <a:r>
              <a:rPr lang="zh-CN" altLang="en-US" sz="2600" dirty="0"/>
              <a:t>，并返回给</a:t>
            </a:r>
            <a:r>
              <a:rPr lang="en-US" altLang="zh-CN" sz="2600" dirty="0"/>
              <a:t>foo</a:t>
            </a:r>
            <a:r>
              <a:rPr lang="zh-CN" altLang="en-US" sz="2600" dirty="0"/>
              <a:t>。</a:t>
            </a:r>
          </a:p>
          <a:p>
            <a:pPr eaLnBrk="1" hangingPunct="1">
              <a:lnSpc>
                <a:spcPct val="90000"/>
              </a:lnSpc>
            </a:pPr>
            <a:r>
              <a:rPr lang="zh-CN" altLang="en-US" sz="2600" dirty="0"/>
              <a:t>例：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zh-CN" altLang="en-US" sz="2600" dirty="0"/>
              <a:t>	</a:t>
            </a:r>
            <a:r>
              <a:rPr lang="en-US" altLang="zh-CN" sz="2600" dirty="0" err="1"/>
              <a:t>SRCS</a:t>
            </a:r>
            <a:r>
              <a:rPr lang="en-US" altLang="zh-CN" sz="2600" dirty="0"/>
              <a:t> = </a:t>
            </a:r>
            <a:r>
              <a:rPr lang="en-US" altLang="zh-CN" sz="2600" dirty="0" err="1"/>
              <a:t>fun1.c</a:t>
            </a:r>
            <a:r>
              <a:rPr lang="en-US" altLang="zh-CN" sz="2600" dirty="0"/>
              <a:t> </a:t>
            </a:r>
            <a:r>
              <a:rPr lang="en-US" altLang="zh-CN" sz="2600" dirty="0" err="1"/>
              <a:t>fun2.c</a:t>
            </a:r>
            <a:r>
              <a:rPr lang="en-US" altLang="zh-CN" sz="2600" dirty="0"/>
              <a:t> </a:t>
            </a:r>
            <a:r>
              <a:rPr lang="en-US" altLang="zh-CN" sz="2600" dirty="0" err="1"/>
              <a:t>main.c</a:t>
            </a:r>
            <a:br>
              <a:rPr lang="en-US" altLang="zh-CN" sz="2600" dirty="0"/>
            </a:br>
            <a:r>
              <a:rPr lang="en-US" altLang="zh-CN" sz="2600" dirty="0" err="1"/>
              <a:t>OBJS</a:t>
            </a:r>
            <a:r>
              <a:rPr lang="en-US" altLang="zh-CN" sz="2600" dirty="0"/>
              <a:t> = $(</a:t>
            </a:r>
            <a:r>
              <a:rPr lang="en-US" altLang="zh-CN" sz="2600" dirty="0" err="1"/>
              <a:t>SRCS</a:t>
            </a:r>
            <a:r>
              <a:rPr lang="zh-CN" altLang="en-US" sz="2600" dirty="0"/>
              <a:t>：</a:t>
            </a:r>
            <a:r>
              <a:rPr lang="en-US" altLang="zh-CN" sz="2600" dirty="0"/>
              <a:t>.c=.o)	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altLang="zh-CN" sz="2600" dirty="0"/>
              <a:t>	</a:t>
            </a:r>
            <a:r>
              <a:rPr lang="zh-CN" altLang="en-US" sz="2600" dirty="0"/>
              <a:t>那么变量</a:t>
            </a:r>
            <a:r>
              <a:rPr lang="en-US" altLang="zh-CN" sz="2600" dirty="0" err="1"/>
              <a:t>OBJS</a:t>
            </a:r>
            <a:r>
              <a:rPr lang="zh-CN" altLang="en-US" sz="2600" dirty="0"/>
              <a:t>值为</a:t>
            </a:r>
            <a:r>
              <a:rPr lang="en-US" altLang="zh-CN" sz="2600" dirty="0" err="1"/>
              <a:t>fun1.o</a:t>
            </a:r>
            <a:r>
              <a:rPr lang="en-US" altLang="zh-CN" sz="2600" dirty="0"/>
              <a:t> </a:t>
            </a:r>
            <a:r>
              <a:rPr lang="en-US" altLang="zh-CN" sz="2600" dirty="0" err="1"/>
              <a:t>fun2.o</a:t>
            </a:r>
            <a:r>
              <a:rPr lang="en-US" altLang="zh-CN" sz="2600" dirty="0"/>
              <a:t> </a:t>
            </a:r>
            <a:r>
              <a:rPr lang="en-US" altLang="zh-CN" sz="2600" dirty="0" err="1"/>
              <a:t>main.o</a:t>
            </a:r>
            <a:endParaRPr lang="en-US" altLang="zh-CN" sz="2600" dirty="0"/>
          </a:p>
          <a:p>
            <a:pPr eaLnBrk="1" hangingPunct="1">
              <a:buFont typeface="Wingdings" pitchFamily="2" charset="2"/>
              <a:buNone/>
            </a:pPr>
            <a:r>
              <a:rPr lang="en-US" altLang="zh-CN" sz="2000" dirty="0"/>
              <a:t>	</a:t>
            </a:r>
          </a:p>
        </p:txBody>
      </p:sp>
      <p:sp>
        <p:nvSpPr>
          <p:cNvPr id="4" name="灯片编号占位符 1"/>
          <p:cNvSpPr>
            <a:spLocks noGrp="1"/>
          </p:cNvSpPr>
          <p:nvPr>
            <p:ph type="sldNum" sz="quarter" idx="11"/>
          </p:nvPr>
        </p:nvSpPr>
        <p:spPr>
          <a:xfrm>
            <a:off x="5053013" y="6240463"/>
            <a:ext cx="2133600" cy="457200"/>
          </a:xfrm>
        </p:spPr>
        <p:txBody>
          <a:bodyPr/>
          <a:lstStyle/>
          <a:p>
            <a:pPr>
              <a:defRPr/>
            </a:pPr>
            <a:fld id="{110871B5-850E-4E14-A636-3EC679EBF038}" type="slidenum">
              <a:rPr lang="en-US" altLang="zh-CN" smtClean="0"/>
              <a:pPr>
                <a:defRPr/>
              </a:pPr>
              <a:t>86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2584322801"/>
      </p:ext>
    </p:extLst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/>
          <p:cNvSpPr>
            <a:spLocks noGrp="1" noChangeArrowheads="1"/>
          </p:cNvSpPr>
          <p:nvPr>
            <p:ph type="title"/>
          </p:nvPr>
        </p:nvSpPr>
        <p:spPr>
          <a:xfrm>
            <a:off x="1981200" y="409923"/>
            <a:ext cx="8651304" cy="858837"/>
          </a:xfrm>
        </p:spPr>
        <p:txBody>
          <a:bodyPr/>
          <a:lstStyle/>
          <a:p>
            <a:pPr eaLnBrk="1" hangingPunct="1"/>
            <a:r>
              <a:rPr lang="en-US" altLang="zh-CN" dirty="0">
                <a:latin typeface="+mj-lt"/>
              </a:rPr>
              <a:t>Makefile</a:t>
            </a:r>
            <a:r>
              <a:rPr lang="zh-CN" altLang="en-US" dirty="0"/>
              <a:t>练习</a:t>
            </a:r>
          </a:p>
        </p:txBody>
      </p:sp>
      <p:sp>
        <p:nvSpPr>
          <p:cNvPr id="921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343472" y="1105570"/>
            <a:ext cx="9793088" cy="5131742"/>
          </a:xfrm>
        </p:spPr>
        <p:txBody>
          <a:bodyPr/>
          <a:lstStyle/>
          <a:p>
            <a:pPr marL="0" indent="0" eaLnBrk="1" hangingPunct="1">
              <a:lnSpc>
                <a:spcPct val="80000"/>
              </a:lnSpc>
              <a:buNone/>
            </a:pPr>
            <a:r>
              <a:rPr lang="zh-CN" altLang="en-US" sz="2400" dirty="0"/>
              <a:t>有三个源程序</a:t>
            </a:r>
          </a:p>
          <a:p>
            <a:pPr eaLnBrk="1" hangingPunct="1">
              <a:lnSpc>
                <a:spcPct val="80000"/>
              </a:lnSpc>
            </a:pPr>
            <a:r>
              <a:rPr lang="zh-CN" altLang="en-US" sz="2000" dirty="0">
                <a:solidFill>
                  <a:srgbClr val="0000CC"/>
                </a:solidFill>
              </a:rPr>
              <a:t>程序</a:t>
            </a:r>
            <a:r>
              <a:rPr lang="en-US" altLang="zh-CN" sz="2000" dirty="0" err="1">
                <a:solidFill>
                  <a:srgbClr val="0000CC"/>
                </a:solidFill>
              </a:rPr>
              <a:t>fun1.c</a:t>
            </a:r>
            <a:r>
              <a:rPr lang="en-US" altLang="zh-CN" sz="2000" dirty="0">
                <a:solidFill>
                  <a:srgbClr val="0000CC"/>
                </a:solidFill>
              </a:rPr>
              <a:t> : </a:t>
            </a:r>
          </a:p>
          <a:p>
            <a:pPr marL="0" indent="0" eaLnBrk="1" hangingPunct="1">
              <a:lnSpc>
                <a:spcPct val="80000"/>
              </a:lnSpc>
              <a:buNone/>
            </a:pPr>
            <a:r>
              <a:rPr lang="en-US" altLang="zh-CN" sz="2000" dirty="0"/>
              <a:t>#include &lt;</a:t>
            </a:r>
            <a:r>
              <a:rPr lang="en-US" altLang="zh-CN" sz="2000" dirty="0" err="1"/>
              <a:t>stdio.h</a:t>
            </a:r>
            <a:r>
              <a:rPr lang="en-US" altLang="zh-CN" sz="2000" dirty="0"/>
              <a:t>&gt;</a:t>
            </a:r>
          </a:p>
          <a:p>
            <a:pPr marL="0" indent="0" eaLnBrk="1" hangingPunct="1">
              <a:lnSpc>
                <a:spcPct val="80000"/>
              </a:lnSpc>
              <a:buNone/>
            </a:pPr>
            <a:r>
              <a:rPr lang="en-US" altLang="zh-CN" sz="2000" dirty="0"/>
              <a:t>void fun1(){printf(“this is fun1\n”);}</a:t>
            </a:r>
          </a:p>
          <a:p>
            <a:pPr eaLnBrk="1" hangingPunct="1">
              <a:lnSpc>
                <a:spcPct val="80000"/>
              </a:lnSpc>
            </a:pPr>
            <a:r>
              <a:rPr lang="zh-CN" altLang="en-US" sz="2000" dirty="0">
                <a:solidFill>
                  <a:srgbClr val="0000CC"/>
                </a:solidFill>
              </a:rPr>
              <a:t>程序</a:t>
            </a:r>
            <a:r>
              <a:rPr lang="en-US" altLang="zh-CN" sz="2000" dirty="0" err="1">
                <a:solidFill>
                  <a:srgbClr val="0000CC"/>
                </a:solidFill>
              </a:rPr>
              <a:t>fun2.c</a:t>
            </a:r>
            <a:r>
              <a:rPr lang="en-US" altLang="zh-CN" sz="2000" dirty="0">
                <a:solidFill>
                  <a:srgbClr val="0000CC"/>
                </a:solidFill>
              </a:rPr>
              <a:t> :</a:t>
            </a:r>
          </a:p>
          <a:p>
            <a:pPr marL="0" indent="0" eaLnBrk="1" hangingPunct="1">
              <a:lnSpc>
                <a:spcPct val="80000"/>
              </a:lnSpc>
              <a:buNone/>
            </a:pPr>
            <a:r>
              <a:rPr lang="en-US" altLang="zh-CN" sz="2000" dirty="0"/>
              <a:t>#include &lt;</a:t>
            </a:r>
            <a:r>
              <a:rPr lang="en-US" altLang="zh-CN" sz="2000" dirty="0" err="1"/>
              <a:t>stdio.h</a:t>
            </a:r>
            <a:r>
              <a:rPr lang="en-US" altLang="zh-CN" sz="2000" dirty="0"/>
              <a:t>&gt;</a:t>
            </a:r>
          </a:p>
          <a:p>
            <a:pPr marL="0" indent="0" eaLnBrk="1" hangingPunct="1">
              <a:lnSpc>
                <a:spcPct val="80000"/>
              </a:lnSpc>
              <a:buNone/>
            </a:pPr>
            <a:r>
              <a:rPr lang="en-US" altLang="zh-CN" sz="2000" dirty="0"/>
              <a:t>void fun2(){printf(“this is fun2\n”);}</a:t>
            </a:r>
            <a:endParaRPr lang="en-US" altLang="zh-CN" sz="2400" dirty="0"/>
          </a:p>
          <a:p>
            <a:pPr eaLnBrk="1" hangingPunct="1">
              <a:lnSpc>
                <a:spcPct val="80000"/>
              </a:lnSpc>
            </a:pPr>
            <a:r>
              <a:rPr lang="zh-CN" altLang="en-US" sz="2000" dirty="0">
                <a:solidFill>
                  <a:srgbClr val="0000CC"/>
                </a:solidFill>
              </a:rPr>
              <a:t>程序</a:t>
            </a:r>
            <a:r>
              <a:rPr lang="en-US" altLang="zh-CN" sz="2000" dirty="0" err="1">
                <a:solidFill>
                  <a:srgbClr val="0000CC"/>
                </a:solidFill>
              </a:rPr>
              <a:t>main.c</a:t>
            </a:r>
            <a:r>
              <a:rPr lang="en-US" altLang="zh-CN" sz="2000" dirty="0">
                <a:solidFill>
                  <a:srgbClr val="0000CC"/>
                </a:solidFill>
              </a:rPr>
              <a:t>:</a:t>
            </a:r>
          </a:p>
          <a:p>
            <a:pPr marL="0" indent="0" eaLnBrk="1" hangingPunct="1">
              <a:lnSpc>
                <a:spcPct val="80000"/>
              </a:lnSpc>
              <a:buNone/>
            </a:pPr>
            <a:r>
              <a:rPr lang="en-US" altLang="zh-CN" sz="2000" dirty="0"/>
              <a:t> #include &lt;</a:t>
            </a:r>
            <a:r>
              <a:rPr lang="en-US" altLang="zh-CN" sz="2000" dirty="0" err="1"/>
              <a:t>stdio.h</a:t>
            </a:r>
            <a:r>
              <a:rPr lang="en-US" altLang="zh-CN" sz="2000" dirty="0"/>
              <a:t>&gt;</a:t>
            </a:r>
          </a:p>
          <a:p>
            <a:pPr marL="0" indent="0" eaLnBrk="1" hangingPunct="1">
              <a:lnSpc>
                <a:spcPct val="80000"/>
              </a:lnSpc>
              <a:buNone/>
            </a:pPr>
            <a:r>
              <a:rPr lang="en-US" altLang="zh-CN" sz="2000" dirty="0"/>
              <a:t>void </a:t>
            </a:r>
            <a:r>
              <a:rPr lang="en-US" altLang="zh-CN" sz="2000" dirty="0" err="1"/>
              <a:t>fun1</a:t>
            </a:r>
            <a:r>
              <a:rPr lang="en-US" altLang="zh-CN" sz="2000" dirty="0"/>
              <a:t>();</a:t>
            </a:r>
          </a:p>
          <a:p>
            <a:pPr marL="0" indent="0" eaLnBrk="1" hangingPunct="1">
              <a:lnSpc>
                <a:spcPct val="80000"/>
              </a:lnSpc>
              <a:buNone/>
            </a:pPr>
            <a:r>
              <a:rPr lang="en-US" altLang="zh-CN" sz="2000" dirty="0"/>
              <a:t>void </a:t>
            </a:r>
            <a:r>
              <a:rPr lang="en-US" altLang="zh-CN" sz="2000" dirty="0" err="1"/>
              <a:t>fun2</a:t>
            </a:r>
            <a:r>
              <a:rPr lang="en-US" altLang="zh-CN" sz="2000" dirty="0"/>
              <a:t>(); </a:t>
            </a:r>
          </a:p>
          <a:p>
            <a:pPr marL="0" indent="0" eaLnBrk="1" hangingPunct="1">
              <a:lnSpc>
                <a:spcPct val="80000"/>
              </a:lnSpc>
              <a:buNone/>
            </a:pPr>
            <a:r>
              <a:rPr lang="en-US" altLang="zh-CN" sz="2000" dirty="0"/>
              <a:t> main()</a:t>
            </a:r>
          </a:p>
          <a:p>
            <a:pPr marL="0" indent="0" eaLnBrk="1" hangingPunct="1">
              <a:lnSpc>
                <a:spcPct val="80000"/>
              </a:lnSpc>
              <a:buNone/>
            </a:pPr>
            <a:r>
              <a:rPr lang="en-US" altLang="zh-CN" sz="2000" dirty="0"/>
              <a:t>{</a:t>
            </a:r>
          </a:p>
          <a:p>
            <a:pPr marL="0" indent="0" eaLnBrk="1" hangingPunct="1">
              <a:lnSpc>
                <a:spcPct val="80000"/>
              </a:lnSpc>
              <a:buNone/>
            </a:pPr>
            <a:r>
              <a:rPr lang="en-US" altLang="zh-CN" sz="2000" dirty="0"/>
              <a:t>      </a:t>
            </a:r>
            <a:r>
              <a:rPr lang="en-US" altLang="zh-CN" sz="2000" dirty="0" err="1"/>
              <a:t>fun1</a:t>
            </a:r>
            <a:r>
              <a:rPr lang="en-US" altLang="zh-CN" sz="2000" dirty="0"/>
              <a:t>();</a:t>
            </a:r>
          </a:p>
          <a:p>
            <a:pPr marL="0" indent="0" eaLnBrk="1" hangingPunct="1">
              <a:lnSpc>
                <a:spcPct val="80000"/>
              </a:lnSpc>
              <a:buNone/>
            </a:pPr>
            <a:r>
              <a:rPr lang="en-US" altLang="zh-CN" sz="2000" dirty="0"/>
              <a:t>      </a:t>
            </a:r>
            <a:r>
              <a:rPr lang="en-US" altLang="zh-CN" sz="2000" dirty="0" err="1"/>
              <a:t>fun2</a:t>
            </a:r>
            <a:r>
              <a:rPr lang="en-US" altLang="zh-CN" sz="2000" dirty="0"/>
              <a:t>();</a:t>
            </a:r>
          </a:p>
          <a:p>
            <a:pPr marL="0" indent="0" eaLnBrk="1" hangingPunct="1">
              <a:lnSpc>
                <a:spcPct val="80000"/>
              </a:lnSpc>
              <a:buNone/>
            </a:pPr>
            <a:r>
              <a:rPr lang="en-US" altLang="zh-CN" sz="2000" dirty="0"/>
              <a:t>} </a:t>
            </a:r>
          </a:p>
        </p:txBody>
      </p:sp>
      <p:sp>
        <p:nvSpPr>
          <p:cNvPr id="9223" name="Text Box 9"/>
          <p:cNvSpPr txBox="1">
            <a:spLocks noChangeArrowheads="1"/>
          </p:cNvSpPr>
          <p:nvPr/>
        </p:nvSpPr>
        <p:spPr bwMode="auto">
          <a:xfrm>
            <a:off x="5591944" y="4005064"/>
            <a:ext cx="5435475" cy="1938992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 algn="l" eaLnBrk="1" hangingPunct="1"/>
            <a:r>
              <a:rPr lang="zh-CN" altLang="en-US" sz="2000" dirty="0">
                <a:latin typeface="+mn-ea"/>
                <a:ea typeface="+mn-ea"/>
              </a:rPr>
              <a:t>如果使用</a:t>
            </a:r>
            <a:r>
              <a:rPr lang="en-US" altLang="zh-CN" sz="2000" dirty="0">
                <a:latin typeface="+mn-ea"/>
                <a:ea typeface="+mn-ea"/>
              </a:rPr>
              <a:t>gcc</a:t>
            </a:r>
            <a:r>
              <a:rPr lang="zh-CN" altLang="en-US" sz="2000" dirty="0">
                <a:latin typeface="+mn-ea"/>
                <a:ea typeface="+mn-ea"/>
              </a:rPr>
              <a:t>编译出应用程序</a:t>
            </a:r>
            <a:r>
              <a:rPr lang="en-US" altLang="zh-CN" sz="2000" dirty="0">
                <a:latin typeface="+mn-ea"/>
                <a:ea typeface="+mn-ea"/>
              </a:rPr>
              <a:t>test2:</a:t>
            </a:r>
          </a:p>
          <a:p>
            <a:pPr algn="l" eaLnBrk="1" hangingPunct="1"/>
            <a:endParaRPr lang="en-US" altLang="zh-CN" sz="2000" dirty="0">
              <a:latin typeface="+mn-ea"/>
              <a:ea typeface="+mn-ea"/>
            </a:endParaRPr>
          </a:p>
          <a:p>
            <a:pPr algn="l" eaLnBrk="1" hangingPunct="1"/>
            <a:r>
              <a:rPr lang="en-US" altLang="zh-CN" sz="2000" dirty="0">
                <a:latin typeface="+mn-ea"/>
                <a:ea typeface="+mn-ea"/>
              </a:rPr>
              <a:t>#gcc fun1.c fun2.c </a:t>
            </a:r>
            <a:r>
              <a:rPr lang="en-US" altLang="zh-CN" sz="2000" dirty="0" err="1">
                <a:latin typeface="+mn-ea"/>
                <a:ea typeface="+mn-ea"/>
              </a:rPr>
              <a:t>main.c</a:t>
            </a:r>
            <a:r>
              <a:rPr lang="en-US" altLang="zh-CN" sz="2000" dirty="0">
                <a:latin typeface="+mn-ea"/>
                <a:ea typeface="+mn-ea"/>
              </a:rPr>
              <a:t> -o test2</a:t>
            </a:r>
          </a:p>
          <a:p>
            <a:pPr algn="l" eaLnBrk="1" hangingPunct="1"/>
            <a:endParaRPr lang="en-US" altLang="zh-CN" sz="2000" dirty="0">
              <a:latin typeface="+mn-ea"/>
              <a:ea typeface="+mn-ea"/>
            </a:endParaRPr>
          </a:p>
          <a:p>
            <a:pPr algn="l" eaLnBrk="1" hangingPunct="1"/>
            <a:r>
              <a:rPr lang="zh-CN" altLang="en-US" sz="2000" dirty="0">
                <a:latin typeface="+mn-ea"/>
                <a:ea typeface="+mn-ea"/>
              </a:rPr>
              <a:t>要求：使用</a:t>
            </a:r>
            <a:r>
              <a:rPr lang="en-US" altLang="zh-CN" sz="2000" dirty="0" err="1">
                <a:latin typeface="+mn-ea"/>
                <a:ea typeface="+mn-ea"/>
              </a:rPr>
              <a:t>makefile</a:t>
            </a:r>
            <a:r>
              <a:rPr lang="zh-CN" altLang="en-US" sz="2000" dirty="0">
                <a:latin typeface="+mn-ea"/>
                <a:ea typeface="+mn-ea"/>
              </a:rPr>
              <a:t>来写一个脚本，并使用</a:t>
            </a:r>
            <a:r>
              <a:rPr lang="en-US" altLang="zh-CN" sz="2000" dirty="0" err="1">
                <a:latin typeface="+mn-ea"/>
                <a:ea typeface="+mn-ea"/>
              </a:rPr>
              <a:t>makefile</a:t>
            </a:r>
            <a:r>
              <a:rPr lang="zh-CN" altLang="en-US" sz="2000" dirty="0">
                <a:latin typeface="+mn-ea"/>
                <a:ea typeface="+mn-ea"/>
              </a:rPr>
              <a:t>的变量和隐式规则简化</a:t>
            </a:r>
            <a:r>
              <a:rPr lang="en-US" altLang="zh-CN" sz="2000" dirty="0" err="1">
                <a:latin typeface="+mn-ea"/>
                <a:ea typeface="+mn-ea"/>
              </a:rPr>
              <a:t>makefile</a:t>
            </a:r>
            <a:r>
              <a:rPr lang="zh-CN" altLang="en-US" sz="2000" dirty="0">
                <a:latin typeface="+mn-ea"/>
                <a:ea typeface="+mn-ea"/>
              </a:rPr>
              <a:t>文件</a:t>
            </a:r>
          </a:p>
        </p:txBody>
      </p:sp>
      <p:sp>
        <p:nvSpPr>
          <p:cNvPr id="9" name="灯片编号占位符 1"/>
          <p:cNvSpPr>
            <a:spLocks noGrp="1"/>
          </p:cNvSpPr>
          <p:nvPr>
            <p:ph type="sldNum" sz="quarter" idx="11"/>
          </p:nvPr>
        </p:nvSpPr>
        <p:spPr>
          <a:xfrm>
            <a:off x="5053013" y="6240463"/>
            <a:ext cx="2133600" cy="457200"/>
          </a:xfrm>
        </p:spPr>
        <p:txBody>
          <a:bodyPr/>
          <a:lstStyle/>
          <a:p>
            <a:pPr>
              <a:defRPr/>
            </a:pPr>
            <a:fld id="{110871B5-850E-4E14-A636-3EC679EBF038}" type="slidenum">
              <a:rPr lang="en-US" altLang="zh-CN" smtClean="0"/>
              <a:pPr>
                <a:defRPr/>
              </a:pPr>
              <a:t>87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3101302604"/>
      </p:ext>
    </p:extLst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Text Box 4"/>
          <p:cNvSpPr txBox="1">
            <a:spLocks noChangeArrowheads="1"/>
          </p:cNvSpPr>
          <p:nvPr/>
        </p:nvSpPr>
        <p:spPr bwMode="auto">
          <a:xfrm>
            <a:off x="1577752" y="558708"/>
            <a:ext cx="9036496" cy="7078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20000"/>
              </a:spcBef>
            </a:pPr>
            <a:r>
              <a:rPr kumimoji="1" lang="zh-CN" altLang="en-US" sz="4000" dirty="0">
                <a:latin typeface="+mj-ea"/>
                <a:ea typeface="+mj-ea"/>
              </a:rPr>
              <a:t>使用自动生成工具生成</a:t>
            </a:r>
            <a:r>
              <a:rPr lang="en-US" altLang="zh-CN" sz="4000" dirty="0">
                <a:latin typeface="+mj-lt"/>
                <a:ea typeface="+mj-ea"/>
                <a:cs typeface="+mj-cs"/>
              </a:rPr>
              <a:t>Makefile</a:t>
            </a:r>
            <a:endParaRPr lang="zh-CN" altLang="en-US" sz="4000" dirty="0">
              <a:latin typeface="+mj-lt"/>
              <a:ea typeface="+mj-ea"/>
              <a:cs typeface="+mj-cs"/>
            </a:endParaRPr>
          </a:p>
        </p:txBody>
      </p:sp>
      <p:sp>
        <p:nvSpPr>
          <p:cNvPr id="71683" name="Text Box 5"/>
          <p:cNvSpPr txBox="1">
            <a:spLocks noChangeArrowheads="1"/>
          </p:cNvSpPr>
          <p:nvPr/>
        </p:nvSpPr>
        <p:spPr bwMode="auto">
          <a:xfrm>
            <a:off x="1127448" y="1781594"/>
            <a:ext cx="9937104" cy="37356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9pPr>
          </a:lstStyle>
          <a:p>
            <a:pPr marL="342900" indent="-342900" algn="l" eaLnBrk="1" hangingPunct="1">
              <a:lnSpc>
                <a:spcPct val="110000"/>
              </a:lnSpc>
              <a:spcBef>
                <a:spcPct val="20000"/>
              </a:spcBef>
              <a:buSzPct val="80000"/>
              <a:buFont typeface="Wingdings" panose="05000000000000000000" pitchFamily="2" charset="2"/>
              <a:buChar char="l"/>
            </a:pPr>
            <a:r>
              <a:rPr kumimoji="1" lang="zh-CN" altLang="en-US" sz="2600" dirty="0">
                <a:latin typeface="+mn-ea"/>
                <a:ea typeface="+mn-ea"/>
              </a:rPr>
              <a:t>对于一个较大的项目，编写</a:t>
            </a:r>
            <a:r>
              <a:rPr kumimoji="1" lang="en-US" altLang="zh-CN" sz="2600" dirty="0">
                <a:latin typeface="+mn-lt"/>
                <a:ea typeface="+mn-ea"/>
              </a:rPr>
              <a:t>Makefile</a:t>
            </a:r>
            <a:r>
              <a:rPr kumimoji="1" lang="zh-CN" altLang="en-US" sz="2600" dirty="0">
                <a:latin typeface="+mn-ea"/>
                <a:ea typeface="+mn-ea"/>
              </a:rPr>
              <a:t>不是一件轻松的事情，这就需要一个工具来自动生成</a:t>
            </a:r>
            <a:r>
              <a:rPr kumimoji="1" lang="en-US" altLang="zh-CN" sz="2600" dirty="0">
                <a:latin typeface="+mn-lt"/>
                <a:ea typeface="+mn-ea"/>
              </a:rPr>
              <a:t>Makefile </a:t>
            </a:r>
            <a:r>
              <a:rPr kumimoji="1" lang="zh-CN" altLang="en-US" sz="2600" dirty="0">
                <a:latin typeface="+mn-lt"/>
                <a:ea typeface="+mn-ea"/>
              </a:rPr>
              <a:t>文件。</a:t>
            </a:r>
            <a:r>
              <a:rPr kumimoji="1" lang="en-US" altLang="zh-CN" sz="2600" dirty="0" err="1">
                <a:latin typeface="+mn-lt"/>
                <a:ea typeface="+mn-ea"/>
              </a:rPr>
              <a:t>autotools</a:t>
            </a:r>
            <a:r>
              <a:rPr kumimoji="1" lang="zh-CN" altLang="en-US" sz="2600" dirty="0">
                <a:latin typeface="+mn-ea"/>
                <a:ea typeface="+mn-ea"/>
              </a:rPr>
              <a:t>系列工具，只需要用户输入目标文件，依赖文件和文件目录等就可以制作</a:t>
            </a:r>
            <a:r>
              <a:rPr kumimoji="1" lang="en-US" altLang="zh-CN" sz="2600" dirty="0">
                <a:latin typeface="+mn-lt"/>
                <a:ea typeface="+mn-ea"/>
              </a:rPr>
              <a:t>Makefile</a:t>
            </a:r>
            <a:r>
              <a:rPr kumimoji="1" lang="zh-CN" altLang="en-US" sz="2600" dirty="0">
                <a:latin typeface="+mn-lt"/>
                <a:ea typeface="+mn-ea"/>
              </a:rPr>
              <a:t>文件。</a:t>
            </a:r>
            <a:endParaRPr kumimoji="1" lang="en-US" altLang="zh-CN" sz="2600" dirty="0">
              <a:latin typeface="+mn-lt"/>
              <a:ea typeface="+mn-ea"/>
            </a:endParaRPr>
          </a:p>
          <a:p>
            <a:pPr marL="342900" indent="-342900" algn="l" eaLnBrk="1" hangingPunct="1">
              <a:lnSpc>
                <a:spcPct val="110000"/>
              </a:lnSpc>
              <a:spcBef>
                <a:spcPct val="20000"/>
              </a:spcBef>
              <a:buSzPct val="80000"/>
              <a:buFont typeface="Wingdings" panose="05000000000000000000" pitchFamily="2" charset="2"/>
              <a:buChar char="l"/>
            </a:pPr>
            <a:r>
              <a:rPr kumimoji="1" lang="zh-CN" altLang="en-US" sz="2600" dirty="0">
                <a:latin typeface="+mn-ea"/>
                <a:ea typeface="+mn-ea"/>
              </a:rPr>
              <a:t>使用</a:t>
            </a:r>
            <a:r>
              <a:rPr kumimoji="1" lang="en-US" altLang="zh-CN" sz="2600" dirty="0" err="1">
                <a:latin typeface="+mn-lt"/>
                <a:ea typeface="+mn-ea"/>
              </a:rPr>
              <a:t>autotools</a:t>
            </a:r>
            <a:r>
              <a:rPr kumimoji="1" lang="zh-CN" altLang="en-US" sz="2600" dirty="0">
                <a:latin typeface="+mn-ea"/>
                <a:ea typeface="+mn-ea"/>
              </a:rPr>
              <a:t>主要就是利用各个工具的脚本文件以生成最后的</a:t>
            </a:r>
            <a:r>
              <a:rPr kumimoji="1" lang="en-US" altLang="zh-CN" sz="2600" dirty="0">
                <a:latin typeface="+mn-lt"/>
                <a:ea typeface="+mn-ea"/>
              </a:rPr>
              <a:t>Makefile</a:t>
            </a:r>
            <a:r>
              <a:rPr kumimoji="1" lang="zh-CN" altLang="en-US" sz="2600" dirty="0">
                <a:latin typeface="+mn-lt"/>
                <a:ea typeface="+mn-ea"/>
              </a:rPr>
              <a:t>。</a:t>
            </a:r>
            <a:endParaRPr kumimoji="1" lang="en-US" altLang="zh-CN" sz="2600" dirty="0">
              <a:latin typeface="+mn-lt"/>
              <a:ea typeface="+mn-ea"/>
            </a:endParaRPr>
          </a:p>
          <a:p>
            <a:pPr marL="342900" indent="-342900" algn="l" eaLnBrk="1" hangingPunct="1">
              <a:lnSpc>
                <a:spcPct val="110000"/>
              </a:lnSpc>
              <a:spcBef>
                <a:spcPct val="20000"/>
              </a:spcBef>
              <a:buSzPct val="80000"/>
              <a:buFont typeface="Wingdings" panose="05000000000000000000" pitchFamily="2" charset="2"/>
              <a:buChar char="l"/>
            </a:pPr>
            <a:r>
              <a:rPr kumimoji="1" lang="zh-CN" altLang="en-US" sz="2600" dirty="0">
                <a:latin typeface="+mn-lt"/>
                <a:ea typeface="+mn-ea"/>
              </a:rPr>
              <a:t>下面通过一个简单的</a:t>
            </a:r>
            <a:r>
              <a:rPr kumimoji="1" lang="en-US" altLang="zh-CN" sz="2600" dirty="0">
                <a:latin typeface="+mn-lt"/>
                <a:ea typeface="+mn-ea"/>
              </a:rPr>
              <a:t>test.c</a:t>
            </a:r>
            <a:r>
              <a:rPr kumimoji="1" lang="zh-CN" altLang="en-US" sz="2600" dirty="0">
                <a:latin typeface="+mn-lt"/>
                <a:ea typeface="+mn-ea"/>
              </a:rPr>
              <a:t>为例，介绍</a:t>
            </a:r>
            <a:r>
              <a:rPr kumimoji="1" lang="en-US" altLang="zh-CN" sz="2600" dirty="0" err="1">
                <a:latin typeface="+mn-lt"/>
                <a:ea typeface="+mn-ea"/>
              </a:rPr>
              <a:t>autotools</a:t>
            </a:r>
            <a:r>
              <a:rPr kumimoji="1" lang="zh-CN" altLang="en-US" sz="2600" dirty="0">
                <a:latin typeface="+mn-lt"/>
                <a:ea typeface="+mn-ea"/>
              </a:rPr>
              <a:t>生成</a:t>
            </a:r>
            <a:r>
              <a:rPr kumimoji="1" lang="en-US" altLang="zh-CN" sz="2600" dirty="0">
                <a:latin typeface="+mn-lt"/>
                <a:ea typeface="+mn-ea"/>
              </a:rPr>
              <a:t>Makefile</a:t>
            </a:r>
            <a:r>
              <a:rPr kumimoji="1" lang="zh-CN" altLang="en-US" sz="2600" dirty="0">
                <a:latin typeface="+mn-lt"/>
                <a:ea typeface="+mn-ea"/>
              </a:rPr>
              <a:t>的过程。</a:t>
            </a: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700C099A-6552-4724-AD39-B0EE2F003FA2}" type="slidenum">
              <a:rPr lang="en-US" altLang="zh-CN" smtClean="0"/>
              <a:pPr>
                <a:defRPr/>
              </a:pPr>
              <a:t>88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364153796"/>
      </p:ext>
    </p:extLst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Text Box 4"/>
          <p:cNvSpPr txBox="1">
            <a:spLocks noChangeArrowheads="1"/>
          </p:cNvSpPr>
          <p:nvPr/>
        </p:nvSpPr>
        <p:spPr bwMode="auto">
          <a:xfrm>
            <a:off x="1631504" y="548680"/>
            <a:ext cx="9001000" cy="7078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20000"/>
              </a:spcBef>
            </a:pPr>
            <a:r>
              <a:rPr kumimoji="1" lang="zh-CN" altLang="en-US" sz="4000" dirty="0">
                <a:latin typeface="+mj-ea"/>
                <a:ea typeface="+mj-ea"/>
              </a:rPr>
              <a:t>使用自动生成工具生成</a:t>
            </a:r>
            <a:r>
              <a:rPr lang="en-US" altLang="zh-CN" sz="4000" dirty="0">
                <a:latin typeface="+mj-lt"/>
                <a:ea typeface="+mj-ea"/>
                <a:cs typeface="+mj-cs"/>
              </a:rPr>
              <a:t>Makefile</a:t>
            </a:r>
            <a:endParaRPr lang="zh-CN" altLang="en-US" sz="4000" dirty="0">
              <a:latin typeface="+mj-lt"/>
              <a:ea typeface="+mj-ea"/>
              <a:cs typeface="+mj-cs"/>
            </a:endParaRPr>
          </a:p>
        </p:txBody>
      </p:sp>
      <p:sp>
        <p:nvSpPr>
          <p:cNvPr id="71683" name="Text Box 5"/>
          <p:cNvSpPr txBox="1">
            <a:spLocks noChangeArrowheads="1"/>
          </p:cNvSpPr>
          <p:nvPr/>
        </p:nvSpPr>
        <p:spPr bwMode="auto">
          <a:xfrm>
            <a:off x="1271464" y="1386636"/>
            <a:ext cx="8568952" cy="153862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9pPr>
          </a:lstStyle>
          <a:p>
            <a:pPr algn="l" eaLnBrk="1" hangingPunct="1">
              <a:lnSpc>
                <a:spcPct val="110000"/>
              </a:lnSpc>
              <a:spcBef>
                <a:spcPct val="20000"/>
              </a:spcBef>
              <a:buSzPct val="80000"/>
            </a:pPr>
            <a:r>
              <a:rPr kumimoji="1" lang="en-US" altLang="zh-CN" sz="2600" dirty="0">
                <a:latin typeface="+mn-lt"/>
                <a:ea typeface="+mn-ea"/>
              </a:rPr>
              <a:t>1.</a:t>
            </a:r>
            <a:r>
              <a:rPr kumimoji="1" lang="zh-CN" altLang="en-US" sz="2600" dirty="0">
                <a:latin typeface="+mn-lt"/>
                <a:ea typeface="+mn-ea"/>
              </a:rPr>
              <a:t>准备源代码，自动扫面</a:t>
            </a:r>
            <a:endParaRPr kumimoji="1" lang="en-US" altLang="zh-CN" sz="2600" dirty="0">
              <a:latin typeface="+mn-lt"/>
              <a:ea typeface="+mn-ea"/>
            </a:endParaRPr>
          </a:p>
          <a:p>
            <a:pPr algn="l" eaLnBrk="1" hangingPunct="1">
              <a:lnSpc>
                <a:spcPct val="110000"/>
              </a:lnSpc>
              <a:spcBef>
                <a:spcPct val="20000"/>
              </a:spcBef>
              <a:buSzPct val="80000"/>
            </a:pPr>
            <a:endParaRPr kumimoji="1" lang="en-US" altLang="zh-CN" sz="2600" dirty="0">
              <a:latin typeface="+mn-lt"/>
              <a:ea typeface="+mn-ea"/>
            </a:endParaRPr>
          </a:p>
          <a:p>
            <a:pPr algn="l" eaLnBrk="1" hangingPunct="1">
              <a:lnSpc>
                <a:spcPct val="110000"/>
              </a:lnSpc>
              <a:spcBef>
                <a:spcPct val="20000"/>
              </a:spcBef>
              <a:buSzPct val="80000"/>
            </a:pPr>
            <a:endParaRPr kumimoji="1" lang="zh-CN" altLang="en-US" sz="2600" dirty="0">
              <a:latin typeface="+mn-lt"/>
              <a:ea typeface="+mn-ea"/>
            </a:endParaRP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700C099A-6552-4724-AD39-B0EE2F003FA2}" type="slidenum">
              <a:rPr lang="en-US" altLang="zh-CN" smtClean="0"/>
              <a:pPr>
                <a:defRPr/>
              </a:pPr>
              <a:t>89</a:t>
            </a:fld>
            <a:endParaRPr lang="en-US" altLang="zh-CN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9F302310-7529-2C1C-2CED-133AD99F76E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79630" y="2060848"/>
            <a:ext cx="7812713" cy="3792358"/>
          </a:xfrm>
          <a:prstGeom prst="rect">
            <a:avLst/>
          </a:prstGeom>
        </p:spPr>
      </p:pic>
      <p:sp>
        <p:nvSpPr>
          <p:cNvPr id="6" name="AutoShape 5">
            <a:extLst>
              <a:ext uri="{FF2B5EF4-FFF2-40B4-BE49-F238E27FC236}">
                <a16:creationId xmlns:a16="http://schemas.microsoft.com/office/drawing/2014/main" id="{9E7BDDBE-04FD-65F8-F19F-F01F44F6365F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68208" y="3989497"/>
            <a:ext cx="2880320" cy="519624"/>
          </a:xfrm>
          <a:prstGeom prst="wedgeRoundRectCallout">
            <a:avLst>
              <a:gd name="adj1" fmla="val -78373"/>
              <a:gd name="adj2" fmla="val 78023"/>
              <a:gd name="adj3" fmla="val 16667"/>
            </a:avLst>
          </a:prstGeom>
          <a:noFill/>
          <a:ln w="9525" algn="ctr">
            <a:solidFill>
              <a:schemeClr val="hlink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pPr algn="l"/>
            <a:r>
              <a:rPr lang="zh-CN" altLang="en-US" dirty="0"/>
              <a:t>扫描目录及其子目录</a:t>
            </a:r>
          </a:p>
        </p:txBody>
      </p:sp>
      <p:sp>
        <p:nvSpPr>
          <p:cNvPr id="7" name="AutoShape 5">
            <a:extLst>
              <a:ext uri="{FF2B5EF4-FFF2-40B4-BE49-F238E27FC236}">
                <a16:creationId xmlns:a16="http://schemas.microsoft.com/office/drawing/2014/main" id="{0870726D-B3C6-797B-8C8C-1A2A45DCEE40}"/>
              </a:ext>
            </a:extLst>
          </p:cNvPr>
          <p:cNvSpPr>
            <a:spLocks noChangeArrowheads="1"/>
          </p:cNvSpPr>
          <p:nvPr/>
        </p:nvSpPr>
        <p:spPr bwMode="auto">
          <a:xfrm>
            <a:off x="7849225" y="4884610"/>
            <a:ext cx="3143319" cy="519624"/>
          </a:xfrm>
          <a:prstGeom prst="wedgeRoundRectCallout">
            <a:avLst>
              <a:gd name="adj1" fmla="val -65483"/>
              <a:gd name="adj2" fmla="val 31714"/>
              <a:gd name="adj3" fmla="val 16667"/>
            </a:avLst>
          </a:prstGeom>
          <a:noFill/>
          <a:ln w="9525" algn="ctr">
            <a:solidFill>
              <a:schemeClr val="hlink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pPr algn="l"/>
            <a:r>
              <a:rPr lang="zh-CN" altLang="en-US" dirty="0"/>
              <a:t>生成</a:t>
            </a:r>
            <a:r>
              <a:rPr lang="en-US" altLang="zh-CN" dirty="0"/>
              <a:t>autoscan.log</a:t>
            </a:r>
            <a:r>
              <a:rPr lang="zh-CN" altLang="en-US" dirty="0"/>
              <a:t>和</a:t>
            </a:r>
            <a:r>
              <a:rPr lang="en-US" altLang="zh-CN" dirty="0"/>
              <a:t>  </a:t>
            </a:r>
            <a:r>
              <a:rPr lang="en-US" altLang="zh-CN" dirty="0" err="1"/>
              <a:t>configure.scan</a:t>
            </a:r>
            <a:r>
              <a:rPr lang="en-US" altLang="zh-CN" dirty="0"/>
              <a:t> </a:t>
            </a:r>
            <a:r>
              <a:rPr lang="zh-CN" altLang="en-US" dirty="0"/>
              <a:t>文件</a:t>
            </a:r>
          </a:p>
        </p:txBody>
      </p:sp>
    </p:spTree>
    <p:extLst>
      <p:ext uri="{BB962C8B-B14F-4D97-AF65-F5344CB8AC3E}">
        <p14:creationId xmlns:p14="http://schemas.microsoft.com/office/powerpoint/2010/main" val="39323137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</p:bldLst>
  </p:timing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40A2C7DB-11EB-4F4F-0B8D-8A0078D060C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19536" y="1008949"/>
            <a:ext cx="7560840" cy="5321011"/>
          </a:xfrm>
          <a:prstGeom prst="rect">
            <a:avLst/>
          </a:prstGeom>
        </p:spPr>
      </p:pic>
      <p:sp>
        <p:nvSpPr>
          <p:cNvPr id="71683" name="Text Box 5"/>
          <p:cNvSpPr txBox="1">
            <a:spLocks noChangeArrowheads="1"/>
          </p:cNvSpPr>
          <p:nvPr/>
        </p:nvSpPr>
        <p:spPr bwMode="auto">
          <a:xfrm>
            <a:off x="1847528" y="485977"/>
            <a:ext cx="8568952" cy="49475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9pPr>
          </a:lstStyle>
          <a:p>
            <a:pPr algn="l" eaLnBrk="1" hangingPunct="1">
              <a:lnSpc>
                <a:spcPct val="110000"/>
              </a:lnSpc>
              <a:spcBef>
                <a:spcPct val="20000"/>
              </a:spcBef>
              <a:buSzPct val="80000"/>
            </a:pPr>
            <a:r>
              <a:rPr kumimoji="1" lang="en-US" altLang="zh-CN" sz="2600" dirty="0">
                <a:latin typeface="+mn-lt"/>
                <a:ea typeface="+mn-ea"/>
              </a:rPr>
              <a:t>2.</a:t>
            </a:r>
            <a:r>
              <a:rPr kumimoji="1" lang="zh-CN" altLang="en-US" sz="2600" dirty="0">
                <a:latin typeface="+mn-lt"/>
                <a:ea typeface="+mn-ea"/>
              </a:rPr>
              <a:t>创建</a:t>
            </a:r>
            <a:r>
              <a:rPr kumimoji="1" lang="en-US" altLang="zh-CN" sz="2600" dirty="0">
                <a:latin typeface="+mn-lt"/>
                <a:ea typeface="+mn-ea"/>
              </a:rPr>
              <a:t>configure.in</a:t>
            </a:r>
            <a:r>
              <a:rPr kumimoji="1" lang="zh-CN" altLang="en-US" sz="2600" dirty="0">
                <a:latin typeface="+mn-lt"/>
                <a:ea typeface="+mn-ea"/>
              </a:rPr>
              <a:t>脚本配置文件</a:t>
            </a:r>
          </a:p>
        </p:txBody>
      </p:sp>
      <p:sp>
        <p:nvSpPr>
          <p:cNvPr id="7" name="AutoShape 5">
            <a:extLst>
              <a:ext uri="{FF2B5EF4-FFF2-40B4-BE49-F238E27FC236}">
                <a16:creationId xmlns:a16="http://schemas.microsoft.com/office/drawing/2014/main" id="{0870726D-B3C6-797B-8C8C-1A2A45DCEE40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32103" y="852699"/>
            <a:ext cx="3024337" cy="519624"/>
          </a:xfrm>
          <a:prstGeom prst="wedgeRoundRectCallout">
            <a:avLst>
              <a:gd name="adj1" fmla="val -60438"/>
              <a:gd name="adj2" fmla="val 80338"/>
              <a:gd name="adj3" fmla="val 16667"/>
            </a:avLst>
          </a:prstGeom>
          <a:noFill/>
          <a:ln w="9525" algn="ctr">
            <a:solidFill>
              <a:schemeClr val="hlink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pPr algn="l"/>
            <a:r>
              <a:rPr lang="zh-CN" altLang="en-US" dirty="0"/>
              <a:t>修改</a:t>
            </a:r>
            <a:r>
              <a:rPr lang="en-US" altLang="zh-CN" dirty="0" err="1"/>
              <a:t>configure.scan</a:t>
            </a:r>
            <a:r>
              <a:rPr lang="zh-CN" altLang="en-US" dirty="0"/>
              <a:t>文件</a:t>
            </a:r>
          </a:p>
        </p:txBody>
      </p:sp>
    </p:spTree>
    <p:extLst>
      <p:ext uri="{BB962C8B-B14F-4D97-AF65-F5344CB8AC3E}">
        <p14:creationId xmlns:p14="http://schemas.microsoft.com/office/powerpoint/2010/main" val="13765362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3" name="Text Box 5"/>
          <p:cNvSpPr txBox="1">
            <a:spLocks noChangeArrowheads="1"/>
          </p:cNvSpPr>
          <p:nvPr/>
        </p:nvSpPr>
        <p:spPr bwMode="auto">
          <a:xfrm>
            <a:off x="1847528" y="485977"/>
            <a:ext cx="8568952" cy="49475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9pPr>
          </a:lstStyle>
          <a:p>
            <a:pPr algn="l" eaLnBrk="1" hangingPunct="1">
              <a:lnSpc>
                <a:spcPct val="110000"/>
              </a:lnSpc>
              <a:spcBef>
                <a:spcPct val="20000"/>
              </a:spcBef>
              <a:buSzPct val="80000"/>
            </a:pPr>
            <a:r>
              <a:rPr kumimoji="1" lang="en-US" altLang="zh-CN" sz="2600" dirty="0">
                <a:latin typeface="+mn-lt"/>
                <a:ea typeface="+mn-ea"/>
              </a:rPr>
              <a:t>2.</a:t>
            </a:r>
            <a:r>
              <a:rPr kumimoji="1" lang="zh-CN" altLang="en-US" sz="2600" dirty="0">
                <a:latin typeface="+mn-lt"/>
                <a:ea typeface="+mn-ea"/>
              </a:rPr>
              <a:t>修改后的具体内容如下：</a:t>
            </a: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F832B147-6B15-C795-DAF4-B644D7810E5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19536" y="980728"/>
            <a:ext cx="8352928" cy="53779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9702050"/>
      </p:ext>
    </p:extLst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3" name="Text Box 5"/>
          <p:cNvSpPr txBox="1">
            <a:spLocks noChangeArrowheads="1"/>
          </p:cNvSpPr>
          <p:nvPr/>
        </p:nvSpPr>
        <p:spPr bwMode="auto">
          <a:xfrm>
            <a:off x="1775520" y="541899"/>
            <a:ext cx="9073008" cy="101489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9pPr>
          </a:lstStyle>
          <a:p>
            <a:pPr algn="l" eaLnBrk="1" hangingPunct="1">
              <a:lnSpc>
                <a:spcPct val="110000"/>
              </a:lnSpc>
              <a:spcBef>
                <a:spcPct val="20000"/>
              </a:spcBef>
              <a:buSzPct val="80000"/>
            </a:pPr>
            <a:r>
              <a:rPr kumimoji="1" lang="en-US" altLang="zh-CN" sz="2600" dirty="0">
                <a:latin typeface="+mn-lt"/>
                <a:ea typeface="+mn-ea"/>
              </a:rPr>
              <a:t>3.</a:t>
            </a:r>
            <a:r>
              <a:rPr kumimoji="1" lang="zh-CN" altLang="en-US" sz="2600" dirty="0">
                <a:latin typeface="+mn-lt"/>
                <a:ea typeface="+mn-ea"/>
              </a:rPr>
              <a:t>修改</a:t>
            </a:r>
            <a:r>
              <a:rPr kumimoji="1" lang="en-US" altLang="zh-CN" sz="2600" dirty="0" err="1">
                <a:latin typeface="+mn-lt"/>
                <a:ea typeface="+mn-ea"/>
              </a:rPr>
              <a:t>configure.scan</a:t>
            </a:r>
            <a:r>
              <a:rPr kumimoji="1" lang="zh-CN" altLang="en-US" sz="2600" dirty="0">
                <a:latin typeface="+mn-lt"/>
                <a:ea typeface="+mn-ea"/>
              </a:rPr>
              <a:t>文件名为</a:t>
            </a:r>
            <a:r>
              <a:rPr kumimoji="1" lang="en-US" altLang="zh-CN" sz="2600" dirty="0">
                <a:latin typeface="+mn-lt"/>
                <a:ea typeface="+mn-ea"/>
              </a:rPr>
              <a:t>configure.in</a:t>
            </a:r>
            <a:r>
              <a:rPr kumimoji="1" lang="zh-CN" altLang="en-US" sz="2600" dirty="0">
                <a:latin typeface="+mn-lt"/>
                <a:ea typeface="+mn-ea"/>
              </a:rPr>
              <a:t>，</a:t>
            </a:r>
            <a:endParaRPr kumimoji="1" lang="en-US" altLang="zh-CN" sz="2600" dirty="0">
              <a:latin typeface="+mn-lt"/>
              <a:ea typeface="+mn-ea"/>
            </a:endParaRPr>
          </a:p>
          <a:p>
            <a:pPr algn="l" eaLnBrk="1" hangingPunct="1">
              <a:lnSpc>
                <a:spcPct val="110000"/>
              </a:lnSpc>
              <a:spcBef>
                <a:spcPct val="20000"/>
              </a:spcBef>
              <a:buSzPct val="80000"/>
            </a:pPr>
            <a:r>
              <a:rPr kumimoji="1" lang="zh-CN" altLang="en-US" sz="2600" dirty="0">
                <a:latin typeface="+mn-lt"/>
                <a:ea typeface="+mn-ea"/>
              </a:rPr>
              <a:t>   创建</a:t>
            </a:r>
            <a:r>
              <a:rPr kumimoji="1" lang="en-US" altLang="zh-CN" sz="2600" dirty="0">
                <a:latin typeface="+mn-lt"/>
                <a:ea typeface="+mn-ea"/>
              </a:rPr>
              <a:t>Makefile.am</a:t>
            </a:r>
            <a:r>
              <a:rPr kumimoji="1" lang="zh-CN" altLang="en-US" sz="2600" dirty="0">
                <a:latin typeface="+mn-lt"/>
                <a:ea typeface="+mn-ea"/>
              </a:rPr>
              <a:t>文件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EE37E45C-0A2A-1216-C03C-D3214966785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75520" y="1700808"/>
            <a:ext cx="8531261" cy="4392488"/>
          </a:xfrm>
          <a:prstGeom prst="rect">
            <a:avLst/>
          </a:prstGeom>
        </p:spPr>
      </p:pic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05217E69-2D9B-5971-51D7-278B359A0E05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5053013" y="6240463"/>
            <a:ext cx="2133600" cy="457200"/>
          </a:xfrm>
        </p:spPr>
        <p:txBody>
          <a:bodyPr/>
          <a:lstStyle/>
          <a:p>
            <a:pPr>
              <a:defRPr/>
            </a:pPr>
            <a:fld id="{700C099A-6552-4724-AD39-B0EE2F003FA2}" type="slidenum">
              <a:rPr lang="en-US" altLang="zh-CN" smtClean="0"/>
              <a:pPr>
                <a:defRPr/>
              </a:pPr>
              <a:t>92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408562230"/>
      </p:ext>
    </p:extLst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3" name="Text Box 5"/>
          <p:cNvSpPr txBox="1">
            <a:spLocks noChangeArrowheads="1"/>
          </p:cNvSpPr>
          <p:nvPr/>
        </p:nvSpPr>
        <p:spPr bwMode="auto">
          <a:xfrm>
            <a:off x="1127448" y="541899"/>
            <a:ext cx="9937104" cy="101489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9pPr>
          </a:lstStyle>
          <a:p>
            <a:pPr algn="l" eaLnBrk="1" hangingPunct="1">
              <a:lnSpc>
                <a:spcPct val="110000"/>
              </a:lnSpc>
              <a:spcBef>
                <a:spcPct val="20000"/>
              </a:spcBef>
              <a:buSzPct val="80000"/>
            </a:pPr>
            <a:r>
              <a:rPr kumimoji="1" lang="en-US" altLang="zh-CN" sz="2600" dirty="0">
                <a:latin typeface="+mn-lt"/>
                <a:ea typeface="+mn-ea"/>
              </a:rPr>
              <a:t>4.</a:t>
            </a:r>
            <a:r>
              <a:rPr kumimoji="1" lang="zh-CN" altLang="en-US" sz="2600" dirty="0">
                <a:latin typeface="+mn-lt"/>
                <a:ea typeface="+mn-ea"/>
              </a:rPr>
              <a:t>生成</a:t>
            </a:r>
            <a:r>
              <a:rPr kumimoji="1" lang="en-US" altLang="zh-CN" sz="2600" dirty="0">
                <a:latin typeface="+mn-lt"/>
                <a:ea typeface="+mn-ea"/>
              </a:rPr>
              <a:t>configure</a:t>
            </a:r>
            <a:r>
              <a:rPr kumimoji="1" lang="zh-CN" altLang="en-US" sz="2600" dirty="0">
                <a:latin typeface="+mn-lt"/>
                <a:ea typeface="+mn-ea"/>
              </a:rPr>
              <a:t>文件</a:t>
            </a:r>
            <a:endParaRPr kumimoji="1" lang="en-US" altLang="zh-CN" sz="2600" dirty="0">
              <a:latin typeface="+mn-lt"/>
              <a:ea typeface="+mn-ea"/>
            </a:endParaRPr>
          </a:p>
          <a:p>
            <a:pPr algn="l" eaLnBrk="1" hangingPunct="1">
              <a:lnSpc>
                <a:spcPct val="110000"/>
              </a:lnSpc>
              <a:spcBef>
                <a:spcPct val="20000"/>
              </a:spcBef>
              <a:buSzPct val="80000"/>
            </a:pPr>
            <a:r>
              <a:rPr kumimoji="1" lang="en-US" altLang="zh-CN" sz="2600" dirty="0">
                <a:latin typeface="+mn-lt"/>
                <a:ea typeface="+mn-ea"/>
              </a:rPr>
              <a:t>  </a:t>
            </a:r>
            <a:r>
              <a:rPr kumimoji="1" lang="zh-CN" altLang="en-US" sz="2600" dirty="0">
                <a:latin typeface="+mn-lt"/>
                <a:ea typeface="+mn-ea"/>
              </a:rPr>
              <a:t>执行命令</a:t>
            </a:r>
            <a:r>
              <a:rPr kumimoji="1" lang="en-US" altLang="zh-CN" sz="2600" dirty="0">
                <a:latin typeface="+mn-lt"/>
                <a:ea typeface="+mn-ea"/>
              </a:rPr>
              <a:t>autoreconf</a:t>
            </a:r>
            <a:r>
              <a:rPr kumimoji="1" lang="zh-CN" altLang="en-US" sz="2600" dirty="0">
                <a:latin typeface="+mn-lt"/>
                <a:ea typeface="+mn-ea"/>
              </a:rPr>
              <a:t>命令即可生成</a:t>
            </a:r>
            <a:r>
              <a:rPr kumimoji="1" lang="en-US" altLang="zh-CN" sz="2600" dirty="0">
                <a:latin typeface="+mn-lt"/>
                <a:ea typeface="+mn-ea"/>
              </a:rPr>
              <a:t>configure</a:t>
            </a:r>
            <a:r>
              <a:rPr kumimoji="1" lang="zh-CN" altLang="en-US" sz="2600" dirty="0">
                <a:latin typeface="+mn-lt"/>
                <a:ea typeface="+mn-ea"/>
              </a:rPr>
              <a:t>文件。</a:t>
            </a: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6E49AE95-0CAF-02F3-CDCA-3751D7E32C4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79576" y="1481678"/>
            <a:ext cx="7128792" cy="48550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6800958"/>
      </p:ext>
    </p:extLst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3" name="Text Box 5"/>
          <p:cNvSpPr txBox="1">
            <a:spLocks noChangeArrowheads="1"/>
          </p:cNvSpPr>
          <p:nvPr/>
        </p:nvSpPr>
        <p:spPr bwMode="auto">
          <a:xfrm>
            <a:off x="1847528" y="541899"/>
            <a:ext cx="8856984" cy="101489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9pPr>
          </a:lstStyle>
          <a:p>
            <a:pPr algn="l" eaLnBrk="1" hangingPunct="1">
              <a:lnSpc>
                <a:spcPct val="110000"/>
              </a:lnSpc>
              <a:spcBef>
                <a:spcPct val="20000"/>
              </a:spcBef>
              <a:buSzPct val="80000"/>
            </a:pPr>
            <a:r>
              <a:rPr kumimoji="1" lang="en-US" altLang="zh-CN" sz="2600" dirty="0">
                <a:latin typeface="+mn-lt"/>
                <a:ea typeface="+mn-ea"/>
              </a:rPr>
              <a:t>5.</a:t>
            </a:r>
            <a:r>
              <a:rPr kumimoji="1" lang="zh-CN" altLang="en-US" sz="2600" dirty="0">
                <a:latin typeface="+mn-lt"/>
                <a:ea typeface="+mn-ea"/>
              </a:rPr>
              <a:t>生成</a:t>
            </a:r>
            <a:r>
              <a:rPr kumimoji="1" lang="en-US" altLang="zh-CN" sz="2600" dirty="0">
                <a:latin typeface="+mn-lt"/>
                <a:ea typeface="+mn-ea"/>
              </a:rPr>
              <a:t>Makefile</a:t>
            </a:r>
            <a:r>
              <a:rPr kumimoji="1" lang="zh-CN" altLang="en-US" sz="2600" dirty="0">
                <a:latin typeface="+mn-lt"/>
                <a:ea typeface="+mn-ea"/>
              </a:rPr>
              <a:t>文件</a:t>
            </a:r>
            <a:endParaRPr kumimoji="1" lang="en-US" altLang="zh-CN" sz="2600" dirty="0">
              <a:latin typeface="+mn-lt"/>
              <a:ea typeface="+mn-ea"/>
            </a:endParaRPr>
          </a:p>
          <a:p>
            <a:pPr algn="l" eaLnBrk="1" hangingPunct="1">
              <a:lnSpc>
                <a:spcPct val="110000"/>
              </a:lnSpc>
              <a:spcBef>
                <a:spcPct val="20000"/>
              </a:spcBef>
              <a:buSzPct val="80000"/>
            </a:pPr>
            <a:r>
              <a:rPr kumimoji="1" lang="en-US" altLang="zh-CN" sz="2600" dirty="0">
                <a:latin typeface="+mn-lt"/>
                <a:ea typeface="+mn-ea"/>
              </a:rPr>
              <a:t>   </a:t>
            </a:r>
            <a:r>
              <a:rPr kumimoji="1" lang="zh-CN" altLang="en-US" sz="2600" dirty="0">
                <a:latin typeface="+mn-lt"/>
                <a:ea typeface="+mn-ea"/>
              </a:rPr>
              <a:t>执行命令</a:t>
            </a:r>
            <a:r>
              <a:rPr kumimoji="1" lang="en-US" altLang="zh-CN" sz="2600" dirty="0">
                <a:latin typeface="+mn-lt"/>
                <a:ea typeface="+mn-ea"/>
              </a:rPr>
              <a:t>configure</a:t>
            </a:r>
            <a:r>
              <a:rPr kumimoji="1" lang="zh-CN" altLang="en-US" sz="2600" dirty="0">
                <a:latin typeface="+mn-lt"/>
                <a:ea typeface="+mn-ea"/>
              </a:rPr>
              <a:t>命令即可生成</a:t>
            </a:r>
            <a:r>
              <a:rPr kumimoji="1" lang="en-US" altLang="zh-CN" sz="2600" dirty="0">
                <a:latin typeface="+mn-lt"/>
                <a:ea typeface="+mn-ea"/>
              </a:rPr>
              <a:t>Makefile</a:t>
            </a:r>
            <a:r>
              <a:rPr kumimoji="1" lang="zh-CN" altLang="en-US" sz="2600" dirty="0">
                <a:latin typeface="+mn-lt"/>
                <a:ea typeface="+mn-ea"/>
              </a:rPr>
              <a:t>文件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F9CFC755-5A4F-00E7-2FBD-58E877600E5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91544" y="1595024"/>
            <a:ext cx="7200800" cy="47142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8256544"/>
      </p:ext>
    </p:extLst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3" name="Text Box 5"/>
          <p:cNvSpPr txBox="1">
            <a:spLocks noChangeArrowheads="1"/>
          </p:cNvSpPr>
          <p:nvPr/>
        </p:nvSpPr>
        <p:spPr bwMode="auto">
          <a:xfrm>
            <a:off x="1631504" y="629993"/>
            <a:ext cx="8568952" cy="49475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9pPr>
          </a:lstStyle>
          <a:p>
            <a:pPr algn="l" eaLnBrk="1" hangingPunct="1">
              <a:lnSpc>
                <a:spcPct val="110000"/>
              </a:lnSpc>
              <a:spcBef>
                <a:spcPct val="20000"/>
              </a:spcBef>
              <a:buSzPct val="80000"/>
            </a:pPr>
            <a:r>
              <a:rPr kumimoji="1" lang="en-US" altLang="zh-CN" sz="2600" dirty="0">
                <a:latin typeface="+mn-lt"/>
                <a:ea typeface="+mn-ea"/>
              </a:rPr>
              <a:t>6.</a:t>
            </a:r>
            <a:r>
              <a:rPr kumimoji="1" lang="zh-CN" altLang="en-US" sz="2600" dirty="0">
                <a:latin typeface="+mn-lt"/>
                <a:ea typeface="+mn-ea"/>
              </a:rPr>
              <a:t>生成了</a:t>
            </a:r>
            <a:r>
              <a:rPr kumimoji="1" lang="en-US" altLang="zh-CN" sz="2600" dirty="0">
                <a:latin typeface="+mn-lt"/>
                <a:ea typeface="+mn-ea"/>
              </a:rPr>
              <a:t>Makefile</a:t>
            </a:r>
            <a:r>
              <a:rPr kumimoji="1" lang="zh-CN" altLang="en-US" sz="2600" dirty="0">
                <a:latin typeface="+mn-lt"/>
                <a:ea typeface="+mn-ea"/>
              </a:rPr>
              <a:t>文件，执行</a:t>
            </a:r>
            <a:r>
              <a:rPr kumimoji="1" lang="en-US" altLang="zh-CN" sz="2600" dirty="0">
                <a:latin typeface="+mn-lt"/>
                <a:ea typeface="+mn-ea"/>
              </a:rPr>
              <a:t>make</a:t>
            </a:r>
            <a:r>
              <a:rPr kumimoji="1" lang="zh-CN" altLang="en-US" sz="2600" dirty="0">
                <a:latin typeface="+mn-lt"/>
                <a:ea typeface="+mn-ea"/>
              </a:rPr>
              <a:t>命令，运行程序。</a:t>
            </a: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B54304AF-AB1D-32BE-8C86-A24D8DA440EB}"/>
              </a:ext>
            </a:extLst>
          </p:cNvPr>
          <p:cNvGrpSpPr/>
          <p:nvPr/>
        </p:nvGrpSpPr>
        <p:grpSpPr>
          <a:xfrm>
            <a:off x="1775520" y="1276731"/>
            <a:ext cx="8568953" cy="4752529"/>
            <a:chOff x="1775520" y="980728"/>
            <a:chExt cx="8568953" cy="4752529"/>
          </a:xfrm>
        </p:grpSpPr>
        <p:pic>
          <p:nvPicPr>
            <p:cNvPr id="3" name="图片 2">
              <a:extLst>
                <a:ext uri="{FF2B5EF4-FFF2-40B4-BE49-F238E27FC236}">
                  <a16:creationId xmlns:a16="http://schemas.microsoft.com/office/drawing/2014/main" id="{A714BDE7-5ACF-37D2-853D-07A9864E060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775521" y="980728"/>
              <a:ext cx="8568952" cy="1480898"/>
            </a:xfrm>
            <a:prstGeom prst="rect">
              <a:avLst/>
            </a:prstGeom>
          </p:spPr>
        </p:pic>
        <p:pic>
          <p:nvPicPr>
            <p:cNvPr id="6" name="图片 5">
              <a:extLst>
                <a:ext uri="{FF2B5EF4-FFF2-40B4-BE49-F238E27FC236}">
                  <a16:creationId xmlns:a16="http://schemas.microsoft.com/office/drawing/2014/main" id="{FAB0568D-7809-F53A-8DAC-232B1B27FB7E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775520" y="2137590"/>
              <a:ext cx="8568952" cy="3595667"/>
            </a:xfrm>
            <a:prstGeom prst="rect">
              <a:avLst/>
            </a:prstGeom>
          </p:spPr>
        </p:pic>
      </p:grpSp>
      <p:sp>
        <p:nvSpPr>
          <p:cNvPr id="7" name="AutoShape 5">
            <a:extLst>
              <a:ext uri="{FF2B5EF4-FFF2-40B4-BE49-F238E27FC236}">
                <a16:creationId xmlns:a16="http://schemas.microsoft.com/office/drawing/2014/main" id="{DC400BA6-B27E-B4B8-E072-58C6DB164063}"/>
              </a:ext>
            </a:extLst>
          </p:cNvPr>
          <p:cNvSpPr>
            <a:spLocks noChangeArrowheads="1"/>
          </p:cNvSpPr>
          <p:nvPr/>
        </p:nvSpPr>
        <p:spPr bwMode="auto">
          <a:xfrm>
            <a:off x="9084332" y="980728"/>
            <a:ext cx="2520280" cy="360040"/>
          </a:xfrm>
          <a:prstGeom prst="wedgeRoundRectCallout">
            <a:avLst>
              <a:gd name="adj1" fmla="val -92185"/>
              <a:gd name="adj2" fmla="val 93705"/>
              <a:gd name="adj3" fmla="val 16667"/>
            </a:avLst>
          </a:prstGeom>
          <a:noFill/>
          <a:ln w="9525" algn="ctr">
            <a:solidFill>
              <a:schemeClr val="hlink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pPr algn="l"/>
            <a:r>
              <a:rPr lang="zh-CN" altLang="en-US" dirty="0"/>
              <a:t>生成了</a:t>
            </a:r>
            <a:r>
              <a:rPr lang="en-US" altLang="zh-CN" dirty="0"/>
              <a:t>Makefile</a:t>
            </a:r>
            <a:r>
              <a:rPr lang="zh-CN" altLang="en-US" dirty="0"/>
              <a:t>文件</a:t>
            </a:r>
          </a:p>
        </p:txBody>
      </p:sp>
      <p:sp>
        <p:nvSpPr>
          <p:cNvPr id="8" name="AutoShape 5">
            <a:extLst>
              <a:ext uri="{FF2B5EF4-FFF2-40B4-BE49-F238E27FC236}">
                <a16:creationId xmlns:a16="http://schemas.microsoft.com/office/drawing/2014/main" id="{0B921D7E-48D9-ECC6-816E-B8ADDE2004F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12024" y="2426387"/>
            <a:ext cx="2448272" cy="282533"/>
          </a:xfrm>
          <a:prstGeom prst="wedgeRoundRectCallout">
            <a:avLst>
              <a:gd name="adj1" fmla="val -87070"/>
              <a:gd name="adj2" fmla="val 3313"/>
              <a:gd name="adj3" fmla="val 16667"/>
            </a:avLst>
          </a:prstGeom>
          <a:noFill/>
          <a:ln w="9525" algn="ctr">
            <a:solidFill>
              <a:schemeClr val="hlink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pPr algn="l"/>
            <a:r>
              <a:rPr lang="zh-CN" altLang="en-US" dirty="0"/>
              <a:t>执行</a:t>
            </a:r>
            <a:r>
              <a:rPr lang="en-US" altLang="zh-CN" dirty="0"/>
              <a:t>Make</a:t>
            </a:r>
            <a:endParaRPr lang="zh-CN" altLang="en-US" dirty="0"/>
          </a:p>
        </p:txBody>
      </p:sp>
      <p:sp>
        <p:nvSpPr>
          <p:cNvPr id="9" name="AutoShape 5">
            <a:extLst>
              <a:ext uri="{FF2B5EF4-FFF2-40B4-BE49-F238E27FC236}">
                <a16:creationId xmlns:a16="http://schemas.microsoft.com/office/drawing/2014/main" id="{5840AB91-87F1-B36F-6C83-B78CC1A0538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84032" y="3794539"/>
            <a:ext cx="2448272" cy="282533"/>
          </a:xfrm>
          <a:prstGeom prst="wedgeRoundRectCallout">
            <a:avLst>
              <a:gd name="adj1" fmla="val 40210"/>
              <a:gd name="adj2" fmla="val 246045"/>
              <a:gd name="adj3" fmla="val 16667"/>
            </a:avLst>
          </a:prstGeom>
          <a:noFill/>
          <a:ln w="9525" algn="ctr">
            <a:solidFill>
              <a:schemeClr val="hlink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pPr algn="l"/>
            <a:r>
              <a:rPr lang="zh-CN" altLang="en-US" dirty="0"/>
              <a:t>生成可执行文件</a:t>
            </a:r>
          </a:p>
        </p:txBody>
      </p:sp>
      <p:sp>
        <p:nvSpPr>
          <p:cNvPr id="10" name="AutoShape 5">
            <a:extLst>
              <a:ext uri="{FF2B5EF4-FFF2-40B4-BE49-F238E27FC236}">
                <a16:creationId xmlns:a16="http://schemas.microsoft.com/office/drawing/2014/main" id="{016501D9-FBCD-551A-6C88-4B0B179B522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00056" y="5373216"/>
            <a:ext cx="1944216" cy="282533"/>
          </a:xfrm>
          <a:prstGeom prst="wedgeRoundRectCallout">
            <a:avLst>
              <a:gd name="adj1" fmla="val -98683"/>
              <a:gd name="adj2" fmla="val -52047"/>
              <a:gd name="adj3" fmla="val 16667"/>
            </a:avLst>
          </a:prstGeom>
          <a:noFill/>
          <a:ln w="9525" algn="ctr">
            <a:solidFill>
              <a:schemeClr val="hlink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pPr algn="l"/>
            <a:r>
              <a:rPr lang="zh-CN" altLang="en-US" dirty="0"/>
              <a:t>运行程序</a:t>
            </a: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5B1E3DE8-4CEE-5E2B-1AE8-2D86F6826E3E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5053013" y="6240463"/>
            <a:ext cx="2133600" cy="457200"/>
          </a:xfrm>
        </p:spPr>
        <p:txBody>
          <a:bodyPr/>
          <a:lstStyle/>
          <a:p>
            <a:pPr>
              <a:defRPr/>
            </a:pPr>
            <a:fld id="{700C099A-6552-4724-AD39-B0EE2F003FA2}" type="slidenum">
              <a:rPr lang="en-US" altLang="zh-CN" smtClean="0"/>
              <a:pPr>
                <a:defRPr/>
              </a:pPr>
              <a:t>95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8968562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  <p:bldP spid="9" grpId="0" animBg="1"/>
      <p:bldP spid="10" grpId="0" animBg="1"/>
    </p:bldLst>
  </p:timing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4452" name="Rectangle 2"/>
          <p:cNvSpPr>
            <a:spLocks noChangeArrowheads="1"/>
          </p:cNvSpPr>
          <p:nvPr/>
        </p:nvSpPr>
        <p:spPr bwMode="auto">
          <a:xfrm>
            <a:off x="2208213" y="836613"/>
            <a:ext cx="7543800" cy="7921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/>
          <a:p>
            <a:pPr algn="ctr"/>
            <a:r>
              <a:rPr lang="en-US" altLang="zh-CN" sz="4200" dirty="0">
                <a:solidFill>
                  <a:srgbClr val="CC00CC"/>
                </a:solidFill>
                <a:ea typeface="黑体" pitchFamily="49" charset="-122"/>
              </a:rPr>
              <a:t>Thanks!</a:t>
            </a:r>
          </a:p>
        </p:txBody>
      </p:sp>
      <p:pic>
        <p:nvPicPr>
          <p:cNvPr id="744453" name="Picture 6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71864" y="2308225"/>
            <a:ext cx="2376264" cy="198487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灯片编号占位符 1"/>
          <p:cNvSpPr>
            <a:spLocks noGrp="1"/>
          </p:cNvSpPr>
          <p:nvPr>
            <p:ph type="sldNum" sz="quarter" idx="11"/>
          </p:nvPr>
        </p:nvSpPr>
        <p:spPr>
          <a:xfrm>
            <a:off x="5053013" y="6240463"/>
            <a:ext cx="2133600" cy="457200"/>
          </a:xfrm>
        </p:spPr>
        <p:txBody>
          <a:bodyPr/>
          <a:lstStyle/>
          <a:p>
            <a:pPr>
              <a:defRPr/>
            </a:pPr>
            <a:fld id="{110871B5-850E-4E14-A636-3EC679EBF038}" type="slidenum">
              <a:rPr lang="en-US" altLang="zh-CN" smtClean="0"/>
              <a:pPr>
                <a:defRPr/>
              </a:pPr>
              <a:t>96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612148702"/>
      </p:ext>
    </p:extLst>
  </p:cSld>
  <p:clrMapOvr>
    <a:masterClrMapping/>
  </p:clrMapOvr>
  <p:transition/>
</p:sld>
</file>

<file path=ppt/theme/theme1.xml><?xml version="1.0" encoding="utf-8"?>
<a:theme xmlns:a="http://schemas.openxmlformats.org/drawingml/2006/main" name="Network">
  <a:themeElements>
    <a:clrScheme name="Network 13">
      <a:dk1>
        <a:srgbClr val="000000"/>
      </a:dk1>
      <a:lt1>
        <a:srgbClr val="FFFFFF"/>
      </a:lt1>
      <a:dk2>
        <a:srgbClr val="330066"/>
      </a:dk2>
      <a:lt2>
        <a:srgbClr val="808080"/>
      </a:lt2>
      <a:accent1>
        <a:srgbClr val="CCCC00"/>
      </a:accent1>
      <a:accent2>
        <a:srgbClr val="669999"/>
      </a:accent2>
      <a:accent3>
        <a:srgbClr val="FFFFFF"/>
      </a:accent3>
      <a:accent4>
        <a:srgbClr val="000000"/>
      </a:accent4>
      <a:accent5>
        <a:srgbClr val="E2E2AA"/>
      </a:accent5>
      <a:accent6>
        <a:srgbClr val="5C8A8A"/>
      </a:accent6>
      <a:hlink>
        <a:srgbClr val="0000FF"/>
      </a:hlink>
      <a:folHlink>
        <a:srgbClr val="0000FF"/>
      </a:folHlink>
    </a:clrScheme>
    <a:fontScheme name="Network">
      <a:majorFont>
        <a:latin typeface="Arial"/>
        <a:ea typeface="黑体"/>
        <a:cs typeface=""/>
      </a:majorFont>
      <a:minorFont>
        <a:latin typeface="Arial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28575" cap="flat" cmpd="sng" algn="ctr">
          <a:solidFill>
            <a:srgbClr val="FF0000"/>
          </a:solidFill>
          <a:prstDash val="solid"/>
          <a:round/>
          <a:headEnd type="none" w="med" len="med"/>
          <a:tailEnd type="triangl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zh-CN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宋体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28575" cap="flat" cmpd="sng" algn="ctr">
          <a:solidFill>
            <a:srgbClr val="FF0000"/>
          </a:solidFill>
          <a:prstDash val="solid"/>
          <a:round/>
          <a:headEnd type="none" w="med" len="med"/>
          <a:tailEnd type="triangl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zh-CN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宋体" pitchFamily="2" charset="-122"/>
          </a:defRPr>
        </a:defPPr>
      </a:lstStyle>
    </a:lnDef>
  </a:objectDefaults>
  <a:extraClrSchemeLst>
    <a:extraClrScheme>
      <a:clrScheme name="Network 1">
        <a:dk1>
          <a:srgbClr val="4F747B"/>
        </a:dk1>
        <a:lt1>
          <a:srgbClr val="FFFFFF"/>
        </a:lt1>
        <a:dk2>
          <a:srgbClr val="000000"/>
        </a:dk2>
        <a:lt2>
          <a:srgbClr val="C0C0C0"/>
        </a:lt2>
        <a:accent1>
          <a:srgbClr val="859868"/>
        </a:accent1>
        <a:accent2>
          <a:srgbClr val="5F5F5F"/>
        </a:accent2>
        <a:accent3>
          <a:srgbClr val="AAAAAA"/>
        </a:accent3>
        <a:accent4>
          <a:srgbClr val="DADADA"/>
        </a:accent4>
        <a:accent5>
          <a:srgbClr val="C2CAB9"/>
        </a:accent5>
        <a:accent6>
          <a:srgbClr val="555555"/>
        </a:accent6>
        <a:hlink>
          <a:srgbClr val="5F5F5F"/>
        </a:hlink>
        <a:folHlink>
          <a:srgbClr val="BA1212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Network 2">
        <a:dk1>
          <a:srgbClr val="3C0000"/>
        </a:dk1>
        <a:lt1>
          <a:srgbClr val="FFFFFF"/>
        </a:lt1>
        <a:dk2>
          <a:srgbClr val="4D0B0B"/>
        </a:dk2>
        <a:lt2>
          <a:srgbClr val="FFFFFF"/>
        </a:lt2>
        <a:accent1>
          <a:srgbClr val="666633"/>
        </a:accent1>
        <a:accent2>
          <a:srgbClr val="CC3300"/>
        </a:accent2>
        <a:accent3>
          <a:srgbClr val="B2AAAA"/>
        </a:accent3>
        <a:accent4>
          <a:srgbClr val="DADADA"/>
        </a:accent4>
        <a:accent5>
          <a:srgbClr val="B8B8AD"/>
        </a:accent5>
        <a:accent6>
          <a:srgbClr val="B92D00"/>
        </a:accent6>
        <a:hlink>
          <a:srgbClr val="CC9900"/>
        </a:hlink>
        <a:folHlink>
          <a:srgbClr val="CCCC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Network 3">
        <a:dk1>
          <a:srgbClr val="666699"/>
        </a:dk1>
        <a:lt1>
          <a:srgbClr val="FFFFFF"/>
        </a:lt1>
        <a:dk2>
          <a:srgbClr val="15192B"/>
        </a:dk2>
        <a:lt2>
          <a:srgbClr val="CCCCFF"/>
        </a:lt2>
        <a:accent1>
          <a:srgbClr val="4F893D"/>
        </a:accent1>
        <a:accent2>
          <a:srgbClr val="666699"/>
        </a:accent2>
        <a:accent3>
          <a:srgbClr val="AAABAC"/>
        </a:accent3>
        <a:accent4>
          <a:srgbClr val="DADADA"/>
        </a:accent4>
        <a:accent5>
          <a:srgbClr val="B2C4AF"/>
        </a:accent5>
        <a:accent6>
          <a:srgbClr val="5C5C8A"/>
        </a:accent6>
        <a:hlink>
          <a:srgbClr val="CC9900"/>
        </a:hlink>
        <a:folHlink>
          <a:srgbClr val="4837C7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Network 4">
        <a:dk1>
          <a:srgbClr val="666699"/>
        </a:dk1>
        <a:lt1>
          <a:srgbClr val="FFFFFF"/>
        </a:lt1>
        <a:dk2>
          <a:srgbClr val="86001A"/>
        </a:dk2>
        <a:lt2>
          <a:srgbClr val="CCCC66"/>
        </a:lt2>
        <a:accent1>
          <a:srgbClr val="FF3300"/>
        </a:accent1>
        <a:accent2>
          <a:srgbClr val="FF6600"/>
        </a:accent2>
        <a:accent3>
          <a:srgbClr val="C3AAAB"/>
        </a:accent3>
        <a:accent4>
          <a:srgbClr val="DADADA"/>
        </a:accent4>
        <a:accent5>
          <a:srgbClr val="FFADAA"/>
        </a:accent5>
        <a:accent6>
          <a:srgbClr val="E75C00"/>
        </a:accent6>
        <a:hlink>
          <a:srgbClr val="CC9900"/>
        </a:hlink>
        <a:folHlink>
          <a:srgbClr val="FF00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Network 5">
        <a:dk1>
          <a:srgbClr val="666699"/>
        </a:dk1>
        <a:lt1>
          <a:srgbClr val="FFFFFF"/>
        </a:lt1>
        <a:dk2>
          <a:srgbClr val="000054"/>
        </a:dk2>
        <a:lt2>
          <a:srgbClr val="FFFFFF"/>
        </a:lt2>
        <a:accent1>
          <a:srgbClr val="3333FF"/>
        </a:accent1>
        <a:accent2>
          <a:srgbClr val="006699"/>
        </a:accent2>
        <a:accent3>
          <a:srgbClr val="AAAAB3"/>
        </a:accent3>
        <a:accent4>
          <a:srgbClr val="DADADA"/>
        </a:accent4>
        <a:accent5>
          <a:srgbClr val="ADADFF"/>
        </a:accent5>
        <a:accent6>
          <a:srgbClr val="005C8A"/>
        </a:accent6>
        <a:hlink>
          <a:srgbClr val="669900"/>
        </a:hlink>
        <a:folHlink>
          <a:srgbClr val="0000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Network 6">
        <a:dk1>
          <a:srgbClr val="808080"/>
        </a:dk1>
        <a:lt1>
          <a:srgbClr val="FFFFFF"/>
        </a:lt1>
        <a:dk2>
          <a:srgbClr val="30054B"/>
        </a:dk2>
        <a:lt2>
          <a:srgbClr val="FFFFFF"/>
        </a:lt2>
        <a:accent1>
          <a:srgbClr val="797B9B"/>
        </a:accent1>
        <a:accent2>
          <a:srgbClr val="6B4FB1"/>
        </a:accent2>
        <a:accent3>
          <a:srgbClr val="ADAAB1"/>
        </a:accent3>
        <a:accent4>
          <a:srgbClr val="DADADA"/>
        </a:accent4>
        <a:accent5>
          <a:srgbClr val="BEBFCB"/>
        </a:accent5>
        <a:accent6>
          <a:srgbClr val="6047A0"/>
        </a:accent6>
        <a:hlink>
          <a:srgbClr val="7AACCE"/>
        </a:hlink>
        <a:folHlink>
          <a:srgbClr val="D8D8E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Network 7">
        <a:dk1>
          <a:srgbClr val="808080"/>
        </a:dk1>
        <a:lt1>
          <a:srgbClr val="FFFFCC"/>
        </a:lt1>
        <a:dk2>
          <a:srgbClr val="29527B"/>
        </a:dk2>
        <a:lt2>
          <a:srgbClr val="FFFFFF"/>
        </a:lt2>
        <a:accent1>
          <a:srgbClr val="CCCC00"/>
        </a:accent1>
        <a:accent2>
          <a:srgbClr val="669999"/>
        </a:accent2>
        <a:accent3>
          <a:srgbClr val="ACB3BF"/>
        </a:accent3>
        <a:accent4>
          <a:srgbClr val="DADAAE"/>
        </a:accent4>
        <a:accent5>
          <a:srgbClr val="E2E2AA"/>
        </a:accent5>
        <a:accent6>
          <a:srgbClr val="5C8A8A"/>
        </a:accent6>
        <a:hlink>
          <a:srgbClr val="D8D8EC"/>
        </a:hlink>
        <a:folHlink>
          <a:srgbClr val="B2B2B2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Network 8">
        <a:dk1>
          <a:srgbClr val="666699"/>
        </a:dk1>
        <a:lt1>
          <a:srgbClr val="FFFFFF"/>
        </a:lt1>
        <a:dk2>
          <a:srgbClr val="476949"/>
        </a:dk2>
        <a:lt2>
          <a:srgbClr val="FFFFFF"/>
        </a:lt2>
        <a:accent1>
          <a:srgbClr val="CC6600"/>
        </a:accent1>
        <a:accent2>
          <a:srgbClr val="CC9900"/>
        </a:accent2>
        <a:accent3>
          <a:srgbClr val="B1B9B1"/>
        </a:accent3>
        <a:accent4>
          <a:srgbClr val="DADADA"/>
        </a:accent4>
        <a:accent5>
          <a:srgbClr val="E2B8AA"/>
        </a:accent5>
        <a:accent6>
          <a:srgbClr val="B98A00"/>
        </a:accent6>
        <a:hlink>
          <a:srgbClr val="669900"/>
        </a:hlink>
        <a:folHlink>
          <a:srgbClr val="A452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Network 9">
        <a:dk1>
          <a:srgbClr val="000000"/>
        </a:dk1>
        <a:lt1>
          <a:srgbClr val="FFFFFF"/>
        </a:lt1>
        <a:dk2>
          <a:srgbClr val="7C1302"/>
        </a:dk2>
        <a:lt2>
          <a:srgbClr val="CC9900"/>
        </a:lt2>
        <a:accent1>
          <a:srgbClr val="CC9900"/>
        </a:accent1>
        <a:accent2>
          <a:srgbClr val="CC3300"/>
        </a:accent2>
        <a:accent3>
          <a:srgbClr val="FFFFFF"/>
        </a:accent3>
        <a:accent4>
          <a:srgbClr val="000000"/>
        </a:accent4>
        <a:accent5>
          <a:srgbClr val="E2CAAA"/>
        </a:accent5>
        <a:accent6>
          <a:srgbClr val="B92D00"/>
        </a:accent6>
        <a:hlink>
          <a:srgbClr val="808080"/>
        </a:hlink>
        <a:folHlink>
          <a:srgbClr val="CC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Network 10">
        <a:dk1>
          <a:srgbClr val="000000"/>
        </a:dk1>
        <a:lt1>
          <a:srgbClr val="FFFFFF"/>
        </a:lt1>
        <a:dk2>
          <a:srgbClr val="330066"/>
        </a:dk2>
        <a:lt2>
          <a:srgbClr val="808080"/>
        </a:lt2>
        <a:accent1>
          <a:srgbClr val="CCCC00"/>
        </a:accent1>
        <a:accent2>
          <a:srgbClr val="669999"/>
        </a:accent2>
        <a:accent3>
          <a:srgbClr val="FFFFFF"/>
        </a:accent3>
        <a:accent4>
          <a:srgbClr val="000000"/>
        </a:accent4>
        <a:accent5>
          <a:srgbClr val="E2E2AA"/>
        </a:accent5>
        <a:accent6>
          <a:srgbClr val="5C8A8A"/>
        </a:accent6>
        <a:hlink>
          <a:srgbClr val="7E9CE8"/>
        </a:hlink>
        <a:folHlink>
          <a:srgbClr val="D8D8E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Network 11">
        <a:dk1>
          <a:srgbClr val="000000"/>
        </a:dk1>
        <a:lt1>
          <a:srgbClr val="FFFFFF"/>
        </a:lt1>
        <a:dk2>
          <a:srgbClr val="330066"/>
        </a:dk2>
        <a:lt2>
          <a:srgbClr val="808080"/>
        </a:lt2>
        <a:accent1>
          <a:srgbClr val="CCCC00"/>
        </a:accent1>
        <a:accent2>
          <a:srgbClr val="669999"/>
        </a:accent2>
        <a:accent3>
          <a:srgbClr val="FFFFFF"/>
        </a:accent3>
        <a:accent4>
          <a:srgbClr val="000000"/>
        </a:accent4>
        <a:accent5>
          <a:srgbClr val="E2E2AA"/>
        </a:accent5>
        <a:accent6>
          <a:srgbClr val="5C8A8A"/>
        </a:accent6>
        <a:hlink>
          <a:srgbClr val="7E9CE8"/>
        </a:hlink>
        <a:folHlink>
          <a:srgbClr val="66CC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Network 12">
        <a:dk1>
          <a:srgbClr val="000000"/>
        </a:dk1>
        <a:lt1>
          <a:srgbClr val="FFFFFF"/>
        </a:lt1>
        <a:dk2>
          <a:srgbClr val="330066"/>
        </a:dk2>
        <a:lt2>
          <a:srgbClr val="808080"/>
        </a:lt2>
        <a:accent1>
          <a:srgbClr val="CCCC00"/>
        </a:accent1>
        <a:accent2>
          <a:srgbClr val="669999"/>
        </a:accent2>
        <a:accent3>
          <a:srgbClr val="FFFFFF"/>
        </a:accent3>
        <a:accent4>
          <a:srgbClr val="000000"/>
        </a:accent4>
        <a:accent5>
          <a:srgbClr val="E2E2AA"/>
        </a:accent5>
        <a:accent6>
          <a:srgbClr val="5C8A8A"/>
        </a:accent6>
        <a:hlink>
          <a:srgbClr val="7E9CE8"/>
        </a:hlink>
        <a:folHlink>
          <a:srgbClr val="0000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Network 13">
        <a:dk1>
          <a:srgbClr val="000000"/>
        </a:dk1>
        <a:lt1>
          <a:srgbClr val="FFFFFF"/>
        </a:lt1>
        <a:dk2>
          <a:srgbClr val="330066"/>
        </a:dk2>
        <a:lt2>
          <a:srgbClr val="808080"/>
        </a:lt2>
        <a:accent1>
          <a:srgbClr val="CCCC00"/>
        </a:accent1>
        <a:accent2>
          <a:srgbClr val="669999"/>
        </a:accent2>
        <a:accent3>
          <a:srgbClr val="FFFFFF"/>
        </a:accent3>
        <a:accent4>
          <a:srgbClr val="000000"/>
        </a:accent4>
        <a:accent5>
          <a:srgbClr val="E2E2AA"/>
        </a:accent5>
        <a:accent6>
          <a:srgbClr val="5C8A8A"/>
        </a:accent6>
        <a:hlink>
          <a:srgbClr val="0000FF"/>
        </a:hlink>
        <a:folHlink>
          <a:srgbClr val="0000FF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2_Network">
  <a:themeElements>
    <a:clrScheme name="2_Network 13">
      <a:dk1>
        <a:srgbClr val="000000"/>
      </a:dk1>
      <a:lt1>
        <a:srgbClr val="FFFFFF"/>
      </a:lt1>
      <a:dk2>
        <a:srgbClr val="330066"/>
      </a:dk2>
      <a:lt2>
        <a:srgbClr val="808080"/>
      </a:lt2>
      <a:accent1>
        <a:srgbClr val="CCCC00"/>
      </a:accent1>
      <a:accent2>
        <a:srgbClr val="669999"/>
      </a:accent2>
      <a:accent3>
        <a:srgbClr val="FFFFFF"/>
      </a:accent3>
      <a:accent4>
        <a:srgbClr val="000000"/>
      </a:accent4>
      <a:accent5>
        <a:srgbClr val="E2E2AA"/>
      </a:accent5>
      <a:accent6>
        <a:srgbClr val="5C8A8A"/>
      </a:accent6>
      <a:hlink>
        <a:srgbClr val="0000FF"/>
      </a:hlink>
      <a:folHlink>
        <a:srgbClr val="0000FF"/>
      </a:folHlink>
    </a:clrScheme>
    <a:fontScheme name="2_Network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2_Network 1">
        <a:dk1>
          <a:srgbClr val="4F747B"/>
        </a:dk1>
        <a:lt1>
          <a:srgbClr val="FFFFFF"/>
        </a:lt1>
        <a:dk2>
          <a:srgbClr val="000000"/>
        </a:dk2>
        <a:lt2>
          <a:srgbClr val="C0C0C0"/>
        </a:lt2>
        <a:accent1>
          <a:srgbClr val="859868"/>
        </a:accent1>
        <a:accent2>
          <a:srgbClr val="5F5F5F"/>
        </a:accent2>
        <a:accent3>
          <a:srgbClr val="AAAAAA"/>
        </a:accent3>
        <a:accent4>
          <a:srgbClr val="DADADA"/>
        </a:accent4>
        <a:accent5>
          <a:srgbClr val="C2CAB9"/>
        </a:accent5>
        <a:accent6>
          <a:srgbClr val="555555"/>
        </a:accent6>
        <a:hlink>
          <a:srgbClr val="5F5F5F"/>
        </a:hlink>
        <a:folHlink>
          <a:srgbClr val="BA1212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Network 2">
        <a:dk1>
          <a:srgbClr val="3C0000"/>
        </a:dk1>
        <a:lt1>
          <a:srgbClr val="FFFFFF"/>
        </a:lt1>
        <a:dk2>
          <a:srgbClr val="4D0B0B"/>
        </a:dk2>
        <a:lt2>
          <a:srgbClr val="FFFFFF"/>
        </a:lt2>
        <a:accent1>
          <a:srgbClr val="666633"/>
        </a:accent1>
        <a:accent2>
          <a:srgbClr val="CC3300"/>
        </a:accent2>
        <a:accent3>
          <a:srgbClr val="B2AAAA"/>
        </a:accent3>
        <a:accent4>
          <a:srgbClr val="DADADA"/>
        </a:accent4>
        <a:accent5>
          <a:srgbClr val="B8B8AD"/>
        </a:accent5>
        <a:accent6>
          <a:srgbClr val="B92D00"/>
        </a:accent6>
        <a:hlink>
          <a:srgbClr val="CC9900"/>
        </a:hlink>
        <a:folHlink>
          <a:srgbClr val="CCCC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Network 3">
        <a:dk1>
          <a:srgbClr val="666699"/>
        </a:dk1>
        <a:lt1>
          <a:srgbClr val="FFFFFF"/>
        </a:lt1>
        <a:dk2>
          <a:srgbClr val="15192B"/>
        </a:dk2>
        <a:lt2>
          <a:srgbClr val="CCCCFF"/>
        </a:lt2>
        <a:accent1>
          <a:srgbClr val="4F893D"/>
        </a:accent1>
        <a:accent2>
          <a:srgbClr val="666699"/>
        </a:accent2>
        <a:accent3>
          <a:srgbClr val="AAABAC"/>
        </a:accent3>
        <a:accent4>
          <a:srgbClr val="DADADA"/>
        </a:accent4>
        <a:accent5>
          <a:srgbClr val="B2C4AF"/>
        </a:accent5>
        <a:accent6>
          <a:srgbClr val="5C5C8A"/>
        </a:accent6>
        <a:hlink>
          <a:srgbClr val="CC9900"/>
        </a:hlink>
        <a:folHlink>
          <a:srgbClr val="4837C7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Network 4">
        <a:dk1>
          <a:srgbClr val="666699"/>
        </a:dk1>
        <a:lt1>
          <a:srgbClr val="FFFFFF"/>
        </a:lt1>
        <a:dk2>
          <a:srgbClr val="86001A"/>
        </a:dk2>
        <a:lt2>
          <a:srgbClr val="CCCC66"/>
        </a:lt2>
        <a:accent1>
          <a:srgbClr val="FF3300"/>
        </a:accent1>
        <a:accent2>
          <a:srgbClr val="FF6600"/>
        </a:accent2>
        <a:accent3>
          <a:srgbClr val="C3AAAB"/>
        </a:accent3>
        <a:accent4>
          <a:srgbClr val="DADADA"/>
        </a:accent4>
        <a:accent5>
          <a:srgbClr val="FFADAA"/>
        </a:accent5>
        <a:accent6>
          <a:srgbClr val="E75C00"/>
        </a:accent6>
        <a:hlink>
          <a:srgbClr val="CC9900"/>
        </a:hlink>
        <a:folHlink>
          <a:srgbClr val="FF00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Network 5">
        <a:dk1>
          <a:srgbClr val="666699"/>
        </a:dk1>
        <a:lt1>
          <a:srgbClr val="FFFFFF"/>
        </a:lt1>
        <a:dk2>
          <a:srgbClr val="000054"/>
        </a:dk2>
        <a:lt2>
          <a:srgbClr val="FFFFFF"/>
        </a:lt2>
        <a:accent1>
          <a:srgbClr val="3333FF"/>
        </a:accent1>
        <a:accent2>
          <a:srgbClr val="006699"/>
        </a:accent2>
        <a:accent3>
          <a:srgbClr val="AAAAB3"/>
        </a:accent3>
        <a:accent4>
          <a:srgbClr val="DADADA"/>
        </a:accent4>
        <a:accent5>
          <a:srgbClr val="ADADFF"/>
        </a:accent5>
        <a:accent6>
          <a:srgbClr val="005C8A"/>
        </a:accent6>
        <a:hlink>
          <a:srgbClr val="669900"/>
        </a:hlink>
        <a:folHlink>
          <a:srgbClr val="0000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Network 6">
        <a:dk1>
          <a:srgbClr val="808080"/>
        </a:dk1>
        <a:lt1>
          <a:srgbClr val="FFFFFF"/>
        </a:lt1>
        <a:dk2>
          <a:srgbClr val="30054B"/>
        </a:dk2>
        <a:lt2>
          <a:srgbClr val="FFFFFF"/>
        </a:lt2>
        <a:accent1>
          <a:srgbClr val="797B9B"/>
        </a:accent1>
        <a:accent2>
          <a:srgbClr val="6B4FB1"/>
        </a:accent2>
        <a:accent3>
          <a:srgbClr val="ADAAB1"/>
        </a:accent3>
        <a:accent4>
          <a:srgbClr val="DADADA"/>
        </a:accent4>
        <a:accent5>
          <a:srgbClr val="BEBFCB"/>
        </a:accent5>
        <a:accent6>
          <a:srgbClr val="6047A0"/>
        </a:accent6>
        <a:hlink>
          <a:srgbClr val="7AACCE"/>
        </a:hlink>
        <a:folHlink>
          <a:srgbClr val="D8D8E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Network 7">
        <a:dk1>
          <a:srgbClr val="808080"/>
        </a:dk1>
        <a:lt1>
          <a:srgbClr val="FFFFCC"/>
        </a:lt1>
        <a:dk2>
          <a:srgbClr val="29527B"/>
        </a:dk2>
        <a:lt2>
          <a:srgbClr val="FFFFFF"/>
        </a:lt2>
        <a:accent1>
          <a:srgbClr val="CCCC00"/>
        </a:accent1>
        <a:accent2>
          <a:srgbClr val="669999"/>
        </a:accent2>
        <a:accent3>
          <a:srgbClr val="ACB3BF"/>
        </a:accent3>
        <a:accent4>
          <a:srgbClr val="DADAAE"/>
        </a:accent4>
        <a:accent5>
          <a:srgbClr val="E2E2AA"/>
        </a:accent5>
        <a:accent6>
          <a:srgbClr val="5C8A8A"/>
        </a:accent6>
        <a:hlink>
          <a:srgbClr val="D8D8EC"/>
        </a:hlink>
        <a:folHlink>
          <a:srgbClr val="B2B2B2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Network 8">
        <a:dk1>
          <a:srgbClr val="666699"/>
        </a:dk1>
        <a:lt1>
          <a:srgbClr val="FFFFFF"/>
        </a:lt1>
        <a:dk2>
          <a:srgbClr val="476949"/>
        </a:dk2>
        <a:lt2>
          <a:srgbClr val="FFFFFF"/>
        </a:lt2>
        <a:accent1>
          <a:srgbClr val="CC6600"/>
        </a:accent1>
        <a:accent2>
          <a:srgbClr val="CC9900"/>
        </a:accent2>
        <a:accent3>
          <a:srgbClr val="B1B9B1"/>
        </a:accent3>
        <a:accent4>
          <a:srgbClr val="DADADA"/>
        </a:accent4>
        <a:accent5>
          <a:srgbClr val="E2B8AA"/>
        </a:accent5>
        <a:accent6>
          <a:srgbClr val="B98A00"/>
        </a:accent6>
        <a:hlink>
          <a:srgbClr val="669900"/>
        </a:hlink>
        <a:folHlink>
          <a:srgbClr val="A452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Network 9">
        <a:dk1>
          <a:srgbClr val="000000"/>
        </a:dk1>
        <a:lt1>
          <a:srgbClr val="FFFFFF"/>
        </a:lt1>
        <a:dk2>
          <a:srgbClr val="7C1302"/>
        </a:dk2>
        <a:lt2>
          <a:srgbClr val="CC9900"/>
        </a:lt2>
        <a:accent1>
          <a:srgbClr val="CC9900"/>
        </a:accent1>
        <a:accent2>
          <a:srgbClr val="CC3300"/>
        </a:accent2>
        <a:accent3>
          <a:srgbClr val="FFFFFF"/>
        </a:accent3>
        <a:accent4>
          <a:srgbClr val="000000"/>
        </a:accent4>
        <a:accent5>
          <a:srgbClr val="E2CAAA"/>
        </a:accent5>
        <a:accent6>
          <a:srgbClr val="B92D00"/>
        </a:accent6>
        <a:hlink>
          <a:srgbClr val="808080"/>
        </a:hlink>
        <a:folHlink>
          <a:srgbClr val="CC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Network 10">
        <a:dk1>
          <a:srgbClr val="000000"/>
        </a:dk1>
        <a:lt1>
          <a:srgbClr val="FFFFFF"/>
        </a:lt1>
        <a:dk2>
          <a:srgbClr val="330066"/>
        </a:dk2>
        <a:lt2>
          <a:srgbClr val="808080"/>
        </a:lt2>
        <a:accent1>
          <a:srgbClr val="CCCC00"/>
        </a:accent1>
        <a:accent2>
          <a:srgbClr val="669999"/>
        </a:accent2>
        <a:accent3>
          <a:srgbClr val="FFFFFF"/>
        </a:accent3>
        <a:accent4>
          <a:srgbClr val="000000"/>
        </a:accent4>
        <a:accent5>
          <a:srgbClr val="E2E2AA"/>
        </a:accent5>
        <a:accent6>
          <a:srgbClr val="5C8A8A"/>
        </a:accent6>
        <a:hlink>
          <a:srgbClr val="7E9CE8"/>
        </a:hlink>
        <a:folHlink>
          <a:srgbClr val="D8D8E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Network 11">
        <a:dk1>
          <a:srgbClr val="000000"/>
        </a:dk1>
        <a:lt1>
          <a:srgbClr val="FFFFFF"/>
        </a:lt1>
        <a:dk2>
          <a:srgbClr val="330066"/>
        </a:dk2>
        <a:lt2>
          <a:srgbClr val="808080"/>
        </a:lt2>
        <a:accent1>
          <a:srgbClr val="CCCC00"/>
        </a:accent1>
        <a:accent2>
          <a:srgbClr val="669999"/>
        </a:accent2>
        <a:accent3>
          <a:srgbClr val="FFFFFF"/>
        </a:accent3>
        <a:accent4>
          <a:srgbClr val="000000"/>
        </a:accent4>
        <a:accent5>
          <a:srgbClr val="E2E2AA"/>
        </a:accent5>
        <a:accent6>
          <a:srgbClr val="5C8A8A"/>
        </a:accent6>
        <a:hlink>
          <a:srgbClr val="7E9CE8"/>
        </a:hlink>
        <a:folHlink>
          <a:srgbClr val="66CC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Network 12">
        <a:dk1>
          <a:srgbClr val="000000"/>
        </a:dk1>
        <a:lt1>
          <a:srgbClr val="FFFFFF"/>
        </a:lt1>
        <a:dk2>
          <a:srgbClr val="330066"/>
        </a:dk2>
        <a:lt2>
          <a:srgbClr val="808080"/>
        </a:lt2>
        <a:accent1>
          <a:srgbClr val="CCCC00"/>
        </a:accent1>
        <a:accent2>
          <a:srgbClr val="669999"/>
        </a:accent2>
        <a:accent3>
          <a:srgbClr val="FFFFFF"/>
        </a:accent3>
        <a:accent4>
          <a:srgbClr val="000000"/>
        </a:accent4>
        <a:accent5>
          <a:srgbClr val="E2E2AA"/>
        </a:accent5>
        <a:accent6>
          <a:srgbClr val="5C8A8A"/>
        </a:accent6>
        <a:hlink>
          <a:srgbClr val="7E9CE8"/>
        </a:hlink>
        <a:folHlink>
          <a:srgbClr val="0000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Network 13">
        <a:dk1>
          <a:srgbClr val="000000"/>
        </a:dk1>
        <a:lt1>
          <a:srgbClr val="FFFFFF"/>
        </a:lt1>
        <a:dk2>
          <a:srgbClr val="330066"/>
        </a:dk2>
        <a:lt2>
          <a:srgbClr val="808080"/>
        </a:lt2>
        <a:accent1>
          <a:srgbClr val="CCCC00"/>
        </a:accent1>
        <a:accent2>
          <a:srgbClr val="669999"/>
        </a:accent2>
        <a:accent3>
          <a:srgbClr val="FFFFFF"/>
        </a:accent3>
        <a:accent4>
          <a:srgbClr val="000000"/>
        </a:accent4>
        <a:accent5>
          <a:srgbClr val="E2E2AA"/>
        </a:accent5>
        <a:accent6>
          <a:srgbClr val="5C8A8A"/>
        </a:accent6>
        <a:hlink>
          <a:srgbClr val="0000FF"/>
        </a:hlink>
        <a:folHlink>
          <a:srgbClr val="0000FF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30598</TotalTime>
  <Words>9535</Words>
  <Application>Microsoft Office PowerPoint</Application>
  <PresentationFormat>宽屏</PresentationFormat>
  <Paragraphs>881</Paragraphs>
  <Slides>96</Slides>
  <Notes>38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96</vt:i4>
      </vt:variant>
    </vt:vector>
  </HeadingPairs>
  <TitlesOfParts>
    <vt:vector size="106" baseType="lpstr">
      <vt:lpstr>黑体</vt:lpstr>
      <vt:lpstr>楷体_GB2312</vt:lpstr>
      <vt:lpstr>宋体</vt:lpstr>
      <vt:lpstr>Arial</vt:lpstr>
      <vt:lpstr>Arial Narrow</vt:lpstr>
      <vt:lpstr>Times New Roman</vt:lpstr>
      <vt:lpstr>Verdana</vt:lpstr>
      <vt:lpstr>Wingdings</vt:lpstr>
      <vt:lpstr>Network</vt:lpstr>
      <vt:lpstr>2_Network</vt:lpstr>
      <vt:lpstr>    第6章       </vt:lpstr>
      <vt:lpstr>本章内容</vt:lpstr>
      <vt:lpstr>PowerPoint 演示文稿</vt:lpstr>
      <vt:lpstr>PowerPoint 演示文稿</vt:lpstr>
      <vt:lpstr>6.1 文本编辑器vim</vt:lpstr>
      <vt:lpstr>PowerPoint 演示文稿</vt:lpstr>
      <vt:lpstr>命令行模式</vt:lpstr>
      <vt:lpstr>PowerPoint 演示文稿</vt:lpstr>
      <vt:lpstr>文本输入模式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末行常用命令</vt:lpstr>
      <vt:lpstr>末行常用命令</vt:lpstr>
      <vt:lpstr>末行常用命令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函数断点</vt:lpstr>
      <vt:lpstr>PowerPoint 演示文稿</vt:lpstr>
      <vt:lpstr>GDB调试器</vt:lpstr>
      <vt:lpstr>PowerPoint 演示文稿</vt:lpstr>
      <vt:lpstr>GDB调试器</vt:lpstr>
      <vt:lpstr>PowerPoint 演示文稿</vt:lpstr>
      <vt:lpstr>GDB调试</vt:lpstr>
      <vt:lpstr>GDB调试</vt:lpstr>
      <vt:lpstr>GDB调试</vt:lpstr>
      <vt:lpstr>GDB调试</vt:lpstr>
      <vt:lpstr>GDB调试</vt:lpstr>
      <vt:lpstr>GDB调试</vt:lpstr>
      <vt:lpstr>GDB调试</vt:lpstr>
      <vt:lpstr>GDB调试</vt:lpstr>
      <vt:lpstr>GDB调试</vt:lpstr>
      <vt:lpstr>PowerPoint 演示文稿</vt:lpstr>
      <vt:lpstr>PowerPoint 演示文稿</vt:lpstr>
      <vt:lpstr>Makefile文件</vt:lpstr>
      <vt:lpstr>Makefile文件</vt:lpstr>
      <vt:lpstr>Makefile文件</vt:lpstr>
      <vt:lpstr>Makefile文件格式</vt:lpstr>
      <vt:lpstr>PowerPoint 演示文稿</vt:lpstr>
      <vt:lpstr>Make命令</vt:lpstr>
      <vt:lpstr>PowerPoint 演示文稿</vt:lpstr>
      <vt:lpstr>编写Makefile文件</vt:lpstr>
      <vt:lpstr>Make的用法</vt:lpstr>
      <vt:lpstr>make的执行过程</vt:lpstr>
      <vt:lpstr>make的执行过程</vt:lpstr>
      <vt:lpstr>Makefile中的变量 </vt:lpstr>
      <vt:lpstr>Makefile中的变量 </vt:lpstr>
      <vt:lpstr>定义变量</vt:lpstr>
      <vt:lpstr>Makefile中的变量 </vt:lpstr>
      <vt:lpstr>特殊变量</vt:lpstr>
      <vt:lpstr>Makefile的隐含规则 </vt:lpstr>
      <vt:lpstr>Makefile的隐含规则 </vt:lpstr>
      <vt:lpstr>Makefile的变量替换</vt:lpstr>
      <vt:lpstr>Makefile练习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计算机应用技术基础</dc:title>
  <dc:creator>李群</dc:creator>
  <cp:lastModifiedBy>liqun</cp:lastModifiedBy>
  <cp:revision>2569</cp:revision>
  <dcterms:created xsi:type="dcterms:W3CDTF">2007-09-10T04:44:13Z</dcterms:created>
  <dcterms:modified xsi:type="dcterms:W3CDTF">2024-10-15T03:36:47Z</dcterms:modified>
</cp:coreProperties>
</file>