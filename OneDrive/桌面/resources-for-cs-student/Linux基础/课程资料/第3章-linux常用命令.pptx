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  <p:sldMasterId id="2147483695" r:id="rId2"/>
    <p:sldMasterId id="2147483761" r:id="rId3"/>
  </p:sldMasterIdLst>
  <p:notesMasterIdLst>
    <p:notesMasterId r:id="rId100"/>
  </p:notesMasterIdLst>
  <p:handoutMasterIdLst>
    <p:handoutMasterId r:id="rId101"/>
  </p:handoutMasterIdLst>
  <p:sldIdLst>
    <p:sldId id="764" r:id="rId4"/>
    <p:sldId id="483" r:id="rId5"/>
    <p:sldId id="595" r:id="rId6"/>
    <p:sldId id="622" r:id="rId7"/>
    <p:sldId id="484" r:id="rId8"/>
    <p:sldId id="624" r:id="rId9"/>
    <p:sldId id="572" r:id="rId10"/>
    <p:sldId id="671" r:id="rId11"/>
    <p:sldId id="761" r:id="rId12"/>
    <p:sldId id="598" r:id="rId13"/>
    <p:sldId id="601" r:id="rId14"/>
    <p:sldId id="762" r:id="rId15"/>
    <p:sldId id="574" r:id="rId16"/>
    <p:sldId id="602" r:id="rId17"/>
    <p:sldId id="703" r:id="rId18"/>
    <p:sldId id="705" r:id="rId19"/>
    <p:sldId id="740" r:id="rId20"/>
    <p:sldId id="706" r:id="rId21"/>
    <p:sldId id="646" r:id="rId22"/>
    <p:sldId id="739" r:id="rId23"/>
    <p:sldId id="647" r:id="rId24"/>
    <p:sldId id="648" r:id="rId25"/>
    <p:sldId id="649" r:id="rId26"/>
    <p:sldId id="650" r:id="rId27"/>
    <p:sldId id="670" r:id="rId28"/>
    <p:sldId id="709" r:id="rId29"/>
    <p:sldId id="710" r:id="rId30"/>
    <p:sldId id="711" r:id="rId31"/>
    <p:sldId id="651" r:id="rId32"/>
    <p:sldId id="741" r:id="rId33"/>
    <p:sldId id="669" r:id="rId34"/>
    <p:sldId id="652" r:id="rId35"/>
    <p:sldId id="653" r:id="rId36"/>
    <p:sldId id="654" r:id="rId37"/>
    <p:sldId id="655" r:id="rId38"/>
    <p:sldId id="656" r:id="rId39"/>
    <p:sldId id="657" r:id="rId40"/>
    <p:sldId id="658" r:id="rId41"/>
    <p:sldId id="659" r:id="rId42"/>
    <p:sldId id="660" r:id="rId43"/>
    <p:sldId id="661" r:id="rId44"/>
    <p:sldId id="666" r:id="rId45"/>
    <p:sldId id="716" r:id="rId46"/>
    <p:sldId id="765" r:id="rId47"/>
    <p:sldId id="718" r:id="rId48"/>
    <p:sldId id="672" r:id="rId49"/>
    <p:sldId id="763" r:id="rId50"/>
    <p:sldId id="738" r:id="rId51"/>
    <p:sldId id="627" r:id="rId52"/>
    <p:sldId id="742" r:id="rId53"/>
    <p:sldId id="751" r:id="rId54"/>
    <p:sldId id="724" r:id="rId55"/>
    <p:sldId id="720" r:id="rId56"/>
    <p:sldId id="662" r:id="rId57"/>
    <p:sldId id="707" r:id="rId58"/>
    <p:sldId id="713" r:id="rId59"/>
    <p:sldId id="664" r:id="rId60"/>
    <p:sldId id="715" r:id="rId61"/>
    <p:sldId id="714" r:id="rId62"/>
    <p:sldId id="743" r:id="rId63"/>
    <p:sldId id="752" r:id="rId64"/>
    <p:sldId id="744" r:id="rId65"/>
    <p:sldId id="749" r:id="rId66"/>
    <p:sldId id="757" r:id="rId67"/>
    <p:sldId id="756" r:id="rId68"/>
    <p:sldId id="759" r:id="rId69"/>
    <p:sldId id="760" r:id="rId70"/>
    <p:sldId id="758" r:id="rId71"/>
    <p:sldId id="754" r:id="rId72"/>
    <p:sldId id="755" r:id="rId73"/>
    <p:sldId id="753" r:id="rId74"/>
    <p:sldId id="750" r:id="rId75"/>
    <p:sldId id="726" r:id="rId76"/>
    <p:sldId id="727" r:id="rId77"/>
    <p:sldId id="728" r:id="rId78"/>
    <p:sldId id="729" r:id="rId79"/>
    <p:sldId id="631" r:id="rId80"/>
    <p:sldId id="745" r:id="rId81"/>
    <p:sldId id="732" r:id="rId82"/>
    <p:sldId id="746" r:id="rId83"/>
    <p:sldId id="632" r:id="rId84"/>
    <p:sldId id="633" r:id="rId85"/>
    <p:sldId id="634" r:id="rId86"/>
    <p:sldId id="635" r:id="rId87"/>
    <p:sldId id="636" r:id="rId88"/>
    <p:sldId id="733" r:id="rId89"/>
    <p:sldId id="637" r:id="rId90"/>
    <p:sldId id="735" r:id="rId91"/>
    <p:sldId id="734" r:id="rId92"/>
    <p:sldId id="638" r:id="rId93"/>
    <p:sldId id="747" r:id="rId94"/>
    <p:sldId id="639" r:id="rId95"/>
    <p:sldId id="640" r:id="rId96"/>
    <p:sldId id="641" r:id="rId97"/>
    <p:sldId id="645" r:id="rId98"/>
    <p:sldId id="626" r:id="rId99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0000CC"/>
    <a:srgbClr val="0000FF"/>
    <a:srgbClr val="CCECFF"/>
    <a:srgbClr val="FF3300"/>
    <a:srgbClr val="6699FF"/>
    <a:srgbClr val="00FFFF"/>
    <a:srgbClr val="33CC33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75034" autoAdjust="0"/>
  </p:normalViewPr>
  <p:slideViewPr>
    <p:cSldViewPr>
      <p:cViewPr>
        <p:scale>
          <a:sx n="50" d="100"/>
          <a:sy n="50" d="100"/>
        </p:scale>
        <p:origin x="1060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9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90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4B9BB-6DE8-4551-91B0-1D212BA0667C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79E54-6977-419B-BC40-D913703F14B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045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470E5E1-4843-4932-A191-9860DB39C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97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通常在</a:t>
            </a:r>
            <a:r>
              <a:rPr lang="en-US" altLang="zh-CN"/>
              <a:t>linux</a:t>
            </a:r>
            <a:r>
              <a:rPr lang="zh-CN" altLang="en-US"/>
              <a:t>系统加载运行时</a:t>
            </a:r>
            <a:r>
              <a:rPr lang="en-US" altLang="zh-CN"/>
              <a:t>shell</a:t>
            </a:r>
            <a:r>
              <a:rPr lang="zh-CN" altLang="en-US"/>
              <a:t>就被加载并驻留在系统内存中，其执行速度比外部命令快。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05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实用程序的功能通常都比较强大，所以其包含的程序量也会很大，在系统加载时并不随系统一起被加载到内存中，而是在需要时才将其调用内存。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363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默认的时间单位是分钟。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220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20A96435-FC45-4893-9262-821AB0465E16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rgbClr val="0000CC"/>
                </a:solidFill>
              </a:rPr>
              <a:t>date  -d  </a:t>
            </a:r>
            <a:r>
              <a:rPr lang="zh-CN" altLang="en-US" sz="1200" dirty="0">
                <a:solidFill>
                  <a:srgbClr val="0000CC"/>
                </a:solidFill>
              </a:rPr>
              <a:t>“ </a:t>
            </a:r>
            <a:r>
              <a:rPr lang="en-US" altLang="zh-CN" sz="1200" dirty="0">
                <a:solidFill>
                  <a:srgbClr val="0000CC"/>
                </a:solidFill>
              </a:rPr>
              <a:t>-3 minutes</a:t>
            </a:r>
            <a:r>
              <a:rPr lang="zh-CN" altLang="en-US" sz="1200" dirty="0">
                <a:solidFill>
                  <a:srgbClr val="0000CC"/>
                </a:solidFill>
              </a:rPr>
              <a:t>”</a:t>
            </a:r>
            <a:r>
              <a:rPr lang="en-US" altLang="zh-CN" sz="1200" dirty="0">
                <a:solidFill>
                  <a:srgbClr val="0000CC"/>
                </a:solidFill>
              </a:rPr>
              <a:t>  </a:t>
            </a:r>
            <a:r>
              <a:rPr lang="zh-CN" altLang="en-US" sz="1200" dirty="0">
                <a:solidFill>
                  <a:srgbClr val="0000CC"/>
                </a:solidFill>
              </a:rPr>
              <a:t>单引号和双引号都可以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059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-j </a:t>
            </a:r>
            <a:r>
              <a:rPr lang="zh-CN" altLang="en-US" dirty="0"/>
              <a:t>输出儒略日，</a:t>
            </a:r>
            <a:r>
              <a:rPr lang="zh-CN" altLang="en-US" baseline="0" dirty="0"/>
              <a:t>显示在当年中的第几天（一年日期按天算，从</a:t>
            </a:r>
            <a:r>
              <a:rPr lang="en-US" altLang="zh-CN" baseline="0" dirty="0"/>
              <a:t>1</a:t>
            </a:r>
            <a:r>
              <a:rPr lang="zh-CN" altLang="en-US" baseline="0" dirty="0"/>
              <a:t>月</a:t>
            </a:r>
            <a:r>
              <a:rPr lang="en-US" altLang="zh-CN" baseline="0" dirty="0"/>
              <a:t>1</a:t>
            </a:r>
            <a:r>
              <a:rPr lang="zh-CN" altLang="en-US" baseline="0" dirty="0"/>
              <a:t>号算起，默认显示当前月在一年中的天数）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184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605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一般</a:t>
            </a:r>
            <a:r>
              <a:rPr lang="en-US" altLang="zh-CN"/>
              <a:t>man</a:t>
            </a:r>
            <a:r>
              <a:rPr lang="zh-CN" altLang="en-US"/>
              <a:t>命令显示的帮助信息要更加丰富，它比命令的</a:t>
            </a:r>
            <a:r>
              <a:rPr lang="en-US" altLang="zh-CN"/>
              <a:t>help</a:t>
            </a:r>
            <a:r>
              <a:rPr lang="zh-CN" altLang="en-US"/>
              <a:t>选项多了命令的用法示例、命令的描述等内容。</a:t>
            </a:r>
            <a:endParaRPr lang="en-US" altLang="zh-CN"/>
          </a:p>
          <a:p>
            <a:r>
              <a:rPr lang="zh-CN" altLang="en-US"/>
              <a:t>还有一个区别是</a:t>
            </a:r>
            <a:r>
              <a:rPr lang="en-US" altLang="zh-CN"/>
              <a:t>man</a:t>
            </a:r>
            <a:r>
              <a:rPr lang="zh-CN" altLang="en-US"/>
              <a:t>命令显示的内容来自于磁盘上的</a:t>
            </a:r>
            <a:r>
              <a:rPr lang="en-US" altLang="zh-CN"/>
              <a:t>man</a:t>
            </a:r>
            <a:r>
              <a:rPr lang="zh-CN" altLang="en-US"/>
              <a:t>手册页文件，如果删除了某个手册页文件时</a:t>
            </a:r>
            <a:r>
              <a:rPr lang="en-US" altLang="zh-CN"/>
              <a:t>man</a:t>
            </a:r>
            <a:r>
              <a:rPr lang="zh-CN" altLang="en-US"/>
              <a:t>就无法显示了，而命令的</a:t>
            </a:r>
            <a:r>
              <a:rPr lang="en-US" altLang="zh-CN"/>
              <a:t>help</a:t>
            </a:r>
            <a:r>
              <a:rPr lang="zh-CN" altLang="en-US"/>
              <a:t>选项是大部分命令本身内置的功能，只要系统上有这个命令，执行</a:t>
            </a:r>
            <a:r>
              <a:rPr lang="en-US" altLang="zh-CN"/>
              <a:t>help</a:t>
            </a:r>
            <a:r>
              <a:rPr lang="zh-CN" altLang="en-US"/>
              <a:t>选项就能够显示。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47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pwd</a:t>
            </a:r>
            <a:r>
              <a:rPr lang="en-US" altLang="zh-CN" dirty="0"/>
              <a:t>(print working directory)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929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cd(change directory)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092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ls(list)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192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cat(concatenate)</a:t>
            </a:r>
          </a:p>
          <a:p>
            <a:r>
              <a:rPr lang="zh-CN" altLang="en-US" dirty="0"/>
              <a:t>可同时查看多个文件的内容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505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56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r>
              <a:rPr lang="en-US" altLang="zh-CN" dirty="0"/>
              <a:t>more</a:t>
            </a:r>
            <a:r>
              <a:rPr lang="zh-CN" altLang="en-US" dirty="0"/>
              <a:t>命令的</a:t>
            </a:r>
            <a:r>
              <a:rPr lang="en-US" altLang="zh-CN" dirty="0"/>
              <a:t>-n</a:t>
            </a:r>
            <a:r>
              <a:rPr lang="zh-CN" altLang="en-US" dirty="0"/>
              <a:t>参数和</a:t>
            </a:r>
            <a:r>
              <a:rPr lang="en-US" altLang="zh-CN" dirty="0"/>
              <a:t>cat</a:t>
            </a:r>
            <a:r>
              <a:rPr lang="zh-CN" altLang="en-US" dirty="0"/>
              <a:t>命令的</a:t>
            </a:r>
            <a:r>
              <a:rPr lang="en-US" altLang="zh-CN" dirty="0"/>
              <a:t>-n</a:t>
            </a:r>
            <a:r>
              <a:rPr lang="zh-CN" altLang="en-US"/>
              <a:t>参数用法不一样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4032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6541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7FB29A7-16AD-4069-A9AE-5B47B8558769}" type="slidenum">
              <a:rPr lang="en-US" altLang="zh-CN">
                <a:latin typeface="Arial" pitchFamily="34" charset="0"/>
              </a:rPr>
              <a:pPr eaLnBrk="1" hangingPunct="1"/>
              <a:t>35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>
                <a:solidFill>
                  <a:srgbClr val="0000CC"/>
                </a:solidFill>
                <a:latin typeface="+mn-ea"/>
              </a:rPr>
              <a:t>mkdir</a:t>
            </a:r>
            <a:r>
              <a:rPr lang="en-US" altLang="zh-CN" sz="1200" dirty="0">
                <a:solidFill>
                  <a:srgbClr val="0000CC"/>
                </a:solidFill>
                <a:latin typeface="+mn-ea"/>
              </a:rPr>
              <a:t>(make directory)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0055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rmdir(remove directory)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604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rm(remove)</a:t>
            </a:r>
          </a:p>
          <a:p>
            <a:r>
              <a:rPr lang="en-US" altLang="zh-CN" dirty="0"/>
              <a:t>-f </a:t>
            </a:r>
            <a:r>
              <a:rPr lang="zh-CN" altLang="en-US" dirty="0"/>
              <a:t>是个危险的选项，使用的时候一定要保持头脑清晰，一般情况下最好不用加上它。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782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D6886C2B-50DF-4115-BE51-ABC8DE99DA7E}" type="slidenum">
              <a:rPr lang="en-US" altLang="zh-CN">
                <a:latin typeface="Arial" pitchFamily="34" charset="0"/>
              </a:rPr>
              <a:pPr eaLnBrk="1" hangingPunct="1"/>
              <a:t>39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-f </a:t>
            </a:r>
            <a:r>
              <a:rPr lang="zh-CN" altLang="en-US" dirty="0"/>
              <a:t>是个危险的选项，使用的时候一定要保持头脑清晰，一般情况下最好不用加上它。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003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13FDCCD9-EE38-4F0B-B502-B1E430C42F33}" type="slidenum">
              <a:rPr lang="en-US" altLang="zh-CN">
                <a:latin typeface="Arial" pitchFamily="34" charset="0"/>
              </a:rPr>
              <a:pPr eaLnBrk="1" hangingPunct="1"/>
              <a:t>41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68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访问时间：读一次文件的内容，这个时间就会更新。比如</a:t>
            </a:r>
            <a:r>
              <a:rPr lang="en-US" altLang="zh-CN" dirty="0"/>
              <a:t>more</a:t>
            </a:r>
            <a:r>
              <a:rPr lang="zh-CN" altLang="en-US" dirty="0"/>
              <a:t>、</a:t>
            </a:r>
            <a:r>
              <a:rPr lang="en-US" altLang="zh-CN" dirty="0"/>
              <a:t>cat</a:t>
            </a:r>
            <a:r>
              <a:rPr lang="zh-CN" altLang="en-US" dirty="0"/>
              <a:t>等命令。</a:t>
            </a:r>
            <a:r>
              <a:rPr lang="en-US" altLang="zh-CN" dirty="0"/>
              <a:t>ls</a:t>
            </a:r>
            <a:r>
              <a:rPr lang="zh-CN" altLang="en-US" dirty="0"/>
              <a:t>、</a:t>
            </a:r>
            <a:r>
              <a:rPr lang="en-US" altLang="zh-CN" dirty="0"/>
              <a:t>stat</a:t>
            </a:r>
            <a:r>
              <a:rPr lang="zh-CN" altLang="en-US" dirty="0"/>
              <a:t>命令不会修改</a:t>
            </a:r>
            <a:r>
              <a:rPr lang="en-US" altLang="zh-CN" dirty="0" err="1"/>
              <a:t>atime</a:t>
            </a:r>
            <a:endParaRPr lang="en-US" altLang="zh-CN" dirty="0"/>
          </a:p>
          <a:p>
            <a:r>
              <a:rPr lang="zh-CN" altLang="en-US" dirty="0"/>
              <a:t>修改时间：修改时间是文件内容最后一次被修改的时间。比如：</a:t>
            </a:r>
            <a:r>
              <a:rPr lang="en-US" altLang="zh-CN" dirty="0"/>
              <a:t>vim</a:t>
            </a:r>
            <a:r>
              <a:rPr lang="zh-CN" altLang="en-US" dirty="0"/>
              <a:t>操作后保存文件。</a:t>
            </a:r>
            <a:r>
              <a:rPr lang="en-US" altLang="zh-CN" dirty="0"/>
              <a:t>ls -l</a:t>
            </a:r>
            <a:r>
              <a:rPr lang="zh-CN" altLang="en-US" dirty="0"/>
              <a:t>列出的就是这个时间。</a:t>
            </a:r>
          </a:p>
          <a:p>
            <a:r>
              <a:rPr lang="zh-CN" altLang="en-US" dirty="0"/>
              <a:t>状态改动时间。是该文件的</a:t>
            </a:r>
            <a:r>
              <a:rPr lang="en-US" altLang="zh-CN" dirty="0" err="1"/>
              <a:t>inode</a:t>
            </a:r>
            <a:r>
              <a:rPr lang="zh-CN" altLang="en-US" dirty="0"/>
              <a:t>节点最后一次被修改的时间，通过</a:t>
            </a:r>
            <a:r>
              <a:rPr lang="en-US" altLang="zh-CN" dirty="0"/>
              <a:t>chmod</a:t>
            </a:r>
            <a:r>
              <a:rPr lang="zh-CN" altLang="en-US" dirty="0"/>
              <a:t>、</a:t>
            </a:r>
            <a:r>
              <a:rPr lang="en-US" altLang="zh-CN" dirty="0" err="1"/>
              <a:t>chown</a:t>
            </a:r>
            <a:r>
              <a:rPr lang="zh-CN" altLang="en-US" dirty="0"/>
              <a:t>命令修改一次文件属性，这个时间就会更新。</a:t>
            </a:r>
          </a:p>
          <a:p>
            <a:endParaRPr lang="en-US" altLang="zh-CN" dirty="0"/>
          </a:p>
          <a:p>
            <a:r>
              <a:rPr lang="zh-CN" altLang="en-US" dirty="0"/>
              <a:t>修改时间戳，改动的是最近访问时间和最近更改时间两个时间的值。</a:t>
            </a:r>
            <a:endParaRPr lang="en-US" altLang="zh-CN" dirty="0"/>
          </a:p>
          <a:p>
            <a:r>
              <a:rPr lang="en-US" altLang="zh-CN" dirty="0"/>
              <a:t>touch </a:t>
            </a:r>
            <a:r>
              <a:rPr lang="zh-CN" altLang="en-US" dirty="0"/>
              <a:t>命令更新文件的三个时间。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stat</a:t>
            </a:r>
            <a:r>
              <a:rPr lang="zh-CN" altLang="en-US" dirty="0"/>
              <a:t>查看该文件的三个时间戳。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6180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590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注意，</a:t>
            </a:r>
            <a:r>
              <a:rPr lang="en-US" altLang="zh-CN" sz="1200" dirty="0" err="1"/>
              <a:t>ug+w,o-w</a:t>
            </a:r>
            <a:r>
              <a:rPr lang="zh-CN" altLang="en-US" sz="1200" dirty="0"/>
              <a:t>，逗号的前后不能有空格</a:t>
            </a:r>
            <a:r>
              <a:rPr lang="en-US" altLang="zh-CN" sz="1200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310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数字表示法，如果不指定任何权限的话，就要补</a:t>
            </a:r>
            <a:r>
              <a:rPr lang="en-US" altLang="zh-CN"/>
              <a:t>0</a:t>
            </a:r>
            <a:r>
              <a:rPr lang="zh-CN" altLang="en-US"/>
              <a:t>！</a:t>
            </a:r>
            <a:endParaRPr lang="en-US" altLang="zh-CN"/>
          </a:p>
          <a:p>
            <a:r>
              <a:rPr lang="zh-CN" altLang="en-US"/>
              <a:t>范例：     </a:t>
            </a:r>
          </a:p>
          <a:p>
            <a:r>
              <a:rPr lang="zh-CN" altLang="en-US"/>
              <a:t>    </a:t>
            </a:r>
            <a:r>
              <a:rPr lang="en-US" altLang="zh-CN"/>
              <a:t>-rwx-------chmod 700 file1     </a:t>
            </a:r>
          </a:p>
          <a:p>
            <a:r>
              <a:rPr lang="zh-CN" altLang="en-US"/>
              <a:t>指定用户本人对</a:t>
            </a:r>
            <a:r>
              <a:rPr lang="en-US" altLang="zh-CN"/>
              <a:t>file1</a:t>
            </a:r>
            <a:r>
              <a:rPr lang="zh-CN" altLang="en-US"/>
              <a:t>的权限是可读，可写，可执行；      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/>
              <a:t>-rw-------  chmod 600 file1     </a:t>
            </a:r>
          </a:p>
          <a:p>
            <a:r>
              <a:rPr lang="zh-CN" altLang="en-US"/>
              <a:t>指定用户本人对</a:t>
            </a:r>
            <a:r>
              <a:rPr lang="en-US" altLang="zh-CN"/>
              <a:t>file1</a:t>
            </a:r>
            <a:r>
              <a:rPr lang="zh-CN" altLang="en-US"/>
              <a:t>的权限是可读，可写；    </a:t>
            </a:r>
            <a:br>
              <a:rPr lang="zh-CN" altLang="en-US"/>
            </a:br>
            <a:r>
              <a:rPr lang="en-US" altLang="zh-CN"/>
              <a:t>-rwxrwxrwx         chmod 777 file1 </a:t>
            </a:r>
          </a:p>
          <a:p>
            <a:r>
              <a:rPr lang="zh-CN" altLang="en-US"/>
              <a:t>指定所有用户对</a:t>
            </a:r>
            <a:r>
              <a:rPr lang="en-US" altLang="zh-CN"/>
              <a:t>file1</a:t>
            </a:r>
            <a:r>
              <a:rPr lang="zh-CN" altLang="en-US"/>
              <a:t>的权限是可读，可写，可执行。 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953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这里的双引号可以省略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371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Wc(word count)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linux</a:t>
            </a:r>
            <a:r>
              <a:rPr lang="zh-CN" altLang="en-US" dirty="0"/>
              <a:t>系统“一切皆文件”，大家都能轻松使用</a:t>
            </a:r>
            <a:r>
              <a:rPr lang="en-US" altLang="zh-CN" dirty="0"/>
              <a:t>windows</a:t>
            </a:r>
            <a:r>
              <a:rPr lang="zh-CN" altLang="en-US" dirty="0"/>
              <a:t>下的文件查找功能，对</a:t>
            </a:r>
            <a:r>
              <a:rPr lang="en-US" altLang="zh-CN" dirty="0" err="1"/>
              <a:t>linux</a:t>
            </a:r>
            <a:r>
              <a:rPr lang="zh-CN" altLang="en-US" dirty="0"/>
              <a:t>这一功能要牢牢掌握这个命令，</a:t>
            </a:r>
            <a:r>
              <a:rPr lang="en-US" altLang="zh-CN" dirty="0" err="1"/>
              <a:t>linux</a:t>
            </a:r>
            <a:r>
              <a:rPr lang="zh-CN" altLang="en-US" dirty="0"/>
              <a:t>不像</a:t>
            </a:r>
            <a:r>
              <a:rPr lang="en-US" altLang="zh-CN" dirty="0"/>
              <a:t>windows</a:t>
            </a:r>
            <a:r>
              <a:rPr lang="zh-CN" altLang="en-US" dirty="0"/>
              <a:t>那样有固定的文件名后缀。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55753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permission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8610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A4FDAEA-67A2-4E6F-95B6-2553A8B24B40}" type="slidenum">
              <a:rPr lang="en-US" altLang="zh-CN">
                <a:latin typeface="Arial" pitchFamily="34" charset="0"/>
              </a:rPr>
              <a:pPr eaLnBrk="1" hangingPunct="1"/>
              <a:t>57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itchFamily="34" charset="0"/>
              </a:rPr>
              <a:t>grep</a:t>
            </a:r>
            <a:r>
              <a:rPr lang="zh-CN" altLang="en-US" dirty="0">
                <a:latin typeface="Arial" pitchFamily="34" charset="0"/>
              </a:rPr>
              <a:t>全称是</a:t>
            </a:r>
            <a:r>
              <a:rPr lang="en-US" altLang="zh-CN" dirty="0">
                <a:latin typeface="Arial" pitchFamily="34" charset="0"/>
              </a:rPr>
              <a:t>Global Regular Expression Print</a:t>
            </a:r>
            <a:r>
              <a:rPr lang="zh-CN" altLang="en-US" dirty="0">
                <a:latin typeface="Arial" pitchFamily="34" charset="0"/>
              </a:rPr>
              <a:t>，表示全局正则表达式版本，它的使用权限是所有用户。</a:t>
            </a:r>
            <a:endParaRPr lang="en-US" altLang="zh-CN" dirty="0">
              <a:latin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强大的文本搜索工具</a:t>
            </a:r>
            <a:endParaRPr lang="zh-CN" altLang="zh-CN" dirty="0">
              <a:latin typeface="Arial" pitchFamily="34" charset="0"/>
            </a:endParaRPr>
          </a:p>
          <a:p>
            <a:pPr eaLnBrk="1" hangingPunct="1"/>
            <a:endParaRPr lang="zh-CN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085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A4FDAEA-67A2-4E6F-95B6-2553A8B24B40}" type="slidenum">
              <a:rPr lang="en-US" altLang="zh-CN">
                <a:latin typeface="Arial" pitchFamily="34" charset="0"/>
              </a:rPr>
              <a:pPr eaLnBrk="1" hangingPunct="1"/>
              <a:t>58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itchFamily="34" charset="0"/>
              </a:rPr>
              <a:t>grep</a:t>
            </a:r>
            <a:r>
              <a:rPr lang="zh-CN" altLang="en-US" dirty="0">
                <a:latin typeface="Arial" pitchFamily="34" charset="0"/>
              </a:rPr>
              <a:t>全称是</a:t>
            </a:r>
            <a:r>
              <a:rPr lang="en-US" altLang="zh-CN" dirty="0">
                <a:latin typeface="Arial" pitchFamily="34" charset="0"/>
              </a:rPr>
              <a:t>Global Regular Expression Print</a:t>
            </a:r>
            <a:r>
              <a:rPr lang="zh-CN" altLang="en-US" dirty="0">
                <a:latin typeface="Arial" pitchFamily="34" charset="0"/>
              </a:rPr>
              <a:t>，表示全局正则表达式版本，它的使用权限是所有用户。</a:t>
            </a:r>
            <a:endParaRPr lang="zh-CN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1737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8A4FDAEA-67A2-4E6F-95B6-2553A8B24B40}" type="slidenum">
              <a:rPr lang="en-US" altLang="zh-CN">
                <a:latin typeface="Arial" pitchFamily="34" charset="0"/>
              </a:rPr>
              <a:pPr eaLnBrk="1" hangingPunct="1"/>
              <a:t>59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0425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locate(locate) </a:t>
            </a:r>
            <a:r>
              <a:rPr lang="zh-CN" altLang="en-US" dirty="0"/>
              <a:t>命令用来查找文件或目录。 </a:t>
            </a:r>
            <a:r>
              <a:rPr lang="en-US" altLang="zh-CN" dirty="0"/>
              <a:t>locate</a:t>
            </a:r>
            <a:r>
              <a:rPr lang="zh-CN" altLang="en-US" dirty="0"/>
              <a:t>命令比</a:t>
            </a:r>
            <a:r>
              <a:rPr lang="en-US" altLang="zh-CN" dirty="0"/>
              <a:t>find</a:t>
            </a:r>
            <a:r>
              <a:rPr lang="zh-CN" altLang="en-US" dirty="0"/>
              <a:t>命令要快一些，</a:t>
            </a:r>
            <a:r>
              <a:rPr lang="en-US" altLang="zh-CN" dirty="0"/>
              <a:t>find</a:t>
            </a:r>
            <a:r>
              <a:rPr lang="zh-CN" altLang="en-US" dirty="0"/>
              <a:t>命令是进行全域搜索，</a:t>
            </a:r>
            <a:r>
              <a:rPr lang="en-US" altLang="zh-CN" dirty="0"/>
              <a:t>locate</a:t>
            </a:r>
            <a:r>
              <a:rPr lang="zh-CN" altLang="en-US" dirty="0"/>
              <a:t>命令是搜索一个数据库</a:t>
            </a:r>
            <a:r>
              <a:rPr lang="en-US" altLang="zh-CN" dirty="0"/>
              <a:t>/var/lib/</a:t>
            </a:r>
            <a:r>
              <a:rPr lang="en-US" altLang="zh-CN" dirty="0" err="1"/>
              <a:t>mlocate</a:t>
            </a:r>
            <a:r>
              <a:rPr lang="en-US" altLang="zh-CN" dirty="0"/>
              <a:t>/</a:t>
            </a:r>
            <a:r>
              <a:rPr lang="en-US" altLang="zh-CN" dirty="0" err="1"/>
              <a:t>mlocate.db</a:t>
            </a:r>
            <a:r>
              <a:rPr lang="en-US" altLang="zh-CN" dirty="0"/>
              <a:t> </a:t>
            </a:r>
            <a:r>
              <a:rPr lang="zh-CN" altLang="en-US" dirty="0"/>
              <a:t>。这个数据库中含有本地所有文件信息。</a:t>
            </a:r>
            <a:r>
              <a:rPr lang="en-US" altLang="zh-CN" dirty="0"/>
              <a:t>Linux</a:t>
            </a:r>
            <a:r>
              <a:rPr lang="zh-CN" altLang="en-US" dirty="0"/>
              <a:t>系统自动创建这个数据库，并且每天自动更新一次，因此，我们在用</a:t>
            </a:r>
            <a:r>
              <a:rPr lang="en-US" altLang="zh-CN" dirty="0" err="1"/>
              <a:t>whereis</a:t>
            </a:r>
            <a:r>
              <a:rPr lang="zh-CN" altLang="en-US" dirty="0"/>
              <a:t>和</a:t>
            </a:r>
            <a:r>
              <a:rPr lang="en-US" altLang="zh-CN" dirty="0"/>
              <a:t>locate </a:t>
            </a:r>
            <a:r>
              <a:rPr lang="zh-CN" altLang="en-US" dirty="0"/>
              <a:t>查找文件时，有时会找到已经被删除的数据，或者刚刚建立文件，却无法查找到，原因就是因为数据库文件没有被更新。为了避免这种情况，可以在使用</a:t>
            </a:r>
            <a:r>
              <a:rPr lang="en-US" altLang="zh-CN" dirty="0"/>
              <a:t>locate</a:t>
            </a:r>
            <a:r>
              <a:rPr lang="zh-CN" altLang="en-US" dirty="0"/>
              <a:t>之前，先使用</a:t>
            </a:r>
            <a:r>
              <a:rPr lang="en-US" altLang="zh-CN" dirty="0" err="1"/>
              <a:t>updatedb</a:t>
            </a:r>
            <a:r>
              <a:rPr lang="zh-CN" altLang="en-US" dirty="0"/>
              <a:t>命令，手动更新数据库。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14963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Text Replacer</a:t>
            </a:r>
            <a:r>
              <a:rPr lang="zh-CN" altLang="en-US"/>
              <a:t>（文本替换）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16153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默认使用制表符分隔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7217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默认使用制表符分隔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5012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comm=common</a:t>
            </a:r>
            <a:r>
              <a:rPr lang="en-US" altLang="zh-CN" baseline="0"/>
              <a:t> cp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如果没有指定任何参数，则会把结果分成</a:t>
            </a:r>
            <a:r>
              <a:rPr lang="en-US" altLang="zh-CN"/>
              <a:t>3</a:t>
            </a:r>
            <a:r>
              <a:rPr lang="zh-CN" altLang="en-US"/>
              <a:t>行显示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41841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2385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6972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输入重定向如果与输出重定向相配合，则有更加强大的功能。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440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思考，如果执行“ </a:t>
            </a:r>
            <a:r>
              <a:rPr lang="en-US" altLang="zh-CN" dirty="0"/>
              <a:t>paste  f1 f2 &gt;f </a:t>
            </a:r>
            <a:r>
              <a:rPr lang="zh-CN" altLang="en-US" dirty="0"/>
              <a:t>”命令，结果怎么样？</a:t>
            </a:r>
            <a:endParaRPr lang="en-US" altLang="zh-CN" dirty="0"/>
          </a:p>
          <a:p>
            <a:r>
              <a:rPr lang="en-US" altLang="zh-CN" dirty="0"/>
              <a:t>This is a file named f1	This is a file named f2</a:t>
            </a:r>
          </a:p>
          <a:p>
            <a:endParaRPr lang="en-US" altLang="zh-CN" dirty="0"/>
          </a:p>
          <a:p>
            <a:r>
              <a:rPr lang="zh-CN" altLang="en-US" dirty="0"/>
              <a:t>如果需要合并成两行，应该如何处理 “ </a:t>
            </a:r>
            <a:r>
              <a:rPr lang="en-US" altLang="zh-CN" dirty="0"/>
              <a:t>paste –s f1 21”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49034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7600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由于大多数命令都以参数的形式在命令行上指定输入文件，所以输入重定向不常使用。但是，少数命令（如</a:t>
            </a:r>
            <a:r>
              <a:rPr lang="en-US" altLang="zh-CN"/>
              <a:t>patch</a:t>
            </a:r>
            <a:r>
              <a:rPr lang="zh-CN" altLang="en-US"/>
              <a:t>命令）不接受文件名作为参数，必须使用输入重定向。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9006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9006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9006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-l </a:t>
            </a:r>
            <a:r>
              <a:rPr lang="zh-CN" altLang="en-US"/>
              <a:t>统计行数。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838375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40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2C22AE-53F3-7C1D-4EDF-59835460F24E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18891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D84BFF5-8A30-6493-59F4-333E2619CEF8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02656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27848" y="5698332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871B5-850E-4E14-A636-3EC679EBF0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780DF04-7955-FF26-B465-B1218BFFBCB6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F4681-0EF9-4093-ADCE-209947C6A4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9D44704-02E6-A9A5-F0DA-3DA03EA9617C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4976" y="579120"/>
            <a:ext cx="9518848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DFE95-E975-478F-A645-7C4EB3F759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5EDF5C-B35B-F69B-84B9-3144E2C33A0A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65B35-C933-4A04-A71C-03F9021F5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1C8FE24-79A5-91DD-DED7-212C4253A7F2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6576" y="579808"/>
            <a:ext cx="9518848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0021-1471-4A19-B058-3F89A7DAB6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C9DB496-C052-88F0-AB39-741B66012CAC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C099A-6552-4724-AD39-B0EE2F003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9972385-22D5-1639-6F9C-F28E670A9B4E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CEEF5-A4E8-4B38-9B9A-645F7197A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078CE09-8DC7-D4E6-CD49-7822ACC201AC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40781A-A4F2-4A76-904B-091E0D892C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0AFEF2-13EF-2364-7EFA-0EF7A998E15A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8327" y="579120"/>
            <a:ext cx="9518848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C00A0-2C46-4087-9057-200FC475D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19B32CC-7FA2-CB7A-536A-94823BD4B83D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DF150-94D8-4D32-8C0D-14E986444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7677617-7885-D330-E2E0-FA1E3554E67C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5200" y="579120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23B1-0CB4-4C69-A1E8-9B75F5986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DA0CF63-648B-66CA-0628-6E632F4427CE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16" y="579120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F5EE4-F81D-4B65-813D-8973884A9E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FF0AFAB-F631-8A60-19EB-97146A7755A2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79808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4ACCD-D9C7-48A9-AF67-F346CBBA37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5CFC3BE-EEF5-0304-1B87-3129063F9864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199F4-F9C2-47F3-A9CF-C7E61E01A2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FC44D7-0BCC-A5EF-9225-A219837C9EB5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F5370-F617-452E-810F-51450643CF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2A26A-A11D-4C40-BEE9-C2540F454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50AA8-0700-402F-A230-C897B65B0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EC45F-5BC3-4AFD-AE53-C02A6CCE0A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8214C-F769-43E3-96E2-59F4E44E6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5DD36-B387-4528-8554-6653607938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3FD14-5D83-42E5-805D-56005BCDE0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D261-371C-478E-9D92-CC4BEDE0F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A5805-CF17-4D74-92E1-6F9D498D63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749024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733C3D4-D835-CFCC-8E05-AEAFC2163F19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1048" y="584836"/>
            <a:ext cx="10058400" cy="858837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27848" y="582168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871B5-850E-4E14-A636-3EC679EBF03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9668191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96DE24E-1EFA-0883-2224-618BE758C267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871864" y="581294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F4681-0EF9-4093-ADCE-209947C6A47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2744287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A7FCAD2-F1FD-4699-0A83-6436DA173A86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79120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502712" y="590232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699000" y="581294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DFE95-E975-478F-A645-7C4EB3F759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771096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7A1E0F-D069-3924-E635-0BFBC2F10FFF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70968" y="582168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65B35-C933-4A04-A71C-03F9021F5B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932792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03C7B01-EFB9-12DE-1A59-A0DE1CF64758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8551" y="579120"/>
            <a:ext cx="10058400" cy="85883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0021-1471-4A19-B058-3F89A7DAB6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718634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FA46408-9737-4BEC-D961-97A95798EC4E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871864" y="577230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C099A-6552-4724-AD39-B0EE2F003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654819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032D3C2-0440-378B-6C23-9B348826C29D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3548" y="73056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32733" y="581294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CEEF5-A4E8-4B38-9B9A-645F7197A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107142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96C572B-08F4-F616-F5D4-F8B407A94EC2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27848" y="594756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0781A-A4F2-4A76-904B-091E0D892C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381900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F0BB92F-0A94-E246-1FBF-63763BF5E5F0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701071"/>
            <a:ext cx="10058400" cy="85883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673600" y="5846287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C00A0-2C46-4087-9057-200FC475D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549412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5703CE2-1B99-71F8-B525-F9B66C54FF34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64600" y="579120"/>
            <a:ext cx="2743200" cy="563022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5176" y="747713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99856" y="5812949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DF150-94D8-4D32-8C0D-14E986444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007747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B2CD58D-8C7B-79BD-0E11-6829DE40E554}"/>
              </a:ext>
            </a:extLst>
          </p:cNvPr>
          <p:cNvSpPr/>
          <p:nvPr userDrawn="1"/>
        </p:nvSpPr>
        <p:spPr>
          <a:xfrm>
            <a:off x="533400" y="623412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687864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75200" y="5846287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023B1-0CB4-4C69-A1E8-9B75F5986A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3592788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5283C8D-1330-4025-C06A-4408D80BD2B4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3432" y="699453"/>
            <a:ext cx="10058400" cy="85883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699000" y="582168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F5EE4-F81D-4B65-813D-8973884A9E3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2027230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B20623C-2B25-8BC1-9DCD-13287E335A65}"/>
              </a:ext>
            </a:extLst>
          </p:cNvPr>
          <p:cNvSpPr/>
          <p:nvPr userDrawn="1"/>
        </p:nvSpPr>
        <p:spPr>
          <a:xfrm>
            <a:off x="685800" y="7315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B663CD-23FA-BCCE-175C-18BF36893F8D}"/>
              </a:ext>
            </a:extLst>
          </p:cNvPr>
          <p:cNvSpPr/>
          <p:nvPr userDrawn="1"/>
        </p:nvSpPr>
        <p:spPr>
          <a:xfrm>
            <a:off x="685800" y="7315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19310D-6CB6-FCF9-DB24-00FA2238B185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4ACCD-D9C7-48A9-AF67-F346CBBA37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E27388D-B0B2-0563-C975-BE949A0873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3390"/>
            <a:ext cx="12192000" cy="67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6948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05611" y="122239"/>
            <a:ext cx="9518848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05351" y="62404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F1DF145E-C5AF-4A14-B9F0-BF7FA6800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054" name="Group 9"/>
          <p:cNvGrpSpPr>
            <a:grpSpLocks/>
          </p:cNvGrpSpPr>
          <p:nvPr userDrawn="1"/>
        </p:nvGrpSpPr>
        <p:grpSpPr bwMode="auto">
          <a:xfrm>
            <a:off x="10801352" y="261939"/>
            <a:ext cx="1390649" cy="1185245"/>
            <a:chOff x="5136" y="960"/>
            <a:chExt cx="528" cy="864"/>
          </a:xfrm>
        </p:grpSpPr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64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65" name="Line 41"/>
          <p:cNvSpPr>
            <a:spLocks noChangeShapeType="1"/>
          </p:cNvSpPr>
          <p:nvPr userDrawn="1"/>
        </p:nvSpPr>
        <p:spPr bwMode="auto">
          <a:xfrm>
            <a:off x="10703984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C3B0DB-2E6D-EBCC-E9A0-F8A3F563E9C4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570382"/>
            <a:ext cx="100584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05351" y="62404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49D54238-E30E-46E7-B70F-7CD955956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60" r:id="rId8"/>
    <p:sldLayoutId id="2147483742" r:id="rId9"/>
    <p:sldLayoutId id="2147483743" r:id="rId10"/>
    <p:sldLayoutId id="2147483744" r:id="rId11"/>
    <p:sldLayoutId id="214748374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98551" y="297656"/>
            <a:ext cx="100584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05351" y="62404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F1DF145E-C5AF-4A14-B9F0-BF7FA6800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72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92338" y="692696"/>
            <a:ext cx="6911975" cy="1846262"/>
          </a:xfrm>
        </p:spPr>
        <p:txBody>
          <a:bodyPr/>
          <a:lstStyle/>
          <a:p>
            <a:pPr algn="ctr" eaLnBrk="1" hangingPunct="1"/>
            <a:r>
              <a:rPr lang="zh-CN" altLang="en-US" sz="6600" dirty="0">
                <a:solidFill>
                  <a:srgbClr val="000000"/>
                </a:solidFill>
              </a:rPr>
              <a:t>第</a:t>
            </a:r>
            <a:r>
              <a:rPr lang="en-US" altLang="zh-CN" sz="6600" dirty="0">
                <a:solidFill>
                  <a:srgbClr val="000000"/>
                </a:solidFill>
              </a:rPr>
              <a:t>3</a:t>
            </a:r>
            <a:r>
              <a:rPr lang="zh-CN" altLang="en-US" sz="6600" dirty="0">
                <a:solidFill>
                  <a:srgbClr val="000000"/>
                </a:solidFill>
              </a:rPr>
              <a:t>章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5400" y="3094287"/>
            <a:ext cx="8784976" cy="2449512"/>
          </a:xfrm>
        </p:spPr>
        <p:txBody>
          <a:bodyPr/>
          <a:lstStyle/>
          <a:p>
            <a:pPr algn="ctr" eaLnBrk="1" hangingPunct="1"/>
            <a:r>
              <a:rPr lang="en-US" altLang="zh-CN" sz="6600" dirty="0">
                <a:solidFill>
                  <a:schemeClr val="bg1"/>
                </a:solidFill>
              </a:rPr>
              <a:t>    Linux</a:t>
            </a:r>
            <a:r>
              <a:rPr lang="zh-CN" altLang="en-US" sz="6600" dirty="0">
                <a:solidFill>
                  <a:schemeClr val="bg1"/>
                </a:solidFill>
              </a:rPr>
              <a:t>常用命令统</a:t>
            </a:r>
            <a:endParaRPr lang="en-US" altLang="zh-CN" sz="66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/>
            <a:endParaRPr lang="en-US" altLang="zh-CN" sz="3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7165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979699A-D1AA-0A9A-03B5-29FEE3159FC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56086"/>
            <a:ext cx="9865096" cy="44211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Shell</a:t>
            </a:r>
            <a:r>
              <a:rPr lang="zh-CN" altLang="en-US" dirty="0">
                <a:latin typeface="宋体" pitchFamily="2" charset="-122"/>
              </a:rPr>
              <a:t>命令简介</a:t>
            </a:r>
            <a:endParaRPr lang="en-US" altLang="zh-CN" dirty="0"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itchFamily="2" charset="-122"/>
              </a:rPr>
              <a:t>管理文件和目录的</a:t>
            </a:r>
            <a:r>
              <a:rPr lang="en-US" altLang="zh-CN" dirty="0"/>
              <a:t>Shell</a:t>
            </a:r>
            <a:r>
              <a:rPr lang="zh-CN" altLang="en-US" dirty="0">
                <a:latin typeface="宋体" pitchFamily="2" charset="-122"/>
              </a:rPr>
              <a:t>命令</a:t>
            </a:r>
            <a:endParaRPr lang="en-US" altLang="zh-CN" dirty="0"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宋体" pitchFamily="2" charset="-122"/>
              </a:rPr>
              <a:t>文本处理的</a:t>
            </a:r>
            <a:r>
              <a:rPr lang="en-US" altLang="zh-CN" sz="3200" dirty="0"/>
              <a:t>Shell</a:t>
            </a:r>
            <a:r>
              <a:rPr lang="zh-CN" altLang="en-US" sz="3200" dirty="0">
                <a:latin typeface="宋体" pitchFamily="2" charset="-122"/>
              </a:rPr>
              <a:t>命令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itchFamily="2" charset="-122"/>
              </a:rPr>
              <a:t>重定向和管道命令符</a:t>
            </a:r>
            <a:endParaRPr lang="zh-CN" altLang="en-US" b="1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551308"/>
            <a:ext cx="8208912" cy="85883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本章内容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39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9A272DD-DF85-D326-97B5-CB5E78B6A07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79576" y="437733"/>
            <a:ext cx="7632848" cy="858837"/>
          </a:xfrm>
        </p:spPr>
        <p:txBody>
          <a:bodyPr/>
          <a:lstStyle/>
          <a:p>
            <a:r>
              <a:rPr lang="en-US" altLang="zh-CN" dirty="0">
                <a:cs typeface="Arial" pitchFamily="34" charset="0"/>
              </a:rPr>
              <a:t>3.1 Shell</a:t>
            </a:r>
            <a:r>
              <a:rPr lang="zh-CN" altLang="en-US" dirty="0">
                <a:ea typeface="黑体" pitchFamily="49" charset="-122"/>
              </a:rPr>
              <a:t>命令简介</a:t>
            </a:r>
            <a:endParaRPr lang="zh-CN" altLang="en-US" dirty="0">
              <a:cs typeface="Arial" pitchFamily="34" charset="0"/>
            </a:endParaRP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81696" y="1296570"/>
            <a:ext cx="9937104" cy="4752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>
                <a:latin typeface="宋体" pitchFamily="2" charset="-122"/>
              </a:rPr>
              <a:t>可以执行的命令分为两大类</a:t>
            </a:r>
            <a:endParaRPr lang="en-US" altLang="zh-CN" sz="2600" dirty="0">
              <a:latin typeface="宋体" pitchFamily="2" charset="-122"/>
            </a:endParaRPr>
          </a:p>
          <a:p>
            <a:pPr lvl="1" indent="-342900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宋体" pitchFamily="2" charset="-122"/>
              </a:rPr>
              <a:t>内置命令</a:t>
            </a:r>
            <a:endParaRPr lang="en-US" altLang="zh-CN" dirty="0">
              <a:solidFill>
                <a:srgbClr val="0000CC"/>
              </a:solidFill>
              <a:latin typeface="宋体" pitchFamily="2" charset="-122"/>
            </a:endParaRPr>
          </a:p>
          <a:p>
            <a:pPr lvl="1" indent="-342900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宋体" pitchFamily="2" charset="-122"/>
              </a:rPr>
              <a:t>实用程序</a:t>
            </a:r>
            <a:endParaRPr lang="zh-CN" altLang="en-US" dirty="0">
              <a:latin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内置命令</a:t>
            </a:r>
            <a:r>
              <a:rPr lang="zh-CN" altLang="en-US" sz="2600" dirty="0">
                <a:latin typeface="宋体" pitchFamily="2" charset="-122"/>
              </a:rPr>
              <a:t>：为提高执行效率，将一部分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最常用命令</a:t>
            </a:r>
            <a:r>
              <a:rPr lang="zh-CN" altLang="en-US" sz="2600" dirty="0">
                <a:latin typeface="宋体" pitchFamily="2" charset="-122"/>
              </a:rPr>
              <a:t>的解释器构置于</a:t>
            </a:r>
            <a:r>
              <a:rPr lang="en-US" altLang="zh-CN" sz="2600" dirty="0"/>
              <a:t>shell</a:t>
            </a:r>
            <a:r>
              <a:rPr lang="zh-CN" altLang="en-US" sz="2600" dirty="0">
                <a:latin typeface="宋体" pitchFamily="2" charset="-122"/>
              </a:rPr>
              <a:t>内部，这些命令由</a:t>
            </a:r>
            <a:r>
              <a:rPr lang="en-US" altLang="zh-CN" sz="2600" dirty="0">
                <a:latin typeface="宋体" pitchFamily="2" charset="-122"/>
              </a:rPr>
              <a:t>shell</a:t>
            </a:r>
            <a:r>
              <a:rPr lang="zh-CN" altLang="en-US" sz="2600" dirty="0">
                <a:latin typeface="宋体" pitchFamily="2" charset="-122"/>
              </a:rPr>
              <a:t>程序识别，并在</a:t>
            </a:r>
            <a:r>
              <a:rPr lang="en-US" altLang="zh-CN" sz="2600" dirty="0">
                <a:latin typeface="宋体" pitchFamily="2" charset="-122"/>
              </a:rPr>
              <a:t>shell</a:t>
            </a:r>
            <a:r>
              <a:rPr lang="zh-CN" altLang="en-US" sz="2600" dirty="0">
                <a:latin typeface="宋体" pitchFamily="2" charset="-122"/>
              </a:rPr>
              <a:t>程序内部完成运行，其执行速度比外部命令快，因为解析内部命令</a:t>
            </a:r>
            <a:r>
              <a:rPr lang="en-US" altLang="zh-CN" sz="2600" dirty="0">
                <a:latin typeface="宋体" pitchFamily="2" charset="-122"/>
              </a:rPr>
              <a:t>shell</a:t>
            </a:r>
            <a:r>
              <a:rPr lang="zh-CN" altLang="en-US" sz="2600" dirty="0">
                <a:latin typeface="宋体" pitchFamily="2" charset="-122"/>
              </a:rPr>
              <a:t>不需要创建子进程。</a:t>
            </a:r>
          </a:p>
          <a:p>
            <a:pPr lvl="1"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sz="2000" dirty="0"/>
          </a:p>
          <a:p>
            <a:pPr algn="just"/>
            <a:endParaRPr lang="zh-CN" altLang="en-US" dirty="0">
              <a:ea typeface="方正魏碑简体" charset="-122"/>
            </a:endParaRPr>
          </a:p>
          <a:p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52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52B57D-7C15-A507-A3D2-367F2C6D18E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1544" y="632858"/>
            <a:ext cx="7632848" cy="858837"/>
          </a:xfrm>
        </p:spPr>
        <p:txBody>
          <a:bodyPr/>
          <a:lstStyle/>
          <a:p>
            <a:r>
              <a:rPr lang="en-US" altLang="zh-CN" dirty="0">
                <a:cs typeface="Arial" pitchFamily="34" charset="0"/>
              </a:rPr>
              <a:t>Shell</a:t>
            </a:r>
            <a:r>
              <a:rPr lang="zh-CN" altLang="en-US" dirty="0">
                <a:ea typeface="黑体" pitchFamily="49" charset="-122"/>
              </a:rPr>
              <a:t>命令</a:t>
            </a:r>
            <a:endParaRPr lang="zh-CN" altLang="en-US" dirty="0">
              <a:cs typeface="Arial" pitchFamily="34" charset="0"/>
            </a:endParaRP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556792"/>
            <a:ext cx="9793088" cy="42648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外部命令</a:t>
            </a:r>
            <a:r>
              <a:rPr lang="zh-CN" altLang="en-US" sz="2600" dirty="0">
                <a:latin typeface="宋体" pitchFamily="2" charset="-122"/>
              </a:rPr>
              <a:t>是</a:t>
            </a:r>
            <a:r>
              <a:rPr lang="en-US" altLang="zh-CN" sz="2600" dirty="0" err="1">
                <a:latin typeface="宋体" pitchFamily="2" charset="-122"/>
              </a:rPr>
              <a:t>linux</a:t>
            </a:r>
            <a:r>
              <a:rPr lang="zh-CN" altLang="en-US" sz="2600" dirty="0">
                <a:latin typeface="宋体" pitchFamily="2" charset="-122"/>
              </a:rPr>
              <a:t>系统中的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实用程序部分，</a:t>
            </a:r>
            <a:r>
              <a:rPr lang="zh-CN" altLang="en-US" sz="2600" dirty="0">
                <a:latin typeface="宋体" pitchFamily="2" charset="-122"/>
              </a:rPr>
              <a:t>实用程序又分为：</a:t>
            </a:r>
          </a:p>
          <a:p>
            <a:pPr lvl="2">
              <a:lnSpc>
                <a:spcPct val="120000"/>
              </a:lnSpc>
            </a:pPr>
            <a:r>
              <a:rPr lang="zh-CN" altLang="en-US" sz="2600" dirty="0"/>
              <a:t> </a:t>
            </a:r>
            <a:r>
              <a:rPr lang="en-US" altLang="zh-CN" sz="2600" dirty="0"/>
              <a:t>Linux</a:t>
            </a:r>
            <a:r>
              <a:rPr lang="zh-CN" altLang="en-US" sz="2600" dirty="0"/>
              <a:t>程序：</a:t>
            </a:r>
            <a:r>
              <a:rPr lang="en-US" altLang="zh-CN" sz="2600" dirty="0"/>
              <a:t>Linux</a:t>
            </a:r>
            <a:r>
              <a:rPr lang="zh-CN" altLang="en-US" sz="2600" dirty="0"/>
              <a:t>自带的命令，位于</a:t>
            </a:r>
            <a:r>
              <a:rPr lang="en-US" altLang="zh-CN" sz="2600" dirty="0"/>
              <a:t>/bin</a:t>
            </a:r>
            <a:r>
              <a:rPr lang="zh-CN" altLang="en-US" sz="2600" dirty="0"/>
              <a:t>和</a:t>
            </a:r>
            <a:r>
              <a:rPr lang="en-US" altLang="zh-CN" sz="2600" dirty="0"/>
              <a:t>/</a:t>
            </a:r>
            <a:r>
              <a:rPr lang="en-US" altLang="zh-CN" sz="2600" dirty="0" err="1"/>
              <a:t>sbin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lvl="2">
              <a:lnSpc>
                <a:spcPct val="120000"/>
              </a:lnSpc>
            </a:pPr>
            <a:r>
              <a:rPr lang="en-US" altLang="zh-CN" sz="2600" dirty="0"/>
              <a:t> </a:t>
            </a:r>
            <a:r>
              <a:rPr lang="zh-CN" altLang="en-US" sz="2600" dirty="0"/>
              <a:t>应用程序</a:t>
            </a:r>
            <a:r>
              <a:rPr lang="en-US" altLang="zh-CN" sz="2600" dirty="0"/>
              <a:t>:</a:t>
            </a:r>
            <a:r>
              <a:rPr lang="zh-CN" altLang="en-US" sz="2600" dirty="0"/>
              <a:t>位于</a:t>
            </a:r>
            <a:r>
              <a:rPr lang="en-US" altLang="zh-CN" sz="2600" dirty="0"/>
              <a:t>/</a:t>
            </a:r>
            <a:r>
              <a:rPr lang="en-US" altLang="zh-CN" sz="2600" dirty="0" err="1"/>
              <a:t>usr</a:t>
            </a:r>
            <a:r>
              <a:rPr lang="en-US" altLang="zh-CN" sz="2600" dirty="0"/>
              <a:t>/bin </a:t>
            </a:r>
            <a:r>
              <a:rPr lang="zh-CN" altLang="en-US" sz="2600" dirty="0"/>
              <a:t>和</a:t>
            </a:r>
            <a:r>
              <a:rPr lang="en-US" altLang="zh-CN" sz="2600" dirty="0"/>
              <a:t>/</a:t>
            </a:r>
            <a:r>
              <a:rPr lang="en-US" altLang="zh-CN" sz="2600" dirty="0" err="1"/>
              <a:t>usr</a:t>
            </a:r>
            <a:r>
              <a:rPr lang="en-US" altLang="zh-CN" sz="2600" dirty="0"/>
              <a:t>/</a:t>
            </a:r>
            <a:r>
              <a:rPr lang="en-US" altLang="zh-CN" sz="2600" dirty="0" err="1"/>
              <a:t>sbin</a:t>
            </a:r>
            <a:r>
              <a:rPr lang="zh-CN" altLang="en-US" sz="2600" dirty="0"/>
              <a:t>等目录中的应用程序。</a:t>
            </a:r>
            <a:endParaRPr lang="en-US" altLang="zh-CN" sz="2600" dirty="0"/>
          </a:p>
          <a:p>
            <a:pPr lvl="2">
              <a:lnSpc>
                <a:spcPct val="120000"/>
              </a:lnSpc>
            </a:pPr>
            <a:r>
              <a:rPr lang="en-US" altLang="zh-CN" sz="2600" dirty="0"/>
              <a:t> Shell</a:t>
            </a:r>
            <a:r>
              <a:rPr lang="zh-CN" altLang="en-US" sz="2600" dirty="0"/>
              <a:t>脚本：</a:t>
            </a:r>
            <a:r>
              <a:rPr lang="en-US" altLang="zh-CN" sz="2600" dirty="0"/>
              <a:t>shell</a:t>
            </a:r>
            <a:r>
              <a:rPr lang="zh-CN" altLang="en-US" sz="2600" dirty="0"/>
              <a:t>语言编写的脚本程序。</a:t>
            </a:r>
          </a:p>
          <a:p>
            <a:pPr lvl="2">
              <a:lnSpc>
                <a:spcPct val="120000"/>
              </a:lnSpc>
            </a:pPr>
            <a:r>
              <a:rPr lang="zh-CN" altLang="en-US" sz="2600" dirty="0"/>
              <a:t>用户程序：用户编写的其他可执行程序。</a:t>
            </a:r>
          </a:p>
          <a:p>
            <a:pPr lvl="1"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sz="2000" dirty="0"/>
          </a:p>
          <a:p>
            <a:pPr algn="just"/>
            <a:endParaRPr lang="zh-CN" altLang="en-US" dirty="0">
              <a:ea typeface="方正魏碑简体" charset="-122"/>
            </a:endParaRPr>
          </a:p>
          <a:p>
            <a:endParaRPr lang="en-US" altLang="zh-CN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159896" y="5821680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126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D47701-6B92-5C9A-4EB2-D65CA24B3B8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06612" y="579120"/>
            <a:ext cx="7543800" cy="858837"/>
          </a:xfrm>
        </p:spPr>
        <p:txBody>
          <a:bodyPr/>
          <a:lstStyle/>
          <a:p>
            <a:pPr eaLnBrk="1" hangingPunct="1"/>
            <a:r>
              <a:rPr lang="en-US" altLang="zh-CN" dirty="0"/>
              <a:t>Shell</a:t>
            </a:r>
            <a:r>
              <a:rPr lang="zh-CN" altLang="en-US" dirty="0"/>
              <a:t>命令格式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9668" y="1374143"/>
            <a:ext cx="10441160" cy="4968552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Linux</a:t>
            </a:r>
            <a:r>
              <a:rPr lang="zh-CN" altLang="en-US" sz="2800" dirty="0"/>
              <a:t>中的命令格式一般为：</a:t>
            </a:r>
            <a:br>
              <a:rPr lang="zh-CN" altLang="en-US" sz="2800" dirty="0"/>
            </a:br>
            <a:r>
              <a:rPr lang="zh-CN" altLang="en-US" sz="2800" dirty="0"/>
              <a:t>	</a:t>
            </a:r>
            <a:r>
              <a:rPr lang="zh-CN" altLang="en-US" sz="2800" dirty="0">
                <a:solidFill>
                  <a:srgbClr val="0000CC"/>
                </a:solidFill>
              </a:rPr>
              <a:t>命令名  </a:t>
            </a:r>
            <a:r>
              <a:rPr lang="en-US" altLang="zh-CN" sz="2800" dirty="0">
                <a:solidFill>
                  <a:srgbClr val="0000CC"/>
                </a:solidFill>
              </a:rPr>
              <a:t>[</a:t>
            </a:r>
            <a:r>
              <a:rPr lang="zh-CN" altLang="en-US" sz="2800" dirty="0">
                <a:solidFill>
                  <a:srgbClr val="0000CC"/>
                </a:solidFill>
              </a:rPr>
              <a:t>选项</a:t>
            </a:r>
            <a:r>
              <a:rPr lang="en-US" altLang="zh-CN" sz="2800" dirty="0">
                <a:solidFill>
                  <a:srgbClr val="0000CC"/>
                </a:solidFill>
              </a:rPr>
              <a:t>]  [</a:t>
            </a:r>
            <a:r>
              <a:rPr lang="zh-CN" altLang="en-US" sz="2800" dirty="0">
                <a:solidFill>
                  <a:srgbClr val="0000CC"/>
                </a:solidFill>
              </a:rPr>
              <a:t>参数</a:t>
            </a:r>
            <a:r>
              <a:rPr lang="en-US" altLang="zh-CN" sz="2800" dirty="0">
                <a:solidFill>
                  <a:srgbClr val="0000CC"/>
                </a:solidFill>
              </a:rPr>
              <a:t>]    </a:t>
            </a:r>
            <a:r>
              <a:rPr lang="en-US" altLang="zh-CN" sz="2000" b="0" dirty="0">
                <a:solidFill>
                  <a:srgbClr val="0000CC"/>
                </a:solidFill>
                <a:sym typeface="Wingdings"/>
              </a:rPr>
              <a:t></a:t>
            </a:r>
            <a:endParaRPr lang="en-US" altLang="zh-CN" sz="2000" b="0" dirty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400" dirty="0"/>
              <a:t>命令名是描述该命令功能的英文单词或缩写。命令名必不可少；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选项是执行该命令的限定参数或功能参数。选项可以有多个，通常以“</a:t>
            </a:r>
            <a:r>
              <a:rPr lang="en-US" altLang="zh-CN" sz="2400" dirty="0">
                <a:solidFill>
                  <a:srgbClr val="CC0099"/>
                </a:solidFill>
              </a:rPr>
              <a:t>-</a:t>
            </a:r>
            <a:r>
              <a:rPr lang="en-US" altLang="zh-CN" sz="2400" dirty="0"/>
              <a:t>”</a:t>
            </a:r>
            <a:r>
              <a:rPr lang="zh-CN" altLang="en-US" sz="2400" dirty="0"/>
              <a:t>开头；例如：    </a:t>
            </a:r>
            <a:r>
              <a:rPr lang="en-US" altLang="zh-CN" sz="2400" dirty="0"/>
              <a:t>ls  -l   /home</a:t>
            </a:r>
            <a:endParaRPr lang="zh-CN" altLang="en-US" sz="2400" dirty="0"/>
          </a:p>
          <a:p>
            <a:pPr marL="644525" lvl="2" indent="0" eaLnBrk="1" hangingPunct="1">
              <a:buNone/>
            </a:pPr>
            <a:r>
              <a:rPr lang="zh-CN" altLang="en-US" sz="2400" dirty="0"/>
              <a:t>  如果有多个选项，既可以连在一起写，如</a:t>
            </a:r>
            <a:r>
              <a:rPr lang="en-US" altLang="zh-CN" sz="2400" dirty="0"/>
              <a:t>ls -al</a:t>
            </a:r>
            <a:r>
              <a:rPr lang="zh-CN" altLang="en-US" sz="2400" dirty="0"/>
              <a:t>，也可以分开写，</a:t>
            </a:r>
            <a:endParaRPr lang="en-US" altLang="zh-CN" sz="2400" dirty="0"/>
          </a:p>
          <a:p>
            <a:pPr marL="644525" lvl="2" indent="0" eaLnBrk="1" hangingPunct="1">
              <a:buNone/>
            </a:pPr>
            <a:r>
              <a:rPr lang="zh-CN" altLang="en-US" sz="2400" dirty="0"/>
              <a:t>如</a:t>
            </a:r>
            <a:r>
              <a:rPr lang="en-US" altLang="zh-CN" sz="2400" dirty="0"/>
              <a:t>ls -a -l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参数是执行该命令所必需的对象，如文件，目录等。根据命令的不同，参数可以有一个或多个，也可以没有。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“</a:t>
            </a:r>
            <a:r>
              <a:rPr lang="en-US" altLang="zh-CN" sz="2400" b="0" dirty="0">
                <a:solidFill>
                  <a:srgbClr val="0000CC"/>
                </a:solidFill>
                <a:sym typeface="Wingdings"/>
              </a:rPr>
              <a:t></a:t>
            </a:r>
            <a:r>
              <a:rPr lang="zh-CN" altLang="en-US" sz="2400" dirty="0">
                <a:sym typeface="Wingdings"/>
              </a:rPr>
              <a:t>”表示回车键，任何命令行都以回车键结束。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zh-CN" altLang="en-US" sz="24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45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1F6B05-1961-09D3-87F4-2C905E99BB0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78348" y="560740"/>
            <a:ext cx="7543800" cy="858837"/>
          </a:xfrm>
        </p:spPr>
        <p:txBody>
          <a:bodyPr/>
          <a:lstStyle/>
          <a:p>
            <a:pPr eaLnBrk="1" hangingPunct="1"/>
            <a:r>
              <a:rPr lang="en-US" altLang="zh-CN" dirty="0"/>
              <a:t>Shell</a:t>
            </a:r>
            <a:r>
              <a:rPr lang="zh-CN" altLang="en-US" dirty="0"/>
              <a:t>命令格式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3704" y="1376289"/>
            <a:ext cx="9793088" cy="4968552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700" dirty="0">
                <a:solidFill>
                  <a:srgbClr val="CC0099"/>
                </a:solidFill>
              </a:rPr>
              <a:t>注意</a:t>
            </a:r>
            <a:r>
              <a:rPr lang="zh-CN" altLang="en-US" sz="2700" dirty="0"/>
              <a:t>：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/>
              <a:t>Linux</a:t>
            </a:r>
            <a:r>
              <a:rPr lang="zh-CN" altLang="en-US" sz="2800" dirty="0"/>
              <a:t>系统</a:t>
            </a:r>
            <a:r>
              <a:rPr lang="zh-CN" altLang="en-US" sz="2800" dirty="0">
                <a:solidFill>
                  <a:srgbClr val="0000CC"/>
                </a:solidFill>
              </a:rPr>
              <a:t>严格区分英文字母的大小写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/>
              <a:t>命令名、选项、</a:t>
            </a:r>
            <a:r>
              <a:rPr lang="zh-CN" altLang="en-US" sz="2800" dirty="0">
                <a:solidFill>
                  <a:srgbClr val="CC0099"/>
                </a:solidFill>
              </a:rPr>
              <a:t>参数之间必须有空格</a:t>
            </a:r>
            <a:r>
              <a:rPr lang="zh-CN" altLang="en-US" sz="2800" dirty="0"/>
              <a:t>。</a:t>
            </a:r>
            <a:r>
              <a:rPr lang="en-US" altLang="zh-CN" sz="2800" dirty="0"/>
              <a:t>Shell</a:t>
            </a:r>
            <a:r>
              <a:rPr lang="zh-CN" altLang="en-US" sz="2800" dirty="0"/>
              <a:t>自动过滤多余的空格。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/>
              <a:t>一个命令行可以输入</a:t>
            </a:r>
            <a:r>
              <a:rPr lang="zh-CN" altLang="en-US" sz="2800" dirty="0">
                <a:solidFill>
                  <a:srgbClr val="0000CC"/>
                </a:solidFill>
              </a:rPr>
              <a:t>多个命令，之间用“；”分隔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/>
              <a:t>可以用上下箭头来上下翻动显示历史命令。</a:t>
            </a:r>
            <a:endParaRPr lang="zh-CN" altLang="en-US" sz="28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241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F2D007-95A0-247A-5079-723133549257}"/>
              </a:ext>
            </a:extLst>
          </p:cNvPr>
          <p:cNvSpPr/>
          <p:nvPr/>
        </p:nvSpPr>
        <p:spPr>
          <a:xfrm>
            <a:off x="335360" y="579120"/>
            <a:ext cx="1132324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黑体" pitchFamily="49" charset="-122"/>
              </a:rPr>
              <a:t>  </a:t>
            </a:r>
            <a:r>
              <a:rPr lang="zh-CN" altLang="en-US" sz="3600" dirty="0">
                <a:ea typeface="黑体" pitchFamily="49" charset="-122"/>
              </a:rPr>
              <a:t>常用</a:t>
            </a:r>
            <a:r>
              <a:rPr lang="en-US" altLang="zh-CN" sz="3600" dirty="0">
                <a:ea typeface="黑体" pitchFamily="49" charset="-122"/>
              </a:rPr>
              <a:t>Shell</a:t>
            </a:r>
            <a:r>
              <a:rPr lang="zh-CN" altLang="en-US" sz="3600" dirty="0">
                <a:ea typeface="黑体" pitchFamily="49" charset="-122"/>
              </a:rPr>
              <a:t>命令</a:t>
            </a:r>
            <a:endParaRPr lang="zh-CN" altLang="en-US" sz="3600" dirty="0">
              <a:cs typeface="Arial" pitchFamily="34" charset="0"/>
            </a:endParaRP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91444" y="1437957"/>
            <a:ext cx="10009112" cy="4414163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  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注销</a:t>
            </a:r>
          </a:p>
          <a:p>
            <a:pPr algn="just">
              <a:lnSpc>
                <a:spcPct val="115000"/>
              </a:lnSpc>
            </a:pPr>
            <a:r>
              <a:rPr lang="zh-CN" altLang="en-US" sz="2800" dirty="0"/>
              <a:t>注销即退出登录状态：“</a:t>
            </a:r>
            <a:r>
              <a:rPr lang="en-US" altLang="zh-CN" sz="2800" dirty="0">
                <a:solidFill>
                  <a:srgbClr val="0000CC"/>
                </a:solidFill>
              </a:rPr>
              <a:t>exit</a:t>
            </a:r>
            <a:r>
              <a:rPr lang="en-US" altLang="zh-CN" sz="2800" dirty="0"/>
              <a:t>”</a:t>
            </a:r>
            <a:r>
              <a:rPr lang="zh-CN" altLang="en-US" sz="2800" dirty="0"/>
              <a:t>命令或</a:t>
            </a:r>
            <a:r>
              <a:rPr lang="en-US" altLang="zh-CN" sz="2800" dirty="0" err="1">
                <a:solidFill>
                  <a:srgbClr val="0000CC"/>
                </a:solidFill>
              </a:rPr>
              <a:t>Ctrl+d</a:t>
            </a:r>
            <a:r>
              <a:rPr lang="zh-CN" altLang="en-US" sz="2800" dirty="0"/>
              <a:t>。</a:t>
            </a:r>
          </a:p>
          <a:p>
            <a:pPr algn="just">
              <a:lnSpc>
                <a:spcPct val="115000"/>
              </a:lnSpc>
            </a:pPr>
            <a:r>
              <a:rPr lang="zh-CN" altLang="en-US" sz="2800" dirty="0">
                <a:latin typeface="宋体" pitchFamily="2" charset="-122"/>
              </a:rPr>
              <a:t>当用户执行完各种操作后，就要及时退出系统，这是一个良好的习惯，即使是暂时离开机器也同样如此。</a:t>
            </a:r>
            <a:endParaRPr lang="en-US" altLang="zh-CN" sz="2800" dirty="0">
              <a:latin typeface="宋体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zh-CN" altLang="en-US" sz="2800" dirty="0">
                <a:latin typeface="宋体" pitchFamily="2" charset="-122"/>
              </a:rPr>
              <a:t>例如：</a:t>
            </a:r>
            <a:endParaRPr lang="en-US" altLang="zh-CN" sz="2800" dirty="0">
              <a:latin typeface="宋体" pitchFamily="2" charset="-122"/>
            </a:endParaRPr>
          </a:p>
          <a:p>
            <a:pPr marL="0" indent="-4763" algn="just">
              <a:lnSpc>
                <a:spcPct val="115000"/>
              </a:lnSpc>
              <a:buNone/>
            </a:pPr>
            <a:r>
              <a:rPr lang="zh-CN" altLang="en-US" sz="2800" dirty="0"/>
              <a:t>［</a:t>
            </a:r>
            <a:r>
              <a:rPr lang="en-US" altLang="zh-CN" sz="2800" dirty="0"/>
              <a:t>root@ localhost  ~</a:t>
            </a:r>
            <a:r>
              <a:rPr lang="zh-CN" altLang="en-US" sz="2800" dirty="0"/>
              <a:t>］ </a:t>
            </a:r>
            <a:r>
              <a:rPr lang="en-US" altLang="zh-CN" sz="2800" dirty="0"/>
              <a:t># exit</a:t>
            </a:r>
            <a:endParaRPr lang="en-US" altLang="zh-CN" sz="2800" dirty="0">
              <a:latin typeface="宋体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zh-CN" altLang="en-US" sz="2800" dirty="0">
                <a:latin typeface="宋体" pitchFamily="2" charset="-122"/>
              </a:rPr>
              <a:t>在提示符</a:t>
            </a:r>
            <a:r>
              <a:rPr lang="en-US" altLang="zh-CN" sz="2800" dirty="0"/>
              <a:t>#</a:t>
            </a:r>
            <a:r>
              <a:rPr lang="zh-CN" altLang="en-US" sz="2800" dirty="0">
                <a:latin typeface="宋体" pitchFamily="2" charset="-122"/>
              </a:rPr>
              <a:t>后键入命令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  <a:r>
              <a:rPr lang="zh-CN" altLang="en-US" sz="2800" dirty="0">
                <a:latin typeface="宋体" pitchFamily="2" charset="-122"/>
              </a:rPr>
              <a:t>后回车即可退出系统，重新出现</a:t>
            </a:r>
            <a:r>
              <a:rPr lang="en-US" altLang="zh-CN" sz="2800" dirty="0"/>
              <a:t>login</a:t>
            </a:r>
            <a:r>
              <a:rPr lang="zh-CN" altLang="en-US" sz="2800" dirty="0">
                <a:latin typeface="宋体" pitchFamily="2" charset="-122"/>
              </a:rPr>
              <a:t>提示符。一个用户注销不影响其他</a:t>
            </a:r>
            <a:r>
              <a:rPr lang="zh-CN" altLang="en-US" sz="2800" dirty="0"/>
              <a:t>登录</a:t>
            </a:r>
            <a:r>
              <a:rPr lang="zh-CN" altLang="en-US" sz="2800" dirty="0">
                <a:latin typeface="宋体" pitchFamily="2" charset="-122"/>
              </a:rPr>
              <a:t>用户的操作。</a:t>
            </a:r>
            <a:r>
              <a:rPr lang="zh-CN" altLang="en-US" sz="2800" dirty="0">
                <a:ea typeface="方正魏碑简体" charset="-122"/>
              </a:rPr>
              <a:t> 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4727848" y="5852120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26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24DDCB-83C0-D1AA-FC1B-A4291CC085D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ea typeface="黑体" pitchFamily="49" charset="-122"/>
              </a:rPr>
              <a:t>常用</a:t>
            </a:r>
            <a:r>
              <a:rPr lang="en-US" altLang="zh-CN" sz="3600">
                <a:ea typeface="黑体" pitchFamily="49" charset="-122"/>
              </a:rPr>
              <a:t>Shell</a:t>
            </a:r>
            <a:r>
              <a:rPr lang="zh-CN" altLang="en-US" sz="3600">
                <a:ea typeface="黑体" pitchFamily="49" charset="-122"/>
              </a:rPr>
              <a:t>命令</a:t>
            </a:r>
            <a:endParaRPr lang="zh-CN" altLang="en-US" sz="3600" dirty="0">
              <a:cs typeface="Arial" pitchFamily="34" charset="0"/>
            </a:endParaRP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31280" y="1437957"/>
            <a:ext cx="9937104" cy="426037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700" dirty="0">
                <a:solidFill>
                  <a:srgbClr val="0000CC"/>
                </a:solidFill>
                <a:latin typeface="+mn-ea"/>
              </a:rPr>
              <a:t>重启</a:t>
            </a:r>
          </a:p>
          <a:p>
            <a:pPr algn="just">
              <a:lnSpc>
                <a:spcPct val="150000"/>
              </a:lnSpc>
            </a:pPr>
            <a:r>
              <a:rPr lang="zh-CN" altLang="en-US" sz="2700" dirty="0"/>
              <a:t>有时在对系统的某一配置做了修改，或者安装了新的软件，需要重新启动才能使所做的修改生效，这时就要用到</a:t>
            </a:r>
            <a:r>
              <a:rPr lang="zh-CN" altLang="en-US" sz="2700" dirty="0">
                <a:solidFill>
                  <a:srgbClr val="CC0099"/>
                </a:solidFill>
              </a:rPr>
              <a:t>重新启动命令</a:t>
            </a:r>
            <a:r>
              <a:rPr lang="en-US" altLang="zh-CN" sz="2700" dirty="0">
                <a:solidFill>
                  <a:srgbClr val="CC0099"/>
                </a:solidFill>
              </a:rPr>
              <a:t>reboot</a:t>
            </a:r>
            <a:r>
              <a:rPr lang="zh-CN" altLang="en-US" sz="2700" dirty="0"/>
              <a:t>。</a:t>
            </a:r>
            <a:endParaRPr lang="en-US" altLang="zh-CN" sz="27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700" dirty="0"/>
              <a:t>例如：</a:t>
            </a:r>
            <a:endParaRPr lang="en-US" altLang="zh-CN" sz="2700" dirty="0"/>
          </a:p>
          <a:p>
            <a:pPr marL="344487" lvl="1" indent="0" algn="just">
              <a:lnSpc>
                <a:spcPct val="150000"/>
              </a:lnSpc>
              <a:buNone/>
            </a:pPr>
            <a:r>
              <a:rPr lang="zh-CN" altLang="en-US" sz="2800" dirty="0"/>
              <a:t>［</a:t>
            </a:r>
            <a:r>
              <a:rPr lang="en-US" altLang="zh-CN" sz="2800" dirty="0"/>
              <a:t>root@ localhost  ~</a:t>
            </a:r>
            <a:r>
              <a:rPr lang="zh-CN" altLang="en-US" sz="2800" dirty="0"/>
              <a:t>］</a:t>
            </a:r>
            <a:r>
              <a:rPr lang="en-US" altLang="zh-CN" sz="2700" dirty="0"/>
              <a:t># reboot </a:t>
            </a:r>
          </a:p>
          <a:p>
            <a:pPr marL="344487" lvl="1" indent="0" algn="just">
              <a:lnSpc>
                <a:spcPct val="115000"/>
              </a:lnSpc>
              <a:buNone/>
            </a:pPr>
            <a:endParaRPr lang="en-US" altLang="zh-CN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54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62EE6A-5BA9-A940-DA84-1140A6BECCD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ea typeface="黑体" pitchFamily="49" charset="-122"/>
              </a:rPr>
              <a:t>常用</a:t>
            </a:r>
            <a:r>
              <a:rPr lang="en-US" altLang="zh-CN" sz="3600">
                <a:ea typeface="黑体" pitchFamily="49" charset="-122"/>
              </a:rPr>
              <a:t>Shell</a:t>
            </a:r>
            <a:r>
              <a:rPr lang="zh-CN" altLang="en-US" sz="3600">
                <a:ea typeface="黑体" pitchFamily="49" charset="-122"/>
              </a:rPr>
              <a:t>命令</a:t>
            </a:r>
            <a:endParaRPr lang="zh-CN" altLang="en-US" sz="3600" dirty="0">
              <a:cs typeface="Arial" pitchFamily="34" charset="0"/>
            </a:endParaRP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052736"/>
            <a:ext cx="9937104" cy="5327650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zh-CN" altLang="en-US" sz="2700" dirty="0">
                <a:solidFill>
                  <a:srgbClr val="0000CC"/>
                </a:solidFill>
                <a:latin typeface="+mn-ea"/>
              </a:rPr>
              <a:t>重启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CC0099"/>
                </a:solidFill>
              </a:rPr>
              <a:t>shutdown </a:t>
            </a:r>
            <a:r>
              <a:rPr lang="zh-CN" altLang="en-US" sz="2600" dirty="0"/>
              <a:t>命令，需要超级用户的权限。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常用选项说明：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zh-CN" sz="2600" dirty="0"/>
              <a:t>-r   </a:t>
            </a:r>
            <a:r>
              <a:rPr lang="zh-CN" altLang="en-US" sz="2600" dirty="0"/>
              <a:t>关闭并重启动此计算机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例如：立刻重启计算机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</a:t>
            </a:r>
            <a:r>
              <a:rPr lang="en-US" altLang="zh-CN" sz="2600" dirty="0">
                <a:solidFill>
                  <a:srgbClr val="0000CC"/>
                </a:solidFill>
              </a:rPr>
              <a:t>shutdown  -r  now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例如：过</a:t>
            </a:r>
            <a:r>
              <a:rPr lang="en-US" altLang="zh-CN" sz="2600" dirty="0"/>
              <a:t>10</a:t>
            </a:r>
            <a:r>
              <a:rPr lang="zh-CN" altLang="en-US" sz="2600" dirty="0"/>
              <a:t>分钟自动重启计算机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</a:t>
            </a:r>
            <a:r>
              <a:rPr lang="en-US" altLang="zh-CN" sz="2600" dirty="0">
                <a:solidFill>
                  <a:srgbClr val="0000CC"/>
                </a:solidFill>
              </a:rPr>
              <a:t>shutdown  -r  10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例如：在时间为</a:t>
            </a:r>
            <a:r>
              <a:rPr lang="en-US" altLang="zh-CN" sz="2600" dirty="0"/>
              <a:t>20:30</a:t>
            </a:r>
            <a:r>
              <a:rPr lang="zh-CN" altLang="en-US" sz="2600" dirty="0"/>
              <a:t>的时候重启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</a:t>
            </a:r>
            <a:r>
              <a:rPr lang="en-US" altLang="zh-CN" sz="2600" dirty="0">
                <a:solidFill>
                  <a:srgbClr val="0000CC"/>
                </a:solidFill>
              </a:rPr>
              <a:t>shutdown -r  20:30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600" dirty="0"/>
              <a:t>说明：如果是通过</a:t>
            </a:r>
            <a:r>
              <a:rPr lang="en-US" altLang="zh-CN" sz="2600" dirty="0"/>
              <a:t>shutdown</a:t>
            </a:r>
            <a:r>
              <a:rPr lang="zh-CN" altLang="en-US" sz="2600" dirty="0"/>
              <a:t>命令设置重启的话，可以用</a:t>
            </a:r>
            <a:r>
              <a:rPr lang="en-US" altLang="zh-CN" sz="2600" dirty="0">
                <a:solidFill>
                  <a:srgbClr val="CC0099"/>
                </a:solidFill>
              </a:rPr>
              <a:t>shutdown -c</a:t>
            </a:r>
            <a:r>
              <a:rPr lang="zh-CN" altLang="en-US" sz="2600" dirty="0"/>
              <a:t>命令取消重启。</a:t>
            </a:r>
            <a:endParaRPr lang="en-US" altLang="zh-CN" sz="2600" dirty="0"/>
          </a:p>
          <a:p>
            <a:pPr marL="344487" lvl="1" indent="0" algn="just">
              <a:buNone/>
            </a:pPr>
            <a:endParaRPr lang="zh-CN" altLang="en-US" sz="2700" dirty="0"/>
          </a:p>
          <a:p>
            <a:pPr marL="344487" lvl="1" indent="0" algn="just">
              <a:lnSpc>
                <a:spcPct val="115000"/>
              </a:lnSpc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25351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275102-1FA8-CE22-F4BE-77C3A4A1A12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072506" y="573440"/>
            <a:ext cx="7543800" cy="858837"/>
          </a:xfrm>
        </p:spPr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常用</a:t>
            </a:r>
            <a:r>
              <a:rPr lang="en-US" altLang="zh-CN" sz="3600" dirty="0">
                <a:cs typeface="Arial" pitchFamily="34" charset="0"/>
              </a:rPr>
              <a:t>Shell</a:t>
            </a:r>
            <a:r>
              <a:rPr lang="zh-CN" altLang="en-US" sz="3600" dirty="0">
                <a:ea typeface="黑体" pitchFamily="49" charset="-122"/>
              </a:rPr>
              <a:t>命令</a:t>
            </a:r>
            <a:endParaRPr lang="zh-CN" altLang="en-US" sz="3600" dirty="0">
              <a:cs typeface="Arial" pitchFamily="34" charset="0"/>
            </a:endParaRP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09688" y="1432277"/>
            <a:ext cx="10081120" cy="4679578"/>
          </a:xfrm>
        </p:spPr>
        <p:txBody>
          <a:bodyPr/>
          <a:lstStyle/>
          <a:p>
            <a:pPr marL="0" indent="0" algn="just">
              <a:buNone/>
            </a:pPr>
            <a:r>
              <a:rPr lang="zh-CN" altLang="en-US" sz="2700" dirty="0">
                <a:solidFill>
                  <a:srgbClr val="0000CC"/>
                </a:solidFill>
                <a:latin typeface="+mn-ea"/>
              </a:rPr>
              <a:t>关机命令</a:t>
            </a:r>
            <a:r>
              <a:rPr lang="en-US" altLang="zh-CN" sz="2700" dirty="0">
                <a:solidFill>
                  <a:srgbClr val="0000CC"/>
                </a:solidFill>
              </a:rPr>
              <a:t>halt </a:t>
            </a:r>
            <a:endParaRPr lang="en-US" altLang="zh-CN" sz="2700" dirty="0">
              <a:latin typeface="+mn-ea"/>
            </a:endParaRPr>
          </a:p>
          <a:p>
            <a:pPr algn="just"/>
            <a:r>
              <a:rPr lang="zh-CN" altLang="en-US" sz="2700" dirty="0">
                <a:latin typeface="+mn-ea"/>
              </a:rPr>
              <a:t>当做完所有的工作要关闭系统时，切不可直接关掉电源，一定要首先执行关闭系统命令。命令如下：</a:t>
            </a:r>
            <a:endParaRPr lang="en-US" altLang="zh-CN" sz="2700" dirty="0">
              <a:latin typeface="+mn-ea"/>
            </a:endParaRPr>
          </a:p>
          <a:p>
            <a:pPr marL="0" indent="0" algn="just">
              <a:buNone/>
            </a:pPr>
            <a:r>
              <a:rPr lang="en-US" altLang="zh-CN" sz="2700" dirty="0">
                <a:latin typeface="+mn-ea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</a:rPr>
              <a:t>［</a:t>
            </a:r>
            <a:r>
              <a:rPr lang="en-US" altLang="zh-CN" sz="2800" dirty="0">
                <a:solidFill>
                  <a:srgbClr val="0000CC"/>
                </a:solidFill>
              </a:rPr>
              <a:t>root@ localhost  ~</a:t>
            </a:r>
            <a:r>
              <a:rPr lang="zh-CN" altLang="en-US" sz="2800" dirty="0">
                <a:solidFill>
                  <a:srgbClr val="0000CC"/>
                </a:solidFill>
              </a:rPr>
              <a:t>］</a:t>
            </a:r>
            <a:r>
              <a:rPr lang="en-US" altLang="zh-CN" sz="2700" dirty="0">
                <a:solidFill>
                  <a:srgbClr val="0000CC"/>
                </a:solidFill>
              </a:rPr>
              <a:t># halt </a:t>
            </a:r>
            <a:endParaRPr lang="en-US" altLang="zh-CN" sz="2700" dirty="0">
              <a:solidFill>
                <a:srgbClr val="0000CC"/>
              </a:solidFill>
              <a:latin typeface="+mn-ea"/>
            </a:endParaRPr>
          </a:p>
          <a:p>
            <a:pPr marL="0" indent="0" algn="just">
              <a:buNone/>
            </a:pPr>
            <a:r>
              <a:rPr lang="zh-CN" altLang="en-US" sz="2700" dirty="0">
                <a:latin typeface="宋体" pitchFamily="2" charset="-122"/>
              </a:rPr>
              <a:t> 或者</a:t>
            </a:r>
            <a:r>
              <a:rPr lang="zh-CN" altLang="en-US" sz="2700" dirty="0">
                <a:latin typeface="Arial"/>
              </a:rPr>
              <a:t>“</a:t>
            </a:r>
            <a:r>
              <a:rPr lang="en-US" altLang="zh-CN" sz="2700" dirty="0">
                <a:solidFill>
                  <a:srgbClr val="0000CC"/>
                </a:solidFill>
              </a:rPr>
              <a:t>shutdown  -h  now</a:t>
            </a:r>
            <a:r>
              <a:rPr lang="en-US" altLang="zh-CN" sz="2700" dirty="0">
                <a:latin typeface="Arial"/>
              </a:rPr>
              <a:t>”</a:t>
            </a:r>
          </a:p>
          <a:p>
            <a:pPr marL="0" indent="0" algn="just">
              <a:buNone/>
            </a:pPr>
            <a:r>
              <a:rPr lang="zh-CN" altLang="en-US" sz="2700" dirty="0">
                <a:latin typeface="Arial"/>
              </a:rPr>
              <a:t>  选项说明：</a:t>
            </a:r>
            <a:endParaRPr lang="en-US" altLang="zh-CN" sz="2700" dirty="0">
              <a:latin typeface="Arial"/>
            </a:endParaRPr>
          </a:p>
          <a:p>
            <a:pPr marL="0" indent="0" algn="just">
              <a:buNone/>
            </a:pPr>
            <a:r>
              <a:rPr lang="en-US" altLang="zh-CN" sz="2700" dirty="0">
                <a:latin typeface="宋体" pitchFamily="2" charset="-122"/>
              </a:rPr>
              <a:t>  </a:t>
            </a:r>
            <a:r>
              <a:rPr lang="en-US" altLang="zh-CN" sz="2700" dirty="0"/>
              <a:t>-h</a:t>
            </a:r>
            <a:r>
              <a:rPr lang="zh-CN" altLang="en-US" sz="2700" dirty="0"/>
              <a:t>：</a:t>
            </a:r>
            <a:r>
              <a:rPr lang="zh-CN" altLang="en-US" sz="2700" dirty="0">
                <a:latin typeface="宋体" pitchFamily="2" charset="-122"/>
              </a:rPr>
              <a:t>关机后关闭电源</a:t>
            </a:r>
            <a:endParaRPr lang="en-US" altLang="zh-CN" sz="2700" dirty="0">
              <a:latin typeface="宋体" pitchFamily="2" charset="-122"/>
            </a:endParaRPr>
          </a:p>
          <a:p>
            <a:pPr marL="0" indent="0" algn="just">
              <a:buNone/>
            </a:pPr>
            <a:r>
              <a:rPr lang="en-US" altLang="zh-CN" sz="2700" dirty="0">
                <a:latin typeface="宋体" pitchFamily="2" charset="-122"/>
              </a:rPr>
              <a:t>  </a:t>
            </a:r>
            <a:r>
              <a:rPr lang="en-US" altLang="zh-CN" sz="2700" dirty="0"/>
              <a:t>-time</a:t>
            </a:r>
            <a:r>
              <a:rPr lang="zh-CN" altLang="en-US" sz="2700" dirty="0">
                <a:latin typeface="宋体" pitchFamily="2" charset="-122"/>
              </a:rPr>
              <a:t>：设定关机的时间</a:t>
            </a:r>
            <a:endParaRPr lang="en-US" altLang="zh-CN" sz="2700" dirty="0">
              <a:latin typeface="宋体" pitchFamily="2" charset="-122"/>
            </a:endParaRPr>
          </a:p>
          <a:p>
            <a:pPr marL="0" indent="0" algn="just">
              <a:buNone/>
            </a:pPr>
            <a:r>
              <a:rPr lang="zh-CN" altLang="en-US" sz="2700" dirty="0">
                <a:solidFill>
                  <a:srgbClr val="0000CC"/>
                </a:solidFill>
                <a:latin typeface="宋体" pitchFamily="2" charset="-122"/>
              </a:rPr>
              <a:t>例如</a:t>
            </a:r>
            <a:r>
              <a:rPr lang="en-US" altLang="zh-CN" sz="2700" dirty="0">
                <a:latin typeface="宋体" pitchFamily="2" charset="-122"/>
              </a:rPr>
              <a:t>: </a:t>
            </a:r>
            <a:r>
              <a:rPr lang="zh-CN" altLang="en-US" sz="2700" dirty="0"/>
              <a:t>“</a:t>
            </a:r>
            <a:r>
              <a:rPr lang="en-US" altLang="zh-CN" sz="2700" dirty="0"/>
              <a:t>shutdown -time 17:30 </a:t>
            </a:r>
            <a:r>
              <a:rPr lang="zh-CN" altLang="en-US" sz="2700" dirty="0"/>
              <a:t>”</a:t>
            </a:r>
            <a:endParaRPr lang="en-US" altLang="zh-CN" sz="27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5770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1CCD31-F628-E1B0-43AD-C5F1E56581E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>
          <a:xfrm>
            <a:off x="1235460" y="1504017"/>
            <a:ext cx="9829092" cy="4411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600" dirty="0"/>
              <a:t>由于</a:t>
            </a:r>
            <a:r>
              <a:rPr lang="en-US" altLang="zh-CN" sz="2600" dirty="0"/>
              <a:t>Linux</a:t>
            </a:r>
            <a:r>
              <a:rPr lang="zh-CN" altLang="en-US" sz="2600" dirty="0"/>
              <a:t>是多用户操作系统，同一时间可能有多个用户正在使用，立即关机可能导致其他用户的工作被突然打断，通常，系统管理员在关机或重新启动之前都会提前发出提示信息，提醒所有的用户系统即将关闭或重启，并预留一段时间让用户结束各自的工作，并退出登录。</a:t>
            </a:r>
            <a:endParaRPr lang="en-US" altLang="zh-CN" sz="2600" dirty="0"/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</a:t>
            </a:r>
            <a:r>
              <a:rPr lang="zh-CN" altLang="en-US" sz="2600" dirty="0"/>
              <a:t>：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600" dirty="0"/>
              <a:t> 设置</a:t>
            </a:r>
            <a:r>
              <a:rPr lang="en-US" altLang="zh-CN" sz="2600" dirty="0"/>
              <a:t>18</a:t>
            </a:r>
            <a:r>
              <a:rPr lang="zh-CN" altLang="en-US" sz="2600" dirty="0"/>
              <a:t>：</a:t>
            </a:r>
            <a:r>
              <a:rPr lang="en-US" altLang="zh-CN" sz="2600" dirty="0"/>
              <a:t>30</a:t>
            </a:r>
            <a:r>
              <a:rPr lang="zh-CN" altLang="en-US" sz="2600" dirty="0"/>
              <a:t>开始关机，并且关闭电源。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endParaRPr lang="en-US" altLang="zh-CN" sz="2000" dirty="0">
              <a:latin typeface="+mn-ea"/>
            </a:endParaRPr>
          </a:p>
          <a:p>
            <a:pPr eaLnBrk="1" hangingPunct="1"/>
            <a:endParaRPr lang="zh-CN" altLang="en-US" sz="2800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sp>
        <p:nvSpPr>
          <p:cNvPr id="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8172" y="552232"/>
            <a:ext cx="7543800" cy="858837"/>
          </a:xfrm>
        </p:spPr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常用</a:t>
            </a:r>
            <a:r>
              <a:rPr lang="en-US" altLang="zh-CN" sz="3600" dirty="0">
                <a:cs typeface="Arial" pitchFamily="34" charset="0"/>
              </a:rPr>
              <a:t>Shell</a:t>
            </a:r>
            <a:r>
              <a:rPr lang="zh-CN" altLang="en-US" sz="3600" dirty="0">
                <a:ea typeface="黑体" pitchFamily="49" charset="-122"/>
              </a:rPr>
              <a:t>命令</a:t>
            </a:r>
            <a:endParaRPr lang="zh-CN" altLang="en-US" sz="3600" dirty="0">
              <a:cs typeface="Arial" pitchFamily="34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159896" y="5713967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988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50C6F5-4976-DDC2-7178-CC78AD122E8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与时间相关的命令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83432" y="1124744"/>
            <a:ext cx="10225136" cy="5328592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date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date   [</a:t>
            </a:r>
            <a:r>
              <a:rPr lang="en-US" altLang="zh-CN" sz="2600" dirty="0" err="1">
                <a:solidFill>
                  <a:srgbClr val="0000CC"/>
                </a:solidFill>
              </a:rPr>
              <a:t>MMDDhhmm</a:t>
            </a:r>
            <a:r>
              <a:rPr lang="en-US" altLang="zh-CN" sz="2600" dirty="0">
                <a:solidFill>
                  <a:srgbClr val="0000CC"/>
                </a:solidFill>
              </a:rPr>
              <a:t>[</a:t>
            </a:r>
            <a:r>
              <a:rPr lang="en-US" altLang="zh-CN" sz="2600" dirty="0" err="1">
                <a:solidFill>
                  <a:srgbClr val="0000CC"/>
                </a:solidFill>
              </a:rPr>
              <a:t>YYYY</a:t>
            </a:r>
            <a:r>
              <a:rPr lang="en-US" altLang="zh-CN" sz="2600" dirty="0">
                <a:solidFill>
                  <a:srgbClr val="0000CC"/>
                </a:solidFill>
              </a:rPr>
              <a:t>]]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功能：查看或修改系统时间和日期，用户必须拥有超级用户权限才能修改系统时间和日期。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例如：</a:t>
            </a:r>
            <a:r>
              <a:rPr lang="zh-CN" altLang="en-US" sz="2600" dirty="0">
                <a:solidFill>
                  <a:srgbClr val="0000CC"/>
                </a:solidFill>
              </a:rPr>
              <a:t>［</a:t>
            </a:r>
            <a:r>
              <a:rPr lang="en-US" altLang="zh-CN" sz="2600" dirty="0">
                <a:solidFill>
                  <a:srgbClr val="0000CC"/>
                </a:solidFill>
              </a:rPr>
              <a:t>root@ localhost  ~</a:t>
            </a:r>
            <a:r>
              <a:rPr lang="zh-CN" altLang="en-US" sz="2600" dirty="0">
                <a:solidFill>
                  <a:srgbClr val="0000CC"/>
                </a:solidFill>
              </a:rPr>
              <a:t>］ </a:t>
            </a:r>
            <a:r>
              <a:rPr lang="en-US" altLang="zh-CN" sz="2600" dirty="0">
                <a:solidFill>
                  <a:srgbClr val="0000CC"/>
                </a:solidFill>
              </a:rPr>
              <a:t># date 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       2023</a:t>
            </a:r>
            <a:r>
              <a:rPr lang="zh-CN" altLang="en-US" sz="2600" dirty="0">
                <a:solidFill>
                  <a:srgbClr val="0000CC"/>
                </a:solidFill>
              </a:rPr>
              <a:t>年  </a:t>
            </a:r>
            <a:r>
              <a:rPr lang="en-US" altLang="zh-CN" sz="2600" dirty="0">
                <a:solidFill>
                  <a:srgbClr val="0000CC"/>
                </a:solidFill>
              </a:rPr>
              <a:t>09</a:t>
            </a:r>
            <a:r>
              <a:rPr lang="zh-CN" altLang="en-US" sz="2600" dirty="0">
                <a:solidFill>
                  <a:srgbClr val="0000CC"/>
                </a:solidFill>
              </a:rPr>
              <a:t>月 </a:t>
            </a:r>
            <a:r>
              <a:rPr lang="en-US" altLang="zh-CN" sz="2600" dirty="0">
                <a:solidFill>
                  <a:srgbClr val="0000CC"/>
                </a:solidFill>
              </a:rPr>
              <a:t>18</a:t>
            </a:r>
            <a:r>
              <a:rPr lang="zh-CN" altLang="en-US" sz="2600" dirty="0">
                <a:solidFill>
                  <a:srgbClr val="0000CC"/>
                </a:solidFill>
              </a:rPr>
              <a:t>日 星期一</a:t>
            </a:r>
            <a:r>
              <a:rPr lang="en-US" altLang="zh-CN" sz="2600" dirty="0">
                <a:solidFill>
                  <a:srgbClr val="0000CC"/>
                </a:solidFill>
              </a:rPr>
              <a:t>  14: 58: 37  CST   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例如：将当前时间修改为</a:t>
            </a:r>
            <a:r>
              <a:rPr lang="en-US" altLang="zh-CN" sz="2600" dirty="0"/>
              <a:t>9</a:t>
            </a:r>
            <a:r>
              <a:rPr lang="zh-CN" altLang="en-US" sz="2600" dirty="0"/>
              <a:t>月</a:t>
            </a:r>
            <a:r>
              <a:rPr lang="en-US" altLang="zh-CN" sz="2600" dirty="0"/>
              <a:t>19</a:t>
            </a:r>
            <a:r>
              <a:rPr lang="zh-CN" altLang="en-US" sz="2600" dirty="0"/>
              <a:t>日</a:t>
            </a:r>
            <a:r>
              <a:rPr lang="en-US" altLang="zh-CN" sz="2600" dirty="0"/>
              <a:t>20</a:t>
            </a:r>
            <a:r>
              <a:rPr lang="zh-CN" altLang="en-US" sz="2600" dirty="0"/>
              <a:t>时</a:t>
            </a:r>
            <a:r>
              <a:rPr lang="en-US" altLang="zh-CN" sz="2600" dirty="0"/>
              <a:t>04</a:t>
            </a:r>
            <a:r>
              <a:rPr lang="zh-CN" altLang="en-US" sz="2600" dirty="0"/>
              <a:t>分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[root@ Linux  root</a:t>
            </a:r>
            <a:r>
              <a:rPr lang="zh-CN" altLang="en-US" sz="2600" dirty="0"/>
              <a:t>］ </a:t>
            </a:r>
            <a:r>
              <a:rPr lang="en-US" altLang="zh-CN" sz="2600" dirty="0"/>
              <a:t># </a:t>
            </a:r>
            <a:r>
              <a:rPr lang="en-US" altLang="zh-CN" sz="2600" dirty="0">
                <a:solidFill>
                  <a:srgbClr val="0000CC"/>
                </a:solidFill>
              </a:rPr>
              <a:t>date  09192004 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注意</a:t>
            </a:r>
            <a:r>
              <a:rPr lang="zh-CN" altLang="en-US" sz="2600" dirty="0"/>
              <a:t>：必须按照月份、日期、小时、分钟、年的顺序修改，年份可以占</a:t>
            </a:r>
            <a:r>
              <a:rPr lang="en-US" altLang="zh-CN" sz="2600" dirty="0"/>
              <a:t>4</a:t>
            </a:r>
            <a:r>
              <a:rPr lang="zh-CN" altLang="en-US" sz="2600" dirty="0"/>
              <a:t>位，也可以占</a:t>
            </a:r>
            <a:r>
              <a:rPr lang="en-US" altLang="zh-CN" sz="2600" dirty="0"/>
              <a:t>2</a:t>
            </a:r>
            <a:r>
              <a:rPr lang="zh-CN" altLang="en-US" sz="2600" dirty="0"/>
              <a:t>位，其他部分占</a:t>
            </a:r>
            <a:r>
              <a:rPr lang="en-US" altLang="zh-CN" sz="2600" dirty="0"/>
              <a:t>2</a:t>
            </a:r>
            <a:r>
              <a:rPr lang="zh-CN" altLang="en-US" sz="2600" dirty="0"/>
              <a:t>位，不足</a:t>
            </a:r>
            <a:r>
              <a:rPr lang="en-US" altLang="zh-CN" sz="2600" dirty="0"/>
              <a:t>2</a:t>
            </a:r>
            <a:r>
              <a:rPr lang="zh-CN" altLang="en-US" sz="2600" dirty="0"/>
              <a:t>位添</a:t>
            </a:r>
            <a:r>
              <a:rPr lang="en-US" altLang="zh-CN" sz="2600" dirty="0"/>
              <a:t>0</a:t>
            </a:r>
            <a:r>
              <a:rPr lang="zh-CN" altLang="en-US" sz="2600" dirty="0"/>
              <a:t>补足。年份可省略，其他部分不可省。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endParaRPr lang="en-US" altLang="zh-CN" sz="2400" dirty="0"/>
          </a:p>
          <a:p>
            <a:pPr marL="344487" lvl="1" indent="0" algn="just">
              <a:lnSpc>
                <a:spcPct val="90000"/>
              </a:lnSpc>
              <a:buNone/>
            </a:pPr>
            <a:endParaRPr lang="zh-CN" altLang="en-US" dirty="0">
              <a:ea typeface="方正魏碑简体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104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399109-BA41-AF5F-8C4A-9598F602EA6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与时间相关的命令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12383" y="1529408"/>
            <a:ext cx="9614859" cy="5328592"/>
          </a:xfrm>
        </p:spPr>
        <p:txBody>
          <a:bodyPr/>
          <a:lstStyle/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常用选项说明：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-(+)d         </a:t>
            </a:r>
            <a:r>
              <a:rPr lang="zh-CN" altLang="en-US" sz="2600" dirty="0"/>
              <a:t>指定时间运算规则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-r  </a:t>
            </a:r>
            <a:r>
              <a:rPr lang="zh-CN" altLang="en-US" sz="2600" dirty="0"/>
              <a:t>文件</a:t>
            </a:r>
            <a:r>
              <a:rPr lang="en-US" altLang="zh-CN" sz="2600" dirty="0"/>
              <a:t>     </a:t>
            </a:r>
            <a:r>
              <a:rPr lang="zh-CN" altLang="en-US" sz="2600" dirty="0"/>
              <a:t>显示指定文件的最后被修改的时间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例如：显示</a:t>
            </a:r>
            <a:r>
              <a:rPr lang="en-US" altLang="zh-CN" sz="2600" dirty="0"/>
              <a:t>5</a:t>
            </a:r>
            <a:r>
              <a:rPr lang="zh-CN" altLang="en-US" sz="2600" dirty="0"/>
              <a:t>分钟前的时间（天</a:t>
            </a:r>
            <a:r>
              <a:rPr lang="en-US" altLang="zh-CN" sz="2600" dirty="0"/>
              <a:t>day</a:t>
            </a:r>
            <a:r>
              <a:rPr lang="zh-CN" altLang="en-US" sz="2600" dirty="0"/>
              <a:t>、月</a:t>
            </a:r>
            <a:r>
              <a:rPr lang="en-US" altLang="zh-CN" sz="2600" dirty="0"/>
              <a:t>month</a:t>
            </a:r>
            <a:r>
              <a:rPr lang="zh-CN" altLang="en-US" sz="2600" dirty="0"/>
              <a:t>、年</a:t>
            </a:r>
            <a:r>
              <a:rPr lang="en-US" altLang="zh-CN" sz="2600" dirty="0"/>
              <a:t>year</a:t>
            </a:r>
            <a:r>
              <a:rPr lang="zh-CN" altLang="en-US" sz="2600" dirty="0"/>
              <a:t>同理）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［</a:t>
            </a:r>
            <a:r>
              <a:rPr lang="en-US" altLang="zh-CN" sz="2600" dirty="0">
                <a:solidFill>
                  <a:srgbClr val="0000CC"/>
                </a:solidFill>
              </a:rPr>
              <a:t>root@ localhost  ~</a:t>
            </a:r>
            <a:r>
              <a:rPr lang="zh-CN" altLang="en-US" sz="2600" dirty="0">
                <a:solidFill>
                  <a:srgbClr val="0000CC"/>
                </a:solidFill>
              </a:rPr>
              <a:t>］ </a:t>
            </a:r>
            <a:r>
              <a:rPr lang="en-US" altLang="zh-CN" sz="2600" dirty="0">
                <a:solidFill>
                  <a:srgbClr val="0000CC"/>
                </a:solidFill>
              </a:rPr>
              <a:t># date  -d  </a:t>
            </a:r>
            <a:r>
              <a:rPr lang="zh-CN" altLang="en-US" sz="2600" dirty="0">
                <a:solidFill>
                  <a:srgbClr val="0000CC"/>
                </a:solidFill>
              </a:rPr>
              <a:t>“ </a:t>
            </a:r>
            <a:r>
              <a:rPr lang="en-US" altLang="zh-CN" sz="2600" dirty="0">
                <a:solidFill>
                  <a:srgbClr val="0000CC"/>
                </a:solidFill>
              </a:rPr>
              <a:t>-5 minutes</a:t>
            </a:r>
            <a:r>
              <a:rPr lang="zh-CN" altLang="en-US" sz="2600" dirty="0">
                <a:solidFill>
                  <a:srgbClr val="0000CC"/>
                </a:solidFill>
              </a:rPr>
              <a:t>”</a:t>
            </a:r>
            <a:r>
              <a:rPr lang="en-US" altLang="zh-CN" sz="2600" dirty="0">
                <a:solidFill>
                  <a:srgbClr val="0000CC"/>
                </a:solidFill>
              </a:rPr>
              <a:t>       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</a:t>
            </a:r>
            <a:r>
              <a:rPr lang="zh-CN" altLang="en-US" sz="2600" dirty="0"/>
              <a:t>：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将当前时间修改为改为</a:t>
            </a:r>
            <a:r>
              <a:rPr lang="en-US" altLang="zh-CN" sz="2600" dirty="0"/>
              <a:t>2024</a:t>
            </a:r>
            <a:r>
              <a:rPr lang="zh-CN" altLang="en-US" sz="2600" dirty="0"/>
              <a:t>年</a:t>
            </a:r>
            <a:r>
              <a:rPr lang="en-US" altLang="zh-CN" sz="2600" dirty="0"/>
              <a:t>8</a:t>
            </a:r>
            <a:r>
              <a:rPr lang="zh-CN" altLang="en-US" sz="2600" dirty="0"/>
              <a:t>月</a:t>
            </a:r>
            <a:r>
              <a:rPr lang="en-US" altLang="zh-CN" sz="2600" dirty="0"/>
              <a:t>19</a:t>
            </a:r>
            <a:r>
              <a:rPr lang="zh-CN" altLang="en-US" sz="2600" dirty="0"/>
              <a:t>日</a:t>
            </a:r>
            <a:r>
              <a:rPr lang="en-US" altLang="zh-CN" sz="2600" dirty="0"/>
              <a:t>11</a:t>
            </a:r>
            <a:r>
              <a:rPr lang="zh-CN" altLang="en-US" sz="2600" dirty="0"/>
              <a:t>点</a:t>
            </a:r>
            <a:r>
              <a:rPr lang="en-US" altLang="zh-CN" sz="2600" dirty="0"/>
              <a:t>30</a:t>
            </a:r>
            <a:r>
              <a:rPr lang="zh-CN" altLang="en-US" sz="2600" dirty="0"/>
              <a:t>分。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</a:t>
            </a:r>
            <a:r>
              <a:rPr lang="zh-CN" altLang="en-US" sz="2600" dirty="0"/>
              <a:t>：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显示文件</a:t>
            </a:r>
            <a:r>
              <a:rPr lang="en-US" altLang="zh-CN" sz="2600" dirty="0"/>
              <a:t>readme.txt</a:t>
            </a:r>
            <a:r>
              <a:rPr lang="zh-CN" altLang="en-US" sz="2600" dirty="0"/>
              <a:t>的最后修改时间。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endParaRPr lang="en-US" altLang="zh-CN" sz="2400" dirty="0"/>
          </a:p>
          <a:p>
            <a:pPr marL="344487" lvl="1" indent="0" algn="just">
              <a:lnSpc>
                <a:spcPct val="90000"/>
              </a:lnSpc>
              <a:buNone/>
            </a:pPr>
            <a:endParaRPr lang="zh-CN" altLang="en-US" dirty="0">
              <a:ea typeface="方正魏碑简体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84168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2200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7F94C3-D161-AFEC-4B8E-4A3D6FE10A2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与时间相关的命令</a:t>
            </a:r>
            <a:endParaRPr lang="zh-CN" altLang="en-US" sz="3600" dirty="0">
              <a:ea typeface="黑体" pitchFamily="49" charset="-122"/>
            </a:endParaRP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33669" y="1358665"/>
            <a:ext cx="9758875" cy="4766171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 err="1">
                <a:solidFill>
                  <a:srgbClr val="0000CC"/>
                </a:solidFill>
                <a:ea typeface="方正魏碑简体" charset="-122"/>
              </a:rPr>
              <a:t>cal</a:t>
            </a: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 </a:t>
            </a:r>
            <a:r>
              <a:rPr lang="zh-CN" altLang="en-US" sz="2800" dirty="0">
                <a:latin typeface="+mn-ea"/>
              </a:rPr>
              <a:t>命令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 err="1">
                <a:solidFill>
                  <a:srgbClr val="CC0099"/>
                </a:solidFill>
              </a:rPr>
              <a:t>cal</a:t>
            </a:r>
            <a:r>
              <a:rPr lang="en-US" altLang="zh-CN" sz="2800" dirty="0">
                <a:solidFill>
                  <a:srgbClr val="CC0099"/>
                </a:solidFill>
              </a:rPr>
              <a:t>  </a:t>
            </a:r>
            <a:r>
              <a:rPr lang="en-US" altLang="zh-CN" sz="2800" dirty="0">
                <a:solidFill>
                  <a:srgbClr val="0000CC"/>
                </a:solidFill>
              </a:rPr>
              <a:t> [</a:t>
            </a:r>
            <a:r>
              <a:rPr lang="zh-CN" altLang="en-US" sz="2800" dirty="0">
                <a:solidFill>
                  <a:srgbClr val="0000CC"/>
                </a:solidFill>
              </a:rPr>
              <a:t>选项</a:t>
            </a:r>
            <a:r>
              <a:rPr lang="en-US" altLang="zh-CN" sz="2800" dirty="0">
                <a:solidFill>
                  <a:srgbClr val="0000CC"/>
                </a:solidFill>
              </a:rPr>
              <a:t>][</a:t>
            </a:r>
            <a:r>
              <a:rPr lang="zh-CN" altLang="en-US" sz="2800" dirty="0">
                <a:solidFill>
                  <a:srgbClr val="0000CC"/>
                </a:solidFill>
              </a:rPr>
              <a:t>月份</a:t>
            </a:r>
            <a:r>
              <a:rPr lang="en-US" altLang="zh-CN" sz="2800" dirty="0">
                <a:solidFill>
                  <a:srgbClr val="0000CC"/>
                </a:solidFill>
              </a:rPr>
              <a:t>][</a:t>
            </a:r>
            <a:r>
              <a:rPr lang="zh-CN" altLang="en-US" sz="2800" dirty="0">
                <a:solidFill>
                  <a:srgbClr val="0000CC"/>
                </a:solidFill>
              </a:rPr>
              <a:t>年份</a:t>
            </a:r>
            <a:r>
              <a:rPr lang="en-US" altLang="zh-CN" sz="2800" dirty="0">
                <a:solidFill>
                  <a:srgbClr val="0000CC"/>
                </a:solidFill>
              </a:rPr>
              <a:t>]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800" dirty="0"/>
              <a:t>功能：显示公历日历，如果只有一个参数，则表示年份，如果有两个参数，则表示月份和年份。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800" dirty="0"/>
              <a:t>主要选项说明：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-1</a:t>
            </a:r>
            <a:r>
              <a:rPr lang="zh-CN" altLang="en-US" sz="2400" dirty="0"/>
              <a:t>　　只显示当前月份</a:t>
            </a:r>
            <a:r>
              <a:rPr lang="en-US" altLang="zh-CN" sz="2400" dirty="0"/>
              <a:t>(</a:t>
            </a:r>
            <a:r>
              <a:rPr lang="zh-CN" altLang="en-US" sz="2400" dirty="0"/>
              <a:t>默认</a:t>
            </a:r>
            <a:r>
              <a:rPr lang="en-US" altLang="zh-CN" sz="2400" dirty="0"/>
              <a:t>)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-3</a:t>
            </a:r>
            <a:r>
              <a:rPr lang="zh-CN" altLang="en-US" sz="2400" dirty="0"/>
              <a:t>　　显示上个月、当月和下个月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-s      </a:t>
            </a:r>
            <a:r>
              <a:rPr lang="zh-CN" altLang="en-US" sz="2400" dirty="0"/>
              <a:t> 周日作为一周第一天（默认）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-m      </a:t>
            </a:r>
            <a:r>
              <a:rPr lang="zh-CN" altLang="en-US" sz="2400" dirty="0"/>
              <a:t>周一作为一周第一天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-y</a:t>
            </a:r>
            <a:r>
              <a:rPr lang="zh-CN" altLang="en-US" sz="2400" dirty="0"/>
              <a:t>　    输出整年</a:t>
            </a:r>
            <a:endParaRPr lang="en-US" altLang="zh-CN" sz="24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-j         </a:t>
            </a:r>
            <a:r>
              <a:rPr lang="zh-CN" altLang="en-US" sz="2400" dirty="0"/>
              <a:t>输出儒略日</a:t>
            </a:r>
            <a:endParaRPr lang="en-US" altLang="zh-CN" sz="24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4</a:t>
            </a:r>
            <a:r>
              <a:rPr lang="zh-CN" altLang="en-US" sz="2600" dirty="0"/>
              <a:t>：显示</a:t>
            </a:r>
            <a:r>
              <a:rPr lang="en-US" altLang="zh-CN" sz="2600" dirty="0"/>
              <a:t>2022</a:t>
            </a:r>
            <a:r>
              <a:rPr lang="zh-CN" altLang="en-US" sz="2600" dirty="0"/>
              <a:t>年</a:t>
            </a:r>
            <a:r>
              <a:rPr lang="en-US" altLang="zh-CN" sz="2600" dirty="0"/>
              <a:t>9</a:t>
            </a:r>
            <a:r>
              <a:rPr lang="zh-CN" altLang="en-US" sz="2600" dirty="0"/>
              <a:t>月的日历，星期一显示在第一列</a:t>
            </a:r>
            <a:endParaRPr lang="zh-CN" altLang="en-US" dirty="0"/>
          </a:p>
          <a:p>
            <a:pPr lvl="1"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marL="344487" lvl="1" indent="0" algn="just">
              <a:lnSpc>
                <a:spcPct val="90000"/>
              </a:lnSpc>
              <a:buNone/>
            </a:pPr>
            <a:endParaRPr lang="zh-CN" altLang="en-US" dirty="0">
              <a:ea typeface="方正魏碑简体" charset="-122"/>
            </a:endParaRP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356176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60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1F109ED-6164-85B4-1E30-42B9FA42CAA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591647"/>
            <a:ext cx="9614859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常用</a:t>
            </a:r>
            <a:r>
              <a:rPr lang="en-US" altLang="zh-CN" dirty="0">
                <a:cs typeface="Arial" pitchFamily="34" charset="0"/>
              </a:rPr>
              <a:t>Shell</a:t>
            </a:r>
            <a:r>
              <a:rPr lang="zh-CN" altLang="en-US" dirty="0">
                <a:ea typeface="黑体" pitchFamily="49" charset="-122"/>
              </a:rPr>
              <a:t>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15480" y="1556792"/>
            <a:ext cx="9614859" cy="4752528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</a:rPr>
              <a:t>clear </a:t>
            </a:r>
            <a:r>
              <a:rPr lang="zh-CN" altLang="en-US" sz="2800" dirty="0">
                <a:solidFill>
                  <a:srgbClr val="0000CC"/>
                </a:solidFill>
              </a:rPr>
              <a:t>命令</a:t>
            </a:r>
            <a:endParaRPr lang="zh-CN" altLang="en-US" sz="2800" dirty="0">
              <a:latin typeface="+mn-ea"/>
            </a:endParaRP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>
                <a:solidFill>
                  <a:srgbClr val="0000CC"/>
                </a:solidFill>
              </a:rPr>
              <a:t>  clear</a:t>
            </a:r>
            <a:endParaRPr lang="zh-CN" altLang="en-US" sz="2800" dirty="0">
              <a:solidFill>
                <a:srgbClr val="0000CC"/>
              </a:solidFill>
            </a:endParaRP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功能</a:t>
            </a:r>
            <a:r>
              <a:rPr lang="zh-CN" altLang="en-US" sz="2800" dirty="0"/>
              <a:t>：清除当前终端的屏幕内容。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29200" y="5801360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7491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21632F8-1BFF-050C-6623-8C9402FD20B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31740" y="579120"/>
            <a:ext cx="7543800" cy="858837"/>
          </a:xfrm>
        </p:spPr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常用</a:t>
            </a:r>
            <a:r>
              <a:rPr lang="en-US" altLang="zh-CN" sz="3600" dirty="0">
                <a:cs typeface="Arial" pitchFamily="34" charset="0"/>
              </a:rPr>
              <a:t>Shell</a:t>
            </a:r>
            <a:r>
              <a:rPr lang="zh-CN" altLang="en-US" sz="3600" dirty="0">
                <a:ea typeface="黑体" pitchFamily="49" charset="-122"/>
              </a:rPr>
              <a:t>命令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37957"/>
            <a:ext cx="9937104" cy="4958481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man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man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zh-CN" altLang="en-US" sz="2600" dirty="0">
                <a:solidFill>
                  <a:srgbClr val="0000CC"/>
                </a:solidFill>
              </a:rPr>
              <a:t>命令名</a:t>
            </a:r>
            <a:r>
              <a:rPr lang="en-US" altLang="zh-CN" sz="2600" dirty="0">
                <a:solidFill>
                  <a:srgbClr val="0000CC"/>
                </a:solidFill>
              </a:rPr>
              <a:t>  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功能：显示指定命令的手册页帮助信息。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例如：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 </a:t>
            </a:r>
            <a:r>
              <a:rPr lang="en-US" altLang="zh-CN" sz="2600" dirty="0"/>
              <a:t># man ls</a:t>
            </a:r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该命令输入命令后屏幕显示该命令在</a:t>
            </a:r>
            <a:r>
              <a:rPr lang="en-US" altLang="zh-CN" sz="2600" dirty="0"/>
              <a:t>Shell</a:t>
            </a:r>
            <a:r>
              <a:rPr lang="zh-CN" altLang="en-US" sz="2600" dirty="0"/>
              <a:t>手册页的第一屏帮助信息，可以使用上下方向键翻页查看。</a:t>
            </a:r>
            <a:r>
              <a:rPr lang="zh-CN" altLang="en-US" sz="2600" dirty="0">
                <a:solidFill>
                  <a:srgbClr val="0000CC"/>
                </a:solidFill>
              </a:rPr>
              <a:t>按“</a:t>
            </a:r>
            <a:r>
              <a:rPr lang="en-US" altLang="zh-CN" sz="2600" dirty="0">
                <a:solidFill>
                  <a:srgbClr val="0000CC"/>
                </a:solidFill>
              </a:rPr>
              <a:t>q”</a:t>
            </a:r>
            <a:r>
              <a:rPr lang="zh-CN" altLang="en-US" sz="2600" dirty="0">
                <a:solidFill>
                  <a:srgbClr val="0000CC"/>
                </a:solidFill>
              </a:rPr>
              <a:t>键则退出</a:t>
            </a:r>
            <a:r>
              <a:rPr lang="en-US" altLang="zh-CN" sz="2600" dirty="0">
                <a:solidFill>
                  <a:srgbClr val="0000CC"/>
                </a:solidFill>
              </a:rPr>
              <a:t>man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r>
              <a:rPr lang="zh-CN" altLang="en-US" sz="2600" dirty="0"/>
              <a:t>。</a:t>
            </a:r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/>
              <a:t> </a:t>
            </a:r>
            <a:r>
              <a:rPr lang="zh-CN" altLang="en-US" dirty="0"/>
              <a:t>  </a:t>
            </a:r>
            <a:endParaRPr lang="zh-CN" altLang="en-US" dirty="0">
              <a:ea typeface="方正魏碑简体" charset="-122"/>
            </a:endParaRPr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>
              <a:ea typeface="方正魏碑简体" charset="-122"/>
            </a:endParaRP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223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0A6CC06-056A-04D5-6577-B9DEC1CC41E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059BC7-218C-4C90-A266-62C78A8D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Arial" pitchFamily="34" charset="0"/>
              </a:rPr>
              <a:t>常用</a:t>
            </a:r>
            <a:r>
              <a:rPr lang="en-US" altLang="zh-CN" dirty="0">
                <a:cs typeface="Arial" pitchFamily="34" charset="0"/>
              </a:rPr>
              <a:t>Shell</a:t>
            </a:r>
            <a:r>
              <a:rPr lang="zh-CN" altLang="en-US" dirty="0">
                <a:ea typeface="黑体" pitchFamily="49" charset="-122"/>
              </a:rPr>
              <a:t>命令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472D5B-2649-4DCC-9D38-E8EE1B778C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E06EA6-3496-4149-BBAD-8FC3B4EF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74" y="621983"/>
            <a:ext cx="8759322" cy="56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887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4DFA8C0-4728-049A-3667-979C7BEBCCC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19536" y="586140"/>
            <a:ext cx="8136904" cy="858837"/>
          </a:xfrm>
        </p:spPr>
        <p:txBody>
          <a:bodyPr/>
          <a:lstStyle/>
          <a:p>
            <a:r>
              <a:rPr lang="zh-CN" altLang="en-US" sz="3600" dirty="0">
                <a:cs typeface="Arial" pitchFamily="34" charset="0"/>
              </a:rPr>
              <a:t>常用</a:t>
            </a:r>
            <a:r>
              <a:rPr lang="en-US" altLang="zh-CN" sz="3600" dirty="0">
                <a:cs typeface="Arial" pitchFamily="34" charset="0"/>
              </a:rPr>
              <a:t>Shell</a:t>
            </a:r>
            <a:r>
              <a:rPr lang="zh-CN" altLang="en-US" sz="3600" dirty="0">
                <a:ea typeface="黑体" pitchFamily="49" charset="-122"/>
              </a:rPr>
              <a:t>命令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89708" y="1485664"/>
            <a:ext cx="9721080" cy="475252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help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solidFill>
                  <a:srgbClr val="0000CC"/>
                </a:solidFill>
              </a:rPr>
              <a:t>命令名</a:t>
            </a:r>
            <a:r>
              <a:rPr lang="en-US" altLang="zh-CN" sz="2600" dirty="0">
                <a:solidFill>
                  <a:srgbClr val="0000CC"/>
                </a:solidFill>
              </a:rPr>
              <a:t>--help   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功能：显示指定命令的帮助信息。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例如：查看</a:t>
            </a:r>
            <a:r>
              <a:rPr lang="en-US" altLang="zh-CN" sz="2600" dirty="0"/>
              <a:t>ls</a:t>
            </a:r>
            <a:r>
              <a:rPr lang="zh-CN" altLang="en-US" sz="2600" dirty="0"/>
              <a:t>命令的帮助信息，并分屏显示。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 </a:t>
            </a:r>
            <a:r>
              <a:rPr lang="en-US" altLang="zh-CN" sz="2600" dirty="0"/>
              <a:t>#  ls  --</a:t>
            </a:r>
            <a:r>
              <a:rPr lang="en-US" altLang="zh-CN" sz="2600" dirty="0" err="1"/>
              <a:t>help</a:t>
            </a:r>
            <a:r>
              <a:rPr lang="en-US" altLang="zh-CN" sz="2600" dirty="0" err="1">
                <a:solidFill>
                  <a:srgbClr val="0000CC"/>
                </a:solidFill>
              </a:rPr>
              <a:t>|more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>
              <a:buClr>
                <a:schemeClr val="tx1"/>
              </a:buClr>
            </a:pPr>
            <a:r>
              <a:rPr lang="zh-CN" altLang="en-US" sz="2600" dirty="0"/>
              <a:t>帮助信息较长时，可使用</a:t>
            </a:r>
            <a:r>
              <a:rPr lang="en-US" altLang="zh-CN" sz="2600" dirty="0"/>
              <a:t>[</a:t>
            </a:r>
            <a:r>
              <a:rPr lang="en-US" altLang="zh-CN" sz="2600" dirty="0" err="1"/>
              <a:t>Shift+PgDn</a:t>
            </a:r>
            <a:r>
              <a:rPr lang="en-US" altLang="zh-CN" sz="2600" dirty="0"/>
              <a:t>][</a:t>
            </a:r>
            <a:r>
              <a:rPr lang="en-US" altLang="zh-CN" sz="2600" dirty="0" err="1"/>
              <a:t>Shift+PgUp</a:t>
            </a:r>
            <a:r>
              <a:rPr lang="en-US" altLang="zh-CN" sz="2600" dirty="0"/>
              <a:t>]</a:t>
            </a:r>
            <a:r>
              <a:rPr lang="zh-CN" altLang="en-US" sz="2600" dirty="0"/>
              <a:t>组合键向前向后翻页。</a:t>
            </a:r>
            <a:endParaRPr lang="en-US" altLang="zh-CN" sz="2600" dirty="0"/>
          </a:p>
          <a:p>
            <a:pPr algn="just">
              <a:buClr>
                <a:schemeClr val="tx1"/>
              </a:buClr>
            </a:pPr>
            <a:r>
              <a:rPr lang="zh-CN" altLang="en-US" sz="2600" dirty="0"/>
              <a:t>使用</a:t>
            </a:r>
            <a:r>
              <a:rPr lang="en-US" altLang="zh-CN" sz="2600" dirty="0"/>
              <a:t>--help</a:t>
            </a:r>
            <a:r>
              <a:rPr lang="zh-CN" altLang="en-US" sz="2600" dirty="0"/>
              <a:t>选项可以获取命令的帮助信息，但</a:t>
            </a:r>
            <a:r>
              <a:rPr lang="zh-CN" altLang="en-US" sz="2600" dirty="0">
                <a:solidFill>
                  <a:srgbClr val="0000CC"/>
                </a:solidFill>
              </a:rPr>
              <a:t>不是所有的命令都有此选项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endParaRPr lang="zh-CN" altLang="en-US" dirty="0">
              <a:ea typeface="方正魏碑简体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851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D75CBF-E203-BD5A-BAF9-288C6C3CC5B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436" y="404664"/>
            <a:ext cx="9073008" cy="7245424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500" dirty="0">
                <a:solidFill>
                  <a:schemeClr val="tx2"/>
                </a:solidFill>
              </a:rPr>
              <a:t>    </a:t>
            </a:r>
            <a:endParaRPr lang="zh-CN" altLang="en-US" sz="2500" dirty="0"/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sz="1800" dirty="0">
                <a:solidFill>
                  <a:schemeClr val="tx2"/>
                </a:solidFill>
              </a:rPr>
              <a:t>    </a:t>
            </a:r>
            <a:r>
              <a:rPr lang="zh-CN" altLang="en-US" sz="1600" dirty="0">
                <a:solidFill>
                  <a:schemeClr val="tx2"/>
                </a:solidFill>
              </a:rPr>
              <a:t>          </a:t>
            </a:r>
            <a:r>
              <a:rPr lang="zh-CN" altLang="en-US" sz="1400" dirty="0">
                <a:solidFill>
                  <a:schemeClr val="tx2"/>
                </a:solidFill>
              </a:rPr>
              <a:t>命令                        功能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</a:t>
            </a:r>
            <a:r>
              <a:rPr lang="en-US" altLang="zh-CN" sz="1400" dirty="0" err="1">
                <a:solidFill>
                  <a:schemeClr val="tx2"/>
                </a:solidFill>
                <a:latin typeface="Times New Roman" pitchFamily="18" charset="0"/>
              </a:rPr>
              <a:t>pwd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判定当前目录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cd 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改变所在目录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              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ls</a:t>
            </a:r>
            <a:r>
              <a:rPr lang="en-US" altLang="zh-CN" sz="1400" dirty="0">
                <a:solidFill>
                  <a:schemeClr val="tx2"/>
                </a:solidFill>
              </a:rPr>
              <a:t> 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查看目录下的内容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cat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显示文件的内容</a:t>
            </a:r>
            <a:endParaRPr lang="en-US" altLang="zh-CN" sz="1400" dirty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solidFill>
                  <a:schemeClr val="tx2"/>
                </a:solidFill>
              </a:rPr>
              <a:t>              tac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反向显示文件的内容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touch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创建文件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 </a:t>
            </a:r>
            <a:r>
              <a:rPr lang="en-US" altLang="zh-CN" sz="1400" dirty="0" err="1">
                <a:solidFill>
                  <a:schemeClr val="tx2"/>
                </a:solidFill>
                <a:latin typeface="Times New Roman" pitchFamily="18" charset="0"/>
              </a:rPr>
              <a:t>cp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复制文件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mv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移动文件</a:t>
            </a:r>
            <a:r>
              <a:rPr lang="zh-CN" altLang="en-US" sz="1400" dirty="0"/>
              <a:t> </a:t>
            </a:r>
            <a:endParaRPr lang="zh-CN" altLang="en-US" sz="1400" dirty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1400" dirty="0">
                <a:solidFill>
                  <a:schemeClr val="tx2"/>
                </a:solidFill>
              </a:rPr>
              <a:t>              </a:t>
            </a:r>
            <a:r>
              <a:rPr lang="en-US" altLang="zh-CN" sz="1400" dirty="0" err="1">
                <a:solidFill>
                  <a:schemeClr val="tx2"/>
                </a:solidFill>
                <a:latin typeface="Times New Roman" pitchFamily="18" charset="0"/>
              </a:rPr>
              <a:t>rm</a:t>
            </a:r>
            <a:r>
              <a:rPr lang="en-US" altLang="zh-CN" sz="1400" dirty="0">
                <a:solidFill>
                  <a:schemeClr val="tx2"/>
                </a:solidFill>
              </a:rPr>
              <a:t>                            </a:t>
            </a:r>
            <a:r>
              <a:rPr lang="zh-CN" altLang="en-US" sz="1400" dirty="0">
                <a:solidFill>
                  <a:schemeClr val="tx2"/>
                </a:solidFill>
              </a:rPr>
              <a:t>删除文件</a:t>
            </a:r>
            <a:endParaRPr lang="en-US" altLang="zh-CN" sz="1400" dirty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solidFill>
                  <a:schemeClr val="tx2"/>
                </a:solidFill>
              </a:rPr>
              <a:t>              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more 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分屏显示文件内容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less    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分屏显示文件内容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tail    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显示文本结尾部分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</a:t>
            </a:r>
            <a:r>
              <a:rPr lang="en-US" altLang="zh-CN" sz="1400" dirty="0" err="1">
                <a:solidFill>
                  <a:schemeClr val="tx2"/>
                </a:solidFill>
                <a:latin typeface="Times New Roman" pitchFamily="18" charset="0"/>
              </a:rPr>
              <a:t>mkdir</a:t>
            </a: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创建目录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rmdir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删除空目录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chmod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设置文件访问权限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chown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改变文件拥有者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altLang="zh-CN" sz="1400" dirty="0">
                <a:solidFill>
                  <a:schemeClr val="tx2"/>
                </a:solidFill>
                <a:latin typeface="Times New Roman" pitchFamily="18" charset="0"/>
              </a:rPr>
              <a:t>                file                               </a:t>
            </a:r>
            <a:r>
              <a:rPr lang="zh-CN" altLang="en-US" sz="1400" dirty="0">
                <a:solidFill>
                  <a:schemeClr val="tx2"/>
                </a:solidFill>
                <a:latin typeface="Times New Roman" pitchFamily="18" charset="0"/>
              </a:rPr>
              <a:t>显示文件类型</a:t>
            </a:r>
            <a:endParaRPr lang="en-US" altLang="zh-CN" sz="14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endParaRPr lang="zh-CN" altLang="en-US" sz="18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buNone/>
            </a:pPr>
            <a:endParaRPr lang="en-US" altLang="zh-CN" sz="18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itchFamily="18" charset="0"/>
              </a:rPr>
              <a:t>                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itchFamily="18" charset="0"/>
              </a:rPr>
              <a:t>                </a:t>
            </a:r>
            <a:endParaRPr lang="zh-CN" altLang="en-US" sz="18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18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 </a:t>
            </a:r>
          </a:p>
        </p:txBody>
      </p:sp>
      <p:sp>
        <p:nvSpPr>
          <p:cNvPr id="55300" name="Line 4"/>
          <p:cNvSpPr>
            <a:spLocks noChangeShapeType="1"/>
          </p:cNvSpPr>
          <p:nvPr/>
        </p:nvSpPr>
        <p:spPr bwMode="auto">
          <a:xfrm>
            <a:off x="1992436" y="1340768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1992436" y="1772816"/>
            <a:ext cx="678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 flipV="1">
            <a:off x="2279576" y="6225748"/>
            <a:ext cx="66559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66" y="411134"/>
            <a:ext cx="7932742" cy="858837"/>
          </a:xfrm>
        </p:spPr>
        <p:txBody>
          <a:bodyPr/>
          <a:lstStyle/>
          <a:p>
            <a:pPr eaLnBrk="1" hangingPunct="1"/>
            <a:r>
              <a:rPr lang="en-US" altLang="zh-CN" sz="3800" dirty="0"/>
              <a:t>3.2  </a:t>
            </a:r>
            <a:r>
              <a:rPr lang="zh-CN" altLang="en-US" sz="3800" dirty="0">
                <a:latin typeface="宋体" pitchFamily="2" charset="-122"/>
              </a:rPr>
              <a:t>管理文件和目录的命令</a:t>
            </a:r>
          </a:p>
        </p:txBody>
      </p:sp>
    </p:spTree>
    <p:extLst>
      <p:ext uri="{BB962C8B-B14F-4D97-AF65-F5344CB8AC3E}">
        <p14:creationId xmlns:p14="http://schemas.microsoft.com/office/powerpoint/2010/main" val="312442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5D208AB-A5EB-538B-FACF-5EEF7007471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0A182B-27B9-44B7-B2AE-CBFBD202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2B724-2403-4B71-9918-28B412276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747" y="1628801"/>
            <a:ext cx="9777797" cy="39461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请记住以下比较特殊的目录</a:t>
            </a:r>
            <a:endParaRPr lang="en-US" altLang="zh-CN" dirty="0"/>
          </a:p>
          <a:p>
            <a:pPr marL="344487" lvl="1" indent="0">
              <a:lnSpc>
                <a:spcPct val="150000"/>
              </a:lnSpc>
              <a:buNone/>
            </a:pPr>
            <a:r>
              <a:rPr lang="zh-CN" altLang="en-US" dirty="0"/>
              <a:t>“ </a:t>
            </a:r>
            <a:r>
              <a:rPr lang="en-US" altLang="zh-CN" dirty="0">
                <a:solidFill>
                  <a:srgbClr val="CC0099"/>
                </a:solidFill>
              </a:rPr>
              <a:t>. </a:t>
            </a:r>
            <a:r>
              <a:rPr lang="zh-CN" altLang="en-US" dirty="0"/>
              <a:t>”表示当前目录</a:t>
            </a:r>
            <a:endParaRPr lang="en-US" altLang="zh-CN" dirty="0"/>
          </a:p>
          <a:p>
            <a:pPr marL="344487" lvl="1" indent="0">
              <a:lnSpc>
                <a:spcPct val="150000"/>
              </a:lnSpc>
              <a:buNone/>
            </a:pPr>
            <a:r>
              <a:rPr lang="zh-CN" altLang="en-US" dirty="0"/>
              <a:t>“ </a:t>
            </a:r>
            <a:r>
              <a:rPr lang="en-US" altLang="zh-CN" dirty="0">
                <a:solidFill>
                  <a:srgbClr val="CC0099"/>
                </a:solidFill>
              </a:rPr>
              <a:t>..</a:t>
            </a:r>
            <a:r>
              <a:rPr lang="en-US" altLang="zh-CN" dirty="0"/>
              <a:t> </a:t>
            </a:r>
            <a:r>
              <a:rPr lang="zh-CN" altLang="en-US" dirty="0"/>
              <a:t>”表示当前目录的上级目录</a:t>
            </a:r>
            <a:endParaRPr lang="en-US" altLang="zh-CN" dirty="0"/>
          </a:p>
          <a:p>
            <a:pPr marL="344487" lvl="1" indent="0">
              <a:lnSpc>
                <a:spcPct val="150000"/>
              </a:lnSpc>
              <a:buNone/>
            </a:pPr>
            <a:r>
              <a:rPr lang="zh-CN" altLang="en-US" dirty="0"/>
              <a:t>“ </a:t>
            </a:r>
            <a:r>
              <a:rPr lang="en-US" altLang="zh-CN" dirty="0">
                <a:solidFill>
                  <a:srgbClr val="CC0099"/>
                </a:solidFill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”表示前一个工作目录</a:t>
            </a:r>
            <a:endParaRPr lang="en-US" altLang="zh-CN" dirty="0"/>
          </a:p>
          <a:p>
            <a:pPr marL="344487" lvl="1" indent="0">
              <a:lnSpc>
                <a:spcPct val="150000"/>
              </a:lnSpc>
              <a:buNone/>
            </a:pPr>
            <a:r>
              <a:rPr lang="zh-CN" altLang="en-US" dirty="0"/>
              <a:t>“ </a:t>
            </a:r>
            <a:r>
              <a:rPr lang="en-US" altLang="zh-CN" dirty="0">
                <a:solidFill>
                  <a:srgbClr val="CC0099"/>
                </a:solidFill>
              </a:rPr>
              <a:t>~</a:t>
            </a:r>
            <a:r>
              <a:rPr lang="en-US" altLang="zh-CN" dirty="0"/>
              <a:t> </a:t>
            </a:r>
            <a:r>
              <a:rPr lang="zh-CN" altLang="en-US" dirty="0"/>
              <a:t>”表示当前用户所在的根目录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E63F6-F3DC-46B5-BFAB-47D4402F2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523300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A7DB9A3-22F8-DBF6-2A58-214EB82ADF1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84336"/>
            <a:ext cx="9614859" cy="858837"/>
          </a:xfrm>
        </p:spPr>
        <p:txBody>
          <a:bodyPr/>
          <a:lstStyle/>
          <a:p>
            <a:r>
              <a:rPr lang="zh-CN" altLang="en-US" sz="32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621050"/>
            <a:ext cx="9793088" cy="4498975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 err="1">
                <a:solidFill>
                  <a:srgbClr val="0000CC"/>
                </a:solidFill>
                <a:ea typeface="方正魏碑简体" charset="-122"/>
              </a:rPr>
              <a:t>pwd</a:t>
            </a: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 err="1"/>
              <a:t>pwd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功能</a:t>
            </a:r>
            <a:r>
              <a:rPr lang="zh-CN" altLang="en-US" sz="2600" dirty="0"/>
              <a:t>：</a:t>
            </a:r>
            <a:r>
              <a:rPr lang="zh-CN" altLang="en-US" sz="2600" dirty="0">
                <a:solidFill>
                  <a:srgbClr val="0000CC"/>
                </a:solidFill>
              </a:rPr>
              <a:t>显示当前目录的绝对路径</a:t>
            </a:r>
            <a:r>
              <a:rPr lang="zh-CN" altLang="en-US" sz="2600" dirty="0"/>
              <a:t>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说明：</a:t>
            </a:r>
          </a:p>
          <a:p>
            <a:pPr lvl="1" algn="just"/>
            <a:r>
              <a:rPr lang="zh-CN" altLang="en-US" dirty="0">
                <a:solidFill>
                  <a:srgbClr val="0000CC"/>
                </a:solidFill>
              </a:rPr>
              <a:t>绝对路径</a:t>
            </a:r>
            <a:r>
              <a:rPr lang="zh-CN" altLang="en-US" dirty="0"/>
              <a:t>是指从根目录（</a:t>
            </a:r>
            <a:r>
              <a:rPr lang="en-US" altLang="zh-CN" dirty="0"/>
              <a:t>/</a:t>
            </a:r>
            <a:r>
              <a:rPr lang="zh-CN" altLang="en-US" dirty="0"/>
              <a:t>）开始到到当前目录（文件）的路径；</a:t>
            </a:r>
          </a:p>
          <a:p>
            <a:pPr lvl="1" algn="just"/>
            <a:r>
              <a:rPr lang="zh-CN" altLang="en-US" dirty="0"/>
              <a:t>而</a:t>
            </a:r>
            <a:r>
              <a:rPr lang="zh-CN" altLang="en-US" dirty="0">
                <a:solidFill>
                  <a:srgbClr val="0000CC"/>
                </a:solidFill>
              </a:rPr>
              <a:t>相对路径</a:t>
            </a:r>
            <a:r>
              <a:rPr lang="zh-CN" altLang="en-US" dirty="0"/>
              <a:t>是指从当前目录到其下子目录（文件）的路径。</a:t>
            </a:r>
          </a:p>
          <a:p>
            <a:pPr lvl="1" algn="just"/>
            <a:r>
              <a:rPr lang="zh-CN" altLang="en-US" dirty="0"/>
              <a:t>目录之间的层次关系总是用“</a:t>
            </a:r>
            <a:r>
              <a:rPr lang="en-US" altLang="zh-CN" dirty="0"/>
              <a:t>/”</a:t>
            </a:r>
            <a:r>
              <a:rPr lang="zh-CN" altLang="en-US" dirty="0"/>
              <a:t>来表示。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790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42246CE-9243-D3C1-FBAD-FC11C1D8710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黑体" pitchFamily="49" charset="-122"/>
              </a:rPr>
              <a:t>管理文件和目录的</a:t>
            </a:r>
            <a:r>
              <a:rPr lang="en-US" altLang="zh-CN" sz="3200" dirty="0">
                <a:cs typeface="Arial" pitchFamily="34" charset="0"/>
              </a:rPr>
              <a:t>Shell</a:t>
            </a:r>
            <a:r>
              <a:rPr lang="zh-CN" altLang="en-US" sz="3200" dirty="0">
                <a:ea typeface="黑体" pitchFamily="49" charset="-122"/>
              </a:rPr>
              <a:t>命令</a:t>
            </a:r>
          </a:p>
        </p:txBody>
      </p:sp>
      <p:sp>
        <p:nvSpPr>
          <p:cNvPr id="153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77685" y="1497489"/>
            <a:ext cx="9436630" cy="4411662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cd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marL="0" indent="0" algn="just"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/>
              <a:t>cd   [</a:t>
            </a:r>
            <a:r>
              <a:rPr lang="zh-CN" altLang="en-US" sz="2600" dirty="0"/>
              <a:t>目录</a:t>
            </a:r>
            <a:r>
              <a:rPr lang="en-US" altLang="zh-CN" sz="2600" dirty="0"/>
              <a:t>]</a:t>
            </a:r>
          </a:p>
          <a:p>
            <a:pPr marL="0" indent="0" algn="just"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功能</a:t>
            </a:r>
            <a:r>
              <a:rPr lang="zh-CN" altLang="en-US" sz="2600" dirty="0"/>
              <a:t>：</a:t>
            </a:r>
            <a:r>
              <a:rPr lang="zh-CN" altLang="en-US" sz="2600" dirty="0">
                <a:solidFill>
                  <a:srgbClr val="0000CC"/>
                </a:solidFill>
              </a:rPr>
              <a:t>切换到指定目录</a:t>
            </a:r>
            <a:r>
              <a:rPr lang="zh-CN" altLang="en-US" sz="2600" dirty="0"/>
              <a:t>。</a:t>
            </a:r>
          </a:p>
          <a:p>
            <a:pPr marL="0" indent="0">
              <a:buNone/>
            </a:pPr>
            <a:r>
              <a:rPr lang="zh-CN" altLang="en-US" sz="2600" dirty="0"/>
              <a:t>说明：</a:t>
            </a:r>
          </a:p>
          <a:p>
            <a:pPr lvl="1"/>
            <a:r>
              <a:rPr lang="zh-CN" altLang="en-US" dirty="0">
                <a:latin typeface="宋体" pitchFamily="2" charset="-122"/>
              </a:rPr>
              <a:t>超级用户的主目录是</a:t>
            </a:r>
            <a:r>
              <a:rPr lang="en-US" altLang="zh-CN" dirty="0"/>
              <a:t>/root</a:t>
            </a:r>
            <a:endParaRPr lang="zh-CN" altLang="en-US" dirty="0">
              <a:latin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</a:rPr>
              <a:t>而普通用户的主目录是</a:t>
            </a:r>
            <a:r>
              <a:rPr lang="en-US" altLang="zh-CN" dirty="0"/>
              <a:t>/home</a:t>
            </a:r>
            <a:r>
              <a:rPr lang="zh-CN" altLang="en-US" dirty="0">
                <a:latin typeface="宋体" pitchFamily="2" charset="-122"/>
              </a:rPr>
              <a:t>下与该用户同名的子目录</a:t>
            </a:r>
            <a:endParaRPr lang="en-US" altLang="zh-CN" dirty="0">
              <a:latin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</a:rPr>
              <a:t>例如，普通用户</a:t>
            </a:r>
            <a:r>
              <a:rPr lang="en-US" altLang="zh-CN" dirty="0" err="1"/>
              <a:t>hellen</a:t>
            </a:r>
            <a:r>
              <a:rPr lang="zh-CN" altLang="en-US" dirty="0">
                <a:latin typeface="宋体" pitchFamily="2" charset="-122"/>
              </a:rPr>
              <a:t>主目录默认就是</a:t>
            </a:r>
            <a:r>
              <a:rPr lang="en-US" altLang="zh-CN" dirty="0"/>
              <a:t>/home/</a:t>
            </a:r>
            <a:r>
              <a:rPr lang="en-US" altLang="zh-CN" dirty="0" err="1"/>
              <a:t>hellen</a:t>
            </a:r>
            <a:r>
              <a:rPr lang="zh-CN" altLang="en-US" dirty="0">
                <a:latin typeface="宋体" pitchFamily="2" charset="-122"/>
              </a:rPr>
              <a:t>。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4835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FF027A-E349-E68F-9250-3F8504A3CD3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620688"/>
            <a:ext cx="9433048" cy="5832648"/>
          </a:xfrm>
        </p:spPr>
        <p:txBody>
          <a:bodyPr/>
          <a:lstStyle/>
          <a:p>
            <a:pPr marL="0" indent="0" eaLnBrk="1" hangingPunct="1">
              <a:buNone/>
            </a:pPr>
            <a:r>
              <a:rPr kumimoji="1" lang="zh-CN" altLang="en-US" sz="2800" dirty="0">
                <a:latin typeface="+mn-ea"/>
              </a:rPr>
              <a:t>例如</a:t>
            </a:r>
            <a:endParaRPr kumimoji="1" lang="en-US" altLang="zh-CN" sz="2800" dirty="0">
              <a:latin typeface="+mn-ea"/>
            </a:endParaRPr>
          </a:p>
          <a:p>
            <a:pPr eaLnBrk="1" hangingPunct="1"/>
            <a:r>
              <a:rPr kumimoji="1" lang="zh-CN" altLang="en-US" sz="2800" dirty="0">
                <a:latin typeface="+mn-ea"/>
              </a:rPr>
              <a:t>从</a:t>
            </a:r>
            <a:r>
              <a:rPr kumimoji="1" lang="zh-CN" altLang="en-US" sz="2800" dirty="0">
                <a:solidFill>
                  <a:srgbClr val="0000CC"/>
                </a:solidFill>
                <a:latin typeface="+mn-ea"/>
              </a:rPr>
              <a:t>相对路径</a:t>
            </a:r>
            <a:r>
              <a:rPr kumimoji="1" lang="zh-CN" altLang="en-US" sz="2800" dirty="0">
                <a:latin typeface="+mn-ea"/>
              </a:rPr>
              <a:t>切换到</a:t>
            </a:r>
            <a:r>
              <a:rPr kumimoji="1" lang="en-US" altLang="zh-CN" sz="2800" dirty="0">
                <a:latin typeface="+mn-ea"/>
              </a:rPr>
              <a:t>/home/tux/doc</a:t>
            </a:r>
            <a:r>
              <a:rPr kumimoji="1" lang="zh-CN" altLang="en-US" sz="2800" dirty="0">
                <a:latin typeface="+mn-ea"/>
              </a:rPr>
              <a:t>目录</a:t>
            </a:r>
          </a:p>
          <a:p>
            <a:pPr marL="344487" lvl="1" indent="0" eaLnBrk="1" hangingPunct="1">
              <a:buNone/>
            </a:pPr>
            <a:r>
              <a:rPr kumimoji="1" lang="en-US" altLang="zh-CN" sz="2800" dirty="0">
                <a:latin typeface="+mn-ea"/>
              </a:rPr>
              <a:t>$ </a:t>
            </a:r>
            <a:r>
              <a:rPr kumimoji="1" lang="en-US" altLang="zh-CN" sz="2800" dirty="0" err="1">
                <a:latin typeface="+mn-ea"/>
              </a:rPr>
              <a:t>pwd</a:t>
            </a:r>
            <a:endParaRPr kumimoji="1" lang="en-US" altLang="zh-CN" sz="2800" dirty="0">
              <a:latin typeface="+mn-ea"/>
            </a:endParaRPr>
          </a:p>
          <a:p>
            <a:pPr marL="344487" lvl="1" indent="0" eaLnBrk="1" hangingPunct="1">
              <a:buNone/>
            </a:pPr>
            <a:r>
              <a:rPr kumimoji="1" lang="en-US" altLang="zh-CN" sz="2800" dirty="0">
                <a:latin typeface="+mn-ea"/>
                <a:sym typeface="Wingdings" pitchFamily="2" charset="2"/>
              </a:rPr>
              <a:t>/home/tux</a:t>
            </a:r>
            <a:endParaRPr kumimoji="1" lang="en-US" altLang="zh-CN" sz="2800" dirty="0">
              <a:latin typeface="+mn-ea"/>
            </a:endParaRPr>
          </a:p>
          <a:p>
            <a:pPr marL="344487" lvl="1" indent="0" eaLnBrk="1" hangingPunct="1">
              <a:buNone/>
            </a:pPr>
            <a:r>
              <a:rPr kumimoji="1" lang="en-US" altLang="zh-CN" sz="2800" dirty="0">
                <a:latin typeface="+mn-ea"/>
              </a:rPr>
              <a:t>$ cd doc</a:t>
            </a:r>
          </a:p>
          <a:p>
            <a:pPr eaLnBrk="1" hangingPunct="1"/>
            <a:r>
              <a:rPr kumimoji="1" lang="zh-CN" altLang="en-US" sz="2800" dirty="0">
                <a:latin typeface="+mn-ea"/>
              </a:rPr>
              <a:t>从</a:t>
            </a:r>
            <a:r>
              <a:rPr kumimoji="1" lang="zh-CN" altLang="en-US" sz="2800" dirty="0">
                <a:solidFill>
                  <a:srgbClr val="0000CC"/>
                </a:solidFill>
                <a:latin typeface="+mn-ea"/>
              </a:rPr>
              <a:t>绝对路径</a:t>
            </a:r>
            <a:r>
              <a:rPr kumimoji="1" lang="zh-CN" altLang="en-US" sz="2800" dirty="0">
                <a:latin typeface="+mn-ea"/>
              </a:rPr>
              <a:t>直接切换到</a:t>
            </a:r>
            <a:r>
              <a:rPr kumimoji="1" lang="en-US" altLang="zh-CN" sz="2800" dirty="0">
                <a:latin typeface="+mn-ea"/>
              </a:rPr>
              <a:t>/home/tux/doc</a:t>
            </a:r>
            <a:r>
              <a:rPr kumimoji="1" lang="zh-CN" altLang="en-US" sz="2800" dirty="0">
                <a:latin typeface="+mn-ea"/>
              </a:rPr>
              <a:t>目录</a:t>
            </a:r>
          </a:p>
          <a:p>
            <a:pPr marL="344487" lvl="1" indent="0" eaLnBrk="1" hangingPunct="1">
              <a:buNone/>
            </a:pPr>
            <a:r>
              <a:rPr kumimoji="1" lang="en-US" altLang="zh-CN" sz="2800" dirty="0">
                <a:latin typeface="+mn-ea"/>
              </a:rPr>
              <a:t>$ cd /home/tux/doc</a:t>
            </a:r>
          </a:p>
          <a:p>
            <a:pPr marL="452437" indent="-457200" eaLnBrk="1" hangingPunct="1"/>
            <a:r>
              <a:rPr kumimoji="1" lang="zh-CN" altLang="en-US" sz="2800" dirty="0">
                <a:latin typeface="+mn-ea"/>
              </a:rPr>
              <a:t>切换到上级目录</a:t>
            </a:r>
            <a:endParaRPr kumimoji="1" lang="en-US" altLang="zh-CN" sz="28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800" dirty="0">
                <a:latin typeface="+mn-ea"/>
              </a:rPr>
              <a:t>   $ cd ..</a:t>
            </a:r>
          </a:p>
          <a:p>
            <a:pPr eaLnBrk="1" hangingPunct="1"/>
            <a:r>
              <a:rPr kumimoji="1" lang="zh-CN" altLang="en-US" sz="2800" dirty="0">
                <a:latin typeface="+mn-ea"/>
              </a:rPr>
              <a:t>切换至根目录</a:t>
            </a:r>
            <a:endParaRPr kumimoji="1" lang="en-US" altLang="zh-CN" sz="2800" dirty="0">
              <a:latin typeface="+mn-ea"/>
            </a:endParaRPr>
          </a:p>
          <a:p>
            <a:pPr marL="0" indent="0" eaLnBrk="1" hangingPunct="1">
              <a:buNone/>
            </a:pPr>
            <a:r>
              <a:rPr kumimoji="1" lang="en-US" altLang="zh-CN" sz="2800" dirty="0">
                <a:latin typeface="+mn-ea"/>
              </a:rPr>
              <a:t>   $  cd / :</a:t>
            </a:r>
            <a:endParaRPr kumimoji="1" lang="zh-CN" altLang="en-US" sz="2800" dirty="0">
              <a:latin typeface="+mn-ea"/>
            </a:endParaRPr>
          </a:p>
          <a:p>
            <a:pPr eaLnBrk="1" hangingPunct="1">
              <a:lnSpc>
                <a:spcPct val="125000"/>
              </a:lnSpc>
            </a:pPr>
            <a:endParaRPr kumimoji="1" lang="en-US" altLang="zh-CN" sz="2800" dirty="0">
              <a:latin typeface="+mn-ea"/>
            </a:endParaRPr>
          </a:p>
          <a:p>
            <a:pPr marL="0" indent="-4763" eaLnBrk="1" hangingPunct="1">
              <a:lnSpc>
                <a:spcPct val="125000"/>
              </a:lnSpc>
              <a:buNone/>
            </a:pPr>
            <a:endParaRPr kumimoji="1" lang="en-US" altLang="zh-CN" sz="3200" dirty="0">
              <a:latin typeface="+mn-ea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721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E6ECD5C-B80A-8824-0492-BC35ADD7A60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19536" y="579120"/>
            <a:ext cx="7848872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556792"/>
            <a:ext cx="9793088" cy="5062885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 </a:t>
            </a:r>
            <a:r>
              <a:rPr lang="zh-CN" altLang="en-US" sz="2500" dirty="0">
                <a:latin typeface="+mn-ea"/>
              </a:rPr>
              <a:t>命令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CC0099"/>
                </a:solidFill>
              </a:rPr>
              <a:t>格式</a:t>
            </a:r>
            <a:r>
              <a:rPr lang="zh-CN" altLang="en-US" sz="2500" dirty="0"/>
              <a:t>：</a:t>
            </a:r>
            <a:r>
              <a:rPr lang="en-US" altLang="zh-CN" sz="2500" dirty="0"/>
              <a:t>ls  [</a:t>
            </a:r>
            <a:r>
              <a:rPr lang="zh-CN" altLang="en-US" sz="2500" dirty="0"/>
              <a:t>选项</a:t>
            </a:r>
            <a:r>
              <a:rPr lang="en-US" altLang="zh-CN" sz="2500" dirty="0"/>
              <a:t>]   [</a:t>
            </a:r>
            <a:r>
              <a:rPr lang="zh-CN" altLang="en-US" sz="2500" dirty="0"/>
              <a:t>文件</a:t>
            </a:r>
            <a:r>
              <a:rPr lang="en-US" altLang="zh-CN" sz="2500" dirty="0"/>
              <a:t>|</a:t>
            </a:r>
            <a:r>
              <a:rPr lang="zh-CN" altLang="en-US" sz="2500" dirty="0"/>
              <a:t>目录</a:t>
            </a:r>
            <a:r>
              <a:rPr lang="en-US" altLang="zh-CN" sz="2500" dirty="0"/>
              <a:t>]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CC0099"/>
                </a:solidFill>
              </a:rPr>
              <a:t>功能</a:t>
            </a:r>
            <a:r>
              <a:rPr lang="zh-CN" altLang="en-US" sz="2500" dirty="0"/>
              <a:t>：</a:t>
            </a:r>
            <a:r>
              <a:rPr lang="zh-CN" altLang="en-US" sz="2500" dirty="0">
                <a:solidFill>
                  <a:srgbClr val="0000CC"/>
                </a:solidFill>
              </a:rPr>
              <a:t>显示指定目录中的文件和子目录信息。</a:t>
            </a:r>
            <a:r>
              <a:rPr lang="zh-CN" altLang="en-US" sz="2500" dirty="0"/>
              <a:t>当不指定目录时，显示当前目录中的文件和子目录信息。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主要选项说明</a:t>
            </a:r>
            <a:r>
              <a:rPr lang="zh-CN" altLang="en-US" sz="2500" dirty="0">
                <a:solidFill>
                  <a:srgbClr val="000000"/>
                </a:solidFill>
              </a:rPr>
              <a:t>：</a:t>
            </a:r>
            <a:endParaRPr lang="en-US" altLang="zh-CN" sz="25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500" dirty="0"/>
              <a:t>-a </a:t>
            </a:r>
            <a:r>
              <a:rPr lang="zh-CN" altLang="en-US" sz="2500" dirty="0"/>
              <a:t>：显示所有文件和子目录，包括以</a:t>
            </a:r>
            <a:r>
              <a:rPr lang="zh-CN" altLang="en-US" sz="2500" dirty="0">
                <a:latin typeface="Arial" pitchFamily="34" charset="0"/>
              </a:rPr>
              <a:t>“</a:t>
            </a:r>
            <a:r>
              <a:rPr lang="en-US" altLang="zh-CN" sz="2500" dirty="0"/>
              <a:t>.</a:t>
            </a:r>
            <a:r>
              <a:rPr lang="en-US" altLang="zh-CN" sz="2500" dirty="0">
                <a:latin typeface="Arial" pitchFamily="34" charset="0"/>
              </a:rPr>
              <a:t>”</a:t>
            </a:r>
            <a:r>
              <a:rPr lang="zh-CN" altLang="en-US" sz="2500" dirty="0"/>
              <a:t>开头的隐藏文件。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500" dirty="0"/>
              <a:t>-l </a:t>
            </a:r>
            <a:r>
              <a:rPr lang="zh-CN" altLang="en-US" sz="2500" dirty="0"/>
              <a:t>：显示文件和子目录的</a:t>
            </a:r>
            <a:r>
              <a:rPr lang="zh-CN" altLang="en-US" sz="2500" dirty="0">
                <a:solidFill>
                  <a:srgbClr val="CC0099"/>
                </a:solidFill>
              </a:rPr>
              <a:t>详细信息</a:t>
            </a:r>
            <a:r>
              <a:rPr lang="zh-CN" altLang="en-US" sz="2500" dirty="0"/>
              <a:t>，包括文件类型、权限、所有者和所属组群、文件大小，修改时间等。</a:t>
            </a:r>
            <a:endParaRPr lang="en-US" altLang="zh-CN" sz="2500" dirty="0"/>
          </a:p>
          <a:p>
            <a:pPr marL="344487" lvl="1" indent="0" eaLnBrk="1" hangingPunct="1">
              <a:lnSpc>
                <a:spcPct val="120000"/>
              </a:lnSpc>
              <a:buNone/>
            </a:pPr>
            <a:endParaRPr lang="zh-CN" altLang="en-US" sz="2500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200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400" dirty="0"/>
              <a:t> 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400" dirty="0"/>
          </a:p>
          <a:p>
            <a:pPr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894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0FCD4F1-FE67-105E-F0E0-72F838798B9F}"/>
              </a:ext>
            </a:extLst>
          </p:cNvPr>
          <p:cNvSpPr/>
          <p:nvPr/>
        </p:nvSpPr>
        <p:spPr>
          <a:xfrm>
            <a:off x="533400" y="620688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32732" y="581749"/>
            <a:ext cx="8195716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43844" y="1556792"/>
            <a:ext cx="10009112" cy="439248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500" dirty="0"/>
              <a:t>-R </a:t>
            </a:r>
            <a:r>
              <a:rPr lang="zh-CN" altLang="en-US" sz="2500" dirty="0"/>
              <a:t>：列出目录和其子目录下的文件。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500" dirty="0"/>
              <a:t>-d </a:t>
            </a:r>
            <a:r>
              <a:rPr lang="zh-CN" altLang="en-US" sz="2500" dirty="0"/>
              <a:t>：参数是目录，只显示目录的信息，不显示所包含文件的信息。</a:t>
            </a:r>
            <a:endParaRPr lang="en-US" altLang="zh-CN" sz="25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500" dirty="0"/>
              <a:t>-t</a:t>
            </a:r>
            <a:r>
              <a:rPr lang="zh-CN" altLang="en-US" sz="2500" dirty="0"/>
              <a:t>：以文件修改时间排序，新文件排在前面。</a:t>
            </a:r>
            <a:r>
              <a:rPr lang="en-US" altLang="zh-CN" sz="2500" dirty="0"/>
              <a:t>ls</a:t>
            </a:r>
            <a:r>
              <a:rPr lang="zh-CN" altLang="en-US" sz="2500" dirty="0"/>
              <a:t>命令默认按字母顺序排列。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5</a:t>
            </a:r>
            <a:r>
              <a:rPr lang="zh-CN" altLang="en-US" sz="2500" dirty="0"/>
              <a:t>：查看当前目录中</a:t>
            </a:r>
            <a:r>
              <a:rPr lang="zh-CN" altLang="en-US" sz="2500" dirty="0">
                <a:solidFill>
                  <a:srgbClr val="0000CC"/>
                </a:solidFill>
              </a:rPr>
              <a:t>所有文件和子目录</a:t>
            </a:r>
            <a:r>
              <a:rPr lang="zh-CN" altLang="en-US" sz="2500" dirty="0"/>
              <a:t>的</a:t>
            </a:r>
            <a:r>
              <a:rPr lang="zh-CN" altLang="en-US" sz="2500" dirty="0">
                <a:solidFill>
                  <a:srgbClr val="0000CC"/>
                </a:solidFill>
              </a:rPr>
              <a:t>详细信息</a:t>
            </a:r>
            <a:r>
              <a:rPr lang="zh-CN" altLang="en-US" sz="2500" dirty="0"/>
              <a:t>。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6</a:t>
            </a:r>
            <a:r>
              <a:rPr lang="zh-CN" altLang="en-US" sz="2500" dirty="0"/>
              <a:t>：</a:t>
            </a:r>
            <a:r>
              <a:rPr lang="zh-CN" altLang="en-US" sz="2500" dirty="0">
                <a:solidFill>
                  <a:srgbClr val="0000CC"/>
                </a:solidFill>
              </a:rPr>
              <a:t>按时间顺序</a:t>
            </a:r>
            <a:r>
              <a:rPr lang="zh-CN" altLang="en-US" sz="2500" dirty="0"/>
              <a:t>查看当前目录下的后缀为“</a:t>
            </a:r>
            <a:r>
              <a:rPr lang="en-US" altLang="zh-CN" sz="2500" dirty="0"/>
              <a:t>.c”</a:t>
            </a:r>
            <a:r>
              <a:rPr lang="zh-CN" altLang="en-US" sz="2500" dirty="0"/>
              <a:t>的文件，列出文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500" dirty="0"/>
              <a:t>件的</a:t>
            </a:r>
            <a:r>
              <a:rPr lang="zh-CN" altLang="en-US" sz="2500" dirty="0">
                <a:solidFill>
                  <a:srgbClr val="0000CC"/>
                </a:solidFill>
              </a:rPr>
              <a:t>详细信息</a:t>
            </a:r>
            <a:r>
              <a:rPr lang="zh-CN" altLang="en-US" sz="2500" dirty="0"/>
              <a:t>。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500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400" dirty="0"/>
              <a:t> 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54880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B24BA1E-54CE-436B-7128-CC18F18DB24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05748"/>
            <a:ext cx="9614859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通配符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700808"/>
            <a:ext cx="9793088" cy="4752528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</a:pPr>
            <a:r>
              <a:rPr lang="en-US" altLang="zh-CN" sz="2600" dirty="0"/>
              <a:t>Shell</a:t>
            </a:r>
            <a:r>
              <a:rPr lang="zh-CN" altLang="en-US" sz="2600" dirty="0"/>
              <a:t>命令中可以使用通配符来同时匹配多个文件以方便操作。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1. </a:t>
            </a:r>
            <a:r>
              <a:rPr lang="zh-CN" altLang="en-US" sz="2600" dirty="0"/>
              <a:t>通配符“  </a:t>
            </a:r>
            <a:r>
              <a:rPr lang="zh-CN" altLang="en-US" sz="2600" dirty="0">
                <a:solidFill>
                  <a:srgbClr val="CC0099"/>
                </a:solidFill>
              </a:rPr>
              <a:t>*</a:t>
            </a:r>
            <a:r>
              <a:rPr lang="zh-CN" altLang="en-US" sz="2600" dirty="0"/>
              <a:t>  ”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      </a:t>
            </a:r>
            <a:r>
              <a:rPr lang="zh-CN" altLang="en-US" sz="2600" dirty="0">
                <a:solidFill>
                  <a:srgbClr val="0000CC"/>
                </a:solidFill>
              </a:rPr>
              <a:t>代表任意长度的任何字符</a:t>
            </a:r>
            <a:r>
              <a:rPr lang="zh-CN" altLang="en-US" sz="2600" dirty="0"/>
              <a:t>，如“</a:t>
            </a:r>
            <a:r>
              <a:rPr lang="en-US" altLang="zh-CN" sz="2600" dirty="0"/>
              <a:t>a*</a:t>
            </a:r>
            <a:r>
              <a:rPr lang="zh-CN" altLang="en-US" sz="2600" dirty="0"/>
              <a:t>”可以表示“</a:t>
            </a:r>
            <a:r>
              <a:rPr lang="en-US" altLang="zh-CN" sz="2600" dirty="0" err="1"/>
              <a:t>abc</a:t>
            </a:r>
            <a:r>
              <a:rPr lang="zh-CN" altLang="en-US" sz="2600" dirty="0"/>
              <a:t>” “</a:t>
            </a:r>
            <a:r>
              <a:rPr lang="en-US" altLang="zh-CN" sz="2600" dirty="0"/>
              <a:t>about</a:t>
            </a:r>
            <a:r>
              <a:rPr lang="zh-CN" altLang="en-US" sz="2600" dirty="0"/>
              <a:t>”等以“</a:t>
            </a:r>
            <a:r>
              <a:rPr lang="en-US" altLang="zh-CN" sz="2600" dirty="0"/>
              <a:t>a</a:t>
            </a:r>
            <a:r>
              <a:rPr lang="zh-CN" altLang="en-US" sz="2600" dirty="0"/>
              <a:t>”开头的字符串。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注意</a:t>
            </a:r>
            <a:r>
              <a:rPr lang="zh-CN" altLang="en-US" sz="2600" dirty="0"/>
              <a:t>：通配符“*”不能与“</a:t>
            </a:r>
            <a:r>
              <a:rPr lang="en-US" altLang="zh-CN" sz="2600" dirty="0"/>
              <a:t>.</a:t>
            </a:r>
            <a:r>
              <a:rPr lang="zh-CN" altLang="en-US" sz="2600" dirty="0"/>
              <a:t>”开头的文件名匹配。例如，“*”不能匹配到名为“</a:t>
            </a:r>
            <a:r>
              <a:rPr lang="en-US" altLang="zh-CN" sz="2600" dirty="0"/>
              <a:t>.file</a:t>
            </a:r>
            <a:r>
              <a:rPr lang="zh-CN" altLang="en-US" sz="2600" dirty="0"/>
              <a:t>”的文件，而必须使用“</a:t>
            </a:r>
            <a:r>
              <a:rPr lang="en-US" altLang="zh-CN" sz="2600" dirty="0"/>
              <a:t>.*</a:t>
            </a:r>
            <a:r>
              <a:rPr lang="zh-CN" altLang="en-US" sz="2600" dirty="0"/>
              <a:t>”才能匹配到类似“</a:t>
            </a:r>
            <a:r>
              <a:rPr lang="en-US" altLang="zh-CN" sz="2600" dirty="0"/>
              <a:t>.file”</a:t>
            </a:r>
            <a:r>
              <a:rPr lang="zh-CN" altLang="en-US" sz="2600" dirty="0"/>
              <a:t>的文件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 algn="just">
              <a:lnSpc>
                <a:spcPct val="120000"/>
              </a:lnSpc>
              <a:buClr>
                <a:schemeClr val="tx1"/>
              </a:buClr>
              <a:buAutoNum type="arabicPeriod"/>
            </a:pPr>
            <a:endParaRPr lang="en-US" altLang="zh-CN" sz="28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7125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3D74BB-624B-BA25-921D-CE923441D8B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579120"/>
            <a:ext cx="9614859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通配符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326221"/>
            <a:ext cx="10009112" cy="4372111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2. </a:t>
            </a:r>
            <a:r>
              <a:rPr lang="zh-CN" altLang="en-US" sz="2600" dirty="0"/>
              <a:t>通配符“  </a:t>
            </a:r>
            <a:r>
              <a:rPr lang="zh-CN" altLang="en-US" sz="2600" dirty="0">
                <a:solidFill>
                  <a:srgbClr val="CC0099"/>
                </a:solidFill>
              </a:rPr>
              <a:t>？</a:t>
            </a:r>
            <a:r>
              <a:rPr lang="zh-CN" altLang="en-US" sz="2600" dirty="0"/>
              <a:t>”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 </a:t>
            </a:r>
            <a:r>
              <a:rPr lang="zh-CN" altLang="en-US" sz="2600" dirty="0">
                <a:solidFill>
                  <a:srgbClr val="0000CC"/>
                </a:solidFill>
              </a:rPr>
              <a:t>代表任意一个字符</a:t>
            </a:r>
            <a:r>
              <a:rPr lang="zh-CN" altLang="en-US" sz="2600" dirty="0"/>
              <a:t>，如“</a:t>
            </a:r>
            <a:r>
              <a:rPr lang="en-US" altLang="zh-CN" sz="2600" dirty="0"/>
              <a:t>a</a:t>
            </a:r>
            <a:r>
              <a:rPr lang="zh-CN" altLang="en-US" sz="2600" dirty="0"/>
              <a:t>？</a:t>
            </a:r>
            <a:r>
              <a:rPr lang="en-US" altLang="zh-CN" sz="2600" dirty="0"/>
              <a:t>”</a:t>
            </a:r>
            <a:r>
              <a:rPr lang="zh-CN" altLang="en-US" sz="2600" dirty="0"/>
              <a:t>可以表示“</a:t>
            </a:r>
            <a:r>
              <a:rPr lang="en-US" altLang="zh-CN" sz="2600" dirty="0"/>
              <a:t>ab” “at”</a:t>
            </a:r>
            <a:r>
              <a:rPr lang="zh-CN" altLang="en-US" sz="2600" dirty="0"/>
              <a:t>等以“</a:t>
            </a:r>
            <a:r>
              <a:rPr lang="en-US" altLang="zh-CN" sz="2600" dirty="0"/>
              <a:t>a”</a:t>
            </a:r>
            <a:r>
              <a:rPr lang="zh-CN" altLang="en-US" sz="2600" dirty="0"/>
              <a:t>开头，并且仅有两个字符的字符串。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3. </a:t>
            </a:r>
            <a:r>
              <a:rPr lang="zh-CN" altLang="en-US" sz="2600" dirty="0">
                <a:solidFill>
                  <a:srgbClr val="0000CC"/>
                </a:solidFill>
              </a:rPr>
              <a:t>字符组通配符</a:t>
            </a:r>
            <a:r>
              <a:rPr lang="zh-CN" altLang="en-US" sz="2600" dirty="0"/>
              <a:t>“  </a:t>
            </a:r>
            <a:r>
              <a:rPr lang="en-US" altLang="zh-CN" sz="2600" dirty="0">
                <a:solidFill>
                  <a:srgbClr val="CC0099"/>
                </a:solidFill>
              </a:rPr>
              <a:t>[ ] </a:t>
            </a:r>
            <a:r>
              <a:rPr lang="zh-CN" altLang="en-US" sz="2600" dirty="0"/>
              <a:t>”“ </a:t>
            </a:r>
            <a:r>
              <a:rPr lang="en-US" altLang="zh-CN" sz="2600" dirty="0">
                <a:solidFill>
                  <a:srgbClr val="CC0099"/>
                </a:solidFill>
              </a:rPr>
              <a:t>-</a:t>
            </a:r>
            <a:r>
              <a:rPr lang="zh-CN" altLang="en-US" sz="2600" dirty="0"/>
              <a:t>”“</a:t>
            </a:r>
            <a:r>
              <a:rPr lang="zh-CN" altLang="en-US" sz="2600" dirty="0">
                <a:solidFill>
                  <a:srgbClr val="CC0099"/>
                </a:solidFill>
              </a:rPr>
              <a:t>！</a:t>
            </a:r>
            <a:r>
              <a:rPr lang="zh-CN" altLang="en-US" sz="2600" dirty="0"/>
              <a:t>”</a:t>
            </a:r>
            <a:endParaRPr lang="en-US" altLang="zh-CN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“</a:t>
            </a:r>
            <a:r>
              <a:rPr lang="en-US" altLang="zh-CN" sz="2600" dirty="0"/>
              <a:t>[ ]</a:t>
            </a:r>
            <a:r>
              <a:rPr lang="zh-CN" altLang="en-US" sz="2600" dirty="0"/>
              <a:t>”表示指定的字符范围，</a:t>
            </a:r>
            <a:r>
              <a:rPr lang="zh-CN" altLang="en-US" sz="2600" dirty="0">
                <a:solidFill>
                  <a:srgbClr val="0000CC"/>
                </a:solidFill>
              </a:rPr>
              <a:t>“</a:t>
            </a:r>
            <a:r>
              <a:rPr lang="en-US" altLang="zh-CN" sz="2600" dirty="0">
                <a:solidFill>
                  <a:srgbClr val="0000CC"/>
                </a:solidFill>
              </a:rPr>
              <a:t>[ ]</a:t>
            </a:r>
            <a:r>
              <a:rPr lang="zh-CN" altLang="en-US" sz="2600" dirty="0">
                <a:solidFill>
                  <a:srgbClr val="0000CC"/>
                </a:solidFill>
              </a:rPr>
              <a:t>”内的任意一个字符都用于匹配</a:t>
            </a:r>
            <a:r>
              <a:rPr lang="zh-CN" altLang="en-US" sz="2600" dirty="0"/>
              <a:t>。“</a:t>
            </a:r>
            <a:r>
              <a:rPr lang="en-US" altLang="zh-CN" sz="2600" dirty="0"/>
              <a:t>[ ]</a:t>
            </a:r>
            <a:r>
              <a:rPr lang="zh-CN" altLang="en-US" sz="2600" dirty="0"/>
              <a:t>”内的字符范围可以由直接给出的字符组成，也可以由起始字符“</a:t>
            </a:r>
            <a:r>
              <a:rPr lang="en-US" altLang="zh-CN" sz="2600" dirty="0"/>
              <a:t>-</a:t>
            </a:r>
            <a:r>
              <a:rPr lang="zh-CN" altLang="en-US" sz="2600" dirty="0"/>
              <a:t>”和终止字符组成。例如“</a:t>
            </a:r>
            <a:r>
              <a:rPr lang="en-US" altLang="zh-CN" sz="2600" dirty="0"/>
              <a:t>[</a:t>
            </a:r>
            <a:r>
              <a:rPr lang="en-US" altLang="zh-CN" sz="2600" dirty="0" err="1"/>
              <a:t>abc</a:t>
            </a:r>
            <a:r>
              <a:rPr lang="en-US" altLang="zh-CN" sz="2600" dirty="0"/>
              <a:t>]*</a:t>
            </a:r>
            <a:r>
              <a:rPr lang="zh-CN" altLang="en-US" sz="2600" dirty="0"/>
              <a:t>”或“</a:t>
            </a:r>
            <a:r>
              <a:rPr lang="en-US" altLang="zh-CN" sz="2600" dirty="0"/>
              <a:t>[a-c]*</a:t>
            </a:r>
            <a:r>
              <a:rPr lang="zh-CN" altLang="en-US" sz="2600" dirty="0"/>
              <a:t>”都表示所有以“</a:t>
            </a:r>
            <a:r>
              <a:rPr lang="en-US" altLang="zh-CN" sz="2600" dirty="0"/>
              <a:t>a</a:t>
            </a:r>
            <a:r>
              <a:rPr lang="zh-CN" altLang="en-US" sz="2600" dirty="0"/>
              <a:t>”“</a:t>
            </a:r>
            <a:r>
              <a:rPr lang="en-US" altLang="zh-CN" sz="2600" dirty="0"/>
              <a:t>b</a:t>
            </a:r>
            <a:r>
              <a:rPr lang="zh-CN" altLang="en-US" sz="2600" dirty="0"/>
              <a:t>”或者“</a:t>
            </a:r>
            <a:r>
              <a:rPr lang="en-US" altLang="zh-CN" sz="2600" dirty="0"/>
              <a:t>c</a:t>
            </a:r>
            <a:r>
              <a:rPr lang="zh-CN" altLang="en-US" sz="2600" dirty="0"/>
              <a:t>”开头的字符串。而如果使用</a:t>
            </a:r>
            <a:r>
              <a:rPr lang="zh-CN" altLang="en-US" sz="2600" dirty="0">
                <a:solidFill>
                  <a:srgbClr val="0000CC"/>
                </a:solidFill>
              </a:rPr>
              <a:t>“！”，则表示不在此范围之内的其他字符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9A8B7D36-F452-C952-230F-F86F5BFC47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7848" y="5698332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3645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A9F26BC-EFF8-B3C9-E7B3-EB6238CB071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579120"/>
            <a:ext cx="8064896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通配符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5712" y="1338139"/>
            <a:ext cx="9649072" cy="5040560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600" dirty="0"/>
              <a:t>例如：</a:t>
            </a:r>
            <a:endParaRPr lang="en-US" altLang="zh-CN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ls  *.</a:t>
            </a:r>
            <a:r>
              <a:rPr lang="en-US" altLang="zh-CN" sz="2600" dirty="0" err="1"/>
              <a:t>png</a:t>
            </a:r>
            <a:r>
              <a:rPr lang="en-US" altLang="zh-CN" sz="2600" dirty="0"/>
              <a:t>    </a:t>
            </a:r>
            <a:r>
              <a:rPr lang="zh-CN" altLang="en-US" sz="2600" dirty="0"/>
              <a:t>列出所有</a:t>
            </a:r>
            <a:r>
              <a:rPr lang="en-US" altLang="zh-CN" sz="2600" dirty="0"/>
              <a:t>PNG</a:t>
            </a:r>
            <a:r>
              <a:rPr lang="zh-CN" altLang="en-US" sz="2600" dirty="0"/>
              <a:t>图片文件</a:t>
            </a:r>
            <a:endParaRPr lang="en-US" altLang="zh-CN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ls   a?        </a:t>
            </a:r>
            <a:r>
              <a:rPr lang="zh-CN" altLang="en-US" sz="2600" dirty="0"/>
              <a:t>列出所有字母</a:t>
            </a:r>
            <a:r>
              <a:rPr lang="en-US" altLang="zh-CN" sz="2600" dirty="0"/>
              <a:t>a</a:t>
            </a:r>
            <a:r>
              <a:rPr lang="zh-CN" altLang="en-US" sz="2600" dirty="0"/>
              <a:t>开头</a:t>
            </a:r>
            <a:r>
              <a:rPr lang="en-US" altLang="zh-CN" sz="2600" dirty="0"/>
              <a:t>,</a:t>
            </a:r>
            <a:r>
              <a:rPr lang="zh-CN" altLang="en-US" sz="2600" dirty="0"/>
              <a:t>文件名只有两个字 </a:t>
            </a:r>
            <a:endParaRPr lang="en-US" altLang="zh-CN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                  </a:t>
            </a:r>
            <a:r>
              <a:rPr lang="zh-CN" altLang="en-US" sz="2600" dirty="0"/>
              <a:t>符的所有文件</a:t>
            </a:r>
            <a:endParaRPr lang="en-US" altLang="zh-CN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ls   [ABC]*   </a:t>
            </a:r>
            <a:r>
              <a:rPr lang="zh-CN" altLang="en-US" sz="2600" dirty="0"/>
              <a:t>列出首字母是</a:t>
            </a:r>
            <a:r>
              <a:rPr lang="en-US" altLang="zh-CN" sz="2600" dirty="0"/>
              <a:t>A</a:t>
            </a:r>
            <a:r>
              <a:rPr lang="zh-CN" altLang="en-US" sz="2600" dirty="0"/>
              <a:t>、</a:t>
            </a:r>
            <a:r>
              <a:rPr lang="en-US" altLang="zh-CN" sz="2600" dirty="0"/>
              <a:t>B</a:t>
            </a:r>
            <a:r>
              <a:rPr lang="zh-CN" altLang="en-US" sz="2600" dirty="0"/>
              <a:t>或者</a:t>
            </a:r>
            <a:r>
              <a:rPr lang="en-US" altLang="zh-CN" sz="2600" dirty="0"/>
              <a:t>C</a:t>
            </a:r>
            <a:r>
              <a:rPr lang="zh-CN" altLang="en-US" sz="2600" dirty="0"/>
              <a:t>的所有文件</a:t>
            </a:r>
            <a:endParaRPr lang="en-US" altLang="zh-CN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ls   [!</a:t>
            </a:r>
            <a:r>
              <a:rPr lang="en-US" altLang="zh-CN" sz="2600" dirty="0" err="1"/>
              <a:t>abc</a:t>
            </a:r>
            <a:r>
              <a:rPr lang="en-US" altLang="zh-CN" sz="2600" dirty="0"/>
              <a:t>]*  </a:t>
            </a:r>
            <a:r>
              <a:rPr lang="zh-CN" altLang="en-US" sz="2600" dirty="0">
                <a:solidFill>
                  <a:srgbClr val="0000CC"/>
                </a:solidFill>
              </a:rPr>
              <a:t>列出首字母不是</a:t>
            </a:r>
            <a:r>
              <a:rPr lang="en-US" altLang="zh-CN" sz="2600" dirty="0">
                <a:solidFill>
                  <a:srgbClr val="0000CC"/>
                </a:solidFill>
              </a:rPr>
              <a:t>a</a:t>
            </a:r>
            <a:r>
              <a:rPr lang="zh-CN" altLang="en-US" sz="2600" dirty="0">
                <a:solidFill>
                  <a:srgbClr val="0000CC"/>
                </a:solidFill>
              </a:rPr>
              <a:t>、</a:t>
            </a:r>
            <a:r>
              <a:rPr lang="en-US" altLang="zh-CN" sz="2600" dirty="0">
                <a:solidFill>
                  <a:srgbClr val="0000CC"/>
                </a:solidFill>
              </a:rPr>
              <a:t>b</a:t>
            </a:r>
            <a:r>
              <a:rPr lang="zh-CN" altLang="en-US" sz="2600" dirty="0">
                <a:solidFill>
                  <a:srgbClr val="0000CC"/>
                </a:solidFill>
              </a:rPr>
              <a:t>或者</a:t>
            </a:r>
            <a:r>
              <a:rPr lang="en-US" altLang="zh-CN" sz="2600" dirty="0">
                <a:solidFill>
                  <a:srgbClr val="0000CC"/>
                </a:solidFill>
              </a:rPr>
              <a:t>c</a:t>
            </a:r>
            <a:r>
              <a:rPr lang="zh-CN" altLang="en-US" sz="2600" dirty="0">
                <a:solidFill>
                  <a:srgbClr val="0000CC"/>
                </a:solidFill>
              </a:rPr>
              <a:t>的所有文件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/>
              <a:t>ls   [a-z]*     </a:t>
            </a:r>
            <a:r>
              <a:rPr lang="zh-CN" altLang="en-US" sz="2600" dirty="0"/>
              <a:t>列出首字母是小写字母的所有文件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800" dirty="0">
              <a:solidFill>
                <a:srgbClr val="0000CC"/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9176088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DE6CBB7-D7FB-5E3E-7571-A43661A0679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71564" y="579120"/>
            <a:ext cx="7848872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698" y="1412776"/>
            <a:ext cx="9901100" cy="511256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cat </a:t>
            </a:r>
            <a:r>
              <a:rPr lang="zh-CN" altLang="en-US" sz="2800" dirty="0">
                <a:ea typeface="方正魏碑简体" charset="-122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>
                <a:solidFill>
                  <a:srgbClr val="CC0099"/>
                </a:solidFill>
              </a:rPr>
              <a:t>cat</a:t>
            </a:r>
            <a:r>
              <a:rPr lang="en-US" altLang="zh-CN" sz="2800" dirty="0"/>
              <a:t>  [</a:t>
            </a:r>
            <a:r>
              <a:rPr lang="zh-CN" altLang="en-US" sz="2800" dirty="0"/>
              <a:t>选项</a:t>
            </a:r>
            <a:r>
              <a:rPr lang="en-US" altLang="zh-CN" sz="2800" dirty="0"/>
              <a:t>]  </a:t>
            </a:r>
            <a:r>
              <a:rPr lang="zh-CN" altLang="en-US" sz="2800" dirty="0"/>
              <a:t>文件列表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99"/>
                </a:solidFill>
              </a:rPr>
              <a:t>功能</a:t>
            </a:r>
            <a:r>
              <a:rPr lang="zh-CN" altLang="en-US" sz="2800" dirty="0"/>
              <a:t>：显示文本文件的内容。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主要选项说明：</a:t>
            </a:r>
            <a:endParaRPr lang="zh-CN" altLang="en-US" sz="28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-n</a:t>
            </a:r>
            <a:r>
              <a:rPr lang="zh-CN" altLang="en-US" sz="2800" dirty="0"/>
              <a:t>（</a:t>
            </a:r>
            <a:r>
              <a:rPr lang="en-US" altLang="zh-CN" sz="2800" dirty="0"/>
              <a:t>number</a:t>
            </a:r>
            <a:r>
              <a:rPr lang="zh-CN" altLang="en-US" sz="2800" dirty="0"/>
              <a:t>）在每一行前显示行号</a:t>
            </a:r>
            <a:endParaRPr lang="en-US" altLang="zh-CN" sz="2800" dirty="0"/>
          </a:p>
          <a:p>
            <a:pPr algn="just">
              <a:buClr>
                <a:schemeClr val="tx1"/>
              </a:buClr>
              <a:buNone/>
            </a:pPr>
            <a:r>
              <a:rPr lang="en-US" altLang="zh-CN" sz="2800" dirty="0"/>
              <a:t>-b </a:t>
            </a:r>
            <a:r>
              <a:rPr lang="zh-CN" altLang="en-US" sz="2800" dirty="0"/>
              <a:t> 和</a:t>
            </a:r>
            <a:r>
              <a:rPr lang="en-US" altLang="zh-CN" sz="2800" dirty="0">
                <a:solidFill>
                  <a:srgbClr val="000000"/>
                </a:solidFill>
              </a:rPr>
              <a:t>-n</a:t>
            </a:r>
            <a:r>
              <a:rPr lang="zh-CN" altLang="en-US" sz="2800" dirty="0">
                <a:solidFill>
                  <a:srgbClr val="000000"/>
                </a:solidFill>
              </a:rPr>
              <a:t>相似，只不过对于空行不编号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注意：使用</a:t>
            </a:r>
            <a:r>
              <a:rPr lang="en-US" altLang="zh-CN" sz="2800" dirty="0"/>
              <a:t>cat</a:t>
            </a:r>
            <a:r>
              <a:rPr lang="zh-CN" altLang="en-US" sz="2800" dirty="0"/>
              <a:t>命令可以查看文本文件的内容。如果查看其他类型的文件只能显示乱码。</a:t>
            </a:r>
            <a:endParaRPr lang="en-US" altLang="zh-CN" sz="28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练习</a:t>
            </a:r>
            <a:r>
              <a:rPr lang="en-US" altLang="zh-CN" sz="2800" dirty="0">
                <a:solidFill>
                  <a:srgbClr val="0000CC"/>
                </a:solidFill>
              </a:rPr>
              <a:t>7</a:t>
            </a:r>
            <a:r>
              <a:rPr lang="zh-CN" altLang="en-US" sz="2800" dirty="0"/>
              <a:t>：</a:t>
            </a:r>
            <a:r>
              <a:rPr lang="zh-CN" altLang="en-US" sz="2600" dirty="0"/>
              <a:t>显示</a:t>
            </a:r>
            <a:r>
              <a:rPr lang="en-US" altLang="zh-CN" sz="2600" dirty="0"/>
              <a:t>readme.txt </a:t>
            </a:r>
            <a:r>
              <a:rPr lang="zh-CN" altLang="en-US" sz="2600" dirty="0"/>
              <a:t>文件的内容，并在每一行前加行号。</a:t>
            </a:r>
            <a:r>
              <a:rPr lang="en-US" altLang="zh-CN" sz="2800" dirty="0"/>
              <a:t> </a:t>
            </a:r>
            <a:endParaRPr lang="zh-CN" altLang="en-US" sz="28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4727848" y="5852120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5796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B7F8AA-5CB5-51B2-FA2A-F180AAA5502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19536" y="603032"/>
            <a:ext cx="8136904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07468" y="1700808"/>
            <a:ext cx="9757084" cy="4032448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  <a:ea typeface="方正魏碑简体" charset="-122"/>
              </a:rPr>
              <a:t>tac </a:t>
            </a:r>
            <a:r>
              <a:rPr lang="zh-CN" altLang="en-US" sz="2600" dirty="0">
                <a:ea typeface="方正魏碑简体" charset="-122"/>
              </a:rPr>
              <a:t>命令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tac</a:t>
            </a:r>
            <a:r>
              <a:rPr lang="en-US" altLang="zh-CN" sz="2600" dirty="0"/>
              <a:t>  [</a:t>
            </a:r>
            <a:r>
              <a:rPr lang="zh-CN" altLang="en-US" sz="2600" dirty="0"/>
              <a:t>选项</a:t>
            </a:r>
            <a:r>
              <a:rPr lang="en-US" altLang="zh-CN" sz="2600" dirty="0"/>
              <a:t>]  </a:t>
            </a:r>
            <a:r>
              <a:rPr lang="zh-CN" altLang="en-US" sz="2600" dirty="0"/>
              <a:t>文件列表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：将文件以行为单位反序输出文件内容，即第一行最后显示，最后一行先显示。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7533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E96591E-43B5-2902-F8EE-3018C5C8F80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050356" y="553939"/>
            <a:ext cx="8078092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71464" y="1412776"/>
            <a:ext cx="9793088" cy="5112568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more </a:t>
            </a:r>
            <a:r>
              <a:rPr lang="zh-CN" altLang="en-US" sz="2800" dirty="0">
                <a:ea typeface="方正魏碑简体" charset="-122"/>
              </a:rPr>
              <a:t>命令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>
                <a:solidFill>
                  <a:srgbClr val="CC0099"/>
                </a:solidFill>
              </a:rPr>
              <a:t>more </a:t>
            </a:r>
            <a:r>
              <a:rPr lang="en-US" altLang="zh-CN" sz="2800" dirty="0"/>
              <a:t> [</a:t>
            </a:r>
            <a:r>
              <a:rPr lang="zh-CN" altLang="en-US" sz="2800" dirty="0"/>
              <a:t>选项</a:t>
            </a:r>
            <a:r>
              <a:rPr lang="en-US" altLang="zh-CN" sz="2800" dirty="0"/>
              <a:t>]  </a:t>
            </a:r>
            <a:r>
              <a:rPr lang="zh-CN" altLang="en-US" sz="2800" dirty="0"/>
              <a:t>文件列表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功能：</a:t>
            </a:r>
            <a:r>
              <a:rPr lang="zh-CN" altLang="en-US" sz="2600" dirty="0">
                <a:solidFill>
                  <a:srgbClr val="0000CC"/>
                </a:solidFill>
              </a:rPr>
              <a:t>分屏显示文本文件的内容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/>
              <a:t>+n</a:t>
            </a:r>
            <a:r>
              <a:rPr lang="zh-CN" altLang="en-US" sz="2600" dirty="0"/>
              <a:t>   从第</a:t>
            </a:r>
            <a:r>
              <a:rPr lang="en-US" altLang="zh-CN" sz="2600" dirty="0"/>
              <a:t>n</a:t>
            </a:r>
            <a:r>
              <a:rPr lang="zh-CN" altLang="en-US" sz="2600" dirty="0"/>
              <a:t>开始显示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-n   </a:t>
            </a:r>
            <a:r>
              <a:rPr lang="zh-CN" altLang="en-US" sz="2600" dirty="0"/>
              <a:t>定义屏幕大小为</a:t>
            </a:r>
            <a:r>
              <a:rPr lang="en-US" altLang="zh-CN" sz="2600" dirty="0"/>
              <a:t>n</a:t>
            </a:r>
            <a:r>
              <a:rPr lang="zh-CN" altLang="en-US" sz="2600" dirty="0"/>
              <a:t>行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-c   </a:t>
            </a:r>
            <a:r>
              <a:rPr lang="zh-CN" altLang="en-US" sz="2600" dirty="0"/>
              <a:t>从顶部清屏，然后显示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常用操作</a:t>
            </a:r>
            <a:r>
              <a:rPr lang="zh-CN" altLang="en-US" sz="2600" dirty="0"/>
              <a:t>：</a:t>
            </a:r>
            <a:r>
              <a:rPr lang="zh-CN" altLang="en-US" sz="2600" dirty="0">
                <a:latin typeface="宋体" pitchFamily="2" charset="-122"/>
              </a:rPr>
              <a:t>按</a:t>
            </a:r>
            <a:r>
              <a:rPr lang="en-US" altLang="zh-CN" sz="2600" dirty="0">
                <a:solidFill>
                  <a:srgbClr val="0000CC"/>
                </a:solidFill>
              </a:rPr>
              <a:t>Enter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键</a:t>
            </a:r>
            <a:r>
              <a:rPr lang="zh-CN" altLang="en-US" sz="2600" dirty="0">
                <a:latin typeface="宋体" pitchFamily="2" charset="-122"/>
              </a:rPr>
              <a:t>显示下一行内容；按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空格键</a:t>
            </a:r>
            <a:r>
              <a:rPr lang="zh-CN" altLang="en-US" sz="2600" dirty="0">
                <a:latin typeface="宋体" pitchFamily="2" charset="-122"/>
              </a:rPr>
              <a:t>显示下一屏的内容，按</a:t>
            </a:r>
            <a:r>
              <a:rPr lang="en-US" altLang="zh-CN" sz="2600" dirty="0">
                <a:latin typeface="宋体" pitchFamily="2" charset="-122"/>
              </a:rPr>
              <a:t>V</a:t>
            </a:r>
            <a:r>
              <a:rPr lang="zh-CN" altLang="en-US" sz="2600" dirty="0">
                <a:latin typeface="宋体" pitchFamily="2" charset="-122"/>
              </a:rPr>
              <a:t>调用</a:t>
            </a:r>
            <a:r>
              <a:rPr lang="en-US" altLang="zh-CN" sz="2600" dirty="0">
                <a:latin typeface="宋体" pitchFamily="2" charset="-122"/>
              </a:rPr>
              <a:t>vim</a:t>
            </a:r>
            <a:r>
              <a:rPr lang="zh-CN" altLang="en-US" sz="2600" dirty="0">
                <a:latin typeface="宋体" pitchFamily="2" charset="-122"/>
              </a:rPr>
              <a:t>编辑器；</a:t>
            </a:r>
            <a:r>
              <a:rPr lang="en-US" altLang="zh-CN" sz="2600" dirty="0"/>
              <a:t>q</a:t>
            </a:r>
            <a:r>
              <a:rPr lang="zh-CN" altLang="en-US" sz="2600" dirty="0">
                <a:latin typeface="宋体" pitchFamily="2" charset="-122"/>
              </a:rPr>
              <a:t>键，则退出</a:t>
            </a:r>
            <a:r>
              <a:rPr lang="en-US" altLang="zh-CN" sz="2600" dirty="0"/>
              <a:t>more</a:t>
            </a:r>
            <a:r>
              <a:rPr lang="zh-CN" altLang="en-US" sz="2600" dirty="0">
                <a:latin typeface="宋体" pitchFamily="2" charset="-122"/>
              </a:rPr>
              <a:t>命令</a:t>
            </a:r>
            <a:r>
              <a:rPr lang="zh-CN" altLang="en-US" sz="26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8</a:t>
            </a:r>
            <a:r>
              <a:rPr lang="zh-CN" altLang="en-US" sz="2600" dirty="0"/>
              <a:t>：显示</a:t>
            </a:r>
            <a:r>
              <a:rPr lang="en-US" altLang="zh-CN" sz="2600" dirty="0"/>
              <a:t>/etc/passwd</a:t>
            </a:r>
            <a:r>
              <a:rPr lang="zh-CN" altLang="en-US" sz="2600" dirty="0"/>
              <a:t>文件的内容，设置为每屏显示</a:t>
            </a:r>
            <a:r>
              <a:rPr lang="en-US" altLang="zh-CN" sz="2600" dirty="0"/>
              <a:t>5</a:t>
            </a:r>
            <a:r>
              <a:rPr lang="zh-CN" altLang="en-US" sz="2600" dirty="0"/>
              <a:t>行，并从顶部清屏。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894311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9AD0A50-E505-C1A8-4646-83D667CFBCC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609626"/>
            <a:ext cx="9721080" cy="4411662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</a:rPr>
              <a:t>less</a:t>
            </a:r>
            <a:r>
              <a:rPr lang="en-US" altLang="zh-CN" sz="2800" dirty="0"/>
              <a:t> </a:t>
            </a:r>
            <a:r>
              <a:rPr lang="zh-CN" altLang="en-US" sz="2800" dirty="0"/>
              <a:t>命令</a:t>
            </a:r>
          </a:p>
          <a:p>
            <a:pPr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altLang="zh-CN" sz="2800" dirty="0"/>
              <a:t>   less</a:t>
            </a:r>
            <a:r>
              <a:rPr lang="zh-CN" altLang="en-US" sz="2800" dirty="0"/>
              <a:t>命令与</a:t>
            </a:r>
            <a:r>
              <a:rPr lang="en-US" altLang="zh-CN" sz="2800" dirty="0"/>
              <a:t>more</a:t>
            </a:r>
            <a:r>
              <a:rPr lang="zh-CN" altLang="en-US" sz="2800" dirty="0"/>
              <a:t>命令，比起 </a:t>
            </a:r>
            <a:r>
              <a:rPr lang="en-US" altLang="zh-CN" sz="2800" dirty="0"/>
              <a:t>more </a:t>
            </a:r>
            <a:r>
              <a:rPr lang="zh-CN" altLang="en-US" sz="2800" dirty="0"/>
              <a:t>更加的有弹性，</a:t>
            </a:r>
            <a:r>
              <a:rPr lang="en-US" altLang="zh-CN" sz="2800" dirty="0"/>
              <a:t>more</a:t>
            </a:r>
            <a:r>
              <a:rPr lang="zh-CN" altLang="en-US" sz="2800" dirty="0"/>
              <a:t>命令只能向后翻页，而</a:t>
            </a:r>
            <a:r>
              <a:rPr lang="en-US" altLang="zh-CN" sz="2800" dirty="0"/>
              <a:t>less</a:t>
            </a:r>
            <a:r>
              <a:rPr lang="zh-CN" altLang="en-US" sz="2800" dirty="0"/>
              <a:t>命令可以</a:t>
            </a:r>
            <a:r>
              <a:rPr lang="zh-CN" altLang="en-US" sz="2800" dirty="0">
                <a:solidFill>
                  <a:srgbClr val="0000CC"/>
                </a:solidFill>
              </a:rPr>
              <a:t>使用上下方向键、</a:t>
            </a:r>
            <a:r>
              <a:rPr lang="en-US" altLang="zh-CN" sz="2800" dirty="0" err="1">
                <a:solidFill>
                  <a:srgbClr val="0000CC"/>
                </a:solidFill>
              </a:rPr>
              <a:t>PaUp</a:t>
            </a:r>
            <a:r>
              <a:rPr lang="zh-CN" altLang="en-US" sz="2800" dirty="0">
                <a:solidFill>
                  <a:srgbClr val="0000CC"/>
                </a:solidFill>
              </a:rPr>
              <a:t>或</a:t>
            </a:r>
            <a:r>
              <a:rPr lang="en-US" altLang="zh-CN" sz="2800" dirty="0" err="1">
                <a:solidFill>
                  <a:srgbClr val="0000CC"/>
                </a:solidFill>
              </a:rPr>
              <a:t>PaDn</a:t>
            </a:r>
            <a:r>
              <a:rPr lang="zh-CN" altLang="en-US" sz="2800" dirty="0">
                <a:solidFill>
                  <a:srgbClr val="0000CC"/>
                </a:solidFill>
              </a:rPr>
              <a:t>向前向后翻页</a:t>
            </a:r>
            <a:r>
              <a:rPr lang="zh-CN" altLang="en-US" sz="2800" dirty="0"/>
              <a:t>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sz="2800" dirty="0"/>
          </a:p>
          <a:p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388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49B63A-E896-7A18-007A-A74E34324F4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12776"/>
            <a:ext cx="10009112" cy="5256584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tail </a:t>
            </a:r>
            <a:r>
              <a:rPr lang="zh-CN" altLang="en-US" sz="2800" dirty="0">
                <a:ea typeface="方正魏碑简体" charset="-122"/>
              </a:rPr>
              <a:t>命令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>
                <a:solidFill>
                  <a:srgbClr val="CC0099"/>
                </a:solidFill>
              </a:rPr>
              <a:t>tail</a:t>
            </a:r>
            <a:r>
              <a:rPr lang="en-US" altLang="zh-CN" sz="2800" dirty="0">
                <a:solidFill>
                  <a:srgbClr val="0000CC"/>
                </a:solidFill>
              </a:rPr>
              <a:t>  [</a:t>
            </a:r>
            <a:r>
              <a:rPr lang="zh-CN" altLang="en-US" sz="2800" dirty="0">
                <a:solidFill>
                  <a:srgbClr val="0000CC"/>
                </a:solidFill>
              </a:rPr>
              <a:t>选项</a:t>
            </a:r>
            <a:r>
              <a:rPr lang="en-US" altLang="zh-CN" sz="2800" dirty="0">
                <a:solidFill>
                  <a:srgbClr val="0000CC"/>
                </a:solidFill>
              </a:rPr>
              <a:t>]  </a:t>
            </a:r>
            <a:r>
              <a:rPr lang="zh-CN" altLang="en-US" sz="2800" dirty="0">
                <a:solidFill>
                  <a:srgbClr val="0000CC"/>
                </a:solidFill>
              </a:rPr>
              <a:t>文件 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</a:t>
            </a:r>
            <a:r>
              <a:rPr lang="zh-CN" altLang="en-US" sz="2400" dirty="0"/>
              <a:t>显示文本文件的结尾部分，默认显示文件的最后</a:t>
            </a:r>
            <a:r>
              <a:rPr lang="en-US" altLang="zh-CN" sz="2400" dirty="0"/>
              <a:t>10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主要选项说明：</a:t>
            </a:r>
            <a:endParaRPr lang="zh-CN" altLang="en-US" sz="24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-n </a:t>
            </a:r>
            <a:r>
              <a:rPr lang="zh-CN" altLang="en-US" sz="2400" dirty="0"/>
              <a:t>数字  </a:t>
            </a:r>
            <a:r>
              <a:rPr lang="en-US" altLang="zh-CN" sz="2400" dirty="0"/>
              <a:t>  </a:t>
            </a:r>
            <a:r>
              <a:rPr lang="zh-CN" altLang="en-US" sz="2400" dirty="0"/>
              <a:t>指定显示的行数。</a:t>
            </a:r>
            <a:endParaRPr lang="en-US" altLang="zh-CN" sz="24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head </a:t>
            </a:r>
            <a:r>
              <a:rPr lang="zh-CN" altLang="en-US" sz="2400" dirty="0"/>
              <a:t>命令</a:t>
            </a:r>
            <a:endParaRPr lang="en-US" altLang="zh-CN" sz="24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400" dirty="0"/>
              <a:t>与</a:t>
            </a:r>
            <a:r>
              <a:rPr lang="en-US" altLang="zh-CN" sz="2400" dirty="0"/>
              <a:t>tail</a:t>
            </a:r>
            <a:r>
              <a:rPr lang="zh-CN" altLang="en-US" sz="2400" dirty="0"/>
              <a:t>命令很相似，</a:t>
            </a:r>
            <a:r>
              <a:rPr lang="en-US" altLang="zh-CN" sz="2400" dirty="0"/>
              <a:t>head</a:t>
            </a:r>
            <a:r>
              <a:rPr lang="zh-CN" altLang="en-US" sz="2400" dirty="0"/>
              <a:t>命令显示文本文件的开头部分，默认显示文件的开头</a:t>
            </a:r>
            <a:r>
              <a:rPr lang="en-US" altLang="zh-CN" sz="2400" dirty="0"/>
              <a:t>10</a:t>
            </a:r>
            <a:r>
              <a:rPr lang="zh-CN" altLang="en-US" sz="2400" dirty="0"/>
              <a:t>行。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主要选项说明：</a:t>
            </a:r>
            <a:endParaRPr lang="zh-CN" altLang="en-US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-n </a:t>
            </a:r>
            <a:r>
              <a:rPr lang="zh-CN" altLang="en-US" sz="2600" dirty="0"/>
              <a:t>数字  </a:t>
            </a:r>
            <a:r>
              <a:rPr lang="en-US" altLang="zh-CN" sz="2600" dirty="0"/>
              <a:t>  </a:t>
            </a:r>
            <a:r>
              <a:rPr lang="zh-CN" altLang="en-US" sz="2600" dirty="0"/>
              <a:t>指定显示的行数。</a:t>
            </a:r>
            <a:endParaRPr lang="en-US" altLang="zh-CN" sz="2600" dirty="0"/>
          </a:p>
          <a:p>
            <a:pPr marL="0" indent="0"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9</a:t>
            </a:r>
            <a:r>
              <a:rPr lang="zh-CN" altLang="en-US" sz="2600" dirty="0"/>
              <a:t>：</a:t>
            </a:r>
            <a:r>
              <a:rPr lang="zh-CN" altLang="fr-FR" sz="2600" dirty="0"/>
              <a:t>查看</a:t>
            </a:r>
            <a:r>
              <a:rPr lang="fr-FR" altLang="zh-CN" sz="2600" dirty="0"/>
              <a:t>/etc/passwd</a:t>
            </a:r>
            <a:r>
              <a:rPr lang="zh-CN" altLang="fr-FR" sz="2600" dirty="0"/>
              <a:t>文件的后</a:t>
            </a:r>
            <a:r>
              <a:rPr lang="fr-FR" altLang="zh-CN" sz="2600" dirty="0"/>
              <a:t>5</a:t>
            </a:r>
            <a:r>
              <a:rPr lang="zh-CN" altLang="fr-FR" sz="2600" dirty="0"/>
              <a:t>行。</a:t>
            </a:r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01766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D3BC36-1758-EA50-8135-44704B7266A1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84784"/>
            <a:ext cx="9793088" cy="475252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cp </a:t>
            </a:r>
            <a:r>
              <a:rPr lang="zh-CN" altLang="en-US" sz="2800" dirty="0">
                <a:ea typeface="方正魏碑简体" charset="-122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>
                <a:solidFill>
                  <a:srgbClr val="CC0099"/>
                </a:solidFill>
              </a:rPr>
              <a:t>cp </a:t>
            </a:r>
            <a:r>
              <a:rPr lang="en-US" altLang="zh-CN" sz="2800" dirty="0"/>
              <a:t> [</a:t>
            </a:r>
            <a:r>
              <a:rPr lang="zh-CN" altLang="en-US" sz="2800" dirty="0"/>
              <a:t>选项</a:t>
            </a:r>
            <a:r>
              <a:rPr lang="en-US" altLang="zh-CN" sz="2800" dirty="0"/>
              <a:t>]  </a:t>
            </a:r>
            <a:r>
              <a:rPr lang="zh-CN" altLang="en-US" sz="2800" dirty="0"/>
              <a:t>源文件或目录   目标文件或目录 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功能</a:t>
            </a:r>
            <a:r>
              <a:rPr lang="zh-CN" altLang="en-US" sz="2800" dirty="0"/>
              <a:t>：复制文件或目录。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主要选项说明：</a:t>
            </a:r>
            <a:endParaRPr lang="zh-CN" altLang="en-US" sz="28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400" dirty="0"/>
              <a:t>-r </a:t>
            </a:r>
            <a:r>
              <a:rPr lang="zh-CN" altLang="en-US" sz="2400" dirty="0"/>
              <a:t> 若给出的源文件是目录文件，此时</a:t>
            </a:r>
            <a:r>
              <a:rPr lang="en-US" altLang="zh-CN" sz="2400" dirty="0"/>
              <a:t>cp</a:t>
            </a:r>
            <a:r>
              <a:rPr lang="zh-CN" altLang="en-US" sz="2400" dirty="0"/>
              <a:t>将递归复制该目录下所有的子目录和文件。此时目标文件必须为一个目录名。 </a:t>
            </a:r>
            <a:endParaRPr lang="en-US" altLang="zh-CN" sz="24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400" dirty="0"/>
              <a:t>-f    </a:t>
            </a:r>
            <a:r>
              <a:rPr lang="zh-CN" altLang="en-US" sz="2400" dirty="0"/>
              <a:t>强制覆盖同名文件。</a:t>
            </a:r>
            <a:endParaRPr lang="en-US" altLang="zh-CN" sz="24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400" dirty="0"/>
              <a:t>-i    </a:t>
            </a:r>
            <a:r>
              <a:rPr lang="zh-CN" altLang="en-US" sz="2400" dirty="0"/>
              <a:t>覆盖文件之前先询问用户（采用交互式复制文件）</a:t>
            </a:r>
            <a:endParaRPr lang="en-US" altLang="zh-CN" sz="24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400" dirty="0"/>
              <a:t>-p</a:t>
            </a:r>
            <a:r>
              <a:rPr lang="zh-CN" altLang="en-US" sz="2400" dirty="0"/>
              <a:t>  保持文件原来的属性。</a:t>
            </a:r>
            <a:r>
              <a:rPr lang="en-US" altLang="zh-CN" sz="2400" dirty="0"/>
              <a:t>(</a:t>
            </a:r>
            <a:r>
              <a:rPr lang="zh-CN" altLang="en-US" sz="2400" dirty="0"/>
              <a:t>除复制文件的内容外，还把修改时间和访问权限也复制到新文件中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8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0118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E23926E-26E1-36DA-D940-D6B2877C83A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444" y="1591716"/>
            <a:ext cx="10009112" cy="464559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dirty="0"/>
              <a:t>例如，将</a:t>
            </a:r>
            <a:r>
              <a:rPr lang="en-US" altLang="zh-CN" sz="2500" dirty="0"/>
              <a:t>/</a:t>
            </a:r>
            <a:r>
              <a:rPr lang="en-US" altLang="zh-CN" sz="2500" dirty="0" err="1"/>
              <a:t>dir1</a:t>
            </a:r>
            <a:r>
              <a:rPr lang="en-US" altLang="zh-CN" sz="2500" dirty="0"/>
              <a:t>/a</a:t>
            </a:r>
            <a:r>
              <a:rPr lang="zh-CN" altLang="en-US" sz="2500" dirty="0"/>
              <a:t>复制到</a:t>
            </a:r>
            <a:r>
              <a:rPr lang="en-US" altLang="zh-CN" sz="2500" dirty="0"/>
              <a:t>/</a:t>
            </a:r>
            <a:r>
              <a:rPr lang="en-US" altLang="zh-CN" sz="2500" dirty="0" err="1"/>
              <a:t>dir2</a:t>
            </a:r>
            <a:r>
              <a:rPr lang="zh-CN" altLang="en-US" sz="2500" dirty="0"/>
              <a:t>目录下，命名为</a:t>
            </a:r>
            <a:r>
              <a:rPr lang="en-US" altLang="zh-CN" sz="2500" dirty="0"/>
              <a:t>b</a:t>
            </a:r>
            <a:r>
              <a:rPr lang="zh-CN" altLang="en-US" sz="2500" dirty="0"/>
              <a:t>：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en-US" altLang="zh-CN" sz="2500" dirty="0"/>
              <a:t> $ </a:t>
            </a:r>
            <a:r>
              <a:rPr lang="en-US" altLang="zh-CN" sz="2500" dirty="0" err="1"/>
              <a:t>cp</a:t>
            </a:r>
            <a:r>
              <a:rPr lang="en-US" altLang="zh-CN" sz="2500" dirty="0"/>
              <a:t>  /</a:t>
            </a:r>
            <a:r>
              <a:rPr lang="en-US" altLang="zh-CN" sz="2500" dirty="0" err="1"/>
              <a:t>dir1</a:t>
            </a:r>
            <a:r>
              <a:rPr lang="en-US" altLang="zh-CN" sz="2500" dirty="0"/>
              <a:t>/a  /</a:t>
            </a:r>
            <a:r>
              <a:rPr lang="en-US" altLang="zh-CN" sz="2500" dirty="0" err="1"/>
              <a:t>dir2</a:t>
            </a:r>
            <a:r>
              <a:rPr lang="en-US" altLang="zh-CN" sz="2500" dirty="0"/>
              <a:t>/b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500" dirty="0">
                <a:solidFill>
                  <a:srgbClr val="CC0099"/>
                </a:solidFill>
              </a:rPr>
              <a:t>cp </a:t>
            </a:r>
            <a:r>
              <a:rPr lang="zh-CN" altLang="en-US" sz="2500" dirty="0">
                <a:solidFill>
                  <a:srgbClr val="CC0099"/>
                </a:solidFill>
              </a:rPr>
              <a:t>命令复制多个文件到目录</a:t>
            </a:r>
            <a:r>
              <a:rPr lang="zh-CN" altLang="en-US" sz="2500" dirty="0"/>
              <a:t>，命令语法：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en-US" altLang="zh-CN" sz="2500" dirty="0" err="1">
                <a:solidFill>
                  <a:srgbClr val="0000CC"/>
                </a:solidFill>
              </a:rPr>
              <a:t>cp</a:t>
            </a:r>
            <a:r>
              <a:rPr lang="en-US" altLang="zh-CN" sz="2500" dirty="0">
                <a:solidFill>
                  <a:srgbClr val="0000CC"/>
                </a:solidFill>
              </a:rPr>
              <a:t>   </a:t>
            </a:r>
            <a:r>
              <a:rPr lang="zh-CN" altLang="en-US" sz="2500" dirty="0">
                <a:solidFill>
                  <a:srgbClr val="0000CC"/>
                </a:solidFill>
              </a:rPr>
              <a:t>文件名</a:t>
            </a:r>
            <a:r>
              <a:rPr lang="en-US" altLang="zh-CN" sz="2500" dirty="0">
                <a:solidFill>
                  <a:srgbClr val="0000CC"/>
                </a:solidFill>
              </a:rPr>
              <a:t>1   </a:t>
            </a:r>
            <a:r>
              <a:rPr lang="zh-CN" altLang="en-US" sz="2500" dirty="0">
                <a:solidFill>
                  <a:srgbClr val="0000CC"/>
                </a:solidFill>
              </a:rPr>
              <a:t>文件名</a:t>
            </a:r>
            <a:r>
              <a:rPr lang="en-US" altLang="zh-CN" sz="2500" dirty="0">
                <a:solidFill>
                  <a:srgbClr val="0000CC"/>
                </a:solidFill>
              </a:rPr>
              <a:t>2 </a:t>
            </a:r>
            <a:r>
              <a:rPr lang="en-US" altLang="zh-CN" sz="2500" dirty="0">
                <a:solidFill>
                  <a:srgbClr val="0000CC"/>
                </a:solidFill>
                <a:latin typeface="Arial" pitchFamily="34" charset="0"/>
              </a:rPr>
              <a:t>… …</a:t>
            </a:r>
            <a:r>
              <a:rPr lang="en-US" altLang="zh-CN" sz="2500" dirty="0">
                <a:solidFill>
                  <a:srgbClr val="0000CC"/>
                </a:solidFill>
              </a:rPr>
              <a:t>  </a:t>
            </a:r>
            <a:r>
              <a:rPr lang="zh-CN" altLang="en-US" sz="2500" dirty="0">
                <a:solidFill>
                  <a:srgbClr val="0000CC"/>
                </a:solidFill>
              </a:rPr>
              <a:t>目标目录名</a:t>
            </a:r>
            <a:r>
              <a:rPr lang="en-US" altLang="zh-CN" sz="2500" dirty="0">
                <a:solidFill>
                  <a:srgbClr val="0000CC"/>
                </a:solidFill>
              </a:rPr>
              <a:t>(</a:t>
            </a:r>
            <a:r>
              <a:rPr lang="zh-CN" altLang="en-US" sz="2500" dirty="0">
                <a:solidFill>
                  <a:srgbClr val="0000CC"/>
                </a:solidFill>
              </a:rPr>
              <a:t>最后的项目必须是目录</a:t>
            </a:r>
            <a:r>
              <a:rPr lang="en-US" altLang="zh-CN" sz="2500" dirty="0">
                <a:solidFill>
                  <a:srgbClr val="0000CC"/>
                </a:solidFill>
              </a:rPr>
              <a:t>)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zh-CN" altLang="en-US" sz="2500" dirty="0"/>
              <a:t> 例如：将</a:t>
            </a:r>
            <a:r>
              <a:rPr lang="en-US" altLang="zh-CN" sz="2500" dirty="0"/>
              <a:t>a b </a:t>
            </a:r>
            <a:r>
              <a:rPr lang="zh-CN" altLang="en-US" sz="2500" dirty="0"/>
              <a:t>二个文件复制到</a:t>
            </a:r>
            <a:r>
              <a:rPr lang="en-US" altLang="zh-CN" sz="2500" dirty="0" err="1"/>
              <a:t>newdir</a:t>
            </a:r>
            <a:r>
              <a:rPr lang="zh-CN" altLang="en-US" sz="2500" dirty="0"/>
              <a:t>目录下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en-US" altLang="zh-CN" sz="2500" dirty="0"/>
              <a:t>    $ </a:t>
            </a:r>
            <a:r>
              <a:rPr lang="en-US" altLang="zh-CN" sz="2500" dirty="0" err="1"/>
              <a:t>cp</a:t>
            </a:r>
            <a:r>
              <a:rPr lang="en-US" altLang="zh-CN" sz="2500" dirty="0"/>
              <a:t> a b  </a:t>
            </a:r>
            <a:r>
              <a:rPr lang="en-US" altLang="zh-CN" sz="2500" dirty="0" err="1"/>
              <a:t>newdir</a:t>
            </a:r>
            <a:r>
              <a:rPr lang="en-US" altLang="zh-CN" sz="2500" dirty="0"/>
              <a:t>/</a:t>
            </a:r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10</a:t>
            </a:r>
            <a:r>
              <a:rPr lang="zh-CN" altLang="en-US" sz="2500" dirty="0"/>
              <a:t>：将文件</a:t>
            </a:r>
            <a:r>
              <a:rPr lang="en-US" altLang="zh-CN" sz="2500" dirty="0" err="1"/>
              <a:t>exam.c</a:t>
            </a:r>
            <a:r>
              <a:rPr lang="en-US" altLang="zh-CN" sz="2500" dirty="0"/>
              <a:t> </a:t>
            </a:r>
            <a:r>
              <a:rPr lang="zh-CN" altLang="en-US" sz="2500" dirty="0"/>
              <a:t>复制到</a:t>
            </a:r>
            <a:r>
              <a:rPr lang="en-US" altLang="zh-CN" sz="2500" dirty="0"/>
              <a:t>/user/</a:t>
            </a:r>
            <a:r>
              <a:rPr lang="en-US" altLang="zh-CN" sz="2500" dirty="0" err="1"/>
              <a:t>wang</a:t>
            </a:r>
            <a:r>
              <a:rPr lang="zh-CN" altLang="en-US" sz="2500" dirty="0"/>
              <a:t>目录下，并改名为</a:t>
            </a:r>
            <a:r>
              <a:rPr lang="en-US" altLang="zh-CN" sz="2500" dirty="0" err="1"/>
              <a:t>shiyan.c</a:t>
            </a:r>
            <a:r>
              <a:rPr lang="zh-CN" altLang="en-US" sz="2500" dirty="0"/>
              <a:t>，复制时保留文件属性。</a:t>
            </a:r>
            <a:endParaRPr lang="en-US" altLang="zh-CN" sz="2500" dirty="0"/>
          </a:p>
          <a:p>
            <a:pPr marL="344487" lvl="1" indent="0" eaLnBrk="1" hangingPunct="1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35560" y="579120"/>
            <a:ext cx="7632848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</p:spTree>
    <p:extLst>
      <p:ext uri="{BB962C8B-B14F-4D97-AF65-F5344CB8AC3E}">
        <p14:creationId xmlns:p14="http://schemas.microsoft.com/office/powerpoint/2010/main" val="694396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FEAEA96-A50A-1518-659A-56DC8BB1FDF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793088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12776"/>
            <a:ext cx="9793088" cy="4752528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 err="1">
                <a:solidFill>
                  <a:srgbClr val="0000CC"/>
                </a:solidFill>
              </a:rPr>
              <a:t>mkdir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latin typeface="+mn-ea"/>
              </a:rPr>
              <a:t>命令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 err="1"/>
              <a:t>mkdir</a:t>
            </a:r>
            <a:r>
              <a:rPr lang="en-US" altLang="zh-CN" sz="2600" dirty="0"/>
              <a:t>   [</a:t>
            </a:r>
            <a:r>
              <a:rPr lang="zh-CN" altLang="en-US" sz="2600" dirty="0"/>
              <a:t>选项</a:t>
            </a:r>
            <a:r>
              <a:rPr lang="en-US" altLang="zh-CN" sz="2600" dirty="0"/>
              <a:t>]   </a:t>
            </a:r>
            <a:r>
              <a:rPr lang="zh-CN" altLang="en-US" sz="2600" dirty="0"/>
              <a:t>目录 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：创建新目录，可以创建一个或多个目录。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主要选项说明：</a:t>
            </a:r>
            <a:endParaRPr lang="zh-CN" altLang="en-US" sz="26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-m    </a:t>
            </a:r>
            <a:r>
              <a:rPr lang="zh-CN" altLang="en-US" sz="2400" dirty="0"/>
              <a:t>对新创建目录的设置访问权限，也可以用</a:t>
            </a:r>
            <a:r>
              <a:rPr lang="en-US" altLang="zh-CN" sz="2400" dirty="0" err="1"/>
              <a:t>chmod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-p</a:t>
            </a:r>
            <a:r>
              <a:rPr lang="zh-CN" altLang="en-US" sz="2400" dirty="0"/>
              <a:t>    一次性创建多级目录。</a:t>
            </a:r>
            <a:endParaRPr lang="en-US" altLang="zh-CN" sz="2400" dirty="0"/>
          </a:p>
          <a:p>
            <a:pPr marL="0" indent="0"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400" dirty="0"/>
              <a:t>-v    </a:t>
            </a:r>
            <a:r>
              <a:rPr lang="zh-CN" altLang="en-US" sz="2400" dirty="0"/>
              <a:t>每次创建新目录都显示信息。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练习</a:t>
            </a:r>
            <a:r>
              <a:rPr lang="en-US" altLang="zh-CN" sz="2400" dirty="0">
                <a:solidFill>
                  <a:srgbClr val="0000CC"/>
                </a:solidFill>
              </a:rPr>
              <a:t>11</a:t>
            </a:r>
            <a:r>
              <a:rPr lang="zh-CN" altLang="en-US" sz="2400" dirty="0"/>
              <a:t>：创建名为</a:t>
            </a:r>
            <a:r>
              <a:rPr lang="en-US" altLang="zh-CN" sz="2400" dirty="0"/>
              <a:t>test</a:t>
            </a:r>
            <a:r>
              <a:rPr lang="zh-CN" altLang="en-US" sz="2400" dirty="0"/>
              <a:t>的目录，并在其下创建 </a:t>
            </a:r>
            <a:r>
              <a:rPr lang="en-US" altLang="zh-CN" sz="2400" dirty="0" err="1"/>
              <a:t>linux</a:t>
            </a:r>
            <a:r>
              <a:rPr lang="zh-CN" altLang="en-US" sz="2400" dirty="0"/>
              <a:t>目录，并设置权限为</a:t>
            </a:r>
            <a:r>
              <a:rPr lang="en-US" altLang="zh-CN" sz="2400" dirty="0"/>
              <a:t>777</a:t>
            </a:r>
            <a:r>
              <a:rPr lang="zh-CN" altLang="en-US" sz="2400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5875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B82BD16-F226-79C4-8666-D1D71846704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721080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12776"/>
            <a:ext cx="9793088" cy="4752528"/>
          </a:xfrm>
        </p:spPr>
        <p:txBody>
          <a:bodyPr/>
          <a:lstStyle/>
          <a:p>
            <a:pPr algn="just">
              <a:buClr>
                <a:schemeClr val="tx1"/>
              </a:buClr>
              <a:buNone/>
            </a:pPr>
            <a:r>
              <a:rPr lang="en-US" altLang="zh-CN" sz="2600" dirty="0" err="1">
                <a:solidFill>
                  <a:srgbClr val="0000CC"/>
                </a:solidFill>
              </a:rPr>
              <a:t>rmdir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latin typeface="+mn-ea"/>
              </a:rPr>
              <a:t>命令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rmdir </a:t>
            </a:r>
            <a:r>
              <a:rPr lang="en-US" altLang="zh-CN" sz="2600" dirty="0"/>
              <a:t> [</a:t>
            </a:r>
            <a:r>
              <a:rPr lang="zh-CN" altLang="en-US" sz="2600" dirty="0"/>
              <a:t>选项</a:t>
            </a:r>
            <a:r>
              <a:rPr lang="en-US" altLang="zh-CN" sz="2600" dirty="0"/>
              <a:t>]  </a:t>
            </a:r>
            <a:r>
              <a:rPr lang="zh-CN" altLang="en-US" sz="2600" dirty="0"/>
              <a:t>目录名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：删除空目录。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例如，删除</a:t>
            </a:r>
            <a:r>
              <a:rPr lang="en-US" altLang="zh-CN" sz="2600" dirty="0"/>
              <a:t>/home/</a:t>
            </a:r>
            <a:r>
              <a:rPr lang="en-US" altLang="zh-CN" sz="2600" dirty="0" err="1"/>
              <a:t>limhai</a:t>
            </a:r>
            <a:r>
              <a:rPr lang="en-US" altLang="zh-CN" sz="2600" dirty="0"/>
              <a:t>/</a:t>
            </a:r>
            <a:r>
              <a:rPr lang="en-US" altLang="zh-CN" sz="2600" dirty="0" err="1"/>
              <a:t>newdir</a:t>
            </a:r>
            <a:r>
              <a:rPr lang="en-US" altLang="zh-CN" sz="2600" dirty="0"/>
              <a:t> </a:t>
            </a:r>
            <a:r>
              <a:rPr lang="zh-CN" altLang="en-US" sz="2600" dirty="0"/>
              <a:t>目录的方法：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$ rmdir  /home/</a:t>
            </a:r>
            <a:r>
              <a:rPr lang="en-US" altLang="zh-CN" sz="2600" dirty="0" err="1"/>
              <a:t>limhai</a:t>
            </a:r>
            <a:r>
              <a:rPr lang="en-US" altLang="zh-CN" sz="2600" dirty="0"/>
              <a:t>/</a:t>
            </a:r>
            <a:r>
              <a:rPr lang="en-US" altLang="zh-CN" sz="2600" dirty="0" err="1"/>
              <a:t>newdir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    </a:t>
            </a:r>
            <a:r>
              <a:rPr lang="zh-CN" altLang="en-US" sz="2600" dirty="0">
                <a:solidFill>
                  <a:srgbClr val="0000CC"/>
                </a:solidFill>
              </a:rPr>
              <a:t>或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$ cd /home/</a:t>
            </a:r>
            <a:r>
              <a:rPr lang="en-US" altLang="zh-CN" sz="2600" dirty="0" err="1"/>
              <a:t>limhai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en-US" altLang="zh-CN" sz="2600" dirty="0"/>
              <a:t>    $ rmdir </a:t>
            </a:r>
            <a:r>
              <a:rPr lang="en-US" altLang="zh-CN" sz="2600" dirty="0" err="1"/>
              <a:t>newdir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en-US" altLang="zh-CN" sz="2600" dirty="0"/>
              <a:t>rmdir</a:t>
            </a:r>
            <a:r>
              <a:rPr lang="zh-CN" altLang="en-US" sz="2600" dirty="0"/>
              <a:t>命令删除的目录</a:t>
            </a:r>
            <a:r>
              <a:rPr lang="zh-CN" altLang="en-US" sz="2600" dirty="0">
                <a:solidFill>
                  <a:srgbClr val="0000CC"/>
                </a:solidFill>
              </a:rPr>
              <a:t>必须是空目录</a:t>
            </a:r>
            <a:r>
              <a:rPr lang="zh-CN" altLang="en-US" sz="2600" dirty="0"/>
              <a:t>，若不是空目录，必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600" dirty="0"/>
              <a:t>须先用</a:t>
            </a:r>
            <a:r>
              <a:rPr lang="en-US" altLang="zh-CN" sz="2600" dirty="0" err="1"/>
              <a:t>rm</a:t>
            </a:r>
            <a:r>
              <a:rPr lang="en-US" altLang="zh-CN" sz="2600" dirty="0"/>
              <a:t> </a:t>
            </a:r>
            <a:r>
              <a:rPr lang="zh-CN" altLang="en-US" sz="2600" dirty="0"/>
              <a:t>命令删除目录下所有文件。</a:t>
            </a:r>
          </a:p>
          <a:p>
            <a:pPr algn="just">
              <a:buClr>
                <a:schemeClr val="tx1"/>
              </a:buClr>
              <a:buNone/>
            </a:pPr>
            <a:endParaRPr lang="en-US" altLang="zh-CN" sz="2400" dirty="0"/>
          </a:p>
          <a:p>
            <a:pPr algn="just">
              <a:buClr>
                <a:schemeClr val="tx1"/>
              </a:buClr>
              <a:buNone/>
            </a:pPr>
            <a:endParaRPr lang="zh-CN" altLang="en-US" sz="2400" dirty="0"/>
          </a:p>
          <a:p>
            <a:pPr marL="0" indent="0" algn="just">
              <a:buClr>
                <a:schemeClr val="tx1"/>
              </a:buClr>
              <a:buNone/>
            </a:pPr>
            <a:endParaRPr lang="zh-CN" altLang="en-US" sz="2400" dirty="0"/>
          </a:p>
          <a:p>
            <a:pPr marL="0" indent="0" algn="just">
              <a:buClr>
                <a:schemeClr val="tx1"/>
              </a:buClr>
              <a:buNone/>
            </a:pPr>
            <a:endParaRPr lang="zh-CN" altLang="en-US" sz="2400" dirty="0"/>
          </a:p>
          <a:p>
            <a:endParaRPr lang="zh-CN" altLang="en-US" sz="28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5476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A0CD3A6-0404-BB0D-A943-FE0CEE71B5B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</a:t>
            </a:r>
            <a:r>
              <a:rPr lang="zh-CN" altLang="en-US" sz="3600">
                <a:ea typeface="黑体" pitchFamily="49" charset="-122"/>
              </a:rPr>
              <a:t>目录的命令</a:t>
            </a:r>
            <a:endParaRPr lang="zh-CN" altLang="en-US" sz="3600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77685" y="1556792"/>
            <a:ext cx="9614859" cy="475252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 err="1">
                <a:solidFill>
                  <a:srgbClr val="0000CC"/>
                </a:solidFill>
              </a:rPr>
              <a:t>rm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 </a:t>
            </a:r>
            <a:r>
              <a:rPr lang="zh-CN" altLang="en-US" sz="2600" dirty="0">
                <a:latin typeface="+mn-ea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 err="1">
                <a:solidFill>
                  <a:srgbClr val="CC0099"/>
                </a:solidFill>
              </a:rPr>
              <a:t>rm</a:t>
            </a:r>
            <a:r>
              <a:rPr lang="en-US" altLang="zh-CN" sz="2600" dirty="0">
                <a:solidFill>
                  <a:srgbClr val="CC0099"/>
                </a:solidFill>
              </a:rPr>
              <a:t>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文件或目录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：删除文件或目录。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</a:rPr>
              <a:t>主要选项说明：</a:t>
            </a:r>
            <a:endParaRPr lang="zh-CN" altLang="en-US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-f   </a:t>
            </a:r>
            <a:r>
              <a:rPr lang="zh-CN" altLang="en-US" sz="2600" dirty="0"/>
              <a:t>强制删除，不需要确认，包括删除有写保护文件。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-r  </a:t>
            </a:r>
            <a:r>
              <a:rPr lang="zh-CN" altLang="en-US" sz="2600" dirty="0"/>
              <a:t> 按递归方式删除目录，即删除目录和目录里的所有内容。</a:t>
            </a:r>
            <a:endParaRPr lang="en-US" altLang="zh-CN" sz="2600" dirty="0"/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/>
              <a:t>-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 </a:t>
            </a:r>
            <a:r>
              <a:rPr lang="zh-CN" altLang="en-US" sz="2600" dirty="0"/>
              <a:t>交互方式操作，删除之前提示，要求用户回答“</a:t>
            </a:r>
            <a:r>
              <a:rPr lang="en-US" altLang="zh-CN" sz="2600" dirty="0"/>
              <a:t>y”</a:t>
            </a:r>
            <a:r>
              <a:rPr lang="zh-CN" altLang="en-US" sz="2600" dirty="0"/>
              <a:t>或“</a:t>
            </a:r>
            <a:r>
              <a:rPr lang="en-US" altLang="zh-CN" sz="2600" dirty="0"/>
              <a:t>n”</a:t>
            </a:r>
            <a:r>
              <a:rPr lang="zh-CN" altLang="en-US" sz="2600" dirty="0"/>
              <a:t>，避免误删除文件。</a:t>
            </a:r>
            <a:endParaRPr lang="en-US" altLang="zh-CN" sz="26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56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DA7E65F-899B-84F5-CB01-F13BFDCD2C7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37618"/>
            <a:ext cx="9793088" cy="4411662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/>
              <a:t>例如：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zh-CN" altLang="en-US" dirty="0"/>
              <a:t>删除当前目录下所有以</a:t>
            </a:r>
            <a:r>
              <a:rPr lang="en-US" altLang="zh-CN" dirty="0"/>
              <a:t>file</a:t>
            </a:r>
            <a:r>
              <a:rPr lang="zh-CN" altLang="en-US" dirty="0"/>
              <a:t>打头的文件，删除前先询问。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en-US" altLang="zh-CN" dirty="0"/>
              <a:t> rm </a:t>
            </a:r>
            <a:r>
              <a:rPr lang="en-US" altLang="zh-CN" dirty="0">
                <a:latin typeface="Arial" pitchFamily="34" charset="0"/>
              </a:rPr>
              <a:t>-</a:t>
            </a:r>
            <a:r>
              <a:rPr lang="en-US" altLang="zh-CN" dirty="0" err="1"/>
              <a:t>i</a:t>
            </a:r>
            <a:r>
              <a:rPr lang="en-US" altLang="zh-CN" dirty="0"/>
              <a:t>  file*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zh-CN" altLang="en-US" dirty="0"/>
              <a:t> 删除目录</a:t>
            </a:r>
            <a:r>
              <a:rPr lang="en-US" altLang="zh-CN" dirty="0"/>
              <a:t>doc</a:t>
            </a:r>
            <a:r>
              <a:rPr lang="zh-CN" altLang="en-US" dirty="0"/>
              <a:t>，无论是否是空目录。</a:t>
            </a:r>
          </a:p>
          <a:p>
            <a:pPr marL="344487" lvl="1" indent="0" eaLnBrk="1" hangingPunct="1">
              <a:lnSpc>
                <a:spcPct val="120000"/>
              </a:lnSpc>
              <a:buNone/>
            </a:pPr>
            <a:r>
              <a:rPr lang="en-US" altLang="zh-CN" dirty="0"/>
              <a:t> rm  </a:t>
            </a:r>
            <a:r>
              <a:rPr lang="en-US" altLang="zh-CN" dirty="0">
                <a:latin typeface="Arial" pitchFamily="34" charset="0"/>
              </a:rPr>
              <a:t>-</a:t>
            </a:r>
            <a:r>
              <a:rPr lang="en-US" altLang="zh-CN" dirty="0"/>
              <a:t>rf  doc/</a:t>
            </a:r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12</a:t>
            </a:r>
            <a:r>
              <a:rPr lang="zh-CN" altLang="en-US" sz="2600" dirty="0"/>
              <a:t>：将</a:t>
            </a:r>
            <a:r>
              <a:rPr lang="en-US" altLang="zh-CN" sz="2600" dirty="0"/>
              <a:t>/home</a:t>
            </a:r>
            <a:r>
              <a:rPr lang="zh-CN" altLang="en-US" sz="2600" dirty="0"/>
              <a:t>目录拷贝到</a:t>
            </a:r>
            <a:r>
              <a:rPr lang="en-US" altLang="zh-CN" sz="2600" dirty="0"/>
              <a:t>/root</a:t>
            </a:r>
            <a:r>
              <a:rPr lang="zh-CN" altLang="en-US" sz="2600" dirty="0"/>
              <a:t>目录下，并保持文件的原属性，然后再将</a:t>
            </a:r>
            <a:r>
              <a:rPr lang="en-US" altLang="zh-CN" sz="2600" dirty="0"/>
              <a:t>root</a:t>
            </a:r>
            <a:r>
              <a:rPr lang="zh-CN" altLang="en-US" sz="2600" dirty="0"/>
              <a:t>下的</a:t>
            </a:r>
            <a:r>
              <a:rPr lang="en-US" altLang="zh-CN" sz="2600" dirty="0"/>
              <a:t>home</a:t>
            </a:r>
            <a:r>
              <a:rPr lang="zh-CN" altLang="en-US" sz="2600" dirty="0"/>
              <a:t>及子目录强制删除。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4727848" y="5780112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1544" y="579120"/>
            <a:ext cx="8064896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</p:spTree>
    <p:extLst>
      <p:ext uri="{BB962C8B-B14F-4D97-AF65-F5344CB8AC3E}">
        <p14:creationId xmlns:p14="http://schemas.microsoft.com/office/powerpoint/2010/main" val="2952974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D7A5D4-E8F3-83C6-D6E8-F65509A6012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</a:t>
            </a:r>
            <a:r>
              <a:rPr lang="zh-CN" altLang="en-US" sz="3600">
                <a:ea typeface="黑体" pitchFamily="49" charset="-122"/>
              </a:rPr>
              <a:t>目录的命令</a:t>
            </a:r>
            <a:endParaRPr lang="zh-CN" altLang="en-US" sz="3600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556792"/>
            <a:ext cx="9793088" cy="475252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ea typeface="方正魏碑简体" charset="-122"/>
              </a:rPr>
              <a:t>mv </a:t>
            </a:r>
            <a:r>
              <a:rPr lang="zh-CN" altLang="en-US" sz="2600" dirty="0">
                <a:latin typeface="+mn-ea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latin typeface="+mn-ea"/>
              </a:rPr>
              <a:t>格式：</a:t>
            </a:r>
            <a:r>
              <a:rPr lang="en-US" altLang="zh-CN" sz="2600" dirty="0">
                <a:solidFill>
                  <a:srgbClr val="CC0099"/>
                </a:solidFill>
                <a:latin typeface="+mn-ea"/>
              </a:rPr>
              <a:t>mv [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  <a:latin typeface="+mn-ea"/>
              </a:rPr>
              <a:t>] 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源文件或目录  目标文件或目标目录</a:t>
            </a:r>
            <a:r>
              <a:rPr lang="zh-CN" altLang="en-US" sz="2600" dirty="0">
                <a:latin typeface="+mn-ea"/>
              </a:rPr>
              <a:t> 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功能</a:t>
            </a:r>
            <a:r>
              <a:rPr lang="zh-CN" altLang="en-US" sz="2600" dirty="0">
                <a:latin typeface="+mn-ea"/>
              </a:rPr>
              <a:t>：移动或重命名文件或目录。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主要选项说明：</a:t>
            </a:r>
            <a:endParaRPr lang="zh-CN" altLang="en-US" sz="2600" dirty="0">
              <a:latin typeface="+mn-ea"/>
            </a:endParaRPr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>
                <a:latin typeface="+mn-ea"/>
              </a:rPr>
              <a:t>-b: </a:t>
            </a:r>
            <a:r>
              <a:rPr lang="zh-CN" altLang="en-US" sz="2600" dirty="0">
                <a:latin typeface="+mn-ea"/>
              </a:rPr>
              <a:t>若存在同名文件，则在覆盖之前备份原来的文件。</a:t>
            </a:r>
            <a:endParaRPr lang="en-US" altLang="zh-CN" sz="2600" dirty="0">
              <a:latin typeface="+mn-ea"/>
            </a:endParaRPr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>
                <a:latin typeface="+mn-ea"/>
              </a:rPr>
              <a:t>-f</a:t>
            </a:r>
            <a:r>
              <a:rPr lang="zh-CN" altLang="en-US" sz="2600" dirty="0">
                <a:latin typeface="+mn-ea"/>
              </a:rPr>
              <a:t>：强制覆盖同名文件。</a:t>
            </a:r>
            <a:endParaRPr lang="en-US" altLang="zh-CN" sz="2600" dirty="0">
              <a:latin typeface="+mn-ea"/>
            </a:endParaRPr>
          </a:p>
          <a:p>
            <a:pPr marL="0" indent="0" algn="just">
              <a:buClr>
                <a:schemeClr val="tx1"/>
              </a:buClr>
              <a:buNone/>
            </a:pPr>
            <a:r>
              <a:rPr lang="en-US" altLang="zh-CN" sz="2600" dirty="0">
                <a:latin typeface="+mn-ea"/>
              </a:rPr>
              <a:t>-</a:t>
            </a:r>
            <a:r>
              <a:rPr lang="en-US" altLang="zh-CN" sz="2600" dirty="0" err="1">
                <a:latin typeface="+mn-ea"/>
              </a:rPr>
              <a:t>i</a:t>
            </a:r>
            <a:r>
              <a:rPr lang="zh-CN" altLang="en-US" sz="2600" dirty="0">
                <a:latin typeface="+mn-ea"/>
              </a:rPr>
              <a:t>：交互方式操作。如果</a:t>
            </a:r>
            <a:r>
              <a:rPr lang="en-US" altLang="zh-CN" sz="2600" dirty="0">
                <a:latin typeface="+mn-ea"/>
              </a:rPr>
              <a:t>mv</a:t>
            </a:r>
            <a:r>
              <a:rPr lang="zh-CN" altLang="en-US" sz="2600" dirty="0">
                <a:latin typeface="+mn-ea"/>
              </a:rPr>
              <a:t>操作将导致对已存在的目标文件的覆盖，此时系统询问是否重写，要求用户回答“</a:t>
            </a:r>
            <a:r>
              <a:rPr lang="en-US" altLang="zh-CN" sz="2600" dirty="0">
                <a:latin typeface="+mn-ea"/>
              </a:rPr>
              <a:t>y”</a:t>
            </a:r>
            <a:r>
              <a:rPr lang="zh-CN" altLang="en-US" sz="2600" dirty="0">
                <a:latin typeface="+mn-ea"/>
              </a:rPr>
              <a:t>或“</a:t>
            </a:r>
            <a:r>
              <a:rPr lang="en-US" altLang="zh-CN" sz="2600" dirty="0">
                <a:latin typeface="+mn-ea"/>
              </a:rPr>
              <a:t>n”</a:t>
            </a:r>
            <a:r>
              <a:rPr lang="zh-CN" altLang="en-US" sz="2600" dirty="0">
                <a:latin typeface="+mn-ea"/>
              </a:rPr>
              <a:t>，这样可以避免误覆盖文件。</a:t>
            </a:r>
          </a:p>
          <a:p>
            <a:pPr marL="0" indent="0" algn="just">
              <a:buClr>
                <a:schemeClr val="tx1"/>
              </a:buCl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8439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304DBB-CC15-7215-52E6-696F2414EAE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40768"/>
            <a:ext cx="9721080" cy="482453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/>
              <a:t>例如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用</a:t>
            </a:r>
            <a:r>
              <a:rPr lang="en-US" altLang="zh-CN" sz="2600" dirty="0"/>
              <a:t>mv </a:t>
            </a:r>
            <a:r>
              <a:rPr lang="zh-CN" altLang="en-US" sz="2600" dirty="0"/>
              <a:t>命令</a:t>
            </a:r>
            <a:r>
              <a:rPr lang="zh-CN" altLang="en-US" sz="2600" dirty="0">
                <a:solidFill>
                  <a:srgbClr val="CC0099"/>
                </a:solidFill>
              </a:rPr>
              <a:t>修改文件名</a:t>
            </a:r>
            <a:r>
              <a:rPr lang="zh-CN" altLang="en-US" sz="2600" dirty="0"/>
              <a:t>，命令语法：</a:t>
            </a:r>
          </a:p>
          <a:p>
            <a:pPr marL="344487" lvl="1" indent="0" eaLnBrk="1" hangingPunct="1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CC"/>
                </a:solidFill>
              </a:rPr>
              <a:t>$ mv   </a:t>
            </a:r>
            <a:r>
              <a:rPr lang="zh-CN" altLang="en-US" dirty="0">
                <a:solidFill>
                  <a:srgbClr val="0000CC"/>
                </a:solidFill>
              </a:rPr>
              <a:t>原文件名   目标文件</a:t>
            </a:r>
            <a:endParaRPr lang="en-US" altLang="zh-CN" dirty="0">
              <a:solidFill>
                <a:srgbClr val="0000CC"/>
              </a:solidFill>
            </a:endParaRPr>
          </a:p>
          <a:p>
            <a:pPr marL="0" indent="-4763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13</a:t>
            </a:r>
            <a:r>
              <a:rPr lang="zh-CN" altLang="en-US" sz="2600" dirty="0"/>
              <a:t>：将</a:t>
            </a:r>
            <a:r>
              <a:rPr lang="en-US" altLang="zh-CN" sz="2600" dirty="0"/>
              <a:t>myfile1</a:t>
            </a:r>
            <a:r>
              <a:rPr lang="zh-CN" altLang="en-US" sz="2600" dirty="0"/>
              <a:t>重命名为</a:t>
            </a:r>
            <a:r>
              <a:rPr lang="en-US" altLang="zh-CN" sz="2600" dirty="0"/>
              <a:t>myfile2</a:t>
            </a:r>
          </a:p>
          <a:p>
            <a:pPr eaLnBrk="1" hangingPunct="1"/>
            <a:endParaRPr lang="en-US" altLang="zh-CN" sz="2600" dirty="0"/>
          </a:p>
          <a:p>
            <a:pPr eaLnBrk="1" hangingPunct="1"/>
            <a:r>
              <a:rPr lang="zh-CN" altLang="en-US" sz="2600" dirty="0"/>
              <a:t>用</a:t>
            </a:r>
            <a:r>
              <a:rPr lang="en-US" altLang="zh-CN" sz="2600" dirty="0"/>
              <a:t>mv </a:t>
            </a:r>
            <a:r>
              <a:rPr lang="zh-CN" altLang="en-US" sz="2600" dirty="0"/>
              <a:t>命令</a:t>
            </a:r>
            <a:r>
              <a:rPr lang="zh-CN" altLang="en-US" sz="2600" dirty="0">
                <a:solidFill>
                  <a:srgbClr val="CC0099"/>
                </a:solidFill>
              </a:rPr>
              <a:t>移动文件</a:t>
            </a:r>
            <a:r>
              <a:rPr lang="zh-CN" altLang="en-US" sz="2600" dirty="0"/>
              <a:t>，命令语法：</a:t>
            </a:r>
          </a:p>
          <a:p>
            <a:pPr marL="344487" lvl="1" indent="0" eaLnBrk="1" hangingPunct="1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00CC"/>
                </a:solidFill>
              </a:rPr>
              <a:t>$ mv  </a:t>
            </a:r>
            <a:r>
              <a:rPr lang="zh-CN" altLang="en-US" dirty="0">
                <a:solidFill>
                  <a:srgbClr val="0000CC"/>
                </a:solidFill>
              </a:rPr>
              <a:t>文件名</a:t>
            </a:r>
            <a:r>
              <a:rPr lang="en-US" altLang="zh-CN" dirty="0">
                <a:solidFill>
                  <a:srgbClr val="0000CC"/>
                </a:solidFill>
              </a:rPr>
              <a:t>1   </a:t>
            </a:r>
            <a:r>
              <a:rPr lang="zh-CN" altLang="en-US" dirty="0">
                <a:solidFill>
                  <a:srgbClr val="0000CC"/>
                </a:solidFill>
              </a:rPr>
              <a:t>文件名</a:t>
            </a:r>
            <a:r>
              <a:rPr lang="en-US" altLang="zh-CN" dirty="0">
                <a:solidFill>
                  <a:srgbClr val="0000CC"/>
                </a:solidFill>
              </a:rPr>
              <a:t>2 </a:t>
            </a:r>
            <a:r>
              <a:rPr lang="en-US" altLang="zh-CN" dirty="0">
                <a:solidFill>
                  <a:srgbClr val="0000CC"/>
                </a:solidFill>
                <a:latin typeface="Arial" pitchFamily="34" charset="0"/>
              </a:rPr>
              <a:t>……</a:t>
            </a:r>
            <a:r>
              <a:rPr lang="en-US" altLang="zh-CN" dirty="0">
                <a:solidFill>
                  <a:srgbClr val="0000CC"/>
                </a:solidFill>
              </a:rPr>
              <a:t>  </a:t>
            </a:r>
            <a:r>
              <a:rPr lang="zh-CN" altLang="en-US" dirty="0">
                <a:solidFill>
                  <a:srgbClr val="0000CC"/>
                </a:solidFill>
              </a:rPr>
              <a:t>目标目录名</a:t>
            </a:r>
          </a:p>
          <a:p>
            <a:pPr lvl="1" eaLnBrk="1" hangingPunct="1"/>
            <a:r>
              <a:rPr lang="en-US" altLang="zh-CN" dirty="0"/>
              <a:t>(mv</a:t>
            </a:r>
            <a:r>
              <a:rPr lang="zh-CN" altLang="en-US" dirty="0"/>
              <a:t>命令可以移动多个文件，但最后的项目必须是目录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14</a:t>
            </a:r>
            <a:r>
              <a:rPr lang="zh-CN" altLang="en-US" sz="2600" dirty="0"/>
              <a:t>：将</a:t>
            </a:r>
            <a:r>
              <a:rPr lang="en-US" altLang="zh-CN" sz="2600" dirty="0"/>
              <a:t>myfile1</a:t>
            </a:r>
            <a:r>
              <a:rPr lang="zh-CN" altLang="en-US" sz="2600" dirty="0"/>
              <a:t>和</a:t>
            </a:r>
            <a:r>
              <a:rPr lang="en-US" altLang="zh-CN" sz="2600" dirty="0"/>
              <a:t>myfile2</a:t>
            </a:r>
            <a:r>
              <a:rPr lang="zh-CN" altLang="en-US" sz="2600" dirty="0"/>
              <a:t>移动到目录</a:t>
            </a:r>
            <a:r>
              <a:rPr lang="en-US" altLang="zh-CN" sz="2600" dirty="0" err="1"/>
              <a:t>newdir</a:t>
            </a:r>
            <a:r>
              <a:rPr lang="zh-CN" altLang="en-US" sz="2600" dirty="0"/>
              <a:t>下。</a:t>
            </a:r>
            <a:endParaRPr lang="en-US" altLang="zh-CN" sz="2600" dirty="0"/>
          </a:p>
          <a:p>
            <a:pPr eaLnBrk="1" hangingPunct="1"/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15</a:t>
            </a:r>
            <a:r>
              <a:rPr lang="zh-CN" altLang="en-US" sz="2600" dirty="0"/>
              <a:t>：移动当前文件夹下的所有文件到上一级目录。</a:t>
            </a:r>
            <a:endParaRPr lang="en-US" altLang="zh-CN" sz="2600" dirty="0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53939"/>
            <a:ext cx="8003232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</p:spTree>
    <p:extLst>
      <p:ext uri="{BB962C8B-B14F-4D97-AF65-F5344CB8AC3E}">
        <p14:creationId xmlns:p14="http://schemas.microsoft.com/office/powerpoint/2010/main" val="26589892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556CA43-F52C-86B6-CD64-2341312B01F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83432" y="1484784"/>
            <a:ext cx="10081120" cy="4536504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touch</a:t>
            </a:r>
            <a:r>
              <a:rPr lang="en-US" altLang="zh-CN" sz="2500" dirty="0">
                <a:solidFill>
                  <a:srgbClr val="0000CC"/>
                </a:solidFill>
              </a:rPr>
              <a:t> </a:t>
            </a:r>
            <a:r>
              <a:rPr lang="zh-CN" altLang="en-US" sz="2500" dirty="0">
                <a:latin typeface="+mn-ea"/>
              </a:rPr>
              <a:t>命令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格式：</a:t>
            </a:r>
            <a:r>
              <a:rPr lang="en-US" altLang="zh-CN" sz="2500" dirty="0">
                <a:solidFill>
                  <a:srgbClr val="CC0099"/>
                </a:solidFill>
              </a:rPr>
              <a:t>touch  </a:t>
            </a:r>
            <a:r>
              <a:rPr lang="en-US" altLang="zh-CN" sz="2500" dirty="0"/>
              <a:t>[</a:t>
            </a:r>
            <a:r>
              <a:rPr lang="zh-CN" altLang="en-US" sz="2500" dirty="0"/>
              <a:t>选项</a:t>
            </a:r>
            <a:r>
              <a:rPr lang="en-US" altLang="zh-CN" sz="2500" dirty="0"/>
              <a:t>]  </a:t>
            </a:r>
            <a:r>
              <a:rPr lang="zh-CN" altLang="en-US" sz="2500" dirty="0"/>
              <a:t>文件或目录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功能</a:t>
            </a:r>
            <a:r>
              <a:rPr lang="zh-CN" altLang="en-US" sz="2500" dirty="0"/>
              <a:t>：若指定文件不存在，则创建一个空文件，若文件存在则将更新文件时间。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00"/>
                </a:solidFill>
              </a:rPr>
              <a:t>主要选项说明：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500" dirty="0"/>
              <a:t>-a</a:t>
            </a:r>
            <a:r>
              <a:rPr lang="zh-CN" altLang="en-US" sz="2500" dirty="0"/>
              <a:t>     更改访问文件的时间</a:t>
            </a:r>
            <a:endParaRPr lang="en-US" altLang="zh-CN" sz="25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500" dirty="0"/>
              <a:t>-m</a:t>
            </a:r>
            <a:r>
              <a:rPr lang="zh-CN" altLang="en-US" sz="2500" dirty="0"/>
              <a:t>    更改修改文件的时间</a:t>
            </a:r>
            <a:endParaRPr lang="en-US" altLang="zh-CN" sz="25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500" dirty="0"/>
              <a:t>-c     </a:t>
            </a:r>
            <a:r>
              <a:rPr lang="zh-CN" altLang="en-US" sz="2500" dirty="0"/>
              <a:t>不建立新文件（如果新文件不存在，则避免创建新文件）</a:t>
            </a:r>
            <a:endParaRPr lang="en-US" altLang="zh-CN" sz="25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500" dirty="0"/>
              <a:t>-t    [YY]</a:t>
            </a:r>
            <a:r>
              <a:rPr lang="en-US" altLang="zh-CN" sz="2500" dirty="0" err="1"/>
              <a:t>MMDDhhmm</a:t>
            </a:r>
            <a:r>
              <a:rPr lang="en-US" altLang="zh-CN" sz="2500" dirty="0"/>
              <a:t>[.ss]   </a:t>
            </a:r>
            <a:r>
              <a:rPr lang="zh-CN" altLang="en-US" sz="2500" dirty="0"/>
              <a:t>设定文件的时间记录（时间戳），其中年和秒是可选项。例如，将时间修改为参数指定的日期，</a:t>
            </a:r>
            <a:r>
              <a:rPr lang="en-US" altLang="zh-CN" sz="2500" dirty="0"/>
              <a:t>07081556</a:t>
            </a:r>
            <a:r>
              <a:rPr lang="zh-CN" altLang="en-US" sz="2500" dirty="0"/>
              <a:t>代表</a:t>
            </a:r>
            <a:r>
              <a:rPr lang="en-US" altLang="zh-CN" sz="2500" dirty="0"/>
              <a:t>7</a:t>
            </a:r>
            <a:r>
              <a:rPr lang="zh-CN" altLang="en-US" sz="2500" dirty="0"/>
              <a:t>月</a:t>
            </a:r>
            <a:r>
              <a:rPr lang="en-US" altLang="zh-CN" sz="2500" dirty="0"/>
              <a:t>8</a:t>
            </a:r>
            <a:r>
              <a:rPr lang="zh-CN" altLang="en-US" sz="2500" dirty="0"/>
              <a:t>号</a:t>
            </a:r>
            <a:r>
              <a:rPr lang="en-US" altLang="zh-CN" sz="2500" dirty="0"/>
              <a:t>15</a:t>
            </a:r>
            <a:r>
              <a:rPr lang="zh-CN" altLang="en-US" sz="2500" dirty="0"/>
              <a:t>点</a:t>
            </a:r>
            <a:r>
              <a:rPr lang="en-US" altLang="zh-CN" sz="2500" dirty="0"/>
              <a:t>56</a:t>
            </a:r>
            <a:r>
              <a:rPr lang="zh-CN" altLang="en-US" sz="2500" dirty="0"/>
              <a:t>分。</a:t>
            </a:r>
          </a:p>
        </p:txBody>
      </p:sp>
    </p:spTree>
    <p:extLst>
      <p:ext uri="{BB962C8B-B14F-4D97-AF65-F5344CB8AC3E}">
        <p14:creationId xmlns:p14="http://schemas.microsoft.com/office/powerpoint/2010/main" val="585125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EEAFC07-53D9-EF6E-F50F-7E6D5FB7319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管理文件和目录的命令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340768"/>
            <a:ext cx="9793088" cy="4752528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例如：</a:t>
            </a:r>
            <a:r>
              <a:rPr lang="zh-CN" altLang="en-US" sz="2500" dirty="0">
                <a:solidFill>
                  <a:srgbClr val="000000"/>
                </a:solidFill>
              </a:rPr>
              <a:t>创建一个新文件</a:t>
            </a:r>
            <a:endParaRPr lang="en-US" altLang="zh-CN" sz="25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altLang="zh-CN" sz="2500" dirty="0">
                <a:solidFill>
                  <a:srgbClr val="000000"/>
                </a:solidFill>
              </a:rPr>
              <a:t>    $ touch  </a:t>
            </a:r>
            <a:r>
              <a:rPr lang="en-US" altLang="zh-CN" sz="2500" dirty="0" err="1">
                <a:solidFill>
                  <a:srgbClr val="000000"/>
                </a:solidFill>
              </a:rPr>
              <a:t>newfile</a:t>
            </a:r>
            <a:endParaRPr lang="en-US" altLang="zh-CN" sz="25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00"/>
                </a:solidFill>
              </a:rPr>
              <a:t>将文件</a:t>
            </a:r>
            <a:r>
              <a:rPr lang="en-US" altLang="zh-CN" sz="2500" dirty="0">
                <a:solidFill>
                  <a:srgbClr val="000000"/>
                </a:solidFill>
              </a:rPr>
              <a:t>file</a:t>
            </a:r>
            <a:r>
              <a:rPr lang="zh-CN" altLang="en-US" sz="2500" dirty="0">
                <a:solidFill>
                  <a:srgbClr val="000000"/>
                </a:solidFill>
              </a:rPr>
              <a:t>的最后修改时间设置为当前时间：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00"/>
                </a:solidFill>
              </a:rPr>
              <a:t>    </a:t>
            </a:r>
            <a:r>
              <a:rPr lang="en-US" altLang="zh-CN" sz="2500" dirty="0">
                <a:solidFill>
                  <a:srgbClr val="000000"/>
                </a:solidFill>
              </a:rPr>
              <a:t>$ touch   -m  file</a:t>
            </a:r>
          </a:p>
          <a:p>
            <a:pPr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16</a:t>
            </a:r>
            <a:r>
              <a:rPr lang="zh-CN" altLang="en-US" sz="2500" dirty="0">
                <a:solidFill>
                  <a:srgbClr val="000000"/>
                </a:solidFill>
              </a:rPr>
              <a:t>：使用</a:t>
            </a:r>
            <a:r>
              <a:rPr lang="en-US" altLang="zh-CN" sz="2500" dirty="0">
                <a:solidFill>
                  <a:srgbClr val="000000"/>
                </a:solidFill>
              </a:rPr>
              <a:t>touch</a:t>
            </a:r>
            <a:r>
              <a:rPr lang="zh-CN" altLang="en-US" sz="2500" dirty="0">
                <a:solidFill>
                  <a:srgbClr val="000000"/>
                </a:solidFill>
              </a:rPr>
              <a:t>命令同时创建三个文件</a:t>
            </a:r>
            <a:r>
              <a:rPr lang="en-US" altLang="zh-CN" sz="2500" dirty="0">
                <a:solidFill>
                  <a:srgbClr val="000000"/>
                </a:solidFill>
              </a:rPr>
              <a:t>file1,file2,file3</a:t>
            </a:r>
            <a:r>
              <a:rPr lang="zh-CN" altLang="en-US" sz="2500" dirty="0">
                <a:solidFill>
                  <a:srgbClr val="000000"/>
                </a:solidFill>
              </a:rPr>
              <a:t>。</a:t>
            </a:r>
            <a:endParaRPr lang="en-US" altLang="zh-CN" sz="25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17</a:t>
            </a:r>
            <a:r>
              <a:rPr lang="zh-CN" altLang="en-US" sz="2500" dirty="0">
                <a:solidFill>
                  <a:srgbClr val="000000"/>
                </a:solidFill>
              </a:rPr>
              <a:t>：设置文件</a:t>
            </a:r>
            <a:r>
              <a:rPr lang="en-US" altLang="zh-CN" sz="2500" dirty="0">
                <a:solidFill>
                  <a:srgbClr val="000000"/>
                </a:solidFill>
              </a:rPr>
              <a:t>a.txt</a:t>
            </a:r>
            <a:r>
              <a:rPr lang="zh-CN" altLang="en-US" sz="2500" dirty="0">
                <a:solidFill>
                  <a:srgbClr val="000000"/>
                </a:solidFill>
              </a:rPr>
              <a:t>的时间戳为</a:t>
            </a:r>
            <a:r>
              <a:rPr lang="en-US" altLang="zh-CN" sz="2500" dirty="0">
                <a:solidFill>
                  <a:srgbClr val="000000"/>
                </a:solidFill>
              </a:rPr>
              <a:t>2023</a:t>
            </a:r>
            <a:r>
              <a:rPr lang="zh-CN" altLang="en-US" sz="2500" dirty="0">
                <a:solidFill>
                  <a:srgbClr val="000000"/>
                </a:solidFill>
              </a:rPr>
              <a:t>年</a:t>
            </a:r>
            <a:r>
              <a:rPr lang="en-US" altLang="zh-CN" sz="2500" dirty="0">
                <a:solidFill>
                  <a:srgbClr val="000000"/>
                </a:solidFill>
              </a:rPr>
              <a:t>2</a:t>
            </a:r>
            <a:r>
              <a:rPr lang="zh-CN" altLang="en-US" sz="2500" dirty="0">
                <a:solidFill>
                  <a:srgbClr val="000000"/>
                </a:solidFill>
              </a:rPr>
              <a:t>月</a:t>
            </a:r>
            <a:r>
              <a:rPr lang="en-US" altLang="zh-CN" sz="2500" dirty="0">
                <a:solidFill>
                  <a:srgbClr val="000000"/>
                </a:solidFill>
              </a:rPr>
              <a:t>24</a:t>
            </a:r>
            <a:r>
              <a:rPr lang="zh-CN" altLang="en-US" sz="2500" dirty="0">
                <a:solidFill>
                  <a:srgbClr val="000000"/>
                </a:solidFill>
              </a:rPr>
              <a:t>日</a:t>
            </a:r>
            <a:r>
              <a:rPr lang="en-US" altLang="zh-CN" sz="2500" dirty="0">
                <a:solidFill>
                  <a:srgbClr val="000000"/>
                </a:solidFill>
              </a:rPr>
              <a:t>18</a:t>
            </a:r>
            <a:r>
              <a:rPr lang="zh-CN" altLang="en-US" sz="2500" dirty="0">
                <a:solidFill>
                  <a:srgbClr val="000000"/>
                </a:solidFill>
              </a:rPr>
              <a:t>点</a:t>
            </a:r>
            <a:r>
              <a:rPr lang="en-US" altLang="zh-CN" sz="2500" dirty="0">
                <a:solidFill>
                  <a:srgbClr val="000000"/>
                </a:solidFill>
              </a:rPr>
              <a:t>40</a:t>
            </a:r>
            <a:r>
              <a:rPr lang="zh-CN" altLang="en-US" sz="2500" dirty="0">
                <a:solidFill>
                  <a:srgbClr val="000000"/>
                </a:solidFill>
              </a:rPr>
              <a:t>分</a:t>
            </a:r>
            <a:r>
              <a:rPr lang="en-US" altLang="zh-CN" sz="2500" dirty="0">
                <a:solidFill>
                  <a:srgbClr val="000000"/>
                </a:solidFill>
              </a:rPr>
              <a:t>50</a:t>
            </a:r>
            <a:r>
              <a:rPr lang="zh-CN" altLang="en-US" sz="2500" dirty="0">
                <a:solidFill>
                  <a:srgbClr val="000000"/>
                </a:solidFill>
              </a:rPr>
              <a:t>秒。</a:t>
            </a:r>
            <a:endParaRPr lang="de-DE" altLang="zh-CN" sz="2500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altLang="zh-CN" sz="2500" dirty="0">
              <a:solidFill>
                <a:srgbClr val="000000"/>
              </a:solidFill>
            </a:endParaRPr>
          </a:p>
          <a:p>
            <a:pPr algn="just">
              <a:buClr>
                <a:schemeClr val="tx1"/>
              </a:buClr>
              <a:buNone/>
            </a:pPr>
            <a:endParaRPr lang="en-US" altLang="zh-CN" sz="26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4277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FA33B5-F887-8BAF-ACD5-94E44EB416F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79120"/>
            <a:ext cx="8147248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修改文件权限的命令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87488" y="1401648"/>
            <a:ext cx="9505056" cy="4907672"/>
          </a:xfrm>
        </p:spPr>
        <p:txBody>
          <a:bodyPr/>
          <a:lstStyle/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chmod </a:t>
            </a:r>
            <a:r>
              <a:rPr lang="zh-CN" altLang="en-US" sz="2500" dirty="0">
                <a:latin typeface="+mj-ea"/>
                <a:ea typeface="+mj-ea"/>
              </a:rPr>
              <a:t>命令</a:t>
            </a:r>
            <a:endParaRPr lang="en-US" altLang="zh-CN" sz="2500" dirty="0">
              <a:latin typeface="+mj-ea"/>
              <a:ea typeface="+mj-ea"/>
            </a:endParaRPr>
          </a:p>
          <a:p>
            <a:pPr algn="just">
              <a:lnSpc>
                <a:spcPct val="70000"/>
              </a:lnSpc>
              <a:buClr>
                <a:schemeClr val="tx1"/>
              </a:buClr>
              <a:buNone/>
            </a:pPr>
            <a:r>
              <a:rPr lang="zh-CN" altLang="en-US" sz="2500" dirty="0"/>
              <a:t>格式</a:t>
            </a:r>
            <a:r>
              <a:rPr lang="en-US" altLang="zh-CN" sz="2500" dirty="0"/>
              <a:t>1</a:t>
            </a:r>
            <a:r>
              <a:rPr lang="zh-CN" altLang="en-US" sz="2500" dirty="0"/>
              <a:t>：</a:t>
            </a:r>
            <a:r>
              <a:rPr lang="en-US" altLang="zh-CN" sz="2500" dirty="0" err="1">
                <a:solidFill>
                  <a:srgbClr val="CC0099"/>
                </a:solidFill>
              </a:rPr>
              <a:t>chmod</a:t>
            </a:r>
            <a:r>
              <a:rPr lang="en-US" altLang="zh-CN" sz="2500" dirty="0">
                <a:solidFill>
                  <a:srgbClr val="CC0099"/>
                </a:solidFill>
              </a:rPr>
              <a:t>    </a:t>
            </a:r>
            <a:r>
              <a:rPr lang="zh-CN" altLang="en-US" sz="2500" dirty="0">
                <a:solidFill>
                  <a:srgbClr val="CC0099"/>
                </a:solidFill>
              </a:rPr>
              <a:t>功能模式    文件</a:t>
            </a:r>
            <a:endParaRPr lang="en-US" altLang="zh-CN" sz="2500" dirty="0">
              <a:solidFill>
                <a:srgbClr val="CC0099"/>
              </a:solidFill>
            </a:endParaRPr>
          </a:p>
          <a:p>
            <a:pPr algn="just">
              <a:lnSpc>
                <a:spcPct val="70000"/>
              </a:lnSpc>
              <a:buClr>
                <a:schemeClr val="tx1"/>
              </a:buClr>
              <a:buNone/>
            </a:pPr>
            <a:r>
              <a:rPr lang="zh-CN" altLang="en-US" sz="2500" dirty="0"/>
              <a:t>格式</a:t>
            </a:r>
            <a:r>
              <a:rPr lang="en-US" altLang="zh-CN" sz="2500" dirty="0"/>
              <a:t>2</a:t>
            </a:r>
            <a:r>
              <a:rPr lang="zh-CN" altLang="en-US" sz="2500" dirty="0"/>
              <a:t>：</a:t>
            </a:r>
            <a:r>
              <a:rPr lang="en-US" altLang="zh-CN" sz="2500" dirty="0">
                <a:solidFill>
                  <a:srgbClr val="CC0099"/>
                </a:solidFill>
              </a:rPr>
              <a:t>chmod    </a:t>
            </a:r>
            <a:r>
              <a:rPr lang="zh-CN" altLang="en-US" sz="2500" dirty="0">
                <a:solidFill>
                  <a:srgbClr val="CC0099"/>
                </a:solidFill>
              </a:rPr>
              <a:t>数字模式    文件</a:t>
            </a:r>
            <a:endParaRPr lang="en-US" altLang="zh-CN" sz="2500" dirty="0">
              <a:solidFill>
                <a:srgbClr val="CC0099"/>
              </a:solidFill>
            </a:endParaRPr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功能：</a:t>
            </a:r>
            <a:r>
              <a:rPr lang="zh-CN" altLang="en-US" sz="2500" dirty="0">
                <a:solidFill>
                  <a:srgbClr val="0000CC"/>
                </a:solidFill>
              </a:rPr>
              <a:t>修改文件的访问权限</a:t>
            </a:r>
            <a:r>
              <a:rPr lang="zh-CN" altLang="en-US" sz="2500" dirty="0"/>
              <a:t>。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功能模式</a:t>
            </a:r>
            <a:r>
              <a:rPr lang="zh-CN" altLang="en-US" sz="2500" dirty="0"/>
              <a:t>由以下三部分组成：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对象：       </a:t>
            </a:r>
            <a:r>
              <a:rPr lang="en-US" altLang="zh-CN" sz="2500" dirty="0"/>
              <a:t>u      </a:t>
            </a:r>
            <a:r>
              <a:rPr lang="zh-CN" altLang="en-US" sz="2500" dirty="0"/>
              <a:t>文件所有者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g      </a:t>
            </a:r>
            <a:r>
              <a:rPr lang="zh-CN" altLang="en-US" sz="2500" dirty="0"/>
              <a:t>同组用户 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o      </a:t>
            </a:r>
            <a:r>
              <a:rPr lang="zh-CN" altLang="en-US" sz="2500" dirty="0"/>
              <a:t>其他用户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操作符：    </a:t>
            </a:r>
            <a:r>
              <a:rPr lang="en-US" altLang="zh-CN" sz="2500" dirty="0"/>
              <a:t>+     </a:t>
            </a:r>
            <a:r>
              <a:rPr lang="zh-CN" altLang="en-US" sz="2500" dirty="0"/>
              <a:t>增加权限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 -      </a:t>
            </a:r>
            <a:r>
              <a:rPr lang="zh-CN" altLang="en-US" sz="2500" dirty="0"/>
              <a:t>删除权限 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 =     </a:t>
            </a:r>
            <a:r>
              <a:rPr lang="zh-CN" altLang="en-US" sz="2500" dirty="0"/>
              <a:t>赋予给定权限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权限：        </a:t>
            </a:r>
            <a:r>
              <a:rPr lang="en-US" altLang="zh-CN" sz="2500" dirty="0"/>
              <a:t>r      </a:t>
            </a:r>
            <a:r>
              <a:rPr lang="zh-CN" altLang="en-US" sz="2500" dirty="0"/>
              <a:t>读取权限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 w    </a:t>
            </a:r>
            <a:r>
              <a:rPr lang="zh-CN" altLang="en-US" sz="2500" dirty="0"/>
              <a:t>写入权限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        x     </a:t>
            </a:r>
            <a:r>
              <a:rPr lang="zh-CN" altLang="en-US" sz="2500" dirty="0"/>
              <a:t>执行权限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CN" sz="20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/>
              <a:t>               </a:t>
            </a:r>
            <a:br>
              <a:rPr lang="en-US" altLang="zh-CN" dirty="0"/>
            </a:br>
            <a:endParaRPr lang="zh-CN" altLang="en-US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dirty="0"/>
              <a:t> 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lvl="1"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>
              <a:ea typeface="方正魏碑简体" charset="-122"/>
            </a:endParaRP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26614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E38ABF-9540-2891-9101-5A246A1930C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修改文件权限的命令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5" y="1484784"/>
            <a:ext cx="9865097" cy="411511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：将文件 </a:t>
            </a:r>
            <a:r>
              <a:rPr lang="en-US" altLang="zh-CN" sz="2600" dirty="0"/>
              <a:t>file1.txt </a:t>
            </a:r>
            <a:r>
              <a:rPr lang="zh-CN" altLang="en-US" sz="2600" dirty="0"/>
              <a:t>与 </a:t>
            </a:r>
            <a:r>
              <a:rPr lang="en-US" altLang="zh-CN" sz="2600" dirty="0"/>
              <a:t>file2.txt </a:t>
            </a:r>
            <a:r>
              <a:rPr lang="zh-CN" altLang="en-US" sz="2600" dirty="0"/>
              <a:t>设为该文件拥有者和与其同组者可写入，其他以外的人不可写入。 </a:t>
            </a:r>
            <a:r>
              <a:rPr lang="en-US" altLang="zh-CN" sz="2600" dirty="0"/>
              <a:t>         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600" dirty="0"/>
              <a:t>    #   chmod    </a:t>
            </a:r>
            <a:r>
              <a:rPr lang="en-US" altLang="zh-CN" sz="2600" dirty="0" err="1"/>
              <a:t>ug+w,o-w</a:t>
            </a:r>
            <a:r>
              <a:rPr lang="en-US" altLang="zh-CN" sz="2600" dirty="0"/>
              <a:t>      file1.txt    file2.txt</a:t>
            </a:r>
          </a:p>
          <a:p>
            <a:pPr marL="0" indent="0">
              <a:buNone/>
            </a:pPr>
            <a:endParaRPr lang="en-US" altLang="zh-CN" sz="2600" dirty="0">
              <a:solidFill>
                <a:srgbClr val="0000CC"/>
              </a:solidFill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29200" y="5710788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1244028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A6FE3C8-CEE7-9C63-81BD-62AA798CF15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修改文件权限的命令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556792"/>
            <a:ext cx="10225136" cy="439248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数字模式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CC"/>
                </a:solidFill>
              </a:rPr>
              <a:t>一般是三个数字</a:t>
            </a:r>
            <a:endParaRPr lang="zh-CN" alt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第一个数字表示文件所有者的权限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第二个数字表示与文件所有者同一个用户组的其他用户的权限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第三个数字表示其它用户组的权限。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CC"/>
                </a:solidFill>
              </a:rPr>
              <a:t>权限分为三种</a:t>
            </a:r>
            <a:r>
              <a:rPr lang="zh-CN" altLang="en-US" sz="2400" dirty="0"/>
              <a:t>：读（</a:t>
            </a:r>
            <a:r>
              <a:rPr lang="en-US" altLang="zh-CN" sz="2400" dirty="0"/>
              <a:t>r=4</a:t>
            </a:r>
            <a:r>
              <a:rPr lang="zh-CN" altLang="en-US" sz="2400" dirty="0"/>
              <a:t>），写（</a:t>
            </a:r>
            <a:r>
              <a:rPr lang="en-US" altLang="zh-CN" sz="2400" dirty="0"/>
              <a:t>w=2</a:t>
            </a:r>
            <a:r>
              <a:rPr lang="zh-CN" altLang="en-US" sz="2400" dirty="0"/>
              <a:t>），执行（</a:t>
            </a:r>
            <a:r>
              <a:rPr lang="en-US" altLang="zh-CN" sz="2400" dirty="0"/>
              <a:t>x=1</a:t>
            </a:r>
            <a:r>
              <a:rPr lang="zh-CN" altLang="en-US" sz="2400" dirty="0"/>
              <a:t>）。综合起来还有可读可执行（</a:t>
            </a:r>
            <a:r>
              <a:rPr lang="en-US" altLang="zh-CN" sz="2400" dirty="0" err="1"/>
              <a:t>rx</a:t>
            </a:r>
            <a:r>
              <a:rPr lang="en-US" altLang="zh-CN" sz="2400" dirty="0"/>
              <a:t>=5=4+1</a:t>
            </a:r>
            <a:r>
              <a:rPr lang="zh-CN" altLang="en-US" sz="2400" dirty="0"/>
              <a:t>）、可读可写（</a:t>
            </a:r>
            <a:r>
              <a:rPr lang="en-US" altLang="zh-CN" sz="2400" dirty="0" err="1"/>
              <a:t>rw</a:t>
            </a:r>
            <a:r>
              <a:rPr lang="en-US" altLang="zh-CN" sz="2400" dirty="0"/>
              <a:t>=6=4+2</a:t>
            </a:r>
            <a:r>
              <a:rPr lang="zh-CN" altLang="en-US" sz="2400" dirty="0"/>
              <a:t>）、可读可写可执行</a:t>
            </a:r>
            <a:r>
              <a:rPr lang="en-US" altLang="zh-CN" sz="2400" dirty="0"/>
              <a:t>(</a:t>
            </a:r>
            <a:r>
              <a:rPr lang="en-US" altLang="zh-CN" sz="2400" dirty="0" err="1"/>
              <a:t>rwx</a:t>
            </a:r>
            <a:r>
              <a:rPr lang="en-US" altLang="zh-CN" sz="2400" dirty="0"/>
              <a:t>=7=4+2+1)</a:t>
            </a:r>
            <a:r>
              <a:rPr lang="zh-CN" altLang="en-US" sz="2400" dirty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例如，</a:t>
            </a:r>
            <a:r>
              <a:rPr lang="en-US" altLang="zh-CN" sz="2400" dirty="0"/>
              <a:t>chmod  755  file </a:t>
            </a:r>
            <a:r>
              <a:rPr lang="zh-CN" altLang="en-US" sz="2400" dirty="0"/>
              <a:t>表示用户的权限为：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1.file</a:t>
            </a:r>
            <a:r>
              <a:rPr lang="zh-CN" altLang="en-US" sz="2400" dirty="0"/>
              <a:t>文件的所有者可读可写可执行。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与</a:t>
            </a:r>
            <a:r>
              <a:rPr lang="en-US" altLang="zh-CN" sz="2400" dirty="0"/>
              <a:t>file</a:t>
            </a:r>
            <a:r>
              <a:rPr lang="zh-CN" altLang="en-US" sz="2400" dirty="0"/>
              <a:t>文件所有者同组的用户可读可执行。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3.</a:t>
            </a:r>
            <a:r>
              <a:rPr lang="zh-CN" altLang="en-US" sz="2400" dirty="0"/>
              <a:t>其它用户组的用户可读可执行。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18305973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4F8620-F979-9ED8-628F-274AB8AEBF9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修改文件权限的命令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84784"/>
            <a:ext cx="10009112" cy="424847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：设置</a:t>
            </a:r>
            <a:r>
              <a:rPr lang="en-US" altLang="zh-CN" sz="2600" dirty="0"/>
              <a:t>/home/</a:t>
            </a:r>
            <a:r>
              <a:rPr lang="en-US" altLang="zh-CN" sz="2600" dirty="0" err="1"/>
              <a:t>abc</a:t>
            </a:r>
            <a:r>
              <a:rPr lang="zh-CN" altLang="en-US" sz="2600" dirty="0"/>
              <a:t>的属性为：属主具有一切权限，同组用户和其他用户具有可读可写的权限。（数字模式和功能模式）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600" dirty="0"/>
              <a:t>#  chmod  766   /home/</a:t>
            </a:r>
            <a:r>
              <a:rPr lang="en-US" altLang="zh-CN" sz="2600" dirty="0" err="1"/>
              <a:t>abc</a:t>
            </a:r>
            <a:endParaRPr lang="en-US" altLang="zh-CN" sz="26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600" dirty="0"/>
              <a:t>#  chmod  u=</a:t>
            </a:r>
            <a:r>
              <a:rPr lang="en-US" altLang="zh-CN" sz="2600" dirty="0" err="1"/>
              <a:t>rwx,go</a:t>
            </a:r>
            <a:r>
              <a:rPr lang="en-US" altLang="zh-CN" sz="2600" dirty="0"/>
              <a:t>=</a:t>
            </a:r>
            <a:r>
              <a:rPr lang="en-US" altLang="zh-CN" sz="2600" dirty="0" err="1"/>
              <a:t>rw</a:t>
            </a:r>
            <a:r>
              <a:rPr lang="en-US" altLang="zh-CN" sz="2600" dirty="0"/>
              <a:t>   /home/</a:t>
            </a:r>
            <a:r>
              <a:rPr lang="en-US" altLang="zh-CN" sz="2600" dirty="0" err="1"/>
              <a:t>abc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zh-CN" altLang="en-US" sz="2600" dirty="0"/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zh-CN" altLang="en-US" sz="23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580526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1293647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6BB168A-C1E7-525E-EE88-F66BFD9AF12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修改文件权限的命令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556792"/>
            <a:ext cx="10225135" cy="43204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18</a:t>
            </a:r>
            <a:r>
              <a:rPr lang="zh-CN" altLang="en-US" sz="2600" dirty="0"/>
              <a:t>：给文件</a:t>
            </a:r>
            <a:r>
              <a:rPr lang="en-US" altLang="zh-CN" sz="2600" dirty="0"/>
              <a:t>file1</a:t>
            </a:r>
            <a:r>
              <a:rPr lang="zh-CN" altLang="en-US" sz="2600" dirty="0"/>
              <a:t>加上其他用户可执行属性的命令。（功能模式）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19</a:t>
            </a:r>
            <a:r>
              <a:rPr lang="zh-CN" altLang="en-US" sz="2600" dirty="0"/>
              <a:t>：将档案 </a:t>
            </a:r>
            <a:r>
              <a:rPr lang="en-US" altLang="zh-CN" sz="2600" dirty="0"/>
              <a:t>file1.txt </a:t>
            </a:r>
            <a:r>
              <a:rPr lang="zh-CN" altLang="en-US" sz="2600" dirty="0"/>
              <a:t>设为所有人皆可读取。（功能模式和数字模式）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20</a:t>
            </a:r>
            <a:r>
              <a:rPr lang="zh-CN" altLang="en-US" sz="2600" dirty="0"/>
              <a:t>：创建权限为</a:t>
            </a:r>
            <a:r>
              <a:rPr lang="en-US" altLang="zh-CN" sz="2600" dirty="0"/>
              <a:t>764</a:t>
            </a:r>
            <a:r>
              <a:rPr lang="zh-CN" altLang="en-US" sz="2600" dirty="0"/>
              <a:t>的目录</a:t>
            </a:r>
            <a:r>
              <a:rPr lang="en-US" altLang="zh-CN" sz="2600" dirty="0" err="1"/>
              <a:t>myfile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500" dirty="0"/>
              <a:t>       </a:t>
            </a:r>
          </a:p>
          <a:p>
            <a:pPr marL="0" indent="0">
              <a:buNone/>
            </a:pPr>
            <a:endParaRPr lang="zh-CN" altLang="en-US" sz="23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580526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5244178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B235E1-39E2-5D6C-EF6A-FFC97857063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53939"/>
            <a:ext cx="8219256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管理文件和目录的命令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27448" y="1412776"/>
            <a:ext cx="10153128" cy="5184576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>
                <a:solidFill>
                  <a:srgbClr val="0000CC"/>
                </a:solidFill>
              </a:rPr>
              <a:t>chown </a:t>
            </a:r>
            <a:r>
              <a:rPr lang="zh-CN" altLang="en-US" sz="2500" dirty="0">
                <a:solidFill>
                  <a:srgbClr val="0000CC"/>
                </a:solidFill>
              </a:rPr>
              <a:t>命令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格式：</a:t>
            </a:r>
            <a:r>
              <a:rPr lang="en-US" altLang="zh-CN" sz="2500" dirty="0">
                <a:solidFill>
                  <a:srgbClr val="0000CC"/>
                </a:solidFill>
              </a:rPr>
              <a:t>  </a:t>
            </a:r>
            <a:r>
              <a:rPr lang="en-US" altLang="zh-CN" sz="2500" dirty="0">
                <a:solidFill>
                  <a:srgbClr val="CC0099"/>
                </a:solidFill>
              </a:rPr>
              <a:t>chown  [</a:t>
            </a:r>
            <a:r>
              <a:rPr lang="zh-CN" altLang="en-US" sz="2500" dirty="0">
                <a:solidFill>
                  <a:srgbClr val="CC0099"/>
                </a:solidFill>
              </a:rPr>
              <a:t>选项</a:t>
            </a:r>
            <a:r>
              <a:rPr lang="en-US" altLang="zh-CN" sz="2500" dirty="0">
                <a:solidFill>
                  <a:srgbClr val="CC0099"/>
                </a:solidFill>
              </a:rPr>
              <a:t>] [</a:t>
            </a:r>
            <a:r>
              <a:rPr lang="zh-CN" altLang="en-US" sz="2500" dirty="0">
                <a:solidFill>
                  <a:srgbClr val="CC0099"/>
                </a:solidFill>
              </a:rPr>
              <a:t>所有者</a:t>
            </a:r>
            <a:r>
              <a:rPr lang="en-US" altLang="zh-CN" sz="2500" dirty="0">
                <a:solidFill>
                  <a:srgbClr val="CC0099"/>
                </a:solidFill>
              </a:rPr>
              <a:t>] [:</a:t>
            </a:r>
            <a:r>
              <a:rPr lang="zh-CN" altLang="en-US" sz="2500" dirty="0">
                <a:solidFill>
                  <a:srgbClr val="CC0099"/>
                </a:solidFill>
              </a:rPr>
              <a:t>组群</a:t>
            </a:r>
            <a:r>
              <a:rPr lang="en-US" altLang="zh-CN" sz="2500" dirty="0">
                <a:solidFill>
                  <a:srgbClr val="CC0099"/>
                </a:solidFill>
              </a:rPr>
              <a:t>] </a:t>
            </a:r>
            <a:r>
              <a:rPr lang="zh-CN" altLang="en-US" sz="2500" dirty="0">
                <a:solidFill>
                  <a:srgbClr val="CC0099"/>
                </a:solidFill>
              </a:rPr>
              <a:t>文件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功能</a:t>
            </a:r>
            <a:r>
              <a:rPr lang="zh-CN" altLang="en-US" sz="2500" dirty="0"/>
              <a:t>：改变文件的拥有者。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主要选项说明：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-c     </a:t>
            </a:r>
            <a:r>
              <a:rPr lang="zh-CN" altLang="en-US" sz="2500" dirty="0"/>
              <a:t>显示更改的部分的信息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-f      </a:t>
            </a:r>
            <a:r>
              <a:rPr lang="zh-CN" altLang="en-US" sz="2500" dirty="0"/>
              <a:t>忽略错误信息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-R     </a:t>
            </a:r>
            <a:r>
              <a:rPr lang="zh-CN" altLang="en-US" sz="2500" dirty="0"/>
              <a:t>处理指定目录以及其子目录下的所有文件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-v     </a:t>
            </a:r>
            <a:r>
              <a:rPr lang="zh-CN" altLang="en-US" sz="2500" dirty="0"/>
              <a:t>显示详细的处理信息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例如</a:t>
            </a:r>
            <a:r>
              <a:rPr lang="zh-CN" altLang="en-US" sz="2500" dirty="0"/>
              <a:t>：将文件 </a:t>
            </a:r>
            <a:r>
              <a:rPr lang="en-US" altLang="zh-CN" sz="2500" dirty="0"/>
              <a:t>file </a:t>
            </a:r>
            <a:r>
              <a:rPr lang="zh-CN" altLang="en-US" sz="2500" dirty="0"/>
              <a:t>的拥有者设为 </a:t>
            </a:r>
            <a:r>
              <a:rPr lang="en-US" altLang="zh-CN" sz="2500" dirty="0"/>
              <a:t>lily</a:t>
            </a:r>
            <a:r>
              <a:rPr lang="zh-CN" altLang="en-US" sz="2500" dirty="0"/>
              <a:t>，</a:t>
            </a:r>
            <a:r>
              <a:rPr lang="en-US" altLang="zh-CN" sz="2500" dirty="0"/>
              <a:t> </a:t>
            </a:r>
            <a:r>
              <a:rPr lang="zh-CN" altLang="en-US" sz="2500" dirty="0"/>
              <a:t>群组的使用者 </a:t>
            </a:r>
            <a:r>
              <a:rPr lang="en-US" altLang="zh-CN" sz="2500" dirty="0" err="1"/>
              <a:t>lilygroup</a:t>
            </a:r>
            <a:r>
              <a:rPr lang="zh-CN" altLang="en-US" sz="2500" dirty="0"/>
              <a:t>。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$  chown    </a:t>
            </a:r>
            <a:r>
              <a:rPr lang="en-US" altLang="zh-CN" sz="2500" dirty="0" err="1"/>
              <a:t>lily</a:t>
            </a:r>
            <a:r>
              <a:rPr lang="en-US" altLang="zh-CN" sz="2500" dirty="0" err="1">
                <a:solidFill>
                  <a:srgbClr val="CC0099"/>
                </a:solidFill>
              </a:rPr>
              <a:t>:</a:t>
            </a:r>
            <a:r>
              <a:rPr lang="en-US" altLang="zh-CN" sz="2500" dirty="0" err="1"/>
              <a:t>lilygroup</a:t>
            </a:r>
            <a:r>
              <a:rPr lang="en-US" altLang="zh-CN" sz="2500" dirty="0"/>
              <a:t>   file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21</a:t>
            </a:r>
            <a:r>
              <a:rPr lang="zh-CN" altLang="en-US" sz="2500" dirty="0"/>
              <a:t>：将当前目录下的所有文件与子目录的拥有者设为 </a:t>
            </a:r>
            <a:r>
              <a:rPr lang="en-US" altLang="zh-CN" sz="2500" dirty="0"/>
              <a:t>run</a:t>
            </a:r>
            <a:r>
              <a:rPr lang="zh-CN" altLang="en-US" sz="2500" dirty="0"/>
              <a:t>，群组的使用者 </a:t>
            </a:r>
            <a:r>
              <a:rPr lang="en-US" altLang="zh-CN" sz="2500" dirty="0" err="1"/>
              <a:t>rungroup</a:t>
            </a:r>
            <a:r>
              <a:rPr lang="zh-CN" altLang="en-US" sz="2500" dirty="0"/>
              <a:t>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246457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39E6C81-9709-A239-C806-58B1B116BC8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53939"/>
            <a:ext cx="8003232" cy="858837"/>
          </a:xfrm>
        </p:spPr>
        <p:txBody>
          <a:bodyPr/>
          <a:lstStyle/>
          <a:p>
            <a:r>
              <a:rPr lang="zh-CN" altLang="en-US" dirty="0"/>
              <a:t>显示文件类型的命令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519163"/>
            <a:ext cx="9937104" cy="4718149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file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en-US" altLang="zh-CN" sz="2600" dirty="0">
                <a:solidFill>
                  <a:srgbClr val="CC0099"/>
                </a:solidFill>
              </a:rPr>
              <a:t>file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/>
              <a:t>[</a:t>
            </a:r>
            <a:r>
              <a:rPr lang="zh-CN" altLang="en-US" sz="2600" dirty="0"/>
              <a:t>选项</a:t>
            </a:r>
            <a:r>
              <a:rPr lang="en-US" altLang="zh-CN" sz="2600" dirty="0"/>
              <a:t>]  </a:t>
            </a:r>
            <a:r>
              <a:rPr lang="zh-CN" altLang="en-US" sz="2600" dirty="0"/>
              <a:t>文件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：显示文件的类型。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-b </a:t>
            </a:r>
            <a:r>
              <a:rPr lang="zh-CN" altLang="en-US" sz="2600" dirty="0"/>
              <a:t>　列出辨识结果时，不显示文件名称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：显示</a:t>
            </a:r>
            <a:r>
              <a:rPr lang="en-US" altLang="zh-CN" sz="2600" dirty="0"/>
              <a:t>/etc/fstab</a:t>
            </a:r>
            <a:r>
              <a:rPr lang="zh-CN" altLang="en-US" sz="2600" dirty="0"/>
              <a:t>文件的类型。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   $   file    /etc/fstab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5B732-3974-4BFF-AD89-37BA36B25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5520369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D6D6069-B665-5A69-61A7-40E578791E2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04664"/>
            <a:ext cx="7543800" cy="858837"/>
          </a:xfrm>
        </p:spPr>
        <p:txBody>
          <a:bodyPr/>
          <a:lstStyle/>
          <a:p>
            <a:pPr eaLnBrk="1" hangingPunct="1"/>
            <a:r>
              <a:rPr lang="en-US" altLang="zh-CN" sz="3800" dirty="0">
                <a:latin typeface="+mn-lt"/>
              </a:rPr>
              <a:t>3.3</a:t>
            </a:r>
            <a:r>
              <a:rPr lang="en-US" altLang="zh-CN" sz="3800" dirty="0">
                <a:latin typeface="宋体" pitchFamily="2" charset="-122"/>
              </a:rPr>
              <a:t> </a:t>
            </a:r>
            <a:r>
              <a:rPr lang="zh-CN" altLang="en-US" sz="3800" dirty="0">
                <a:latin typeface="宋体" pitchFamily="2" charset="-122"/>
              </a:rPr>
              <a:t>文本处理命令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5579" y="1440161"/>
            <a:ext cx="7568467" cy="5517231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    </a:t>
            </a:r>
            <a:r>
              <a:rPr lang="zh-CN" altLang="en-US" sz="1600" dirty="0">
                <a:solidFill>
                  <a:schemeClr val="tx2"/>
                </a:solidFill>
              </a:rPr>
              <a:t>         命令                           功能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          </a:t>
            </a:r>
            <a:r>
              <a:rPr lang="en-US" altLang="zh-CN" sz="1600" dirty="0" err="1">
                <a:solidFill>
                  <a:schemeClr val="tx2"/>
                </a:solidFill>
              </a:rPr>
              <a:t>wc</a:t>
            </a:r>
            <a:r>
              <a:rPr lang="en-US" altLang="zh-CN" sz="1600" dirty="0">
                <a:solidFill>
                  <a:schemeClr val="tx2"/>
                </a:solidFill>
              </a:rPr>
              <a:t>    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统计文件的行数、字数和字节数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          </a:t>
            </a:r>
            <a:r>
              <a:rPr lang="en-US" altLang="zh-CN" sz="1600" dirty="0">
                <a:solidFill>
                  <a:schemeClr val="tx2"/>
                </a:solidFill>
              </a:rPr>
              <a:t>find                       </a:t>
            </a:r>
            <a:r>
              <a:rPr lang="zh-CN" altLang="en-US" sz="1600" dirty="0">
                <a:solidFill>
                  <a:schemeClr val="tx2"/>
                </a:solidFill>
                <a:latin typeface="Times New Roman" pitchFamily="18" charset="0"/>
              </a:rPr>
              <a:t>查看满足表达的文件和目录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itchFamily="18" charset="0"/>
              </a:rPr>
              <a:t>		</a:t>
            </a:r>
            <a:r>
              <a:rPr lang="en-US" altLang="zh-CN" sz="1600" dirty="0">
                <a:solidFill>
                  <a:schemeClr val="tx2"/>
                </a:solidFill>
              </a:rPr>
              <a:t>grep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在文件中查找字符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              locate                  </a:t>
            </a:r>
            <a:r>
              <a:rPr lang="zh-CN" altLang="en-US" sz="1600" dirty="0">
                <a:solidFill>
                  <a:schemeClr val="tx2"/>
                </a:solidFill>
              </a:rPr>
              <a:t>查找符合条件的文档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         </a:t>
            </a:r>
            <a:r>
              <a:rPr lang="zh-CN" altLang="en-US" sz="16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</a:rPr>
              <a:t>tr      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转换或删除文件中的字符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              paste</a:t>
            </a:r>
            <a:r>
              <a:rPr lang="en-US" altLang="zh-CN" sz="1600" dirty="0">
                <a:solidFill>
                  <a:schemeClr val="tx2"/>
                </a:solidFill>
                <a:latin typeface="Times New Roman" pitchFamily="18" charset="0"/>
              </a:rPr>
              <a:t>                      </a:t>
            </a:r>
            <a:r>
              <a:rPr lang="zh-CN" altLang="en-US" sz="1600" dirty="0">
                <a:solidFill>
                  <a:schemeClr val="tx2"/>
                </a:solidFill>
                <a:latin typeface="Times New Roman" pitchFamily="18" charset="0"/>
              </a:rPr>
              <a:t>合并文件</a:t>
            </a:r>
            <a:endParaRPr lang="en-US" altLang="zh-CN" sz="16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itchFamily="18" charset="0"/>
              </a:rPr>
              <a:t>                </a:t>
            </a:r>
            <a:r>
              <a:rPr lang="en-US" altLang="zh-CN" sz="1600" dirty="0">
                <a:solidFill>
                  <a:schemeClr val="tx2"/>
                </a:solidFill>
              </a:rPr>
              <a:t>split 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分割文本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               cut   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从文件中剪切字节、字符和字段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	          sort   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对文本文件的内容排序</a:t>
            </a:r>
            <a:r>
              <a:rPr lang="zh-CN" altLang="en-US" sz="1600" dirty="0"/>
              <a:t> 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              comm                   </a:t>
            </a:r>
            <a:r>
              <a:rPr lang="zh-CN" altLang="en-US" sz="1600" dirty="0">
                <a:solidFill>
                  <a:schemeClr val="tx2"/>
                </a:solidFill>
              </a:rPr>
              <a:t>比较文件的内容</a:t>
            </a:r>
            <a:r>
              <a:rPr lang="en-US" altLang="zh-CN" sz="1600" dirty="0">
                <a:solidFill>
                  <a:schemeClr val="tx2"/>
                </a:solidFill>
                <a:latin typeface="Times New Roman" pitchFamily="18" charset="0"/>
              </a:rPr>
              <a:t>                                 </a:t>
            </a:r>
            <a:endParaRPr lang="zh-CN" altLang="en-US" sz="16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1800" dirty="0">
              <a:solidFill>
                <a:schemeClr val="tx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 </a:t>
            </a:r>
          </a:p>
        </p:txBody>
      </p:sp>
      <p:sp>
        <p:nvSpPr>
          <p:cNvPr id="55300" name="Line 4"/>
          <p:cNvSpPr>
            <a:spLocks noChangeShapeType="1"/>
          </p:cNvSpPr>
          <p:nvPr/>
        </p:nvSpPr>
        <p:spPr bwMode="auto">
          <a:xfrm>
            <a:off x="2063552" y="1412776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2068701" y="1916832"/>
            <a:ext cx="678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 flipV="1">
            <a:off x="2495601" y="6237312"/>
            <a:ext cx="66559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6710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656339-CC22-2155-99FE-F8E7CB9B3A3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en-US" altLang="zh-CN" dirty="0">
                <a:cs typeface="Arial" pitchFamily="34" charset="0"/>
              </a:rPr>
              <a:t>echo</a:t>
            </a:r>
            <a:r>
              <a:rPr lang="zh-CN" altLang="en-US" dirty="0">
                <a:cs typeface="Arial" pitchFamily="34" charset="0"/>
              </a:rPr>
              <a:t>命令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40768"/>
            <a:ext cx="9793088" cy="4536504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echo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echo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字符串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功能：该命令的功能是在屏幕上显示命令行中所给出的字符串。该命令往往用于</a:t>
            </a:r>
            <a:r>
              <a:rPr lang="en-US" altLang="zh-CN" sz="2600" dirty="0"/>
              <a:t>shell</a:t>
            </a:r>
            <a:r>
              <a:rPr lang="zh-CN" altLang="en-US" sz="2600" dirty="0"/>
              <a:t>脚本中，作为一种输出提示信息的手段。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例如： 显示字符串“</a:t>
            </a:r>
            <a:r>
              <a:rPr lang="en-US" altLang="zh-CN" sz="2200" dirty="0"/>
              <a:t>This is a example for echo command.”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400" dirty="0"/>
              <a:t> #  echo “This is a example for echo command.”</a:t>
            </a:r>
          </a:p>
          <a:p>
            <a:pPr marL="0" indent="0">
              <a:buNone/>
            </a:pPr>
            <a:r>
              <a:rPr lang="en-US" altLang="zh-CN" sz="2400" dirty="0"/>
              <a:t> This is a example for echo command.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580526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1678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C550B1-05E7-68BF-6043-5806BC7F7AD9}"/>
              </a:ext>
            </a:extLst>
          </p:cNvPr>
          <p:cNvSpPr/>
          <p:nvPr/>
        </p:nvSpPr>
        <p:spPr>
          <a:xfrm>
            <a:off x="533400" y="553939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53939"/>
            <a:ext cx="8147248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统计文件内容</a:t>
            </a:r>
            <a:r>
              <a:rPr lang="zh-CN" altLang="en-US" dirty="0">
                <a:ea typeface="黑体" pitchFamily="49" charset="-122"/>
              </a:rPr>
              <a:t>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71464" y="1196752"/>
            <a:ext cx="9865096" cy="5184576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>
                <a:solidFill>
                  <a:srgbClr val="0000CC"/>
                </a:solidFill>
              </a:rPr>
              <a:t>wc </a:t>
            </a:r>
            <a:r>
              <a:rPr lang="zh-CN" altLang="en-US" sz="2500" dirty="0">
                <a:solidFill>
                  <a:srgbClr val="0000CC"/>
                </a:solidFill>
              </a:rPr>
              <a:t>命令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格式：</a:t>
            </a:r>
            <a:r>
              <a:rPr lang="en-US" altLang="zh-CN" sz="2500" dirty="0">
                <a:solidFill>
                  <a:srgbClr val="0000CC"/>
                </a:solidFill>
              </a:rPr>
              <a:t>  </a:t>
            </a:r>
            <a:r>
              <a:rPr lang="en-US" altLang="zh-CN" sz="2500" dirty="0">
                <a:solidFill>
                  <a:srgbClr val="CC0099"/>
                </a:solidFill>
              </a:rPr>
              <a:t>wc [</a:t>
            </a:r>
            <a:r>
              <a:rPr lang="zh-CN" altLang="en-US" sz="2500" dirty="0">
                <a:solidFill>
                  <a:srgbClr val="CC0099"/>
                </a:solidFill>
              </a:rPr>
              <a:t>选项</a:t>
            </a:r>
            <a:r>
              <a:rPr lang="en-US" altLang="zh-CN" sz="2500" dirty="0">
                <a:solidFill>
                  <a:srgbClr val="CC0099"/>
                </a:solidFill>
              </a:rPr>
              <a:t>]  </a:t>
            </a:r>
            <a:r>
              <a:rPr lang="zh-CN" altLang="en-US" sz="2500" dirty="0">
                <a:solidFill>
                  <a:srgbClr val="CC0099"/>
                </a:solidFill>
              </a:rPr>
              <a:t>文件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功能</a:t>
            </a:r>
            <a:r>
              <a:rPr lang="zh-CN" altLang="en-US" sz="2500" dirty="0"/>
              <a:t>：统计文件的行数、字数和字节数。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主要选项说明：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-c   </a:t>
            </a:r>
            <a:r>
              <a:rPr lang="zh-CN" altLang="en-US" sz="2500" dirty="0"/>
              <a:t>仅显示文件的字节数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-l    </a:t>
            </a:r>
            <a:r>
              <a:rPr lang="zh-CN" altLang="en-US" sz="2500" dirty="0"/>
              <a:t>仅显示文件的行数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-m  </a:t>
            </a:r>
            <a:r>
              <a:rPr lang="zh-CN" altLang="en-US" sz="2500" dirty="0"/>
              <a:t>统计字符数。这个标志不能与 </a:t>
            </a:r>
            <a:r>
              <a:rPr lang="en-US" altLang="zh-CN" sz="2500" dirty="0"/>
              <a:t>-c </a:t>
            </a:r>
            <a:r>
              <a:rPr lang="zh-CN" altLang="en-US" sz="2500" dirty="0"/>
              <a:t>标志一起使用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500" dirty="0"/>
              <a:t>-w  </a:t>
            </a:r>
            <a:r>
              <a:rPr lang="zh-CN" altLang="en-US" sz="2500" dirty="0"/>
              <a:t>仅显示文件的字数</a:t>
            </a:r>
            <a:r>
              <a:rPr lang="en-US" altLang="zh-CN" sz="2500" dirty="0"/>
              <a:t>,</a:t>
            </a:r>
            <a:r>
              <a:rPr lang="zh-CN" altLang="en-US" sz="2500" dirty="0"/>
              <a:t>一个字被定义为由空白、跳格或换行字符分隔的字符串</a:t>
            </a:r>
            <a:endParaRPr lang="en-US" altLang="zh-CN" sz="25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例如</a:t>
            </a:r>
            <a:r>
              <a:rPr lang="zh-CN" altLang="en-US" sz="2500" dirty="0"/>
              <a:t>：统计文件</a:t>
            </a:r>
            <a:r>
              <a:rPr lang="en-US" altLang="zh-CN" sz="2500" dirty="0"/>
              <a:t>/etc/fstab</a:t>
            </a:r>
            <a:r>
              <a:rPr lang="zh-CN" altLang="en-US" sz="2500" dirty="0"/>
              <a:t>的行数。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$   wc   -l   /etc/fstab 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练习</a:t>
            </a:r>
            <a:r>
              <a:rPr lang="en-US" altLang="zh-CN" sz="2500" dirty="0">
                <a:solidFill>
                  <a:srgbClr val="0000CC"/>
                </a:solidFill>
              </a:rPr>
              <a:t>22</a:t>
            </a:r>
            <a:r>
              <a:rPr lang="zh-CN" altLang="en-US" sz="2500" dirty="0"/>
              <a:t>：统计文件</a:t>
            </a:r>
            <a:r>
              <a:rPr lang="en-US" altLang="zh-CN" sz="2500" dirty="0"/>
              <a:t>/etc/fstab</a:t>
            </a:r>
            <a:r>
              <a:rPr lang="zh-CN" altLang="en-US" sz="2500" dirty="0"/>
              <a:t>的行数、字数、字节数。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60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D0924E-93DA-12B7-F22E-477B521D14C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查找文件的命令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268760"/>
            <a:ext cx="10009112" cy="5328592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find</a:t>
            </a:r>
            <a:r>
              <a:rPr lang="en-US" altLang="zh-CN" sz="2500" dirty="0">
                <a:solidFill>
                  <a:srgbClr val="0000CC"/>
                </a:solidFill>
                <a:latin typeface="+mn-ea"/>
              </a:rPr>
              <a:t> </a:t>
            </a:r>
            <a:r>
              <a:rPr lang="zh-CN" altLang="en-US" sz="2500" dirty="0">
                <a:latin typeface="+mn-ea"/>
              </a:rPr>
              <a:t>命令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500" dirty="0"/>
              <a:t>格式：</a:t>
            </a:r>
            <a:r>
              <a:rPr lang="en-US" altLang="zh-CN" sz="2500" dirty="0">
                <a:solidFill>
                  <a:srgbClr val="CC0099"/>
                </a:solidFill>
              </a:rPr>
              <a:t>find  [</a:t>
            </a:r>
            <a:r>
              <a:rPr lang="zh-CN" altLang="en-US" sz="2500" dirty="0">
                <a:solidFill>
                  <a:srgbClr val="CC0099"/>
                </a:solidFill>
              </a:rPr>
              <a:t>路径</a:t>
            </a:r>
            <a:r>
              <a:rPr lang="en-US" altLang="zh-CN" sz="2500" dirty="0">
                <a:solidFill>
                  <a:srgbClr val="CC0099"/>
                </a:solidFill>
              </a:rPr>
              <a:t>]  </a:t>
            </a:r>
            <a:r>
              <a:rPr lang="zh-CN" altLang="en-US" sz="2500" dirty="0">
                <a:solidFill>
                  <a:srgbClr val="CC0099"/>
                </a:solidFill>
              </a:rPr>
              <a:t>表达式</a:t>
            </a:r>
          </a:p>
          <a:p>
            <a:pPr algn="just">
              <a:buClr>
                <a:schemeClr val="tx1"/>
              </a:buClr>
              <a:buNone/>
            </a:pPr>
            <a:r>
              <a:rPr lang="zh-CN" altLang="en-US" sz="2500" dirty="0"/>
              <a:t>功能：从指定路径搜索满足表达式的</a:t>
            </a:r>
            <a:r>
              <a:rPr lang="zh-CN" altLang="en-US" sz="2500" dirty="0">
                <a:solidFill>
                  <a:srgbClr val="CC0099"/>
                </a:solidFill>
              </a:rPr>
              <a:t>文件和目录</a:t>
            </a:r>
            <a:r>
              <a:rPr lang="zh-CN" altLang="en-US" sz="2500" dirty="0"/>
              <a:t>。不指定路径，则查</a:t>
            </a:r>
            <a:endParaRPr lang="en-US" altLang="zh-CN" sz="25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500" dirty="0"/>
              <a:t>找当前目录。当查找到用户不具有执行权限的目录时，屏幕将显示“权限不够”等提示信息。</a:t>
            </a:r>
            <a:endParaRPr lang="en-US" altLang="zh-CN" sz="2500" dirty="0"/>
          </a:p>
          <a:p>
            <a:pPr algn="just">
              <a:buClr>
                <a:schemeClr val="tx1"/>
              </a:buClr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主要选项说明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-name  </a:t>
            </a:r>
            <a:r>
              <a:rPr lang="zh-CN" altLang="en-US" sz="2400" dirty="0"/>
              <a:t>文件名         按文件名查找，可使用通配符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-group  </a:t>
            </a:r>
            <a:r>
              <a:rPr lang="zh-CN" altLang="en-US" sz="2400" dirty="0"/>
              <a:t>组群名        查找文件所属组群为指定组群的文件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-user     </a:t>
            </a:r>
            <a:r>
              <a:rPr lang="zh-CN" altLang="en-US" sz="2400" dirty="0"/>
              <a:t>用户名        查找文件所有者为指定用户的文件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-type   b/d/c/p/l/f/s   </a:t>
            </a:r>
            <a:r>
              <a:rPr lang="zh-CN" altLang="en-US" sz="2400" dirty="0"/>
              <a:t>按文件类型查找，块设备文件、目录文件、字符文件、命名管道文件、符号链接、普通文件、套接字文件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50922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E314340-2359-9184-6228-39F4B7A13C3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查找文件的命令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268760"/>
            <a:ext cx="10153128" cy="5256584"/>
          </a:xfrm>
        </p:spPr>
        <p:txBody>
          <a:bodyPr/>
          <a:lstStyle/>
          <a:p>
            <a:pPr algn="just">
              <a:buClr>
                <a:schemeClr val="tx1"/>
              </a:buClr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主要选项说明</a:t>
            </a:r>
            <a:r>
              <a:rPr lang="zh-CN" altLang="en-US" sz="2600" dirty="0">
                <a:solidFill>
                  <a:srgbClr val="000000"/>
                </a:solidFill>
              </a:rPr>
              <a:t>：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algn="just">
              <a:buClr>
                <a:schemeClr val="tx1"/>
              </a:buClr>
              <a:buNone/>
            </a:pPr>
            <a:r>
              <a:rPr lang="en-US" altLang="zh-CN" sz="2600" dirty="0"/>
              <a:t>-size      [+|-] n   </a:t>
            </a:r>
            <a:r>
              <a:rPr lang="zh-CN" altLang="en-US" sz="2600" dirty="0"/>
              <a:t>查找指定大小的文件，“</a:t>
            </a:r>
            <a:r>
              <a:rPr lang="en-US" altLang="zh-CN" sz="2600" dirty="0"/>
              <a:t>+”</a:t>
            </a:r>
            <a:r>
              <a:rPr lang="zh-CN" altLang="en-US" sz="2600" dirty="0"/>
              <a:t>表示超过 ，</a:t>
            </a:r>
            <a:r>
              <a:rPr lang="en-US" altLang="zh-CN" sz="2600" dirty="0"/>
              <a:t>-”</a:t>
            </a:r>
            <a:r>
              <a:rPr lang="zh-CN" altLang="en-US" sz="2600" dirty="0"/>
              <a:t>表示不足</a:t>
            </a:r>
            <a:endParaRPr lang="en-US" altLang="zh-CN" sz="2600" dirty="0"/>
          </a:p>
          <a:p>
            <a:pPr algn="just">
              <a:buClr>
                <a:schemeClr val="tx1"/>
              </a:buClr>
              <a:buNone/>
            </a:pPr>
            <a:r>
              <a:rPr lang="en-US" altLang="zh-CN" sz="2600" dirty="0"/>
              <a:t>-perm                 </a:t>
            </a:r>
            <a:r>
              <a:rPr lang="zh-CN" altLang="en-US" sz="2600" dirty="0"/>
              <a:t>查找符合指定行权限的文件</a:t>
            </a:r>
            <a:endParaRPr lang="en-US" altLang="zh-CN" sz="2600" dirty="0"/>
          </a:p>
          <a:p>
            <a:pPr>
              <a:buClr>
                <a:schemeClr val="tx1"/>
              </a:buClr>
              <a:buNone/>
            </a:pPr>
            <a:r>
              <a:rPr lang="en-US" altLang="zh-CN" sz="2600" dirty="0"/>
              <a:t>-</a:t>
            </a:r>
            <a:r>
              <a:rPr lang="en-US" altLang="zh-CN" sz="2600" dirty="0" err="1"/>
              <a:t>mtime</a:t>
            </a:r>
            <a:r>
              <a:rPr lang="en-US" altLang="zh-CN" sz="2600" dirty="0"/>
              <a:t> -n +n     </a:t>
            </a:r>
            <a:r>
              <a:rPr lang="zh-CN" altLang="en-US" sz="2600" dirty="0"/>
              <a:t>按文件更改时间来查找文件，</a:t>
            </a:r>
            <a:r>
              <a:rPr lang="en-US" altLang="zh-CN" sz="2600" dirty="0"/>
              <a:t>-n</a:t>
            </a:r>
            <a:r>
              <a:rPr lang="zh-CN" altLang="en-US" sz="2600" dirty="0"/>
              <a:t>指</a:t>
            </a:r>
            <a:r>
              <a:rPr lang="en-US" altLang="zh-CN" sz="2600" dirty="0"/>
              <a:t>n</a:t>
            </a:r>
            <a:r>
              <a:rPr lang="zh-CN" altLang="en-US" sz="2600" dirty="0"/>
              <a:t>天以内，</a:t>
            </a:r>
            <a:r>
              <a:rPr lang="en-US" altLang="zh-CN" sz="2600" dirty="0"/>
              <a:t>+n</a:t>
            </a:r>
            <a:r>
              <a:rPr lang="zh-CN" altLang="en-US" sz="2600" dirty="0"/>
              <a:t>指</a:t>
            </a:r>
            <a:r>
              <a:rPr lang="en-US" altLang="zh-CN" sz="2600" dirty="0"/>
              <a:t>n </a:t>
            </a:r>
          </a:p>
          <a:p>
            <a:pPr>
              <a:buClr>
                <a:schemeClr val="tx1"/>
              </a:buClr>
              <a:buNone/>
            </a:pPr>
            <a:r>
              <a:rPr lang="en-US" altLang="zh-CN" sz="2600" dirty="0"/>
              <a:t>                           </a:t>
            </a:r>
            <a:r>
              <a:rPr lang="zh-CN" altLang="en-US" sz="2600" dirty="0"/>
              <a:t>天以前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-</a:t>
            </a:r>
            <a:r>
              <a:rPr lang="en-US" altLang="zh-CN" sz="2600" dirty="0" err="1"/>
              <a:t>ctime</a:t>
            </a:r>
            <a:r>
              <a:rPr lang="en-US" altLang="zh-CN" sz="2600" dirty="0"/>
              <a:t>    -n +n    </a:t>
            </a:r>
            <a:r>
              <a:rPr lang="zh-CN" altLang="en-US" sz="2600" dirty="0"/>
              <a:t>按文件状态改变的时间来查找文件，</a:t>
            </a:r>
            <a:r>
              <a:rPr lang="en-US" altLang="zh-CN" sz="2600" dirty="0"/>
              <a:t>-n</a:t>
            </a:r>
            <a:r>
              <a:rPr lang="zh-CN" altLang="en-US" sz="2600" dirty="0"/>
              <a:t>指</a:t>
            </a:r>
            <a:r>
              <a:rPr lang="en-US" altLang="zh-CN" sz="2600" dirty="0"/>
              <a:t>n</a:t>
            </a:r>
            <a:r>
              <a:rPr lang="zh-CN" altLang="en-US" sz="2600" dirty="0"/>
              <a:t>天以内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                            </a:t>
            </a:r>
            <a:r>
              <a:rPr lang="zh-CN" altLang="en-US" sz="2600" dirty="0"/>
              <a:t>，</a:t>
            </a:r>
            <a:r>
              <a:rPr lang="en-US" altLang="zh-CN" sz="2600" dirty="0"/>
              <a:t>+n</a:t>
            </a:r>
            <a:r>
              <a:rPr lang="zh-CN" altLang="en-US" sz="2600" dirty="0"/>
              <a:t>指</a:t>
            </a:r>
            <a:r>
              <a:rPr lang="en-US" altLang="zh-CN" sz="2600" dirty="0"/>
              <a:t>n</a:t>
            </a:r>
            <a:r>
              <a:rPr lang="zh-CN" altLang="en-US" sz="2600" dirty="0"/>
              <a:t>天以前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-</a:t>
            </a:r>
            <a:r>
              <a:rPr lang="en-US" altLang="zh-CN" sz="2600" dirty="0" err="1"/>
              <a:t>atime</a:t>
            </a:r>
            <a:r>
              <a:rPr lang="en-US" altLang="zh-CN" sz="2600" dirty="0"/>
              <a:t>    -n +n     </a:t>
            </a:r>
            <a:r>
              <a:rPr lang="zh-CN" altLang="en-US" sz="2600" dirty="0"/>
              <a:t>按文件访问时间来查查找文件，</a:t>
            </a:r>
            <a:r>
              <a:rPr lang="en-US" altLang="zh-CN" sz="2600" dirty="0"/>
              <a:t>-n</a:t>
            </a:r>
            <a:r>
              <a:rPr lang="zh-CN" altLang="en-US" sz="2600" dirty="0"/>
              <a:t>指</a:t>
            </a:r>
            <a:r>
              <a:rPr lang="en-US" altLang="zh-CN" sz="2600" dirty="0"/>
              <a:t>n</a:t>
            </a:r>
            <a:r>
              <a:rPr lang="zh-CN" altLang="en-US" sz="2600" dirty="0"/>
              <a:t>天以内，</a:t>
            </a:r>
            <a:r>
              <a:rPr lang="en-US" altLang="zh-CN" sz="2600" dirty="0"/>
              <a:t>+n</a:t>
            </a:r>
          </a:p>
          <a:p>
            <a:pPr marL="0" indent="0">
              <a:buNone/>
            </a:pPr>
            <a:r>
              <a:rPr lang="en-US" altLang="zh-CN" sz="2600" dirty="0"/>
              <a:t>                            </a:t>
            </a:r>
            <a:r>
              <a:rPr lang="zh-CN" altLang="en-US" sz="2600" dirty="0"/>
              <a:t>指</a:t>
            </a:r>
            <a:r>
              <a:rPr lang="en-US" altLang="zh-CN" sz="2600" dirty="0"/>
              <a:t>n</a:t>
            </a:r>
            <a:r>
              <a:rPr lang="zh-CN" altLang="en-US" sz="2600" dirty="0"/>
              <a:t>天以前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-newer    f1          </a:t>
            </a:r>
            <a:r>
              <a:rPr lang="zh-CN" altLang="en-US" sz="2600" dirty="0"/>
              <a:t>查更改时间比</a:t>
            </a:r>
            <a:r>
              <a:rPr lang="en-US" altLang="zh-CN" sz="2600" dirty="0"/>
              <a:t>f1</a:t>
            </a:r>
            <a:r>
              <a:rPr lang="zh-CN" altLang="en-US" sz="2600" dirty="0"/>
              <a:t>新的文件</a:t>
            </a:r>
            <a:endParaRPr lang="en-US" altLang="zh-CN" sz="26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487504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38C2E07-5028-76F6-ECBB-7073A856140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99456" y="548680"/>
            <a:ext cx="9721080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查找文件的命令</a:t>
            </a: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55440" y="1412776"/>
            <a:ext cx="10153128" cy="525658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例如：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查找</a:t>
            </a:r>
            <a:r>
              <a:rPr lang="en-US" altLang="zh-CN" sz="2600" dirty="0"/>
              <a:t>/</a:t>
            </a:r>
            <a:r>
              <a:rPr lang="en-US" altLang="zh-CN" sz="2600" dirty="0" err="1"/>
              <a:t>ect</a:t>
            </a:r>
            <a:r>
              <a:rPr lang="zh-CN" altLang="en-US" sz="2600" dirty="0"/>
              <a:t>目录中以</a:t>
            </a:r>
            <a:r>
              <a:rPr lang="en-US" altLang="zh-CN" sz="2600" dirty="0" err="1"/>
              <a:t>fs</a:t>
            </a:r>
            <a:r>
              <a:rPr lang="zh-CN" altLang="en-US" sz="2600" dirty="0"/>
              <a:t>开头的文件</a:t>
            </a:r>
          </a:p>
          <a:p>
            <a:pPr marL="0" indent="0">
              <a:buNone/>
            </a:pPr>
            <a:r>
              <a:rPr lang="zh-CN" altLang="en-US" sz="2600" dirty="0"/>
              <a:t>     </a:t>
            </a:r>
            <a:r>
              <a:rPr lang="en-US" altLang="zh-CN" sz="2600" dirty="0"/>
              <a:t>$  find  /</a:t>
            </a:r>
            <a:r>
              <a:rPr lang="en-US" altLang="zh-CN" sz="2600" dirty="0" err="1"/>
              <a:t>ect</a:t>
            </a:r>
            <a:r>
              <a:rPr lang="en-US" altLang="zh-CN" sz="2600" dirty="0"/>
              <a:t>  -name  </a:t>
            </a:r>
            <a:r>
              <a:rPr lang="en-US" altLang="zh-CN" sz="2600" dirty="0" err="1"/>
              <a:t>fs</a:t>
            </a:r>
            <a:r>
              <a:rPr lang="en-US" altLang="zh-CN" sz="2600" dirty="0"/>
              <a:t>*</a:t>
            </a:r>
          </a:p>
          <a:p>
            <a:pPr marL="0" indent="0">
              <a:buNone/>
            </a:pPr>
            <a:r>
              <a:rPr lang="zh-CN" altLang="en-US" sz="2600" dirty="0"/>
              <a:t>查找当前目录中在</a:t>
            </a:r>
            <a:r>
              <a:rPr lang="en-US" altLang="zh-CN" sz="2600" dirty="0"/>
              <a:t>1.txt</a:t>
            </a:r>
            <a:r>
              <a:rPr lang="zh-CN" altLang="en-US" sz="2600" dirty="0"/>
              <a:t>修改之后修改的文件</a:t>
            </a:r>
          </a:p>
          <a:p>
            <a:pPr marL="0" indent="0">
              <a:buNone/>
            </a:pPr>
            <a:r>
              <a:rPr lang="en-US" altLang="zh-CN" sz="2600" dirty="0"/>
              <a:t>      $  find  -newer  1.txt</a:t>
            </a:r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23</a:t>
            </a:r>
            <a:r>
              <a:rPr lang="zh-CN" altLang="en-US" sz="2600" dirty="0">
                <a:solidFill>
                  <a:srgbClr val="0000CC"/>
                </a:solidFill>
              </a:rPr>
              <a:t>：</a:t>
            </a:r>
            <a:r>
              <a:rPr lang="zh-CN" altLang="en-US" sz="2600" dirty="0"/>
              <a:t>搜索当前目录下，修改时间在</a:t>
            </a:r>
            <a:r>
              <a:rPr lang="en-US" altLang="zh-CN" sz="2600" dirty="0"/>
              <a:t>10</a:t>
            </a:r>
            <a:r>
              <a:rPr lang="zh-CN" altLang="en-US" sz="2600" dirty="0"/>
              <a:t>天以前，且权限为</a:t>
            </a:r>
            <a:r>
              <a:rPr lang="en-US" altLang="zh-CN" sz="2600" dirty="0"/>
              <a:t>644</a:t>
            </a:r>
            <a:r>
              <a:rPr lang="zh-CN" altLang="en-US" sz="2600" dirty="0"/>
              <a:t>的文件和目录。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24</a:t>
            </a:r>
            <a:r>
              <a:rPr lang="zh-CN" altLang="en-US" sz="2600" dirty="0"/>
              <a:t>：查找</a:t>
            </a:r>
            <a:r>
              <a:rPr lang="en-US" altLang="zh-CN" sz="2600" dirty="0"/>
              <a:t>/</a:t>
            </a:r>
            <a:r>
              <a:rPr lang="en-US" altLang="zh-CN" sz="2600" dirty="0" err="1"/>
              <a:t>var</a:t>
            </a:r>
            <a:r>
              <a:rPr lang="zh-CN" altLang="en-US" sz="2600" dirty="0"/>
              <a:t>目录下属主为</a:t>
            </a:r>
            <a:r>
              <a:rPr lang="en-US" altLang="zh-CN" sz="2600" dirty="0"/>
              <a:t>root</a:t>
            </a:r>
            <a:r>
              <a:rPr lang="zh-CN" altLang="en-US" sz="2600" dirty="0"/>
              <a:t>，且组群名为</a:t>
            </a:r>
            <a:r>
              <a:rPr lang="en-US" altLang="zh-CN" sz="2600" dirty="0"/>
              <a:t>mail</a:t>
            </a:r>
            <a:r>
              <a:rPr lang="zh-CN" altLang="en-US" sz="2600" dirty="0"/>
              <a:t>的所有文件。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25</a:t>
            </a:r>
            <a:r>
              <a:rPr lang="zh-CN" altLang="en-US" sz="2600" dirty="0"/>
              <a:t>：查找</a:t>
            </a:r>
            <a:r>
              <a:rPr lang="en-US" altLang="zh-CN" sz="2600" dirty="0"/>
              <a:t>/</a:t>
            </a:r>
            <a:r>
              <a:rPr lang="en-US" altLang="zh-CN" sz="2600" dirty="0" err="1"/>
              <a:t>ect</a:t>
            </a:r>
            <a:r>
              <a:rPr lang="zh-CN" altLang="en-US" sz="2600" dirty="0"/>
              <a:t>目录中所有大于</a:t>
            </a:r>
            <a:r>
              <a:rPr lang="en-US" altLang="zh-CN" sz="2600" dirty="0"/>
              <a:t>100KB</a:t>
            </a:r>
            <a:r>
              <a:rPr lang="zh-CN" altLang="en-US" sz="2600" dirty="0"/>
              <a:t>的普通文件。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26</a:t>
            </a:r>
            <a:r>
              <a:rPr lang="zh-CN" altLang="en-US" sz="2600" dirty="0"/>
              <a:t>：查找</a:t>
            </a:r>
            <a:r>
              <a:rPr lang="en-US" altLang="zh-CN" sz="2600" dirty="0"/>
              <a:t>/</a:t>
            </a:r>
            <a:r>
              <a:rPr lang="en-US" altLang="zh-CN" sz="2600" dirty="0" err="1"/>
              <a:t>tmp</a:t>
            </a:r>
            <a:r>
              <a:rPr lang="zh-CN" altLang="en-US" sz="2600" dirty="0"/>
              <a:t>目录下一年内都没有修改过的文件。</a:t>
            </a:r>
          </a:p>
          <a:p>
            <a:pPr marL="0" indent="0">
              <a:buNone/>
            </a:pPr>
            <a:r>
              <a:rPr lang="zh-CN" altLang="en-US" sz="2500" dirty="0"/>
              <a:t>   </a:t>
            </a:r>
          </a:p>
          <a:p>
            <a:pPr marL="0" indent="0">
              <a:buNone/>
            </a:pPr>
            <a:r>
              <a:rPr lang="zh-CN" altLang="en-US" sz="2500" dirty="0"/>
              <a:t> 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5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73085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43B85A-BFAF-2E0E-D5D8-1B42461F732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412776"/>
            <a:ext cx="9577064" cy="518457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grep </a:t>
            </a:r>
            <a:r>
              <a:rPr lang="zh-CN" altLang="en-US" sz="2600" dirty="0">
                <a:latin typeface="+mn-ea"/>
              </a:rPr>
              <a:t>命令</a:t>
            </a:r>
            <a:endParaRPr lang="en-US" altLang="zh-CN" sz="2600" dirty="0">
              <a:latin typeface="+mn-ea"/>
            </a:endParaRPr>
          </a:p>
          <a:p>
            <a:pPr marL="0" indent="0" eaLnBrk="1" hangingPunct="1"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grep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  </a:t>
            </a:r>
            <a:r>
              <a:rPr lang="zh-CN" altLang="en-US" sz="2600" dirty="0">
                <a:solidFill>
                  <a:srgbClr val="CC0099"/>
                </a:solidFill>
              </a:rPr>
              <a:t>字符串</a:t>
            </a:r>
            <a:r>
              <a:rPr lang="en-US" altLang="zh-CN" sz="2600" dirty="0">
                <a:solidFill>
                  <a:srgbClr val="CC0099"/>
                </a:solidFill>
              </a:rPr>
              <a:t>[</a:t>
            </a:r>
            <a:r>
              <a:rPr lang="zh-CN" altLang="en-US" sz="2600" dirty="0">
                <a:solidFill>
                  <a:srgbClr val="CC0099"/>
                </a:solidFill>
              </a:rPr>
              <a:t>表达式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r>
              <a:rPr lang="zh-CN" altLang="en-US" sz="2600" dirty="0">
                <a:solidFill>
                  <a:srgbClr val="CC0099"/>
                </a:solidFill>
              </a:rPr>
              <a:t>   文件列表 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：从指定文件中</a:t>
            </a:r>
            <a:r>
              <a:rPr lang="zh-CN" altLang="en-US" sz="2600" dirty="0">
                <a:solidFill>
                  <a:srgbClr val="CC0099"/>
                </a:solidFill>
              </a:rPr>
              <a:t>查找</a:t>
            </a:r>
            <a:r>
              <a:rPr lang="zh-CN" altLang="en-US" sz="2600" dirty="0"/>
              <a:t>符合条件的</a:t>
            </a:r>
            <a:r>
              <a:rPr lang="zh-CN" altLang="en-US" sz="2600" dirty="0">
                <a:solidFill>
                  <a:srgbClr val="CC0099"/>
                </a:solidFill>
              </a:rPr>
              <a:t>字符串</a:t>
            </a:r>
            <a:r>
              <a:rPr lang="zh-CN" altLang="en-US" sz="2600" dirty="0"/>
              <a:t>，默认显示指定字符串所在行的</a:t>
            </a:r>
            <a:r>
              <a:rPr lang="zh-CN" altLang="en-US" sz="2600" dirty="0">
                <a:solidFill>
                  <a:srgbClr val="CC0099"/>
                </a:solidFill>
              </a:rPr>
              <a:t>内容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-n    </a:t>
            </a:r>
            <a:r>
              <a:rPr lang="zh-CN" altLang="en-US" sz="2600" dirty="0"/>
              <a:t>找到匹配文本后，显示匹配文本所在行的行号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-v</a:t>
            </a:r>
            <a:r>
              <a:rPr lang="zh-CN" altLang="en-US" sz="2600" dirty="0"/>
              <a:t>     显示不包括指定字符串的行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-i</a:t>
            </a:r>
            <a:r>
              <a:rPr lang="zh-CN" altLang="en-US" sz="2600" dirty="0"/>
              <a:t>      查找时不区分大小写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-o    </a:t>
            </a:r>
            <a:r>
              <a:rPr lang="zh-CN" altLang="en-US" sz="2600" dirty="0"/>
              <a:t>只输出文件中匹配到的部分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-c     </a:t>
            </a:r>
            <a:r>
              <a:rPr lang="zh-CN" altLang="en-US" sz="2600" dirty="0"/>
              <a:t>输出匹配行的计数</a:t>
            </a:r>
            <a:endParaRPr lang="en-US" altLang="zh-CN" sz="2600" dirty="0"/>
          </a:p>
          <a:p>
            <a:pPr marL="0" indent="0" eaLnBrk="1" hangingPunct="1">
              <a:lnSpc>
                <a:spcPct val="120000"/>
              </a:lnSpc>
              <a:buNone/>
            </a:pPr>
            <a:endParaRPr lang="zh-CN" altLang="en-US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79576" y="437733"/>
            <a:ext cx="7139136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查找文本的命令</a:t>
            </a:r>
          </a:p>
        </p:txBody>
      </p:sp>
    </p:spTree>
    <p:extLst>
      <p:ext uri="{BB962C8B-B14F-4D97-AF65-F5344CB8AC3E}">
        <p14:creationId xmlns:p14="http://schemas.microsoft.com/office/powerpoint/2010/main" val="22376573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BAB37B6-F7BD-9722-36C9-B925EEA94D3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484784"/>
            <a:ext cx="10009112" cy="421354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dirty="0"/>
              <a:t>规则表达式说明：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^         </a:t>
            </a:r>
            <a:r>
              <a:rPr lang="zh-CN" altLang="en-US" sz="2400" dirty="0"/>
              <a:t>锚定行的开始 如： </a:t>
            </a:r>
            <a:r>
              <a:rPr lang="en-US" altLang="zh-CN" sz="2400" dirty="0"/>
              <a:t>^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  </a:t>
            </a:r>
            <a:r>
              <a:rPr lang="zh-CN" altLang="en-US" sz="2400" dirty="0"/>
              <a:t>就是匹配所有以</a:t>
            </a:r>
            <a:r>
              <a:rPr lang="en-US" altLang="zh-CN" sz="2400" dirty="0" err="1"/>
              <a:t>abc</a:t>
            </a:r>
            <a:r>
              <a:rPr lang="zh-CN" altLang="en-US" sz="2400" dirty="0"/>
              <a:t>开头的行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$         </a:t>
            </a:r>
            <a:r>
              <a:rPr lang="zh-CN" altLang="en-US" sz="2400" dirty="0"/>
              <a:t>锚定行的结束 如：</a:t>
            </a:r>
            <a:r>
              <a:rPr lang="en-US" altLang="zh-CN" sz="2400" dirty="0"/>
              <a:t>  def$  </a:t>
            </a:r>
            <a:r>
              <a:rPr lang="zh-CN" altLang="en-US" sz="2400" dirty="0"/>
              <a:t>匹配所有以</a:t>
            </a:r>
            <a:r>
              <a:rPr lang="en-US" altLang="zh-CN" sz="2400" dirty="0"/>
              <a:t>def</a:t>
            </a:r>
            <a:r>
              <a:rPr lang="zh-CN" altLang="en-US" sz="2400" dirty="0"/>
              <a:t>结尾的行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[ ]       </a:t>
            </a:r>
            <a:r>
              <a:rPr lang="zh-CN" altLang="en-US" sz="2400" dirty="0"/>
              <a:t>匹配一个指定范围内的字符，如</a:t>
            </a:r>
            <a:r>
              <a:rPr lang="en-US" altLang="zh-CN" sz="2400" dirty="0"/>
              <a:t>[Gg]rep</a:t>
            </a:r>
          </a:p>
          <a:p>
            <a:pPr marL="0" indent="0" eaLnBrk="1" hangingPunct="1">
              <a:buNone/>
            </a:pPr>
            <a:r>
              <a:rPr lang="en-US" altLang="zh-CN" sz="2400" dirty="0"/>
              <a:t>\&lt;       </a:t>
            </a:r>
            <a:r>
              <a:rPr lang="zh-CN" altLang="en-US" sz="2400" dirty="0"/>
              <a:t>锚定单词的开始如</a:t>
            </a:r>
            <a:r>
              <a:rPr lang="en-US" altLang="zh-CN" sz="2400" dirty="0"/>
              <a:t>:  \&lt;</a:t>
            </a:r>
            <a:r>
              <a:rPr lang="en-US" altLang="zh-CN" sz="2400" dirty="0" err="1"/>
              <a:t>grep</a:t>
            </a:r>
            <a:r>
              <a:rPr lang="en-US" altLang="zh-CN" sz="2400" dirty="0"/>
              <a:t> </a:t>
            </a:r>
            <a:r>
              <a:rPr lang="zh-CN" altLang="en-US" sz="2400" dirty="0"/>
              <a:t>匹配包含以</a:t>
            </a:r>
            <a:r>
              <a:rPr lang="en-US" altLang="zh-CN" sz="2400" dirty="0" err="1"/>
              <a:t>grep</a:t>
            </a:r>
            <a:r>
              <a:rPr lang="zh-CN" altLang="en-US" sz="2400" dirty="0"/>
              <a:t>开头的单词的行  </a:t>
            </a:r>
          </a:p>
          <a:p>
            <a:pPr marL="0" indent="0" eaLnBrk="1" hangingPunct="1">
              <a:buNone/>
            </a:pPr>
            <a:r>
              <a:rPr lang="en-US" altLang="zh-CN" sz="2400" dirty="0"/>
              <a:t>\&gt;       </a:t>
            </a:r>
            <a:r>
              <a:rPr lang="zh-CN" altLang="en-US" sz="2400" dirty="0"/>
              <a:t>锚定单词的结束如：</a:t>
            </a:r>
            <a:r>
              <a:rPr lang="en-US" altLang="zh-CN" sz="2400" dirty="0" err="1"/>
              <a:t>grep</a:t>
            </a:r>
            <a:r>
              <a:rPr lang="en-US" altLang="zh-CN" sz="2400" dirty="0"/>
              <a:t>\&gt; </a:t>
            </a:r>
            <a:r>
              <a:rPr lang="zh-CN" altLang="en-US" sz="2400" dirty="0"/>
              <a:t>匹配包含以</a:t>
            </a:r>
            <a:r>
              <a:rPr lang="en-US" altLang="zh-CN" sz="2400" dirty="0" err="1"/>
              <a:t>grep</a:t>
            </a:r>
            <a:r>
              <a:rPr lang="zh-CN" altLang="en-US" sz="2400" dirty="0"/>
              <a:t>结尾的单词的行重复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字符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m</a:t>
            </a:r>
            <a:r>
              <a:rPr lang="zh-CN" altLang="en-US" sz="2400" dirty="0"/>
              <a:t>次，如：“ </a:t>
            </a:r>
            <a:r>
              <a:rPr lang="en-US" altLang="zh-CN" sz="2400" dirty="0"/>
              <a:t>a\{5\}</a:t>
            </a:r>
            <a:r>
              <a:rPr lang="zh-CN" altLang="en-US" sz="2400" dirty="0"/>
              <a:t>”匹配包含</a:t>
            </a:r>
            <a:r>
              <a:rPr lang="en-US" altLang="zh-CN" sz="2400" dirty="0"/>
              <a:t>5</a:t>
            </a:r>
            <a:r>
              <a:rPr lang="zh-CN" altLang="en-US" sz="2400" dirty="0"/>
              <a:t>个</a:t>
            </a:r>
            <a:r>
              <a:rPr lang="en-US" altLang="zh-CN" sz="2400" dirty="0"/>
              <a:t>a</a:t>
            </a:r>
            <a:r>
              <a:rPr lang="zh-CN" altLang="en-US" sz="2400" dirty="0"/>
              <a:t>的行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x\{</a:t>
            </a:r>
            <a:r>
              <a:rPr lang="en-US" altLang="zh-CN" sz="2400" dirty="0" err="1"/>
              <a:t>m,n</a:t>
            </a:r>
            <a:r>
              <a:rPr lang="en-US" altLang="zh-CN" sz="2400" dirty="0"/>
              <a:t>\}          </a:t>
            </a:r>
            <a:r>
              <a:rPr lang="zh-CN" altLang="en-US" sz="2400" dirty="0"/>
              <a:t>重复字符</a:t>
            </a:r>
            <a:r>
              <a:rPr lang="en-US" altLang="zh-CN" sz="2400" dirty="0"/>
              <a:t>x</a:t>
            </a:r>
            <a:r>
              <a:rPr lang="zh-CN" altLang="en-US" sz="2400" dirty="0"/>
              <a:t>，至少</a:t>
            </a:r>
            <a:r>
              <a:rPr lang="en-US" altLang="zh-CN" sz="2400" dirty="0"/>
              <a:t>m</a:t>
            </a:r>
            <a:r>
              <a:rPr lang="zh-CN" altLang="en-US" sz="2400" dirty="0"/>
              <a:t>次，不多于</a:t>
            </a:r>
            <a:r>
              <a:rPr lang="en-US" altLang="zh-CN" sz="2400" dirty="0"/>
              <a:t>n</a:t>
            </a:r>
            <a:r>
              <a:rPr lang="zh-CN" altLang="en-US" sz="2400" dirty="0"/>
              <a:t>次，如：“</a:t>
            </a:r>
            <a:r>
              <a:rPr lang="en-US" altLang="zh-CN" sz="2400" dirty="0"/>
              <a:t>o\{5,10\}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                       </a:t>
            </a:r>
            <a:r>
              <a:rPr lang="zh-CN" altLang="en-US" sz="2400" dirty="0"/>
              <a:t>匹配</a:t>
            </a:r>
            <a:r>
              <a:rPr lang="en-US" altLang="zh-CN" sz="2400" dirty="0"/>
              <a:t>5---10</a:t>
            </a:r>
            <a:r>
              <a:rPr lang="zh-CN" altLang="en-US" sz="2400" dirty="0"/>
              <a:t>个</a:t>
            </a:r>
            <a:r>
              <a:rPr lang="en-US" altLang="zh-CN" sz="2400" dirty="0"/>
              <a:t>o</a:t>
            </a:r>
            <a:r>
              <a:rPr lang="zh-CN" altLang="en-US" sz="2400" dirty="0"/>
              <a:t>的行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35560" y="481931"/>
            <a:ext cx="7992888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查找文本的命令</a:t>
            </a:r>
          </a:p>
        </p:txBody>
      </p:sp>
    </p:spTree>
    <p:extLst>
      <p:ext uri="{BB962C8B-B14F-4D97-AF65-F5344CB8AC3E}">
        <p14:creationId xmlns:p14="http://schemas.microsoft.com/office/powerpoint/2010/main" val="705947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17BB76-7CC6-3CBF-F967-0075932406B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700808"/>
            <a:ext cx="10081120" cy="3997524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：显示文件</a:t>
            </a:r>
            <a:r>
              <a:rPr lang="en-US" altLang="zh-CN" sz="2600" dirty="0"/>
              <a:t>file</a:t>
            </a:r>
            <a:r>
              <a:rPr lang="zh-CN" altLang="en-US" sz="2600" dirty="0"/>
              <a:t>中包含字符串</a:t>
            </a:r>
            <a:r>
              <a:rPr lang="en-US" altLang="zh-CN" sz="2600" dirty="0" err="1"/>
              <a:t>abc</a:t>
            </a:r>
            <a:r>
              <a:rPr lang="zh-CN" altLang="en-US" sz="2600" dirty="0"/>
              <a:t>的行</a:t>
            </a:r>
          </a:p>
          <a:p>
            <a:pPr marL="344487" lvl="1" indent="0" eaLnBrk="1" hangingPunct="1">
              <a:lnSpc>
                <a:spcPct val="150000"/>
              </a:lnSpc>
              <a:buNone/>
            </a:pPr>
            <a:r>
              <a:rPr lang="en-US" altLang="zh-CN" dirty="0"/>
              <a:t>     $  </a:t>
            </a:r>
            <a:r>
              <a:rPr lang="en-US" altLang="zh-CN" dirty="0" err="1"/>
              <a:t>grep</a:t>
            </a:r>
            <a:r>
              <a:rPr lang="en-US" altLang="zh-CN" dirty="0"/>
              <a:t>   </a:t>
            </a:r>
            <a:r>
              <a:rPr lang="en-US" altLang="zh-CN" dirty="0">
                <a:latin typeface="Arial" pitchFamily="34" charset="0"/>
              </a:rPr>
              <a:t>“</a:t>
            </a:r>
            <a:r>
              <a:rPr lang="en-US" altLang="zh-CN" dirty="0" err="1"/>
              <a:t>abc</a:t>
            </a:r>
            <a:r>
              <a:rPr lang="en-US" altLang="zh-CN" dirty="0">
                <a:latin typeface="Arial" pitchFamily="34" charset="0"/>
              </a:rPr>
              <a:t>” </a:t>
            </a:r>
            <a:r>
              <a:rPr lang="en-US" altLang="zh-CN" dirty="0"/>
              <a:t> file</a:t>
            </a:r>
          </a:p>
          <a:p>
            <a:pPr marL="0" indent="-4763" eaLnBrk="1" hangingPunct="1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：显示文件</a:t>
            </a:r>
            <a:r>
              <a:rPr lang="en-US" altLang="zh-CN" sz="2600" dirty="0"/>
              <a:t>file.txt</a:t>
            </a:r>
            <a:r>
              <a:rPr lang="zh-CN" altLang="en-US" sz="2600" dirty="0"/>
              <a:t>中含有“</a:t>
            </a:r>
            <a:r>
              <a:rPr lang="en-US" altLang="zh-CN" sz="2600" dirty="0"/>
              <a:t>48”</a:t>
            </a:r>
            <a:r>
              <a:rPr lang="zh-CN" altLang="en-US" sz="2600" dirty="0"/>
              <a:t>字符串的行的总数</a:t>
            </a:r>
          </a:p>
          <a:p>
            <a:pPr marL="0" indent="-4763" eaLnBrk="1" hangingPunct="1">
              <a:lnSpc>
                <a:spcPct val="150000"/>
              </a:lnSpc>
              <a:buNone/>
            </a:pPr>
            <a:r>
              <a:rPr lang="en-US" altLang="zh-CN" sz="2600" dirty="0"/>
              <a:t>         $   </a:t>
            </a:r>
            <a:r>
              <a:rPr lang="en-US" altLang="zh-CN" sz="2600" dirty="0" err="1"/>
              <a:t>grep</a:t>
            </a:r>
            <a:r>
              <a:rPr lang="en-US" altLang="zh-CN" sz="2600" dirty="0"/>
              <a:t>  -c  48  file.txt </a:t>
            </a:r>
          </a:p>
          <a:p>
            <a:pPr marL="0" indent="-4763" eaLnBrk="1" hangingPunct="1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27</a:t>
            </a:r>
            <a:r>
              <a:rPr lang="zh-CN" altLang="en-US" sz="2600" dirty="0"/>
              <a:t>：在</a:t>
            </a:r>
            <a:r>
              <a:rPr lang="en-US" altLang="zh-CN" sz="2600" dirty="0"/>
              <a:t>/etc/passwd</a:t>
            </a:r>
            <a:r>
              <a:rPr lang="zh-CN" altLang="en-US" sz="2600" dirty="0"/>
              <a:t>文件中查找字符串“</a:t>
            </a:r>
            <a:r>
              <a:rPr lang="en-US" altLang="zh-CN" sz="2600" dirty="0"/>
              <a:t>liqun”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28</a:t>
            </a:r>
            <a:r>
              <a:rPr lang="zh-CN" altLang="en-US" sz="2600" dirty="0"/>
              <a:t>：显示</a:t>
            </a:r>
            <a:r>
              <a:rPr lang="en-US" altLang="zh-CN" sz="2600" dirty="0"/>
              <a:t>/etc/passwd </a:t>
            </a:r>
            <a:r>
              <a:rPr lang="zh-CN" altLang="en-US" sz="2600" dirty="0"/>
              <a:t>文件中以</a:t>
            </a:r>
            <a:r>
              <a:rPr lang="en-US" altLang="zh-CN" sz="2600" dirty="0"/>
              <a:t>/bin/bash </a:t>
            </a:r>
            <a:r>
              <a:rPr lang="zh-CN" altLang="en-US" sz="2600" dirty="0"/>
              <a:t>结尾的行。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zh-CN" altLang="en-US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625947"/>
            <a:ext cx="8208912" cy="858837"/>
          </a:xfrm>
        </p:spPr>
        <p:txBody>
          <a:bodyPr/>
          <a:lstStyle/>
          <a:p>
            <a:r>
              <a:rPr lang="zh-CN" altLang="en-US" sz="3600" dirty="0">
                <a:ea typeface="黑体" pitchFamily="49" charset="-122"/>
              </a:rPr>
              <a:t>查找文本的命令</a:t>
            </a:r>
          </a:p>
        </p:txBody>
      </p:sp>
    </p:spTree>
    <p:extLst>
      <p:ext uri="{BB962C8B-B14F-4D97-AF65-F5344CB8AC3E}">
        <p14:creationId xmlns:p14="http://schemas.microsoft.com/office/powerpoint/2010/main" val="40050103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E3F9A28-5A6A-DD12-67FA-60E4AA4F1A5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625947"/>
            <a:ext cx="7488832" cy="858837"/>
          </a:xfrm>
        </p:spPr>
        <p:txBody>
          <a:bodyPr/>
          <a:lstStyle/>
          <a:p>
            <a:r>
              <a:rPr lang="zh-CN" altLang="en-US" dirty="0"/>
              <a:t>查找文件的命令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268760"/>
            <a:ext cx="10153128" cy="5328592"/>
          </a:xfrm>
        </p:spPr>
        <p:txBody>
          <a:bodyPr/>
          <a:lstStyle/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locate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locate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关键字</a:t>
            </a:r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：在保存文件和目录名称的数据库中，查找符合条件的文件。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-d, </a:t>
            </a:r>
            <a:r>
              <a:rPr lang="zh-CN" altLang="en-US" sz="2600" dirty="0"/>
              <a:t>或</a:t>
            </a:r>
            <a:r>
              <a:rPr lang="en-US" altLang="zh-CN" sz="2600" dirty="0"/>
              <a:t>--database DBPATH      </a:t>
            </a:r>
            <a:r>
              <a:rPr lang="zh-CN" altLang="en-US" sz="2600" dirty="0"/>
              <a:t>使用 </a:t>
            </a:r>
            <a:r>
              <a:rPr lang="en-US" altLang="zh-CN" sz="2600" dirty="0"/>
              <a:t>DBPATH </a:t>
            </a:r>
            <a:r>
              <a:rPr lang="zh-CN" altLang="en-US" sz="2600" dirty="0"/>
              <a:t>指定的数据库，而不 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                                            </a:t>
            </a:r>
            <a:r>
              <a:rPr lang="zh-CN" altLang="en-US" sz="2600" dirty="0"/>
              <a:t>是默认数据库 </a:t>
            </a:r>
            <a:r>
              <a:rPr lang="en-US" altLang="zh-CN" sz="2600" dirty="0"/>
              <a:t>/var/lib/</a:t>
            </a:r>
            <a:r>
              <a:rPr lang="en-US" altLang="zh-CN" sz="2600" dirty="0" err="1"/>
              <a:t>mlocate</a:t>
            </a:r>
            <a:r>
              <a:rPr lang="en-US" altLang="zh-CN" sz="2600" dirty="0"/>
              <a:t>/</a:t>
            </a:r>
            <a:r>
              <a:rPr lang="en-US" altLang="zh-CN" sz="2600" dirty="0" err="1"/>
              <a:t>mlocate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None/>
            </a:pPr>
            <a:r>
              <a:rPr lang="en-US" altLang="zh-CN" sz="2600" dirty="0"/>
              <a:t>-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         </a:t>
            </a:r>
            <a:r>
              <a:rPr lang="zh-CN" altLang="en-US" sz="2600" dirty="0"/>
              <a:t>忽略大小写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None/>
            </a:pPr>
            <a:r>
              <a:rPr lang="en-US" altLang="zh-CN" sz="2600" dirty="0"/>
              <a:t>-r         </a:t>
            </a:r>
            <a:r>
              <a:rPr lang="zh-CN" altLang="en-US" sz="2600" dirty="0"/>
              <a:t>后面接正则表达式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None/>
            </a:pPr>
            <a:r>
              <a:rPr lang="en-US" altLang="zh-CN" sz="2600" dirty="0"/>
              <a:t>-c        </a:t>
            </a:r>
            <a:r>
              <a:rPr lang="zh-CN" altLang="en-US" sz="2600" dirty="0"/>
              <a:t>只显示文件数量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例如：查找文件名为</a:t>
            </a:r>
            <a:r>
              <a:rPr lang="en-US" altLang="zh-CN" sz="2600" dirty="0"/>
              <a:t>cut.txt</a:t>
            </a:r>
            <a:r>
              <a:rPr lang="zh-CN" altLang="en-US" sz="2600" dirty="0"/>
              <a:t>的文件。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 #  locate  </a:t>
            </a:r>
            <a:r>
              <a:rPr lang="zh-CN" altLang="en-US" sz="2600" dirty="0"/>
              <a:t>“</a:t>
            </a:r>
            <a:r>
              <a:rPr lang="en-US" altLang="zh-CN" sz="2600" dirty="0"/>
              <a:t>cut.txt</a:t>
            </a:r>
            <a:r>
              <a:rPr lang="zh-CN" altLang="en-US" sz="2600" dirty="0"/>
              <a:t>”</a:t>
            </a:r>
            <a:endParaRPr lang="en-US" altLang="zh-CN" sz="2600" dirty="0"/>
          </a:p>
          <a:p>
            <a:pPr algn="just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FF"/>
                </a:solidFill>
              </a:rPr>
              <a:t>练习</a:t>
            </a:r>
            <a:r>
              <a:rPr lang="en-US" altLang="zh-CN" sz="2600" dirty="0">
                <a:solidFill>
                  <a:srgbClr val="0000FF"/>
                </a:solidFill>
              </a:rPr>
              <a:t>29</a:t>
            </a:r>
            <a:r>
              <a:rPr lang="zh-CN" altLang="en-US" sz="2600" dirty="0"/>
              <a:t>：忽略大小写搜索 </a:t>
            </a:r>
            <a:r>
              <a:rPr lang="en-US" altLang="zh-CN" sz="2600" dirty="0"/>
              <a:t>/etc </a:t>
            </a:r>
            <a:r>
              <a:rPr lang="zh-CN" altLang="en-US" sz="2600" dirty="0"/>
              <a:t>目录下所有以 </a:t>
            </a:r>
            <a:r>
              <a:rPr lang="en-US" altLang="zh-CN" sz="2600" dirty="0" err="1"/>
              <a:t>sh</a:t>
            </a:r>
            <a:r>
              <a:rPr lang="en-US" altLang="zh-CN" sz="2600" dirty="0"/>
              <a:t> </a:t>
            </a:r>
            <a:r>
              <a:rPr lang="zh-CN" altLang="en-US" sz="2600" dirty="0"/>
              <a:t>开头的文件 。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 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265366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B09AEE7-750B-C61E-8F67-B76AF509C32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73440"/>
            <a:ext cx="8003232" cy="858837"/>
          </a:xfrm>
        </p:spPr>
        <p:txBody>
          <a:bodyPr/>
          <a:lstStyle/>
          <a:p>
            <a:r>
              <a:rPr lang="zh-CN" altLang="en-US" dirty="0"/>
              <a:t>分割文件的命令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409625"/>
            <a:ext cx="9937104" cy="4971703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split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split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：用于分割文件，可以分割文本文件，也可以分割非文本文件，默认按照每</a:t>
            </a:r>
            <a:r>
              <a:rPr lang="en-US" altLang="zh-CN" sz="2600" dirty="0"/>
              <a:t>1000</a:t>
            </a:r>
            <a:r>
              <a:rPr lang="zh-CN" altLang="en-US" sz="2600" dirty="0"/>
              <a:t>行分割成一个小文件。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-l&lt;</a:t>
            </a:r>
            <a:r>
              <a:rPr lang="zh-CN" altLang="en-US" sz="2600" dirty="0"/>
              <a:t>行数</a:t>
            </a:r>
            <a:r>
              <a:rPr lang="en-US" altLang="zh-CN" sz="2600" dirty="0"/>
              <a:t>&gt;     </a:t>
            </a:r>
            <a:r>
              <a:rPr lang="zh-CN" altLang="en-US" sz="2600" dirty="0"/>
              <a:t>指定每多少行切成一个小文件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-b&lt;</a:t>
            </a:r>
            <a:r>
              <a:rPr lang="zh-CN" altLang="en-US" sz="2600" dirty="0"/>
              <a:t>字节</a:t>
            </a:r>
            <a:r>
              <a:rPr lang="en-US" altLang="zh-CN" sz="2600" dirty="0"/>
              <a:t>&gt;   </a:t>
            </a:r>
            <a:r>
              <a:rPr lang="zh-CN" altLang="en-US" sz="2600" dirty="0"/>
              <a:t>指定每多少字节切成一个小文件</a:t>
            </a:r>
            <a:endParaRPr lang="en-US" altLang="zh-CN" sz="26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941721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EE8BA4-F4FE-D4E3-F13C-682EBFC1BC7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579120"/>
            <a:ext cx="7848872" cy="858837"/>
          </a:xfrm>
        </p:spPr>
        <p:txBody>
          <a:bodyPr/>
          <a:lstStyle/>
          <a:p>
            <a:r>
              <a:rPr lang="zh-CN" altLang="en-US" dirty="0"/>
              <a:t>分割文件的命令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409625"/>
            <a:ext cx="10081120" cy="4091191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：使用指令</a:t>
            </a:r>
            <a:r>
              <a:rPr lang="en-US" altLang="zh-CN" sz="2600" dirty="0"/>
              <a:t>“split”</a:t>
            </a:r>
            <a:r>
              <a:rPr lang="zh-CN" altLang="en-US" sz="2600" dirty="0"/>
              <a:t>将文件</a:t>
            </a:r>
            <a:r>
              <a:rPr lang="en-US" altLang="zh-CN" sz="2600" dirty="0"/>
              <a:t>“readme.txt”</a:t>
            </a:r>
            <a:r>
              <a:rPr lang="zh-CN" altLang="en-US" sz="2600" dirty="0"/>
              <a:t>每</a:t>
            </a:r>
            <a:r>
              <a:rPr lang="en-US" altLang="zh-CN" sz="2600" dirty="0"/>
              <a:t>5</a:t>
            </a:r>
            <a:r>
              <a:rPr lang="zh-CN" altLang="en-US" sz="2600" dirty="0"/>
              <a:t>行切割成一个文件。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   $   split    -5   readme.txt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   以上命令执行后，</a:t>
            </a:r>
            <a:r>
              <a:rPr lang="en-US" altLang="zh-CN" sz="2600" dirty="0"/>
              <a:t>“readme.txt”</a:t>
            </a:r>
            <a:r>
              <a:rPr lang="zh-CN" altLang="en-US" sz="2600" dirty="0"/>
              <a:t>被切割成多个以</a:t>
            </a:r>
            <a:r>
              <a:rPr lang="en-US" altLang="zh-CN" sz="2600" dirty="0"/>
              <a:t>“x”</a:t>
            </a:r>
            <a:r>
              <a:rPr lang="zh-CN" altLang="en-US" sz="2600" dirty="0"/>
              <a:t>开头的小文件。而在这些小文件中，每个文件都只有</a:t>
            </a:r>
            <a:r>
              <a:rPr lang="en-US" altLang="zh-CN" sz="2600" dirty="0"/>
              <a:t>5</a:t>
            </a:r>
            <a:r>
              <a:rPr lang="zh-CN" altLang="en-US" sz="2600" dirty="0"/>
              <a:t>行内容。</a:t>
            </a:r>
            <a:endParaRPr lang="en-US" altLang="zh-CN" sz="26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5B732-3974-4BFF-AD89-37BA36B25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7848" y="5661248"/>
            <a:ext cx="28448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497639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0273A8E-1330-EF4E-9F6D-9992787A253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512" y="579120"/>
            <a:ext cx="7915919" cy="858837"/>
          </a:xfrm>
        </p:spPr>
        <p:txBody>
          <a:bodyPr/>
          <a:lstStyle/>
          <a:p>
            <a:r>
              <a:rPr lang="zh-CN" altLang="en-US" dirty="0"/>
              <a:t>处理文本的命令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556792"/>
            <a:ext cx="9433048" cy="4464496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tr 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tr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[</a:t>
            </a:r>
            <a:r>
              <a:rPr lang="zh-CN" altLang="en-US" sz="2600" dirty="0">
                <a:solidFill>
                  <a:srgbClr val="CC0099"/>
                </a:solidFill>
              </a:rPr>
              <a:t>集合</a:t>
            </a:r>
            <a:r>
              <a:rPr lang="en-US" altLang="zh-CN" sz="2600" dirty="0">
                <a:solidFill>
                  <a:srgbClr val="CC0099"/>
                </a:solidFill>
              </a:rPr>
              <a:t>1] [</a:t>
            </a:r>
            <a:r>
              <a:rPr lang="zh-CN" altLang="en-US" sz="2600" dirty="0">
                <a:solidFill>
                  <a:srgbClr val="CC0099"/>
                </a:solidFill>
              </a:rPr>
              <a:t>集合</a:t>
            </a:r>
            <a:r>
              <a:rPr lang="en-US" altLang="zh-CN" sz="2600" dirty="0">
                <a:solidFill>
                  <a:srgbClr val="CC0099"/>
                </a:solidFill>
              </a:rPr>
              <a:t>2]</a:t>
            </a:r>
            <a:endParaRPr lang="zh-CN" altLang="en-US" sz="2600" dirty="0">
              <a:solidFill>
                <a:srgbClr val="CC0099"/>
              </a:solidFill>
            </a:endParaRP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 </a:t>
            </a:r>
            <a:r>
              <a:rPr lang="en-US" altLang="zh-CN" sz="2600" dirty="0"/>
              <a:t>tr </a:t>
            </a:r>
            <a:r>
              <a:rPr lang="zh-CN" altLang="en-US" sz="2600" dirty="0"/>
              <a:t>命令用于转换或删除文件中的字符。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-d    </a:t>
            </a:r>
            <a:r>
              <a:rPr lang="zh-CN" altLang="en-US" sz="2600" dirty="0"/>
              <a:t>删除所有集合</a:t>
            </a:r>
            <a:r>
              <a:rPr lang="en-US" altLang="zh-CN" sz="2600" dirty="0"/>
              <a:t>1</a:t>
            </a:r>
            <a:r>
              <a:rPr lang="zh-CN" altLang="en-US" sz="2600" dirty="0"/>
              <a:t>的字符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-c    </a:t>
            </a:r>
            <a:r>
              <a:rPr lang="zh-CN" altLang="en-US" sz="2600" dirty="0"/>
              <a:t>取代所有不属于集合</a:t>
            </a:r>
            <a:r>
              <a:rPr lang="en-US" altLang="zh-CN" sz="2600" dirty="0"/>
              <a:t>1</a:t>
            </a:r>
            <a:r>
              <a:rPr lang="zh-CN" altLang="en-US" sz="2600" dirty="0"/>
              <a:t>的字符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-s   </a:t>
            </a:r>
            <a:r>
              <a:rPr lang="zh-CN" altLang="en-US" sz="2600" dirty="0"/>
              <a:t>把连续重复的字符以单独一个字符表示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-t    </a:t>
            </a:r>
            <a:r>
              <a:rPr lang="zh-CN" altLang="en-US" sz="2600" dirty="0"/>
              <a:t>删除集合</a:t>
            </a:r>
            <a:r>
              <a:rPr lang="en-US" altLang="zh-CN" sz="2600" dirty="0"/>
              <a:t>1</a:t>
            </a:r>
            <a:r>
              <a:rPr lang="zh-CN" altLang="en-US" sz="2600" dirty="0"/>
              <a:t>较集合</a:t>
            </a:r>
            <a:r>
              <a:rPr lang="en-US" altLang="zh-CN" sz="2600" dirty="0"/>
              <a:t>2</a:t>
            </a:r>
            <a:r>
              <a:rPr lang="zh-CN" altLang="en-US" sz="2600" dirty="0"/>
              <a:t>多出的字符</a:t>
            </a:r>
            <a:endParaRPr lang="en-US" altLang="zh-CN" sz="2600" dirty="0"/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FF0000"/>
                </a:solidFill>
              </a:rPr>
              <a:t> </a:t>
            </a:r>
            <a:endParaRPr lang="en-US" altLang="zh-CN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C82948-0F37-C5EC-36D5-76D293DB7A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29200" y="5770096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1321834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54C580-3C7C-2152-FD76-5C3F2BE4227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AD989-DA03-6977-99BC-CF3B4B16B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929388"/>
            <a:ext cx="8229600" cy="6480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例如：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CB77D-B034-3967-FFE4-01CF8E507B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8D7F56-BEF4-21C0-1DFC-B7E98729F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12" y="1952136"/>
            <a:ext cx="964907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99899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F9FF16F-D087-BBA3-C564-9BDDFD85093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481931"/>
            <a:ext cx="7992888" cy="858837"/>
          </a:xfrm>
        </p:spPr>
        <p:txBody>
          <a:bodyPr/>
          <a:lstStyle/>
          <a:p>
            <a:r>
              <a:rPr lang="zh-CN" altLang="en-US" dirty="0"/>
              <a:t>处理文本的命令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447700"/>
            <a:ext cx="9793088" cy="4501580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paste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paste</a:t>
            </a:r>
            <a:r>
              <a:rPr lang="en-US" altLang="zh-CN" sz="2600" dirty="0">
                <a:solidFill>
                  <a:srgbClr val="CC0099"/>
                </a:solidFill>
              </a:rPr>
              <a:t>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：把每个文件以</a:t>
            </a:r>
            <a:r>
              <a:rPr lang="zh-CN" altLang="en-US" sz="2600" dirty="0">
                <a:solidFill>
                  <a:srgbClr val="CC0099"/>
                </a:solidFill>
              </a:rPr>
              <a:t>列对列</a:t>
            </a:r>
            <a:r>
              <a:rPr lang="zh-CN" altLang="en-US" sz="2600" dirty="0"/>
              <a:t>的方式加以合并。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-d   </a:t>
            </a:r>
            <a:r>
              <a:rPr lang="zh-CN" altLang="en-US" sz="2600" dirty="0"/>
              <a:t>指定分隔符</a:t>
            </a:r>
            <a:endParaRPr lang="en-US" altLang="zh-CN" sz="2600" dirty="0"/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-s   </a:t>
            </a:r>
            <a:r>
              <a:rPr lang="zh-CN" altLang="en-US" sz="2600" dirty="0"/>
              <a:t>将每个文件合并成行而不是按行粘贴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CN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5B732-3974-4BFF-AD89-37BA36B25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387154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CAD40F-C9B6-8314-CD68-065AB884E56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0BF72-4D59-F6D9-2A16-A9985238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548680"/>
            <a:ext cx="8229600" cy="44116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例如：合并两个文件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50944-6552-D0A3-639D-D065199806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8C56D0-419D-3BDA-B5D8-6916B78EA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8" y="1144670"/>
            <a:ext cx="7355532" cy="51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13411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9CDC27-B04B-AD8C-6A59-0AD48395CB6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0BF72-4D59-F6D9-2A16-A9985238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776" y="1052736"/>
            <a:ext cx="8229600" cy="5040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例如：指定字符作为分隔符合并两个文件。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50944-6552-D0A3-639D-D065199806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6CDDFD-B7F2-6F3D-66AF-A19BCE1A9D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1504" y="1844824"/>
            <a:ext cx="8579296" cy="170256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AA68B9E-F8BD-2DF0-1810-270D2A76E824}"/>
              </a:ext>
            </a:extLst>
          </p:cNvPr>
          <p:cNvSpPr txBox="1">
            <a:spLocks/>
          </p:cNvSpPr>
          <p:nvPr/>
        </p:nvSpPr>
        <p:spPr bwMode="auto">
          <a:xfrm>
            <a:off x="1271464" y="3717032"/>
            <a:ext cx="950505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2600" kern="0" dirty="0"/>
              <a:t>例如：每个文件合并成行，而不是按行粘贴（用于行列转置。）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B624E2-A7EC-8F94-EE7E-33BB7F2F4C4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528" y="4430813"/>
            <a:ext cx="8097044" cy="101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58089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39938F0-40C3-900A-1208-2999A65FCA6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579120"/>
            <a:ext cx="7704856" cy="858837"/>
          </a:xfrm>
        </p:spPr>
        <p:txBody>
          <a:bodyPr/>
          <a:lstStyle/>
          <a:p>
            <a:r>
              <a:rPr lang="zh-CN" altLang="en-US" dirty="0"/>
              <a:t>处理文本的命令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375692"/>
            <a:ext cx="9721080" cy="4501580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cut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cut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：从文件的每行剪切字节、字符和字段，并将这些字节、字符和字段输出到标准输出。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-b   </a:t>
            </a:r>
            <a:r>
              <a:rPr lang="zh-CN" altLang="en-US" sz="2600" dirty="0"/>
              <a:t>以字节为单位分割；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-c   </a:t>
            </a:r>
            <a:r>
              <a:rPr lang="zh-CN" altLang="en-US" sz="2600" dirty="0"/>
              <a:t>以字符为单位分割；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-d   </a:t>
            </a:r>
            <a:r>
              <a:rPr lang="zh-CN" altLang="en-US" sz="2600" dirty="0"/>
              <a:t>自定义分隔符，默认为制表符，与 </a:t>
            </a:r>
            <a:r>
              <a:rPr lang="en-US" altLang="zh-CN" sz="2600" dirty="0"/>
              <a:t>-f </a:t>
            </a:r>
            <a:r>
              <a:rPr lang="zh-CN" altLang="en-US" sz="2600" dirty="0"/>
              <a:t>一起使用；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-f   </a:t>
            </a:r>
            <a:r>
              <a:rPr lang="zh-CN" altLang="en-US" sz="2600" dirty="0"/>
              <a:t>依据 </a:t>
            </a:r>
            <a:r>
              <a:rPr lang="en-US" altLang="zh-CN" sz="2600" dirty="0"/>
              <a:t>-d </a:t>
            </a:r>
            <a:r>
              <a:rPr lang="zh-CN" altLang="en-US" sz="2600" dirty="0"/>
              <a:t>的分隔字符将一段信息分割成为字段，用 </a:t>
            </a:r>
            <a:r>
              <a:rPr lang="en-US" altLang="zh-CN" sz="2600" dirty="0"/>
              <a:t>-f </a:t>
            </a:r>
            <a:r>
              <a:rPr lang="zh-CN" altLang="en-US" sz="2600" dirty="0"/>
              <a:t>取出指定的字段；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CN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5B732-3974-4BFF-AD89-37BA36B25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3134459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6212B36-7F83-1C37-B409-211034997AE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1E2AF4-F185-5A39-1D15-BE210208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588" y="193899"/>
            <a:ext cx="7211144" cy="858837"/>
          </a:xfrm>
        </p:spPr>
        <p:txBody>
          <a:bodyPr/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cs"/>
              </a:rPr>
              <a:t>例如：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E920594-9409-7035-15B4-F9F750D0DC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9589" y="1124744"/>
            <a:ext cx="8343443" cy="515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00159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A5C66C0-4D9B-376A-6238-E9B047C3F2F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1E2AF4-F185-5A39-1D15-BE210208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588" y="409923"/>
            <a:ext cx="7211144" cy="858837"/>
          </a:xfrm>
        </p:spPr>
        <p:txBody>
          <a:bodyPr/>
          <a:lstStyle/>
          <a:p>
            <a:pPr algn="l"/>
            <a:r>
              <a:rPr lang="zh-CN" altLang="en-US" sz="2400" dirty="0">
                <a:latin typeface="+mn-lt"/>
                <a:ea typeface="+mn-ea"/>
                <a:cs typeface="+mn-cs"/>
              </a:rPr>
              <a:t>例如：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A7C2D-D7B5-30DF-2F52-59712B42DA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BC14BC-1CAD-069B-B6A4-BD5DF1D3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588" y="1435045"/>
            <a:ext cx="7848872" cy="401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47040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1972CA5-9926-8480-5C58-C20625A6DE8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8DD22-D3D9-406A-9D69-176A7E9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25947"/>
            <a:ext cx="8229600" cy="858837"/>
          </a:xfrm>
        </p:spPr>
        <p:txBody>
          <a:bodyPr/>
          <a:lstStyle/>
          <a:p>
            <a:r>
              <a:rPr lang="zh-CN" altLang="en-US" dirty="0"/>
              <a:t>处理文本的命令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8A3AD-7AE6-4EAE-9B1F-65CBF1D6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409626"/>
            <a:ext cx="9793088" cy="4822428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sort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sort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：用于将文本文件内容加以排序，默认的方式将文本文件的第一列以 </a:t>
            </a:r>
            <a:r>
              <a:rPr lang="en-US" altLang="zh-CN" sz="2600" dirty="0"/>
              <a:t>ASCII </a:t>
            </a:r>
            <a:r>
              <a:rPr lang="zh-CN" altLang="en-US" sz="2600" dirty="0"/>
              <a:t>码的次序排列。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-b   </a:t>
            </a:r>
            <a:r>
              <a:rPr lang="zh-CN" altLang="en-US" sz="2600" dirty="0"/>
              <a:t>忽略每行前面开始的空格字符；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-c   </a:t>
            </a:r>
            <a:r>
              <a:rPr lang="zh-CN" altLang="en-US" sz="2600" dirty="0"/>
              <a:t>检查文件是否已经按照顺序排序；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-k   </a:t>
            </a:r>
            <a:r>
              <a:rPr lang="zh-CN" altLang="en-US" sz="2600" dirty="0"/>
              <a:t>按指定的列进行排序；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-u   </a:t>
            </a:r>
            <a:r>
              <a:rPr lang="zh-CN" altLang="en-US" sz="2600" dirty="0"/>
              <a:t>在输出行中去除重复行；</a:t>
            </a:r>
            <a:endParaRPr lang="en-US" altLang="zh-CN" sz="2600" dirty="0"/>
          </a:p>
          <a:p>
            <a:pPr algn="just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/>
              <a:t>-t&lt;</a:t>
            </a:r>
            <a:r>
              <a:rPr lang="zh-CN" altLang="en-US" sz="2600" dirty="0"/>
              <a:t>分隔字符</a:t>
            </a:r>
            <a:r>
              <a:rPr lang="en-US" altLang="zh-CN" sz="2600" dirty="0"/>
              <a:t>&gt;  </a:t>
            </a:r>
            <a:r>
              <a:rPr lang="zh-CN" altLang="en-US" sz="2600" dirty="0"/>
              <a:t>指定排序时所用的栏位分隔字符。</a:t>
            </a:r>
          </a:p>
        </p:txBody>
      </p:sp>
    </p:spTree>
    <p:extLst>
      <p:ext uri="{BB962C8B-B14F-4D97-AF65-F5344CB8AC3E}">
        <p14:creationId xmlns:p14="http://schemas.microsoft.com/office/powerpoint/2010/main" val="3067473973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145067-6C9D-2D80-1B2E-C9E4F7231DF1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ED675D-3D11-421E-9FBE-3DCEC5F2F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872" y="476672"/>
            <a:ext cx="8229600" cy="44116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例如：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E80096-F11D-4F4A-B233-3B92BA4F5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B76442-9B44-711E-AE86-C4608910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980728"/>
            <a:ext cx="7632848" cy="529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01254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DD03ACF-137F-2C5C-035A-18A43DD5506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53939"/>
            <a:ext cx="8003232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比较文件内容的命令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43472" y="1447700"/>
            <a:ext cx="9793088" cy="4573588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comm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  </a:t>
            </a:r>
            <a:r>
              <a:rPr lang="en-US" altLang="zh-CN" sz="2600" dirty="0">
                <a:solidFill>
                  <a:srgbClr val="CC0099"/>
                </a:solidFill>
              </a:rPr>
              <a:t>comm   [ -123]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  <a:r>
              <a:rPr lang="en-US" altLang="zh-CN" sz="2600" dirty="0">
                <a:solidFill>
                  <a:srgbClr val="CC0099"/>
                </a:solidFill>
              </a:rPr>
              <a:t>1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  <a:r>
              <a:rPr lang="en-US" altLang="zh-CN" sz="2600" dirty="0">
                <a:solidFill>
                  <a:srgbClr val="CC0099"/>
                </a:solidFill>
              </a:rPr>
              <a:t>2</a:t>
            </a:r>
            <a:endParaRPr lang="zh-CN" altLang="en-US" sz="2600" dirty="0">
              <a:solidFill>
                <a:srgbClr val="CC0099"/>
              </a:solidFill>
            </a:endParaRP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功能：用于两个文件之间的比较，前提是两个文件必须有序。</a:t>
            </a:r>
            <a:endParaRPr lang="en-US" altLang="zh-CN" sz="2600" dirty="0"/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zh-CN" altLang="en-US" sz="2600" dirty="0"/>
              <a:t>主要选项说明：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-1       </a:t>
            </a:r>
            <a:r>
              <a:rPr lang="zh-CN" altLang="en-US" sz="2600" dirty="0"/>
              <a:t>不显示只在第</a:t>
            </a:r>
            <a:r>
              <a:rPr lang="en-US" altLang="zh-CN" sz="2600" dirty="0"/>
              <a:t>1</a:t>
            </a:r>
            <a:r>
              <a:rPr lang="zh-CN" altLang="en-US" sz="2600" dirty="0"/>
              <a:t>个文件里出现过的列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-2       </a:t>
            </a:r>
            <a:r>
              <a:rPr lang="zh-CN" altLang="en-US" sz="2600" dirty="0"/>
              <a:t>不显示只在第</a:t>
            </a:r>
            <a:r>
              <a:rPr lang="en-US" altLang="zh-CN" sz="2600" dirty="0"/>
              <a:t>2</a:t>
            </a:r>
            <a:r>
              <a:rPr lang="zh-CN" altLang="en-US" sz="2600" dirty="0"/>
              <a:t>个文件里出现过的列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  <a:buNone/>
            </a:pPr>
            <a:r>
              <a:rPr lang="en-US" altLang="zh-CN" sz="2600" dirty="0"/>
              <a:t>-3       </a:t>
            </a:r>
            <a:r>
              <a:rPr lang="zh-CN" altLang="en-US" sz="2600" dirty="0"/>
              <a:t>不显示同时在第</a:t>
            </a:r>
            <a:r>
              <a:rPr lang="en-US" altLang="zh-CN" sz="2600" dirty="0"/>
              <a:t>1</a:t>
            </a:r>
            <a:r>
              <a:rPr lang="zh-CN" altLang="en-US" sz="2600" dirty="0"/>
              <a:t>和第</a:t>
            </a:r>
            <a:r>
              <a:rPr lang="en-US" altLang="zh-CN" sz="2600" dirty="0"/>
              <a:t>2</a:t>
            </a:r>
            <a:r>
              <a:rPr lang="zh-CN" altLang="en-US" sz="2600" dirty="0"/>
              <a:t>个文件里出现过的列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2978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6608011-1C03-BE23-523C-EC60A59296B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553939"/>
            <a:ext cx="8075240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比较文件内容的命令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91544" y="1628800"/>
            <a:ext cx="8280920" cy="936104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altLang="zh-CN" sz="2500" dirty="0">
                <a:solidFill>
                  <a:srgbClr val="0000CC"/>
                </a:solidFill>
              </a:rPr>
              <a:t>comm </a:t>
            </a:r>
            <a:r>
              <a:rPr lang="zh-CN" altLang="en-US" sz="2500" dirty="0">
                <a:solidFill>
                  <a:srgbClr val="0000CC"/>
                </a:solidFill>
              </a:rPr>
              <a:t>命令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algn="just">
              <a:lnSpc>
                <a:spcPct val="90000"/>
              </a:lnSpc>
              <a:buClr>
                <a:schemeClr val="tx1"/>
              </a:buClr>
              <a:buNone/>
            </a:pPr>
            <a:r>
              <a:rPr lang="zh-CN" altLang="en-US" sz="2500" dirty="0"/>
              <a:t>例如：</a:t>
            </a:r>
            <a:r>
              <a:rPr lang="en-US" altLang="zh-CN" sz="2500" dirty="0"/>
              <a:t>aaa.txt </a:t>
            </a:r>
            <a:r>
              <a:rPr lang="zh-CN" altLang="en-US" sz="2500" dirty="0"/>
              <a:t>与 </a:t>
            </a:r>
            <a:r>
              <a:rPr lang="en-US" altLang="zh-CN" sz="2500" dirty="0"/>
              <a:t>bbb.txt </a:t>
            </a:r>
            <a:r>
              <a:rPr lang="zh-CN" altLang="en-US" sz="2500" dirty="0"/>
              <a:t>的文件内容如下：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2207568" y="2635165"/>
            <a:ext cx="2201244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2500" dirty="0"/>
              <a:t># cat  aaa.txt </a:t>
            </a:r>
          </a:p>
          <a:p>
            <a:pPr algn="l"/>
            <a:r>
              <a:rPr lang="en-US" altLang="zh-CN" sz="2500" dirty="0"/>
              <a:t>111 </a:t>
            </a:r>
          </a:p>
          <a:p>
            <a:pPr algn="l"/>
            <a:r>
              <a:rPr lang="en-US" altLang="zh-CN" sz="2500" dirty="0"/>
              <a:t>222 </a:t>
            </a:r>
          </a:p>
          <a:p>
            <a:pPr algn="l"/>
            <a:r>
              <a:rPr lang="en-US" altLang="zh-CN" sz="2500" dirty="0" err="1"/>
              <a:t>aaa</a:t>
            </a:r>
            <a:endParaRPr lang="en-US" altLang="zh-CN" sz="2500" dirty="0"/>
          </a:p>
          <a:p>
            <a:pPr algn="l"/>
            <a:r>
              <a:rPr lang="en-US" altLang="zh-CN" sz="2500" dirty="0" err="1"/>
              <a:t>bbb</a:t>
            </a:r>
            <a:endParaRPr lang="en-US" altLang="zh-CN" sz="2500" dirty="0"/>
          </a:p>
          <a:p>
            <a:pPr algn="l"/>
            <a:r>
              <a:rPr lang="en-US" altLang="zh-CN" sz="2500" dirty="0"/>
              <a:t>ccc </a:t>
            </a:r>
          </a:p>
          <a:p>
            <a:pPr algn="l"/>
            <a:r>
              <a:rPr lang="en-US" altLang="zh-CN" sz="2500" dirty="0" err="1"/>
              <a:t>ddd</a:t>
            </a:r>
            <a:r>
              <a:rPr lang="en-US" altLang="zh-CN" sz="2500" dirty="0"/>
              <a:t> </a:t>
            </a:r>
          </a:p>
          <a:p>
            <a:pPr algn="l"/>
            <a:r>
              <a:rPr lang="en-US" altLang="zh-CN" sz="2500" dirty="0" err="1"/>
              <a:t>eee</a:t>
            </a:r>
            <a:endParaRPr lang="en-US" altLang="zh-CN" sz="2500" dirty="0"/>
          </a:p>
        </p:txBody>
      </p:sp>
      <p:sp>
        <p:nvSpPr>
          <p:cNvPr id="6" name="TextBox 5"/>
          <p:cNvSpPr txBox="1"/>
          <p:nvPr/>
        </p:nvSpPr>
        <p:spPr>
          <a:xfrm>
            <a:off x="5159897" y="2708920"/>
            <a:ext cx="2164375" cy="27853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 sz="2500" dirty="0"/>
              <a:t># cat  bbb.txt</a:t>
            </a:r>
          </a:p>
          <a:p>
            <a:pPr algn="l"/>
            <a:r>
              <a:rPr lang="en-US" altLang="zh-CN" sz="2500" dirty="0" err="1"/>
              <a:t>aaa</a:t>
            </a:r>
            <a:endParaRPr lang="en-US" altLang="zh-CN" sz="2500" dirty="0"/>
          </a:p>
          <a:p>
            <a:pPr algn="l"/>
            <a:r>
              <a:rPr lang="en-US" altLang="zh-CN" sz="2500" dirty="0" err="1"/>
              <a:t>bbb</a:t>
            </a:r>
            <a:r>
              <a:rPr lang="en-US" altLang="zh-CN" sz="2500" dirty="0"/>
              <a:t> </a:t>
            </a:r>
          </a:p>
          <a:p>
            <a:pPr algn="l"/>
            <a:r>
              <a:rPr lang="en-US" altLang="zh-CN" sz="2500" dirty="0"/>
              <a:t>ccc  </a:t>
            </a:r>
          </a:p>
          <a:p>
            <a:pPr algn="l"/>
            <a:r>
              <a:rPr lang="en-US" altLang="zh-CN" sz="2500" dirty="0" err="1"/>
              <a:t>hhh</a:t>
            </a:r>
            <a:r>
              <a:rPr lang="en-US" altLang="zh-CN" sz="2500" dirty="0"/>
              <a:t> </a:t>
            </a:r>
          </a:p>
          <a:p>
            <a:pPr algn="l"/>
            <a:r>
              <a:rPr lang="en-US" altLang="zh-CN" sz="2500" dirty="0" err="1"/>
              <a:t>jjj</a:t>
            </a:r>
            <a:endParaRPr lang="en-US" altLang="zh-CN" sz="2500" dirty="0"/>
          </a:p>
          <a:p>
            <a:pPr algn="l"/>
            <a:r>
              <a:rPr lang="en-US" altLang="zh-CN" sz="2500" dirty="0" err="1"/>
              <a:t>ttt</a:t>
            </a:r>
            <a:endParaRPr lang="en-US" altLang="zh-CN" sz="2500" dirty="0"/>
          </a:p>
        </p:txBody>
      </p:sp>
    </p:spTree>
    <p:extLst>
      <p:ext uri="{BB962C8B-B14F-4D97-AF65-F5344CB8AC3E}">
        <p14:creationId xmlns:p14="http://schemas.microsoft.com/office/powerpoint/2010/main" val="38193102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7BFB214-B7EB-A2D7-6EE5-58213643ED9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0192" y="579120"/>
            <a:ext cx="7139136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比较文件内容的命令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47528" y="1628800"/>
            <a:ext cx="4680520" cy="4608512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执行</a:t>
            </a:r>
            <a:r>
              <a:rPr lang="en-US" altLang="zh-CN" sz="2500" dirty="0">
                <a:solidFill>
                  <a:srgbClr val="0000CC"/>
                </a:solidFill>
              </a:rPr>
              <a:t>comm </a:t>
            </a:r>
            <a:r>
              <a:rPr lang="zh-CN" altLang="en-US" sz="2500" dirty="0">
                <a:solidFill>
                  <a:srgbClr val="0000CC"/>
                </a:solidFill>
              </a:rPr>
              <a:t>命令输出结果：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# comm aaa.txt  bbb.txt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111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222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           </a:t>
            </a:r>
            <a:r>
              <a:rPr lang="en-US" altLang="zh-CN" sz="2500" dirty="0" err="1"/>
              <a:t>aaa</a:t>
            </a:r>
            <a:r>
              <a:rPr lang="en-US" altLang="zh-CN" sz="2500" dirty="0"/>
              <a:t>      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           </a:t>
            </a:r>
            <a:r>
              <a:rPr lang="en-US" altLang="zh-CN" sz="2500" dirty="0" err="1"/>
              <a:t>bbb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           ccc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 err="1"/>
              <a:t>ddd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 err="1"/>
              <a:t>eee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</a:t>
            </a:r>
            <a:r>
              <a:rPr lang="en-US" altLang="zh-CN" sz="2500" dirty="0" err="1"/>
              <a:t>hhh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</a:t>
            </a:r>
            <a:r>
              <a:rPr lang="en-US" altLang="zh-CN" sz="2500" dirty="0" err="1"/>
              <a:t>jjj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 </a:t>
            </a:r>
            <a:r>
              <a:rPr lang="en-US" altLang="zh-CN" sz="2500" dirty="0" err="1"/>
              <a:t>ttt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8" name="Rectangle 3"/>
          <p:cNvSpPr txBox="1">
            <a:spLocks noRot="1" noChangeArrowheads="1"/>
          </p:cNvSpPr>
          <p:nvPr/>
        </p:nvSpPr>
        <p:spPr bwMode="auto">
          <a:xfrm>
            <a:off x="6960096" y="2636912"/>
            <a:ext cx="3672408" cy="30243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zh-CN" altLang="en-US" sz="2400"/>
              <a:t>输出的第一列只包含在</a:t>
            </a:r>
            <a:r>
              <a:rPr lang="en-US" altLang="zh-CN" sz="2400"/>
              <a:t>aaa.txt</a:t>
            </a:r>
            <a:r>
              <a:rPr lang="zh-CN" altLang="en-US" sz="2400"/>
              <a:t>中出现的行</a:t>
            </a:r>
            <a:endParaRPr lang="en-US" altLang="zh-CN" sz="240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zh-CN" altLang="en-US" sz="2400"/>
              <a:t>第二列只包含在</a:t>
            </a:r>
            <a:r>
              <a:rPr lang="en-US" altLang="zh-CN" sz="2400"/>
              <a:t>bbb.txt</a:t>
            </a:r>
            <a:r>
              <a:rPr lang="zh-CN" altLang="en-US" sz="2400"/>
              <a:t>中出现的行，</a:t>
            </a:r>
            <a:endParaRPr lang="en-US" altLang="zh-CN" sz="240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zh-CN" altLang="en-US" sz="2400"/>
              <a:t>第三列包含在</a:t>
            </a:r>
            <a:r>
              <a:rPr lang="en-US" altLang="zh-CN" sz="2400"/>
              <a:t>aaa.txt</a:t>
            </a:r>
            <a:r>
              <a:rPr lang="zh-CN" altLang="en-US" sz="2400"/>
              <a:t>和</a:t>
            </a:r>
            <a:r>
              <a:rPr lang="en-US" altLang="zh-CN" sz="2400"/>
              <a:t>bbb.txt</a:t>
            </a:r>
            <a:r>
              <a:rPr lang="zh-CN" altLang="en-US" sz="2400"/>
              <a:t>中相同的行。</a:t>
            </a:r>
          </a:p>
        </p:txBody>
      </p:sp>
    </p:spTree>
    <p:extLst>
      <p:ext uri="{BB962C8B-B14F-4D97-AF65-F5344CB8AC3E}">
        <p14:creationId xmlns:p14="http://schemas.microsoft.com/office/powerpoint/2010/main" val="29576700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C8F115-523D-70D6-CA67-F1BD794756C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1200" y="337915"/>
            <a:ext cx="7139136" cy="858837"/>
          </a:xfrm>
        </p:spPr>
        <p:txBody>
          <a:bodyPr/>
          <a:lstStyle/>
          <a:p>
            <a:r>
              <a:rPr lang="zh-CN" altLang="en-US" dirty="0">
                <a:cs typeface="Arial" pitchFamily="34" charset="0"/>
              </a:rPr>
              <a:t>比较文件内容的命令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19536" y="1196752"/>
            <a:ext cx="7416824" cy="576064"/>
          </a:xfrm>
          <a:ln>
            <a:solidFill>
              <a:schemeClr val="bg1"/>
            </a:solidFill>
          </a:ln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# comm   -12  aaa.txt bbb.txt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2279576" y="1628800"/>
            <a:ext cx="7416824" cy="115212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aaa</a:t>
            </a:r>
            <a:r>
              <a:rPr lang="en-US" altLang="zh-CN" sz="2500" dirty="0"/>
              <a:t>       </a:t>
            </a:r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bbb</a:t>
            </a:r>
            <a:endParaRPr lang="en-US" altLang="zh-CN" sz="2500" dirty="0"/>
          </a:p>
          <a:p>
            <a:pPr algn="just">
              <a:lnSpc>
                <a:spcPct val="7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ccc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7" name="Rectangle 3"/>
          <p:cNvSpPr txBox="1">
            <a:spLocks noRot="1" noChangeArrowheads="1"/>
          </p:cNvSpPr>
          <p:nvPr/>
        </p:nvSpPr>
        <p:spPr bwMode="auto">
          <a:xfrm>
            <a:off x="1991544" y="2708920"/>
            <a:ext cx="7416824" cy="5760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# comm   -13  aaa.txt bbb.txt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9" name="Rectangle 3"/>
          <p:cNvSpPr txBox="1">
            <a:spLocks noRot="1" noChangeArrowheads="1"/>
          </p:cNvSpPr>
          <p:nvPr/>
        </p:nvSpPr>
        <p:spPr bwMode="auto">
          <a:xfrm>
            <a:off x="2279576" y="3140968"/>
            <a:ext cx="7416824" cy="122413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hhh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jjj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ttt</a:t>
            </a:r>
            <a:r>
              <a:rPr lang="en-US" altLang="zh-CN" sz="2500" dirty="0"/>
              <a:t>      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10" name="Rectangle 3"/>
          <p:cNvSpPr txBox="1">
            <a:spLocks noRot="1" noChangeArrowheads="1"/>
          </p:cNvSpPr>
          <p:nvPr/>
        </p:nvSpPr>
        <p:spPr bwMode="auto">
          <a:xfrm>
            <a:off x="1989381" y="4293096"/>
            <a:ext cx="7416824" cy="5760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# comm   -23  aaa.txt bbb.txt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  <p:sp>
        <p:nvSpPr>
          <p:cNvPr id="11" name="Rectangle 3"/>
          <p:cNvSpPr txBox="1">
            <a:spLocks noRot="1" noChangeArrowheads="1"/>
          </p:cNvSpPr>
          <p:nvPr/>
        </p:nvSpPr>
        <p:spPr bwMode="auto">
          <a:xfrm>
            <a:off x="2279576" y="4725144"/>
            <a:ext cx="7416824" cy="165618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111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222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ddd</a:t>
            </a:r>
            <a:endParaRPr lang="en-US" altLang="zh-CN" sz="2500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 err="1"/>
              <a:t>eee</a:t>
            </a:r>
            <a:r>
              <a:rPr lang="en-US" altLang="zh-CN" sz="2500" dirty="0"/>
              <a:t>      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500" dirty="0"/>
              <a:t>           </a:t>
            </a: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27157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13F17B9-42A2-92CE-E522-50DF7E5B214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 </a:t>
            </a:r>
            <a:r>
              <a:rPr lang="zh-CN" altLang="en-US" dirty="0"/>
              <a:t>重定向和管道命令符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681634"/>
            <a:ext cx="9793088" cy="4411662"/>
          </a:xfrm>
        </p:spPr>
        <p:txBody>
          <a:bodyPr/>
          <a:lstStyle/>
          <a:p>
            <a:r>
              <a:rPr lang="zh-CN" altLang="en-US" sz="2600" dirty="0"/>
              <a:t>键盘称为标准输入设备，显示器称为标准输出设备。</a:t>
            </a:r>
            <a:endParaRPr lang="en-US" altLang="zh-CN" sz="2600" dirty="0"/>
          </a:p>
          <a:p>
            <a:r>
              <a:rPr lang="zh-CN" altLang="en-US" sz="2600" dirty="0"/>
              <a:t>在</a:t>
            </a:r>
            <a:r>
              <a:rPr lang="en-US" altLang="zh-CN" sz="2600" dirty="0"/>
              <a:t>Shell</a:t>
            </a:r>
            <a:r>
              <a:rPr lang="zh-CN" altLang="en-US" sz="2600" dirty="0"/>
              <a:t>中不使用系统的标准输入、输出设备而重新指定其输入和输出的方法称为输入输出</a:t>
            </a:r>
            <a:r>
              <a:rPr lang="zh-CN" altLang="en-US" sz="2600" dirty="0">
                <a:solidFill>
                  <a:srgbClr val="CC0099"/>
                </a:solidFill>
              </a:rPr>
              <a:t>重定向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r>
              <a:rPr lang="zh-CN" altLang="en-US" sz="2600" dirty="0"/>
              <a:t>什么时候需要使用重定向？</a:t>
            </a:r>
            <a:endParaRPr lang="en-US" altLang="zh-CN" sz="2600" dirty="0"/>
          </a:p>
          <a:p>
            <a:pPr lvl="1"/>
            <a:r>
              <a:rPr lang="zh-CN" altLang="en-US" sz="2400" dirty="0"/>
              <a:t>当屏幕输出的信息很重要，而且需要将它保存的时候。</a:t>
            </a:r>
            <a:endParaRPr lang="en-US" altLang="zh-CN" sz="2400" dirty="0"/>
          </a:p>
          <a:p>
            <a:pPr lvl="1"/>
            <a:r>
              <a:rPr lang="zh-CN" altLang="en-US" sz="2400" dirty="0"/>
              <a:t>当后台执行的程序，不希望它干扰屏幕正常输出结果时。</a:t>
            </a:r>
            <a:endParaRPr lang="en-US" altLang="zh-CN" sz="2400" dirty="0"/>
          </a:p>
          <a:p>
            <a:pPr lvl="1"/>
            <a:r>
              <a:rPr lang="zh-CN" altLang="en-US" sz="2400" dirty="0"/>
              <a:t>一些系统的例行性命令的执行结果，希望它可以保存下来时。</a:t>
            </a:r>
            <a:endParaRPr lang="en-US" altLang="zh-CN" sz="2400" dirty="0"/>
          </a:p>
          <a:p>
            <a:pPr lvl="1"/>
            <a:r>
              <a:rPr lang="zh-CN" altLang="en-US" sz="2400" dirty="0"/>
              <a:t>错误信息和正确信息需要分别输出时。</a:t>
            </a:r>
            <a:endParaRPr lang="en-US" altLang="zh-CN" sz="2400" dirty="0"/>
          </a:p>
          <a:p>
            <a:pPr lvl="1"/>
            <a:r>
              <a:rPr lang="zh-CN" altLang="en-US" sz="2400" dirty="0"/>
              <a:t>需要输入的数据通过文件的方式读入时。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222798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23093A-D391-D011-81B4-D67F8AE290F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12776"/>
            <a:ext cx="9793088" cy="4752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根据输出效果的不同，与输出相关的重定向可分为</a:t>
            </a:r>
            <a:r>
              <a:rPr lang="en-US" altLang="zh-CN" sz="2600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输出重定向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附加输出重定向</a:t>
            </a:r>
            <a:endParaRPr lang="en-US" altLang="zh-CN" dirty="0">
              <a:solidFill>
                <a:srgbClr val="0000CC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错误输出重定向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与输入相关的重定向只有一种，称为</a:t>
            </a:r>
            <a:r>
              <a:rPr lang="zh-CN" altLang="en-US" sz="2600" dirty="0">
                <a:solidFill>
                  <a:srgbClr val="0000CC"/>
                </a:solidFill>
              </a:rPr>
              <a:t>输入重定向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EEEECC5-5C1A-4177-BB9A-EF977859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输出重定向</a:t>
            </a:r>
          </a:p>
        </p:txBody>
      </p:sp>
    </p:spTree>
    <p:extLst>
      <p:ext uri="{BB962C8B-B14F-4D97-AF65-F5344CB8AC3E}">
        <p14:creationId xmlns:p14="http://schemas.microsoft.com/office/powerpoint/2010/main" val="3029342947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517B2D-3708-0C9F-025B-50074C81BBF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7685" y="1268760"/>
            <a:ext cx="9830883" cy="4752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输出重定向符号：</a:t>
            </a:r>
            <a:r>
              <a:rPr lang="en-US" altLang="zh-CN" sz="2600" dirty="0">
                <a:solidFill>
                  <a:srgbClr val="CC0099"/>
                </a:solidFill>
              </a:rPr>
              <a:t>&gt;,  2&gt;,  &gt;&gt; , 2&gt;&gt;,</a:t>
            </a:r>
            <a:r>
              <a:rPr lang="zh-CN" altLang="en-US" sz="2600" dirty="0">
                <a:solidFill>
                  <a:srgbClr val="CC0099"/>
                </a:solidFill>
              </a:rPr>
              <a:t> </a:t>
            </a:r>
            <a:r>
              <a:rPr lang="en-US" altLang="zh-CN" sz="2600" dirty="0">
                <a:solidFill>
                  <a:srgbClr val="CC0099"/>
                </a:solidFill>
              </a:rPr>
              <a:t>&amp;&gt;&gt;</a:t>
            </a:r>
            <a:r>
              <a:rPr lang="zh-CN" altLang="en-US" sz="2600" dirty="0">
                <a:solidFill>
                  <a:srgbClr val="CC0099"/>
                </a:solidFill>
              </a:rPr>
              <a:t>（或</a:t>
            </a:r>
            <a:r>
              <a:rPr lang="en-US" altLang="zh-CN" sz="2600" dirty="0">
                <a:solidFill>
                  <a:srgbClr val="CC0099"/>
                </a:solidFill>
              </a:rPr>
              <a:t>2&gt;&amp;1</a:t>
            </a:r>
            <a:r>
              <a:rPr lang="zh-CN" altLang="en-US" sz="2600" dirty="0">
                <a:solidFill>
                  <a:srgbClr val="CC0099"/>
                </a:solidFill>
              </a:rPr>
              <a:t>）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/>
              <a:t>语法格式：</a:t>
            </a:r>
            <a:r>
              <a:rPr lang="zh-CN" altLang="en-US" sz="2600" dirty="0">
                <a:solidFill>
                  <a:srgbClr val="CC0099"/>
                </a:solidFill>
              </a:rPr>
              <a:t>命令       重定向符号      设备或文件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/>
              <a:t>作用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&gt;</a:t>
            </a:r>
            <a:r>
              <a:rPr lang="en-US" altLang="zh-CN" sz="2100" dirty="0">
                <a:solidFill>
                  <a:srgbClr val="0000CC"/>
                </a:solidFill>
              </a:rPr>
              <a:t> </a:t>
            </a:r>
            <a:r>
              <a:rPr lang="zh-CN" altLang="en-US" sz="2100" dirty="0">
                <a:solidFill>
                  <a:srgbClr val="0000CC"/>
                </a:solidFill>
              </a:rPr>
              <a:t>文件      </a:t>
            </a:r>
            <a:r>
              <a:rPr lang="zh-CN" altLang="en-US" sz="2100" dirty="0"/>
              <a:t>将标准输出重定向到一个文件中（清空原文件的数据）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2&gt; </a:t>
            </a:r>
            <a:r>
              <a:rPr lang="zh-CN" altLang="en-US" sz="2100" dirty="0">
                <a:solidFill>
                  <a:srgbClr val="0000CC"/>
                </a:solidFill>
              </a:rPr>
              <a:t>文件</a:t>
            </a:r>
            <a:r>
              <a:rPr lang="zh-CN" altLang="en-US" sz="2100" dirty="0"/>
              <a:t>	将错误输出重定向到一个文件中（清空原文件的数据）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&gt;&gt; </a:t>
            </a:r>
            <a:r>
              <a:rPr lang="zh-CN" altLang="en-US" sz="2100" dirty="0">
                <a:solidFill>
                  <a:srgbClr val="0000CC"/>
                </a:solidFill>
              </a:rPr>
              <a:t>文件</a:t>
            </a:r>
            <a:r>
              <a:rPr lang="zh-CN" altLang="en-US" sz="2100" dirty="0"/>
              <a:t>	将标准输出重定向到一个文件中（追加到原内容的后面）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2&gt;&gt; </a:t>
            </a:r>
            <a:r>
              <a:rPr lang="zh-CN" altLang="en-US" sz="2100" dirty="0">
                <a:solidFill>
                  <a:srgbClr val="0000CC"/>
                </a:solidFill>
              </a:rPr>
              <a:t>文件</a:t>
            </a:r>
            <a:r>
              <a:rPr lang="zh-CN" altLang="en-US" sz="2100" dirty="0"/>
              <a:t>	将错误输出重定向到一个文件中（追加到原内容的后面）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&amp;&gt;&gt;</a:t>
            </a:r>
            <a:r>
              <a:rPr lang="en-US" altLang="zh-CN" sz="2100" dirty="0">
                <a:solidFill>
                  <a:srgbClr val="0000CC"/>
                </a:solidFill>
              </a:rPr>
              <a:t> </a:t>
            </a:r>
            <a:r>
              <a:rPr lang="zh-CN" altLang="en-US" sz="2100" dirty="0">
                <a:solidFill>
                  <a:srgbClr val="0000CC"/>
                </a:solidFill>
              </a:rPr>
              <a:t>文件	</a:t>
            </a:r>
            <a:r>
              <a:rPr lang="zh-CN" altLang="en-US" sz="2100" dirty="0"/>
              <a:t>将标准输出与错误输出共同写入文件中（追加到原内容的后面）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2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dirty="0">
              <a:solidFill>
                <a:srgbClr val="CC0099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EEEECC5-5C1A-4177-BB9A-EF977859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548680"/>
            <a:ext cx="9614859" cy="858837"/>
          </a:xfrm>
        </p:spPr>
        <p:txBody>
          <a:bodyPr/>
          <a:lstStyle/>
          <a:p>
            <a:r>
              <a:rPr lang="zh-CN" altLang="en-US" dirty="0"/>
              <a:t>输出重定向</a:t>
            </a:r>
          </a:p>
        </p:txBody>
      </p:sp>
    </p:spTree>
    <p:extLst>
      <p:ext uri="{BB962C8B-B14F-4D97-AF65-F5344CB8AC3E}">
        <p14:creationId xmlns:p14="http://schemas.microsoft.com/office/powerpoint/2010/main" val="4275306290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F1E033-E28A-761E-7CAE-E3EE48165C7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7685" y="1484784"/>
            <a:ext cx="9686867" cy="4752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输入重定向符号：</a:t>
            </a:r>
            <a:r>
              <a:rPr lang="en-US" altLang="zh-CN" sz="2600" dirty="0">
                <a:solidFill>
                  <a:srgbClr val="CC0099"/>
                </a:solidFill>
              </a:rPr>
              <a:t>&lt; </a:t>
            </a:r>
            <a:r>
              <a:rPr lang="en-US" altLang="zh-CN" sz="2600" dirty="0"/>
              <a:t>, </a:t>
            </a:r>
            <a:r>
              <a:rPr lang="en-US" altLang="zh-CN" sz="2600" dirty="0">
                <a:solidFill>
                  <a:srgbClr val="CC0099"/>
                </a:solidFill>
              </a:rPr>
              <a:t> &lt;&lt; </a:t>
            </a:r>
          </a:p>
          <a:p>
            <a:pPr>
              <a:lnSpc>
                <a:spcPct val="150000"/>
              </a:lnSpc>
            </a:pPr>
            <a:r>
              <a:rPr lang="zh-CN" altLang="en-US" sz="2600" dirty="0"/>
              <a:t>语法格式：</a:t>
            </a:r>
            <a:r>
              <a:rPr lang="zh-CN" altLang="en-US" sz="2600" dirty="0">
                <a:solidFill>
                  <a:srgbClr val="CC0099"/>
                </a:solidFill>
              </a:rPr>
              <a:t>命令       重定向符号      设备或文件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/>
              <a:t>作用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&lt;</a:t>
            </a:r>
            <a:r>
              <a:rPr lang="en-US" altLang="zh-CN" sz="2100" dirty="0">
                <a:solidFill>
                  <a:srgbClr val="0000CC"/>
                </a:solidFill>
              </a:rPr>
              <a:t> </a:t>
            </a:r>
            <a:r>
              <a:rPr lang="zh-CN" altLang="en-US" sz="2100" dirty="0">
                <a:solidFill>
                  <a:srgbClr val="0000CC"/>
                </a:solidFill>
              </a:rPr>
              <a:t>文件         </a:t>
            </a:r>
            <a:r>
              <a:rPr lang="zh-CN" altLang="en-US" sz="2100" dirty="0"/>
              <a:t>将文件作为命令的标准输入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&lt;&lt; </a:t>
            </a:r>
            <a:r>
              <a:rPr lang="zh-CN" altLang="en-US" sz="2100" dirty="0">
                <a:solidFill>
                  <a:srgbClr val="0000CC"/>
                </a:solidFill>
              </a:rPr>
              <a:t>分界符    </a:t>
            </a:r>
            <a:r>
              <a:rPr lang="zh-CN" altLang="en-US" sz="2100" dirty="0"/>
              <a:t>将从标准输入中读入，直到遇见分界符才停止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命令 </a:t>
            </a:r>
            <a:r>
              <a:rPr lang="en-US" altLang="zh-CN" sz="2100" dirty="0">
                <a:solidFill>
                  <a:srgbClr val="CC0099"/>
                </a:solidFill>
              </a:rPr>
              <a:t>&lt;</a:t>
            </a:r>
            <a:r>
              <a:rPr lang="zh-CN" altLang="en-US" sz="2100" dirty="0">
                <a:solidFill>
                  <a:srgbClr val="0000CC"/>
                </a:solidFill>
              </a:rPr>
              <a:t>文件</a:t>
            </a:r>
            <a:r>
              <a:rPr lang="en-US" altLang="zh-CN" sz="2100" dirty="0">
                <a:solidFill>
                  <a:srgbClr val="0000CC"/>
                </a:solidFill>
              </a:rPr>
              <a:t>1</a:t>
            </a:r>
            <a:r>
              <a:rPr lang="en-US" altLang="zh-CN" sz="2100" dirty="0">
                <a:solidFill>
                  <a:srgbClr val="CC0099"/>
                </a:solidFill>
              </a:rPr>
              <a:t>&gt;</a:t>
            </a:r>
            <a:r>
              <a:rPr lang="zh-CN" altLang="en-US" sz="2100" dirty="0">
                <a:solidFill>
                  <a:srgbClr val="0000CC"/>
                </a:solidFill>
              </a:rPr>
              <a:t>文件</a:t>
            </a:r>
            <a:r>
              <a:rPr lang="en-US" altLang="zh-CN" sz="2100" dirty="0">
                <a:solidFill>
                  <a:srgbClr val="0000CC"/>
                </a:solidFill>
              </a:rPr>
              <a:t>2</a:t>
            </a:r>
            <a:r>
              <a:rPr lang="zh-CN" altLang="en-US" sz="2100" dirty="0">
                <a:solidFill>
                  <a:srgbClr val="0000CC"/>
                </a:solidFill>
              </a:rPr>
              <a:t>   </a:t>
            </a:r>
            <a:r>
              <a:rPr lang="zh-CN" altLang="en-US" sz="2100" dirty="0"/>
              <a:t>将文件</a:t>
            </a:r>
            <a:r>
              <a:rPr lang="en-US" altLang="zh-CN" sz="2100" dirty="0"/>
              <a:t>1</a:t>
            </a:r>
            <a:r>
              <a:rPr lang="zh-CN" altLang="en-US" sz="2100" dirty="0"/>
              <a:t>作为命令的标准输入并将其输出到文件</a:t>
            </a:r>
            <a:r>
              <a:rPr lang="en-US" altLang="zh-CN" sz="2100" dirty="0"/>
              <a:t>2</a:t>
            </a:r>
            <a:r>
              <a:rPr lang="zh-CN" altLang="en-US" sz="2100" dirty="0"/>
              <a:t>中</a:t>
            </a:r>
            <a:endParaRPr lang="en-US" altLang="zh-CN" sz="21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2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600" dirty="0">
              <a:solidFill>
                <a:srgbClr val="CC0099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EEEECC5-5C1A-4177-BB9A-EF977859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输入重定向</a:t>
            </a:r>
          </a:p>
        </p:txBody>
      </p:sp>
    </p:spTree>
    <p:extLst>
      <p:ext uri="{BB962C8B-B14F-4D97-AF65-F5344CB8AC3E}">
        <p14:creationId xmlns:p14="http://schemas.microsoft.com/office/powerpoint/2010/main" val="3670358174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EBE7CDC-FBCC-502C-E16E-797B2E382E9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553939"/>
            <a:ext cx="8147248" cy="858837"/>
          </a:xfrm>
        </p:spPr>
        <p:txBody>
          <a:bodyPr/>
          <a:lstStyle/>
          <a:p>
            <a:r>
              <a:rPr lang="zh-CN" altLang="en-US" dirty="0"/>
              <a:t>输出重定向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268760"/>
            <a:ext cx="9937104" cy="49685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500" dirty="0">
                <a:solidFill>
                  <a:srgbClr val="0000CC"/>
                </a:solidFill>
              </a:rPr>
              <a:t>1. </a:t>
            </a:r>
            <a:r>
              <a:rPr lang="zh-CN" altLang="en-US" sz="2500" dirty="0">
                <a:solidFill>
                  <a:srgbClr val="0000CC"/>
                </a:solidFill>
              </a:rPr>
              <a:t>输出重定向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sz="2500" dirty="0"/>
              <a:t>输出重定向就是命令执行的结果不在标准输出（屏幕）上显示，而是保存到某一文件或通过某一设备进行输出的操作，利用符号“ </a:t>
            </a:r>
            <a:r>
              <a:rPr lang="en-US" altLang="zh-CN" sz="2500" dirty="0">
                <a:solidFill>
                  <a:srgbClr val="CC0099"/>
                </a:solidFill>
              </a:rPr>
              <a:t>&gt; </a:t>
            </a:r>
            <a:r>
              <a:rPr lang="zh-CN" altLang="en-US" sz="2500" dirty="0"/>
              <a:t>”来实现。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500" dirty="0"/>
              <a:t>例如，将当前目录中所有文件和子目录的详细信息保存到</a:t>
            </a:r>
            <a:r>
              <a:rPr lang="en-US" altLang="zh-CN" sz="2500" dirty="0"/>
              <a:t>list</a:t>
            </a:r>
            <a:r>
              <a:rPr lang="zh-CN" altLang="en-US" sz="2500" dirty="0"/>
              <a:t>文件。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500" dirty="0"/>
              <a:t>［</a:t>
            </a:r>
            <a:r>
              <a:rPr lang="en-US" altLang="zh-CN" sz="2500" dirty="0"/>
              <a:t>root@ localhost  ~</a:t>
            </a:r>
            <a:r>
              <a:rPr lang="zh-CN" altLang="en-US" sz="2500" dirty="0"/>
              <a:t>］</a:t>
            </a:r>
            <a:r>
              <a:rPr lang="en-US" altLang="zh-CN" sz="2500" dirty="0"/>
              <a:t>#  </a:t>
            </a:r>
            <a:r>
              <a:rPr lang="en-US" altLang="zh-CN" sz="2500" dirty="0">
                <a:solidFill>
                  <a:srgbClr val="0000CC"/>
                </a:solidFill>
              </a:rPr>
              <a:t>ls –al  &gt;list</a:t>
            </a:r>
          </a:p>
          <a:p>
            <a:pPr marL="0" indent="0"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上述命令执行后屏幕上不会出现任何信息</a:t>
            </a:r>
            <a:r>
              <a:rPr lang="zh-CN" altLang="en-US" sz="2500" dirty="0"/>
              <a:t>，将本应该出现在屏幕上的内容全部保存到指定的文件中。如果</a:t>
            </a:r>
            <a:r>
              <a:rPr lang="en-US" altLang="zh-CN" sz="2500" dirty="0"/>
              <a:t>list</a:t>
            </a:r>
            <a:r>
              <a:rPr lang="zh-CN" altLang="en-US" sz="2500" dirty="0"/>
              <a:t>文件不存在，则系统会自动创建，不需要预先创建。如果</a:t>
            </a:r>
            <a:r>
              <a:rPr lang="en-US" altLang="zh-CN" sz="2500" dirty="0"/>
              <a:t>list</a:t>
            </a:r>
            <a:r>
              <a:rPr lang="zh-CN" altLang="en-US" sz="2500" dirty="0"/>
              <a:t>文件已经存在，则系统会将文件内容清空，再写入数据。可利用</a:t>
            </a:r>
            <a:r>
              <a:rPr lang="en-US" altLang="zh-CN" sz="2500" dirty="0"/>
              <a:t>cat</a:t>
            </a:r>
            <a:r>
              <a:rPr lang="zh-CN" altLang="en-US" sz="2500" dirty="0"/>
              <a:t>命令查看文本文件中的内容。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500" dirty="0">
                <a:solidFill>
                  <a:srgbClr val="0000FF"/>
                </a:solidFill>
              </a:rPr>
              <a:t>练习</a:t>
            </a:r>
            <a:r>
              <a:rPr lang="en-US" altLang="zh-CN" sz="2500" dirty="0">
                <a:solidFill>
                  <a:srgbClr val="0000FF"/>
                </a:solidFill>
              </a:rPr>
              <a:t>30</a:t>
            </a:r>
            <a:r>
              <a:rPr lang="zh-CN" altLang="en-US" sz="2500" dirty="0"/>
              <a:t>：合并文件</a:t>
            </a:r>
            <a:r>
              <a:rPr lang="en-US" altLang="zh-CN" sz="2500" dirty="0"/>
              <a:t>a.txt</a:t>
            </a:r>
            <a:r>
              <a:rPr lang="zh-CN" altLang="en-US" sz="2500" dirty="0"/>
              <a:t>和</a:t>
            </a:r>
            <a:r>
              <a:rPr lang="en-US" altLang="zh-CN" sz="2500" dirty="0"/>
              <a:t>b.txt</a:t>
            </a:r>
            <a:r>
              <a:rPr lang="zh-CN" altLang="en-US" sz="2500" dirty="0"/>
              <a:t>，将其重定向到文件</a:t>
            </a:r>
            <a:r>
              <a:rPr lang="en-US" altLang="zh-CN" sz="2500" dirty="0"/>
              <a:t>c.txt</a:t>
            </a:r>
            <a:r>
              <a:rPr lang="zh-CN" altLang="en-US" sz="2500" dirty="0"/>
              <a:t>。</a:t>
            </a:r>
            <a:endParaRPr lang="en-US" altLang="zh-CN" sz="25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36593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DB31E5D-D8A9-B93A-8A56-451531C9527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793088" cy="858837"/>
          </a:xfrm>
        </p:spPr>
        <p:txBody>
          <a:bodyPr/>
          <a:lstStyle/>
          <a:p>
            <a:r>
              <a:rPr lang="zh-CN" altLang="en-US" dirty="0"/>
              <a:t>输出重定向扩展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340768"/>
            <a:ext cx="10009112" cy="489654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（</a:t>
            </a:r>
            <a:r>
              <a:rPr lang="en-US" altLang="zh-CN" sz="2600" dirty="0">
                <a:solidFill>
                  <a:srgbClr val="0000CC"/>
                </a:solidFill>
              </a:rPr>
              <a:t>1</a:t>
            </a:r>
            <a:r>
              <a:rPr lang="zh-CN" altLang="en-US" sz="2600" dirty="0">
                <a:solidFill>
                  <a:srgbClr val="0000CC"/>
                </a:solidFill>
              </a:rPr>
              <a:t>）创建文本文件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cat   &gt;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说明：输入此类命令后，屏幕光标闪烁，用户输入文件内容，按“</a:t>
            </a:r>
            <a:r>
              <a:rPr lang="en-US" altLang="zh-CN" sz="2600" dirty="0"/>
              <a:t>Enter</a:t>
            </a:r>
            <a:r>
              <a:rPr lang="zh-CN" altLang="en-US" sz="2600" dirty="0"/>
              <a:t>”键将光标移动到下一行，所有的内容输入完成后，按“</a:t>
            </a:r>
            <a:r>
              <a:rPr lang="en-US" altLang="zh-CN" sz="2600" dirty="0"/>
              <a:t>Ctrl +D</a:t>
            </a:r>
            <a:r>
              <a:rPr lang="zh-CN" altLang="en-US" sz="2600" dirty="0"/>
              <a:t>”组合键结束输入，保存退出，再次出现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命令提示符。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例如：</a:t>
            </a:r>
            <a:r>
              <a:rPr lang="en-US" altLang="zh-CN" sz="2600" dirty="0"/>
              <a:t> </a:t>
            </a:r>
          </a:p>
          <a:p>
            <a:pPr marL="0" indent="0"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cat  &gt; f1</a:t>
            </a:r>
          </a:p>
          <a:p>
            <a:pPr marL="0" indent="0">
              <a:buNone/>
            </a:pPr>
            <a:r>
              <a:rPr lang="en-US" altLang="zh-CN" sz="2600" dirty="0"/>
              <a:t>This is a file named </a:t>
            </a:r>
            <a:r>
              <a:rPr lang="en-US" altLang="zh-CN" sz="2600" dirty="0" err="1"/>
              <a:t>f1</a:t>
            </a:r>
            <a:endParaRPr lang="en-US" altLang="zh-CN" sz="26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296597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BB1D1BF-83BA-FF04-F571-D86708B2847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553939"/>
            <a:ext cx="7543800" cy="858837"/>
          </a:xfrm>
        </p:spPr>
        <p:txBody>
          <a:bodyPr/>
          <a:lstStyle/>
          <a:p>
            <a:r>
              <a:rPr lang="zh-CN" altLang="en-US" dirty="0"/>
              <a:t>输出重定向扩展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340768"/>
            <a:ext cx="9577064" cy="4824536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（</a:t>
            </a:r>
            <a:r>
              <a:rPr lang="en-US" altLang="zh-CN" sz="2400" dirty="0">
                <a:solidFill>
                  <a:srgbClr val="0000CC"/>
                </a:solidFill>
              </a:rPr>
              <a:t>2</a:t>
            </a:r>
            <a:r>
              <a:rPr lang="zh-CN" altLang="en-US" sz="2400" dirty="0">
                <a:solidFill>
                  <a:srgbClr val="0000CC"/>
                </a:solidFill>
              </a:rPr>
              <a:t>）合并文本文件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格式：</a:t>
            </a:r>
            <a:r>
              <a:rPr lang="en-US" altLang="zh-CN" sz="2400" dirty="0">
                <a:solidFill>
                  <a:srgbClr val="0000CC"/>
                </a:solidFill>
              </a:rPr>
              <a:t>cat   </a:t>
            </a:r>
            <a:r>
              <a:rPr lang="zh-CN" altLang="en-US" sz="2400" dirty="0">
                <a:solidFill>
                  <a:srgbClr val="0000CC"/>
                </a:solidFill>
              </a:rPr>
              <a:t>文件列表   </a:t>
            </a:r>
            <a:r>
              <a:rPr lang="en-US" altLang="zh-CN" sz="2400" dirty="0">
                <a:solidFill>
                  <a:srgbClr val="0000CC"/>
                </a:solidFill>
              </a:rPr>
              <a:t>&gt;   </a:t>
            </a:r>
            <a:r>
              <a:rPr lang="zh-CN" altLang="en-US" sz="2400" dirty="0">
                <a:solidFill>
                  <a:srgbClr val="0000CC"/>
                </a:solidFill>
              </a:rPr>
              <a:t>文件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说明：将文件列表中所有文件的内容合并到指定文件。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例如：</a:t>
            </a:r>
            <a:r>
              <a:rPr lang="zh-CN" altLang="en-US" sz="2400" dirty="0">
                <a:solidFill>
                  <a:srgbClr val="0000CC"/>
                </a:solidFill>
              </a:rPr>
              <a:t>将</a:t>
            </a:r>
            <a:r>
              <a:rPr lang="en-US" altLang="zh-CN" sz="2400" dirty="0" err="1">
                <a:solidFill>
                  <a:srgbClr val="0000CC"/>
                </a:solidFill>
              </a:rPr>
              <a:t>f1</a:t>
            </a:r>
            <a:r>
              <a:rPr lang="zh-CN" altLang="en-US" sz="2400" dirty="0">
                <a:solidFill>
                  <a:srgbClr val="0000CC"/>
                </a:solidFill>
              </a:rPr>
              <a:t>和</a:t>
            </a:r>
            <a:r>
              <a:rPr lang="en-US" altLang="zh-CN" sz="2400" dirty="0" err="1">
                <a:solidFill>
                  <a:srgbClr val="0000CC"/>
                </a:solidFill>
              </a:rPr>
              <a:t>f2</a:t>
            </a:r>
            <a:r>
              <a:rPr lang="zh-CN" altLang="en-US" sz="2400" dirty="0">
                <a:solidFill>
                  <a:srgbClr val="0000CC"/>
                </a:solidFill>
              </a:rPr>
              <a:t>文件合并生成</a:t>
            </a:r>
            <a:r>
              <a:rPr lang="en-US" altLang="zh-CN" sz="2400" dirty="0">
                <a:solidFill>
                  <a:srgbClr val="0000CC"/>
                </a:solidFill>
              </a:rPr>
              <a:t>f</a:t>
            </a:r>
            <a:r>
              <a:rPr lang="zh-CN" altLang="en-US" sz="2400" dirty="0">
                <a:solidFill>
                  <a:srgbClr val="0000CC"/>
                </a:solidFill>
              </a:rPr>
              <a:t>文件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［</a:t>
            </a:r>
            <a:r>
              <a:rPr lang="en-US" altLang="zh-CN" sz="2400" dirty="0"/>
              <a:t>root@ localhost  ~</a:t>
            </a:r>
            <a:r>
              <a:rPr lang="zh-CN" altLang="en-US" sz="2400" dirty="0"/>
              <a:t>］</a:t>
            </a:r>
            <a:r>
              <a:rPr lang="en-US" altLang="zh-CN" sz="2400" dirty="0"/>
              <a:t># cat    f1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This is a file named </a:t>
            </a:r>
            <a:r>
              <a:rPr lang="en-US" altLang="zh-CN" sz="2400" dirty="0" err="1"/>
              <a:t>f1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［</a:t>
            </a:r>
            <a:r>
              <a:rPr lang="en-US" altLang="zh-CN" sz="2400" dirty="0"/>
              <a:t>root@ localhost  ~</a:t>
            </a:r>
            <a:r>
              <a:rPr lang="zh-CN" altLang="en-US" sz="2400" dirty="0"/>
              <a:t>］</a:t>
            </a:r>
            <a:r>
              <a:rPr lang="en-US" altLang="zh-CN" sz="2400" dirty="0"/>
              <a:t># cat    f2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This is a file named </a:t>
            </a:r>
            <a:r>
              <a:rPr lang="en-US" altLang="zh-CN" sz="2400" dirty="0" err="1"/>
              <a:t>f2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［</a:t>
            </a:r>
            <a:r>
              <a:rPr lang="en-US" altLang="zh-CN" sz="2400" dirty="0"/>
              <a:t>root@ localhost  ~</a:t>
            </a:r>
            <a:r>
              <a:rPr lang="zh-CN" altLang="en-US" sz="2400" dirty="0"/>
              <a:t>］</a:t>
            </a:r>
            <a:r>
              <a:rPr lang="en-US" altLang="zh-CN" sz="2400" dirty="0"/>
              <a:t># cat   f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This is a file named </a:t>
            </a:r>
            <a:r>
              <a:rPr lang="en-US" altLang="zh-CN" sz="2400" dirty="0" err="1"/>
              <a:t>f1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This is a file named </a:t>
            </a:r>
            <a:r>
              <a:rPr lang="en-US" altLang="zh-CN" sz="2400" dirty="0" err="1"/>
              <a:t>f2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500" dirty="0"/>
          </a:p>
          <a:p>
            <a:pPr marL="0" indent="0">
              <a:buNone/>
            </a:pPr>
            <a:endParaRPr lang="en-US" altLang="zh-CN" sz="25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99456" y="4509120"/>
            <a:ext cx="568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［</a:t>
            </a:r>
            <a:r>
              <a:rPr lang="en-US" altLang="zh-CN" sz="2400" dirty="0">
                <a:solidFill>
                  <a:srgbClr val="0000CC"/>
                </a:solidFill>
              </a:rPr>
              <a:t>root@ localhost  ~</a:t>
            </a:r>
            <a:r>
              <a:rPr lang="zh-CN" altLang="en-US" sz="2400" dirty="0">
                <a:solidFill>
                  <a:srgbClr val="0000CC"/>
                </a:solidFill>
              </a:rPr>
              <a:t>］</a:t>
            </a:r>
            <a:r>
              <a:rPr lang="en-US" altLang="zh-CN" sz="2400" dirty="0">
                <a:solidFill>
                  <a:srgbClr val="0000CC"/>
                </a:solidFill>
              </a:rPr>
              <a:t># cat   f1  f2 &gt; f</a:t>
            </a:r>
          </a:p>
        </p:txBody>
      </p:sp>
    </p:spTree>
    <p:extLst>
      <p:ext uri="{BB962C8B-B14F-4D97-AF65-F5344CB8AC3E}">
        <p14:creationId xmlns:p14="http://schemas.microsoft.com/office/powerpoint/2010/main" val="3371824521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DC5FBD-2A42-CCDF-3524-F93912F0695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124744"/>
            <a:ext cx="10009112" cy="50405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2.  </a:t>
            </a:r>
            <a:r>
              <a:rPr lang="zh-CN" altLang="en-US" sz="2600" dirty="0">
                <a:solidFill>
                  <a:srgbClr val="0000CC"/>
                </a:solidFill>
              </a:rPr>
              <a:t>附加输出重定向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附加输出重定向的功能与输出重定向基本相同。两者的不同之处在于，附加输出重定向</a:t>
            </a:r>
            <a:r>
              <a:rPr lang="zh-CN" altLang="en-US" sz="2600" dirty="0">
                <a:solidFill>
                  <a:srgbClr val="0000CC"/>
                </a:solidFill>
              </a:rPr>
              <a:t>将输出内容</a:t>
            </a:r>
            <a:r>
              <a:rPr lang="zh-CN" altLang="en-US" sz="2600" dirty="0">
                <a:solidFill>
                  <a:srgbClr val="CC0099"/>
                </a:solidFill>
              </a:rPr>
              <a:t>追加</a:t>
            </a:r>
            <a:r>
              <a:rPr lang="zh-CN" altLang="en-US" sz="2600" dirty="0">
                <a:solidFill>
                  <a:srgbClr val="0000CC"/>
                </a:solidFill>
              </a:rPr>
              <a:t>到原有的内容的后面</a:t>
            </a:r>
            <a:r>
              <a:rPr lang="zh-CN" altLang="en-US" sz="2600" dirty="0"/>
              <a:t>，而不会覆盖其内容，利用符号“ </a:t>
            </a:r>
            <a:r>
              <a:rPr lang="en-US" altLang="zh-CN" sz="2600" dirty="0">
                <a:solidFill>
                  <a:srgbClr val="CC0099"/>
                </a:solidFill>
              </a:rPr>
              <a:t>&gt;&gt; </a:t>
            </a:r>
            <a:r>
              <a:rPr lang="zh-CN" altLang="en-US" sz="2600" dirty="0"/>
              <a:t>”来实现附加输出重定向功能。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例如：向</a:t>
            </a:r>
            <a:r>
              <a:rPr lang="en-US" altLang="zh-CN" sz="2600" dirty="0" err="1"/>
              <a:t>f1</a:t>
            </a:r>
            <a:r>
              <a:rPr lang="zh-CN" altLang="en-US" sz="2600" dirty="0"/>
              <a:t>文件添加内容。</a:t>
            </a:r>
            <a:r>
              <a:rPr lang="en-US" altLang="zh-CN" sz="2600" dirty="0"/>
              <a:t> </a:t>
            </a:r>
          </a:p>
          <a:p>
            <a:pPr marL="0" indent="0"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cat  &gt;&gt; f1</a:t>
            </a:r>
          </a:p>
          <a:p>
            <a:pPr marL="0" indent="0">
              <a:buNone/>
            </a:pPr>
            <a:r>
              <a:rPr lang="en-US" altLang="zh-CN" sz="2600" dirty="0"/>
              <a:t> Append to f1</a:t>
            </a:r>
          </a:p>
          <a:p>
            <a:pPr marL="0" indent="0"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cat  f1</a:t>
            </a:r>
          </a:p>
          <a:p>
            <a:pPr marL="0" indent="0">
              <a:buNone/>
            </a:pPr>
            <a:r>
              <a:rPr lang="en-US" altLang="zh-CN" sz="2600" dirty="0"/>
              <a:t> This is a file named f1</a:t>
            </a:r>
          </a:p>
          <a:p>
            <a:pPr marL="0" indent="0">
              <a:buNone/>
            </a:pPr>
            <a:r>
              <a:rPr lang="en-US" altLang="zh-CN" sz="2600" dirty="0"/>
              <a:t> Append to f1</a:t>
            </a:r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31</a:t>
            </a:r>
            <a:r>
              <a:rPr lang="zh-CN" altLang="en-US" sz="2600" dirty="0"/>
              <a:t>：查看日历并将内容追加到文件</a:t>
            </a:r>
            <a:r>
              <a:rPr lang="en-US" altLang="zh-CN" sz="2600" dirty="0"/>
              <a:t>file</a:t>
            </a:r>
            <a:r>
              <a:rPr lang="zh-CN" altLang="en-US" sz="2600" dirty="0"/>
              <a:t>中。</a:t>
            </a:r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1641866"/>
      </p:ext>
    </p:extLst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AE0F08-DAA6-4430-504E-09332155E1D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9937104" cy="439248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3.  </a:t>
            </a:r>
            <a:r>
              <a:rPr lang="zh-CN" altLang="en-US" sz="2600" dirty="0">
                <a:solidFill>
                  <a:srgbClr val="0000CC"/>
                </a:solidFill>
              </a:rPr>
              <a:t>错误输出重定向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    Shell</a:t>
            </a:r>
            <a:r>
              <a:rPr lang="zh-CN" altLang="en-US" sz="2600" dirty="0"/>
              <a:t>中标准输出与错误输出是两个独立的输出操作。</a:t>
            </a:r>
            <a:r>
              <a:rPr lang="zh-CN" altLang="en-US" sz="2600" dirty="0">
                <a:solidFill>
                  <a:srgbClr val="0000CC"/>
                </a:solidFill>
              </a:rPr>
              <a:t>前者是输出命令执行的结果</a:t>
            </a:r>
            <a:r>
              <a:rPr lang="zh-CN" altLang="en-US" sz="2600" dirty="0"/>
              <a:t>，</a:t>
            </a:r>
            <a:r>
              <a:rPr lang="zh-CN" altLang="en-US" sz="2600" dirty="0">
                <a:solidFill>
                  <a:srgbClr val="0000CC"/>
                </a:solidFill>
              </a:rPr>
              <a:t>后者是输出命令执行中的错误信息</a:t>
            </a:r>
            <a:r>
              <a:rPr lang="zh-CN" altLang="en-US" sz="2600" dirty="0"/>
              <a:t>。</a:t>
            </a:r>
            <a:r>
              <a:rPr lang="zh-CN" altLang="en-US" sz="2600" dirty="0">
                <a:solidFill>
                  <a:srgbClr val="CC0099"/>
                </a:solidFill>
              </a:rPr>
              <a:t>错误输出也可以进行重定向</a:t>
            </a:r>
            <a:r>
              <a:rPr lang="zh-CN" altLang="en-US" sz="2600" dirty="0"/>
              <a:t>，并可分为两种情况：</a:t>
            </a:r>
            <a:endParaRPr lang="en-US" altLang="zh-CN" sz="2600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程序的执行结果显示在屏幕上，而错误信息重定向到指定文件，使用“ </a:t>
            </a:r>
            <a:r>
              <a:rPr lang="en-US" altLang="zh-CN" dirty="0">
                <a:solidFill>
                  <a:srgbClr val="CC0099"/>
                </a:solidFill>
              </a:rPr>
              <a:t>2&gt; </a:t>
            </a:r>
            <a:r>
              <a:rPr lang="zh-CN" altLang="en-US" dirty="0"/>
              <a:t>”符号。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程序的执行结果和错误信息都重定向到同一文件，使用“ </a:t>
            </a:r>
            <a:r>
              <a:rPr lang="en-US" altLang="zh-CN" dirty="0">
                <a:solidFill>
                  <a:srgbClr val="CC0099"/>
                </a:solidFill>
              </a:rPr>
              <a:t>&amp;&gt; </a:t>
            </a:r>
            <a:r>
              <a:rPr lang="zh-CN" altLang="en-US" dirty="0"/>
              <a:t>”符号。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输出重定向</a:t>
            </a:r>
          </a:p>
        </p:txBody>
      </p:sp>
    </p:spTree>
    <p:extLst>
      <p:ext uri="{BB962C8B-B14F-4D97-AF65-F5344CB8AC3E}">
        <p14:creationId xmlns:p14="http://schemas.microsoft.com/office/powerpoint/2010/main" val="3743647408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609EB8-1B3B-94F6-CD19-15FEFEDBB8F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9937104" cy="46085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：查看</a:t>
            </a:r>
            <a:r>
              <a:rPr lang="en-US" altLang="zh-CN" sz="2600" dirty="0"/>
              <a:t>/</a:t>
            </a:r>
            <a:r>
              <a:rPr lang="en-US" altLang="zh-CN" sz="2600" dirty="0" err="1"/>
              <a:t>tmp</a:t>
            </a:r>
            <a:r>
              <a:rPr lang="zh-CN" altLang="en-US" sz="2600" dirty="0"/>
              <a:t>目录的文件和子目录信息，如有错误信息，则保存到</a:t>
            </a:r>
            <a:r>
              <a:rPr lang="en-US" altLang="zh-CN" sz="2600" dirty="0"/>
              <a:t>err</a:t>
            </a:r>
            <a:r>
              <a:rPr lang="zh-CN" altLang="en-US" sz="2600" dirty="0"/>
              <a:t>文件。（正确的信息显示在屏幕上）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［</a:t>
            </a:r>
            <a:r>
              <a:rPr lang="en-US" altLang="zh-CN" sz="2400" dirty="0">
                <a:solidFill>
                  <a:srgbClr val="0000CC"/>
                </a:solidFill>
              </a:rPr>
              <a:t>root@ localhost  ~</a:t>
            </a:r>
            <a:r>
              <a:rPr lang="zh-CN" altLang="en-US" sz="2400" dirty="0">
                <a:solidFill>
                  <a:srgbClr val="0000CC"/>
                </a:solidFill>
              </a:rPr>
              <a:t>］</a:t>
            </a:r>
            <a:r>
              <a:rPr lang="en-US" altLang="zh-CN" sz="2400" dirty="0">
                <a:solidFill>
                  <a:srgbClr val="0000CC"/>
                </a:solidFill>
              </a:rPr>
              <a:t>#  ls  /</a:t>
            </a:r>
            <a:r>
              <a:rPr lang="en-US" altLang="zh-CN" sz="2400" dirty="0" err="1">
                <a:solidFill>
                  <a:srgbClr val="0000CC"/>
                </a:solidFill>
              </a:rPr>
              <a:t>tmp</a:t>
            </a:r>
            <a:r>
              <a:rPr lang="en-US" altLang="zh-CN" sz="2400" dirty="0">
                <a:solidFill>
                  <a:srgbClr val="0000CC"/>
                </a:solidFill>
              </a:rPr>
              <a:t>  2&gt;err</a:t>
            </a:r>
          </a:p>
          <a:p>
            <a:pPr marL="0" indent="0">
              <a:buNone/>
            </a:pPr>
            <a:r>
              <a:rPr lang="zh-CN" altLang="en-US" sz="2400" dirty="0"/>
              <a:t>［</a:t>
            </a:r>
            <a:r>
              <a:rPr lang="en-US" altLang="zh-CN" sz="2400" dirty="0"/>
              <a:t>root@ localhost  ~</a:t>
            </a:r>
            <a:r>
              <a:rPr lang="zh-CN" altLang="en-US" sz="2400" dirty="0"/>
              <a:t>］</a:t>
            </a:r>
            <a:r>
              <a:rPr lang="en-US" altLang="zh-CN" sz="2400" dirty="0"/>
              <a:t>#  cat   err</a:t>
            </a:r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：将当前目录下显示的数据，正确的输出到 </a:t>
            </a:r>
            <a:r>
              <a:rPr lang="en-US" altLang="zh-CN" sz="2600" dirty="0"/>
              <a:t>list.txt </a:t>
            </a:r>
            <a:r>
              <a:rPr lang="zh-CN" altLang="en-US" sz="2600" dirty="0"/>
              <a:t>错误的数据输出到 </a:t>
            </a:r>
            <a:r>
              <a:rPr lang="en-US" altLang="zh-CN" sz="2600" dirty="0" err="1"/>
              <a:t>list.err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400" dirty="0"/>
              <a:t>［</a:t>
            </a:r>
            <a:r>
              <a:rPr lang="en-US" altLang="zh-CN" sz="2400" dirty="0"/>
              <a:t>root@ localhost  ~</a:t>
            </a:r>
            <a:r>
              <a:rPr lang="zh-CN" altLang="en-US" sz="2400" dirty="0"/>
              <a:t>］</a:t>
            </a:r>
            <a:r>
              <a:rPr lang="en-US" altLang="zh-CN" sz="2400" dirty="0"/>
              <a:t># ls -al  </a:t>
            </a:r>
            <a:r>
              <a:rPr lang="en-US" altLang="zh-CN" sz="2400" dirty="0">
                <a:solidFill>
                  <a:srgbClr val="CC0099"/>
                </a:solidFill>
              </a:rPr>
              <a:t>1&gt;</a:t>
            </a:r>
            <a:r>
              <a:rPr lang="en-US" altLang="zh-CN" sz="2400" dirty="0"/>
              <a:t> list.txt   </a:t>
            </a:r>
            <a:r>
              <a:rPr lang="en-US" altLang="zh-CN" sz="2400" dirty="0">
                <a:solidFill>
                  <a:srgbClr val="CC0099"/>
                </a:solidFill>
              </a:rPr>
              <a:t>2&gt;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list.err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注意</a:t>
            </a:r>
            <a:r>
              <a:rPr lang="zh-CN" altLang="en-US" sz="2400" dirty="0"/>
              <a:t>：“  </a:t>
            </a:r>
            <a:r>
              <a:rPr lang="en-US" altLang="zh-CN" sz="2400" dirty="0">
                <a:solidFill>
                  <a:srgbClr val="CC0099"/>
                </a:solidFill>
              </a:rPr>
              <a:t>1&gt; </a:t>
            </a:r>
            <a:r>
              <a:rPr lang="zh-CN" altLang="en-US" sz="2400" dirty="0"/>
              <a:t>”符号中的</a:t>
            </a:r>
            <a:r>
              <a:rPr lang="en-US" altLang="zh-CN" sz="2400" dirty="0">
                <a:solidFill>
                  <a:srgbClr val="CC0099"/>
                </a:solidFill>
              </a:rPr>
              <a:t>1</a:t>
            </a:r>
            <a:r>
              <a:rPr lang="zh-CN" altLang="en-US" sz="2400" dirty="0"/>
              <a:t>可以</a:t>
            </a:r>
            <a:r>
              <a:rPr lang="zh-CN" altLang="en-US" sz="2400" dirty="0">
                <a:solidFill>
                  <a:srgbClr val="CC0099"/>
                </a:solidFill>
              </a:rPr>
              <a:t>省略</a:t>
            </a:r>
            <a:r>
              <a:rPr lang="zh-CN" altLang="en-US" sz="2400" dirty="0"/>
              <a:t>不写。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32</a:t>
            </a:r>
            <a:r>
              <a:rPr lang="zh-CN" altLang="en-US" sz="2600" dirty="0"/>
              <a:t>：查看</a:t>
            </a:r>
            <a:r>
              <a:rPr lang="en-US" altLang="zh-CN" sz="2600" dirty="0"/>
              <a:t>/</a:t>
            </a:r>
            <a:r>
              <a:rPr lang="en-US" altLang="zh-CN" sz="2600" dirty="0" err="1"/>
              <a:t>tmp</a:t>
            </a:r>
            <a:r>
              <a:rPr lang="zh-CN" altLang="en-US" sz="2600" dirty="0"/>
              <a:t>目录的文件和子目录信息，将正确的信息和错误信息都输出到同一文件</a:t>
            </a:r>
            <a:r>
              <a:rPr lang="en-US" altLang="zh-CN" sz="2600" dirty="0" err="1"/>
              <a:t>myfile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dirty="0"/>
              <a:t>输出重定向</a:t>
            </a:r>
          </a:p>
        </p:txBody>
      </p:sp>
    </p:spTree>
    <p:extLst>
      <p:ext uri="{BB962C8B-B14F-4D97-AF65-F5344CB8AC3E}">
        <p14:creationId xmlns:p14="http://schemas.microsoft.com/office/powerpoint/2010/main" val="15144125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E31BA57-535C-578F-59E5-3AC9D0B359E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793088" cy="858837"/>
          </a:xfrm>
        </p:spPr>
        <p:txBody>
          <a:bodyPr/>
          <a:lstStyle/>
          <a:p>
            <a:r>
              <a:rPr lang="zh-CN" altLang="en-US" dirty="0"/>
              <a:t>输入重定向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9865096" cy="42842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4.  </a:t>
            </a:r>
            <a:r>
              <a:rPr lang="zh-CN" altLang="en-US" sz="2600" dirty="0">
                <a:solidFill>
                  <a:srgbClr val="0000CC"/>
                </a:solidFill>
              </a:rPr>
              <a:t>输入重定向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输入重定向跟输出重定向相反，是指</a:t>
            </a:r>
            <a:r>
              <a:rPr lang="zh-CN" altLang="en-US" sz="2600" dirty="0">
                <a:solidFill>
                  <a:srgbClr val="CC0099"/>
                </a:solidFill>
              </a:rPr>
              <a:t>不从标准输入（键盘）读入数据，而是从文件读入数据</a:t>
            </a:r>
            <a:r>
              <a:rPr lang="zh-CN" altLang="en-US" sz="2600" dirty="0"/>
              <a:t>，用“ </a:t>
            </a:r>
            <a:r>
              <a:rPr lang="en-US" altLang="zh-CN" sz="2600" dirty="0">
                <a:solidFill>
                  <a:srgbClr val="CC0099"/>
                </a:solidFill>
              </a:rPr>
              <a:t>&lt; </a:t>
            </a:r>
            <a:r>
              <a:rPr lang="zh-CN" altLang="en-US" sz="2600" dirty="0"/>
              <a:t>”符号来实现。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例如：用输入重定向的方式统计文档中有多少行文字。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  cat   f1 </a:t>
            </a:r>
          </a:p>
          <a:p>
            <a:pPr marL="0" indent="0">
              <a:buNone/>
            </a:pPr>
            <a:r>
              <a:rPr lang="en-US" altLang="zh-CN" sz="2600" dirty="0"/>
              <a:t>  This is a file named f1</a:t>
            </a:r>
          </a:p>
          <a:p>
            <a:pPr marL="0" indent="0">
              <a:buNone/>
            </a:pPr>
            <a:r>
              <a:rPr lang="en-US" altLang="zh-CN" sz="2600" dirty="0"/>
              <a:t>  Append to f1</a:t>
            </a:r>
          </a:p>
          <a:p>
            <a:pPr marL="0" indent="0">
              <a:buNone/>
            </a:pPr>
            <a:r>
              <a:rPr lang="zh-CN" altLang="en-US" sz="2600" dirty="0"/>
              <a:t>［</a:t>
            </a:r>
            <a:r>
              <a:rPr lang="en-US" altLang="zh-CN" sz="2600" dirty="0"/>
              <a:t>root@ localhost  ~</a:t>
            </a:r>
            <a:r>
              <a:rPr lang="zh-CN" altLang="en-US" sz="2600" dirty="0"/>
              <a:t>］</a:t>
            </a:r>
            <a:r>
              <a:rPr lang="en-US" altLang="zh-CN" sz="2600" dirty="0"/>
              <a:t>#    wc  -l  &lt;  f1 </a:t>
            </a:r>
          </a:p>
          <a:p>
            <a:pPr marL="0" indent="0">
              <a:buNone/>
            </a:pPr>
            <a:r>
              <a:rPr lang="en-US" altLang="zh-CN" sz="2600" dirty="0"/>
              <a:t>  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65204" y="576902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3762420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075E8C6-CE40-83CA-1968-1D1073D6268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7" y="1340555"/>
            <a:ext cx="9937104" cy="496876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500" dirty="0"/>
              <a:t>利用</a:t>
            </a:r>
            <a:r>
              <a:rPr lang="en-US" altLang="zh-CN" sz="2500" dirty="0"/>
              <a:t>wc </a:t>
            </a:r>
            <a:r>
              <a:rPr lang="zh-CN" altLang="en-US" sz="2500" dirty="0"/>
              <a:t>命令统计我们通过键盘输入的数据。</a:t>
            </a:r>
          </a:p>
          <a:p>
            <a:pPr marL="0" indent="0"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例如</a:t>
            </a:r>
            <a:r>
              <a:rPr lang="zh-CN" altLang="en-US" sz="2500" dirty="0"/>
              <a:t>：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500" dirty="0"/>
              <a:t>［</a:t>
            </a:r>
            <a:r>
              <a:rPr lang="en-US" altLang="zh-CN" sz="2500" dirty="0"/>
              <a:t>root@ localhost  ~</a:t>
            </a:r>
            <a:r>
              <a:rPr lang="zh-CN" altLang="en-US" sz="2500" dirty="0"/>
              <a:t>］</a:t>
            </a:r>
            <a:r>
              <a:rPr lang="en-US" altLang="zh-CN" sz="2500" dirty="0"/>
              <a:t># wc</a:t>
            </a:r>
          </a:p>
          <a:p>
            <a:pPr marL="0" indent="0">
              <a:buNone/>
            </a:pPr>
            <a:r>
              <a:rPr lang="en-US" altLang="zh-CN" sz="2500" dirty="0"/>
              <a:t>hello,</a:t>
            </a:r>
          </a:p>
          <a:p>
            <a:pPr marL="0" indent="0">
              <a:buNone/>
            </a:pPr>
            <a:r>
              <a:rPr lang="en-US" altLang="zh-CN" sz="2500" dirty="0"/>
              <a:t>how are you?</a:t>
            </a:r>
          </a:p>
          <a:p>
            <a:pPr marL="0" indent="0">
              <a:buNone/>
            </a:pPr>
            <a:r>
              <a:rPr lang="en-US" altLang="zh-CN" sz="2500" dirty="0"/>
              <a:t>2 4 20</a:t>
            </a:r>
          </a:p>
          <a:p>
            <a:pPr marL="0" indent="0">
              <a:buNone/>
            </a:pPr>
            <a:r>
              <a:rPr lang="en-US" altLang="zh-CN" sz="2500" dirty="0"/>
              <a:t># </a:t>
            </a:r>
            <a:r>
              <a:rPr lang="zh-CN" altLang="en-US" sz="2500" dirty="0"/>
              <a:t>输入</a:t>
            </a:r>
            <a:r>
              <a:rPr lang="en-US" altLang="zh-CN" sz="2500" dirty="0"/>
              <a:t>wc</a:t>
            </a:r>
            <a:r>
              <a:rPr lang="zh-CN" altLang="en-US" sz="2500" dirty="0"/>
              <a:t>命令后，屏幕光标闪烁，用户输入文件内容，按“</a:t>
            </a:r>
            <a:r>
              <a:rPr lang="en-US" altLang="zh-CN" sz="2500" dirty="0"/>
              <a:t>Enter”</a:t>
            </a:r>
            <a:r>
              <a:rPr lang="zh-CN" altLang="en-US" sz="2500" dirty="0"/>
              <a:t>键将光标移动到下一行，</a:t>
            </a:r>
            <a:r>
              <a:rPr lang="zh-CN" altLang="en-US" sz="2400" dirty="0"/>
              <a:t>所有的内容输入完成后，</a:t>
            </a:r>
            <a:r>
              <a:rPr lang="zh-CN" altLang="en-US" sz="2500" dirty="0"/>
              <a:t>按“</a:t>
            </a:r>
            <a:r>
              <a:rPr lang="en-US" altLang="zh-CN" sz="2500" dirty="0"/>
              <a:t>Ctrl +D”</a:t>
            </a:r>
            <a:r>
              <a:rPr lang="zh-CN" altLang="en-US" sz="2500" dirty="0"/>
              <a:t>组合键结束输入。统计出刚刚输入的数据有</a:t>
            </a:r>
            <a:r>
              <a:rPr lang="en-US" altLang="zh-CN" sz="2500" dirty="0"/>
              <a:t>2</a:t>
            </a:r>
            <a:r>
              <a:rPr lang="zh-CN" altLang="en-US" sz="2500" dirty="0"/>
              <a:t>行、</a:t>
            </a:r>
            <a:r>
              <a:rPr lang="en-US" altLang="zh-CN" sz="2500" dirty="0"/>
              <a:t>4</a:t>
            </a:r>
            <a:r>
              <a:rPr lang="zh-CN" altLang="en-US" sz="2500" dirty="0"/>
              <a:t>个单词、</a:t>
            </a:r>
            <a:r>
              <a:rPr lang="en-US" altLang="zh-CN" sz="2500" dirty="0"/>
              <a:t>20</a:t>
            </a:r>
            <a:r>
              <a:rPr lang="zh-CN" altLang="en-US" sz="2500" dirty="0"/>
              <a:t>字节。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例如</a:t>
            </a:r>
            <a:r>
              <a:rPr lang="zh-CN" altLang="en-US" sz="2400" dirty="0"/>
              <a:t>：将文件</a:t>
            </a:r>
            <a:r>
              <a:rPr lang="en-US" altLang="zh-CN" sz="2400" dirty="0"/>
              <a:t>file1</a:t>
            </a:r>
            <a:r>
              <a:rPr lang="zh-CN" altLang="en-US" sz="2400" dirty="0"/>
              <a:t>的内容导入文件</a:t>
            </a:r>
            <a:r>
              <a:rPr lang="en-US" altLang="zh-CN" sz="2400" dirty="0"/>
              <a:t>file2</a:t>
            </a:r>
            <a:endParaRPr lang="en-US" altLang="zh-CN" sz="2500" dirty="0"/>
          </a:p>
          <a:p>
            <a:pPr marL="0" indent="0">
              <a:buNone/>
            </a:pPr>
            <a:r>
              <a:rPr lang="zh-CN" altLang="en-US" sz="2500" dirty="0"/>
              <a:t>［</a:t>
            </a:r>
            <a:r>
              <a:rPr lang="en-US" altLang="zh-CN" sz="2500" dirty="0"/>
              <a:t>root@ localhost  ~</a:t>
            </a:r>
            <a:r>
              <a:rPr lang="zh-CN" altLang="en-US" sz="2500" dirty="0"/>
              <a:t>］</a:t>
            </a:r>
            <a:r>
              <a:rPr lang="en-US" altLang="zh-CN" sz="2500" dirty="0"/>
              <a:t>#  cat   &lt; file1&gt;file2</a:t>
            </a:r>
          </a:p>
          <a:p>
            <a:pPr marL="0" indent="0">
              <a:buNone/>
            </a:pPr>
            <a:endParaRPr lang="en-US" altLang="zh-CN" sz="2500" dirty="0"/>
          </a:p>
        </p:txBody>
      </p:sp>
    </p:spTree>
    <p:extLst>
      <p:ext uri="{BB962C8B-B14F-4D97-AF65-F5344CB8AC3E}">
        <p14:creationId xmlns:p14="http://schemas.microsoft.com/office/powerpoint/2010/main" val="1380790505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5F84EFD-0657-271A-873B-C3FBDDF8EB9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输入重定向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12776"/>
            <a:ext cx="9865096" cy="475252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2500" dirty="0">
                <a:solidFill>
                  <a:srgbClr val="0000CC"/>
                </a:solidFill>
              </a:rPr>
              <a:t>输入重定向</a:t>
            </a:r>
            <a:endParaRPr lang="en-US" altLang="zh-CN" sz="2500" dirty="0">
              <a:solidFill>
                <a:srgbClr val="0000CC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500" dirty="0"/>
              <a:t>还有一个输入重定向符号</a:t>
            </a:r>
            <a:r>
              <a:rPr lang="en-US" altLang="zh-CN" sz="2500" dirty="0"/>
              <a:t>"</a:t>
            </a:r>
            <a:r>
              <a:rPr lang="en-US" altLang="zh-CN" sz="2500" dirty="0">
                <a:solidFill>
                  <a:srgbClr val="CC0099"/>
                </a:solidFill>
              </a:rPr>
              <a:t>&lt;&lt;</a:t>
            </a:r>
            <a:r>
              <a:rPr lang="en-US" altLang="zh-CN" sz="2500" dirty="0"/>
              <a:t>"</a:t>
            </a:r>
            <a:r>
              <a:rPr lang="zh-CN" altLang="en-US" sz="2500" dirty="0"/>
              <a:t>，这个符号的作用是使用字符关键字作为命令输入的结束，而不使用 </a:t>
            </a:r>
            <a:r>
              <a:rPr lang="en-US" altLang="zh-CN" sz="2500" dirty="0" err="1"/>
              <a:t>Ctrl+D</a:t>
            </a:r>
            <a:r>
              <a:rPr lang="en-US" altLang="zh-CN" sz="2500" dirty="0"/>
              <a:t> </a:t>
            </a:r>
            <a:r>
              <a:rPr lang="zh-CN" altLang="en-US" sz="2500" dirty="0"/>
              <a:t>快捷键。</a:t>
            </a:r>
            <a:endParaRPr lang="en-US" altLang="zh-CN" sz="2500" dirty="0"/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500" dirty="0"/>
              <a:t>［</a:t>
            </a:r>
            <a:r>
              <a:rPr lang="en-US" altLang="zh-CN" sz="2500" dirty="0"/>
              <a:t>root@ localhost  ~</a:t>
            </a:r>
            <a:r>
              <a:rPr lang="zh-CN" altLang="en-US" sz="2500" dirty="0"/>
              <a:t>］</a:t>
            </a:r>
            <a:r>
              <a:rPr lang="en-US" altLang="zh-CN" sz="2500" dirty="0"/>
              <a:t># wc &lt;&lt; "hello"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#</a:t>
            </a:r>
            <a:r>
              <a:rPr lang="zh-CN" altLang="en-US" sz="2500" dirty="0"/>
              <a:t>定义关键字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&gt;This is a test.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&gt;Welcome you to learn Linux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&gt;hello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       2    9    43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500" dirty="0"/>
              <a:t>#</a:t>
            </a:r>
            <a:r>
              <a:rPr lang="zh-CN" altLang="en-US" sz="2500" dirty="0"/>
              <a:t>当再碰到这个关键字时，命令结束，而不用</a:t>
            </a:r>
            <a:r>
              <a:rPr lang="en-US" altLang="zh-CN" sz="2500" dirty="0" err="1"/>
              <a:t>Ctrl+D</a:t>
            </a:r>
            <a:r>
              <a:rPr lang="zh-CN" altLang="en-US" sz="2500" dirty="0"/>
              <a:t>快捷键。</a:t>
            </a:r>
            <a:r>
              <a:rPr lang="en-US" altLang="zh-CN" sz="2500" dirty="0"/>
              <a:t>"&lt;&lt;"</a:t>
            </a:r>
            <a:r>
              <a:rPr lang="zh-CN" altLang="en-US" sz="2500" dirty="0"/>
              <a:t>之后的关键字可以自由定义，只要再碰到相同的关键字，两个关键字之间的内容将作为命令的输入（</a:t>
            </a:r>
            <a:r>
              <a:rPr lang="zh-CN" altLang="en-US" sz="2500" dirty="0">
                <a:solidFill>
                  <a:srgbClr val="CC0099"/>
                </a:solidFill>
              </a:rPr>
              <a:t>不包括关键字本身</a:t>
            </a:r>
            <a:r>
              <a:rPr lang="zh-CN" altLang="en-US" sz="2500" dirty="0"/>
              <a:t>）。</a:t>
            </a:r>
          </a:p>
          <a:p>
            <a:pPr marL="0" indent="0">
              <a:lnSpc>
                <a:spcPct val="80000"/>
              </a:lnSpc>
              <a:buNone/>
            </a:pPr>
            <a:endParaRPr lang="zh-CN" altLang="en-US" sz="25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580526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3472992"/>
      </p:ext>
    </p:extLst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09AF27-2364-4737-2B66-717A493FE8E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管道命令符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540376"/>
            <a:ext cx="10081120" cy="440890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500" dirty="0">
                <a:solidFill>
                  <a:srgbClr val="0000CC"/>
                </a:solidFill>
              </a:rPr>
              <a:t>管道</a:t>
            </a:r>
            <a:r>
              <a:rPr lang="zh-CN" altLang="en-US" sz="2500" dirty="0"/>
              <a:t>是</a:t>
            </a:r>
            <a:r>
              <a:rPr lang="en-US" altLang="zh-CN" sz="2500" dirty="0"/>
              <a:t>Shell</a:t>
            </a:r>
            <a:r>
              <a:rPr lang="zh-CN" altLang="en-US" sz="2500" dirty="0"/>
              <a:t>的另一大特征，其将多个命令前后连接起来形成一个管道流。管道流中的每一个命令都作为一个单独的进程运行，</a:t>
            </a:r>
            <a:r>
              <a:rPr lang="zh-CN" altLang="en-US" sz="2500" dirty="0">
                <a:solidFill>
                  <a:srgbClr val="CC0099"/>
                </a:solidFill>
              </a:rPr>
              <a:t>前一命令的输出结果传送到后一个命令作为输入，从左到右依次执行</a:t>
            </a:r>
            <a:r>
              <a:rPr lang="zh-CN" altLang="en-US" sz="2500" dirty="0"/>
              <a:t>每个命令，利用“ </a:t>
            </a:r>
            <a:r>
              <a:rPr lang="en-US" altLang="zh-CN" sz="2500" dirty="0">
                <a:solidFill>
                  <a:srgbClr val="CC0099"/>
                </a:solidFill>
              </a:rPr>
              <a:t>| </a:t>
            </a:r>
            <a:r>
              <a:rPr lang="zh-CN" altLang="en-US" sz="2500" dirty="0"/>
              <a:t>”符号实现管道功能。</a:t>
            </a:r>
            <a:endParaRPr lang="en-US" altLang="zh-CN" sz="25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/>
              <a:t>形式：</a:t>
            </a:r>
            <a:r>
              <a:rPr lang="fr-FR" altLang="zh-CN" sz="2500" dirty="0">
                <a:solidFill>
                  <a:srgbClr val="CC0099"/>
                </a:solidFill>
              </a:rPr>
              <a:t>command 1 |  command 2 |  command 3 ……</a:t>
            </a:r>
            <a:endParaRPr lang="en-US" altLang="zh-CN" sz="2500" dirty="0">
              <a:solidFill>
                <a:srgbClr val="CC0099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/>
              <a:t>例如：利用管道统计当前目录中的文件和子目录的数目。</a:t>
            </a:r>
            <a:endParaRPr lang="en-US" altLang="zh-CN" sz="25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/>
              <a:t>［</a:t>
            </a:r>
            <a:r>
              <a:rPr lang="en-US" altLang="zh-CN" sz="2500" dirty="0"/>
              <a:t>root@ localhost  ~</a:t>
            </a:r>
            <a:r>
              <a:rPr lang="zh-CN" altLang="en-US" sz="2500" dirty="0"/>
              <a:t>］</a:t>
            </a:r>
            <a:r>
              <a:rPr lang="en-US" altLang="zh-CN" sz="2500" dirty="0"/>
              <a:t>#    ls   |wc  -l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500" dirty="0"/>
              <a:t> 10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/>
              <a:t>此时，屏幕上并不会显示</a:t>
            </a:r>
            <a:r>
              <a:rPr lang="en-US" altLang="zh-CN" sz="2500" dirty="0"/>
              <a:t>ls</a:t>
            </a:r>
            <a:r>
              <a:rPr lang="zh-CN" altLang="en-US" sz="2500" dirty="0"/>
              <a:t>命令执行的结果，因为</a:t>
            </a:r>
            <a:r>
              <a:rPr lang="en-US" altLang="zh-CN" sz="2500" dirty="0"/>
              <a:t>ls</a:t>
            </a:r>
            <a:r>
              <a:rPr lang="zh-CN" altLang="en-US" sz="2500" dirty="0"/>
              <a:t>命令执行的结果通过管道交给</a:t>
            </a:r>
            <a:r>
              <a:rPr lang="en-US" altLang="zh-CN" sz="2500" dirty="0" err="1"/>
              <a:t>wc</a:t>
            </a:r>
            <a:r>
              <a:rPr lang="en-US" altLang="zh-CN" sz="2500" dirty="0"/>
              <a:t> -l</a:t>
            </a:r>
            <a:r>
              <a:rPr lang="zh-CN" altLang="en-US" sz="2500" dirty="0"/>
              <a:t>来执行，屏幕最后显示</a:t>
            </a:r>
            <a:r>
              <a:rPr lang="en-US" altLang="zh-CN" sz="2500" dirty="0" err="1"/>
              <a:t>wc</a:t>
            </a:r>
            <a:r>
              <a:rPr lang="en-US" altLang="zh-CN" sz="2500" dirty="0"/>
              <a:t> -l</a:t>
            </a:r>
            <a:r>
              <a:rPr lang="zh-CN" altLang="en-US" sz="2500" dirty="0"/>
              <a:t>执行后的结果。</a:t>
            </a:r>
            <a:endParaRPr lang="en-US" altLang="zh-CN" sz="25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1A4F2181-2E5A-14E2-E53C-723664335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159896" y="5757880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9392728"/>
      </p:ext>
    </p:extLst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24BC27-FB68-9202-5D4B-211A6D4E4D7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管道命令符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385392"/>
            <a:ext cx="10009112" cy="44198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33</a:t>
            </a:r>
            <a:r>
              <a:rPr lang="zh-CN" altLang="en-US" sz="2600" dirty="0"/>
              <a:t>：将字符串“</a:t>
            </a:r>
            <a:r>
              <a:rPr lang="en-US" altLang="zh-CN" sz="2600" dirty="0"/>
              <a:t>Hello World”</a:t>
            </a:r>
            <a:r>
              <a:rPr lang="zh-CN" altLang="en-US" sz="2600" dirty="0"/>
              <a:t>输入到文本文件</a:t>
            </a:r>
            <a:r>
              <a:rPr lang="en-US" altLang="zh-CN" sz="2600" dirty="0"/>
              <a:t>hello.txt</a:t>
            </a:r>
            <a:r>
              <a:rPr lang="zh-CN" altLang="en-US" sz="2600" dirty="0"/>
              <a:t>中。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34</a:t>
            </a:r>
            <a:r>
              <a:rPr lang="zh-CN" altLang="en-US" sz="2600" dirty="0"/>
              <a:t>：详细显示当前目录下的文件，并分页显示，每页显示</a:t>
            </a:r>
            <a:r>
              <a:rPr lang="en-US" altLang="zh-CN" sz="2600" dirty="0"/>
              <a:t>5</a:t>
            </a:r>
            <a:r>
              <a:rPr lang="zh-CN" altLang="en-US" sz="2600" dirty="0"/>
              <a:t>行。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35</a:t>
            </a:r>
            <a:r>
              <a:rPr lang="zh-CN" altLang="en-US" sz="2600" dirty="0"/>
              <a:t>：将当前目录下</a:t>
            </a:r>
            <a:r>
              <a:rPr lang="en-US" altLang="zh-CN" sz="2600" dirty="0"/>
              <a:t>ls</a:t>
            </a:r>
            <a:r>
              <a:rPr lang="zh-CN" altLang="en-US" sz="2600" dirty="0"/>
              <a:t>命令输出结果用</a:t>
            </a:r>
            <a:r>
              <a:rPr lang="en-US" altLang="zh-CN" sz="2600" dirty="0"/>
              <a:t>grep</a:t>
            </a:r>
            <a:r>
              <a:rPr lang="zh-CN" altLang="en-US" sz="2600" dirty="0"/>
              <a:t>命令把包含字符串“</a:t>
            </a:r>
            <a:r>
              <a:rPr lang="en-US" altLang="zh-CN" sz="2600" dirty="0" err="1"/>
              <a:t>abc</a:t>
            </a:r>
            <a:r>
              <a:rPr lang="en-US" altLang="zh-CN" sz="2600" dirty="0"/>
              <a:t>”</a:t>
            </a:r>
            <a:r>
              <a:rPr lang="zh-CN" altLang="en-US" sz="2600" dirty="0"/>
              <a:t>的行过滤出来，作为</a:t>
            </a:r>
            <a:r>
              <a:rPr lang="en-US" altLang="zh-CN" sz="2600" dirty="0"/>
              <a:t>wc</a:t>
            </a:r>
            <a:r>
              <a:rPr lang="zh-CN" altLang="en-US" sz="2600" dirty="0"/>
              <a:t>命令的输入。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en-US" altLang="zh-CN" sz="2600" dirty="0">
                <a:solidFill>
                  <a:srgbClr val="0000CC"/>
                </a:solidFill>
              </a:rPr>
              <a:t>36</a:t>
            </a:r>
            <a:r>
              <a:rPr lang="zh-CN" altLang="en-US" sz="2600" dirty="0"/>
              <a:t>：在</a:t>
            </a:r>
            <a:r>
              <a:rPr lang="en-US" altLang="zh-CN" sz="2600" dirty="0"/>
              <a:t>/</a:t>
            </a:r>
            <a:r>
              <a:rPr lang="en-US" altLang="zh-CN" sz="2600" dirty="0" err="1"/>
              <a:t>ect</a:t>
            </a:r>
            <a:r>
              <a:rPr lang="en-US" altLang="zh-CN" sz="2600" dirty="0"/>
              <a:t>/group</a:t>
            </a:r>
            <a:r>
              <a:rPr lang="zh-CN" altLang="en-US" sz="2600" dirty="0"/>
              <a:t>下搜索含有</a:t>
            </a:r>
            <a:r>
              <a:rPr lang="en-US" altLang="zh-CN" sz="2600" dirty="0"/>
              <a:t>root</a:t>
            </a:r>
            <a:r>
              <a:rPr lang="zh-CN" altLang="en-US" sz="2600" dirty="0"/>
              <a:t>的行，并且重定向到</a:t>
            </a:r>
            <a:r>
              <a:rPr lang="en-US" altLang="zh-CN" sz="2600" dirty="0"/>
              <a:t>/root.txt</a:t>
            </a:r>
            <a:r>
              <a:rPr lang="zh-CN" altLang="en-US" sz="2600" dirty="0"/>
              <a:t>文件中。</a:t>
            </a:r>
            <a:endParaRPr lang="en-US" altLang="zh-CN" sz="26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192191"/>
      </p:ext>
    </p:extLst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AB841E1-CB8A-1623-1174-0B46600F199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历史记录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65610"/>
            <a:ext cx="9937104" cy="4411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/>
              <a:t>利用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命令进行操作时，用户需要对次反复输入相关命令，</a:t>
            </a:r>
            <a:r>
              <a:rPr lang="en-US" altLang="zh-CN" sz="2600" dirty="0"/>
              <a:t>Shell</a:t>
            </a:r>
            <a:r>
              <a:rPr lang="zh-CN" altLang="en-US" sz="2600" dirty="0"/>
              <a:t>提供历史记录、别名和自动补齐等功能，可以简化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命令输入工作。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1. </a:t>
            </a:r>
            <a:r>
              <a:rPr lang="zh-CN" altLang="en-US" sz="2600" dirty="0">
                <a:solidFill>
                  <a:srgbClr val="0000CC"/>
                </a:solidFill>
              </a:rPr>
              <a:t>历史记录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    Shell</a:t>
            </a:r>
            <a:r>
              <a:rPr lang="zh-CN" altLang="en-US" sz="2600" dirty="0"/>
              <a:t>记录一定数量的已执行命令，当再次执行时，不用再次输入，直接调用即可。这些记录保存在用户目录名为</a:t>
            </a:r>
            <a:r>
              <a:rPr lang="en-US" altLang="zh-CN" sz="2600" dirty="0"/>
              <a:t>.</a:t>
            </a:r>
            <a:r>
              <a:rPr lang="en-US" altLang="zh-CN" sz="2600" dirty="0" err="1"/>
              <a:t>bash_history</a:t>
            </a:r>
            <a:r>
              <a:rPr lang="zh-CN" altLang="en-US" sz="2600" dirty="0"/>
              <a:t>的隐藏文件。当用户关机或退出登录，本次操作中使用过的所有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命令就会追加保存到该文件中。</a:t>
            </a:r>
            <a:r>
              <a:rPr lang="en-US" altLang="zh-CN" sz="2600" dirty="0"/>
              <a:t>Bash</a:t>
            </a:r>
            <a:r>
              <a:rPr lang="zh-CN" altLang="en-US" sz="2600" dirty="0"/>
              <a:t>默认保存</a:t>
            </a:r>
            <a:r>
              <a:rPr lang="en-US" altLang="zh-CN" sz="2600" dirty="0"/>
              <a:t>1000</a:t>
            </a:r>
            <a:r>
              <a:rPr lang="zh-CN" altLang="en-US" sz="2600" dirty="0"/>
              <a:t>条。</a:t>
            </a:r>
            <a:endParaRPr lang="en-US" altLang="zh-CN" sz="26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9830659"/>
      </p:ext>
    </p:extLst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E52FFF-7048-532A-41FE-2A8A278C560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625947"/>
            <a:ext cx="9614859" cy="858837"/>
          </a:xfrm>
        </p:spPr>
        <p:txBody>
          <a:bodyPr/>
          <a:lstStyle/>
          <a:p>
            <a:r>
              <a:rPr lang="zh-CN" altLang="en-US" dirty="0"/>
              <a:t>历史记录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1628800"/>
            <a:ext cx="9721080" cy="44116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600" dirty="0"/>
              <a:t>2. </a:t>
            </a:r>
            <a:r>
              <a:rPr lang="zh-CN" altLang="en-US" sz="2600" dirty="0">
                <a:solidFill>
                  <a:srgbClr val="0000CC"/>
                </a:solidFill>
              </a:rPr>
              <a:t>历史记录使用方法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/>
              <a:t>使用上下方向键、</a:t>
            </a:r>
            <a:r>
              <a:rPr lang="en-US" altLang="zh-CN" sz="2600" dirty="0"/>
              <a:t>[</a:t>
            </a:r>
            <a:r>
              <a:rPr lang="en-US" altLang="zh-CN" sz="2600" dirty="0" err="1"/>
              <a:t>PgUp</a:t>
            </a:r>
            <a:r>
              <a:rPr lang="en-US" altLang="zh-CN" sz="2600" dirty="0"/>
              <a:t>]</a:t>
            </a:r>
            <a:r>
              <a:rPr lang="zh-CN" altLang="en-US" sz="2600" dirty="0"/>
              <a:t>或</a:t>
            </a:r>
            <a:r>
              <a:rPr lang="en-US" altLang="zh-CN" sz="2600" dirty="0"/>
              <a:t>[</a:t>
            </a:r>
            <a:r>
              <a:rPr lang="en-US" altLang="zh-CN" sz="2600" dirty="0" err="1"/>
              <a:t>PgDn</a:t>
            </a:r>
            <a:r>
              <a:rPr lang="en-US" altLang="zh-CN" sz="2600" dirty="0"/>
              <a:t>]</a:t>
            </a:r>
            <a:r>
              <a:rPr lang="zh-CN" altLang="en-US" sz="2600" dirty="0"/>
              <a:t>，在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命令提示符后出现已执行过的命令，直接按</a:t>
            </a:r>
            <a:r>
              <a:rPr lang="en-US" altLang="zh-CN" sz="2600" dirty="0"/>
              <a:t>[Enter]</a:t>
            </a:r>
            <a:r>
              <a:rPr lang="zh-CN" altLang="en-US" sz="2600" dirty="0"/>
              <a:t>键就可以在执行这一命令。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600" dirty="0"/>
              <a:t>先利用</a:t>
            </a:r>
            <a:r>
              <a:rPr lang="en-US" altLang="zh-CN" sz="2600" dirty="0"/>
              <a:t>history</a:t>
            </a:r>
            <a:r>
              <a:rPr lang="zh-CN" altLang="en-US" sz="2600" dirty="0"/>
              <a:t>命令查看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命令的历史记录，然后调用已执行过的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298473"/>
      </p:ext>
    </p:extLst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500793-B10A-7F20-255C-FD0C7E90C51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393602"/>
            <a:ext cx="9793088" cy="4411662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3. </a:t>
            </a:r>
            <a:r>
              <a:rPr lang="en-US" altLang="zh-CN" sz="2600" dirty="0">
                <a:solidFill>
                  <a:srgbClr val="0000CC"/>
                </a:solidFill>
              </a:rPr>
              <a:t>history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history  [</a:t>
            </a:r>
            <a:r>
              <a:rPr lang="zh-CN" altLang="en-US" sz="2600" dirty="0">
                <a:solidFill>
                  <a:srgbClr val="0000CC"/>
                </a:solidFill>
              </a:rPr>
              <a:t>数字</a:t>
            </a:r>
            <a:r>
              <a:rPr lang="en-US" altLang="zh-CN" sz="2600" dirty="0">
                <a:solidFill>
                  <a:srgbClr val="0000CC"/>
                </a:solidFill>
              </a:rPr>
              <a:t>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：查看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命令的历史记录。数字参数指定最近执行过的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命令的个数。如果不使用数字参数，则查看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命令的所有历史记录。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4. </a:t>
            </a:r>
            <a:r>
              <a:rPr lang="zh-CN" altLang="en-US" sz="2600" dirty="0">
                <a:solidFill>
                  <a:srgbClr val="0000CC"/>
                </a:solidFill>
              </a:rPr>
              <a:t>再次执行已经执行过的</a:t>
            </a:r>
            <a:r>
              <a:rPr lang="en-US" altLang="zh-CN" sz="2600" dirty="0">
                <a:solidFill>
                  <a:srgbClr val="0000CC"/>
                </a:solidFill>
              </a:rPr>
              <a:t>Shell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格式：</a:t>
            </a:r>
            <a:r>
              <a:rPr lang="zh-CN" altLang="en-US" sz="2600" dirty="0">
                <a:solidFill>
                  <a:srgbClr val="0000CC"/>
                </a:solidFill>
              </a:rPr>
              <a:t>！序号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功能：执行指定序号的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命令，而“ </a:t>
            </a:r>
            <a:r>
              <a:rPr lang="en-US" altLang="zh-CN" sz="2600" dirty="0">
                <a:solidFill>
                  <a:srgbClr val="CC0099"/>
                </a:solidFill>
              </a:rPr>
              <a:t>!! </a:t>
            </a:r>
            <a:r>
              <a:rPr lang="zh-CN" altLang="en-US" sz="2600" dirty="0"/>
              <a:t>”命令再次执行刚刚执行过的那个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命令。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199456" y="553939"/>
            <a:ext cx="9614859" cy="858837"/>
          </a:xfrm>
        </p:spPr>
        <p:txBody>
          <a:bodyPr/>
          <a:lstStyle/>
          <a:p>
            <a:r>
              <a:rPr lang="zh-CN" altLang="en-US" dirty="0"/>
              <a:t>历史记录</a:t>
            </a:r>
          </a:p>
        </p:txBody>
      </p:sp>
    </p:spTree>
    <p:extLst>
      <p:ext uri="{BB962C8B-B14F-4D97-AF65-F5344CB8AC3E}">
        <p14:creationId xmlns:p14="http://schemas.microsoft.com/office/powerpoint/2010/main" val="2502877022"/>
      </p:ext>
    </p:extLst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39CD444-AED1-96C2-AFD2-82E3C431BFC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1661" y="625947"/>
            <a:ext cx="9614859" cy="858837"/>
          </a:xfrm>
        </p:spPr>
        <p:txBody>
          <a:bodyPr/>
          <a:lstStyle/>
          <a:p>
            <a:r>
              <a:rPr lang="zh-CN" altLang="en-US" dirty="0"/>
              <a:t>自动补全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1661" y="1609626"/>
            <a:ext cx="9868678" cy="4411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CC0099"/>
                </a:solidFill>
              </a:rPr>
              <a:t>自动补全</a:t>
            </a:r>
            <a:r>
              <a:rPr lang="zh-CN" altLang="en-US" sz="2600" dirty="0"/>
              <a:t>是指用户在输入命令行时不需要输入完整的命令，只需要输入前几个字母，系统就自动找出匹配的文件或命令。</a:t>
            </a:r>
            <a:r>
              <a:rPr lang="zh-CN" altLang="en-US" sz="2600" dirty="0">
                <a:solidFill>
                  <a:srgbClr val="0000CC"/>
                </a:solidFill>
              </a:rPr>
              <a:t>利用</a:t>
            </a:r>
            <a:r>
              <a:rPr lang="en-US" altLang="zh-CN" sz="2600" dirty="0">
                <a:solidFill>
                  <a:srgbClr val="0000CC"/>
                </a:solidFill>
              </a:rPr>
              <a:t>[Tab]</a:t>
            </a:r>
            <a:r>
              <a:rPr lang="zh-CN" altLang="en-US" sz="2600" dirty="0">
                <a:solidFill>
                  <a:srgbClr val="0000CC"/>
                </a:solidFill>
              </a:rPr>
              <a:t>键实现自动补全功能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自动补全</a:t>
            </a:r>
            <a:r>
              <a:rPr lang="zh-CN" altLang="en-US" dirty="0">
                <a:solidFill>
                  <a:srgbClr val="CC0099"/>
                </a:solidFill>
              </a:rPr>
              <a:t>文件或目录名</a:t>
            </a:r>
            <a:endParaRPr lang="en-US" altLang="zh-CN" dirty="0">
              <a:solidFill>
                <a:srgbClr val="CC0099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自动补全</a:t>
            </a:r>
            <a:r>
              <a:rPr lang="zh-CN" altLang="en-US" dirty="0">
                <a:solidFill>
                  <a:srgbClr val="CC0099"/>
                </a:solidFill>
              </a:rPr>
              <a:t>命令名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6275950"/>
      </p:ext>
    </p:extLst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4347D2-B464-7FED-EFFD-145E3683F01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44452" name="Rectangle 2"/>
          <p:cNvSpPr>
            <a:spLocks noChangeArrowheads="1"/>
          </p:cNvSpPr>
          <p:nvPr/>
        </p:nvSpPr>
        <p:spPr bwMode="auto">
          <a:xfrm>
            <a:off x="2208213" y="836613"/>
            <a:ext cx="75438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CN" sz="4200">
                <a:solidFill>
                  <a:srgbClr val="CC00CC"/>
                </a:solidFill>
                <a:ea typeface="黑体" pitchFamily="49" charset="-122"/>
              </a:rPr>
              <a:t>Thanks!</a:t>
            </a:r>
          </a:p>
        </p:txBody>
      </p:sp>
      <p:pic>
        <p:nvPicPr>
          <p:cNvPr id="74445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2308225"/>
            <a:ext cx="2376264" cy="19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159896" y="5792787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3128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Network">
  <a:themeElements>
    <a:clrScheme name="2_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2_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Network">
  <a:themeElements>
    <a:clrScheme name="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25230</TotalTime>
  <Words>8952</Words>
  <Application>Microsoft Office PowerPoint</Application>
  <PresentationFormat>宽屏</PresentationFormat>
  <Paragraphs>982</Paragraphs>
  <Slides>96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96</vt:i4>
      </vt:variant>
    </vt:vector>
  </HeadingPairs>
  <TitlesOfParts>
    <vt:vector size="106" baseType="lpstr">
      <vt:lpstr>-apple-system</vt:lpstr>
      <vt:lpstr>方正魏碑简体</vt:lpstr>
      <vt:lpstr>黑体</vt:lpstr>
      <vt:lpstr>宋体</vt:lpstr>
      <vt:lpstr>Arial</vt:lpstr>
      <vt:lpstr>Times New Roman</vt:lpstr>
      <vt:lpstr>Wingdings</vt:lpstr>
      <vt:lpstr>Network</vt:lpstr>
      <vt:lpstr>2_Network</vt:lpstr>
      <vt:lpstr>1_Network</vt:lpstr>
      <vt:lpstr>第3章</vt:lpstr>
      <vt:lpstr>本章内容</vt:lpstr>
      <vt:lpstr>3.1 Shell命令简介</vt:lpstr>
      <vt:lpstr>Shell命令</vt:lpstr>
      <vt:lpstr>Shell命令格式</vt:lpstr>
      <vt:lpstr>Shell命令格式</vt:lpstr>
      <vt:lpstr>  常用Shell命令</vt:lpstr>
      <vt:lpstr>常用Shell命令</vt:lpstr>
      <vt:lpstr>常用Shell命令</vt:lpstr>
      <vt:lpstr>常用Shell命令</vt:lpstr>
      <vt:lpstr>常用Shell命令</vt:lpstr>
      <vt:lpstr>与时间相关的命令</vt:lpstr>
      <vt:lpstr>与时间相关的命令</vt:lpstr>
      <vt:lpstr>与时间相关的命令</vt:lpstr>
      <vt:lpstr>常用Shell命令</vt:lpstr>
      <vt:lpstr>常用Shell命令</vt:lpstr>
      <vt:lpstr>常用Shell命令</vt:lpstr>
      <vt:lpstr>常用Shell命令</vt:lpstr>
      <vt:lpstr>3.2  管理文件和目录的命令</vt:lpstr>
      <vt:lpstr>特殊目录</vt:lpstr>
      <vt:lpstr>管理文件和目录的命令</vt:lpstr>
      <vt:lpstr>管理文件和目录的Shell命令</vt:lpstr>
      <vt:lpstr>PowerPoint 演示文稿</vt:lpstr>
      <vt:lpstr>管理文件和目录的命令</vt:lpstr>
      <vt:lpstr>管理文件和目录的命令</vt:lpstr>
      <vt:lpstr>通配符</vt:lpstr>
      <vt:lpstr>通配符</vt:lpstr>
      <vt:lpstr>通配符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管理文件和目录的命令</vt:lpstr>
      <vt:lpstr>修改文件权限的命令</vt:lpstr>
      <vt:lpstr>修改文件权限的命令</vt:lpstr>
      <vt:lpstr>修改文件权限的命令</vt:lpstr>
      <vt:lpstr>修改文件权限的命令</vt:lpstr>
      <vt:lpstr>修改文件权限的命令</vt:lpstr>
      <vt:lpstr>管理文件和目录的命令</vt:lpstr>
      <vt:lpstr>显示文件类型的命令</vt:lpstr>
      <vt:lpstr>3.3 文本处理命令</vt:lpstr>
      <vt:lpstr>echo命令</vt:lpstr>
      <vt:lpstr>统计文件内容命令</vt:lpstr>
      <vt:lpstr>查找文件的命令</vt:lpstr>
      <vt:lpstr>查找文件的命令</vt:lpstr>
      <vt:lpstr>查找文件的命令</vt:lpstr>
      <vt:lpstr>查找文本的命令</vt:lpstr>
      <vt:lpstr>查找文本的命令</vt:lpstr>
      <vt:lpstr>查找文本的命令</vt:lpstr>
      <vt:lpstr>查找文件的命令</vt:lpstr>
      <vt:lpstr>分割文件的命令</vt:lpstr>
      <vt:lpstr>分割文件的命令</vt:lpstr>
      <vt:lpstr>处理文本的命令</vt:lpstr>
      <vt:lpstr>PowerPoint 演示文稿</vt:lpstr>
      <vt:lpstr>处理文本的命令</vt:lpstr>
      <vt:lpstr>PowerPoint 演示文稿</vt:lpstr>
      <vt:lpstr>PowerPoint 演示文稿</vt:lpstr>
      <vt:lpstr>处理文本的命令</vt:lpstr>
      <vt:lpstr>例如：</vt:lpstr>
      <vt:lpstr>例如：</vt:lpstr>
      <vt:lpstr>处理文本的命令</vt:lpstr>
      <vt:lpstr>PowerPoint 演示文稿</vt:lpstr>
      <vt:lpstr>比较文件内容的命令</vt:lpstr>
      <vt:lpstr>比较文件内容的命令</vt:lpstr>
      <vt:lpstr>比较文件内容的命令</vt:lpstr>
      <vt:lpstr>比较文件内容的命令</vt:lpstr>
      <vt:lpstr>3.4  重定向和管道命令符</vt:lpstr>
      <vt:lpstr>输入/输出重定向</vt:lpstr>
      <vt:lpstr>输出重定向</vt:lpstr>
      <vt:lpstr>输入重定向</vt:lpstr>
      <vt:lpstr>输出重定向</vt:lpstr>
      <vt:lpstr>输出重定向扩展</vt:lpstr>
      <vt:lpstr>输出重定向扩展</vt:lpstr>
      <vt:lpstr>输出重定向</vt:lpstr>
      <vt:lpstr>输出重定向</vt:lpstr>
      <vt:lpstr>输出重定向</vt:lpstr>
      <vt:lpstr>输入重定向</vt:lpstr>
      <vt:lpstr>输入重定向</vt:lpstr>
      <vt:lpstr>输入重定向</vt:lpstr>
      <vt:lpstr>管道命令符</vt:lpstr>
      <vt:lpstr>管道命令符</vt:lpstr>
      <vt:lpstr>历史记录</vt:lpstr>
      <vt:lpstr>历史记录</vt:lpstr>
      <vt:lpstr>历史记录</vt:lpstr>
      <vt:lpstr>自动补全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Linux应用</dc:title>
  <dc:creator>李群</dc:creator>
  <cp:lastModifiedBy>liqun</cp:lastModifiedBy>
  <cp:revision>2649</cp:revision>
  <dcterms:created xsi:type="dcterms:W3CDTF">2007-09-10T04:44:13Z</dcterms:created>
  <dcterms:modified xsi:type="dcterms:W3CDTF">2024-09-10T08:29:52Z</dcterms:modified>
</cp:coreProperties>
</file>