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552" r:id="rId3"/>
    <p:sldId id="553" r:id="rId4"/>
    <p:sldId id="495" r:id="rId5"/>
    <p:sldId id="496" r:id="rId6"/>
    <p:sldId id="497" r:id="rId7"/>
    <p:sldId id="498" r:id="rId8"/>
    <p:sldId id="499" r:id="rId9"/>
    <p:sldId id="501" r:id="rId10"/>
    <p:sldId id="500" r:id="rId11"/>
    <p:sldId id="504" r:id="rId12"/>
    <p:sldId id="502" r:id="rId13"/>
    <p:sldId id="505" r:id="rId14"/>
    <p:sldId id="506" r:id="rId15"/>
    <p:sldId id="507" r:id="rId16"/>
    <p:sldId id="508" r:id="rId17"/>
    <p:sldId id="509" r:id="rId18"/>
    <p:sldId id="510" r:id="rId19"/>
    <p:sldId id="554" r:id="rId20"/>
    <p:sldId id="578" r:id="rId21"/>
    <p:sldId id="569" r:id="rId22"/>
    <p:sldId id="555" r:id="rId23"/>
    <p:sldId id="556" r:id="rId24"/>
    <p:sldId id="557" r:id="rId25"/>
    <p:sldId id="570" r:id="rId26"/>
    <p:sldId id="571" r:id="rId27"/>
    <p:sldId id="572" r:id="rId28"/>
    <p:sldId id="573" r:id="rId29"/>
    <p:sldId id="558" r:id="rId30"/>
    <p:sldId id="575" r:id="rId31"/>
    <p:sldId id="565" r:id="rId32"/>
    <p:sldId id="566" r:id="rId33"/>
    <p:sldId id="567" r:id="rId34"/>
    <p:sldId id="568" r:id="rId35"/>
    <p:sldId id="511" r:id="rId36"/>
    <p:sldId id="512" r:id="rId37"/>
    <p:sldId id="513" r:id="rId38"/>
    <p:sldId id="576" r:id="rId39"/>
    <p:sldId id="521" r:id="rId40"/>
    <p:sldId id="522" r:id="rId41"/>
    <p:sldId id="523" r:id="rId42"/>
    <p:sldId id="524" r:id="rId43"/>
    <p:sldId id="525" r:id="rId44"/>
    <p:sldId id="579" r:id="rId45"/>
    <p:sldId id="577"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108" d="100"/>
          <a:sy n="108" d="100"/>
        </p:scale>
        <p:origin x="6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CFB11-A474-4037-92C3-6A96DA592FEF}" type="datetimeFigureOut">
              <a:rPr lang="zh-CN" altLang="en-US" smtClean="0"/>
              <a:t>2024/4/23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97EEE-B9B4-43CE-BA0C-48B2D1726773}" type="slidenum">
              <a:rPr lang="zh-CN" altLang="en-US" smtClean="0"/>
              <a:t>‹#›</a:t>
            </a:fld>
            <a:endParaRPr lang="zh-CN" altLang="en-US"/>
          </a:p>
        </p:txBody>
      </p:sp>
    </p:spTree>
    <p:extLst>
      <p:ext uri="{BB962C8B-B14F-4D97-AF65-F5344CB8AC3E}">
        <p14:creationId xmlns:p14="http://schemas.microsoft.com/office/powerpoint/2010/main" val="178222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E74C3-BE1E-4FDA-B2BF-F5CABD9EC3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414A93-03CD-41B0-91EF-9F89B4908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601CB88-104E-4041-9593-0364358049E3}"/>
              </a:ext>
            </a:extLst>
          </p:cNvPr>
          <p:cNvSpPr>
            <a:spLocks noGrp="1"/>
          </p:cNvSpPr>
          <p:nvPr>
            <p:ph type="dt" sz="half" idx="10"/>
          </p:nvPr>
        </p:nvSpPr>
        <p:spPr/>
        <p:txBody>
          <a:bodyPr/>
          <a:lstStyle/>
          <a:p>
            <a:fld id="{4D3EEF9B-78B9-4AF2-AC74-EC57C352F648}" type="datetime1">
              <a:rPr lang="zh-CN" altLang="en-US" smtClean="0"/>
              <a:t>2024/4/23</a:t>
            </a:fld>
            <a:endParaRPr lang="zh-CN" altLang="en-US"/>
          </a:p>
        </p:txBody>
      </p:sp>
      <p:sp>
        <p:nvSpPr>
          <p:cNvPr id="5" name="页脚占位符 4">
            <a:extLst>
              <a:ext uri="{FF2B5EF4-FFF2-40B4-BE49-F238E27FC236}">
                <a16:creationId xmlns:a16="http://schemas.microsoft.com/office/drawing/2014/main" id="{CF16315D-AFAA-4980-9819-6534D5CAE936}"/>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C5CDB79D-F8FD-4605-B404-0A84510A198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57975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E719E-23D3-47FD-839B-203CBF92D8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803645-37D3-4EDD-9200-E560C33C33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ABE395-7C27-47EB-9B39-141339C966A0}"/>
              </a:ext>
            </a:extLst>
          </p:cNvPr>
          <p:cNvSpPr>
            <a:spLocks noGrp="1"/>
          </p:cNvSpPr>
          <p:nvPr>
            <p:ph type="dt" sz="half" idx="10"/>
          </p:nvPr>
        </p:nvSpPr>
        <p:spPr/>
        <p:txBody>
          <a:bodyPr/>
          <a:lstStyle/>
          <a:p>
            <a:fld id="{C1BFFC10-EB90-4B4E-9028-5F89246DDA66}" type="datetime1">
              <a:rPr lang="zh-CN" altLang="en-US" smtClean="0"/>
              <a:t>2024/4/23</a:t>
            </a:fld>
            <a:endParaRPr lang="zh-CN" altLang="en-US"/>
          </a:p>
        </p:txBody>
      </p:sp>
      <p:sp>
        <p:nvSpPr>
          <p:cNvPr id="5" name="页脚占位符 4">
            <a:extLst>
              <a:ext uri="{FF2B5EF4-FFF2-40B4-BE49-F238E27FC236}">
                <a16:creationId xmlns:a16="http://schemas.microsoft.com/office/drawing/2014/main" id="{E37E058E-0A79-4BC7-8808-FCA05AA07F2B}"/>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ACF20585-5CC9-42E1-9691-1780E38898B7}"/>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7216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B95CF-A2F3-4DB3-8B9B-B5A15A4F079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8E97E6-45A3-431D-90EC-74E70EC9B8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AF24651-B974-490D-ADA3-BD93E52E2313}"/>
              </a:ext>
            </a:extLst>
          </p:cNvPr>
          <p:cNvSpPr>
            <a:spLocks noGrp="1"/>
          </p:cNvSpPr>
          <p:nvPr>
            <p:ph type="dt" sz="half" idx="10"/>
          </p:nvPr>
        </p:nvSpPr>
        <p:spPr/>
        <p:txBody>
          <a:bodyPr/>
          <a:lstStyle/>
          <a:p>
            <a:fld id="{3408B7F1-DE91-44B1-86F7-BEC56D58BF07}" type="datetime1">
              <a:rPr lang="zh-CN" altLang="en-US" smtClean="0"/>
              <a:t>2024/4/23</a:t>
            </a:fld>
            <a:endParaRPr lang="zh-CN" altLang="en-US"/>
          </a:p>
        </p:txBody>
      </p:sp>
      <p:sp>
        <p:nvSpPr>
          <p:cNvPr id="5" name="页脚占位符 4">
            <a:extLst>
              <a:ext uri="{FF2B5EF4-FFF2-40B4-BE49-F238E27FC236}">
                <a16:creationId xmlns:a16="http://schemas.microsoft.com/office/drawing/2014/main" id="{F62087D7-E624-474A-97FD-9337901EA964}"/>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BDC309BF-F8DE-4469-B753-69CF4D47791A}"/>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86256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C7CB6-6364-416E-BC11-15804AA691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3FA0C0-9455-4CF5-8F1F-A05BB585DAE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D2CB45D-96E7-40D8-9A8D-6F28DD8FC75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B3513F1-0F43-4B9E-873A-CFD9DF940E55}"/>
              </a:ext>
            </a:extLst>
          </p:cNvPr>
          <p:cNvSpPr>
            <a:spLocks noGrp="1"/>
          </p:cNvSpPr>
          <p:nvPr>
            <p:ph type="dt" sz="half" idx="10"/>
          </p:nvPr>
        </p:nvSpPr>
        <p:spPr/>
        <p:txBody>
          <a:bodyPr/>
          <a:lstStyle/>
          <a:p>
            <a:fld id="{82106C37-31E6-4AC2-A4EA-9835537F7EEE}" type="datetime1">
              <a:rPr lang="zh-CN" altLang="en-US" smtClean="0"/>
              <a:t>2024/4/23</a:t>
            </a:fld>
            <a:endParaRPr lang="zh-CN" altLang="en-US"/>
          </a:p>
        </p:txBody>
      </p:sp>
      <p:sp>
        <p:nvSpPr>
          <p:cNvPr id="6" name="页脚占位符 5">
            <a:extLst>
              <a:ext uri="{FF2B5EF4-FFF2-40B4-BE49-F238E27FC236}">
                <a16:creationId xmlns:a16="http://schemas.microsoft.com/office/drawing/2014/main" id="{71A56703-3DF2-494C-9E6B-77E1ECC290BE}"/>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80F162C8-81F2-4EA9-AEC3-32059D2D241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327767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611FA-6024-4450-8519-BD266187B24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907EE1-3194-4B7B-BD9D-4535D1110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F5AB7E-A7EB-4818-84FD-9AF639601AE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879A2-D71C-449E-9A04-8E5CABA0A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E6F23C-4380-4F63-AB22-69AF54CF0D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8E1901-C27B-4F5F-9B6C-2C949A0D043E}"/>
              </a:ext>
            </a:extLst>
          </p:cNvPr>
          <p:cNvSpPr>
            <a:spLocks noGrp="1"/>
          </p:cNvSpPr>
          <p:nvPr>
            <p:ph type="dt" sz="half" idx="10"/>
          </p:nvPr>
        </p:nvSpPr>
        <p:spPr/>
        <p:txBody>
          <a:bodyPr/>
          <a:lstStyle/>
          <a:p>
            <a:fld id="{B93F2133-6C8D-47B4-B875-081DC6F1D1A8}" type="datetime1">
              <a:rPr lang="zh-CN" altLang="en-US" smtClean="0"/>
              <a:t>2024/4/23</a:t>
            </a:fld>
            <a:endParaRPr lang="zh-CN" altLang="en-US"/>
          </a:p>
        </p:txBody>
      </p:sp>
      <p:sp>
        <p:nvSpPr>
          <p:cNvPr id="8" name="页脚占位符 7">
            <a:extLst>
              <a:ext uri="{FF2B5EF4-FFF2-40B4-BE49-F238E27FC236}">
                <a16:creationId xmlns:a16="http://schemas.microsoft.com/office/drawing/2014/main" id="{240AD1F4-B793-48D7-AF18-2AF92E428387}"/>
              </a:ext>
            </a:extLst>
          </p:cNvPr>
          <p:cNvSpPr>
            <a:spLocks noGrp="1"/>
          </p:cNvSpPr>
          <p:nvPr>
            <p:ph type="ftr" sz="quarter" idx="11"/>
          </p:nvPr>
        </p:nvSpPr>
        <p:spPr/>
        <p:txBody>
          <a:bodyPr/>
          <a:lstStyle/>
          <a:p>
            <a:r>
              <a:rPr lang="zh-CN" altLang="en-US"/>
              <a:t>华东理工大学 罗勇军</a:t>
            </a:r>
          </a:p>
        </p:txBody>
      </p:sp>
      <p:sp>
        <p:nvSpPr>
          <p:cNvPr id="9" name="灯片编号占位符 8">
            <a:extLst>
              <a:ext uri="{FF2B5EF4-FFF2-40B4-BE49-F238E27FC236}">
                <a16:creationId xmlns:a16="http://schemas.microsoft.com/office/drawing/2014/main" id="{2977C2D3-54BE-488A-BADA-71A18521C172}"/>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932451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A93380-92D5-4A1B-96A0-7D4213E6C2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D8E708-CC46-4DDB-823E-C1A1209F8FBD}"/>
              </a:ext>
            </a:extLst>
          </p:cNvPr>
          <p:cNvSpPr>
            <a:spLocks noGrp="1"/>
          </p:cNvSpPr>
          <p:nvPr>
            <p:ph type="dt" sz="half" idx="10"/>
          </p:nvPr>
        </p:nvSpPr>
        <p:spPr/>
        <p:txBody>
          <a:bodyPr/>
          <a:lstStyle/>
          <a:p>
            <a:fld id="{25413915-4BF9-48D6-9324-6309135E83BD}" type="datetime1">
              <a:rPr lang="zh-CN" altLang="en-US" smtClean="0"/>
              <a:t>2024/4/23</a:t>
            </a:fld>
            <a:endParaRPr lang="zh-CN" altLang="en-US"/>
          </a:p>
        </p:txBody>
      </p:sp>
      <p:sp>
        <p:nvSpPr>
          <p:cNvPr id="4" name="页脚占位符 3">
            <a:extLst>
              <a:ext uri="{FF2B5EF4-FFF2-40B4-BE49-F238E27FC236}">
                <a16:creationId xmlns:a16="http://schemas.microsoft.com/office/drawing/2014/main" id="{4F925D70-BD66-4BE5-BFF2-674F2DC3CAD1}"/>
              </a:ext>
            </a:extLst>
          </p:cNvPr>
          <p:cNvSpPr>
            <a:spLocks noGrp="1"/>
          </p:cNvSpPr>
          <p:nvPr>
            <p:ph type="ftr" sz="quarter" idx="11"/>
          </p:nvPr>
        </p:nvSpPr>
        <p:spPr/>
        <p:txBody>
          <a:bodyPr/>
          <a:lstStyle/>
          <a:p>
            <a:r>
              <a:rPr lang="zh-CN" altLang="en-US"/>
              <a:t>华东理工大学 罗勇军</a:t>
            </a:r>
          </a:p>
        </p:txBody>
      </p:sp>
      <p:sp>
        <p:nvSpPr>
          <p:cNvPr id="5" name="灯片编号占位符 4">
            <a:extLst>
              <a:ext uri="{FF2B5EF4-FFF2-40B4-BE49-F238E27FC236}">
                <a16:creationId xmlns:a16="http://schemas.microsoft.com/office/drawing/2014/main" id="{AB9E7361-9083-4F13-A530-AEBB30D12700}"/>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88961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11168A-BF5E-418E-9BA2-C715C297C452}"/>
              </a:ext>
            </a:extLst>
          </p:cNvPr>
          <p:cNvSpPr>
            <a:spLocks noGrp="1"/>
          </p:cNvSpPr>
          <p:nvPr>
            <p:ph type="dt" sz="half" idx="10"/>
          </p:nvPr>
        </p:nvSpPr>
        <p:spPr/>
        <p:txBody>
          <a:bodyPr/>
          <a:lstStyle/>
          <a:p>
            <a:fld id="{DE2BB36C-8846-4ACA-A115-CC54FFE8E462}" type="datetime1">
              <a:rPr lang="zh-CN" altLang="en-US" smtClean="0"/>
              <a:t>2024/4/23</a:t>
            </a:fld>
            <a:endParaRPr lang="zh-CN" altLang="en-US"/>
          </a:p>
        </p:txBody>
      </p:sp>
      <p:sp>
        <p:nvSpPr>
          <p:cNvPr id="3" name="页脚占位符 2">
            <a:extLst>
              <a:ext uri="{FF2B5EF4-FFF2-40B4-BE49-F238E27FC236}">
                <a16:creationId xmlns:a16="http://schemas.microsoft.com/office/drawing/2014/main" id="{1C266FE5-38F5-4063-98BC-6E6CAAA47689}"/>
              </a:ext>
            </a:extLst>
          </p:cNvPr>
          <p:cNvSpPr>
            <a:spLocks noGrp="1"/>
          </p:cNvSpPr>
          <p:nvPr>
            <p:ph type="ftr" sz="quarter" idx="11"/>
          </p:nvPr>
        </p:nvSpPr>
        <p:spPr/>
        <p:txBody>
          <a:bodyPr/>
          <a:lstStyle/>
          <a:p>
            <a:r>
              <a:rPr lang="zh-CN" altLang="en-US"/>
              <a:t>华东理工大学 罗勇军</a:t>
            </a:r>
          </a:p>
        </p:txBody>
      </p:sp>
      <p:sp>
        <p:nvSpPr>
          <p:cNvPr id="4" name="灯片编号占位符 3">
            <a:extLst>
              <a:ext uri="{FF2B5EF4-FFF2-40B4-BE49-F238E27FC236}">
                <a16:creationId xmlns:a16="http://schemas.microsoft.com/office/drawing/2014/main" id="{BD36AE1B-2A81-4BBE-8E6F-0E376693F876}"/>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72737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27597-6C40-4007-9989-3826A10C6C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5463319-D02E-4CA5-9853-A219EBBF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5DA2A57-CBD9-4774-BB6B-82281FBC3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829E9F-EA46-4D95-B45E-1F46C1C49598}"/>
              </a:ext>
            </a:extLst>
          </p:cNvPr>
          <p:cNvSpPr>
            <a:spLocks noGrp="1"/>
          </p:cNvSpPr>
          <p:nvPr>
            <p:ph type="dt" sz="half" idx="10"/>
          </p:nvPr>
        </p:nvSpPr>
        <p:spPr/>
        <p:txBody>
          <a:bodyPr/>
          <a:lstStyle/>
          <a:p>
            <a:fld id="{CC0909EB-4F00-4C32-BBC5-B8162482763B}" type="datetime1">
              <a:rPr lang="zh-CN" altLang="en-US" smtClean="0"/>
              <a:t>2024/4/23</a:t>
            </a:fld>
            <a:endParaRPr lang="zh-CN" altLang="en-US"/>
          </a:p>
        </p:txBody>
      </p:sp>
      <p:sp>
        <p:nvSpPr>
          <p:cNvPr id="6" name="页脚占位符 5">
            <a:extLst>
              <a:ext uri="{FF2B5EF4-FFF2-40B4-BE49-F238E27FC236}">
                <a16:creationId xmlns:a16="http://schemas.microsoft.com/office/drawing/2014/main" id="{30FB46E0-6AFB-4FCB-9055-A3C0CB041024}"/>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A1346969-FD6B-4D1F-89FD-0C8EBCC1999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74407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A1383-B422-4680-A0F8-5DFD729A08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9BC39B-2D77-4B0B-9ACF-C366DF3EA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E619F4-8857-4618-8AE4-83F851D8F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924A66-E039-41AF-A5C2-5BD5E6ECC361}"/>
              </a:ext>
            </a:extLst>
          </p:cNvPr>
          <p:cNvSpPr>
            <a:spLocks noGrp="1"/>
          </p:cNvSpPr>
          <p:nvPr>
            <p:ph type="dt" sz="half" idx="10"/>
          </p:nvPr>
        </p:nvSpPr>
        <p:spPr/>
        <p:txBody>
          <a:bodyPr/>
          <a:lstStyle/>
          <a:p>
            <a:fld id="{12306D24-3833-4C4E-BD89-E0A36CAD8665}" type="datetime1">
              <a:rPr lang="zh-CN" altLang="en-US" smtClean="0"/>
              <a:t>2024/4/23</a:t>
            </a:fld>
            <a:endParaRPr lang="zh-CN" altLang="en-US"/>
          </a:p>
        </p:txBody>
      </p:sp>
      <p:sp>
        <p:nvSpPr>
          <p:cNvPr id="6" name="页脚占位符 5">
            <a:extLst>
              <a:ext uri="{FF2B5EF4-FFF2-40B4-BE49-F238E27FC236}">
                <a16:creationId xmlns:a16="http://schemas.microsoft.com/office/drawing/2014/main" id="{8A4BC89A-CEFA-425F-B0AB-2A15CE260149}"/>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91205E3E-00AF-4B8D-BEE8-C526559A0A7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2205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66994A-4F47-4A8C-85EB-6828F8EA5A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1C5012-C01F-48DE-94EC-956BD27397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13E8F8-E8F8-4CF0-BD5A-754BD5DCCF34}"/>
              </a:ext>
            </a:extLst>
          </p:cNvPr>
          <p:cNvSpPr>
            <a:spLocks noGrp="1"/>
          </p:cNvSpPr>
          <p:nvPr>
            <p:ph type="dt" sz="half" idx="10"/>
          </p:nvPr>
        </p:nvSpPr>
        <p:spPr/>
        <p:txBody>
          <a:bodyPr/>
          <a:lstStyle/>
          <a:p>
            <a:fld id="{6C096B85-F1A0-4977-9C7C-E4FE303BA65C}" type="datetime1">
              <a:rPr lang="zh-CN" altLang="en-US" smtClean="0"/>
              <a:t>2024/4/23</a:t>
            </a:fld>
            <a:endParaRPr lang="zh-CN" altLang="en-US"/>
          </a:p>
        </p:txBody>
      </p:sp>
      <p:sp>
        <p:nvSpPr>
          <p:cNvPr id="5" name="页脚占位符 4">
            <a:extLst>
              <a:ext uri="{FF2B5EF4-FFF2-40B4-BE49-F238E27FC236}">
                <a16:creationId xmlns:a16="http://schemas.microsoft.com/office/drawing/2014/main" id="{2700D0BF-26C3-4A56-A3C7-2ED586A6AE47}"/>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115E7682-BEAE-437B-8780-F5016D6A2805}"/>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70308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5CC12D-03AC-4DB4-9D58-9D0DBC1479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C51A0C4-5809-4033-8E3F-A8B0B43E33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26E71E-661E-4BC2-9C53-99F2F7DD9906}"/>
              </a:ext>
            </a:extLst>
          </p:cNvPr>
          <p:cNvSpPr>
            <a:spLocks noGrp="1"/>
          </p:cNvSpPr>
          <p:nvPr>
            <p:ph type="dt" sz="half" idx="10"/>
          </p:nvPr>
        </p:nvSpPr>
        <p:spPr/>
        <p:txBody>
          <a:bodyPr/>
          <a:lstStyle/>
          <a:p>
            <a:fld id="{E95383A0-B6AB-45A5-A77F-C0D49682AB51}" type="datetime1">
              <a:rPr lang="zh-CN" altLang="en-US" smtClean="0"/>
              <a:t>2024/4/23</a:t>
            </a:fld>
            <a:endParaRPr lang="zh-CN" altLang="en-US"/>
          </a:p>
        </p:txBody>
      </p:sp>
      <p:sp>
        <p:nvSpPr>
          <p:cNvPr id="5" name="页脚占位符 4">
            <a:extLst>
              <a:ext uri="{FF2B5EF4-FFF2-40B4-BE49-F238E27FC236}">
                <a16:creationId xmlns:a16="http://schemas.microsoft.com/office/drawing/2014/main" id="{1868A5A8-46D3-4E9C-AA2D-74555DDC5DD5}"/>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4BB1C9CF-9E8A-4283-A9AB-D7B2F8D9D20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8266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031604-5912-4115-B09C-86E853762C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C4E87EC-8BA5-438E-AAE0-E98A4D5D26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1A3949-B522-40E7-878E-BA86016C5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443233-390A-49D6-B578-A6FC687DC073}" type="datetime1">
              <a:rPr lang="zh-CN" altLang="en-US" smtClean="0"/>
              <a:t>2024/4/23</a:t>
            </a:fld>
            <a:endParaRPr lang="zh-CN" altLang="en-US"/>
          </a:p>
        </p:txBody>
      </p:sp>
      <p:sp>
        <p:nvSpPr>
          <p:cNvPr id="5" name="页脚占位符 4">
            <a:extLst>
              <a:ext uri="{FF2B5EF4-FFF2-40B4-BE49-F238E27FC236}">
                <a16:creationId xmlns:a16="http://schemas.microsoft.com/office/drawing/2014/main" id="{5EBAAADC-80B5-480B-9307-C10F894DFE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华东理工大学 罗勇军</a:t>
            </a:r>
          </a:p>
        </p:txBody>
      </p:sp>
      <p:sp>
        <p:nvSpPr>
          <p:cNvPr id="6" name="灯片编号占位符 5">
            <a:extLst>
              <a:ext uri="{FF2B5EF4-FFF2-40B4-BE49-F238E27FC236}">
                <a16:creationId xmlns:a16="http://schemas.microsoft.com/office/drawing/2014/main" id="{533DF350-80E3-4A4A-B02D-0BEF4B5C9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81472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ow%20many%20tables.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Lost%20Cows.pd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6.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7.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8.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A%20Simple%20Problem%20with%20Integers.pdf"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9.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9CD26-DE4A-4C5C-A434-7BEA4B7F630B}"/>
              </a:ext>
            </a:extLst>
          </p:cNvPr>
          <p:cNvSpPr>
            <a:spLocks noGrp="1"/>
          </p:cNvSpPr>
          <p:nvPr>
            <p:ph type="ctrTitle"/>
          </p:nvPr>
        </p:nvSpPr>
        <p:spPr/>
        <p:txBody>
          <a:bodyPr/>
          <a:lstStyle/>
          <a:p>
            <a:r>
              <a:rPr lang="en-US" altLang="zh-CN" sz="3600"/>
              <a:t>Advanced Data Structure</a:t>
            </a:r>
            <a:endParaRPr lang="zh-CN" altLang="en-US" sz="3600"/>
          </a:p>
        </p:txBody>
      </p:sp>
      <p:sp>
        <p:nvSpPr>
          <p:cNvPr id="3" name="副标题 2">
            <a:extLst>
              <a:ext uri="{FF2B5EF4-FFF2-40B4-BE49-F238E27FC236}">
                <a16:creationId xmlns:a16="http://schemas.microsoft.com/office/drawing/2014/main" id="{6CB23BCE-929C-4235-B6FF-239832128CDF}"/>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449864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000826-764B-4413-B3D1-01BA6D3D0640}"/>
              </a:ext>
            </a:extLst>
          </p:cNvPr>
          <p:cNvSpPr>
            <a:spLocks noGrp="1"/>
          </p:cNvSpPr>
          <p:nvPr>
            <p:ph type="title"/>
          </p:nvPr>
        </p:nvSpPr>
        <p:spPr/>
        <p:txBody>
          <a:bodyPr/>
          <a:lstStyle/>
          <a:p>
            <a:r>
              <a:rPr lang="en-US" altLang="zh-CN" sz="4400"/>
              <a:t>Advanced Data Structure</a:t>
            </a:r>
            <a:endParaRPr lang="zh-CN" altLang="en-US"/>
          </a:p>
        </p:txBody>
      </p:sp>
      <p:sp>
        <p:nvSpPr>
          <p:cNvPr id="3" name="内容占位符 2">
            <a:extLst>
              <a:ext uri="{FF2B5EF4-FFF2-40B4-BE49-F238E27FC236}">
                <a16:creationId xmlns:a16="http://schemas.microsoft.com/office/drawing/2014/main" id="{BC13EC4F-759E-486A-ADF7-743C44C376A1}"/>
              </a:ext>
            </a:extLst>
          </p:cNvPr>
          <p:cNvSpPr>
            <a:spLocks noGrp="1"/>
          </p:cNvSpPr>
          <p:nvPr>
            <p:ph idx="1"/>
          </p:nvPr>
        </p:nvSpPr>
        <p:spPr/>
        <p:txBody>
          <a:bodyPr/>
          <a:lstStyle/>
          <a:p>
            <a:r>
              <a:rPr lang="en-US" altLang="zh-CN" dirty="0">
                <a:solidFill>
                  <a:srgbClr val="FF0000"/>
                </a:solidFill>
              </a:rPr>
              <a:t>Disjoint set (union-find set or merge-find set)</a:t>
            </a:r>
          </a:p>
          <a:p>
            <a:endParaRPr lang="en-US" altLang="zh-CN" dirty="0">
              <a:solidFill>
                <a:srgbClr val="FF0000"/>
              </a:solidFill>
            </a:endParaRPr>
          </a:p>
          <a:p>
            <a:r>
              <a:rPr lang="en-US" altLang="zh-CN" dirty="0">
                <a:solidFill>
                  <a:srgbClr val="FF0000"/>
                </a:solidFill>
              </a:rPr>
              <a:t>Segment Tree</a:t>
            </a:r>
          </a:p>
        </p:txBody>
      </p:sp>
    </p:spTree>
    <p:extLst>
      <p:ext uri="{BB962C8B-B14F-4D97-AF65-F5344CB8AC3E}">
        <p14:creationId xmlns:p14="http://schemas.microsoft.com/office/powerpoint/2010/main" val="395739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B57D79-B9A8-4BE2-BAAF-E3D148BD7096}"/>
              </a:ext>
            </a:extLst>
          </p:cNvPr>
          <p:cNvSpPr>
            <a:spLocks noGrp="1"/>
          </p:cNvSpPr>
          <p:nvPr>
            <p:ph type="title"/>
          </p:nvPr>
        </p:nvSpPr>
        <p:spPr/>
        <p:txBody>
          <a:bodyPr/>
          <a:lstStyle/>
          <a:p>
            <a:r>
              <a:rPr lang="en-US" altLang="zh-CN"/>
              <a:t>Disjoint set</a:t>
            </a:r>
            <a:endParaRPr lang="zh-CN" altLang="en-US"/>
          </a:p>
        </p:txBody>
      </p:sp>
      <p:sp>
        <p:nvSpPr>
          <p:cNvPr id="3" name="内容占位符 2">
            <a:extLst>
              <a:ext uri="{FF2B5EF4-FFF2-40B4-BE49-F238E27FC236}">
                <a16:creationId xmlns:a16="http://schemas.microsoft.com/office/drawing/2014/main" id="{7CF506B5-5BE3-4E6F-A50E-E8340ABF8684}"/>
              </a:ext>
            </a:extLst>
          </p:cNvPr>
          <p:cNvSpPr>
            <a:spLocks noGrp="1"/>
          </p:cNvSpPr>
          <p:nvPr>
            <p:ph idx="1"/>
          </p:nvPr>
        </p:nvSpPr>
        <p:spPr/>
        <p:txBody>
          <a:bodyPr/>
          <a:lstStyle/>
          <a:p>
            <a:r>
              <a:rPr lang="en-US" altLang="zh-CN" dirty="0"/>
              <a:t>A data structure that stores a collection of disjoint (non-overlapping) sets. </a:t>
            </a:r>
          </a:p>
          <a:p>
            <a:r>
              <a:rPr lang="en-US" altLang="zh-CN" dirty="0"/>
              <a:t>Provide operations for </a:t>
            </a:r>
            <a:r>
              <a:rPr lang="en-US" altLang="zh-CN" dirty="0">
                <a:solidFill>
                  <a:srgbClr val="FF0000"/>
                </a:solidFill>
              </a:rPr>
              <a:t>merging</a:t>
            </a:r>
            <a:r>
              <a:rPr lang="en-US" altLang="zh-CN" dirty="0"/>
              <a:t> sets (replacing them by their union), and </a:t>
            </a:r>
            <a:r>
              <a:rPr lang="en-US" altLang="zh-CN" dirty="0">
                <a:solidFill>
                  <a:srgbClr val="FF0000"/>
                </a:solidFill>
              </a:rPr>
              <a:t>finding</a:t>
            </a:r>
            <a:r>
              <a:rPr lang="en-US" altLang="zh-CN" dirty="0"/>
              <a:t> a representative member of a set.</a:t>
            </a:r>
          </a:p>
          <a:p>
            <a:r>
              <a:rPr lang="en-US" altLang="zh-CN" dirty="0"/>
              <a:t>Applications</a:t>
            </a:r>
          </a:p>
          <a:p>
            <a:pPr lvl="1"/>
            <a:r>
              <a:rPr lang="en-US" altLang="zh-CN" dirty="0">
                <a:solidFill>
                  <a:srgbClr val="0000FF"/>
                </a:solidFill>
              </a:rPr>
              <a:t>Kruskal's algorithm </a:t>
            </a:r>
            <a:r>
              <a:rPr lang="en-US" altLang="zh-CN" dirty="0"/>
              <a:t>(greedy + disjoint set)</a:t>
            </a:r>
          </a:p>
          <a:p>
            <a:pPr lvl="1"/>
            <a:r>
              <a:rPr lang="en-US" altLang="zh-CN" dirty="0"/>
              <a:t>The number of connected components in an undirected graph (</a:t>
            </a:r>
            <a:r>
              <a:rPr lang="en-US" altLang="zh-CN" dirty="0" err="1"/>
              <a:t>Leetcode</a:t>
            </a:r>
            <a:r>
              <a:rPr lang="en-US" altLang="zh-CN" dirty="0"/>
              <a:t> #323)</a:t>
            </a:r>
          </a:p>
          <a:p>
            <a:pPr marL="457200" lvl="1" indent="0">
              <a:buNone/>
            </a:pPr>
            <a:endParaRPr lang="en-US" altLang="zh-CN" dirty="0"/>
          </a:p>
        </p:txBody>
      </p:sp>
    </p:spTree>
    <p:extLst>
      <p:ext uri="{BB962C8B-B14F-4D97-AF65-F5344CB8AC3E}">
        <p14:creationId xmlns:p14="http://schemas.microsoft.com/office/powerpoint/2010/main" val="1099177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a:extLst>
              <a:ext uri="{FF2B5EF4-FFF2-40B4-BE49-F238E27FC236}">
                <a16:creationId xmlns:a16="http://schemas.microsoft.com/office/drawing/2014/main" id="{3F89FEA8-5514-4AE4-8C77-E4FE036F77D4}"/>
              </a:ext>
            </a:extLst>
          </p:cNvPr>
          <p:cNvSpPr>
            <a:spLocks noGrp="1" noChangeArrowheads="1"/>
          </p:cNvSpPr>
          <p:nvPr>
            <p:ph type="title"/>
          </p:nvPr>
        </p:nvSpPr>
        <p:spPr>
          <a:xfrm>
            <a:off x="3317875" y="260351"/>
            <a:ext cx="5556250" cy="777875"/>
          </a:xfrm>
        </p:spPr>
        <p:txBody>
          <a:bodyPr/>
          <a:lstStyle/>
          <a:p>
            <a:r>
              <a:rPr lang="en-US" altLang="zh-CN" sz="4000">
                <a:solidFill>
                  <a:srgbClr val="0070C0"/>
                </a:solidFill>
              </a:rPr>
              <a:t>Background—Gang</a:t>
            </a:r>
            <a:endParaRPr lang="zh-CN" altLang="en-US" sz="4000">
              <a:solidFill>
                <a:srgbClr val="0070C0"/>
              </a:solidFill>
            </a:endParaRPr>
          </a:p>
        </p:txBody>
      </p:sp>
      <p:sp>
        <p:nvSpPr>
          <p:cNvPr id="20482" name="内容占位符 2">
            <a:extLst>
              <a:ext uri="{FF2B5EF4-FFF2-40B4-BE49-F238E27FC236}">
                <a16:creationId xmlns:a16="http://schemas.microsoft.com/office/drawing/2014/main" id="{6567F4CC-8534-4EB0-970A-CE3C3F257829}"/>
              </a:ext>
            </a:extLst>
          </p:cNvPr>
          <p:cNvSpPr>
            <a:spLocks noGrp="1" noChangeArrowheads="1"/>
          </p:cNvSpPr>
          <p:nvPr>
            <p:ph idx="1"/>
          </p:nvPr>
        </p:nvSpPr>
        <p:spPr>
          <a:xfrm>
            <a:off x="284084" y="1152525"/>
            <a:ext cx="11594237" cy="2484438"/>
          </a:xfrm>
        </p:spPr>
        <p:txBody>
          <a:bodyPr>
            <a:normAutofit fontScale="92500" lnSpcReduction="10000"/>
          </a:bodyPr>
          <a:lstStyle/>
          <a:p>
            <a:r>
              <a:rPr lang="en-US" altLang="zh-CN"/>
              <a:t>There are n people in a city and they belong to different gangs.</a:t>
            </a:r>
          </a:p>
          <a:p>
            <a:r>
              <a:rPr lang="en-US" altLang="zh-CN"/>
              <a:t>Given the relationships between these people (For example, No. 1 and No. 2 are friends, and No. 1 and No. 3 are also friends. Then they belong to the same gang), compute how many gangs there are and which gang each belongs to.</a:t>
            </a:r>
          </a:p>
          <a:p>
            <a:pPr>
              <a:buFont typeface="Wingdings" panose="05000000000000000000" pitchFamily="2" charset="2"/>
              <a:buChar char="u"/>
            </a:pPr>
            <a:r>
              <a:rPr lang="en-US" altLang="zh-CN"/>
              <a:t>Using </a:t>
            </a:r>
            <a:r>
              <a:rPr lang="en-US" altLang="zh-CN">
                <a:solidFill>
                  <a:srgbClr val="FF0000"/>
                </a:solidFill>
              </a:rPr>
              <a:t>disjoint set</a:t>
            </a:r>
            <a:r>
              <a:rPr lang="en-US" altLang="zh-CN"/>
              <a:t>.</a:t>
            </a:r>
            <a:endParaRPr lang="zh-CN" altLang="en-US"/>
          </a:p>
        </p:txBody>
      </p:sp>
      <p:pic>
        <p:nvPicPr>
          <p:cNvPr id="20484" name="Picture 6" descr="https://timgsa.baidu.com/timg?image&amp;quality=80&amp;size=b9999_10000&amp;sec=1553692818941&amp;di=fada627f8a9e3c151c0158e1aa71a055&amp;imgtype=0&amp;src=http%3A%2F%2Fs16.sinaimg.cn%2Fbmiddle%2F5c57b519t9201ffec3b3f%26690">
            <a:extLst>
              <a:ext uri="{FF2B5EF4-FFF2-40B4-BE49-F238E27FC236}">
                <a16:creationId xmlns:a16="http://schemas.microsoft.com/office/drawing/2014/main" id="{2FF174FF-5215-400E-89AB-F73FC6FE1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200" y="3900489"/>
            <a:ext cx="56896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a:extLst>
              <a:ext uri="{FF2B5EF4-FFF2-40B4-BE49-F238E27FC236}">
                <a16:creationId xmlns:a16="http://schemas.microsoft.com/office/drawing/2014/main" id="{A35A49BB-C0DD-4B64-8D4E-0A3D4C7F6823}"/>
              </a:ext>
            </a:extLst>
          </p:cNvPr>
          <p:cNvSpPr>
            <a:spLocks noGrp="1" noChangeArrowheads="1"/>
          </p:cNvSpPr>
          <p:nvPr>
            <p:ph type="title"/>
          </p:nvPr>
        </p:nvSpPr>
        <p:spPr>
          <a:xfrm>
            <a:off x="3187483" y="658644"/>
            <a:ext cx="6524687" cy="804863"/>
          </a:xfrm>
        </p:spPr>
        <p:txBody>
          <a:bodyPr>
            <a:normAutofit fontScale="90000"/>
          </a:bodyPr>
          <a:lstStyle/>
          <a:p>
            <a:pPr algn="ctr"/>
            <a:r>
              <a:rPr lang="en-US" altLang="zh-CN" dirty="0">
                <a:solidFill>
                  <a:srgbClr val="0070C0"/>
                </a:solidFill>
              </a:rPr>
              <a:t>Operations of the disjoint set</a:t>
            </a:r>
            <a:endParaRPr lang="zh-CN" altLang="en-US" dirty="0">
              <a:solidFill>
                <a:srgbClr val="0070C0"/>
              </a:solidFill>
            </a:endParaRPr>
          </a:p>
        </p:txBody>
      </p:sp>
      <p:sp>
        <p:nvSpPr>
          <p:cNvPr id="22530" name="内容占位符 2">
            <a:extLst>
              <a:ext uri="{FF2B5EF4-FFF2-40B4-BE49-F238E27FC236}">
                <a16:creationId xmlns:a16="http://schemas.microsoft.com/office/drawing/2014/main" id="{F39993B0-BDBB-4B4E-9430-B155E7E51E2A}"/>
              </a:ext>
            </a:extLst>
          </p:cNvPr>
          <p:cNvSpPr>
            <a:spLocks noGrp="1" noChangeArrowheads="1"/>
          </p:cNvSpPr>
          <p:nvPr>
            <p:ph idx="1"/>
          </p:nvPr>
        </p:nvSpPr>
        <p:spPr>
          <a:xfrm>
            <a:off x="2139519" y="2251894"/>
            <a:ext cx="9445839" cy="2549525"/>
          </a:xfrm>
        </p:spPr>
        <p:txBody>
          <a:bodyPr>
            <a:normAutofit/>
          </a:bodyPr>
          <a:lstStyle/>
          <a:p>
            <a:r>
              <a:rPr lang="en-US" altLang="zh-CN" sz="3600" dirty="0"/>
              <a:t>Initialization</a:t>
            </a:r>
          </a:p>
          <a:p>
            <a:r>
              <a:rPr lang="en-US" altLang="zh-CN" sz="3600" dirty="0"/>
              <a:t>Merging (sets)</a:t>
            </a:r>
          </a:p>
          <a:p>
            <a:r>
              <a:rPr lang="en-US" altLang="zh-CN" sz="3600" dirty="0"/>
              <a:t>Finding (the representative member of a set)</a:t>
            </a:r>
            <a:endParaRPr lang="zh-CN" alt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a:extLst>
              <a:ext uri="{FF2B5EF4-FFF2-40B4-BE49-F238E27FC236}">
                <a16:creationId xmlns:a16="http://schemas.microsoft.com/office/drawing/2014/main" id="{89E904D4-7FD7-43FA-BE8A-3D875562859D}"/>
              </a:ext>
            </a:extLst>
          </p:cNvPr>
          <p:cNvSpPr>
            <a:spLocks noGrp="1" noChangeArrowheads="1"/>
          </p:cNvSpPr>
          <p:nvPr>
            <p:ph type="title"/>
          </p:nvPr>
        </p:nvSpPr>
        <p:spPr>
          <a:xfrm>
            <a:off x="838200" y="17462"/>
            <a:ext cx="10515600" cy="1325563"/>
          </a:xfrm>
        </p:spPr>
        <p:txBody>
          <a:bodyPr/>
          <a:lstStyle/>
          <a:p>
            <a:r>
              <a:rPr lang="en-US" altLang="zh-CN"/>
              <a:t>1. Initialization</a:t>
            </a:r>
            <a:endParaRPr lang="zh-CN" altLang="en-US"/>
          </a:p>
        </p:txBody>
      </p:sp>
      <p:sp>
        <p:nvSpPr>
          <p:cNvPr id="23554" name="内容占位符 2">
            <a:extLst>
              <a:ext uri="{FF2B5EF4-FFF2-40B4-BE49-F238E27FC236}">
                <a16:creationId xmlns:a16="http://schemas.microsoft.com/office/drawing/2014/main" id="{0B7A1C49-1A59-46FD-A07B-82F3E6B47EA5}"/>
              </a:ext>
            </a:extLst>
          </p:cNvPr>
          <p:cNvSpPr>
            <a:spLocks noGrp="1" noChangeArrowheads="1"/>
          </p:cNvSpPr>
          <p:nvPr>
            <p:ph idx="1"/>
          </p:nvPr>
        </p:nvSpPr>
        <p:spPr>
          <a:xfrm>
            <a:off x="1981200" y="1243013"/>
            <a:ext cx="8012113" cy="1143000"/>
          </a:xfrm>
        </p:spPr>
        <p:txBody>
          <a:bodyPr>
            <a:normAutofit/>
          </a:bodyPr>
          <a:lstStyle/>
          <a:p>
            <a:r>
              <a:rPr lang="en-US" altLang="zh-CN"/>
              <a:t>Define </a:t>
            </a:r>
            <a:r>
              <a:rPr lang="en-US" altLang="zh-CN">
                <a:solidFill>
                  <a:srgbClr val="FF0000"/>
                </a:solidFill>
              </a:rPr>
              <a:t>“int s[]” </a:t>
            </a:r>
            <a:r>
              <a:rPr lang="en-US" altLang="zh-CN"/>
              <a:t>as the disjoint set.</a:t>
            </a:r>
          </a:p>
          <a:p>
            <a:r>
              <a:rPr lang="en-US" altLang="zh-CN"/>
              <a:t>Initialize</a:t>
            </a:r>
            <a:r>
              <a:rPr lang="zh-CN" altLang="en-US"/>
              <a:t> </a:t>
            </a:r>
            <a:r>
              <a:rPr lang="en-US" altLang="zh-CN">
                <a:solidFill>
                  <a:srgbClr val="FF0000"/>
                </a:solidFill>
              </a:rPr>
              <a:t>s[i]=i</a:t>
            </a:r>
            <a:r>
              <a:rPr lang="en-US" altLang="zh-CN"/>
              <a:t>.</a:t>
            </a:r>
            <a:r>
              <a:rPr lang="en-US" altLang="zh-CN">
                <a:solidFill>
                  <a:srgbClr val="FF0000"/>
                </a:solidFill>
              </a:rPr>
              <a:t> </a:t>
            </a:r>
            <a:r>
              <a:rPr lang="en-US" altLang="zh-CN"/>
              <a:t>“one person one gang”</a:t>
            </a:r>
          </a:p>
        </p:txBody>
      </p:sp>
      <p:graphicFrame>
        <p:nvGraphicFramePr>
          <p:cNvPr id="23556" name="对象 5">
            <a:extLst>
              <a:ext uri="{FF2B5EF4-FFF2-40B4-BE49-F238E27FC236}">
                <a16:creationId xmlns:a16="http://schemas.microsoft.com/office/drawing/2014/main" id="{509224E8-EB73-44C0-83B6-CFB6CDEF9FEC}"/>
              </a:ext>
            </a:extLst>
          </p:cNvPr>
          <p:cNvGraphicFramePr>
            <a:graphicFrameLocks noChangeAspect="1"/>
          </p:cNvGraphicFramePr>
          <p:nvPr>
            <p:extLst>
              <p:ext uri="{D42A27DB-BD31-4B8C-83A1-F6EECF244321}">
                <p14:modId xmlns:p14="http://schemas.microsoft.com/office/powerpoint/2010/main" val="729269153"/>
              </p:ext>
            </p:extLst>
          </p:nvPr>
        </p:nvGraphicFramePr>
        <p:xfrm>
          <a:off x="1981200" y="3695700"/>
          <a:ext cx="8002588" cy="1552575"/>
        </p:xfrm>
        <a:graphic>
          <a:graphicData uri="http://schemas.openxmlformats.org/presentationml/2006/ole">
            <mc:AlternateContent xmlns:mc="http://schemas.openxmlformats.org/markup-compatibility/2006">
              <mc:Choice xmlns:v="urn:schemas-microsoft-com:vml" Requires="v">
                <p:oleObj spid="_x0000_s1050" r:id="rId3" imgW="4349160" imgH="812520" progId="Visio.Drawing.11">
                  <p:embed/>
                </p:oleObj>
              </mc:Choice>
              <mc:Fallback>
                <p:oleObj r:id="rId3" imgW="4349160" imgH="812520" progId="Visio.Drawing.11">
                  <p:embed/>
                  <p:pic>
                    <p:nvPicPr>
                      <p:cNvPr id="23556" name="对象 5">
                        <a:extLst>
                          <a:ext uri="{FF2B5EF4-FFF2-40B4-BE49-F238E27FC236}">
                            <a16:creationId xmlns:a16="http://schemas.microsoft.com/office/drawing/2014/main" id="{509224E8-EB73-44C0-83B6-CFB6CDEF9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695700"/>
                        <a:ext cx="800258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对话气泡: 矩形 6">
            <a:extLst>
              <a:ext uri="{FF2B5EF4-FFF2-40B4-BE49-F238E27FC236}">
                <a16:creationId xmlns:a16="http://schemas.microsoft.com/office/drawing/2014/main" id="{3515DDE7-1D9C-4C44-82A3-3C1319F5A47A}"/>
              </a:ext>
            </a:extLst>
          </p:cNvPr>
          <p:cNvSpPr/>
          <p:nvPr/>
        </p:nvSpPr>
        <p:spPr>
          <a:xfrm>
            <a:off x="3914312" y="2725263"/>
            <a:ext cx="7439488" cy="650080"/>
          </a:xfrm>
          <a:prstGeom prst="wedgeRectCallout">
            <a:avLst>
              <a:gd name="adj1" fmla="val -48451"/>
              <a:gd name="adj2" fmla="val -121128"/>
            </a:avLst>
          </a:prstGeom>
          <a:ln/>
        </p:spPr>
        <p:style>
          <a:lnRef idx="1">
            <a:schemeClr val="accent3"/>
          </a:lnRef>
          <a:fillRef idx="3">
            <a:schemeClr val="accent3"/>
          </a:fillRef>
          <a:effectRef idx="2">
            <a:schemeClr val="accent3"/>
          </a:effectRef>
          <a:fontRef idx="minor">
            <a:schemeClr val="lt1"/>
          </a:fontRef>
        </p:style>
        <p:txBody>
          <a:bodyPr anchor="ctr"/>
          <a:lstStyle/>
          <a:p>
            <a:pPr eaLnBrk="0" hangingPunct="0">
              <a:defRPr/>
            </a:pPr>
            <a:r>
              <a:rPr lang="en-US" altLang="zh-CN" sz="2000">
                <a:solidFill>
                  <a:srgbClr val="0000FF"/>
                </a:solidFill>
                <a:latin typeface="Courier New" panose="02070309020205020404" pitchFamily="49" charset="0"/>
                <a:cs typeface="Courier New" panose="02070309020205020404" pitchFamily="49" charset="0"/>
              </a:rPr>
              <a:t>Someone’s number is i, and he belongs to the gang s[i].</a:t>
            </a:r>
            <a:endParaRPr lang="zh-CN" altLang="en-US" sz="2000" dirty="0">
              <a:solidFill>
                <a:srgbClr val="0000FF"/>
              </a:solidFill>
              <a:latin typeface="Courier New" panose="02070309020205020404" pitchFamily="49" charset="0"/>
              <a:cs typeface="Courier New" panose="020703090202050204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a:extLst>
              <a:ext uri="{FF2B5EF4-FFF2-40B4-BE49-F238E27FC236}">
                <a16:creationId xmlns:a16="http://schemas.microsoft.com/office/drawing/2014/main" id="{C8E604AA-EE2F-41A7-938B-99951AF806F2}"/>
              </a:ext>
            </a:extLst>
          </p:cNvPr>
          <p:cNvSpPr>
            <a:spLocks noGrp="1" noChangeArrowheads="1"/>
          </p:cNvSpPr>
          <p:nvPr>
            <p:ph type="title"/>
          </p:nvPr>
        </p:nvSpPr>
        <p:spPr/>
        <p:txBody>
          <a:bodyPr/>
          <a:lstStyle/>
          <a:p>
            <a:r>
              <a:rPr lang="en-US" altLang="zh-CN"/>
              <a:t>2. Merging</a:t>
            </a:r>
            <a:endParaRPr lang="zh-CN" altLang="en-US"/>
          </a:p>
        </p:txBody>
      </p:sp>
      <p:sp>
        <p:nvSpPr>
          <p:cNvPr id="3" name="内容占位符 2">
            <a:extLst>
              <a:ext uri="{FF2B5EF4-FFF2-40B4-BE49-F238E27FC236}">
                <a16:creationId xmlns:a16="http://schemas.microsoft.com/office/drawing/2014/main" id="{EACF7030-D620-480B-A7E1-2786E43B1AD6}"/>
              </a:ext>
            </a:extLst>
          </p:cNvPr>
          <p:cNvSpPr>
            <a:spLocks noGrp="1"/>
          </p:cNvSpPr>
          <p:nvPr>
            <p:ph idx="1"/>
          </p:nvPr>
        </p:nvSpPr>
        <p:spPr>
          <a:xfrm>
            <a:off x="1981200" y="1600200"/>
            <a:ext cx="8229600" cy="2044700"/>
          </a:xfrm>
        </p:spPr>
        <p:txBody>
          <a:bodyPr>
            <a:normAutofit/>
          </a:bodyPr>
          <a:lstStyle/>
          <a:p>
            <a:pPr marL="0" indent="0">
              <a:buNone/>
              <a:defRPr/>
            </a:pPr>
            <a:r>
              <a:rPr lang="en-US" altLang="zh-CN" b="1" dirty="0">
                <a:solidFill>
                  <a:srgbClr val="FF0000"/>
                </a:solidFill>
              </a:rPr>
              <a:t>Adding the first relation</a:t>
            </a:r>
            <a:r>
              <a:rPr lang="zh-CN" altLang="zh-CN" b="1" dirty="0">
                <a:solidFill>
                  <a:srgbClr val="FF0000"/>
                </a:solidFill>
              </a:rPr>
              <a:t> </a:t>
            </a:r>
            <a:r>
              <a:rPr lang="en-US" altLang="zh-CN" b="1" dirty="0">
                <a:solidFill>
                  <a:srgbClr val="FF0000"/>
                </a:solidFill>
              </a:rPr>
              <a:t>(1, 2)</a:t>
            </a:r>
          </a:p>
          <a:p>
            <a:pPr>
              <a:defRPr/>
            </a:pPr>
            <a:r>
              <a:rPr lang="en-US" altLang="zh-CN" dirty="0"/>
              <a:t>Node 1 is merged into the set of node 2, that is, the value of s[1] is changed to the value of s[2].</a:t>
            </a:r>
            <a:endParaRPr lang="zh-CN" altLang="en-US" dirty="0"/>
          </a:p>
        </p:txBody>
      </p:sp>
      <p:graphicFrame>
        <p:nvGraphicFramePr>
          <p:cNvPr id="24580" name="对象 5">
            <a:extLst>
              <a:ext uri="{FF2B5EF4-FFF2-40B4-BE49-F238E27FC236}">
                <a16:creationId xmlns:a16="http://schemas.microsoft.com/office/drawing/2014/main" id="{E7F72C1C-47D8-4093-9A5C-67998039FB42}"/>
              </a:ext>
            </a:extLst>
          </p:cNvPr>
          <p:cNvGraphicFramePr>
            <a:graphicFrameLocks noChangeAspect="1"/>
          </p:cNvGraphicFramePr>
          <p:nvPr/>
        </p:nvGraphicFramePr>
        <p:xfrm>
          <a:off x="2495551" y="3673476"/>
          <a:ext cx="7388225" cy="1439863"/>
        </p:xfrm>
        <a:graphic>
          <a:graphicData uri="http://schemas.openxmlformats.org/presentationml/2006/ole">
            <mc:AlternateContent xmlns:mc="http://schemas.openxmlformats.org/markup-compatibility/2006">
              <mc:Choice xmlns:v="urn:schemas-microsoft-com:vml" Requires="v">
                <p:oleObj spid="_x0000_s2074" r:id="rId3" imgW="4329360" imgH="812520" progId="Visio.Drawing.11">
                  <p:embed/>
                </p:oleObj>
              </mc:Choice>
              <mc:Fallback>
                <p:oleObj r:id="rId3" imgW="4329360" imgH="812520" progId="Visio.Drawing.11">
                  <p:embed/>
                  <p:pic>
                    <p:nvPicPr>
                      <p:cNvPr id="24580" name="对象 5">
                        <a:extLst>
                          <a:ext uri="{FF2B5EF4-FFF2-40B4-BE49-F238E27FC236}">
                            <a16:creationId xmlns:a16="http://schemas.microsoft.com/office/drawing/2014/main" id="{E7F72C1C-47D8-4093-9A5C-67998039FB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551" y="3673476"/>
                        <a:ext cx="73882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882DC3-26A3-42F9-9D1A-B5D6B8AC0CBA}"/>
              </a:ext>
            </a:extLst>
          </p:cNvPr>
          <p:cNvSpPr>
            <a:spLocks noGrp="1"/>
          </p:cNvSpPr>
          <p:nvPr>
            <p:ph idx="1"/>
          </p:nvPr>
        </p:nvSpPr>
        <p:spPr>
          <a:xfrm>
            <a:off x="1981200" y="1052513"/>
            <a:ext cx="8229600" cy="2189162"/>
          </a:xfrm>
        </p:spPr>
        <p:txBody>
          <a:bodyPr>
            <a:normAutofit lnSpcReduction="10000"/>
          </a:bodyPr>
          <a:lstStyle/>
          <a:p>
            <a:pPr marL="0" indent="0">
              <a:buNone/>
              <a:defRPr/>
            </a:pPr>
            <a:r>
              <a:rPr lang="en-US" altLang="zh-CN" b="1" dirty="0">
                <a:solidFill>
                  <a:srgbClr val="FF0000"/>
                </a:solidFill>
              </a:rPr>
              <a:t>Adding the second relation (1, 3)</a:t>
            </a:r>
          </a:p>
          <a:p>
            <a:pPr>
              <a:defRPr/>
            </a:pPr>
            <a:r>
              <a:rPr lang="en-US" altLang="zh-CN" dirty="0"/>
              <a:t>Find s[1] of node 1, which is </a:t>
            </a:r>
            <a:r>
              <a:rPr lang="en-US" altLang="zh-CN" u="sng" dirty="0"/>
              <a:t>2</a:t>
            </a:r>
            <a:r>
              <a:rPr lang="en-US" altLang="zh-CN" dirty="0"/>
              <a:t>, and recursively find s[2] of node 2 is </a:t>
            </a:r>
            <a:r>
              <a:rPr lang="en-US" altLang="zh-CN" u="sng" dirty="0"/>
              <a:t>2</a:t>
            </a:r>
            <a:r>
              <a:rPr lang="en-US" altLang="zh-CN" dirty="0"/>
              <a:t>;</a:t>
            </a:r>
          </a:p>
          <a:p>
            <a:pPr>
              <a:defRPr/>
            </a:pPr>
            <a:r>
              <a:rPr lang="en-US" altLang="zh-CN" dirty="0"/>
              <a:t>Merge the set of node 2 and the set of node 3. Now, nodes 1, 2, and 3 belong to the same set.</a:t>
            </a:r>
            <a:endParaRPr lang="zh-CN" altLang="en-US" dirty="0"/>
          </a:p>
        </p:txBody>
      </p:sp>
      <p:graphicFrame>
        <p:nvGraphicFramePr>
          <p:cNvPr id="25603" name="对象 5">
            <a:extLst>
              <a:ext uri="{FF2B5EF4-FFF2-40B4-BE49-F238E27FC236}">
                <a16:creationId xmlns:a16="http://schemas.microsoft.com/office/drawing/2014/main" id="{D7617DAA-0EAA-4CAA-878A-F4BDC8472D82}"/>
              </a:ext>
            </a:extLst>
          </p:cNvPr>
          <p:cNvGraphicFramePr>
            <a:graphicFrameLocks noChangeAspect="1"/>
          </p:cNvGraphicFramePr>
          <p:nvPr/>
        </p:nvGraphicFramePr>
        <p:xfrm>
          <a:off x="2208214" y="3860800"/>
          <a:ext cx="7775575" cy="2122488"/>
        </p:xfrm>
        <a:graphic>
          <a:graphicData uri="http://schemas.openxmlformats.org/presentationml/2006/ole">
            <mc:AlternateContent xmlns:mc="http://schemas.openxmlformats.org/markup-compatibility/2006">
              <mc:Choice xmlns:v="urn:schemas-microsoft-com:vml" Requires="v">
                <p:oleObj spid="_x0000_s3098" r:id="rId3" imgW="4326120" imgH="1135800" progId="Visio.Drawing.11">
                  <p:embed/>
                </p:oleObj>
              </mc:Choice>
              <mc:Fallback>
                <p:oleObj r:id="rId3" imgW="4326120" imgH="1135800" progId="Visio.Drawing.11">
                  <p:embed/>
                  <p:pic>
                    <p:nvPicPr>
                      <p:cNvPr id="25603" name="对象 5">
                        <a:extLst>
                          <a:ext uri="{FF2B5EF4-FFF2-40B4-BE49-F238E27FC236}">
                            <a16:creationId xmlns:a16="http://schemas.microsoft.com/office/drawing/2014/main" id="{D7617DAA-0EAA-4CAA-878A-F4BDC8472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14" y="3860800"/>
                        <a:ext cx="7775575"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20EEA7-9117-49DC-B2BA-AE8349BE68AD}"/>
              </a:ext>
            </a:extLst>
          </p:cNvPr>
          <p:cNvSpPr>
            <a:spLocks noGrp="1"/>
          </p:cNvSpPr>
          <p:nvPr>
            <p:ph idx="1"/>
          </p:nvPr>
        </p:nvSpPr>
        <p:spPr>
          <a:xfrm>
            <a:off x="2216151" y="1109663"/>
            <a:ext cx="5942013" cy="749300"/>
          </a:xfrm>
        </p:spPr>
        <p:txBody>
          <a:bodyPr>
            <a:normAutofit/>
          </a:bodyPr>
          <a:lstStyle/>
          <a:p>
            <a:pPr marL="0" indent="0">
              <a:buNone/>
              <a:defRPr/>
            </a:pPr>
            <a:r>
              <a:rPr lang="en-US" altLang="zh-CN" b="1">
                <a:solidFill>
                  <a:srgbClr val="FF0000"/>
                </a:solidFill>
              </a:rPr>
              <a:t>Adding the third relation (2, 4)</a:t>
            </a:r>
            <a:endParaRPr lang="en-US" altLang="zh-CN"/>
          </a:p>
          <a:p>
            <a:pPr>
              <a:defRPr/>
            </a:pPr>
            <a:endParaRPr lang="en-US" altLang="zh-CN" dirty="0"/>
          </a:p>
          <a:p>
            <a:pPr>
              <a:defRPr/>
            </a:pPr>
            <a:endParaRPr lang="en-US" altLang="zh-CN" dirty="0"/>
          </a:p>
          <a:p>
            <a:pPr>
              <a:defRPr/>
            </a:pPr>
            <a:endParaRPr lang="zh-CN" altLang="en-US" dirty="0"/>
          </a:p>
        </p:txBody>
      </p:sp>
      <p:graphicFrame>
        <p:nvGraphicFramePr>
          <p:cNvPr id="26627" name="对象 5">
            <a:extLst>
              <a:ext uri="{FF2B5EF4-FFF2-40B4-BE49-F238E27FC236}">
                <a16:creationId xmlns:a16="http://schemas.microsoft.com/office/drawing/2014/main" id="{8EC2AFA5-F3C6-4D31-A224-BED6F2DF1419}"/>
              </a:ext>
            </a:extLst>
          </p:cNvPr>
          <p:cNvGraphicFramePr>
            <a:graphicFrameLocks noChangeAspect="1"/>
          </p:cNvGraphicFramePr>
          <p:nvPr/>
        </p:nvGraphicFramePr>
        <p:xfrm>
          <a:off x="1981200" y="2078039"/>
          <a:ext cx="8001000" cy="2979737"/>
        </p:xfrm>
        <a:graphic>
          <a:graphicData uri="http://schemas.openxmlformats.org/presentationml/2006/ole">
            <mc:AlternateContent xmlns:mc="http://schemas.openxmlformats.org/markup-compatibility/2006">
              <mc:Choice xmlns:v="urn:schemas-microsoft-com:vml" Requires="v">
                <p:oleObj spid="_x0000_s4122" r:id="rId3" imgW="4246560" imgH="1530720" progId="Visio.Drawing.11">
                  <p:embed/>
                </p:oleObj>
              </mc:Choice>
              <mc:Fallback>
                <p:oleObj r:id="rId3" imgW="4246560" imgH="1530720" progId="Visio.Drawing.11">
                  <p:embed/>
                  <p:pic>
                    <p:nvPicPr>
                      <p:cNvPr id="26627" name="对象 5">
                        <a:extLst>
                          <a:ext uri="{FF2B5EF4-FFF2-40B4-BE49-F238E27FC236}">
                            <a16:creationId xmlns:a16="http://schemas.microsoft.com/office/drawing/2014/main" id="{8EC2AFA5-F3C6-4D31-A224-BED6F2DF14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078039"/>
                        <a:ext cx="8001000"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对话气泡: 矩形 6">
            <a:extLst>
              <a:ext uri="{FF2B5EF4-FFF2-40B4-BE49-F238E27FC236}">
                <a16:creationId xmlns:a16="http://schemas.microsoft.com/office/drawing/2014/main" id="{083D3A5A-B28F-4E82-BA40-BEC86A241B45}"/>
              </a:ext>
            </a:extLst>
          </p:cNvPr>
          <p:cNvSpPr/>
          <p:nvPr/>
        </p:nvSpPr>
        <p:spPr>
          <a:xfrm>
            <a:off x="8158164" y="5276852"/>
            <a:ext cx="2969626" cy="681038"/>
          </a:xfrm>
          <a:prstGeom prst="wedgeRectCallout">
            <a:avLst>
              <a:gd name="adj1" fmla="val -74012"/>
              <a:gd name="adj2" fmla="val -955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eaLnBrk="0" hangingPunct="0">
              <a:defRPr/>
            </a:pPr>
            <a:r>
              <a:rPr lang="en-US" altLang="zh-CN" sz="2400" b="1">
                <a:solidFill>
                  <a:schemeClr val="tx1"/>
                </a:solidFill>
                <a:latin typeface="Courier New" panose="02070309020205020404" pitchFamily="49" charset="0"/>
                <a:cs typeface="Courier New" panose="02070309020205020404" pitchFamily="49" charset="0"/>
              </a:rPr>
              <a:t>Really far away from the leader</a:t>
            </a:r>
            <a:endParaRPr lang="zh-CN" altLang="en-US" sz="2400" b="1" dirty="0">
              <a:solidFill>
                <a:schemeClr val="tx1"/>
              </a:solidFill>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4B1C45DF-7A78-4BB2-A500-1818E6A9CF2B}"/>
              </a:ext>
            </a:extLst>
          </p:cNvPr>
          <p:cNvSpPr>
            <a:spLocks noGrp="1" noChangeArrowheads="1"/>
          </p:cNvSpPr>
          <p:nvPr>
            <p:ph type="title"/>
          </p:nvPr>
        </p:nvSpPr>
        <p:spPr>
          <a:xfrm>
            <a:off x="589688" y="249361"/>
            <a:ext cx="5915025" cy="1143000"/>
          </a:xfrm>
        </p:spPr>
        <p:txBody>
          <a:bodyPr/>
          <a:lstStyle/>
          <a:p>
            <a:r>
              <a:rPr lang="en-US" altLang="zh-CN" sz="4000"/>
              <a:t>3.</a:t>
            </a:r>
            <a:r>
              <a:rPr lang="zh-CN" altLang="en-US" sz="4000"/>
              <a:t> </a:t>
            </a:r>
            <a:r>
              <a:rPr lang="en-US" altLang="zh-CN" sz="4000"/>
              <a:t>Finding</a:t>
            </a:r>
            <a:endParaRPr lang="zh-CN" altLang="en-US" sz="4000"/>
          </a:p>
        </p:txBody>
      </p:sp>
      <p:sp>
        <p:nvSpPr>
          <p:cNvPr id="27650" name="内容占位符 2">
            <a:extLst>
              <a:ext uri="{FF2B5EF4-FFF2-40B4-BE49-F238E27FC236}">
                <a16:creationId xmlns:a16="http://schemas.microsoft.com/office/drawing/2014/main" id="{61A2E072-557E-4E42-8B0C-7DB693372B9A}"/>
              </a:ext>
            </a:extLst>
          </p:cNvPr>
          <p:cNvSpPr>
            <a:spLocks noGrp="1" noChangeArrowheads="1"/>
          </p:cNvSpPr>
          <p:nvPr>
            <p:ph idx="1"/>
          </p:nvPr>
        </p:nvSpPr>
        <p:spPr/>
        <p:txBody>
          <a:bodyPr/>
          <a:lstStyle/>
          <a:p>
            <a:r>
              <a:rPr lang="en-US" altLang="zh-CN" dirty="0"/>
              <a:t>Finding the representative member of a node is a recursive process. Until s[</a:t>
            </a:r>
            <a:r>
              <a:rPr lang="en-US" altLang="zh-CN" dirty="0" err="1"/>
              <a:t>i</a:t>
            </a:r>
            <a:r>
              <a:rPr lang="en-US" altLang="zh-CN" dirty="0"/>
              <a:t>] is equal to </a:t>
            </a:r>
            <a:r>
              <a:rPr lang="en-US" altLang="zh-CN" dirty="0" err="1"/>
              <a:t>i</a:t>
            </a:r>
            <a:r>
              <a:rPr lang="en-US" altLang="zh-CN" dirty="0"/>
              <a:t>, the set of the root node is found.</a:t>
            </a:r>
          </a:p>
          <a:p>
            <a:endParaRPr lang="en-US" altLang="zh-CN" dirty="0"/>
          </a:p>
          <a:p>
            <a:r>
              <a:rPr lang="en-US" altLang="zh-CN" dirty="0"/>
              <a:t>This finding tree, which may be </a:t>
            </a:r>
            <a:r>
              <a:rPr lang="en-US" altLang="zh-CN" dirty="0">
                <a:solidFill>
                  <a:srgbClr val="FF0000"/>
                </a:solidFill>
              </a:rPr>
              <a:t>very deep</a:t>
            </a:r>
            <a:r>
              <a:rPr lang="en-US" altLang="zh-CN" dirty="0"/>
              <a:t>, with a complexity of </a:t>
            </a:r>
            <a:r>
              <a:rPr lang="en-US" altLang="zh-CN" dirty="0">
                <a:solidFill>
                  <a:srgbClr val="FF0000"/>
                </a:solidFill>
              </a:rPr>
              <a:t>O(n) </a:t>
            </a:r>
            <a:r>
              <a:rPr lang="en-US" altLang="zh-CN" dirty="0"/>
              <a:t>of finding, may degenerate to a linked list.</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内容占位符 2">
            <a:extLst>
              <a:ext uri="{FF2B5EF4-FFF2-40B4-BE49-F238E27FC236}">
                <a16:creationId xmlns:a16="http://schemas.microsoft.com/office/drawing/2014/main" id="{9386C245-2E7A-41AC-99C1-D246DD3BA6EB}"/>
              </a:ext>
            </a:extLst>
          </p:cNvPr>
          <p:cNvSpPr>
            <a:spLocks noGrp="1" noChangeArrowheads="1"/>
          </p:cNvSpPr>
          <p:nvPr>
            <p:ph idx="1"/>
          </p:nvPr>
        </p:nvSpPr>
        <p:spPr>
          <a:xfrm>
            <a:off x="2665414" y="593725"/>
            <a:ext cx="6670675" cy="5499100"/>
          </a:xfrm>
        </p:spPr>
        <p:txBody>
          <a:bodyPr>
            <a:normAutofit/>
          </a:bodyPr>
          <a:lstStyle/>
          <a:p>
            <a:pPr marL="0" indent="0">
              <a:buNone/>
            </a:pPr>
            <a:r>
              <a:rPr lang="en-US" altLang="zh-CN" sz="2400" dirty="0"/>
              <a:t>void </a:t>
            </a:r>
            <a:r>
              <a:rPr lang="en-US" altLang="zh-CN" sz="2400" dirty="0" err="1"/>
              <a:t>init_set</a:t>
            </a:r>
            <a:r>
              <a:rPr lang="en-US" altLang="zh-CN" sz="2400" dirty="0"/>
              <a:t>(){                       </a:t>
            </a:r>
            <a:r>
              <a:rPr lang="en-US" altLang="zh-CN" sz="2400" dirty="0">
                <a:solidFill>
                  <a:srgbClr val="FF0000"/>
                </a:solidFill>
              </a:rPr>
              <a:t>//</a:t>
            </a:r>
            <a:r>
              <a:rPr lang="zh-CN" altLang="en-US" sz="2400" dirty="0">
                <a:solidFill>
                  <a:srgbClr val="FF0000"/>
                </a:solidFill>
              </a:rPr>
              <a:t> </a:t>
            </a:r>
            <a:r>
              <a:rPr lang="en-US" altLang="zh-CN" sz="2400" dirty="0">
                <a:solidFill>
                  <a:srgbClr val="FF0000"/>
                </a:solidFill>
              </a:rPr>
              <a:t>initialization</a:t>
            </a:r>
            <a:r>
              <a:rPr lang="en-US" altLang="zh-CN" sz="2400" dirty="0"/>
              <a:t>    </a:t>
            </a:r>
            <a:endParaRPr lang="zh-CN" altLang="zh-CN" sz="2400" dirty="0"/>
          </a:p>
          <a:p>
            <a:pPr marL="0" indent="0">
              <a:buNone/>
            </a:pPr>
            <a:r>
              <a:rPr lang="en-US" altLang="zh-CN" sz="2400" dirty="0"/>
              <a:t>   for(int </a:t>
            </a:r>
            <a:r>
              <a:rPr lang="en-US" altLang="zh-CN" sz="2400" dirty="0" err="1"/>
              <a:t>i</a:t>
            </a:r>
            <a:r>
              <a:rPr lang="en-US" altLang="zh-CN" sz="2400" dirty="0"/>
              <a:t> = 1; </a:t>
            </a:r>
            <a:r>
              <a:rPr lang="en-US" altLang="zh-CN" sz="2400" dirty="0" err="1"/>
              <a:t>i</a:t>
            </a:r>
            <a:r>
              <a:rPr lang="en-US" altLang="zh-CN" sz="2400" dirty="0"/>
              <a:t> &lt;= </a:t>
            </a:r>
            <a:r>
              <a:rPr lang="en-US" altLang="zh-CN" sz="2400" dirty="0" err="1"/>
              <a:t>maxn</a:t>
            </a:r>
            <a:r>
              <a:rPr lang="en-US" altLang="zh-CN" sz="2400" dirty="0"/>
              <a:t>; </a:t>
            </a:r>
            <a:r>
              <a:rPr lang="en-US" altLang="zh-CN" sz="2400" dirty="0" err="1"/>
              <a:t>i</a:t>
            </a:r>
            <a:r>
              <a:rPr lang="en-US" altLang="zh-CN" sz="2400" dirty="0"/>
              <a:t>++)</a:t>
            </a:r>
            <a:endParaRPr lang="zh-CN" altLang="zh-CN" sz="2400" dirty="0"/>
          </a:p>
          <a:p>
            <a:pPr marL="0" indent="0">
              <a:buNone/>
            </a:pPr>
            <a:r>
              <a:rPr lang="en-US" altLang="zh-CN" sz="2400" dirty="0"/>
              <a:t>        s[</a:t>
            </a:r>
            <a:r>
              <a:rPr lang="en-US" altLang="zh-CN" sz="2400" dirty="0" err="1"/>
              <a:t>i</a:t>
            </a:r>
            <a:r>
              <a:rPr lang="en-US" altLang="zh-CN" sz="2400" dirty="0"/>
              <a:t>] = </a:t>
            </a:r>
            <a:r>
              <a:rPr lang="en-US" altLang="zh-CN" sz="2400" dirty="0" err="1"/>
              <a:t>i</a:t>
            </a:r>
            <a:r>
              <a:rPr lang="en-US" altLang="zh-CN" sz="2400" dirty="0"/>
              <a:t>;</a:t>
            </a:r>
            <a:endParaRPr lang="zh-CN" altLang="zh-CN" sz="2400" dirty="0"/>
          </a:p>
          <a:p>
            <a:pPr marL="0" indent="0">
              <a:buNone/>
            </a:pPr>
            <a:r>
              <a:rPr lang="en-US" altLang="zh-CN" sz="2400" dirty="0"/>
              <a:t>}</a:t>
            </a:r>
          </a:p>
          <a:p>
            <a:pPr marL="0" indent="0">
              <a:buNone/>
            </a:pPr>
            <a:r>
              <a:rPr lang="en-US" altLang="zh-CN" sz="2400" dirty="0"/>
              <a:t>void </a:t>
            </a:r>
            <a:r>
              <a:rPr lang="en-US" altLang="zh-CN" sz="2400" dirty="0" err="1"/>
              <a:t>union_set</a:t>
            </a:r>
            <a:r>
              <a:rPr lang="en-US" altLang="zh-CN" sz="2400" dirty="0"/>
              <a:t>(int x, int y){    </a:t>
            </a:r>
            <a:r>
              <a:rPr lang="en-US" altLang="zh-CN" sz="2400" dirty="0">
                <a:solidFill>
                  <a:srgbClr val="FF0000"/>
                </a:solidFill>
              </a:rPr>
              <a:t>//</a:t>
            </a:r>
            <a:r>
              <a:rPr lang="zh-CN" altLang="en-US" sz="2400" dirty="0">
                <a:solidFill>
                  <a:srgbClr val="FF0000"/>
                </a:solidFill>
              </a:rPr>
              <a:t> </a:t>
            </a:r>
            <a:r>
              <a:rPr lang="en-US" altLang="zh-CN" sz="2400" dirty="0">
                <a:solidFill>
                  <a:srgbClr val="FF0000"/>
                </a:solidFill>
              </a:rPr>
              <a:t>merging</a:t>
            </a:r>
          </a:p>
          <a:p>
            <a:pPr marL="0" indent="0">
              <a:buNone/>
            </a:pPr>
            <a:r>
              <a:rPr lang="en-US" altLang="zh-CN" sz="2400" dirty="0"/>
              <a:t>    x = </a:t>
            </a:r>
            <a:r>
              <a:rPr lang="en-US" altLang="zh-CN" sz="2400" dirty="0" err="1"/>
              <a:t>find_set</a:t>
            </a:r>
            <a:r>
              <a:rPr lang="en-US" altLang="zh-CN" sz="2400" dirty="0"/>
              <a:t>(x);</a:t>
            </a:r>
            <a:endParaRPr lang="zh-CN" altLang="zh-CN" sz="2400" dirty="0"/>
          </a:p>
          <a:p>
            <a:pPr marL="0" indent="0">
              <a:buNone/>
            </a:pPr>
            <a:r>
              <a:rPr lang="en-US" altLang="zh-CN" sz="2400" dirty="0"/>
              <a:t>    y = </a:t>
            </a:r>
            <a:r>
              <a:rPr lang="en-US" altLang="zh-CN" sz="2400" dirty="0" err="1"/>
              <a:t>find_set</a:t>
            </a:r>
            <a:r>
              <a:rPr lang="en-US" altLang="zh-CN" sz="2400" dirty="0"/>
              <a:t>(y);</a:t>
            </a:r>
            <a:endParaRPr lang="zh-CN" altLang="zh-CN" sz="2400" dirty="0"/>
          </a:p>
          <a:p>
            <a:pPr marL="0" indent="0">
              <a:buNone/>
            </a:pPr>
            <a:r>
              <a:rPr lang="en-US" altLang="zh-CN" sz="2400" dirty="0"/>
              <a:t>    if(x != y) s[x] = s[y];  // or s[y] = s[x];</a:t>
            </a:r>
            <a:endParaRPr lang="zh-CN" altLang="zh-CN" sz="2400" dirty="0"/>
          </a:p>
          <a:p>
            <a:pPr marL="0" indent="0">
              <a:buNone/>
            </a:pPr>
            <a:r>
              <a:rPr lang="en-US" altLang="zh-CN" sz="2400" dirty="0"/>
              <a:t>}</a:t>
            </a:r>
          </a:p>
          <a:p>
            <a:pPr marL="0" indent="0">
              <a:buNone/>
            </a:pPr>
            <a:r>
              <a:rPr lang="en-US" altLang="zh-CN" sz="2400" dirty="0"/>
              <a:t>int </a:t>
            </a:r>
            <a:r>
              <a:rPr lang="en-US" altLang="zh-CN" sz="2400" dirty="0" err="1"/>
              <a:t>find_set</a:t>
            </a:r>
            <a:r>
              <a:rPr lang="en-US" altLang="zh-CN" sz="2400" dirty="0"/>
              <a:t>(int x){                  </a:t>
            </a:r>
            <a:r>
              <a:rPr lang="en-US" altLang="zh-CN" sz="2400" dirty="0">
                <a:solidFill>
                  <a:srgbClr val="FF0000"/>
                </a:solidFill>
              </a:rPr>
              <a:t>//</a:t>
            </a:r>
            <a:r>
              <a:rPr lang="zh-CN" altLang="en-US" sz="2400" dirty="0">
                <a:solidFill>
                  <a:srgbClr val="FF0000"/>
                </a:solidFill>
              </a:rPr>
              <a:t> </a:t>
            </a:r>
            <a:r>
              <a:rPr lang="en-US" altLang="zh-CN" sz="2400" dirty="0">
                <a:solidFill>
                  <a:srgbClr val="FF0000"/>
                </a:solidFill>
              </a:rPr>
              <a:t>finding</a:t>
            </a:r>
            <a:r>
              <a:rPr lang="zh-CN" altLang="en-US" sz="2400" dirty="0">
                <a:solidFill>
                  <a:srgbClr val="FF0000"/>
                </a:solidFill>
              </a:rPr>
              <a:t> </a:t>
            </a:r>
            <a:r>
              <a:rPr lang="en-US" altLang="zh-CN" sz="2400" dirty="0">
                <a:solidFill>
                  <a:srgbClr val="FF0000"/>
                </a:solidFill>
              </a:rPr>
              <a:t>recursively</a:t>
            </a:r>
            <a:endParaRPr lang="zh-CN" altLang="zh-CN" sz="2400" dirty="0"/>
          </a:p>
          <a:p>
            <a:pPr marL="0" indent="0">
              <a:buNone/>
            </a:pPr>
            <a:r>
              <a:rPr lang="en-US" altLang="zh-CN" sz="2400" dirty="0"/>
              <a:t>    return x==s[x]? x:find_set(s[x]);</a:t>
            </a:r>
            <a:endParaRPr lang="zh-CN" altLang="zh-CN" sz="2400" dirty="0"/>
          </a:p>
          <a:p>
            <a:pPr marL="0" indent="0">
              <a:buNone/>
            </a:pPr>
            <a:r>
              <a:rPr lang="en-US" altLang="zh-CN" sz="2400" dirty="0"/>
              <a:t>}</a:t>
            </a:r>
            <a:endParaRPr lang="zh-CN" altLang="zh-CN" sz="2400" dirty="0"/>
          </a:p>
          <a:p>
            <a:pPr marL="0" indent="0">
              <a:buNone/>
            </a:pPr>
            <a:endParaRPr lang="zh-CN" altLang="zh-CN" sz="2400" dirty="0"/>
          </a:p>
          <a:p>
            <a:pPr marL="0" indent="0">
              <a:buNone/>
            </a:pP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a:extLst>
              <a:ext uri="{FF2B5EF4-FFF2-40B4-BE49-F238E27FC236}">
                <a16:creationId xmlns:a16="http://schemas.microsoft.com/office/drawing/2014/main" id="{39A6ED5F-700E-4686-8145-3BE4B3ECFC37}"/>
              </a:ext>
            </a:extLst>
          </p:cNvPr>
          <p:cNvSpPr>
            <a:spLocks noGrp="1" noChangeArrowheads="1"/>
          </p:cNvSpPr>
          <p:nvPr>
            <p:ph type="title"/>
          </p:nvPr>
        </p:nvSpPr>
        <p:spPr>
          <a:xfrm>
            <a:off x="3359150" y="549275"/>
            <a:ext cx="6059488" cy="704850"/>
          </a:xfrm>
        </p:spPr>
        <p:txBody>
          <a:bodyPr/>
          <a:lstStyle/>
          <a:p>
            <a:r>
              <a:rPr lang="en-US" altLang="zh-CN" sz="4000">
                <a:solidFill>
                  <a:srgbClr val="0070C0"/>
                </a:solidFill>
              </a:rPr>
              <a:t>How</a:t>
            </a:r>
            <a:r>
              <a:rPr lang="zh-CN" altLang="en-US" sz="4000">
                <a:solidFill>
                  <a:srgbClr val="0070C0"/>
                </a:solidFill>
              </a:rPr>
              <a:t> </a:t>
            </a:r>
            <a:r>
              <a:rPr lang="en-US" altLang="zh-CN" sz="4000">
                <a:solidFill>
                  <a:srgbClr val="0070C0"/>
                </a:solidFill>
              </a:rPr>
              <a:t>many</a:t>
            </a:r>
            <a:r>
              <a:rPr lang="zh-CN" altLang="en-US" sz="4000">
                <a:solidFill>
                  <a:srgbClr val="0070C0"/>
                </a:solidFill>
              </a:rPr>
              <a:t> </a:t>
            </a:r>
            <a:r>
              <a:rPr lang="en-US" altLang="zh-CN" sz="4000">
                <a:solidFill>
                  <a:srgbClr val="0070C0"/>
                </a:solidFill>
              </a:rPr>
              <a:t>sets</a:t>
            </a:r>
            <a:r>
              <a:rPr lang="zh-CN" altLang="en-US" sz="4000">
                <a:solidFill>
                  <a:srgbClr val="0070C0"/>
                </a:solidFill>
              </a:rPr>
              <a:t> </a:t>
            </a:r>
            <a:r>
              <a:rPr lang="en-US" altLang="zh-CN" sz="4000">
                <a:solidFill>
                  <a:srgbClr val="0070C0"/>
                </a:solidFill>
              </a:rPr>
              <a:t>(gangs)?</a:t>
            </a:r>
            <a:endParaRPr lang="zh-CN" altLang="en-US" sz="4000">
              <a:solidFill>
                <a:srgbClr val="0070C0"/>
              </a:solidFill>
            </a:endParaRPr>
          </a:p>
        </p:txBody>
      </p:sp>
      <p:sp>
        <p:nvSpPr>
          <p:cNvPr id="29698" name="内容占位符 2">
            <a:extLst>
              <a:ext uri="{FF2B5EF4-FFF2-40B4-BE49-F238E27FC236}">
                <a16:creationId xmlns:a16="http://schemas.microsoft.com/office/drawing/2014/main" id="{468D29D2-69BB-4D9B-A70B-98A54257D656}"/>
              </a:ext>
            </a:extLst>
          </p:cNvPr>
          <p:cNvSpPr>
            <a:spLocks noGrp="1" noChangeArrowheads="1"/>
          </p:cNvSpPr>
          <p:nvPr>
            <p:ph idx="1"/>
          </p:nvPr>
        </p:nvSpPr>
        <p:spPr/>
        <p:txBody>
          <a:bodyPr/>
          <a:lstStyle/>
          <a:p>
            <a:r>
              <a:rPr lang="en-US" altLang="zh-CN" dirty="0"/>
              <a:t>“</a:t>
            </a:r>
            <a:r>
              <a:rPr lang="en-US" altLang="zh-CN" dirty="0">
                <a:solidFill>
                  <a:srgbClr val="FF0000"/>
                </a:solidFill>
              </a:rPr>
              <a:t>s[</a:t>
            </a:r>
            <a:r>
              <a:rPr lang="en-US" altLang="zh-CN" dirty="0" err="1">
                <a:solidFill>
                  <a:srgbClr val="FF0000"/>
                </a:solidFill>
              </a:rPr>
              <a:t>i</a:t>
            </a:r>
            <a:r>
              <a:rPr lang="en-US" altLang="zh-CN" dirty="0">
                <a:solidFill>
                  <a:srgbClr val="FF0000"/>
                </a:solidFill>
              </a:rPr>
              <a:t>] = </a:t>
            </a:r>
            <a:r>
              <a:rPr lang="en-US" altLang="zh-CN" dirty="0" err="1">
                <a:solidFill>
                  <a:srgbClr val="FF0000"/>
                </a:solidFill>
              </a:rPr>
              <a:t>i</a:t>
            </a:r>
            <a:r>
              <a:rPr lang="en-US" altLang="zh-CN" dirty="0"/>
              <a:t>” means </a:t>
            </a:r>
            <a:r>
              <a:rPr lang="en-US" altLang="zh-CN" dirty="0" err="1"/>
              <a:t>i</a:t>
            </a:r>
            <a:r>
              <a:rPr lang="en-US" altLang="zh-CN" dirty="0"/>
              <a:t> is a root node, and it is the representative member of the set including it (</a:t>
            </a:r>
            <a:r>
              <a:rPr lang="en-US" altLang="zh-CN" dirty="0">
                <a:solidFill>
                  <a:srgbClr val="0070C0"/>
                </a:solidFill>
              </a:rPr>
              <a:t>leader</a:t>
            </a:r>
            <a:r>
              <a:rPr lang="en-US" altLang="zh-CN" dirty="0"/>
              <a:t>);</a:t>
            </a:r>
          </a:p>
          <a:p>
            <a:r>
              <a:rPr lang="en-US" altLang="zh-CN" dirty="0">
                <a:solidFill>
                  <a:srgbClr val="FF0000"/>
                </a:solidFill>
              </a:rPr>
              <a:t>The number of root nodes is the number of sets.</a:t>
            </a:r>
            <a:endParaRPr lang="zh-CN" altLang="en-US" dirty="0">
              <a:solidFill>
                <a:srgbClr val="FF0000"/>
              </a:solidFill>
            </a:endParaRPr>
          </a:p>
        </p:txBody>
      </p:sp>
      <p:pic>
        <p:nvPicPr>
          <p:cNvPr id="29700" name="Picture 6" descr="https://timgsa.baidu.com/timg?image&amp;quality=80&amp;size=b9999_10000&amp;sec=1554127657617&amp;di=e2a4cef17f003bf45e19f3fda1ed688e&amp;imgtype=0&amp;src=http%3A%2F%2Fimg1.cxtuku.com%2F00%2F13%2F10%2Fs7168f93a6b4.jpg">
            <a:extLst>
              <a:ext uri="{FF2B5EF4-FFF2-40B4-BE49-F238E27FC236}">
                <a16:creationId xmlns:a16="http://schemas.microsoft.com/office/drawing/2014/main" id="{82897A76-D56D-4CED-B4AE-7458CCFD4B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2414" y="4208463"/>
            <a:ext cx="1527175"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2F0837D0-0A4D-49F3-8EF6-1416427C4180}"/>
              </a:ext>
            </a:extLst>
          </p:cNvPr>
          <p:cNvSpPr>
            <a:spLocks noGrp="1" noChangeArrowheads="1"/>
          </p:cNvSpPr>
          <p:nvPr>
            <p:ph type="title"/>
          </p:nvPr>
        </p:nvSpPr>
        <p:spPr>
          <a:xfrm>
            <a:off x="4367213" y="836614"/>
            <a:ext cx="3035300" cy="490537"/>
          </a:xfrm>
        </p:spPr>
        <p:txBody>
          <a:bodyPr>
            <a:normAutofit fontScale="90000"/>
          </a:bodyPr>
          <a:lstStyle/>
          <a:p>
            <a:r>
              <a:rPr lang="en-US" altLang="zh-CN" sz="4000">
                <a:solidFill>
                  <a:srgbClr val="0070C0"/>
                </a:solidFill>
              </a:rPr>
              <a:t>Complexity</a:t>
            </a:r>
            <a:endParaRPr lang="zh-CN" altLang="en-US" sz="4000">
              <a:solidFill>
                <a:srgbClr val="0070C0"/>
              </a:solidFill>
            </a:endParaRPr>
          </a:p>
        </p:txBody>
      </p:sp>
      <p:sp>
        <p:nvSpPr>
          <p:cNvPr id="30722" name="内容占位符 2">
            <a:extLst>
              <a:ext uri="{FF2B5EF4-FFF2-40B4-BE49-F238E27FC236}">
                <a16:creationId xmlns:a16="http://schemas.microsoft.com/office/drawing/2014/main" id="{530D4B2E-5609-4133-A55D-822DD72A1EF6}"/>
              </a:ext>
            </a:extLst>
          </p:cNvPr>
          <p:cNvSpPr>
            <a:spLocks noGrp="1" noChangeArrowheads="1"/>
          </p:cNvSpPr>
          <p:nvPr>
            <p:ph idx="1"/>
          </p:nvPr>
        </p:nvSpPr>
        <p:spPr>
          <a:xfrm>
            <a:off x="1981200" y="1600201"/>
            <a:ext cx="8229600" cy="3484563"/>
          </a:xfrm>
        </p:spPr>
        <p:txBody>
          <a:bodyPr/>
          <a:lstStyle/>
          <a:p>
            <a:r>
              <a:rPr lang="en-US" altLang="zh-CN" dirty="0" err="1"/>
              <a:t>union_set</a:t>
            </a:r>
            <a:r>
              <a:rPr lang="en-US" altLang="zh-CN" dirty="0"/>
              <a:t>() &amp; </a:t>
            </a:r>
            <a:r>
              <a:rPr lang="en-US" altLang="zh-CN" dirty="0" err="1"/>
              <a:t>find_set</a:t>
            </a:r>
            <a:r>
              <a:rPr lang="en-US" altLang="zh-CN" dirty="0"/>
              <a:t>(), the depth of the tree, </a:t>
            </a:r>
            <a:r>
              <a:rPr lang="en-US" altLang="zh-CN" dirty="0">
                <a:solidFill>
                  <a:srgbClr val="FF0000"/>
                </a:solidFill>
              </a:rPr>
              <a:t>O(n)</a:t>
            </a:r>
          </a:p>
          <a:p>
            <a:endParaRPr lang="en-US" altLang="zh-CN" dirty="0">
              <a:solidFill>
                <a:srgbClr val="FF0000"/>
              </a:solidFill>
            </a:endParaRPr>
          </a:p>
          <a:p>
            <a:r>
              <a:rPr lang="en-US" altLang="zh-CN" dirty="0">
                <a:solidFill>
                  <a:srgbClr val="FF0000"/>
                </a:solidFill>
              </a:rPr>
              <a:t>Poor</a:t>
            </a:r>
            <a:r>
              <a:rPr lang="en-US" altLang="zh-CN" dirty="0"/>
              <a:t> performance</a:t>
            </a:r>
          </a:p>
          <a:p>
            <a:endParaRPr lang="en-US" altLang="zh-CN" dirty="0"/>
          </a:p>
          <a:p>
            <a:r>
              <a:rPr lang="en-US" altLang="zh-CN" dirty="0"/>
              <a:t>Optimization?</a:t>
            </a:r>
          </a:p>
          <a:p>
            <a:pPr lvl="1"/>
            <a:r>
              <a:rPr lang="en-US" altLang="zh-CN" dirty="0">
                <a:solidFill>
                  <a:srgbClr val="FF0000"/>
                </a:solidFill>
              </a:rPr>
              <a:t>&lt;=O(</a:t>
            </a:r>
            <a:r>
              <a:rPr lang="en-US" altLang="zh-CN" dirty="0" err="1">
                <a:solidFill>
                  <a:srgbClr val="FF0000"/>
                </a:solidFill>
              </a:rPr>
              <a:t>logn</a:t>
            </a:r>
            <a:r>
              <a:rPr lang="en-US" altLang="zh-CN" dirty="0">
                <a:solidFill>
                  <a:srgbClr val="FF0000"/>
                </a:solidFill>
              </a:rPr>
              <a:t>)</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AD69A7A9-EBAE-401E-B953-7C8C6202AE78}"/>
              </a:ext>
            </a:extLst>
          </p:cNvPr>
          <p:cNvSpPr>
            <a:spLocks noGrp="1" noChangeArrowheads="1"/>
          </p:cNvSpPr>
          <p:nvPr>
            <p:ph type="title"/>
          </p:nvPr>
        </p:nvSpPr>
        <p:spPr>
          <a:xfrm>
            <a:off x="3403540" y="452037"/>
            <a:ext cx="4968875" cy="633412"/>
          </a:xfrm>
        </p:spPr>
        <p:txBody>
          <a:bodyPr/>
          <a:lstStyle/>
          <a:p>
            <a:r>
              <a:rPr lang="en-US" altLang="zh-CN" sz="3600">
                <a:solidFill>
                  <a:srgbClr val="0070C0"/>
                </a:solidFill>
              </a:rPr>
              <a:t>Optimization of Merging</a:t>
            </a:r>
            <a:endParaRPr lang="zh-CN" altLang="en-US" sz="3600">
              <a:solidFill>
                <a:srgbClr val="0070C0"/>
              </a:solidFill>
            </a:endParaRPr>
          </a:p>
        </p:txBody>
      </p:sp>
      <p:sp>
        <p:nvSpPr>
          <p:cNvPr id="31747" name="内容占位符 2">
            <a:extLst>
              <a:ext uri="{FF2B5EF4-FFF2-40B4-BE49-F238E27FC236}">
                <a16:creationId xmlns:a16="http://schemas.microsoft.com/office/drawing/2014/main" id="{BAFE963A-C885-4E58-A7B4-DC3A93047BDA}"/>
              </a:ext>
            </a:extLst>
          </p:cNvPr>
          <p:cNvSpPr>
            <a:spLocks noGrp="1" noChangeArrowheads="1"/>
          </p:cNvSpPr>
          <p:nvPr>
            <p:ph idx="1"/>
          </p:nvPr>
        </p:nvSpPr>
        <p:spPr>
          <a:xfrm>
            <a:off x="1981200" y="1254125"/>
            <a:ext cx="8229600" cy="1533463"/>
          </a:xfrm>
        </p:spPr>
        <p:txBody>
          <a:bodyPr>
            <a:normAutofit/>
          </a:bodyPr>
          <a:lstStyle/>
          <a:p>
            <a:r>
              <a:rPr lang="en-US" altLang="zh-CN"/>
              <a:t>When merging x and y, find their roots first;</a:t>
            </a:r>
          </a:p>
          <a:p>
            <a:r>
              <a:rPr lang="en-US" altLang="zh-CN"/>
              <a:t>Merge the lower tree to the higher tree according to their heights.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内容占位符 2">
            <a:extLst>
              <a:ext uri="{FF2B5EF4-FFF2-40B4-BE49-F238E27FC236}">
                <a16:creationId xmlns:a16="http://schemas.microsoft.com/office/drawing/2014/main" id="{6A753356-0A0B-49A1-B9E8-8754964D1452}"/>
              </a:ext>
            </a:extLst>
          </p:cNvPr>
          <p:cNvSpPr>
            <a:spLocks noGrp="1" noChangeArrowheads="1"/>
          </p:cNvSpPr>
          <p:nvPr>
            <p:ph idx="1"/>
          </p:nvPr>
        </p:nvSpPr>
        <p:spPr>
          <a:xfrm>
            <a:off x="1981200" y="260351"/>
            <a:ext cx="8229600" cy="6048375"/>
          </a:xfrm>
        </p:spPr>
        <p:txBody>
          <a:bodyPr>
            <a:normAutofit fontScale="85000" lnSpcReduction="20000"/>
          </a:bodyPr>
          <a:lstStyle/>
          <a:p>
            <a:pPr marL="0" indent="0">
              <a:buNone/>
            </a:pPr>
            <a:r>
              <a:rPr lang="en-US" altLang="zh-CN" sz="1800">
                <a:latin typeface="Courier New" panose="02070309020205020404" pitchFamily="49" charset="0"/>
              </a:rPr>
              <a:t>int height[maxn];         // </a:t>
            </a:r>
            <a:r>
              <a:rPr lang="en-US" altLang="zh-CN" sz="1800">
                <a:solidFill>
                  <a:srgbClr val="FF0000"/>
                </a:solidFill>
                <a:latin typeface="Courier New" panose="02070309020205020404" pitchFamily="49" charset="0"/>
              </a:rPr>
              <a:t>height[i], the height of i</a:t>
            </a:r>
            <a:endParaRPr lang="zh-CN" altLang="zh-CN" sz="1800">
              <a:solidFill>
                <a:srgbClr val="FF0000"/>
              </a:solidFill>
              <a:latin typeface="Courier New" panose="02070309020205020404" pitchFamily="49" charset="0"/>
            </a:endParaRPr>
          </a:p>
          <a:p>
            <a:pPr marL="0" indent="0">
              <a:buNone/>
            </a:pPr>
            <a:r>
              <a:rPr lang="en-US" altLang="zh-CN" sz="1800">
                <a:latin typeface="Courier New" panose="02070309020205020404" pitchFamily="49" charset="0"/>
              </a:rPr>
              <a:t>void init_set(){   </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for(int i = 1; i &lt;= maxn; i++){</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s[i] = i;</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height[i]=0;       //</a:t>
            </a:r>
            <a:r>
              <a:rPr lang="zh-CN" altLang="en-US" sz="1800">
                <a:solidFill>
                  <a:srgbClr val="FF0000"/>
                </a:solidFill>
                <a:latin typeface="Courier New" panose="02070309020205020404" pitchFamily="49" charset="0"/>
              </a:rPr>
              <a:t> </a:t>
            </a:r>
            <a:r>
              <a:rPr lang="en-US" altLang="zh-CN" sz="1800">
                <a:solidFill>
                  <a:srgbClr val="FF0000"/>
                </a:solidFill>
                <a:latin typeface="Courier New" panose="02070309020205020404" pitchFamily="49" charset="0"/>
              </a:rPr>
              <a:t>initialize</a:t>
            </a:r>
            <a:r>
              <a:rPr lang="zh-CN" altLang="en-US" sz="1800">
                <a:solidFill>
                  <a:srgbClr val="FF0000"/>
                </a:solidFill>
                <a:latin typeface="Courier New" panose="02070309020205020404" pitchFamily="49" charset="0"/>
              </a:rPr>
              <a:t> </a:t>
            </a:r>
            <a:r>
              <a:rPr lang="en-US" altLang="zh-CN" sz="1800">
                <a:solidFill>
                  <a:srgbClr val="FF0000"/>
                </a:solidFill>
                <a:latin typeface="Courier New" panose="02070309020205020404" pitchFamily="49" charset="0"/>
              </a:rPr>
              <a:t>heights</a:t>
            </a:r>
            <a:endParaRPr lang="zh-CN" altLang="zh-CN" sz="1800">
              <a:latin typeface="Courier New" panose="02070309020205020404" pitchFamily="49" charset="0"/>
            </a:endParaRPr>
          </a:p>
          <a:p>
            <a:pPr marL="0" indent="0">
              <a:buNone/>
            </a:pPr>
            <a:r>
              <a:rPr lang="en-US" altLang="zh-CN" sz="1400">
                <a:latin typeface="Courier New" panose="02070309020205020404" pitchFamily="49" charset="0"/>
              </a:rPr>
              <a:t>   }</a:t>
            </a:r>
            <a:endParaRPr lang="zh-CN" altLang="zh-CN" sz="1400">
              <a:latin typeface="Courier New" panose="02070309020205020404" pitchFamily="49" charset="0"/>
            </a:endParaRPr>
          </a:p>
          <a:p>
            <a:pPr marL="0" indent="0">
              <a:buNone/>
            </a:pPr>
            <a:r>
              <a:rPr lang="en-US" altLang="zh-CN" sz="1400">
                <a:latin typeface="Courier New" panose="02070309020205020404" pitchFamily="49" charset="0"/>
              </a:rPr>
              <a:t>}</a:t>
            </a:r>
            <a:endParaRPr lang="zh-CN" altLang="zh-CN" sz="1400">
              <a:latin typeface="Courier New" panose="02070309020205020404" pitchFamily="49" charset="0"/>
            </a:endParaRPr>
          </a:p>
          <a:p>
            <a:pPr marL="0" indent="0">
              <a:buNone/>
            </a:pPr>
            <a:r>
              <a:rPr lang="en-US" altLang="zh-CN" sz="1800">
                <a:latin typeface="Courier New" panose="02070309020205020404" pitchFamily="49" charset="0"/>
              </a:rPr>
              <a:t>void union_set(int x, int y){    //</a:t>
            </a:r>
            <a:r>
              <a:rPr lang="en-US" altLang="zh-CN" sz="1800">
                <a:solidFill>
                  <a:srgbClr val="FF0000"/>
                </a:solidFill>
                <a:latin typeface="Courier New" panose="02070309020205020404" pitchFamily="49" charset="0"/>
              </a:rPr>
              <a:t> optimize merging</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x = find_set(x);</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y = find_set(y);</a:t>
            </a:r>
          </a:p>
          <a:p>
            <a:pPr marL="0" indent="0">
              <a:buNone/>
            </a:pPr>
            <a:r>
              <a:rPr lang="en-US" altLang="zh-CN" sz="1800">
                <a:latin typeface="Courier New" panose="02070309020205020404" pitchFamily="49" charset="0"/>
              </a:rPr>
              <a:t>    if(x==y) return;</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if (height[x] == height[y]) {</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height[x] = height[x] + 1;  // </a:t>
            </a:r>
            <a:r>
              <a:rPr lang="en-US" altLang="zh-CN" sz="1800">
                <a:solidFill>
                  <a:srgbClr val="FF0000"/>
                </a:solidFill>
                <a:latin typeface="Courier New" panose="02070309020205020404" pitchFamily="49" charset="0"/>
              </a:rPr>
              <a:t>merge, height+1</a:t>
            </a:r>
            <a:endParaRPr lang="zh-CN" altLang="zh-CN" sz="1800">
              <a:solidFill>
                <a:srgbClr val="FF0000"/>
              </a:solidFill>
              <a:latin typeface="Courier New" panose="02070309020205020404" pitchFamily="49" charset="0"/>
            </a:endParaRPr>
          </a:p>
          <a:p>
            <a:pPr marL="0" indent="0">
              <a:buNone/>
            </a:pPr>
            <a:r>
              <a:rPr lang="en-US" altLang="zh-CN" sz="1800">
                <a:latin typeface="Courier New" panose="02070309020205020404" pitchFamily="49" charset="0"/>
              </a:rPr>
              <a:t>        s[y] = x;       </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else{ // </a:t>
            </a:r>
            <a:r>
              <a:rPr lang="en-US" altLang="zh-CN" sz="1800">
                <a:solidFill>
                  <a:srgbClr val="FF0000"/>
                </a:solidFill>
                <a:latin typeface="Courier New" panose="02070309020205020404" pitchFamily="49" charset="0"/>
              </a:rPr>
              <a:t>merge the lower tree to the higher tree; the </a:t>
            </a:r>
          </a:p>
          <a:p>
            <a:pPr marL="0" indent="0">
              <a:buNone/>
            </a:pPr>
            <a:r>
              <a:rPr lang="en-US" altLang="zh-CN" sz="1800">
                <a:latin typeface="Courier New" panose="02070309020205020404" pitchFamily="49" charset="0"/>
              </a:rPr>
              <a:t>//</a:t>
            </a:r>
            <a:r>
              <a:rPr lang="en-US" altLang="zh-CN" sz="1800">
                <a:solidFill>
                  <a:srgbClr val="FF0000"/>
                </a:solidFill>
                <a:latin typeface="Courier New" panose="02070309020205020404" pitchFamily="49" charset="0"/>
              </a:rPr>
              <a:t> height of the higher tree doesn’t change</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if (height[x] &lt; height[y])  s[x] = y;</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else   s[y] = x;</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    }</a:t>
            </a:r>
            <a:endParaRPr lang="zh-CN" altLang="zh-CN" sz="1800">
              <a:latin typeface="Courier New" panose="02070309020205020404" pitchFamily="49" charset="0"/>
            </a:endParaRPr>
          </a:p>
          <a:p>
            <a:pPr marL="0" indent="0">
              <a:buNone/>
            </a:pPr>
            <a:r>
              <a:rPr lang="en-US" altLang="zh-CN" sz="1800">
                <a:latin typeface="Courier New" panose="02070309020205020404" pitchFamily="49" charset="0"/>
              </a:rPr>
              <a:t>}</a:t>
            </a:r>
            <a:endParaRPr lang="zh-CN" altLang="zh-CN" sz="1800">
              <a:latin typeface="Courier New" panose="02070309020205020404" pitchFamily="49" charset="0"/>
            </a:endParaRPr>
          </a:p>
          <a:p>
            <a:pPr marL="0" indent="0">
              <a:buNone/>
            </a:pPr>
            <a:endParaRPr lang="zh-CN" altLang="en-US" sz="1800">
              <a:latin typeface="Courier New" panose="02070309020205020404" pitchFamily="49" charset="0"/>
              <a:cs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a:extLst>
              <a:ext uri="{FF2B5EF4-FFF2-40B4-BE49-F238E27FC236}">
                <a16:creationId xmlns:a16="http://schemas.microsoft.com/office/drawing/2014/main" id="{A560CB88-7308-411A-92EE-D25A63987D31}"/>
              </a:ext>
            </a:extLst>
          </p:cNvPr>
          <p:cNvSpPr>
            <a:spLocks noGrp="1" noChangeArrowheads="1"/>
          </p:cNvSpPr>
          <p:nvPr>
            <p:ph type="title"/>
          </p:nvPr>
        </p:nvSpPr>
        <p:spPr>
          <a:xfrm>
            <a:off x="2063381" y="254124"/>
            <a:ext cx="7613650" cy="777875"/>
          </a:xfrm>
        </p:spPr>
        <p:txBody>
          <a:bodyPr>
            <a:normAutofit fontScale="90000"/>
          </a:bodyPr>
          <a:lstStyle/>
          <a:p>
            <a:r>
              <a:rPr lang="en-US" altLang="zh-CN" sz="3600">
                <a:solidFill>
                  <a:srgbClr val="0070C0"/>
                </a:solidFill>
              </a:rPr>
              <a:t>Optimization of finding--Path compression</a:t>
            </a:r>
            <a:endParaRPr lang="zh-CN" altLang="en-US" sz="3600">
              <a:solidFill>
                <a:srgbClr val="0070C0"/>
              </a:solidFill>
            </a:endParaRPr>
          </a:p>
        </p:txBody>
      </p:sp>
      <p:sp>
        <p:nvSpPr>
          <p:cNvPr id="33794" name="内容占位符 2">
            <a:extLst>
              <a:ext uri="{FF2B5EF4-FFF2-40B4-BE49-F238E27FC236}">
                <a16:creationId xmlns:a16="http://schemas.microsoft.com/office/drawing/2014/main" id="{1612C858-F83D-41ED-8428-0845F2164939}"/>
              </a:ext>
            </a:extLst>
          </p:cNvPr>
          <p:cNvSpPr>
            <a:spLocks noGrp="1" noChangeArrowheads="1"/>
          </p:cNvSpPr>
          <p:nvPr>
            <p:ph idx="1"/>
          </p:nvPr>
        </p:nvSpPr>
        <p:spPr>
          <a:xfrm>
            <a:off x="2298700" y="1268414"/>
            <a:ext cx="7613650" cy="2008187"/>
          </a:xfrm>
        </p:spPr>
        <p:txBody>
          <a:bodyPr>
            <a:normAutofit fontScale="92500" lnSpcReduction="10000"/>
          </a:bodyPr>
          <a:lstStyle/>
          <a:p>
            <a:r>
              <a:rPr lang="en-US" altLang="zh-CN" dirty="0" err="1"/>
              <a:t>find_set</a:t>
            </a:r>
            <a:r>
              <a:rPr lang="en-US" altLang="zh-CN" dirty="0"/>
              <a:t>():</a:t>
            </a:r>
            <a:r>
              <a:rPr lang="zh-CN" altLang="en-US" dirty="0"/>
              <a:t> </a:t>
            </a:r>
            <a:r>
              <a:rPr lang="en-US" altLang="zh-CN" dirty="0"/>
              <a:t>Find the root node along the path, which may be very long.  </a:t>
            </a:r>
            <a:r>
              <a:rPr lang="en-US" altLang="zh-CN" dirty="0">
                <a:solidFill>
                  <a:srgbClr val="0000FF"/>
                </a:solidFill>
              </a:rPr>
              <a:t>TLE</a:t>
            </a:r>
          </a:p>
          <a:p>
            <a:r>
              <a:rPr lang="en-US" altLang="zh-CN" dirty="0">
                <a:solidFill>
                  <a:srgbClr val="FF0000"/>
                </a:solidFill>
              </a:rPr>
              <a:t>Optimization: </a:t>
            </a:r>
            <a:r>
              <a:rPr lang="en-US" altLang="zh-CN" dirty="0"/>
              <a:t>When returning along the path, change the values to the root node. </a:t>
            </a:r>
          </a:p>
          <a:p>
            <a:r>
              <a:rPr lang="en-US" altLang="zh-CN" dirty="0"/>
              <a:t>When finding next time, the complexity is O(1).</a:t>
            </a:r>
            <a:endParaRPr lang="zh-CN" altLang="en-US" dirty="0"/>
          </a:p>
        </p:txBody>
      </p:sp>
      <p:graphicFrame>
        <p:nvGraphicFramePr>
          <p:cNvPr id="33796" name="对象 5">
            <a:extLst>
              <a:ext uri="{FF2B5EF4-FFF2-40B4-BE49-F238E27FC236}">
                <a16:creationId xmlns:a16="http://schemas.microsoft.com/office/drawing/2014/main" id="{3FEF040F-D5BA-4D78-9700-DB37D254EBFC}"/>
              </a:ext>
            </a:extLst>
          </p:cNvPr>
          <p:cNvGraphicFramePr>
            <a:graphicFrameLocks noChangeAspect="1"/>
          </p:cNvGraphicFramePr>
          <p:nvPr>
            <p:extLst>
              <p:ext uri="{D42A27DB-BD31-4B8C-83A1-F6EECF244321}">
                <p14:modId xmlns:p14="http://schemas.microsoft.com/office/powerpoint/2010/main" val="2207485"/>
              </p:ext>
            </p:extLst>
          </p:nvPr>
        </p:nvGraphicFramePr>
        <p:xfrm>
          <a:off x="3475831" y="4086101"/>
          <a:ext cx="5259387" cy="2517775"/>
        </p:xfrm>
        <a:graphic>
          <a:graphicData uri="http://schemas.openxmlformats.org/presentationml/2006/ole">
            <mc:AlternateContent xmlns:mc="http://schemas.openxmlformats.org/markup-compatibility/2006">
              <mc:Choice xmlns:v="urn:schemas-microsoft-com:vml" Requires="v">
                <p:oleObj spid="_x0000_s5146" r:id="rId3" imgW="3304800" imgH="1530720" progId="Visio.Drawing.11">
                  <p:embed/>
                </p:oleObj>
              </mc:Choice>
              <mc:Fallback>
                <p:oleObj r:id="rId3" imgW="3304800" imgH="1530720" progId="Visio.Drawing.11">
                  <p:embed/>
                  <p:pic>
                    <p:nvPicPr>
                      <p:cNvPr id="33796" name="对象 5">
                        <a:extLst>
                          <a:ext uri="{FF2B5EF4-FFF2-40B4-BE49-F238E27FC236}">
                            <a16:creationId xmlns:a16="http://schemas.microsoft.com/office/drawing/2014/main" id="{3FEF040F-D5BA-4D78-9700-DB37D254EB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5831" y="4086101"/>
                        <a:ext cx="5259387"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内容占位符 2">
            <a:extLst>
              <a:ext uri="{FF2B5EF4-FFF2-40B4-BE49-F238E27FC236}">
                <a16:creationId xmlns:a16="http://schemas.microsoft.com/office/drawing/2014/main" id="{98A27EEB-8E60-43C5-BBB7-2CB15E39E964}"/>
              </a:ext>
            </a:extLst>
          </p:cNvPr>
          <p:cNvSpPr>
            <a:spLocks noGrp="1" noChangeArrowheads="1"/>
          </p:cNvSpPr>
          <p:nvPr>
            <p:ph idx="1"/>
          </p:nvPr>
        </p:nvSpPr>
        <p:spPr>
          <a:xfrm>
            <a:off x="2019301" y="1174750"/>
            <a:ext cx="8507413" cy="2254250"/>
          </a:xfrm>
        </p:spPr>
        <p:txBody>
          <a:bodyPr>
            <a:normAutofit fontScale="92500"/>
          </a:bodyPr>
          <a:lstStyle/>
          <a:p>
            <a:pPr marL="0" indent="0">
              <a:buNone/>
            </a:pPr>
            <a:r>
              <a:rPr lang="en-US" altLang="zh-CN" sz="2400">
                <a:latin typeface="Courier New" panose="02070309020205020404" pitchFamily="49" charset="0"/>
              </a:rPr>
              <a:t>int find_set(int x){</a:t>
            </a:r>
            <a:endParaRPr lang="zh-CN" altLang="zh-CN" sz="2400">
              <a:latin typeface="Courier New" panose="02070309020205020404" pitchFamily="49" charset="0"/>
            </a:endParaRPr>
          </a:p>
          <a:p>
            <a:pPr marL="0" indent="0">
              <a:buNone/>
            </a:pPr>
            <a:r>
              <a:rPr lang="en-US" altLang="zh-CN" sz="2400">
                <a:latin typeface="Courier New" panose="02070309020205020404" pitchFamily="49" charset="0"/>
              </a:rPr>
              <a:t>    if(x != s[x]) </a:t>
            </a:r>
            <a:endParaRPr lang="zh-CN" altLang="zh-CN" sz="2400">
              <a:latin typeface="Courier New" panose="02070309020205020404" pitchFamily="49" charset="0"/>
            </a:endParaRPr>
          </a:p>
          <a:p>
            <a:pPr marL="0" indent="0">
              <a:buNone/>
            </a:pPr>
            <a:r>
              <a:rPr lang="en-US" altLang="zh-CN" sz="2400">
                <a:latin typeface="Courier New" panose="02070309020205020404" pitchFamily="49" charset="0"/>
              </a:rPr>
              <a:t>	  s[x] = find_set(s[x]); </a:t>
            </a:r>
            <a:r>
              <a:rPr lang="en-US" altLang="zh-CN" sz="2400">
                <a:solidFill>
                  <a:srgbClr val="FF0000"/>
                </a:solidFill>
                <a:latin typeface="Courier New" panose="02070309020205020404" pitchFamily="49" charset="0"/>
              </a:rPr>
              <a:t>//path compression</a:t>
            </a:r>
            <a:endParaRPr lang="zh-CN" altLang="zh-CN" sz="2400">
              <a:solidFill>
                <a:srgbClr val="FF0000"/>
              </a:solidFill>
              <a:latin typeface="Courier New" panose="02070309020205020404" pitchFamily="49" charset="0"/>
            </a:endParaRPr>
          </a:p>
          <a:p>
            <a:pPr marL="0" indent="0">
              <a:buNone/>
            </a:pPr>
            <a:r>
              <a:rPr lang="en-US" altLang="zh-CN" sz="2400">
                <a:latin typeface="Courier New" panose="02070309020205020404" pitchFamily="49" charset="0"/>
              </a:rPr>
              <a:t>    return s[x];</a:t>
            </a:r>
            <a:endParaRPr lang="zh-CN" altLang="zh-CN" sz="2400">
              <a:latin typeface="Courier New" panose="02070309020205020404" pitchFamily="49" charset="0"/>
            </a:endParaRPr>
          </a:p>
          <a:p>
            <a:pPr marL="0" indent="0">
              <a:buNone/>
            </a:pPr>
            <a:r>
              <a:rPr lang="en-US" altLang="zh-CN" sz="2400">
                <a:latin typeface="Courier New" panose="02070309020205020404" pitchFamily="49" charset="0"/>
              </a:rPr>
              <a:t>}</a:t>
            </a:r>
            <a:endParaRPr lang="zh-CN" altLang="zh-CN" sz="2400">
              <a:latin typeface="Courier New" panose="02070309020205020404" pitchFamily="49" charset="0"/>
            </a:endParaRPr>
          </a:p>
          <a:p>
            <a:pPr marL="0" indent="0">
              <a:buNone/>
            </a:pPr>
            <a:endParaRPr lang="zh-CN" altLang="en-US" sz="2400">
              <a:latin typeface="Courier New" panose="02070309020205020404" pitchFamily="49" charset="0"/>
              <a:cs typeface="Courier New" panose="02070309020205020404" pitchFamily="49" charset="0"/>
            </a:endParaRPr>
          </a:p>
        </p:txBody>
      </p:sp>
      <p:sp>
        <p:nvSpPr>
          <p:cNvPr id="34819" name="内容占位符 2">
            <a:extLst>
              <a:ext uri="{FF2B5EF4-FFF2-40B4-BE49-F238E27FC236}">
                <a16:creationId xmlns:a16="http://schemas.microsoft.com/office/drawing/2014/main" id="{5C7DEA17-3EB5-4AFD-BD56-43A4D496F841}"/>
              </a:ext>
            </a:extLst>
          </p:cNvPr>
          <p:cNvSpPr txBox="1">
            <a:spLocks noChangeArrowheads="1"/>
          </p:cNvSpPr>
          <p:nvPr/>
        </p:nvSpPr>
        <p:spPr bwMode="auto">
          <a:xfrm>
            <a:off x="2019301" y="4075802"/>
            <a:ext cx="8229600" cy="1607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en-US" altLang="zh-CN" sz="2400" dirty="0"/>
              <a:t>Path compression </a:t>
            </a:r>
            <a:r>
              <a:rPr lang="en-US" altLang="zh-CN" sz="2400" dirty="0">
                <a:solidFill>
                  <a:srgbClr val="FF0000"/>
                </a:solidFill>
              </a:rPr>
              <a:t>not only </a:t>
            </a:r>
            <a:r>
              <a:rPr lang="en-US" altLang="zh-CN" sz="2400" dirty="0"/>
              <a:t>optimizes the finding, </a:t>
            </a:r>
            <a:r>
              <a:rPr lang="en-US" altLang="zh-CN" sz="2400" dirty="0">
                <a:solidFill>
                  <a:srgbClr val="FF0000"/>
                </a:solidFill>
              </a:rPr>
              <a:t>but also </a:t>
            </a:r>
            <a:r>
              <a:rPr lang="en-US" altLang="zh-CN" sz="2400" dirty="0"/>
              <a:t>optimizes the merging, because finding is used when merging.</a:t>
            </a:r>
            <a:endParaRPr lang="zh-CN" altLang="en-US" sz="2400" dirty="0"/>
          </a:p>
        </p:txBody>
      </p:sp>
      <p:sp>
        <p:nvSpPr>
          <p:cNvPr id="34820" name="标题 1">
            <a:extLst>
              <a:ext uri="{FF2B5EF4-FFF2-40B4-BE49-F238E27FC236}">
                <a16:creationId xmlns:a16="http://schemas.microsoft.com/office/drawing/2014/main" id="{2C669D57-B1EC-4057-AB2F-8DB9E98B8709}"/>
              </a:ext>
            </a:extLst>
          </p:cNvPr>
          <p:cNvSpPr>
            <a:spLocks noGrp="1" noChangeArrowheads="1"/>
          </p:cNvSpPr>
          <p:nvPr>
            <p:ph type="title"/>
          </p:nvPr>
        </p:nvSpPr>
        <p:spPr>
          <a:xfrm>
            <a:off x="3071814" y="476251"/>
            <a:ext cx="5761037" cy="542925"/>
          </a:xfrm>
        </p:spPr>
        <p:txBody>
          <a:bodyPr/>
          <a:lstStyle/>
          <a:p>
            <a:r>
              <a:rPr lang="en-US" altLang="zh-CN" sz="3200">
                <a:solidFill>
                  <a:srgbClr val="0070C0"/>
                </a:solidFill>
              </a:rPr>
              <a:t>Path compression (recursively)</a:t>
            </a:r>
            <a:endParaRPr lang="zh-CN" altLang="en-US" sz="3200">
              <a:solidFill>
                <a:srgbClr val="0070C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内容占位符 2">
            <a:extLst>
              <a:ext uri="{FF2B5EF4-FFF2-40B4-BE49-F238E27FC236}">
                <a16:creationId xmlns:a16="http://schemas.microsoft.com/office/drawing/2014/main" id="{5C8B43C8-30EB-4674-A4D6-757A1B327792}"/>
              </a:ext>
            </a:extLst>
          </p:cNvPr>
          <p:cNvSpPr>
            <a:spLocks noGrp="1" noChangeArrowheads="1"/>
          </p:cNvSpPr>
          <p:nvPr>
            <p:ph idx="1"/>
          </p:nvPr>
        </p:nvSpPr>
        <p:spPr>
          <a:xfrm>
            <a:off x="1914526" y="1196976"/>
            <a:ext cx="7350125" cy="4752975"/>
          </a:xfrm>
        </p:spPr>
        <p:txBody>
          <a:bodyPr>
            <a:normAutofit fontScale="92500" lnSpcReduction="10000"/>
          </a:bodyPr>
          <a:lstStyle/>
          <a:p>
            <a:pPr marL="0" indent="0">
              <a:buNone/>
            </a:pPr>
            <a:r>
              <a:rPr lang="en-US" altLang="zh-CN" sz="2400">
                <a:solidFill>
                  <a:srgbClr val="FF0000"/>
                </a:solidFill>
              </a:rPr>
              <a:t>To avoid stack overflow (for huge data size):</a:t>
            </a:r>
          </a:p>
          <a:p>
            <a:pPr marL="0" indent="0">
              <a:buNone/>
            </a:pPr>
            <a:endParaRPr lang="en-US" altLang="zh-CN" sz="2400"/>
          </a:p>
          <a:p>
            <a:pPr marL="0" indent="0">
              <a:buNone/>
            </a:pPr>
            <a:r>
              <a:rPr lang="en-US" altLang="zh-CN" sz="2000">
                <a:latin typeface="Courier New" panose="02070309020205020404" pitchFamily="49" charset="0"/>
              </a:rPr>
              <a:t>int find_set(int x){</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int r = x;</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while ( s[r] != r ) r=s[r];//finding the root</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int i = x, j;</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while(i != r){   </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j = s[i];</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s[i]= r ; // change to the root</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i = j;</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    return r;</a:t>
            </a:r>
            <a:endParaRPr lang="zh-CN" altLang="zh-CN" sz="2000">
              <a:latin typeface="Courier New" panose="02070309020205020404" pitchFamily="49" charset="0"/>
            </a:endParaRPr>
          </a:p>
          <a:p>
            <a:pPr marL="0" indent="0">
              <a:buNone/>
            </a:pPr>
            <a:r>
              <a:rPr lang="en-US" altLang="zh-CN" sz="2000">
                <a:latin typeface="Courier New" panose="02070309020205020404" pitchFamily="49" charset="0"/>
              </a:rPr>
              <a:t>}</a:t>
            </a:r>
            <a:endParaRPr lang="zh-CN" altLang="en-US" sz="2000"/>
          </a:p>
        </p:txBody>
      </p:sp>
      <p:sp>
        <p:nvSpPr>
          <p:cNvPr id="35843" name="标题 1">
            <a:extLst>
              <a:ext uri="{FF2B5EF4-FFF2-40B4-BE49-F238E27FC236}">
                <a16:creationId xmlns:a16="http://schemas.microsoft.com/office/drawing/2014/main" id="{8B8B4B36-1707-4C17-9364-96A5FAFF9B65}"/>
              </a:ext>
            </a:extLst>
          </p:cNvPr>
          <p:cNvSpPr>
            <a:spLocks noGrp="1" noChangeArrowheads="1"/>
          </p:cNvSpPr>
          <p:nvPr>
            <p:ph type="title"/>
          </p:nvPr>
        </p:nvSpPr>
        <p:spPr>
          <a:xfrm>
            <a:off x="2927350" y="438151"/>
            <a:ext cx="5761038" cy="542925"/>
          </a:xfrm>
        </p:spPr>
        <p:txBody>
          <a:bodyPr/>
          <a:lstStyle/>
          <a:p>
            <a:r>
              <a:rPr lang="en-US" altLang="zh-CN" sz="3200">
                <a:solidFill>
                  <a:srgbClr val="0070C0"/>
                </a:solidFill>
              </a:rPr>
              <a:t>Path compression (iteratively)</a:t>
            </a:r>
            <a:endParaRPr lang="zh-CN" altLang="en-US" sz="3200">
              <a:solidFill>
                <a:srgbClr val="0070C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150AA1-01F7-4300-9E52-081715E2D7C3}"/>
              </a:ext>
            </a:extLst>
          </p:cNvPr>
          <p:cNvSpPr>
            <a:spLocks noGrp="1"/>
          </p:cNvSpPr>
          <p:nvPr>
            <p:ph type="title"/>
          </p:nvPr>
        </p:nvSpPr>
        <p:spPr>
          <a:xfrm>
            <a:off x="678402" y="2451378"/>
            <a:ext cx="10515600" cy="1325563"/>
          </a:xfrm>
        </p:spPr>
        <p:txBody>
          <a:bodyPr/>
          <a:lstStyle/>
          <a:p>
            <a:pPr algn="ctr"/>
            <a:r>
              <a:rPr lang="en-US" altLang="zh-CN">
                <a:hlinkClick r:id="rId2" action="ppaction://hlinkfile"/>
              </a:rPr>
              <a:t>How Many Tables</a:t>
            </a:r>
            <a:endParaRPr lang="zh-CN" altLang="en-US"/>
          </a:p>
        </p:txBody>
      </p:sp>
    </p:spTree>
    <p:extLst>
      <p:ext uri="{BB962C8B-B14F-4D97-AF65-F5344CB8AC3E}">
        <p14:creationId xmlns:p14="http://schemas.microsoft.com/office/powerpoint/2010/main" val="1105187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55750-4B65-B181-6D22-B8E8F16F7610}"/>
              </a:ext>
            </a:extLst>
          </p:cNvPr>
          <p:cNvSpPr>
            <a:spLocks noGrp="1"/>
          </p:cNvSpPr>
          <p:nvPr>
            <p:ph type="title"/>
          </p:nvPr>
        </p:nvSpPr>
        <p:spPr/>
        <p:txBody>
          <a:bodyPr/>
          <a:lstStyle/>
          <a:p>
            <a:r>
              <a:rPr lang="en-US" altLang="zh-CN"/>
              <a:t>More disjoint set problems</a:t>
            </a:r>
            <a:endParaRPr lang="zh-CN" altLang="en-US"/>
          </a:p>
        </p:txBody>
      </p:sp>
      <p:sp>
        <p:nvSpPr>
          <p:cNvPr id="3" name="内容占位符 2">
            <a:extLst>
              <a:ext uri="{FF2B5EF4-FFF2-40B4-BE49-F238E27FC236}">
                <a16:creationId xmlns:a16="http://schemas.microsoft.com/office/drawing/2014/main" id="{685574B3-82B3-B8A4-82FE-DF9071A8FF8A}"/>
              </a:ext>
            </a:extLst>
          </p:cNvPr>
          <p:cNvSpPr>
            <a:spLocks noGrp="1"/>
          </p:cNvSpPr>
          <p:nvPr>
            <p:ph idx="1"/>
          </p:nvPr>
        </p:nvSpPr>
        <p:spPr>
          <a:xfrm>
            <a:off x="838200" y="1825625"/>
            <a:ext cx="10515600" cy="4060270"/>
          </a:xfrm>
        </p:spPr>
        <p:txBody>
          <a:bodyPr>
            <a:normAutofit fontScale="77500" lnSpcReduction="20000"/>
          </a:bodyPr>
          <a:lstStyle/>
          <a:p>
            <a:pPr marL="0" indent="0">
              <a:buNone/>
            </a:pPr>
            <a:r>
              <a:rPr lang="en-US" altLang="zh-CN"/>
              <a:t>poj 2524  Ubiquitous Religions</a:t>
            </a:r>
            <a:endParaRPr lang="zh-CN" altLang="en-US"/>
          </a:p>
          <a:p>
            <a:pPr marL="0" indent="0">
              <a:buNone/>
            </a:pPr>
            <a:r>
              <a:rPr lang="en-US" altLang="zh-CN"/>
              <a:t>poj 1611 The Suspects</a:t>
            </a:r>
            <a:endParaRPr lang="zh-CN" altLang="en-US"/>
          </a:p>
          <a:p>
            <a:pPr marL="0" indent="0">
              <a:buNone/>
            </a:pPr>
            <a:r>
              <a:rPr lang="en-US" altLang="zh-CN"/>
              <a:t>poj 1703 Find them, Catch them</a:t>
            </a:r>
            <a:endParaRPr lang="zh-CN" altLang="en-US"/>
          </a:p>
          <a:p>
            <a:pPr marL="0" indent="0">
              <a:buNone/>
            </a:pPr>
            <a:r>
              <a:rPr lang="en-US" altLang="zh-CN"/>
              <a:t>poj 2236 Wireless Network</a:t>
            </a:r>
            <a:endParaRPr lang="zh-CN" altLang="en-US"/>
          </a:p>
          <a:p>
            <a:pPr marL="0" indent="0">
              <a:buNone/>
            </a:pPr>
            <a:r>
              <a:rPr lang="en-US" altLang="zh-CN"/>
              <a:t>poj 2492 A Bug's Life</a:t>
            </a:r>
            <a:endParaRPr lang="zh-CN" altLang="en-US"/>
          </a:p>
          <a:p>
            <a:pPr marL="0" indent="0">
              <a:buNone/>
            </a:pPr>
            <a:r>
              <a:rPr lang="en-US" altLang="zh-CN"/>
              <a:t>poj 1988 Cube Stacking</a:t>
            </a:r>
            <a:r>
              <a:rPr lang="zh-CN" altLang="en-US"/>
              <a:t>。</a:t>
            </a:r>
          </a:p>
          <a:p>
            <a:pPr marL="0" indent="0">
              <a:buNone/>
            </a:pPr>
            <a:r>
              <a:rPr lang="en-US" altLang="zh-CN"/>
              <a:t>hdu 3635 Dragon Balls</a:t>
            </a:r>
            <a:endParaRPr lang="zh-CN" altLang="en-US"/>
          </a:p>
          <a:p>
            <a:pPr marL="0" indent="0">
              <a:buNone/>
            </a:pPr>
            <a:r>
              <a:rPr lang="en-US" altLang="zh-CN"/>
              <a:t>hdu 1856 More is better</a:t>
            </a:r>
            <a:endParaRPr lang="zh-CN" altLang="en-US"/>
          </a:p>
          <a:p>
            <a:pPr marL="0" indent="0">
              <a:buNone/>
            </a:pPr>
            <a:r>
              <a:rPr lang="en-US" altLang="zh-CN"/>
              <a:t>hdu 1325 Is It A Tree</a:t>
            </a:r>
            <a:endParaRPr lang="zh-CN" altLang="en-US"/>
          </a:p>
          <a:p>
            <a:pPr marL="0" indent="0">
              <a:buNone/>
            </a:pPr>
            <a:r>
              <a:rPr lang="en-US" altLang="zh-CN"/>
              <a:t>hdu 1198 Farm Irrigation</a:t>
            </a:r>
            <a:endParaRPr lang="zh-CN" altLang="en-US"/>
          </a:p>
          <a:p>
            <a:pPr marL="0" indent="0">
              <a:buNone/>
            </a:pPr>
            <a:r>
              <a:rPr lang="en-US" altLang="zh-CN"/>
              <a:t>hdu 2586 How far away</a:t>
            </a:r>
            <a:endParaRPr lang="zh-CN" altLang="en-US"/>
          </a:p>
        </p:txBody>
      </p:sp>
    </p:spTree>
    <p:extLst>
      <p:ext uri="{BB962C8B-B14F-4D97-AF65-F5344CB8AC3E}">
        <p14:creationId xmlns:p14="http://schemas.microsoft.com/office/powerpoint/2010/main" val="1282328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27C3A2-9CE1-420E-B19F-81D4751EA278}"/>
              </a:ext>
            </a:extLst>
          </p:cNvPr>
          <p:cNvSpPr>
            <a:spLocks noGrp="1"/>
          </p:cNvSpPr>
          <p:nvPr>
            <p:ph type="title"/>
          </p:nvPr>
        </p:nvSpPr>
        <p:spPr/>
        <p:txBody>
          <a:bodyPr/>
          <a:lstStyle/>
          <a:p>
            <a:r>
              <a:rPr lang="en-US" altLang="zh-CN"/>
              <a:t>Segment Tree</a:t>
            </a:r>
            <a:endParaRPr lang="zh-CN" altLang="en-US"/>
          </a:p>
        </p:txBody>
      </p:sp>
      <p:sp>
        <p:nvSpPr>
          <p:cNvPr id="3" name="内容占位符 2">
            <a:extLst>
              <a:ext uri="{FF2B5EF4-FFF2-40B4-BE49-F238E27FC236}">
                <a16:creationId xmlns:a16="http://schemas.microsoft.com/office/drawing/2014/main" id="{6F7232C4-A9D5-42CE-AE36-40A974C287C6}"/>
              </a:ext>
            </a:extLst>
          </p:cNvPr>
          <p:cNvSpPr>
            <a:spLocks noGrp="1"/>
          </p:cNvSpPr>
          <p:nvPr>
            <p:ph idx="1"/>
          </p:nvPr>
        </p:nvSpPr>
        <p:spPr/>
        <p:txBody>
          <a:bodyPr/>
          <a:lstStyle/>
          <a:p>
            <a:r>
              <a:rPr lang="en-US" altLang="zh-CN" dirty="0"/>
              <a:t>A Segment Tree is a data structure that allows answering </a:t>
            </a:r>
            <a:r>
              <a:rPr lang="en-US" altLang="zh-CN" dirty="0">
                <a:solidFill>
                  <a:srgbClr val="FF0000"/>
                </a:solidFill>
              </a:rPr>
              <a:t>range queries over an array</a:t>
            </a:r>
            <a:r>
              <a:rPr lang="en-US" altLang="zh-CN" dirty="0"/>
              <a:t> effectively, while still being flexible enough to allow </a:t>
            </a:r>
            <a:r>
              <a:rPr lang="en-US" altLang="zh-CN" dirty="0">
                <a:solidFill>
                  <a:srgbClr val="FF0000"/>
                </a:solidFill>
              </a:rPr>
              <a:t>modifying the array</a:t>
            </a:r>
            <a:r>
              <a:rPr lang="en-US" altLang="zh-CN" dirty="0"/>
              <a:t>. </a:t>
            </a:r>
          </a:p>
          <a:p>
            <a:r>
              <a:rPr lang="en-US" altLang="zh-CN" dirty="0"/>
              <a:t>Include </a:t>
            </a:r>
            <a:r>
              <a:rPr lang="en-US" altLang="zh-CN" dirty="0">
                <a:solidFill>
                  <a:srgbClr val="FF0000"/>
                </a:solidFill>
              </a:rPr>
              <a:t>finding the sum of consecutive array elements a[l…r]</a:t>
            </a:r>
            <a:r>
              <a:rPr lang="en-US" altLang="zh-CN" dirty="0"/>
              <a:t>, or </a:t>
            </a:r>
            <a:r>
              <a:rPr lang="en-US" altLang="zh-CN" dirty="0">
                <a:solidFill>
                  <a:srgbClr val="FF0000"/>
                </a:solidFill>
              </a:rPr>
              <a:t>finding the minimum element </a:t>
            </a:r>
            <a:r>
              <a:rPr lang="en-US" altLang="zh-CN" dirty="0"/>
              <a:t>in a such a range in </a:t>
            </a:r>
            <a:r>
              <a:rPr lang="en-US" altLang="zh-CN" dirty="0">
                <a:solidFill>
                  <a:srgbClr val="FF0000"/>
                </a:solidFill>
              </a:rPr>
              <a:t>O(</a:t>
            </a:r>
            <a:r>
              <a:rPr lang="en-US" altLang="zh-CN" dirty="0" err="1">
                <a:solidFill>
                  <a:srgbClr val="FF0000"/>
                </a:solidFill>
              </a:rPr>
              <a:t>logn</a:t>
            </a:r>
            <a:r>
              <a:rPr lang="en-US" altLang="zh-CN" dirty="0">
                <a:solidFill>
                  <a:srgbClr val="FF0000"/>
                </a:solidFill>
              </a:rPr>
              <a:t>) </a:t>
            </a:r>
            <a:r>
              <a:rPr lang="en-US" altLang="zh-CN" dirty="0"/>
              <a:t>time.</a:t>
            </a:r>
          </a:p>
          <a:p>
            <a:r>
              <a:rPr lang="en-US" altLang="zh-CN" dirty="0"/>
              <a:t>Allow </a:t>
            </a:r>
            <a:r>
              <a:rPr lang="en-US" altLang="zh-CN" dirty="0">
                <a:solidFill>
                  <a:srgbClr val="FF0000"/>
                </a:solidFill>
              </a:rPr>
              <a:t>modifying the array by replacing one element</a:t>
            </a:r>
            <a:r>
              <a:rPr lang="en-US" altLang="zh-CN" dirty="0"/>
              <a:t>, or even </a:t>
            </a:r>
            <a:r>
              <a:rPr lang="en-US" altLang="zh-CN" dirty="0">
                <a:solidFill>
                  <a:srgbClr val="FF0000"/>
                </a:solidFill>
              </a:rPr>
              <a:t>change the elements of a whole subsegment </a:t>
            </a:r>
            <a:r>
              <a:rPr lang="en-US" altLang="zh-CN" dirty="0"/>
              <a:t>(e.g. assigning all elements a[l…r] to any value, or adding a value to all elements in the subsegment) in </a:t>
            </a:r>
            <a:r>
              <a:rPr lang="en-US" altLang="zh-CN" dirty="0">
                <a:solidFill>
                  <a:srgbClr val="FF0000"/>
                </a:solidFill>
              </a:rPr>
              <a:t>O(</a:t>
            </a:r>
            <a:r>
              <a:rPr lang="en-US" altLang="zh-CN" dirty="0" err="1">
                <a:solidFill>
                  <a:srgbClr val="FF0000"/>
                </a:solidFill>
              </a:rPr>
              <a:t>logn</a:t>
            </a:r>
            <a:r>
              <a:rPr lang="en-US" altLang="zh-CN" dirty="0">
                <a:solidFill>
                  <a:srgbClr val="FF0000"/>
                </a:solidFill>
              </a:rPr>
              <a:t>) </a:t>
            </a:r>
            <a:r>
              <a:rPr lang="en-US" altLang="zh-CN" dirty="0"/>
              <a:t>time.</a:t>
            </a:r>
            <a:endParaRPr lang="zh-CN" altLang="en-US" dirty="0"/>
          </a:p>
        </p:txBody>
      </p:sp>
    </p:spTree>
    <p:extLst>
      <p:ext uri="{BB962C8B-B14F-4D97-AF65-F5344CB8AC3E}">
        <p14:creationId xmlns:p14="http://schemas.microsoft.com/office/powerpoint/2010/main" val="1260916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a:extLst>
              <a:ext uri="{FF2B5EF4-FFF2-40B4-BE49-F238E27FC236}">
                <a16:creationId xmlns:a16="http://schemas.microsoft.com/office/drawing/2014/main" id="{16EA0DB2-27EC-477E-85BF-7C016397A520}"/>
              </a:ext>
            </a:extLst>
          </p:cNvPr>
          <p:cNvSpPr>
            <a:spLocks noGrp="1" noChangeArrowheads="1"/>
          </p:cNvSpPr>
          <p:nvPr>
            <p:ph type="title"/>
          </p:nvPr>
        </p:nvSpPr>
        <p:spPr>
          <a:xfrm>
            <a:off x="852256" y="765175"/>
            <a:ext cx="10724225" cy="939800"/>
          </a:xfrm>
        </p:spPr>
        <p:txBody>
          <a:bodyPr/>
          <a:lstStyle/>
          <a:p>
            <a:r>
              <a:rPr lang="en-US" altLang="zh-CN" sz="4000"/>
              <a:t>Application background</a:t>
            </a:r>
            <a:endParaRPr lang="zh-CN" altLang="en-US" sz="2800">
              <a:solidFill>
                <a:srgbClr val="FF0000"/>
              </a:solidFill>
            </a:endParaRPr>
          </a:p>
        </p:txBody>
      </p:sp>
      <p:sp>
        <p:nvSpPr>
          <p:cNvPr id="20482" name="内容占位符 2">
            <a:extLst>
              <a:ext uri="{FF2B5EF4-FFF2-40B4-BE49-F238E27FC236}">
                <a16:creationId xmlns:a16="http://schemas.microsoft.com/office/drawing/2014/main" id="{13BBA684-C285-462C-8F18-E1C1BD199BD7}"/>
              </a:ext>
            </a:extLst>
          </p:cNvPr>
          <p:cNvSpPr>
            <a:spLocks noGrp="1" noChangeArrowheads="1"/>
          </p:cNvSpPr>
          <p:nvPr>
            <p:ph idx="1"/>
          </p:nvPr>
        </p:nvSpPr>
        <p:spPr>
          <a:xfrm>
            <a:off x="1949451" y="2027239"/>
            <a:ext cx="8291513" cy="3796512"/>
          </a:xfrm>
        </p:spPr>
        <p:txBody>
          <a:bodyPr>
            <a:normAutofit fontScale="92500" lnSpcReduction="10000"/>
          </a:bodyPr>
          <a:lstStyle/>
          <a:p>
            <a:pPr marL="0" indent="0">
              <a:buNone/>
            </a:pPr>
            <a:r>
              <a:rPr lang="en-US" altLang="zh-CN" sz="3600" dirty="0"/>
              <a:t>Given a sequence {a</a:t>
            </a:r>
            <a:r>
              <a:rPr lang="en-US" altLang="zh-CN" sz="3600" baseline="-25000" dirty="0"/>
              <a:t>1</a:t>
            </a:r>
            <a:r>
              <a:rPr lang="en-US" altLang="zh-CN" sz="3600" dirty="0"/>
              <a:t>, a</a:t>
            </a:r>
            <a:r>
              <a:rPr lang="en-US" altLang="zh-CN" sz="3600" baseline="-25000" dirty="0"/>
              <a:t>2</a:t>
            </a:r>
            <a:r>
              <a:rPr lang="en-US" altLang="zh-CN" sz="3600" dirty="0"/>
              <a:t>, ... , a</a:t>
            </a:r>
            <a:r>
              <a:rPr lang="en-US" altLang="zh-CN" sz="3600" baseline="-25000" dirty="0"/>
              <a:t>n</a:t>
            </a:r>
            <a:r>
              <a:rPr lang="en-US" altLang="zh-CN" sz="3600" dirty="0"/>
              <a:t>}</a:t>
            </a:r>
            <a:r>
              <a:rPr lang="zh-CN" altLang="en-US" sz="3600" dirty="0"/>
              <a:t> </a:t>
            </a:r>
            <a:r>
              <a:rPr lang="en-US" altLang="zh-CN" sz="3600" dirty="0"/>
              <a:t>,</a:t>
            </a:r>
          </a:p>
          <a:p>
            <a:pPr marL="0" indent="0">
              <a:buNone/>
            </a:pPr>
            <a:r>
              <a:rPr lang="en-US" altLang="zh-CN" sz="3200" dirty="0">
                <a:solidFill>
                  <a:srgbClr val="FF0000"/>
                </a:solidFill>
              </a:rPr>
              <a:t>1. Find the maximum/minimum/summation (Query)</a:t>
            </a:r>
          </a:p>
          <a:p>
            <a:pPr marL="0" indent="0">
              <a:buNone/>
            </a:pPr>
            <a:r>
              <a:rPr lang="en-US" altLang="zh-CN" sz="3200" dirty="0"/>
              <a:t>For </a:t>
            </a:r>
            <a:r>
              <a:rPr lang="en-US" altLang="zh-CN" sz="3200" dirty="0" err="1"/>
              <a:t>i</a:t>
            </a:r>
            <a:r>
              <a:rPr lang="en-US" altLang="zh-CN" sz="3200" dirty="0"/>
              <a:t>, j&lt;=n, find the maximum/minimum/summation in {a</a:t>
            </a:r>
            <a:r>
              <a:rPr lang="en-US" altLang="zh-CN" sz="3200" baseline="-25000" dirty="0"/>
              <a:t>i</a:t>
            </a:r>
            <a:r>
              <a:rPr lang="en-US" altLang="zh-CN" sz="3200" dirty="0"/>
              <a:t>, ..., </a:t>
            </a:r>
            <a:r>
              <a:rPr lang="en-US" altLang="zh-CN" sz="3200" dirty="0" err="1"/>
              <a:t>a</a:t>
            </a:r>
            <a:r>
              <a:rPr lang="en-US" altLang="zh-CN" sz="3200" baseline="-25000" dirty="0" err="1"/>
              <a:t>j</a:t>
            </a:r>
            <a:r>
              <a:rPr lang="en-US" altLang="zh-CN" sz="3200" dirty="0"/>
              <a:t>}</a:t>
            </a:r>
          </a:p>
          <a:p>
            <a:pPr marL="0" indent="0">
              <a:buNone/>
            </a:pPr>
            <a:r>
              <a:rPr lang="en-US" altLang="zh-CN" sz="3200" dirty="0">
                <a:solidFill>
                  <a:srgbClr val="FF0000"/>
                </a:solidFill>
              </a:rPr>
              <a:t>2. Modify an element</a:t>
            </a:r>
          </a:p>
          <a:p>
            <a:pPr marL="0" indent="0">
              <a:buNone/>
            </a:pPr>
            <a:r>
              <a:rPr lang="en-US" altLang="zh-CN" sz="3200" dirty="0"/>
              <a:t>Given k and x, modify </a:t>
            </a:r>
            <a:r>
              <a:rPr lang="en-US" altLang="zh-CN" sz="3200" dirty="0" err="1"/>
              <a:t>a</a:t>
            </a:r>
            <a:r>
              <a:rPr lang="en-US" altLang="zh-CN" sz="3200" baseline="-25000" dirty="0" err="1"/>
              <a:t>k</a:t>
            </a:r>
            <a:r>
              <a:rPr lang="en-US" altLang="zh-CN" sz="3200" baseline="-25000" dirty="0"/>
              <a:t> </a:t>
            </a:r>
            <a:r>
              <a:rPr lang="en-US" altLang="zh-CN" sz="3200" dirty="0"/>
              <a:t>to x</a:t>
            </a:r>
          </a:p>
          <a:p>
            <a:pPr marL="0" indent="0">
              <a:buNone/>
            </a:pPr>
            <a:r>
              <a:rPr lang="en-US" altLang="zh-CN" sz="3200" dirty="0">
                <a:solidFill>
                  <a:srgbClr val="FF0000"/>
                </a:solidFill>
              </a:rPr>
              <a:t>3. Modify all elements in a subsegment</a:t>
            </a:r>
          </a:p>
          <a:p>
            <a:pPr marL="0" indent="0">
              <a:buNone/>
            </a:pPr>
            <a:endParaRPr lang="zh-CN" altLang="zh-CN"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a:extLst>
              <a:ext uri="{FF2B5EF4-FFF2-40B4-BE49-F238E27FC236}">
                <a16:creationId xmlns:a16="http://schemas.microsoft.com/office/drawing/2014/main" id="{6BC0E3A1-BDD5-4571-A80C-B42AA4DF8014}"/>
              </a:ext>
            </a:extLst>
          </p:cNvPr>
          <p:cNvSpPr>
            <a:spLocks noGrp="1" noChangeArrowheads="1"/>
          </p:cNvSpPr>
          <p:nvPr>
            <p:ph type="title"/>
          </p:nvPr>
        </p:nvSpPr>
        <p:spPr>
          <a:xfrm>
            <a:off x="4008438" y="620713"/>
            <a:ext cx="3681412" cy="633412"/>
          </a:xfrm>
        </p:spPr>
        <p:txBody>
          <a:bodyPr>
            <a:normAutofit fontScale="90000"/>
          </a:bodyPr>
          <a:lstStyle/>
          <a:p>
            <a:r>
              <a:rPr lang="en-US" altLang="zh-CN" sz="4000">
                <a:solidFill>
                  <a:srgbClr val="0070C0"/>
                </a:solidFill>
              </a:rPr>
              <a:t>Brute</a:t>
            </a:r>
            <a:r>
              <a:rPr lang="zh-CN" altLang="en-US" sz="4000">
                <a:solidFill>
                  <a:srgbClr val="0070C0"/>
                </a:solidFill>
              </a:rPr>
              <a:t> </a:t>
            </a:r>
            <a:r>
              <a:rPr lang="en-US" altLang="zh-CN" sz="4000">
                <a:solidFill>
                  <a:srgbClr val="0070C0"/>
                </a:solidFill>
              </a:rPr>
              <a:t>Force?</a:t>
            </a:r>
            <a:endParaRPr lang="zh-CN" altLang="en-US" sz="4000">
              <a:solidFill>
                <a:srgbClr val="0070C0"/>
              </a:solidFill>
            </a:endParaRPr>
          </a:p>
        </p:txBody>
      </p:sp>
      <p:sp>
        <p:nvSpPr>
          <p:cNvPr id="3" name="内容占位符 2">
            <a:extLst>
              <a:ext uri="{FF2B5EF4-FFF2-40B4-BE49-F238E27FC236}">
                <a16:creationId xmlns:a16="http://schemas.microsoft.com/office/drawing/2014/main" id="{27520B7B-CFC0-4503-9B7A-5C1F8BD9D8B7}"/>
              </a:ext>
            </a:extLst>
          </p:cNvPr>
          <p:cNvSpPr>
            <a:spLocks noGrp="1"/>
          </p:cNvSpPr>
          <p:nvPr>
            <p:ph idx="1"/>
          </p:nvPr>
        </p:nvSpPr>
        <p:spPr>
          <a:xfrm>
            <a:off x="1981201" y="1600200"/>
            <a:ext cx="7859713" cy="4133850"/>
          </a:xfrm>
        </p:spPr>
        <p:txBody>
          <a:bodyPr/>
          <a:lstStyle/>
          <a:p>
            <a:pPr>
              <a:defRPr/>
            </a:pPr>
            <a:r>
              <a:rPr lang="en-US" altLang="zh-CN" dirty="0"/>
              <a:t>Using an array</a:t>
            </a:r>
          </a:p>
          <a:p>
            <a:pPr marL="400050" lvl="1" indent="0">
              <a:buNone/>
              <a:defRPr/>
            </a:pPr>
            <a:r>
              <a:rPr lang="en-US" altLang="zh-CN" dirty="0"/>
              <a:t>Minimum/Maximum/Summation Query </a:t>
            </a:r>
            <a:r>
              <a:rPr lang="en-US" altLang="zh-CN" dirty="0">
                <a:solidFill>
                  <a:srgbClr val="FF0000"/>
                </a:solidFill>
              </a:rPr>
              <a:t>O(n)</a:t>
            </a:r>
          </a:p>
          <a:p>
            <a:pPr marL="400050" lvl="1" indent="0">
              <a:buNone/>
              <a:defRPr/>
            </a:pPr>
            <a:r>
              <a:rPr lang="en-US" altLang="zh-CN" dirty="0"/>
              <a:t>Modify an element </a:t>
            </a:r>
            <a:r>
              <a:rPr lang="en-US" altLang="zh-CN" dirty="0">
                <a:solidFill>
                  <a:srgbClr val="FF0000"/>
                </a:solidFill>
              </a:rPr>
              <a:t>O(1)</a:t>
            </a:r>
          </a:p>
          <a:p>
            <a:pPr marL="400050" lvl="1" indent="0">
              <a:buNone/>
              <a:defRPr/>
            </a:pPr>
            <a:r>
              <a:rPr lang="en-US" altLang="zh-CN" sz="2400" dirty="0"/>
              <a:t>Modify all elements in a subsegment </a:t>
            </a:r>
            <a:r>
              <a:rPr lang="en-US" altLang="zh-CN" sz="2400" dirty="0">
                <a:solidFill>
                  <a:srgbClr val="FF0000"/>
                </a:solidFill>
              </a:rPr>
              <a:t>O(n)</a:t>
            </a:r>
            <a:endParaRPr lang="en-US" altLang="zh-CN" dirty="0">
              <a:solidFill>
                <a:srgbClr val="FF0000"/>
              </a:solidFill>
            </a:endParaRPr>
          </a:p>
          <a:p>
            <a:pPr marL="400050" lvl="1" indent="0">
              <a:buNone/>
              <a:defRPr/>
            </a:pPr>
            <a:endParaRPr lang="en-US" altLang="zh-CN" dirty="0"/>
          </a:p>
          <a:p>
            <a:pPr>
              <a:defRPr/>
            </a:pPr>
            <a:r>
              <a:rPr lang="en-US" altLang="zh-CN" dirty="0" err="1">
                <a:solidFill>
                  <a:srgbClr val="FF0000"/>
                </a:solidFill>
              </a:rPr>
              <a:t>Inefficent</a:t>
            </a:r>
            <a:endParaRPr lang="en-US" altLang="zh-CN" dirty="0">
              <a:solidFill>
                <a:srgbClr val="FF0000"/>
              </a:solidFill>
            </a:endParaRPr>
          </a:p>
          <a:p>
            <a:pPr marL="0" indent="0">
              <a:buNone/>
              <a:defRPr/>
            </a:pPr>
            <a:r>
              <a:rPr lang="en-US" altLang="zh-CN" dirty="0"/>
              <a:t>If there are </a:t>
            </a:r>
            <a:r>
              <a:rPr lang="en-US" altLang="zh-CN" dirty="0">
                <a:solidFill>
                  <a:srgbClr val="FF0000"/>
                </a:solidFill>
              </a:rPr>
              <a:t>m</a:t>
            </a:r>
            <a:r>
              <a:rPr lang="en-US" altLang="zh-CN" dirty="0"/>
              <a:t> query &amp; modifying, the complexity is </a:t>
            </a:r>
            <a:r>
              <a:rPr lang="en-US" altLang="zh-CN" dirty="0">
                <a:solidFill>
                  <a:srgbClr val="FF0000"/>
                </a:solidFill>
              </a:rPr>
              <a:t>O(</a:t>
            </a:r>
            <a:r>
              <a:rPr lang="en-US" altLang="zh-CN" dirty="0" err="1">
                <a:solidFill>
                  <a:srgbClr val="FF0000"/>
                </a:solidFill>
              </a:rPr>
              <a:t>mn</a:t>
            </a:r>
            <a:r>
              <a:rPr lang="en-US" altLang="zh-CN" dirty="0">
                <a:solidFill>
                  <a:srgbClr val="FF0000"/>
                </a:solidFill>
              </a:rPr>
              <a:t>). </a:t>
            </a:r>
            <a:r>
              <a:rPr lang="zh-CN" altLang="en-US" dirty="0"/>
              <a:t>（</a:t>
            </a:r>
            <a:r>
              <a:rPr lang="en-US" altLang="zh-CN" dirty="0"/>
              <a:t>m, n</a:t>
            </a:r>
            <a:r>
              <a:rPr lang="zh-CN" altLang="en-US" dirty="0"/>
              <a:t> </a:t>
            </a:r>
            <a:r>
              <a:rPr lang="en-US" altLang="zh-CN" dirty="0"/>
              <a:t>&gt;10</a:t>
            </a:r>
            <a:r>
              <a:rPr lang="en-US" altLang="zh-CN" baseline="30000" dirty="0"/>
              <a:t>5</a:t>
            </a:r>
            <a:r>
              <a:rPr lang="zh-CN" altLang="en-US" dirty="0"/>
              <a:t>，</a:t>
            </a:r>
            <a:r>
              <a:rPr lang="en-US" altLang="zh-CN" dirty="0"/>
              <a:t>O(</a:t>
            </a:r>
            <a:r>
              <a:rPr lang="en-US" altLang="zh-CN" dirty="0" err="1"/>
              <a:t>mn</a:t>
            </a:r>
            <a:r>
              <a:rPr lang="en-US" altLang="zh-CN" dirty="0"/>
              <a:t>) &gt; 10</a:t>
            </a:r>
            <a:r>
              <a:rPr lang="en-US" altLang="zh-CN" baseline="30000" dirty="0"/>
              <a:t>10</a:t>
            </a:r>
            <a:r>
              <a:rPr lang="zh-CN" altLang="en-US"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a:extLst>
              <a:ext uri="{FF2B5EF4-FFF2-40B4-BE49-F238E27FC236}">
                <a16:creationId xmlns:a16="http://schemas.microsoft.com/office/drawing/2014/main" id="{CD8A6DF6-5F85-45D4-81F1-6C4D5A940DC2}"/>
              </a:ext>
            </a:extLst>
          </p:cNvPr>
          <p:cNvSpPr>
            <a:spLocks noGrp="1" noChangeArrowheads="1"/>
          </p:cNvSpPr>
          <p:nvPr>
            <p:ph idx="1"/>
          </p:nvPr>
        </p:nvSpPr>
        <p:spPr/>
        <p:txBody>
          <a:bodyPr/>
          <a:lstStyle/>
          <a:p>
            <a:pPr marL="0" indent="0">
              <a:buNone/>
            </a:pPr>
            <a:r>
              <a:rPr lang="en-US" altLang="zh-CN">
                <a:solidFill>
                  <a:srgbClr val="FF0000"/>
                </a:solidFill>
              </a:rPr>
              <a:t>m</a:t>
            </a:r>
            <a:r>
              <a:rPr lang="en-US" altLang="zh-CN"/>
              <a:t> query &amp; modifying,</a:t>
            </a:r>
            <a:r>
              <a:rPr lang="zh-CN" altLang="en-US"/>
              <a:t> </a:t>
            </a:r>
            <a:r>
              <a:rPr lang="en-US" altLang="zh-CN">
                <a:solidFill>
                  <a:srgbClr val="FF0000"/>
                </a:solidFill>
              </a:rPr>
              <a:t>O(mlogn)</a:t>
            </a:r>
          </a:p>
        </p:txBody>
      </p:sp>
      <p:sp>
        <p:nvSpPr>
          <p:cNvPr id="3" name="标题 2">
            <a:extLst>
              <a:ext uri="{FF2B5EF4-FFF2-40B4-BE49-F238E27FC236}">
                <a16:creationId xmlns:a16="http://schemas.microsoft.com/office/drawing/2014/main" id="{1DEB4812-6893-44F7-8048-60A6C6395B80}"/>
              </a:ext>
            </a:extLst>
          </p:cNvPr>
          <p:cNvSpPr>
            <a:spLocks noGrp="1"/>
          </p:cNvSpPr>
          <p:nvPr>
            <p:ph type="title"/>
          </p:nvPr>
        </p:nvSpPr>
        <p:spPr/>
        <p:txBody>
          <a:bodyPr/>
          <a:lstStyle/>
          <a:p>
            <a:r>
              <a:rPr lang="en-US" altLang="zh-CN"/>
              <a:t>Using segment tree</a:t>
            </a:r>
            <a:endParaRPr lang="zh-CN" altLang="en-US"/>
          </a:p>
        </p:txBody>
      </p:sp>
      <p:pic>
        <p:nvPicPr>
          <p:cNvPr id="5" name="图片 4">
            <a:extLst>
              <a:ext uri="{FF2B5EF4-FFF2-40B4-BE49-F238E27FC236}">
                <a16:creationId xmlns:a16="http://schemas.microsoft.com/office/drawing/2014/main" id="{D4D18227-95CE-4E3F-A085-114F94C08D7F}"/>
              </a:ext>
            </a:extLst>
          </p:cNvPr>
          <p:cNvPicPr>
            <a:picLocks noChangeAspect="1"/>
          </p:cNvPicPr>
          <p:nvPr/>
        </p:nvPicPr>
        <p:blipFill>
          <a:blip r:embed="rId2"/>
          <a:stretch>
            <a:fillRect/>
          </a:stretch>
        </p:blipFill>
        <p:spPr>
          <a:xfrm>
            <a:off x="1061119" y="2672178"/>
            <a:ext cx="4895982" cy="3185188"/>
          </a:xfrm>
          <a:prstGeom prst="rect">
            <a:avLst/>
          </a:prstGeom>
        </p:spPr>
      </p:pic>
      <p:pic>
        <p:nvPicPr>
          <p:cNvPr id="7" name="图片 6">
            <a:extLst>
              <a:ext uri="{FF2B5EF4-FFF2-40B4-BE49-F238E27FC236}">
                <a16:creationId xmlns:a16="http://schemas.microsoft.com/office/drawing/2014/main" id="{1087BC0C-401A-4134-AC00-EEDD2FCD198F}"/>
              </a:ext>
            </a:extLst>
          </p:cNvPr>
          <p:cNvPicPr>
            <a:picLocks noChangeAspect="1"/>
          </p:cNvPicPr>
          <p:nvPr/>
        </p:nvPicPr>
        <p:blipFill>
          <a:blip r:embed="rId3"/>
          <a:stretch>
            <a:fillRect/>
          </a:stretch>
        </p:blipFill>
        <p:spPr>
          <a:xfrm>
            <a:off x="6461299" y="437548"/>
            <a:ext cx="5186442" cy="549971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BEA39-99D1-4C48-937E-4B05E41C1318}"/>
              </a:ext>
            </a:extLst>
          </p:cNvPr>
          <p:cNvSpPr>
            <a:spLocks noGrp="1"/>
          </p:cNvSpPr>
          <p:nvPr>
            <p:ph type="title"/>
          </p:nvPr>
        </p:nvSpPr>
        <p:spPr/>
        <p:txBody>
          <a:bodyPr/>
          <a:lstStyle/>
          <a:p>
            <a:r>
              <a:rPr lang="en-US" altLang="zh-CN"/>
              <a:t>Definition</a:t>
            </a:r>
            <a:endParaRPr lang="zh-CN" altLang="en-US"/>
          </a:p>
        </p:txBody>
      </p:sp>
      <p:sp>
        <p:nvSpPr>
          <p:cNvPr id="6" name="内容占位符 5">
            <a:extLst>
              <a:ext uri="{FF2B5EF4-FFF2-40B4-BE49-F238E27FC236}">
                <a16:creationId xmlns:a16="http://schemas.microsoft.com/office/drawing/2014/main" id="{3EEDB97C-DBC6-4BBB-B7FA-067C31781321}"/>
              </a:ext>
            </a:extLst>
          </p:cNvPr>
          <p:cNvSpPr>
            <a:spLocks noGrp="1"/>
          </p:cNvSpPr>
          <p:nvPr>
            <p:ph idx="1"/>
          </p:nvPr>
        </p:nvSpPr>
        <p:spPr/>
        <p:txBody>
          <a:bodyPr/>
          <a:lstStyle/>
          <a:p>
            <a:pPr marL="0" indent="0">
              <a:buNone/>
            </a:pPr>
            <a:r>
              <a:rPr lang="en-US" altLang="zh-CN" dirty="0"/>
              <a:t>A segment tree is basically </a:t>
            </a:r>
            <a:r>
              <a:rPr lang="en-US" altLang="zh-CN" dirty="0">
                <a:solidFill>
                  <a:srgbClr val="FF0000"/>
                </a:solidFill>
              </a:rPr>
              <a:t>a binary tree </a:t>
            </a:r>
            <a:r>
              <a:rPr lang="en-US" altLang="zh-CN" dirty="0"/>
              <a:t>used for storing intervals or segments. Each node in the segment tree represents an interval.</a:t>
            </a:r>
            <a:endParaRPr lang="zh-CN" altLang="en-US" dirty="0"/>
          </a:p>
        </p:txBody>
      </p:sp>
      <p:pic>
        <p:nvPicPr>
          <p:cNvPr id="4" name="图片 3">
            <a:extLst>
              <a:ext uri="{FF2B5EF4-FFF2-40B4-BE49-F238E27FC236}">
                <a16:creationId xmlns:a16="http://schemas.microsoft.com/office/drawing/2014/main" id="{EAF1A8A4-868B-4E09-8CFA-347D18CF2E65}"/>
              </a:ext>
            </a:extLst>
          </p:cNvPr>
          <p:cNvPicPr>
            <a:picLocks noChangeAspect="1"/>
          </p:cNvPicPr>
          <p:nvPr/>
        </p:nvPicPr>
        <p:blipFill>
          <a:blip r:embed="rId2"/>
          <a:stretch>
            <a:fillRect/>
          </a:stretch>
        </p:blipFill>
        <p:spPr>
          <a:xfrm>
            <a:off x="753240" y="3120838"/>
            <a:ext cx="10028571" cy="1389479"/>
          </a:xfrm>
          <a:prstGeom prst="rect">
            <a:avLst/>
          </a:prstGeom>
        </p:spPr>
      </p:pic>
      <p:sp>
        <p:nvSpPr>
          <p:cNvPr id="16" name="文本框 15">
            <a:extLst>
              <a:ext uri="{FF2B5EF4-FFF2-40B4-BE49-F238E27FC236}">
                <a16:creationId xmlns:a16="http://schemas.microsoft.com/office/drawing/2014/main" id="{5763ECD5-5C62-446F-8399-96A936D44F8C}"/>
              </a:ext>
            </a:extLst>
          </p:cNvPr>
          <p:cNvSpPr txBox="1"/>
          <p:nvPr/>
        </p:nvSpPr>
        <p:spPr>
          <a:xfrm>
            <a:off x="722420" y="4645254"/>
            <a:ext cx="10747159" cy="1477328"/>
          </a:xfrm>
          <a:prstGeom prst="rect">
            <a:avLst/>
          </a:prstGeom>
          <a:noFill/>
        </p:spPr>
        <p:txBody>
          <a:bodyPr wrap="square">
            <a:spAutoFit/>
          </a:bodyPr>
          <a:lstStyle/>
          <a:p>
            <a:r>
              <a:rPr lang="en-US" altLang="zh-CN" b="0" i="0" dirty="0">
                <a:solidFill>
                  <a:srgbClr val="252C33"/>
                </a:solidFill>
                <a:effectLst/>
                <a:latin typeface="Open Sans" panose="020B0606030504020204" pitchFamily="34" charset="0"/>
              </a:rPr>
              <a:t>The root of the segment </a:t>
            </a:r>
            <a:r>
              <a:rPr lang="en-US" altLang="zh-CN" dirty="0">
                <a:solidFill>
                  <a:srgbClr val="252C33"/>
                </a:solidFill>
                <a:latin typeface="Open Sans" panose="020B0606030504020204" pitchFamily="34" charset="0"/>
              </a:rPr>
              <a:t>t</a:t>
            </a:r>
            <a:r>
              <a:rPr lang="en-US" altLang="zh-CN" b="0" i="0" dirty="0">
                <a:solidFill>
                  <a:srgbClr val="252C33"/>
                </a:solidFill>
                <a:effectLst/>
                <a:latin typeface="Open Sans" panose="020B0606030504020204" pitchFamily="34" charset="0"/>
              </a:rPr>
              <a:t>ree represents the whole array A[0:N−1]. Then it is broken down into </a:t>
            </a:r>
            <a:r>
              <a:rPr lang="en-US" altLang="zh-CN" b="0" i="0" dirty="0">
                <a:solidFill>
                  <a:srgbClr val="FF0000"/>
                </a:solidFill>
                <a:effectLst/>
                <a:latin typeface="Open Sans" panose="020B0606030504020204" pitchFamily="34" charset="0"/>
              </a:rPr>
              <a:t>two half intervals</a:t>
            </a:r>
            <a:r>
              <a:rPr lang="en-US" altLang="zh-CN" b="0" i="0" dirty="0">
                <a:solidFill>
                  <a:srgbClr val="252C33"/>
                </a:solidFill>
                <a:effectLst/>
                <a:latin typeface="Open Sans" panose="020B0606030504020204" pitchFamily="34" charset="0"/>
              </a:rPr>
              <a:t> or segments and the two children of the root in turn represent the </a:t>
            </a:r>
            <a:r>
              <a:rPr lang="en-US" altLang="zh-CN" b="0" i="0" dirty="0">
                <a:solidFill>
                  <a:srgbClr val="FF0000"/>
                </a:solidFill>
                <a:effectLst/>
                <a:latin typeface="Open Sans" panose="020B0606030504020204" pitchFamily="34" charset="0"/>
              </a:rPr>
              <a:t>A[0:(N−1)/2] </a:t>
            </a:r>
            <a:r>
              <a:rPr lang="en-US" altLang="zh-CN" b="0" i="0" dirty="0">
                <a:solidFill>
                  <a:srgbClr val="252C33"/>
                </a:solidFill>
                <a:effectLst/>
                <a:latin typeface="Open Sans" panose="020B0606030504020204" pitchFamily="34" charset="0"/>
              </a:rPr>
              <a:t>and </a:t>
            </a:r>
            <a:r>
              <a:rPr lang="en-US" altLang="zh-CN" b="0" i="0" dirty="0">
                <a:solidFill>
                  <a:srgbClr val="FF0000"/>
                </a:solidFill>
                <a:effectLst/>
                <a:latin typeface="Open Sans" panose="020B0606030504020204" pitchFamily="34" charset="0"/>
              </a:rPr>
              <a:t>A[(N−1)/2+1:(N−1)]</a:t>
            </a:r>
            <a:r>
              <a:rPr lang="en-US" altLang="zh-CN" b="0" i="0" dirty="0">
                <a:solidFill>
                  <a:srgbClr val="252C33"/>
                </a:solidFill>
                <a:effectLst/>
                <a:latin typeface="Open Sans" panose="020B0606030504020204" pitchFamily="34" charset="0"/>
              </a:rPr>
              <a:t>. </a:t>
            </a:r>
            <a:r>
              <a:rPr lang="en-US" altLang="zh-CN" dirty="0">
                <a:solidFill>
                  <a:srgbClr val="252C33"/>
                </a:solidFill>
                <a:latin typeface="Open Sans" panose="020B0606030504020204" pitchFamily="34" charset="0"/>
              </a:rPr>
              <a:t>T</a:t>
            </a:r>
            <a:r>
              <a:rPr lang="en-US" altLang="zh-CN" b="0" i="0" dirty="0">
                <a:solidFill>
                  <a:srgbClr val="252C33"/>
                </a:solidFill>
                <a:effectLst/>
                <a:latin typeface="Open Sans" panose="020B0606030504020204" pitchFamily="34" charset="0"/>
              </a:rPr>
              <a:t>he height of the segment tree </a:t>
            </a:r>
            <a:r>
              <a:rPr lang="en-US" altLang="zh-CN" dirty="0">
                <a:solidFill>
                  <a:srgbClr val="252C33"/>
                </a:solidFill>
                <a:latin typeface="Open Sans" panose="020B0606030504020204" pitchFamily="34" charset="0"/>
              </a:rPr>
              <a:t>is</a:t>
            </a:r>
            <a:r>
              <a:rPr lang="en-US" altLang="zh-CN" b="0" i="0" dirty="0">
                <a:solidFill>
                  <a:srgbClr val="252C33"/>
                </a:solidFill>
                <a:effectLst/>
                <a:latin typeface="Open Sans" panose="020B0606030504020204" pitchFamily="34" charset="0"/>
              </a:rPr>
              <a:t> </a:t>
            </a:r>
            <a:r>
              <a:rPr lang="en-US" altLang="zh-CN" b="0" i="0" dirty="0">
                <a:solidFill>
                  <a:srgbClr val="FF0000"/>
                </a:solidFill>
                <a:effectLst/>
                <a:latin typeface="Open Sans" panose="020B0606030504020204" pitchFamily="34" charset="0"/>
              </a:rPr>
              <a:t>O(</a:t>
            </a:r>
            <a:r>
              <a:rPr lang="en-US" altLang="zh-CN" b="0" i="0" dirty="0" err="1">
                <a:solidFill>
                  <a:srgbClr val="FF0000"/>
                </a:solidFill>
                <a:effectLst/>
                <a:latin typeface="Open Sans" panose="020B0606030504020204" pitchFamily="34" charset="0"/>
              </a:rPr>
              <a:t>logN</a:t>
            </a:r>
            <a:r>
              <a:rPr lang="en-US" altLang="zh-CN" b="0" i="0" dirty="0">
                <a:solidFill>
                  <a:srgbClr val="FF0000"/>
                </a:solidFill>
                <a:effectLst/>
                <a:latin typeface="Open Sans" panose="020B0606030504020204" pitchFamily="34" charset="0"/>
              </a:rPr>
              <a:t>)</a:t>
            </a:r>
            <a:r>
              <a:rPr lang="en-US" altLang="zh-CN" b="0" i="0" dirty="0">
                <a:solidFill>
                  <a:srgbClr val="252C33"/>
                </a:solidFill>
                <a:effectLst/>
                <a:latin typeface="Open Sans" panose="020B0606030504020204" pitchFamily="34" charset="0"/>
              </a:rPr>
              <a:t>. There are </a:t>
            </a:r>
            <a:r>
              <a:rPr lang="en-US" altLang="zh-CN" b="0" i="0" dirty="0">
                <a:solidFill>
                  <a:srgbClr val="FF0000"/>
                </a:solidFill>
                <a:effectLst/>
                <a:latin typeface="Open Sans" panose="020B0606030504020204" pitchFamily="34" charset="0"/>
              </a:rPr>
              <a:t>N</a:t>
            </a:r>
            <a:r>
              <a:rPr lang="en-US" altLang="zh-CN" b="0" i="0" dirty="0">
                <a:solidFill>
                  <a:srgbClr val="252C33"/>
                </a:solidFill>
                <a:effectLst/>
                <a:latin typeface="Open Sans" panose="020B0606030504020204" pitchFamily="34" charset="0"/>
              </a:rPr>
              <a:t> leaves representing the N elements of the array. The number of internal nodes is </a:t>
            </a:r>
            <a:r>
              <a:rPr lang="en-US" altLang="zh-CN" b="0" i="0" dirty="0">
                <a:solidFill>
                  <a:srgbClr val="FF0000"/>
                </a:solidFill>
                <a:effectLst/>
                <a:latin typeface="Open Sans" panose="020B0606030504020204" pitchFamily="34" charset="0"/>
              </a:rPr>
              <a:t>N−1</a:t>
            </a:r>
            <a:r>
              <a:rPr lang="en-US" altLang="zh-CN" b="0" i="0" dirty="0">
                <a:solidFill>
                  <a:srgbClr val="252C33"/>
                </a:solidFill>
                <a:effectLst/>
                <a:latin typeface="Open Sans" panose="020B0606030504020204" pitchFamily="34" charset="0"/>
              </a:rPr>
              <a:t>. So, the total number of nodes </a:t>
            </a:r>
            <a:r>
              <a:rPr lang="en-US" altLang="zh-CN" dirty="0">
                <a:solidFill>
                  <a:srgbClr val="252C33"/>
                </a:solidFill>
                <a:latin typeface="Open Sans" panose="020B0606030504020204" pitchFamily="34" charset="0"/>
              </a:rPr>
              <a:t>is</a:t>
            </a:r>
            <a:r>
              <a:rPr lang="en-US" altLang="zh-CN" b="0" i="0" dirty="0">
                <a:solidFill>
                  <a:srgbClr val="252C33"/>
                </a:solidFill>
                <a:effectLst/>
                <a:latin typeface="Open Sans" panose="020B0606030504020204" pitchFamily="34" charset="0"/>
              </a:rPr>
              <a:t> </a:t>
            </a:r>
            <a:r>
              <a:rPr lang="en-US" altLang="zh-CN" b="0" i="0" dirty="0">
                <a:solidFill>
                  <a:srgbClr val="FF0000"/>
                </a:solidFill>
                <a:effectLst/>
                <a:latin typeface="Open Sans" panose="020B0606030504020204" pitchFamily="34" charset="0"/>
              </a:rPr>
              <a:t>2×N−1</a:t>
            </a:r>
            <a:r>
              <a:rPr lang="en-US" altLang="zh-CN" b="0" i="0" dirty="0">
                <a:solidFill>
                  <a:srgbClr val="252C33"/>
                </a:solidFill>
                <a:effectLst/>
                <a:latin typeface="Open Sans" panose="020B0606030504020204" pitchFamily="34" charset="0"/>
              </a:rPr>
              <a:t>.</a:t>
            </a:r>
            <a:endParaRPr lang="zh-CN" altLang="en-US" dirty="0"/>
          </a:p>
        </p:txBody>
      </p:sp>
    </p:spTree>
    <p:extLst>
      <p:ext uri="{BB962C8B-B14F-4D97-AF65-F5344CB8AC3E}">
        <p14:creationId xmlns:p14="http://schemas.microsoft.com/office/powerpoint/2010/main" val="3335397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B53A4D-83B3-44F7-B000-EEFB7268D97F}"/>
              </a:ext>
            </a:extLst>
          </p:cNvPr>
          <p:cNvSpPr>
            <a:spLocks noGrp="1"/>
          </p:cNvSpPr>
          <p:nvPr>
            <p:ph type="title"/>
          </p:nvPr>
        </p:nvSpPr>
        <p:spPr/>
        <p:txBody>
          <a:bodyPr/>
          <a:lstStyle/>
          <a:p>
            <a:r>
              <a:rPr lang="en-US" altLang="zh-CN"/>
              <a:t>Example--summation</a:t>
            </a:r>
            <a:endParaRPr lang="zh-CN" altLang="en-US"/>
          </a:p>
        </p:txBody>
      </p:sp>
      <p:pic>
        <p:nvPicPr>
          <p:cNvPr id="5" name="图片 4">
            <a:extLst>
              <a:ext uri="{FF2B5EF4-FFF2-40B4-BE49-F238E27FC236}">
                <a16:creationId xmlns:a16="http://schemas.microsoft.com/office/drawing/2014/main" id="{31924706-FD6B-43BB-9394-EC6252E6B868}"/>
              </a:ext>
            </a:extLst>
          </p:cNvPr>
          <p:cNvPicPr>
            <a:picLocks noChangeAspect="1"/>
          </p:cNvPicPr>
          <p:nvPr/>
        </p:nvPicPr>
        <p:blipFill>
          <a:blip r:embed="rId2"/>
          <a:stretch>
            <a:fillRect/>
          </a:stretch>
        </p:blipFill>
        <p:spPr>
          <a:xfrm>
            <a:off x="193376" y="1601912"/>
            <a:ext cx="6624111" cy="5256088"/>
          </a:xfrm>
          <a:prstGeom prst="rect">
            <a:avLst/>
          </a:prstGeom>
        </p:spPr>
      </p:pic>
      <p:pic>
        <p:nvPicPr>
          <p:cNvPr id="7" name="图片 6">
            <a:extLst>
              <a:ext uri="{FF2B5EF4-FFF2-40B4-BE49-F238E27FC236}">
                <a16:creationId xmlns:a16="http://schemas.microsoft.com/office/drawing/2014/main" id="{346F46BD-83A4-4620-B66E-6FC4C8B66B3B}"/>
              </a:ext>
            </a:extLst>
          </p:cNvPr>
          <p:cNvPicPr>
            <a:picLocks noChangeAspect="1"/>
          </p:cNvPicPr>
          <p:nvPr/>
        </p:nvPicPr>
        <p:blipFill>
          <a:blip r:embed="rId3"/>
          <a:stretch>
            <a:fillRect/>
          </a:stretch>
        </p:blipFill>
        <p:spPr>
          <a:xfrm>
            <a:off x="6957285" y="2874195"/>
            <a:ext cx="5041339" cy="3824007"/>
          </a:xfrm>
          <a:prstGeom prst="rect">
            <a:avLst/>
          </a:prstGeom>
        </p:spPr>
      </p:pic>
      <p:sp>
        <p:nvSpPr>
          <p:cNvPr id="9" name="文本框 8">
            <a:extLst>
              <a:ext uri="{FF2B5EF4-FFF2-40B4-BE49-F238E27FC236}">
                <a16:creationId xmlns:a16="http://schemas.microsoft.com/office/drawing/2014/main" id="{7D394FB2-FE1C-43C8-9067-77A845AFE8E7}"/>
              </a:ext>
            </a:extLst>
          </p:cNvPr>
          <p:cNvSpPr txBox="1"/>
          <p:nvPr/>
        </p:nvSpPr>
        <p:spPr>
          <a:xfrm>
            <a:off x="7041573" y="1993008"/>
            <a:ext cx="3894763" cy="369332"/>
          </a:xfrm>
          <a:prstGeom prst="rect">
            <a:avLst/>
          </a:prstGeom>
          <a:noFill/>
        </p:spPr>
        <p:txBody>
          <a:bodyPr wrap="square">
            <a:spAutoFit/>
          </a:bodyPr>
          <a:lstStyle/>
          <a:p>
            <a:r>
              <a:rPr lang="en-US" altLang="zh-CN" b="0" i="0" dirty="0">
                <a:solidFill>
                  <a:srgbClr val="252C33"/>
                </a:solidFill>
                <a:effectLst/>
                <a:latin typeface="Open Sans" panose="020B0606030504020204" pitchFamily="34" charset="0"/>
              </a:rPr>
              <a:t>The complexity of build() is </a:t>
            </a:r>
            <a:r>
              <a:rPr lang="en-US" altLang="zh-CN" b="0" i="0" dirty="0">
                <a:solidFill>
                  <a:srgbClr val="FF0000"/>
                </a:solidFill>
                <a:effectLst/>
                <a:latin typeface="Open Sans" panose="020B0606030504020204" pitchFamily="34" charset="0"/>
              </a:rPr>
              <a:t>O(N)</a:t>
            </a:r>
            <a:r>
              <a:rPr lang="en-US" altLang="zh-CN" b="0" i="0" dirty="0">
                <a:solidFill>
                  <a:srgbClr val="252C33"/>
                </a:solidFill>
                <a:effectLst/>
                <a:latin typeface="Open Sans" panose="020B0606030504020204" pitchFamily="34" charset="0"/>
              </a:rPr>
              <a:t>.</a:t>
            </a:r>
            <a:endParaRPr lang="zh-CN" altLang="en-US" dirty="0"/>
          </a:p>
        </p:txBody>
      </p:sp>
    </p:spTree>
    <p:extLst>
      <p:ext uri="{BB962C8B-B14F-4D97-AF65-F5344CB8AC3E}">
        <p14:creationId xmlns:p14="http://schemas.microsoft.com/office/powerpoint/2010/main" val="3056751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AFDF775-F73E-49FC-A75A-09CF9598BBD2}"/>
              </a:ext>
            </a:extLst>
          </p:cNvPr>
          <p:cNvPicPr>
            <a:picLocks noChangeAspect="1"/>
          </p:cNvPicPr>
          <p:nvPr/>
        </p:nvPicPr>
        <p:blipFill>
          <a:blip r:embed="rId2"/>
          <a:stretch>
            <a:fillRect/>
          </a:stretch>
        </p:blipFill>
        <p:spPr>
          <a:xfrm>
            <a:off x="-1" y="0"/>
            <a:ext cx="6896529" cy="6858000"/>
          </a:xfrm>
          <a:prstGeom prst="rect">
            <a:avLst/>
          </a:prstGeom>
        </p:spPr>
      </p:pic>
      <p:sp>
        <p:nvSpPr>
          <p:cNvPr id="6" name="文本框 5">
            <a:extLst>
              <a:ext uri="{FF2B5EF4-FFF2-40B4-BE49-F238E27FC236}">
                <a16:creationId xmlns:a16="http://schemas.microsoft.com/office/drawing/2014/main" id="{B4B726DA-6018-400F-BC21-3171FFF69BAF}"/>
              </a:ext>
            </a:extLst>
          </p:cNvPr>
          <p:cNvSpPr txBox="1"/>
          <p:nvPr/>
        </p:nvSpPr>
        <p:spPr>
          <a:xfrm>
            <a:off x="7041573" y="1993008"/>
            <a:ext cx="4535076" cy="369332"/>
          </a:xfrm>
          <a:prstGeom prst="rect">
            <a:avLst/>
          </a:prstGeom>
          <a:noFill/>
        </p:spPr>
        <p:txBody>
          <a:bodyPr wrap="square">
            <a:spAutoFit/>
          </a:bodyPr>
          <a:lstStyle/>
          <a:p>
            <a:r>
              <a:rPr lang="en-US" altLang="zh-CN" b="0" i="0" dirty="0">
                <a:solidFill>
                  <a:srgbClr val="252C33"/>
                </a:solidFill>
                <a:effectLst/>
                <a:latin typeface="Open Sans" panose="020B0606030504020204" pitchFamily="34" charset="0"/>
              </a:rPr>
              <a:t>The complexity of </a:t>
            </a:r>
            <a:r>
              <a:rPr lang="en-US" altLang="zh-CN" dirty="0">
                <a:solidFill>
                  <a:srgbClr val="252C33"/>
                </a:solidFill>
                <a:latin typeface="Open Sans" panose="020B0606030504020204" pitchFamily="34" charset="0"/>
              </a:rPr>
              <a:t>update</a:t>
            </a:r>
            <a:r>
              <a:rPr lang="en-US" altLang="zh-CN" b="0" i="0" dirty="0">
                <a:solidFill>
                  <a:srgbClr val="252C33"/>
                </a:solidFill>
                <a:effectLst/>
                <a:latin typeface="Open Sans" panose="020B0606030504020204" pitchFamily="34" charset="0"/>
              </a:rPr>
              <a:t>() is </a:t>
            </a:r>
            <a:r>
              <a:rPr lang="en-US" altLang="zh-CN" b="0" i="0" dirty="0">
                <a:solidFill>
                  <a:srgbClr val="FF0000"/>
                </a:solidFill>
                <a:effectLst/>
                <a:latin typeface="Open Sans" panose="020B0606030504020204" pitchFamily="34" charset="0"/>
              </a:rPr>
              <a:t>O(</a:t>
            </a:r>
            <a:r>
              <a:rPr lang="en-US" altLang="zh-CN" b="0" i="0" dirty="0" err="1">
                <a:solidFill>
                  <a:srgbClr val="FF0000"/>
                </a:solidFill>
                <a:effectLst/>
                <a:latin typeface="Open Sans" panose="020B0606030504020204" pitchFamily="34" charset="0"/>
              </a:rPr>
              <a:t>logN</a:t>
            </a:r>
            <a:r>
              <a:rPr lang="en-US" altLang="zh-CN" b="0" i="0" dirty="0">
                <a:solidFill>
                  <a:srgbClr val="FF0000"/>
                </a:solidFill>
                <a:effectLst/>
                <a:latin typeface="Open Sans" panose="020B0606030504020204" pitchFamily="34" charset="0"/>
              </a:rPr>
              <a:t>)</a:t>
            </a:r>
            <a:r>
              <a:rPr lang="en-US" altLang="zh-CN" b="0" i="0" dirty="0">
                <a:solidFill>
                  <a:srgbClr val="252C33"/>
                </a:solidFill>
                <a:effectLst/>
                <a:latin typeface="Open Sans" panose="020B0606030504020204" pitchFamily="34" charset="0"/>
              </a:rPr>
              <a:t>.</a:t>
            </a:r>
            <a:endParaRPr lang="zh-CN" altLang="en-US" dirty="0"/>
          </a:p>
        </p:txBody>
      </p:sp>
    </p:spTree>
    <p:extLst>
      <p:ext uri="{BB962C8B-B14F-4D97-AF65-F5344CB8AC3E}">
        <p14:creationId xmlns:p14="http://schemas.microsoft.com/office/powerpoint/2010/main" val="2259639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C20277F-3507-4C47-B73E-25CB7DBD074E}"/>
              </a:ext>
            </a:extLst>
          </p:cNvPr>
          <p:cNvPicPr>
            <a:picLocks noChangeAspect="1"/>
          </p:cNvPicPr>
          <p:nvPr/>
        </p:nvPicPr>
        <p:blipFill>
          <a:blip r:embed="rId2"/>
          <a:stretch>
            <a:fillRect/>
          </a:stretch>
        </p:blipFill>
        <p:spPr>
          <a:xfrm>
            <a:off x="0" y="-1"/>
            <a:ext cx="10115005" cy="5930283"/>
          </a:xfrm>
          <a:prstGeom prst="rect">
            <a:avLst/>
          </a:prstGeom>
        </p:spPr>
      </p:pic>
      <p:sp>
        <p:nvSpPr>
          <p:cNvPr id="6" name="文本框 5">
            <a:extLst>
              <a:ext uri="{FF2B5EF4-FFF2-40B4-BE49-F238E27FC236}">
                <a16:creationId xmlns:a16="http://schemas.microsoft.com/office/drawing/2014/main" id="{C320A5F9-CA9A-483C-BBD3-A3998F8A9C12}"/>
              </a:ext>
            </a:extLst>
          </p:cNvPr>
          <p:cNvSpPr txBox="1"/>
          <p:nvPr/>
        </p:nvSpPr>
        <p:spPr>
          <a:xfrm>
            <a:off x="374443" y="6227656"/>
            <a:ext cx="5025693" cy="369332"/>
          </a:xfrm>
          <a:prstGeom prst="rect">
            <a:avLst/>
          </a:prstGeom>
          <a:noFill/>
        </p:spPr>
        <p:txBody>
          <a:bodyPr wrap="square">
            <a:spAutoFit/>
          </a:bodyPr>
          <a:lstStyle/>
          <a:p>
            <a:r>
              <a:rPr lang="en-US" altLang="zh-CN" b="0" i="0" dirty="0">
                <a:solidFill>
                  <a:srgbClr val="252C33"/>
                </a:solidFill>
                <a:effectLst/>
                <a:latin typeface="Open Sans" panose="020B0606030504020204" pitchFamily="34" charset="0"/>
              </a:rPr>
              <a:t>The complexity of query() is </a:t>
            </a:r>
            <a:r>
              <a:rPr lang="en-US" altLang="zh-CN" b="0" i="0" dirty="0">
                <a:solidFill>
                  <a:srgbClr val="FF0000"/>
                </a:solidFill>
                <a:effectLst/>
                <a:latin typeface="Open Sans" panose="020B0606030504020204" pitchFamily="34" charset="0"/>
              </a:rPr>
              <a:t>O(</a:t>
            </a:r>
            <a:r>
              <a:rPr lang="en-US" altLang="zh-CN" b="0" i="0" dirty="0" err="1">
                <a:solidFill>
                  <a:srgbClr val="FF0000"/>
                </a:solidFill>
                <a:effectLst/>
                <a:latin typeface="Open Sans" panose="020B0606030504020204" pitchFamily="34" charset="0"/>
              </a:rPr>
              <a:t>logN</a:t>
            </a:r>
            <a:r>
              <a:rPr lang="en-US" altLang="zh-CN" b="0" i="0" dirty="0">
                <a:solidFill>
                  <a:srgbClr val="FF0000"/>
                </a:solidFill>
                <a:effectLst/>
                <a:latin typeface="Open Sans" panose="020B0606030504020204" pitchFamily="34" charset="0"/>
              </a:rPr>
              <a:t>)</a:t>
            </a:r>
            <a:r>
              <a:rPr lang="en-US" altLang="zh-CN" b="0" i="0" dirty="0">
                <a:solidFill>
                  <a:srgbClr val="252C33"/>
                </a:solidFill>
                <a:effectLst/>
                <a:latin typeface="Open Sans" panose="020B0606030504020204" pitchFamily="34" charset="0"/>
              </a:rPr>
              <a:t>.</a:t>
            </a:r>
            <a:endParaRPr lang="zh-CN" altLang="en-US" dirty="0"/>
          </a:p>
        </p:txBody>
      </p:sp>
    </p:spTree>
    <p:extLst>
      <p:ext uri="{BB962C8B-B14F-4D97-AF65-F5344CB8AC3E}">
        <p14:creationId xmlns:p14="http://schemas.microsoft.com/office/powerpoint/2010/main" val="1269452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a:extLst>
              <a:ext uri="{FF2B5EF4-FFF2-40B4-BE49-F238E27FC236}">
                <a16:creationId xmlns:a16="http://schemas.microsoft.com/office/drawing/2014/main" id="{831DEFE0-6C5E-47F8-9D43-294C66CEEB27}"/>
              </a:ext>
            </a:extLst>
          </p:cNvPr>
          <p:cNvSpPr>
            <a:spLocks noGrp="1" noChangeArrowheads="1"/>
          </p:cNvSpPr>
          <p:nvPr>
            <p:ph type="title"/>
          </p:nvPr>
        </p:nvSpPr>
        <p:spPr>
          <a:xfrm>
            <a:off x="1597982" y="848466"/>
            <a:ext cx="8487052" cy="644525"/>
          </a:xfrm>
        </p:spPr>
        <p:txBody>
          <a:bodyPr/>
          <a:lstStyle/>
          <a:p>
            <a:pPr algn="ctr"/>
            <a:r>
              <a:rPr lang="en-US" altLang="zh-CN" sz="4000">
                <a:solidFill>
                  <a:srgbClr val="0070C0"/>
                </a:solidFill>
              </a:rPr>
              <a:t>Exercise--</a:t>
            </a:r>
            <a:r>
              <a:rPr lang="en-US" altLang="zh-CN" sz="4000">
                <a:solidFill>
                  <a:srgbClr val="FF0000"/>
                </a:solidFill>
              </a:rPr>
              <a:t>Minimum</a:t>
            </a:r>
            <a:endParaRPr lang="zh-CN" altLang="en-US" sz="4000">
              <a:solidFill>
                <a:srgbClr val="FF0000"/>
              </a:solidFill>
            </a:endParaRPr>
          </a:p>
        </p:txBody>
      </p:sp>
      <p:sp>
        <p:nvSpPr>
          <p:cNvPr id="23555" name="内容占位符 2">
            <a:extLst>
              <a:ext uri="{FF2B5EF4-FFF2-40B4-BE49-F238E27FC236}">
                <a16:creationId xmlns:a16="http://schemas.microsoft.com/office/drawing/2014/main" id="{F42248D7-599D-403B-BDC4-E0F2A438D87F}"/>
              </a:ext>
            </a:extLst>
          </p:cNvPr>
          <p:cNvSpPr>
            <a:spLocks noGrp="1" noChangeArrowheads="1"/>
          </p:cNvSpPr>
          <p:nvPr>
            <p:ph idx="1"/>
          </p:nvPr>
        </p:nvSpPr>
        <p:spPr>
          <a:xfrm>
            <a:off x="4102593" y="2141168"/>
            <a:ext cx="3986813" cy="544327"/>
          </a:xfrm>
        </p:spPr>
        <p:txBody>
          <a:bodyPr>
            <a:noAutofit/>
          </a:bodyPr>
          <a:lstStyle/>
          <a:p>
            <a:pPr marL="0" indent="0">
              <a:buNone/>
              <a:defRPr/>
            </a:pPr>
            <a:r>
              <a:rPr lang="en-US" altLang="zh-CN" sz="4000" dirty="0">
                <a:solidFill>
                  <a:srgbClr val="FF0000"/>
                </a:solidFill>
              </a:rPr>
              <a:t>{1, 2, 5, 8, 6, 4 ,3}</a:t>
            </a:r>
          </a:p>
        </p:txBody>
      </p:sp>
      <p:sp>
        <p:nvSpPr>
          <p:cNvPr id="2" name="文本框 1">
            <a:extLst>
              <a:ext uri="{FF2B5EF4-FFF2-40B4-BE49-F238E27FC236}">
                <a16:creationId xmlns:a16="http://schemas.microsoft.com/office/drawing/2014/main" id="{C7B8526F-81B3-4803-9C6A-E1DEAA39704B}"/>
              </a:ext>
            </a:extLst>
          </p:cNvPr>
          <p:cNvSpPr txBox="1"/>
          <p:nvPr/>
        </p:nvSpPr>
        <p:spPr>
          <a:xfrm>
            <a:off x="4102593" y="4172505"/>
            <a:ext cx="4740676" cy="646331"/>
          </a:xfrm>
          <a:prstGeom prst="rect">
            <a:avLst/>
          </a:prstGeom>
          <a:noFill/>
        </p:spPr>
        <p:txBody>
          <a:bodyPr wrap="square" rtlCol="0">
            <a:spAutoFit/>
          </a:bodyPr>
          <a:lstStyle/>
          <a:p>
            <a:r>
              <a:rPr lang="en-US" altLang="zh-CN" dirty="0"/>
              <a:t>N = 2^k       -&gt; 2N-1</a:t>
            </a:r>
          </a:p>
          <a:p>
            <a:r>
              <a:rPr lang="en-US" altLang="zh-CN" dirty="0"/>
              <a:t>N = 2^k+1   -&gt; 2*2</a:t>
            </a:r>
            <a:r>
              <a:rPr lang="en-US" altLang="zh-CN" baseline="30000" dirty="0"/>
              <a:t>k+1</a:t>
            </a:r>
            <a:r>
              <a:rPr lang="en-US" altLang="zh-CN" dirty="0"/>
              <a:t>-1=4(N-1)-1</a:t>
            </a:r>
            <a:r>
              <a:rPr lang="zh-CN" altLang="en-US" dirty="0"/>
              <a:t>≈</a:t>
            </a:r>
            <a:r>
              <a:rPr lang="en-US" altLang="zh-CN" dirty="0"/>
              <a:t> 4N</a:t>
            </a:r>
            <a:endParaRPr lang="zh-CN" altLang="en-US" dirty="0"/>
          </a:p>
        </p:txBody>
      </p:sp>
      <p:sp>
        <p:nvSpPr>
          <p:cNvPr id="5" name="内容占位符 2">
            <a:extLst>
              <a:ext uri="{FF2B5EF4-FFF2-40B4-BE49-F238E27FC236}">
                <a16:creationId xmlns:a16="http://schemas.microsoft.com/office/drawing/2014/main" id="{2A3BEDB0-483E-4691-9FC0-E2B54E143FC6}"/>
              </a:ext>
            </a:extLst>
          </p:cNvPr>
          <p:cNvSpPr txBox="1">
            <a:spLocks noChangeArrowheads="1"/>
          </p:cNvSpPr>
          <p:nvPr/>
        </p:nvSpPr>
        <p:spPr>
          <a:xfrm>
            <a:off x="4102593" y="2940876"/>
            <a:ext cx="3986813" cy="5443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altLang="zh-CN" sz="4000" dirty="0">
                <a:solidFill>
                  <a:srgbClr val="FF0000"/>
                </a:solidFill>
              </a:rPr>
              <a:t>{1, 2, 5, 8, 6, 4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150AA1-01F7-4300-9E52-081715E2D7C3}"/>
              </a:ext>
            </a:extLst>
          </p:cNvPr>
          <p:cNvSpPr>
            <a:spLocks noGrp="1"/>
          </p:cNvSpPr>
          <p:nvPr>
            <p:ph type="title"/>
          </p:nvPr>
        </p:nvSpPr>
        <p:spPr>
          <a:xfrm>
            <a:off x="225641" y="249716"/>
            <a:ext cx="10515600" cy="1325563"/>
          </a:xfrm>
        </p:spPr>
        <p:txBody>
          <a:bodyPr/>
          <a:lstStyle/>
          <a:p>
            <a:pPr algn="ctr"/>
            <a:r>
              <a:rPr lang="en-US" altLang="zh-CN">
                <a:hlinkClick r:id="rId2" action="ppaction://hlinkfile"/>
              </a:rPr>
              <a:t>Lost Cows</a:t>
            </a:r>
            <a:endParaRPr lang="zh-CN" altLang="en-US"/>
          </a:p>
        </p:txBody>
      </p:sp>
      <p:sp>
        <p:nvSpPr>
          <p:cNvPr id="3" name="内容占位符 2">
            <a:extLst>
              <a:ext uri="{FF2B5EF4-FFF2-40B4-BE49-F238E27FC236}">
                <a16:creationId xmlns:a16="http://schemas.microsoft.com/office/drawing/2014/main" id="{FE5755A2-E06A-4929-AF2E-87FB49D6D3B9}"/>
              </a:ext>
            </a:extLst>
          </p:cNvPr>
          <p:cNvSpPr>
            <a:spLocks noGrp="1"/>
          </p:cNvSpPr>
          <p:nvPr>
            <p:ph idx="1"/>
          </p:nvPr>
        </p:nvSpPr>
        <p:spPr>
          <a:xfrm>
            <a:off x="2700291" y="2209399"/>
            <a:ext cx="8229600" cy="2238313"/>
          </a:xfrm>
        </p:spPr>
        <p:txBody>
          <a:bodyPr/>
          <a:lstStyle/>
          <a:p>
            <a:pPr>
              <a:defRPr/>
            </a:pPr>
            <a:r>
              <a:rPr lang="en-US" altLang="zh-CN"/>
              <a:t>Sample</a:t>
            </a:r>
            <a:r>
              <a:rPr lang="zh-CN" altLang="en-US"/>
              <a:t> </a:t>
            </a:r>
            <a:r>
              <a:rPr lang="en-US" altLang="zh-CN"/>
              <a:t>Input:</a:t>
            </a:r>
            <a:endParaRPr lang="zh-CN" altLang="zh-CN" dirty="0"/>
          </a:p>
          <a:p>
            <a:pPr marL="0" indent="0">
              <a:buNone/>
              <a:defRPr/>
            </a:pPr>
            <a:r>
              <a:rPr lang="en-US" altLang="zh-CN" dirty="0"/>
              <a:t>	0 1 2 1 </a:t>
            </a:r>
            <a:r>
              <a:rPr lang="en-US" altLang="zh-CN"/>
              <a:t>0         </a:t>
            </a:r>
            <a:r>
              <a:rPr lang="en-US" altLang="zh-CN" sz="2400">
                <a:solidFill>
                  <a:srgbClr val="0070C0"/>
                </a:solidFill>
              </a:rPr>
              <a:t>(</a:t>
            </a:r>
            <a:r>
              <a:rPr lang="en-US" altLang="zh-CN">
                <a:solidFill>
                  <a:srgbClr val="0070C0"/>
                </a:solidFill>
              </a:rPr>
              <a:t>pre[]</a:t>
            </a:r>
            <a:r>
              <a:rPr lang="en-US" altLang="zh-CN" sz="2400">
                <a:solidFill>
                  <a:srgbClr val="0070C0"/>
                </a:solidFill>
              </a:rPr>
              <a:t>)</a:t>
            </a:r>
            <a:endParaRPr lang="zh-CN" altLang="zh-CN" sz="2400" dirty="0">
              <a:solidFill>
                <a:srgbClr val="0070C0"/>
              </a:solidFill>
            </a:endParaRPr>
          </a:p>
          <a:p>
            <a:pPr>
              <a:defRPr/>
            </a:pPr>
            <a:r>
              <a:rPr lang="en-US" altLang="zh-CN"/>
              <a:t>Sample</a:t>
            </a:r>
            <a:r>
              <a:rPr lang="zh-CN" altLang="en-US"/>
              <a:t> </a:t>
            </a:r>
            <a:r>
              <a:rPr lang="en-US" altLang="zh-CN"/>
              <a:t>Output:</a:t>
            </a:r>
            <a:endParaRPr lang="zh-CN" altLang="zh-CN" dirty="0"/>
          </a:p>
          <a:p>
            <a:pPr marL="0" indent="0">
              <a:buNone/>
              <a:defRPr/>
            </a:pPr>
            <a:r>
              <a:rPr lang="en-US" altLang="zh-CN" dirty="0"/>
              <a:t>	2 4 5 3 </a:t>
            </a:r>
            <a:r>
              <a:rPr lang="en-US" altLang="zh-CN"/>
              <a:t>1          </a:t>
            </a:r>
            <a:r>
              <a:rPr lang="en-US" altLang="zh-CN" sz="2400">
                <a:solidFill>
                  <a:srgbClr val="0070C0"/>
                </a:solidFill>
              </a:rPr>
              <a:t>(</a:t>
            </a:r>
            <a:r>
              <a:rPr lang="en-US" altLang="zh-CN">
                <a:solidFill>
                  <a:srgbClr val="0070C0"/>
                </a:solidFill>
              </a:rPr>
              <a:t>ans[])</a:t>
            </a:r>
            <a:endParaRPr lang="zh-CN" altLang="zh-CN" dirty="0"/>
          </a:p>
        </p:txBody>
      </p:sp>
      <p:sp>
        <p:nvSpPr>
          <p:cNvPr id="5" name="文本框 4">
            <a:extLst>
              <a:ext uri="{FF2B5EF4-FFF2-40B4-BE49-F238E27FC236}">
                <a16:creationId xmlns:a16="http://schemas.microsoft.com/office/drawing/2014/main" id="{2229D12D-F2AA-4A3D-9305-B4EFFFA63A6F}"/>
              </a:ext>
            </a:extLst>
          </p:cNvPr>
          <p:cNvSpPr txBox="1"/>
          <p:nvPr/>
        </p:nvSpPr>
        <p:spPr>
          <a:xfrm>
            <a:off x="2630008" y="1430673"/>
            <a:ext cx="6167763" cy="461665"/>
          </a:xfrm>
          <a:prstGeom prst="rect">
            <a:avLst/>
          </a:prstGeom>
          <a:noFill/>
        </p:spPr>
        <p:txBody>
          <a:bodyPr wrap="square">
            <a:spAutoFit/>
          </a:bodyPr>
          <a:lstStyle/>
          <a:p>
            <a:r>
              <a:rPr lang="en-US" altLang="zh-CN" sz="2400">
                <a:solidFill>
                  <a:srgbClr val="FF0000"/>
                </a:solidFill>
              </a:rPr>
              <a:t>modifying the array by replacing one element</a:t>
            </a:r>
            <a:endParaRPr lang="zh-CN" altLang="en-US" sz="2400">
              <a:solidFill>
                <a:srgbClr val="FF0000"/>
              </a:solidFill>
            </a:endParaRPr>
          </a:p>
        </p:txBody>
      </p:sp>
    </p:spTree>
    <p:extLst>
      <p:ext uri="{BB962C8B-B14F-4D97-AF65-F5344CB8AC3E}">
        <p14:creationId xmlns:p14="http://schemas.microsoft.com/office/powerpoint/2010/main" val="2327440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a:extLst>
              <a:ext uri="{FF2B5EF4-FFF2-40B4-BE49-F238E27FC236}">
                <a16:creationId xmlns:a16="http://schemas.microsoft.com/office/drawing/2014/main" id="{3148A401-B86A-48CF-8006-D8E66180A5AD}"/>
              </a:ext>
            </a:extLst>
          </p:cNvPr>
          <p:cNvSpPr>
            <a:spLocks noGrp="1" noChangeArrowheads="1"/>
          </p:cNvSpPr>
          <p:nvPr>
            <p:ph idx="1"/>
          </p:nvPr>
        </p:nvSpPr>
        <p:spPr>
          <a:xfrm>
            <a:off x="1981200" y="908051"/>
            <a:ext cx="8229600" cy="5616575"/>
          </a:xfrm>
        </p:spPr>
        <p:txBody>
          <a:bodyPr>
            <a:normAutofit lnSpcReduction="10000"/>
          </a:bodyPr>
          <a:lstStyle/>
          <a:p>
            <a:pPr marL="0" indent="0">
              <a:buNone/>
            </a:pPr>
            <a:r>
              <a:rPr lang="en-US" altLang="zh-CN" sz="2400" dirty="0">
                <a:solidFill>
                  <a:srgbClr val="7030A0"/>
                </a:solidFill>
              </a:rPr>
              <a:t>   pre[] = {0 1 2 1 0}                 </a:t>
            </a:r>
            <a:r>
              <a:rPr lang="en-US" altLang="zh-CN" sz="2400" dirty="0" err="1">
                <a:solidFill>
                  <a:srgbClr val="7030A0"/>
                </a:solidFill>
              </a:rPr>
              <a:t>ans</a:t>
            </a:r>
            <a:r>
              <a:rPr lang="en-US" altLang="zh-CN" sz="2400" dirty="0">
                <a:solidFill>
                  <a:srgbClr val="7030A0"/>
                </a:solidFill>
              </a:rPr>
              <a:t>[] = {2 4 5 3 1} </a:t>
            </a:r>
          </a:p>
          <a:p>
            <a:pPr marL="0" indent="0">
              <a:buNone/>
            </a:pPr>
            <a:r>
              <a:rPr lang="en-US" altLang="zh-CN" sz="2400" dirty="0"/>
              <a:t>1. </a:t>
            </a:r>
            <a:r>
              <a:rPr lang="en-US" altLang="zh-CN" sz="2400" dirty="0">
                <a:solidFill>
                  <a:srgbClr val="FF0000"/>
                </a:solidFill>
              </a:rPr>
              <a:t>pre[5]=0</a:t>
            </a:r>
            <a:r>
              <a:rPr lang="en-US" altLang="zh-CN" sz="2400" dirty="0"/>
              <a:t> means there are 0 smaller number before </a:t>
            </a:r>
            <a:r>
              <a:rPr lang="en-US" altLang="zh-CN" sz="2400" dirty="0" err="1"/>
              <a:t>ans</a:t>
            </a:r>
            <a:r>
              <a:rPr lang="en-US" altLang="zh-CN" sz="2400" dirty="0"/>
              <a:t>[5], that is, </a:t>
            </a:r>
            <a:r>
              <a:rPr lang="en-US" altLang="zh-CN" sz="2400" dirty="0" err="1"/>
              <a:t>ans</a:t>
            </a:r>
            <a:r>
              <a:rPr lang="en-US" altLang="zh-CN" sz="2400" dirty="0"/>
              <a:t>[5] is the smallest. Among 1~5, 1 is the smallest, so </a:t>
            </a:r>
            <a:r>
              <a:rPr lang="en-US" altLang="zh-CN" sz="2400" dirty="0" err="1">
                <a:solidFill>
                  <a:srgbClr val="FF0000"/>
                </a:solidFill>
              </a:rPr>
              <a:t>ans</a:t>
            </a:r>
            <a:r>
              <a:rPr lang="en-US" altLang="zh-CN" sz="2400" dirty="0">
                <a:solidFill>
                  <a:srgbClr val="FF0000"/>
                </a:solidFill>
              </a:rPr>
              <a:t>[5]= 1</a:t>
            </a:r>
            <a:r>
              <a:rPr lang="en-US" altLang="zh-CN" sz="2400" dirty="0"/>
              <a:t>. The first 4 numbers of </a:t>
            </a:r>
            <a:r>
              <a:rPr lang="en-US" altLang="zh-CN" sz="2400" dirty="0" err="1"/>
              <a:t>ans</a:t>
            </a:r>
            <a:r>
              <a:rPr lang="en-US" altLang="zh-CN" sz="2400" dirty="0"/>
              <a:t>[] no longer include 1, so the remaining numbers are 2~5.</a:t>
            </a:r>
            <a:endParaRPr lang="zh-CN" altLang="zh-CN" sz="2400" dirty="0"/>
          </a:p>
          <a:p>
            <a:pPr marL="0" indent="0">
              <a:buNone/>
            </a:pPr>
            <a:r>
              <a:rPr lang="en-US" altLang="zh-CN" sz="2400" dirty="0"/>
              <a:t>2. </a:t>
            </a:r>
            <a:r>
              <a:rPr lang="en-US" altLang="zh-CN" sz="2400" dirty="0">
                <a:solidFill>
                  <a:srgbClr val="FF0000"/>
                </a:solidFill>
              </a:rPr>
              <a:t>pre[4]=1;</a:t>
            </a:r>
            <a:r>
              <a:rPr lang="en-US" altLang="zh-CN" sz="2400" dirty="0"/>
              <a:t> among the remaining numbers 2~5, number 3 is the second one in ascending order, so </a:t>
            </a:r>
            <a:r>
              <a:rPr lang="en-US" altLang="zh-CN" sz="2400" dirty="0" err="1">
                <a:solidFill>
                  <a:srgbClr val="FF0000"/>
                </a:solidFill>
              </a:rPr>
              <a:t>ans</a:t>
            </a:r>
            <a:r>
              <a:rPr lang="en-US" altLang="zh-CN" sz="2400" dirty="0">
                <a:solidFill>
                  <a:srgbClr val="FF0000"/>
                </a:solidFill>
              </a:rPr>
              <a:t>[4]=3</a:t>
            </a:r>
            <a:r>
              <a:rPr lang="en-US" altLang="zh-CN" sz="2400" dirty="0"/>
              <a:t>.</a:t>
            </a:r>
          </a:p>
          <a:p>
            <a:pPr marL="0" indent="0">
              <a:buNone/>
            </a:pPr>
            <a:r>
              <a:rPr lang="en-US" altLang="zh-CN" sz="2400" dirty="0"/>
              <a:t>3. </a:t>
            </a:r>
            <a:r>
              <a:rPr lang="en-US" altLang="zh-CN" sz="2400" dirty="0">
                <a:solidFill>
                  <a:srgbClr val="FF0000"/>
                </a:solidFill>
              </a:rPr>
              <a:t>pre[3]=2;</a:t>
            </a:r>
            <a:r>
              <a:rPr lang="en-US" altLang="zh-CN" sz="2400" dirty="0"/>
              <a:t> among the remaining numbers 2,4,5,</a:t>
            </a:r>
            <a:r>
              <a:rPr lang="zh-CN" altLang="zh-CN" sz="2400" dirty="0"/>
              <a:t> </a:t>
            </a:r>
            <a:r>
              <a:rPr lang="en-US" altLang="zh-CN" sz="2400" dirty="0"/>
              <a:t>5 is the third one in ascending order, so </a:t>
            </a:r>
            <a:r>
              <a:rPr lang="en-US" altLang="zh-CN" sz="2400" dirty="0" err="1">
                <a:solidFill>
                  <a:srgbClr val="FF0000"/>
                </a:solidFill>
              </a:rPr>
              <a:t>ans</a:t>
            </a:r>
            <a:r>
              <a:rPr lang="en-US" altLang="zh-CN" sz="2400" dirty="0">
                <a:solidFill>
                  <a:srgbClr val="FF0000"/>
                </a:solidFill>
              </a:rPr>
              <a:t>[3]=5.</a:t>
            </a:r>
            <a:endParaRPr lang="zh-CN" altLang="zh-CN" sz="2400" dirty="0"/>
          </a:p>
          <a:p>
            <a:pPr marL="0" indent="0">
              <a:buNone/>
            </a:pPr>
            <a:r>
              <a:rPr lang="en-US" altLang="zh-CN" sz="2400" dirty="0"/>
              <a:t>4. </a:t>
            </a:r>
            <a:r>
              <a:rPr lang="en-US" altLang="zh-CN" sz="2400" dirty="0">
                <a:solidFill>
                  <a:srgbClr val="FF0000"/>
                </a:solidFill>
              </a:rPr>
              <a:t>pre[2]=1;</a:t>
            </a:r>
            <a:r>
              <a:rPr lang="en-US" altLang="zh-CN" sz="2400" dirty="0"/>
              <a:t> among the remaining numbers 2,4, 4 is the second one in ascending order, so </a:t>
            </a:r>
            <a:r>
              <a:rPr lang="en-US" altLang="zh-CN" sz="2400" dirty="0" err="1">
                <a:solidFill>
                  <a:srgbClr val="FF0000"/>
                </a:solidFill>
              </a:rPr>
              <a:t>ans</a:t>
            </a:r>
            <a:r>
              <a:rPr lang="en-US" altLang="zh-CN" sz="2400" dirty="0">
                <a:solidFill>
                  <a:srgbClr val="FF0000"/>
                </a:solidFill>
              </a:rPr>
              <a:t>[2]=4</a:t>
            </a:r>
            <a:r>
              <a:rPr lang="en-US" altLang="zh-CN" sz="2400" dirty="0"/>
              <a:t>.</a:t>
            </a:r>
            <a:endParaRPr lang="zh-CN" altLang="zh-CN" sz="2400" dirty="0"/>
          </a:p>
          <a:p>
            <a:pPr marL="0" indent="0">
              <a:buNone/>
            </a:pPr>
            <a:r>
              <a:rPr lang="en-US" altLang="zh-CN" sz="2400" dirty="0"/>
              <a:t>5. </a:t>
            </a:r>
            <a:r>
              <a:rPr lang="en-US" altLang="zh-CN" sz="2400" dirty="0">
                <a:solidFill>
                  <a:srgbClr val="FF0000"/>
                </a:solidFill>
              </a:rPr>
              <a:t>pre[1]=0;</a:t>
            </a:r>
            <a:r>
              <a:rPr lang="en-US" altLang="zh-CN" sz="2400" dirty="0"/>
              <a:t> the remaining number is 2, so </a:t>
            </a:r>
            <a:r>
              <a:rPr lang="en-US" altLang="zh-CN" sz="2400" dirty="0" err="1">
                <a:solidFill>
                  <a:srgbClr val="FF0000"/>
                </a:solidFill>
              </a:rPr>
              <a:t>ans</a:t>
            </a:r>
            <a:r>
              <a:rPr lang="en-US" altLang="zh-CN" sz="2400" dirty="0">
                <a:solidFill>
                  <a:srgbClr val="FF0000"/>
                </a:solidFill>
              </a:rPr>
              <a:t>[1]=2</a:t>
            </a:r>
            <a:r>
              <a:rPr lang="en-US" altLang="zh-CN" sz="2400" dirty="0"/>
              <a:t>.</a:t>
            </a:r>
            <a:endParaRPr lang="zh-CN" altLang="zh-CN" sz="2400" dirty="0"/>
          </a:p>
          <a:p>
            <a:pPr marL="0" indent="0">
              <a:buNone/>
            </a:pPr>
            <a:r>
              <a:rPr lang="en-US" altLang="zh-CN" sz="2400" dirty="0">
                <a:solidFill>
                  <a:srgbClr val="0070C0"/>
                </a:solidFill>
              </a:rPr>
              <a:t>Summarizing the above steps, in each step, among the remaining numbers, the </a:t>
            </a:r>
            <a:r>
              <a:rPr lang="en-US" altLang="zh-CN" sz="2400" dirty="0">
                <a:solidFill>
                  <a:srgbClr val="FF0000"/>
                </a:solidFill>
              </a:rPr>
              <a:t>(pre[n]+1)</a:t>
            </a:r>
            <a:r>
              <a:rPr lang="en-US" altLang="zh-CN" sz="2400" dirty="0" err="1">
                <a:solidFill>
                  <a:srgbClr val="FF0000"/>
                </a:solidFill>
              </a:rPr>
              <a:t>th</a:t>
            </a:r>
            <a:r>
              <a:rPr lang="en-US" altLang="zh-CN" sz="2400" dirty="0">
                <a:solidFill>
                  <a:srgbClr val="FF0000"/>
                </a:solidFill>
              </a:rPr>
              <a:t> </a:t>
            </a:r>
            <a:r>
              <a:rPr lang="en-US" altLang="zh-CN" sz="2400" dirty="0">
                <a:solidFill>
                  <a:srgbClr val="0070C0"/>
                </a:solidFill>
              </a:rPr>
              <a:t>number in ascending order is </a:t>
            </a:r>
            <a:r>
              <a:rPr lang="en-US" altLang="zh-CN" sz="2400" dirty="0" err="1">
                <a:solidFill>
                  <a:srgbClr val="0070C0"/>
                </a:solidFill>
              </a:rPr>
              <a:t>ans</a:t>
            </a:r>
            <a:r>
              <a:rPr lang="en-US" altLang="zh-CN" sz="2400" dirty="0">
                <a:solidFill>
                  <a:srgbClr val="0070C0"/>
                </a:solidFill>
              </a:rPr>
              <a:t>[n].</a:t>
            </a: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17D920C8-196E-4556-9B1B-854CA31EE81B}"/>
              </a:ext>
            </a:extLst>
          </p:cNvPr>
          <p:cNvSpPr>
            <a:spLocks noGrp="1" noChangeArrowheads="1"/>
          </p:cNvSpPr>
          <p:nvPr>
            <p:ph type="title"/>
          </p:nvPr>
        </p:nvSpPr>
        <p:spPr>
          <a:xfrm>
            <a:off x="3503613" y="476250"/>
            <a:ext cx="3243416" cy="706438"/>
          </a:xfrm>
        </p:spPr>
        <p:txBody>
          <a:bodyPr/>
          <a:lstStyle/>
          <a:p>
            <a:r>
              <a:rPr lang="en-US" altLang="zh-CN" sz="4000">
                <a:solidFill>
                  <a:srgbClr val="0070C0"/>
                </a:solidFill>
              </a:rPr>
              <a:t>Brute force</a:t>
            </a:r>
            <a:endParaRPr lang="zh-CN" altLang="en-US" sz="4000">
              <a:solidFill>
                <a:srgbClr val="0070C0"/>
              </a:solidFill>
            </a:endParaRPr>
          </a:p>
        </p:txBody>
      </p:sp>
      <p:sp>
        <p:nvSpPr>
          <p:cNvPr id="32770" name="内容占位符 2">
            <a:extLst>
              <a:ext uri="{FF2B5EF4-FFF2-40B4-BE49-F238E27FC236}">
                <a16:creationId xmlns:a16="http://schemas.microsoft.com/office/drawing/2014/main" id="{53E155B8-914A-48E1-86C8-FF578DA28B6F}"/>
              </a:ext>
            </a:extLst>
          </p:cNvPr>
          <p:cNvSpPr>
            <a:spLocks noGrp="1" noChangeArrowheads="1"/>
          </p:cNvSpPr>
          <p:nvPr>
            <p:ph idx="1"/>
          </p:nvPr>
        </p:nvSpPr>
        <p:spPr/>
        <p:txBody>
          <a:bodyPr/>
          <a:lstStyle/>
          <a:p>
            <a:r>
              <a:rPr lang="en-US" altLang="zh-CN"/>
              <a:t>Calculate backward from the end of pre[]. Each time a number is determined, the remaining numbers need to be re-ranked. The time complexity for re-ranking is O(n);</a:t>
            </a:r>
          </a:p>
          <a:p>
            <a:r>
              <a:rPr lang="en-US" altLang="zh-CN"/>
              <a:t>There are n nubmers, so the total complexity is </a:t>
            </a:r>
            <a:r>
              <a:rPr lang="en-US" altLang="zh-CN">
                <a:solidFill>
                  <a:srgbClr val="FF0000"/>
                </a:solidFill>
              </a:rPr>
              <a:t>O(n</a:t>
            </a:r>
            <a:r>
              <a:rPr lang="en-US" altLang="zh-CN" baseline="30000">
                <a:solidFill>
                  <a:srgbClr val="FF0000"/>
                </a:solidFill>
              </a:rPr>
              <a:t>2</a:t>
            </a:r>
            <a:r>
              <a:rPr lang="en-US" altLang="zh-CN">
                <a:solidFill>
                  <a:srgbClr val="FF0000"/>
                </a:solidFill>
              </a:rPr>
              <a:t>).</a:t>
            </a:r>
            <a:endParaRPr lang="en-US" altLang="zh-CN"/>
          </a:p>
          <a:p>
            <a:r>
              <a:rPr lang="en-US" altLang="zh-CN"/>
              <a:t>In this problem, since n&lt; 8000, brute force works.</a:t>
            </a:r>
            <a:endParaRPr lang="zh-CN" altLang="zh-CN"/>
          </a:p>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a:extLst>
              <a:ext uri="{FF2B5EF4-FFF2-40B4-BE49-F238E27FC236}">
                <a16:creationId xmlns:a16="http://schemas.microsoft.com/office/drawing/2014/main" id="{EA4FEC68-7F93-4C9F-BEA3-AEA113D3EB9D}"/>
              </a:ext>
            </a:extLst>
          </p:cNvPr>
          <p:cNvSpPr>
            <a:spLocks noGrp="1" noChangeArrowheads="1"/>
          </p:cNvSpPr>
          <p:nvPr>
            <p:ph type="title"/>
          </p:nvPr>
        </p:nvSpPr>
        <p:spPr>
          <a:xfrm>
            <a:off x="3216275" y="620713"/>
            <a:ext cx="5265738" cy="633412"/>
          </a:xfrm>
        </p:spPr>
        <p:txBody>
          <a:bodyPr>
            <a:normAutofit fontScale="90000"/>
          </a:bodyPr>
          <a:lstStyle/>
          <a:p>
            <a:r>
              <a:rPr lang="en-US" altLang="zh-CN" sz="4000">
                <a:solidFill>
                  <a:srgbClr val="0070C0"/>
                </a:solidFill>
              </a:rPr>
              <a:t>Using segment tree</a:t>
            </a:r>
            <a:endParaRPr lang="zh-CN" altLang="en-US" sz="4000">
              <a:solidFill>
                <a:srgbClr val="0070C0"/>
              </a:solidFill>
            </a:endParaRPr>
          </a:p>
        </p:txBody>
      </p:sp>
      <p:sp>
        <p:nvSpPr>
          <p:cNvPr id="33794" name="内容占位符 2">
            <a:extLst>
              <a:ext uri="{FF2B5EF4-FFF2-40B4-BE49-F238E27FC236}">
                <a16:creationId xmlns:a16="http://schemas.microsoft.com/office/drawing/2014/main" id="{D21E952A-904C-4B74-BDD7-DCBAD68E5C10}"/>
              </a:ext>
            </a:extLst>
          </p:cNvPr>
          <p:cNvSpPr>
            <a:spLocks noGrp="1" noChangeArrowheads="1"/>
          </p:cNvSpPr>
          <p:nvPr>
            <p:ph idx="1"/>
          </p:nvPr>
        </p:nvSpPr>
        <p:spPr>
          <a:xfrm>
            <a:off x="1981201" y="1600200"/>
            <a:ext cx="8435975" cy="2692400"/>
          </a:xfrm>
        </p:spPr>
        <p:txBody>
          <a:bodyPr>
            <a:normAutofit/>
          </a:bodyPr>
          <a:lstStyle/>
          <a:p>
            <a:r>
              <a:rPr lang="en-US" altLang="zh-CN"/>
              <a:t>Using segment tree to </a:t>
            </a:r>
            <a:r>
              <a:rPr lang="en-US" altLang="zh-CN">
                <a:solidFill>
                  <a:srgbClr val="FF0000"/>
                </a:solidFill>
              </a:rPr>
              <a:t>efficiently re-rank the remaining numbers in O(logn)</a:t>
            </a:r>
            <a:endParaRPr lang="zh-CN" altLang="en-US">
              <a:solidFill>
                <a:srgbClr val="FF0000"/>
              </a:solidFill>
            </a:endParaRPr>
          </a:p>
        </p:txBody>
      </p:sp>
      <p:pic>
        <p:nvPicPr>
          <p:cNvPr id="33796" name="图片 2">
            <a:extLst>
              <a:ext uri="{FF2B5EF4-FFF2-40B4-BE49-F238E27FC236}">
                <a16:creationId xmlns:a16="http://schemas.microsoft.com/office/drawing/2014/main" id="{47210DEA-58D5-4720-AE97-022679B70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750" y="4292601"/>
            <a:ext cx="1460500"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a:extLst>
              <a:ext uri="{FF2B5EF4-FFF2-40B4-BE49-F238E27FC236}">
                <a16:creationId xmlns:a16="http://schemas.microsoft.com/office/drawing/2014/main" id="{B6B2140E-6ACE-4DAA-A9CB-A57989AA99F6}"/>
              </a:ext>
            </a:extLst>
          </p:cNvPr>
          <p:cNvSpPr>
            <a:spLocks noGrp="1" noChangeArrowheads="1"/>
          </p:cNvSpPr>
          <p:nvPr>
            <p:ph type="title"/>
          </p:nvPr>
        </p:nvSpPr>
        <p:spPr>
          <a:xfrm>
            <a:off x="3503614" y="542926"/>
            <a:ext cx="4835525" cy="633413"/>
          </a:xfrm>
        </p:spPr>
        <p:txBody>
          <a:bodyPr>
            <a:normAutofit fontScale="90000"/>
          </a:bodyPr>
          <a:lstStyle/>
          <a:p>
            <a:r>
              <a:rPr lang="en-US" altLang="zh-CN" sz="4000">
                <a:solidFill>
                  <a:srgbClr val="0070C0"/>
                </a:solidFill>
              </a:rPr>
              <a:t>1. Bulid</a:t>
            </a:r>
            <a:r>
              <a:rPr lang="zh-CN" altLang="en-US" sz="4000">
                <a:solidFill>
                  <a:srgbClr val="0070C0"/>
                </a:solidFill>
              </a:rPr>
              <a:t> </a:t>
            </a:r>
            <a:r>
              <a:rPr lang="en-US" altLang="zh-CN" sz="4000">
                <a:solidFill>
                  <a:srgbClr val="0070C0"/>
                </a:solidFill>
              </a:rPr>
              <a:t>the</a:t>
            </a:r>
            <a:r>
              <a:rPr lang="zh-CN" altLang="en-US" sz="4000">
                <a:solidFill>
                  <a:srgbClr val="0070C0"/>
                </a:solidFill>
              </a:rPr>
              <a:t> </a:t>
            </a:r>
            <a:r>
              <a:rPr lang="en-US" altLang="zh-CN" sz="4000">
                <a:solidFill>
                  <a:srgbClr val="0070C0"/>
                </a:solidFill>
              </a:rPr>
              <a:t>tree</a:t>
            </a:r>
            <a:endParaRPr lang="zh-CN" altLang="en-US" sz="4000">
              <a:solidFill>
                <a:srgbClr val="0070C0"/>
              </a:solidFill>
            </a:endParaRPr>
          </a:p>
        </p:txBody>
      </p:sp>
      <p:sp>
        <p:nvSpPr>
          <p:cNvPr id="34818" name="内容占位符 2">
            <a:extLst>
              <a:ext uri="{FF2B5EF4-FFF2-40B4-BE49-F238E27FC236}">
                <a16:creationId xmlns:a16="http://schemas.microsoft.com/office/drawing/2014/main" id="{744228F4-8F8A-4350-84DA-91F8E0D65540}"/>
              </a:ext>
            </a:extLst>
          </p:cNvPr>
          <p:cNvSpPr>
            <a:spLocks noGrp="1" noChangeArrowheads="1"/>
          </p:cNvSpPr>
          <p:nvPr>
            <p:ph idx="1"/>
          </p:nvPr>
        </p:nvSpPr>
        <p:spPr>
          <a:xfrm>
            <a:off x="1981200" y="1417638"/>
            <a:ext cx="8229600" cy="1716179"/>
          </a:xfrm>
        </p:spPr>
        <p:txBody>
          <a:bodyPr>
            <a:normAutofit/>
          </a:bodyPr>
          <a:lstStyle/>
          <a:p>
            <a:pPr marL="0" indent="0">
              <a:buNone/>
            </a:pPr>
            <a:r>
              <a:rPr lang="en-US" altLang="zh-CN"/>
              <a:t>The leaf nodes represent the serial numbers of the cows, and the internal nodes mean the serial number ranges (len) of the cows.</a:t>
            </a:r>
            <a:endParaRPr lang="zh-CN" altLang="en-US"/>
          </a:p>
        </p:txBody>
      </p:sp>
      <p:graphicFrame>
        <p:nvGraphicFramePr>
          <p:cNvPr id="34819" name="对象 4">
            <a:extLst>
              <a:ext uri="{FF2B5EF4-FFF2-40B4-BE49-F238E27FC236}">
                <a16:creationId xmlns:a16="http://schemas.microsoft.com/office/drawing/2014/main" id="{DF5404EA-6E26-4328-B367-655CAED327AD}"/>
              </a:ext>
            </a:extLst>
          </p:cNvPr>
          <p:cNvGraphicFramePr>
            <a:graphicFrameLocks noChangeAspect="1"/>
          </p:cNvGraphicFramePr>
          <p:nvPr>
            <p:extLst>
              <p:ext uri="{D42A27DB-BD31-4B8C-83A1-F6EECF244321}">
                <p14:modId xmlns:p14="http://schemas.microsoft.com/office/powerpoint/2010/main" val="843111347"/>
              </p:ext>
            </p:extLst>
          </p:nvPr>
        </p:nvGraphicFramePr>
        <p:xfrm>
          <a:off x="2715335" y="3021799"/>
          <a:ext cx="4826000" cy="2886075"/>
        </p:xfrm>
        <a:graphic>
          <a:graphicData uri="http://schemas.openxmlformats.org/presentationml/2006/ole">
            <mc:AlternateContent xmlns:mc="http://schemas.openxmlformats.org/markup-compatibility/2006">
              <mc:Choice xmlns:v="urn:schemas-microsoft-com:vml" Requires="v">
                <p:oleObj spid="_x0000_s6170" r:id="rId3" imgW="2818800" imgH="1636200" progId="Visio.Drawing.11">
                  <p:embed/>
                </p:oleObj>
              </mc:Choice>
              <mc:Fallback>
                <p:oleObj r:id="rId3" imgW="2818800" imgH="1636200" progId="Visio.Drawing.11">
                  <p:embed/>
                  <p:pic>
                    <p:nvPicPr>
                      <p:cNvPr id="34819" name="对象 4">
                        <a:extLst>
                          <a:ext uri="{FF2B5EF4-FFF2-40B4-BE49-F238E27FC236}">
                            <a16:creationId xmlns:a16="http://schemas.microsoft.com/office/drawing/2014/main" id="{DF5404EA-6E26-4328-B367-655CAED327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5335" y="3021799"/>
                        <a:ext cx="4826000"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a:extLst>
              <a:ext uri="{FF2B5EF4-FFF2-40B4-BE49-F238E27FC236}">
                <a16:creationId xmlns:a16="http://schemas.microsoft.com/office/drawing/2014/main" id="{0E28F94B-D02B-48C6-B39E-E81D0ED48D67}"/>
              </a:ext>
            </a:extLst>
          </p:cNvPr>
          <p:cNvSpPr>
            <a:spLocks noGrp="1" noChangeArrowheads="1"/>
          </p:cNvSpPr>
          <p:nvPr>
            <p:ph type="title"/>
          </p:nvPr>
        </p:nvSpPr>
        <p:spPr>
          <a:xfrm>
            <a:off x="1919288" y="333375"/>
            <a:ext cx="8229600" cy="852488"/>
          </a:xfrm>
        </p:spPr>
        <p:txBody>
          <a:bodyPr/>
          <a:lstStyle/>
          <a:p>
            <a:r>
              <a:rPr lang="en-US" altLang="zh-CN" sz="4000">
                <a:solidFill>
                  <a:srgbClr val="0070C0"/>
                </a:solidFill>
              </a:rPr>
              <a:t>2.</a:t>
            </a:r>
            <a:r>
              <a:rPr lang="zh-CN" altLang="en-US" sz="4000">
                <a:solidFill>
                  <a:srgbClr val="0070C0"/>
                </a:solidFill>
              </a:rPr>
              <a:t> </a:t>
            </a:r>
            <a:r>
              <a:rPr lang="en-US" altLang="zh-CN" sz="4000">
                <a:solidFill>
                  <a:srgbClr val="0070C0"/>
                </a:solidFill>
              </a:rPr>
              <a:t>Query</a:t>
            </a:r>
            <a:r>
              <a:rPr lang="zh-CN" altLang="en-US" sz="4000">
                <a:solidFill>
                  <a:srgbClr val="0070C0"/>
                </a:solidFill>
              </a:rPr>
              <a:t> </a:t>
            </a:r>
            <a:r>
              <a:rPr lang="en-US" altLang="zh-CN" sz="4000">
                <a:solidFill>
                  <a:srgbClr val="0070C0"/>
                </a:solidFill>
              </a:rPr>
              <a:t>&amp; Update</a:t>
            </a:r>
            <a:endParaRPr lang="zh-CN" altLang="en-US" sz="4000">
              <a:solidFill>
                <a:srgbClr val="0070C0"/>
              </a:solidFill>
            </a:endParaRPr>
          </a:p>
        </p:txBody>
      </p:sp>
      <p:sp>
        <p:nvSpPr>
          <p:cNvPr id="3" name="内容占位符 2">
            <a:extLst>
              <a:ext uri="{FF2B5EF4-FFF2-40B4-BE49-F238E27FC236}">
                <a16:creationId xmlns:a16="http://schemas.microsoft.com/office/drawing/2014/main" id="{86323397-0872-4831-92C2-7A5B3AF00AB3}"/>
              </a:ext>
            </a:extLst>
          </p:cNvPr>
          <p:cNvSpPr>
            <a:spLocks noGrp="1"/>
          </p:cNvSpPr>
          <p:nvPr>
            <p:ph idx="1"/>
          </p:nvPr>
        </p:nvSpPr>
        <p:spPr>
          <a:xfrm>
            <a:off x="1981200" y="1185864"/>
            <a:ext cx="8229600" cy="2530475"/>
          </a:xfrm>
        </p:spPr>
        <p:txBody>
          <a:bodyPr>
            <a:normAutofit/>
          </a:bodyPr>
          <a:lstStyle/>
          <a:p>
            <a:pPr marL="0" indent="0">
              <a:buNone/>
              <a:defRPr/>
            </a:pPr>
            <a:r>
              <a:rPr lang="en-US" altLang="zh-CN" sz="2400">
                <a:solidFill>
                  <a:srgbClr val="FF0000"/>
                </a:solidFill>
              </a:rPr>
              <a:t>The first step:</a:t>
            </a:r>
            <a:r>
              <a:rPr lang="zh-CN" altLang="en-US" sz="2400">
                <a:solidFill>
                  <a:srgbClr val="FF0000"/>
                </a:solidFill>
              </a:rPr>
              <a:t> </a:t>
            </a:r>
            <a:r>
              <a:rPr lang="en-US" altLang="zh-CN" sz="2400">
                <a:solidFill>
                  <a:srgbClr val="FF0000"/>
                </a:solidFill>
              </a:rPr>
              <a:t>pre</a:t>
            </a:r>
            <a:r>
              <a:rPr lang="en-US" altLang="zh-CN" sz="2400" dirty="0">
                <a:solidFill>
                  <a:srgbClr val="FF0000"/>
                </a:solidFill>
              </a:rPr>
              <a:t>[5</a:t>
            </a:r>
            <a:r>
              <a:rPr lang="en-US" altLang="zh-CN" sz="2400">
                <a:solidFill>
                  <a:srgbClr val="FF0000"/>
                </a:solidFill>
              </a:rPr>
              <a:t>]=0, and compute ans</a:t>
            </a:r>
            <a:r>
              <a:rPr lang="en-US" altLang="zh-CN" sz="2400" dirty="0">
                <a:solidFill>
                  <a:srgbClr val="FF0000"/>
                </a:solidFill>
              </a:rPr>
              <a:t>[</a:t>
            </a:r>
            <a:r>
              <a:rPr lang="en-US" altLang="zh-CN" sz="2400">
                <a:solidFill>
                  <a:srgbClr val="FF0000"/>
                </a:solidFill>
              </a:rPr>
              <a:t>5]</a:t>
            </a:r>
            <a:endParaRPr lang="en-US" altLang="zh-CN" sz="2400" dirty="0">
              <a:solidFill>
                <a:srgbClr val="FF0000"/>
              </a:solidFill>
            </a:endParaRPr>
          </a:p>
          <a:p>
            <a:pPr>
              <a:defRPr/>
            </a:pPr>
            <a:r>
              <a:rPr lang="en-US" altLang="zh-CN" sz="2400"/>
              <a:t>Starting from the root, recursively find the lower left corner, that is, the node 1, and get ans[5]=1.</a:t>
            </a:r>
            <a:endParaRPr lang="en-US" altLang="zh-CN" sz="2400" dirty="0"/>
          </a:p>
          <a:p>
            <a:pPr>
              <a:defRPr/>
            </a:pPr>
            <a:r>
              <a:rPr lang="en-US" altLang="zh-CN" sz="2400"/>
              <a:t>Update the 4 passed nodes, that is, </a:t>
            </a:r>
            <a:r>
              <a:rPr lang="en-US" altLang="zh-CN" sz="2400">
                <a:solidFill>
                  <a:srgbClr val="FF0000"/>
                </a:solidFill>
              </a:rPr>
              <a:t>len--</a:t>
            </a:r>
            <a:endParaRPr lang="en-US" altLang="zh-CN" sz="2400" dirty="0">
              <a:solidFill>
                <a:srgbClr val="FF0000"/>
              </a:solidFill>
            </a:endParaRPr>
          </a:p>
          <a:p>
            <a:pPr>
              <a:defRPr/>
            </a:pPr>
            <a:r>
              <a:rPr lang="en-US" altLang="zh-CN" sz="2400"/>
              <a:t>The node 1 has been reduced to 0, so it will be excluded in the following steps.</a:t>
            </a:r>
            <a:endParaRPr lang="zh-CN" altLang="zh-CN" sz="2400" dirty="0"/>
          </a:p>
          <a:p>
            <a:pPr>
              <a:defRPr/>
            </a:pPr>
            <a:endParaRPr lang="zh-CN" altLang="en-US" sz="2000" dirty="0"/>
          </a:p>
        </p:txBody>
      </p:sp>
      <p:graphicFrame>
        <p:nvGraphicFramePr>
          <p:cNvPr id="35843" name="对象 3">
            <a:extLst>
              <a:ext uri="{FF2B5EF4-FFF2-40B4-BE49-F238E27FC236}">
                <a16:creationId xmlns:a16="http://schemas.microsoft.com/office/drawing/2014/main" id="{60B1ADB5-6771-4EE7-B6C1-6A3E64BBBCC5}"/>
              </a:ext>
            </a:extLst>
          </p:cNvPr>
          <p:cNvGraphicFramePr>
            <a:graphicFrameLocks noChangeAspect="1"/>
          </p:cNvGraphicFramePr>
          <p:nvPr/>
        </p:nvGraphicFramePr>
        <p:xfrm>
          <a:off x="2711450" y="3573464"/>
          <a:ext cx="5340350" cy="3095625"/>
        </p:xfrm>
        <a:graphic>
          <a:graphicData uri="http://schemas.openxmlformats.org/presentationml/2006/ole">
            <mc:AlternateContent xmlns:mc="http://schemas.openxmlformats.org/markup-compatibility/2006">
              <mc:Choice xmlns:v="urn:schemas-microsoft-com:vml" Requires="v">
                <p:oleObj spid="_x0000_s7194" r:id="rId3" imgW="2385720" imgH="1383480" progId="Visio.Drawing.11">
                  <p:embed/>
                </p:oleObj>
              </mc:Choice>
              <mc:Fallback>
                <p:oleObj r:id="rId3" imgW="2385720" imgH="1383480" progId="Visio.Drawing.11">
                  <p:embed/>
                  <p:pic>
                    <p:nvPicPr>
                      <p:cNvPr id="35843" name="对象 3">
                        <a:extLst>
                          <a:ext uri="{FF2B5EF4-FFF2-40B4-BE49-F238E27FC236}">
                            <a16:creationId xmlns:a16="http://schemas.microsoft.com/office/drawing/2014/main" id="{60B1ADB5-6771-4EE7-B6C1-6A3E64BBB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450" y="3573464"/>
                        <a:ext cx="53403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a:extLst>
              <a:ext uri="{FF2B5EF4-FFF2-40B4-BE49-F238E27FC236}">
                <a16:creationId xmlns:a16="http://schemas.microsoft.com/office/drawing/2014/main" id="{AE06881A-2AA5-477D-9416-A0BB94EDAC78}"/>
              </a:ext>
            </a:extLst>
          </p:cNvPr>
          <p:cNvSpPr>
            <a:spLocks noGrp="1" noChangeArrowheads="1"/>
          </p:cNvSpPr>
          <p:nvPr>
            <p:ph idx="1"/>
          </p:nvPr>
        </p:nvSpPr>
        <p:spPr>
          <a:xfrm>
            <a:off x="1981200" y="620714"/>
            <a:ext cx="8229600" cy="2016125"/>
          </a:xfrm>
        </p:spPr>
        <p:txBody>
          <a:bodyPr>
            <a:normAutofit/>
          </a:bodyPr>
          <a:lstStyle/>
          <a:p>
            <a:pPr marL="0" indent="0">
              <a:buNone/>
              <a:defRPr/>
            </a:pPr>
            <a:r>
              <a:rPr lang="en-US" altLang="zh-CN">
                <a:solidFill>
                  <a:srgbClr val="FF0000"/>
                </a:solidFill>
              </a:rPr>
              <a:t>The second step: pre</a:t>
            </a:r>
            <a:r>
              <a:rPr lang="en-US" altLang="zh-CN" dirty="0">
                <a:solidFill>
                  <a:srgbClr val="FF0000"/>
                </a:solidFill>
              </a:rPr>
              <a:t>[4</a:t>
            </a:r>
            <a:r>
              <a:rPr lang="en-US" altLang="zh-CN">
                <a:solidFill>
                  <a:srgbClr val="FF0000"/>
                </a:solidFill>
              </a:rPr>
              <a:t>]=1, and compute ans[4], which is to find</a:t>
            </a:r>
            <a:r>
              <a:rPr lang="zh-CN" altLang="en-US">
                <a:solidFill>
                  <a:srgbClr val="FF0000"/>
                </a:solidFill>
              </a:rPr>
              <a:t> </a:t>
            </a:r>
            <a:r>
              <a:rPr lang="en-US" altLang="zh-CN">
                <a:solidFill>
                  <a:srgbClr val="FF0000"/>
                </a:solidFill>
              </a:rPr>
              <a:t>the</a:t>
            </a:r>
            <a:r>
              <a:rPr lang="zh-CN" altLang="en-US">
                <a:solidFill>
                  <a:srgbClr val="FF0000"/>
                </a:solidFill>
              </a:rPr>
              <a:t> </a:t>
            </a:r>
            <a:r>
              <a:rPr lang="en-US" altLang="zh-CN">
                <a:solidFill>
                  <a:srgbClr val="FF0000"/>
                </a:solidFill>
              </a:rPr>
              <a:t>second number.</a:t>
            </a:r>
            <a:endParaRPr lang="en-US" altLang="zh-CN" dirty="0">
              <a:solidFill>
                <a:srgbClr val="FF0000"/>
              </a:solidFill>
            </a:endParaRPr>
          </a:p>
          <a:p>
            <a:pPr>
              <a:defRPr/>
            </a:pPr>
            <a:r>
              <a:rPr lang="en-US" altLang="zh-CN"/>
              <a:t>Starting frome the node, recursively get ans[4]=3. Update the 3 passed nodes.</a:t>
            </a:r>
            <a:endParaRPr lang="zh-CN" altLang="en-US" dirty="0"/>
          </a:p>
        </p:txBody>
      </p:sp>
      <p:graphicFrame>
        <p:nvGraphicFramePr>
          <p:cNvPr id="36866" name="对象 2">
            <a:extLst>
              <a:ext uri="{FF2B5EF4-FFF2-40B4-BE49-F238E27FC236}">
                <a16:creationId xmlns:a16="http://schemas.microsoft.com/office/drawing/2014/main" id="{837AEFDA-9F10-4663-9501-7D532DDF27CE}"/>
              </a:ext>
            </a:extLst>
          </p:cNvPr>
          <p:cNvGraphicFramePr>
            <a:graphicFrameLocks noChangeAspect="1"/>
          </p:cNvGraphicFramePr>
          <p:nvPr>
            <p:extLst>
              <p:ext uri="{D42A27DB-BD31-4B8C-83A1-F6EECF244321}">
                <p14:modId xmlns:p14="http://schemas.microsoft.com/office/powerpoint/2010/main" val="640616331"/>
              </p:ext>
            </p:extLst>
          </p:nvPr>
        </p:nvGraphicFramePr>
        <p:xfrm>
          <a:off x="2785893" y="2522536"/>
          <a:ext cx="6407150" cy="3714750"/>
        </p:xfrm>
        <a:graphic>
          <a:graphicData uri="http://schemas.openxmlformats.org/presentationml/2006/ole">
            <mc:AlternateContent xmlns:mc="http://schemas.openxmlformats.org/markup-compatibility/2006">
              <mc:Choice xmlns:v="urn:schemas-microsoft-com:vml" Requires="v">
                <p:oleObj spid="_x0000_s8218" r:id="rId3" imgW="2385720" imgH="1383480" progId="Visio.Drawing.11">
                  <p:embed/>
                </p:oleObj>
              </mc:Choice>
              <mc:Fallback>
                <p:oleObj r:id="rId3" imgW="2385720" imgH="1383480" progId="Visio.Drawing.11">
                  <p:embed/>
                  <p:pic>
                    <p:nvPicPr>
                      <p:cNvPr id="36866" name="对象 2">
                        <a:extLst>
                          <a:ext uri="{FF2B5EF4-FFF2-40B4-BE49-F238E27FC236}">
                            <a16:creationId xmlns:a16="http://schemas.microsoft.com/office/drawing/2014/main" id="{837AEFDA-9F10-4663-9501-7D532DDF27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5893" y="2522536"/>
                        <a:ext cx="640715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a:extLst>
              <a:ext uri="{FF2B5EF4-FFF2-40B4-BE49-F238E27FC236}">
                <a16:creationId xmlns:a16="http://schemas.microsoft.com/office/drawing/2014/main" id="{C7F08DA9-7E6F-4E5B-916F-EE8B0A744179}"/>
              </a:ext>
            </a:extLst>
          </p:cNvPr>
          <p:cNvSpPr>
            <a:spLocks noGrp="1" noChangeArrowheads="1"/>
          </p:cNvSpPr>
          <p:nvPr>
            <p:ph type="title"/>
          </p:nvPr>
        </p:nvSpPr>
        <p:spPr>
          <a:xfrm>
            <a:off x="1981200" y="274639"/>
            <a:ext cx="8229600" cy="777875"/>
          </a:xfrm>
        </p:spPr>
        <p:txBody>
          <a:bodyPr/>
          <a:lstStyle/>
          <a:p>
            <a:r>
              <a:rPr lang="en-US" altLang="zh-CN" sz="4000">
                <a:solidFill>
                  <a:srgbClr val="0070C0"/>
                </a:solidFill>
              </a:rPr>
              <a:t>Complexity</a:t>
            </a:r>
            <a:endParaRPr lang="zh-CN" altLang="en-US" sz="4000">
              <a:solidFill>
                <a:srgbClr val="0070C0"/>
              </a:solidFill>
            </a:endParaRPr>
          </a:p>
        </p:txBody>
      </p:sp>
      <p:sp>
        <p:nvSpPr>
          <p:cNvPr id="37890" name="内容占位符 2">
            <a:extLst>
              <a:ext uri="{FF2B5EF4-FFF2-40B4-BE49-F238E27FC236}">
                <a16:creationId xmlns:a16="http://schemas.microsoft.com/office/drawing/2014/main" id="{160D9B33-EED4-40EA-9481-9C5BE4943932}"/>
              </a:ext>
            </a:extLst>
          </p:cNvPr>
          <p:cNvSpPr>
            <a:spLocks noGrp="1" noChangeArrowheads="1"/>
          </p:cNvSpPr>
          <p:nvPr>
            <p:ph idx="1"/>
          </p:nvPr>
        </p:nvSpPr>
        <p:spPr>
          <a:xfrm>
            <a:off x="1981200" y="1196975"/>
            <a:ext cx="8229600" cy="2505013"/>
          </a:xfrm>
        </p:spPr>
        <p:txBody>
          <a:bodyPr/>
          <a:lstStyle/>
          <a:p>
            <a:r>
              <a:rPr lang="en-US" altLang="zh-CN" dirty="0"/>
              <a:t>For each step, starting from the root to the leaf node, at most log</a:t>
            </a:r>
            <a:r>
              <a:rPr lang="en-US" altLang="zh-CN" baseline="-25000" dirty="0"/>
              <a:t>2</a:t>
            </a:r>
            <a:r>
              <a:rPr lang="en-US" altLang="zh-CN" dirty="0"/>
              <a:t>4n nodes need to be updated, and the complexity is </a:t>
            </a:r>
            <a:r>
              <a:rPr lang="en-US" altLang="zh-CN" dirty="0">
                <a:solidFill>
                  <a:srgbClr val="FF0000"/>
                </a:solidFill>
              </a:rPr>
              <a:t>O(</a:t>
            </a:r>
            <a:r>
              <a:rPr lang="en-US" altLang="zh-CN" dirty="0" err="1">
                <a:solidFill>
                  <a:srgbClr val="FF0000"/>
                </a:solidFill>
              </a:rPr>
              <a:t>logn</a:t>
            </a:r>
            <a:r>
              <a:rPr lang="en-US" altLang="zh-CN" dirty="0">
                <a:solidFill>
                  <a:srgbClr val="FF0000"/>
                </a:solidFill>
              </a:rPr>
              <a:t>).</a:t>
            </a:r>
          </a:p>
          <a:p>
            <a:r>
              <a:rPr lang="en-US" altLang="zh-CN" dirty="0"/>
              <a:t>There are n numbers to be processed (n steps), so the total complexity is </a:t>
            </a:r>
            <a:r>
              <a:rPr lang="en-US" altLang="zh-CN" dirty="0">
                <a:solidFill>
                  <a:srgbClr val="FF0000"/>
                </a:solidFill>
              </a:rPr>
              <a:t>O(</a:t>
            </a:r>
            <a:r>
              <a:rPr lang="en-US" altLang="zh-CN" dirty="0" err="1">
                <a:solidFill>
                  <a:srgbClr val="FF0000"/>
                </a:solidFill>
              </a:rPr>
              <a:t>nlogn</a:t>
            </a:r>
            <a:r>
              <a:rPr lang="en-US" altLang="zh-CN" dirty="0">
                <a:solidFill>
                  <a:srgbClr val="FF0000"/>
                </a:solidFill>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150AA1-01F7-4300-9E52-081715E2D7C3}"/>
              </a:ext>
            </a:extLst>
          </p:cNvPr>
          <p:cNvSpPr>
            <a:spLocks noGrp="1"/>
          </p:cNvSpPr>
          <p:nvPr>
            <p:ph type="title"/>
          </p:nvPr>
        </p:nvSpPr>
        <p:spPr>
          <a:xfrm>
            <a:off x="827703" y="1190749"/>
            <a:ext cx="10515600" cy="1325563"/>
          </a:xfrm>
        </p:spPr>
        <p:txBody>
          <a:bodyPr/>
          <a:lstStyle/>
          <a:p>
            <a:pPr algn="ctr"/>
            <a:r>
              <a:rPr lang="en-US" altLang="zh-CN">
                <a:hlinkClick r:id="rId2" action="ppaction://hlinkfile"/>
              </a:rPr>
              <a:t>A Simple Problem with Integers</a:t>
            </a:r>
            <a:endParaRPr lang="zh-CN" altLang="en-US"/>
          </a:p>
        </p:txBody>
      </p:sp>
      <p:sp>
        <p:nvSpPr>
          <p:cNvPr id="4" name="文本框 3">
            <a:extLst>
              <a:ext uri="{FF2B5EF4-FFF2-40B4-BE49-F238E27FC236}">
                <a16:creationId xmlns:a16="http://schemas.microsoft.com/office/drawing/2014/main" id="{5419738E-1C60-443A-B0E3-3B9C12C0493C}"/>
              </a:ext>
            </a:extLst>
          </p:cNvPr>
          <p:cNvSpPr txBox="1"/>
          <p:nvPr/>
        </p:nvSpPr>
        <p:spPr>
          <a:xfrm>
            <a:off x="2700152" y="2598003"/>
            <a:ext cx="6791695" cy="830997"/>
          </a:xfrm>
          <a:prstGeom prst="rect">
            <a:avLst/>
          </a:prstGeom>
          <a:noFill/>
        </p:spPr>
        <p:txBody>
          <a:bodyPr wrap="square">
            <a:spAutoFit/>
          </a:bodyPr>
          <a:lstStyle/>
          <a:p>
            <a:r>
              <a:rPr lang="en-US" altLang="zh-CN" sz="2400" b="1" dirty="0">
                <a:solidFill>
                  <a:srgbClr val="FF0000"/>
                </a:solidFill>
              </a:rPr>
              <a:t>Modifying all elements in a subsegment</a:t>
            </a:r>
          </a:p>
          <a:p>
            <a:r>
              <a:rPr lang="en-US" altLang="zh-CN" sz="2400" b="1" dirty="0">
                <a:solidFill>
                  <a:srgbClr val="FF0000"/>
                </a:solidFill>
              </a:rPr>
              <a:t>Adding a value to all elements in a subsegment</a:t>
            </a:r>
            <a:endParaRPr lang="zh-CN" altLang="en-US" sz="2400" b="1" dirty="0">
              <a:solidFill>
                <a:srgbClr val="FF0000"/>
              </a:solidFill>
            </a:endParaRPr>
          </a:p>
        </p:txBody>
      </p:sp>
    </p:spTree>
    <p:extLst>
      <p:ext uri="{BB962C8B-B14F-4D97-AF65-F5344CB8AC3E}">
        <p14:creationId xmlns:p14="http://schemas.microsoft.com/office/powerpoint/2010/main" val="1384938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内容占位符 2">
            <a:extLst>
              <a:ext uri="{FF2B5EF4-FFF2-40B4-BE49-F238E27FC236}">
                <a16:creationId xmlns:a16="http://schemas.microsoft.com/office/drawing/2014/main" id="{7081E81A-74BB-4160-99D8-A5A5815BB63A}"/>
              </a:ext>
            </a:extLst>
          </p:cNvPr>
          <p:cNvSpPr>
            <a:spLocks noGrp="1" noChangeArrowheads="1"/>
          </p:cNvSpPr>
          <p:nvPr>
            <p:ph idx="1"/>
          </p:nvPr>
        </p:nvSpPr>
        <p:spPr/>
        <p:txBody>
          <a:bodyPr/>
          <a:lstStyle/>
          <a:p>
            <a:r>
              <a:rPr lang="en-US" altLang="zh-CN" dirty="0">
                <a:solidFill>
                  <a:srgbClr val="FF0000"/>
                </a:solidFill>
              </a:rPr>
              <a:t>Brute force: </a:t>
            </a:r>
            <a:r>
              <a:rPr lang="en-US" altLang="zh-CN" dirty="0"/>
              <a:t>The complexity of each C or Q operation is O(n). There are Q operations, so the total complexity is </a:t>
            </a:r>
            <a:r>
              <a:rPr lang="en-US" altLang="zh-CN" dirty="0">
                <a:solidFill>
                  <a:srgbClr val="FF0000"/>
                </a:solidFill>
              </a:rPr>
              <a:t>O(n</a:t>
            </a:r>
            <a:r>
              <a:rPr lang="en-US" altLang="zh-CN" baseline="30000" dirty="0">
                <a:solidFill>
                  <a:srgbClr val="FF0000"/>
                </a:solidFill>
              </a:rPr>
              <a:t>2</a:t>
            </a:r>
            <a:r>
              <a:rPr lang="en-US" altLang="zh-CN" dirty="0">
                <a:solidFill>
                  <a:srgbClr val="FF0000"/>
                </a:solidFill>
              </a:rPr>
              <a:t>) </a:t>
            </a:r>
            <a:r>
              <a:rPr lang="en-US" altLang="zh-CN" dirty="0"/>
              <a:t>(In this problem, Q=n).</a:t>
            </a:r>
          </a:p>
          <a:p>
            <a:endParaRPr lang="zh-CN" altLang="zh-CN" dirty="0"/>
          </a:p>
          <a:p>
            <a:r>
              <a:rPr lang="en-US" altLang="zh-CN" dirty="0"/>
              <a:t>Using the segment tree with </a:t>
            </a:r>
            <a:r>
              <a:rPr lang="en-US" altLang="zh-CN" dirty="0">
                <a:solidFill>
                  <a:srgbClr val="FF0000"/>
                </a:solidFill>
              </a:rPr>
              <a:t>modifying an element</a:t>
            </a:r>
            <a:r>
              <a:rPr lang="en-US" altLang="zh-CN" dirty="0"/>
              <a:t>:</a:t>
            </a:r>
            <a:r>
              <a:rPr lang="zh-CN" altLang="en-US" dirty="0"/>
              <a:t> </a:t>
            </a:r>
            <a:r>
              <a:rPr lang="en-US" altLang="zh-CN" dirty="0"/>
              <a:t>The complexity of modifying an element is O(</a:t>
            </a:r>
            <a:r>
              <a:rPr lang="en-US" altLang="zh-CN" dirty="0" err="1"/>
              <a:t>logn</a:t>
            </a:r>
            <a:r>
              <a:rPr lang="en-US" altLang="zh-CN" dirty="0"/>
              <a:t>). For each C operation, there are n times of modifying, so the complexity of C operation is O(</a:t>
            </a:r>
            <a:r>
              <a:rPr lang="en-US" altLang="zh-CN" dirty="0" err="1"/>
              <a:t>nlogn</a:t>
            </a:r>
            <a:r>
              <a:rPr lang="en-US" altLang="zh-CN" dirty="0"/>
              <a:t>). There are Q operations, so the total complexity is </a:t>
            </a:r>
            <a:r>
              <a:rPr lang="en-US" altLang="zh-CN" dirty="0">
                <a:solidFill>
                  <a:srgbClr val="FF0000"/>
                </a:solidFill>
              </a:rPr>
              <a:t>O(n</a:t>
            </a:r>
            <a:r>
              <a:rPr lang="en-US" altLang="zh-CN" baseline="30000" dirty="0">
                <a:solidFill>
                  <a:srgbClr val="FF0000"/>
                </a:solidFill>
              </a:rPr>
              <a:t>2</a:t>
            </a:r>
            <a:r>
              <a:rPr lang="en-US" altLang="zh-CN" dirty="0">
                <a:solidFill>
                  <a:srgbClr val="FF0000"/>
                </a:solidFill>
              </a:rPr>
              <a:t>logn). </a:t>
            </a:r>
            <a:r>
              <a:rPr lang="en-US" altLang="zh-CN" dirty="0"/>
              <a:t>Worse than brute force!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a:extLst>
              <a:ext uri="{FF2B5EF4-FFF2-40B4-BE49-F238E27FC236}">
                <a16:creationId xmlns:a16="http://schemas.microsoft.com/office/drawing/2014/main" id="{FF7607B2-FB5E-43A5-BC32-3BCF7D7860D6}"/>
              </a:ext>
            </a:extLst>
          </p:cNvPr>
          <p:cNvSpPr>
            <a:spLocks noGrp="1" noChangeArrowheads="1"/>
          </p:cNvSpPr>
          <p:nvPr>
            <p:ph type="title"/>
          </p:nvPr>
        </p:nvSpPr>
        <p:spPr/>
        <p:txBody>
          <a:bodyPr/>
          <a:lstStyle/>
          <a:p>
            <a:r>
              <a:rPr lang="en-US" altLang="zh-CN" sz="3600" b="1">
                <a:solidFill>
                  <a:srgbClr val="0070C0"/>
                </a:solidFill>
              </a:rPr>
              <a:t>Key</a:t>
            </a:r>
            <a:r>
              <a:rPr lang="zh-CN" altLang="en-US" sz="3600" b="1">
                <a:solidFill>
                  <a:srgbClr val="0070C0"/>
                </a:solidFill>
              </a:rPr>
              <a:t> </a:t>
            </a:r>
            <a:r>
              <a:rPr lang="en-US" altLang="zh-CN" sz="3600" b="1">
                <a:solidFill>
                  <a:srgbClr val="0070C0"/>
                </a:solidFill>
              </a:rPr>
              <a:t>of</a:t>
            </a:r>
            <a:r>
              <a:rPr lang="zh-CN" altLang="en-US" sz="3600" b="1">
                <a:solidFill>
                  <a:srgbClr val="0070C0"/>
                </a:solidFill>
              </a:rPr>
              <a:t> </a:t>
            </a:r>
            <a:r>
              <a:rPr lang="en-US" altLang="zh-CN" sz="3600" b="1">
                <a:solidFill>
                  <a:srgbClr val="0070C0"/>
                </a:solidFill>
              </a:rPr>
              <a:t>modifying</a:t>
            </a:r>
            <a:r>
              <a:rPr lang="zh-CN" altLang="en-US" sz="3600" b="1">
                <a:solidFill>
                  <a:srgbClr val="0070C0"/>
                </a:solidFill>
              </a:rPr>
              <a:t> </a:t>
            </a:r>
            <a:r>
              <a:rPr lang="en-US" altLang="zh-CN" sz="3600" b="1">
                <a:solidFill>
                  <a:srgbClr val="0070C0"/>
                </a:solidFill>
              </a:rPr>
              <a:t>a</a:t>
            </a:r>
            <a:r>
              <a:rPr lang="zh-CN" altLang="en-US" sz="3600" b="1">
                <a:solidFill>
                  <a:srgbClr val="0070C0"/>
                </a:solidFill>
              </a:rPr>
              <a:t> </a:t>
            </a:r>
            <a:r>
              <a:rPr lang="en-US" altLang="zh-CN" sz="3600" b="1">
                <a:solidFill>
                  <a:srgbClr val="0070C0"/>
                </a:solidFill>
              </a:rPr>
              <a:t>subsegment:</a:t>
            </a:r>
            <a:r>
              <a:rPr lang="zh-CN" altLang="en-US" sz="3600" b="1">
                <a:solidFill>
                  <a:srgbClr val="0070C0"/>
                </a:solidFill>
              </a:rPr>
              <a:t> </a:t>
            </a:r>
            <a:r>
              <a:rPr lang="en-US" altLang="zh-CN" sz="3600" b="1">
                <a:solidFill>
                  <a:srgbClr val="FF0000"/>
                </a:solidFill>
              </a:rPr>
              <a:t>lazy-tag</a:t>
            </a:r>
            <a:endParaRPr lang="zh-CN" altLang="en-US">
              <a:solidFill>
                <a:srgbClr val="FF0000"/>
              </a:solidFill>
            </a:endParaRPr>
          </a:p>
        </p:txBody>
      </p:sp>
      <p:sp>
        <p:nvSpPr>
          <p:cNvPr id="47106" name="内容占位符 2">
            <a:extLst>
              <a:ext uri="{FF2B5EF4-FFF2-40B4-BE49-F238E27FC236}">
                <a16:creationId xmlns:a16="http://schemas.microsoft.com/office/drawing/2014/main" id="{AA1C008D-0050-4C6A-8D34-002C32550736}"/>
              </a:ext>
            </a:extLst>
          </p:cNvPr>
          <p:cNvSpPr>
            <a:spLocks noGrp="1" noChangeArrowheads="1"/>
          </p:cNvSpPr>
          <p:nvPr>
            <p:ph idx="1"/>
          </p:nvPr>
        </p:nvSpPr>
        <p:spPr>
          <a:xfrm>
            <a:off x="1981200" y="1417639"/>
            <a:ext cx="8362950" cy="4708525"/>
          </a:xfrm>
        </p:spPr>
        <p:txBody>
          <a:bodyPr>
            <a:normAutofit/>
          </a:bodyPr>
          <a:lstStyle/>
          <a:p>
            <a:r>
              <a:rPr lang="en-US" altLang="zh-CN">
                <a:solidFill>
                  <a:srgbClr val="FF0000"/>
                </a:solidFill>
              </a:rPr>
              <a:t>Lazy:</a:t>
            </a:r>
            <a:r>
              <a:rPr lang="zh-CN" altLang="en-US">
                <a:solidFill>
                  <a:srgbClr val="FF0000"/>
                </a:solidFill>
              </a:rPr>
              <a:t> </a:t>
            </a:r>
            <a:r>
              <a:rPr lang="en-US" altLang="zh-CN"/>
              <a:t>When modifying an entire subsegment, only the segment interval is modified, and each element in it is not modified. Only when the consistency of this subsegment is destroyed, the change value is passed to the sub-intervals.</a:t>
            </a:r>
          </a:p>
          <a:p>
            <a:r>
              <a:rPr lang="en-US" altLang="zh-CN">
                <a:solidFill>
                  <a:srgbClr val="FF0000"/>
                </a:solidFill>
              </a:rPr>
              <a:t>Tag: </a:t>
            </a:r>
            <a:r>
              <a:rPr lang="en-US" altLang="zh-CN"/>
              <a:t>Record the status of the </a:t>
            </a:r>
            <a:r>
              <a:rPr lang="en-US" altLang="zh-CN">
                <a:solidFill>
                  <a:srgbClr val="FF0000"/>
                </a:solidFill>
              </a:rPr>
              <a:t>“lazy” </a:t>
            </a:r>
            <a:r>
              <a:rPr lang="en-US" altLang="zh-CN"/>
              <a:t>interval.</a:t>
            </a:r>
          </a:p>
          <a:p>
            <a:r>
              <a:rPr lang="en-US" altLang="zh-CN"/>
              <a:t>The complexity of each C or Q operation is O(logn). There are Q operations, so the total complexity is </a:t>
            </a:r>
            <a:r>
              <a:rPr lang="en-US" altLang="zh-CN">
                <a:solidFill>
                  <a:srgbClr val="FF0000"/>
                </a:solidFill>
              </a:rPr>
              <a:t>O(nlogn).</a:t>
            </a:r>
          </a:p>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808D5520-187F-4144-A889-7E68A2C937B9}"/>
              </a:ext>
            </a:extLst>
          </p:cNvPr>
          <p:cNvSpPr>
            <a:spLocks noGrp="1" noChangeArrowheads="1"/>
          </p:cNvSpPr>
          <p:nvPr>
            <p:ph type="title"/>
          </p:nvPr>
        </p:nvSpPr>
        <p:spPr>
          <a:xfrm>
            <a:off x="3216275" y="371475"/>
            <a:ext cx="5265738" cy="635000"/>
          </a:xfrm>
        </p:spPr>
        <p:txBody>
          <a:bodyPr/>
          <a:lstStyle/>
          <a:p>
            <a:pPr algn="ctr"/>
            <a:r>
              <a:rPr lang="en-US" altLang="zh-CN" sz="3600">
                <a:solidFill>
                  <a:srgbClr val="0070C0"/>
                </a:solidFill>
              </a:rPr>
              <a:t>1. Build()</a:t>
            </a:r>
            <a:endParaRPr lang="zh-CN" altLang="en-US" sz="3600">
              <a:solidFill>
                <a:srgbClr val="0070C0"/>
              </a:solidFill>
            </a:endParaRPr>
          </a:p>
        </p:txBody>
      </p:sp>
      <p:sp>
        <p:nvSpPr>
          <p:cNvPr id="48130" name="内容占位符 2">
            <a:extLst>
              <a:ext uri="{FF2B5EF4-FFF2-40B4-BE49-F238E27FC236}">
                <a16:creationId xmlns:a16="http://schemas.microsoft.com/office/drawing/2014/main" id="{7E673C1D-A464-4D1C-829A-D4EEB385F70F}"/>
              </a:ext>
            </a:extLst>
          </p:cNvPr>
          <p:cNvSpPr>
            <a:spLocks noGrp="1" noChangeArrowheads="1"/>
          </p:cNvSpPr>
          <p:nvPr>
            <p:ph idx="1"/>
          </p:nvPr>
        </p:nvSpPr>
        <p:spPr>
          <a:xfrm>
            <a:off x="1981200" y="1125539"/>
            <a:ext cx="8229600" cy="5000625"/>
          </a:xfrm>
        </p:spPr>
        <p:txBody>
          <a:bodyPr/>
          <a:lstStyle/>
          <a:p>
            <a:pPr marL="0" indent="0">
              <a:buNone/>
            </a:pPr>
            <a:r>
              <a:rPr lang="en-US" altLang="zh-CN"/>
              <a:t>Take [1,10] as an example. The leaf nodes mean 10 numbers from 1 to 10. The number in the upper right corner of each node is the sum of its sub-intervals.</a:t>
            </a:r>
            <a:endParaRPr lang="zh-CN" altLang="en-US"/>
          </a:p>
        </p:txBody>
      </p:sp>
      <p:graphicFrame>
        <p:nvGraphicFramePr>
          <p:cNvPr id="48131" name="对象 4">
            <a:extLst>
              <a:ext uri="{FF2B5EF4-FFF2-40B4-BE49-F238E27FC236}">
                <a16:creationId xmlns:a16="http://schemas.microsoft.com/office/drawing/2014/main" id="{B648D83B-DB9E-4E6D-8379-3F3252792AB0}"/>
              </a:ext>
            </a:extLst>
          </p:cNvPr>
          <p:cNvGraphicFramePr>
            <a:graphicFrameLocks noChangeAspect="1"/>
          </p:cNvGraphicFramePr>
          <p:nvPr/>
        </p:nvGraphicFramePr>
        <p:xfrm>
          <a:off x="1670050" y="2420938"/>
          <a:ext cx="8997950" cy="3927475"/>
        </p:xfrm>
        <a:graphic>
          <a:graphicData uri="http://schemas.openxmlformats.org/presentationml/2006/ole">
            <mc:AlternateContent xmlns:mc="http://schemas.openxmlformats.org/markup-compatibility/2006">
              <mc:Choice xmlns:v="urn:schemas-microsoft-com:vml" Requires="v">
                <p:oleObj spid="_x0000_s9242" name="Visio" r:id="rId3" imgW="6266160" imgH="2645640" progId="Visio.Drawing.11">
                  <p:embed/>
                </p:oleObj>
              </mc:Choice>
              <mc:Fallback>
                <p:oleObj name="Visio" r:id="rId3" imgW="6266160" imgH="2645640" progId="Visio.Drawing.11">
                  <p:embed/>
                  <p:pic>
                    <p:nvPicPr>
                      <p:cNvPr id="48131" name="对象 4">
                        <a:extLst>
                          <a:ext uri="{FF2B5EF4-FFF2-40B4-BE49-F238E27FC236}">
                            <a16:creationId xmlns:a16="http://schemas.microsoft.com/office/drawing/2014/main" id="{B648D83B-DB9E-4E6D-8379-3F3252792A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0050" y="2420938"/>
                        <a:ext cx="8997950"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a:extLst>
              <a:ext uri="{FF2B5EF4-FFF2-40B4-BE49-F238E27FC236}">
                <a16:creationId xmlns:a16="http://schemas.microsoft.com/office/drawing/2014/main" id="{29421364-94F4-4F7F-9AAF-4497CA5722B1}"/>
              </a:ext>
            </a:extLst>
          </p:cNvPr>
          <p:cNvSpPr>
            <a:spLocks noGrp="1" noChangeArrowheads="1"/>
          </p:cNvSpPr>
          <p:nvPr>
            <p:ph type="title"/>
          </p:nvPr>
        </p:nvSpPr>
        <p:spPr>
          <a:xfrm>
            <a:off x="1677880" y="404814"/>
            <a:ext cx="9907479" cy="561975"/>
          </a:xfrm>
        </p:spPr>
        <p:txBody>
          <a:bodyPr>
            <a:normAutofit fontScale="90000"/>
          </a:bodyPr>
          <a:lstStyle/>
          <a:p>
            <a:r>
              <a:rPr lang="en-US" altLang="zh-CN" sz="3600">
                <a:solidFill>
                  <a:srgbClr val="0070C0"/>
                </a:solidFill>
              </a:rPr>
              <a:t>2. Adding a value to all elements in a subsegment</a:t>
            </a:r>
            <a:endParaRPr lang="zh-CN" altLang="en-US" sz="3600">
              <a:solidFill>
                <a:srgbClr val="0070C0"/>
              </a:solidFill>
            </a:endParaRPr>
          </a:p>
        </p:txBody>
      </p:sp>
      <p:sp>
        <p:nvSpPr>
          <p:cNvPr id="3" name="内容占位符 2">
            <a:extLst>
              <a:ext uri="{FF2B5EF4-FFF2-40B4-BE49-F238E27FC236}">
                <a16:creationId xmlns:a16="http://schemas.microsoft.com/office/drawing/2014/main" id="{2C64621B-A2E5-4DF1-934B-E5E9DF4AFB13}"/>
              </a:ext>
            </a:extLst>
          </p:cNvPr>
          <p:cNvSpPr>
            <a:spLocks noGrp="1"/>
          </p:cNvSpPr>
          <p:nvPr>
            <p:ph idx="1"/>
          </p:nvPr>
        </p:nvSpPr>
        <p:spPr>
          <a:xfrm>
            <a:off x="1981200" y="1143001"/>
            <a:ext cx="8229600" cy="5218113"/>
          </a:xfrm>
        </p:spPr>
        <p:txBody>
          <a:bodyPr>
            <a:normAutofit/>
          </a:bodyPr>
          <a:lstStyle/>
          <a:p>
            <a:pPr marL="0" indent="0">
              <a:buNone/>
              <a:defRPr/>
            </a:pPr>
            <a:r>
              <a:rPr lang="en-US" altLang="zh-CN"/>
              <a:t>Example:</a:t>
            </a:r>
            <a:r>
              <a:rPr lang="zh-CN" altLang="en-US"/>
              <a:t> </a:t>
            </a:r>
            <a:r>
              <a:rPr lang="en-US" altLang="zh-CN"/>
              <a:t>Add</a:t>
            </a:r>
            <a:r>
              <a:rPr lang="zh-CN" altLang="en-US"/>
              <a:t> </a:t>
            </a:r>
            <a:r>
              <a:rPr lang="en-US" altLang="zh-CN"/>
              <a:t>3</a:t>
            </a:r>
            <a:r>
              <a:rPr lang="zh-CN" altLang="en-US"/>
              <a:t> </a:t>
            </a:r>
            <a:r>
              <a:rPr lang="en-US" altLang="zh-CN"/>
              <a:t>to</a:t>
            </a:r>
            <a:r>
              <a:rPr lang="zh-CN" altLang="en-US"/>
              <a:t> </a:t>
            </a:r>
            <a:r>
              <a:rPr lang="en-US" altLang="zh-CN"/>
              <a:t>all</a:t>
            </a:r>
            <a:r>
              <a:rPr lang="zh-CN" altLang="en-US"/>
              <a:t> </a:t>
            </a:r>
            <a:r>
              <a:rPr lang="en-US" altLang="zh-CN"/>
              <a:t>elements in [3,6]</a:t>
            </a:r>
            <a:endParaRPr lang="en-US" altLang="zh-CN" dirty="0"/>
          </a:p>
          <a:p>
            <a:pPr marL="0" indent="0">
              <a:buNone/>
              <a:defRPr/>
            </a:pPr>
            <a:r>
              <a:rPr lang="en-US" altLang="zh-CN"/>
              <a:t>To find the interval [3,6] in the subtree, there are two cases:</a:t>
            </a:r>
            <a:r>
              <a:rPr lang="zh-CN" altLang="en-US"/>
              <a:t> </a:t>
            </a:r>
            <a:r>
              <a:rPr lang="en-US" altLang="zh-CN"/>
              <a:t>[3,6] interleaves with the subinterval(s), or [3,6] contains the entire subinterval(s).</a:t>
            </a:r>
            <a:endParaRPr lang="en-US" altLang="zh-CN" dirty="0"/>
          </a:p>
          <a:p>
            <a:pPr>
              <a:defRPr/>
            </a:pPr>
            <a:r>
              <a:rPr lang="en-US" altLang="zh-CN"/>
              <a:t>The subintervals [1,5] and [6,10] are interleaved with [3,6]. Continue to dive deeper into the lower sub-intervals.</a:t>
            </a:r>
            <a:endParaRPr lang="en-US" altLang="zh-CN" dirty="0"/>
          </a:p>
          <a:p>
            <a:pPr>
              <a:defRPr/>
            </a:pPr>
            <a:r>
              <a:rPr lang="en-US" altLang="zh-CN"/>
              <a:t>[3,6] contains [4,5]. According to the </a:t>
            </a:r>
            <a:r>
              <a:rPr lang="en-US" altLang="zh-CN">
                <a:solidFill>
                  <a:srgbClr val="FF0000"/>
                </a:solidFill>
              </a:rPr>
              <a:t>lazy</a:t>
            </a:r>
            <a:r>
              <a:rPr lang="en-US" altLang="zh-CN"/>
              <a:t> principle, [4,5] is modified as a whole without further deepening, and the subintervals [4, 4] and [5, 5] need not be modified.</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对象 4">
            <a:extLst>
              <a:ext uri="{FF2B5EF4-FFF2-40B4-BE49-F238E27FC236}">
                <a16:creationId xmlns:a16="http://schemas.microsoft.com/office/drawing/2014/main" id="{B9E088FD-E7EE-43E2-838A-2FB26537BA73}"/>
              </a:ext>
            </a:extLst>
          </p:cNvPr>
          <p:cNvGraphicFramePr>
            <a:graphicFrameLocks noChangeAspect="1"/>
          </p:cNvGraphicFramePr>
          <p:nvPr>
            <p:extLst>
              <p:ext uri="{D42A27DB-BD31-4B8C-83A1-F6EECF244321}">
                <p14:modId xmlns:p14="http://schemas.microsoft.com/office/powerpoint/2010/main" val="2805966392"/>
              </p:ext>
            </p:extLst>
          </p:nvPr>
        </p:nvGraphicFramePr>
        <p:xfrm>
          <a:off x="1710385" y="992004"/>
          <a:ext cx="8913812" cy="3959225"/>
        </p:xfrm>
        <a:graphic>
          <a:graphicData uri="http://schemas.openxmlformats.org/presentationml/2006/ole">
            <mc:AlternateContent xmlns:mc="http://schemas.openxmlformats.org/markup-compatibility/2006">
              <mc:Choice xmlns:v="urn:schemas-microsoft-com:vml" Requires="v">
                <p:oleObj spid="_x0000_s10266" r:id="rId3" imgW="4952160" imgH="2194560" progId="Visio.Drawing.11">
                  <p:embed/>
                </p:oleObj>
              </mc:Choice>
              <mc:Fallback>
                <p:oleObj r:id="rId3" imgW="4952160" imgH="2194560" progId="Visio.Drawing.11">
                  <p:embed/>
                  <p:pic>
                    <p:nvPicPr>
                      <p:cNvPr id="50178" name="对象 4">
                        <a:extLst>
                          <a:ext uri="{FF2B5EF4-FFF2-40B4-BE49-F238E27FC236}">
                            <a16:creationId xmlns:a16="http://schemas.microsoft.com/office/drawing/2014/main" id="{B9E088FD-E7EE-43E2-838A-2FB26537BA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0385" y="992004"/>
                        <a:ext cx="8913812"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856F5B-95D8-B120-AA6D-FA8DB5B0EB98}"/>
              </a:ext>
            </a:extLst>
          </p:cNvPr>
          <p:cNvSpPr>
            <a:spLocks noGrp="1"/>
          </p:cNvSpPr>
          <p:nvPr>
            <p:ph type="title"/>
          </p:nvPr>
        </p:nvSpPr>
        <p:spPr/>
        <p:txBody>
          <a:bodyPr/>
          <a:lstStyle/>
          <a:p>
            <a:r>
              <a:rPr lang="en-US" altLang="zh-CN"/>
              <a:t>More segment tree problems</a:t>
            </a:r>
            <a:endParaRPr lang="zh-CN" altLang="en-US"/>
          </a:p>
        </p:txBody>
      </p:sp>
      <p:sp>
        <p:nvSpPr>
          <p:cNvPr id="3" name="内容占位符 2">
            <a:extLst>
              <a:ext uri="{FF2B5EF4-FFF2-40B4-BE49-F238E27FC236}">
                <a16:creationId xmlns:a16="http://schemas.microsoft.com/office/drawing/2014/main" id="{3E51780D-95CA-27E4-962C-27AD67396E91}"/>
              </a:ext>
            </a:extLst>
          </p:cNvPr>
          <p:cNvSpPr>
            <a:spLocks noGrp="1"/>
          </p:cNvSpPr>
          <p:nvPr>
            <p:ph idx="1"/>
          </p:nvPr>
        </p:nvSpPr>
        <p:spPr/>
        <p:txBody>
          <a:bodyPr>
            <a:normAutofit lnSpcReduction="10000"/>
          </a:bodyPr>
          <a:lstStyle/>
          <a:p>
            <a:r>
              <a:rPr lang="en-US" altLang="zh-CN"/>
              <a:t>Easy:</a:t>
            </a:r>
          </a:p>
          <a:p>
            <a:pPr marL="0" indent="0">
              <a:buNone/>
            </a:pPr>
            <a:r>
              <a:rPr lang="en-US" altLang="zh-CN"/>
              <a:t>hdu 1166</a:t>
            </a:r>
            <a:r>
              <a:rPr lang="zh-CN" altLang="en-US"/>
              <a:t>，</a:t>
            </a:r>
            <a:r>
              <a:rPr lang="en-US" altLang="zh-CN"/>
              <a:t>1394</a:t>
            </a:r>
            <a:r>
              <a:rPr lang="zh-CN" altLang="en-US"/>
              <a:t>，</a:t>
            </a:r>
            <a:r>
              <a:rPr lang="en-US" altLang="zh-CN"/>
              <a:t>1698</a:t>
            </a:r>
            <a:r>
              <a:rPr lang="zh-CN" altLang="en-US"/>
              <a:t>，</a:t>
            </a:r>
            <a:r>
              <a:rPr lang="en-US" altLang="zh-CN"/>
              <a:t>1754</a:t>
            </a:r>
            <a:r>
              <a:rPr lang="zh-CN" altLang="en-US"/>
              <a:t>，</a:t>
            </a:r>
            <a:r>
              <a:rPr lang="en-US" altLang="zh-CN"/>
              <a:t>2795</a:t>
            </a:r>
            <a:endParaRPr lang="zh-CN" altLang="en-US"/>
          </a:p>
          <a:p>
            <a:pPr marL="0" indent="0">
              <a:buNone/>
            </a:pPr>
            <a:r>
              <a:rPr lang="en-US" altLang="zh-CN"/>
              <a:t>poj 1195</a:t>
            </a:r>
            <a:r>
              <a:rPr lang="zh-CN" altLang="en-US"/>
              <a:t>，</a:t>
            </a:r>
            <a:r>
              <a:rPr lang="en-US" altLang="zh-CN"/>
              <a:t>2182</a:t>
            </a:r>
            <a:r>
              <a:rPr lang="zh-CN" altLang="en-US"/>
              <a:t>，</a:t>
            </a:r>
            <a:r>
              <a:rPr lang="en-US" altLang="zh-CN"/>
              <a:t>2299</a:t>
            </a:r>
            <a:r>
              <a:rPr lang="zh-CN" altLang="en-US"/>
              <a:t>，</a:t>
            </a:r>
            <a:r>
              <a:rPr lang="en-US" altLang="zh-CN"/>
              <a:t>2828</a:t>
            </a:r>
            <a:r>
              <a:rPr lang="zh-CN" altLang="en-US"/>
              <a:t>，</a:t>
            </a:r>
            <a:r>
              <a:rPr lang="en-US" altLang="zh-CN"/>
              <a:t>2352</a:t>
            </a:r>
            <a:r>
              <a:rPr lang="zh-CN" altLang="en-US"/>
              <a:t>，</a:t>
            </a:r>
            <a:r>
              <a:rPr lang="en-US" altLang="zh-CN"/>
              <a:t>2750</a:t>
            </a:r>
            <a:r>
              <a:rPr lang="zh-CN" altLang="en-US"/>
              <a:t>，</a:t>
            </a:r>
            <a:r>
              <a:rPr lang="en-US" altLang="zh-CN"/>
              <a:t>2886</a:t>
            </a:r>
            <a:r>
              <a:rPr lang="zh-CN" altLang="en-US"/>
              <a:t>，</a:t>
            </a:r>
            <a:r>
              <a:rPr lang="en-US" altLang="zh-CN"/>
              <a:t>2777</a:t>
            </a:r>
            <a:r>
              <a:rPr lang="zh-CN" altLang="en-US"/>
              <a:t>，</a:t>
            </a:r>
            <a:r>
              <a:rPr lang="en-US" altLang="zh-CN"/>
              <a:t>3264</a:t>
            </a:r>
            <a:r>
              <a:rPr lang="zh-CN" altLang="en-US"/>
              <a:t>，</a:t>
            </a:r>
            <a:r>
              <a:rPr lang="en-US" altLang="zh-CN"/>
              <a:t>3468</a:t>
            </a:r>
            <a:endParaRPr lang="zh-CN" altLang="en-US"/>
          </a:p>
          <a:p>
            <a:r>
              <a:rPr lang="en-US" altLang="zh-CN"/>
              <a:t>Medium:</a:t>
            </a:r>
          </a:p>
          <a:p>
            <a:pPr marL="0" indent="0">
              <a:buNone/>
            </a:pPr>
            <a:r>
              <a:rPr lang="en-US" altLang="zh-CN"/>
              <a:t>hdu 1540</a:t>
            </a:r>
            <a:r>
              <a:rPr lang="zh-CN" altLang="en-US"/>
              <a:t>，</a:t>
            </a:r>
            <a:r>
              <a:rPr lang="en-US" altLang="zh-CN"/>
              <a:t>1823</a:t>
            </a:r>
            <a:r>
              <a:rPr lang="zh-CN" altLang="en-US"/>
              <a:t>，</a:t>
            </a:r>
            <a:r>
              <a:rPr lang="en-US" altLang="zh-CN"/>
              <a:t>4027</a:t>
            </a:r>
            <a:r>
              <a:rPr lang="zh-CN" altLang="en-US"/>
              <a:t>，</a:t>
            </a:r>
            <a:r>
              <a:rPr lang="en-US" altLang="zh-CN"/>
              <a:t>5869</a:t>
            </a:r>
          </a:p>
          <a:p>
            <a:pPr marL="0" indent="0">
              <a:buNone/>
            </a:pPr>
            <a:r>
              <a:rPr lang="en-US" altLang="zh-CN"/>
              <a:t>poj 2155</a:t>
            </a:r>
            <a:r>
              <a:rPr lang="zh-CN" altLang="en-US"/>
              <a:t>，</a:t>
            </a:r>
            <a:r>
              <a:rPr lang="en-US" altLang="zh-CN"/>
              <a:t>2528</a:t>
            </a:r>
            <a:r>
              <a:rPr lang="zh-CN" altLang="en-US"/>
              <a:t>，</a:t>
            </a:r>
            <a:r>
              <a:rPr lang="en-US" altLang="zh-CN"/>
              <a:t>2823</a:t>
            </a:r>
            <a:r>
              <a:rPr lang="zh-CN" altLang="en-US"/>
              <a:t>，</a:t>
            </a:r>
            <a:r>
              <a:rPr lang="en-US" altLang="zh-CN"/>
              <a:t>3225</a:t>
            </a:r>
            <a:r>
              <a:rPr lang="zh-CN" altLang="en-US"/>
              <a:t>。</a:t>
            </a:r>
          </a:p>
          <a:p>
            <a:r>
              <a:rPr lang="en-US" altLang="zh-CN"/>
              <a:t>Hard:</a:t>
            </a:r>
          </a:p>
          <a:p>
            <a:pPr marL="0" indent="0">
              <a:buNone/>
            </a:pPr>
            <a:r>
              <a:rPr lang="en-US" altLang="zh-CN"/>
              <a:t>hdu 1255</a:t>
            </a:r>
            <a:r>
              <a:rPr lang="zh-CN" altLang="en-US"/>
              <a:t>，</a:t>
            </a:r>
            <a:r>
              <a:rPr lang="en-US" altLang="zh-CN"/>
              <a:t>1542</a:t>
            </a:r>
            <a:r>
              <a:rPr lang="zh-CN" altLang="en-US"/>
              <a:t>，</a:t>
            </a:r>
            <a:r>
              <a:rPr lang="en-US" altLang="zh-CN"/>
              <a:t>3642</a:t>
            </a:r>
            <a:r>
              <a:rPr lang="zh-CN" altLang="en-US"/>
              <a:t>，</a:t>
            </a:r>
            <a:r>
              <a:rPr lang="en-US" altLang="zh-CN"/>
              <a:t>3974</a:t>
            </a:r>
            <a:r>
              <a:rPr lang="zh-CN" altLang="en-US"/>
              <a:t>，</a:t>
            </a:r>
            <a:r>
              <a:rPr lang="en-US" altLang="zh-CN"/>
              <a:t>4578</a:t>
            </a:r>
            <a:r>
              <a:rPr lang="zh-CN" altLang="en-US"/>
              <a:t>，</a:t>
            </a:r>
            <a:r>
              <a:rPr lang="en-US" altLang="zh-CN"/>
              <a:t>4614</a:t>
            </a:r>
            <a:r>
              <a:rPr lang="zh-CN" altLang="en-US"/>
              <a:t>，</a:t>
            </a:r>
            <a:r>
              <a:rPr lang="en-US" altLang="zh-CN"/>
              <a:t>4718</a:t>
            </a:r>
            <a:r>
              <a:rPr lang="zh-CN" altLang="en-US"/>
              <a:t>，</a:t>
            </a:r>
            <a:r>
              <a:rPr lang="en-US" altLang="zh-CN"/>
              <a:t>5756</a:t>
            </a:r>
            <a:r>
              <a:rPr lang="zh-CN" altLang="en-US"/>
              <a:t>，</a:t>
            </a:r>
            <a:r>
              <a:rPr lang="en-US" altLang="zh-CN"/>
              <a:t>4441</a:t>
            </a:r>
            <a:endParaRPr lang="zh-CN" altLang="en-US"/>
          </a:p>
        </p:txBody>
      </p:sp>
    </p:spTree>
    <p:extLst>
      <p:ext uri="{BB962C8B-B14F-4D97-AF65-F5344CB8AC3E}">
        <p14:creationId xmlns:p14="http://schemas.microsoft.com/office/powerpoint/2010/main" val="3587636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D339A5-0081-411D-BD1E-97406014F383}"/>
              </a:ext>
            </a:extLst>
          </p:cNvPr>
          <p:cNvSpPr>
            <a:spLocks noGrp="1"/>
          </p:cNvSpPr>
          <p:nvPr>
            <p:ph type="title"/>
          </p:nvPr>
        </p:nvSpPr>
        <p:spPr>
          <a:xfrm>
            <a:off x="776056" y="2513521"/>
            <a:ext cx="10515600" cy="1325563"/>
          </a:xfrm>
        </p:spPr>
        <p:txBody>
          <a:bodyPr/>
          <a:lstStyle/>
          <a:p>
            <a:pPr algn="ctr"/>
            <a:r>
              <a:rPr lang="en-US" altLang="zh-CN"/>
              <a:t>Binary Indexed Tree?</a:t>
            </a:r>
            <a:endParaRPr lang="zh-CN" altLang="en-US"/>
          </a:p>
        </p:txBody>
      </p:sp>
    </p:spTree>
    <p:extLst>
      <p:ext uri="{BB962C8B-B14F-4D97-AF65-F5344CB8AC3E}">
        <p14:creationId xmlns:p14="http://schemas.microsoft.com/office/powerpoint/2010/main" val="354454016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4473</TotalTime>
  <Words>2566</Words>
  <Application>Microsoft Office PowerPoint</Application>
  <PresentationFormat>宽屏</PresentationFormat>
  <Paragraphs>212</Paragraphs>
  <Slides>45</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45</vt:i4>
      </vt:variant>
    </vt:vector>
  </HeadingPairs>
  <TitlesOfParts>
    <vt:vector size="54" baseType="lpstr">
      <vt:lpstr>等线</vt:lpstr>
      <vt:lpstr>等线 Light</vt:lpstr>
      <vt:lpstr>Arial</vt:lpstr>
      <vt:lpstr>Courier New</vt:lpstr>
      <vt:lpstr>Open Sans</vt:lpstr>
      <vt:lpstr>Wingdings</vt:lpstr>
      <vt:lpstr>Office 主题​​</vt:lpstr>
      <vt:lpstr>Microsoft Visio 2003-2010 Drawing</vt:lpstr>
      <vt:lpstr>Visio</vt:lpstr>
      <vt:lpstr>Advanced Data Structure</vt:lpstr>
      <vt:lpstr>Advanced Data Structure</vt:lpstr>
      <vt:lpstr>Disjoint set</vt:lpstr>
      <vt:lpstr>Background—Gang</vt:lpstr>
      <vt:lpstr>Operations of the disjoint set</vt:lpstr>
      <vt:lpstr>1. Initialization</vt:lpstr>
      <vt:lpstr>2. Merging</vt:lpstr>
      <vt:lpstr>PowerPoint 演示文稿</vt:lpstr>
      <vt:lpstr>PowerPoint 演示文稿</vt:lpstr>
      <vt:lpstr>3. Finding</vt:lpstr>
      <vt:lpstr>PowerPoint 演示文稿</vt:lpstr>
      <vt:lpstr>How many sets (gangs)?</vt:lpstr>
      <vt:lpstr>Complexity</vt:lpstr>
      <vt:lpstr>Optimization of Merging</vt:lpstr>
      <vt:lpstr>PowerPoint 演示文稿</vt:lpstr>
      <vt:lpstr>Optimization of finding--Path compression</vt:lpstr>
      <vt:lpstr>Path compression (recursively)</vt:lpstr>
      <vt:lpstr>Path compression (iteratively)</vt:lpstr>
      <vt:lpstr>How Many Tables</vt:lpstr>
      <vt:lpstr>More disjoint set problems</vt:lpstr>
      <vt:lpstr>Segment Tree</vt:lpstr>
      <vt:lpstr>Application background</vt:lpstr>
      <vt:lpstr>Brute Force?</vt:lpstr>
      <vt:lpstr>Using segment tree</vt:lpstr>
      <vt:lpstr>Definition</vt:lpstr>
      <vt:lpstr>Example--summation</vt:lpstr>
      <vt:lpstr>PowerPoint 演示文稿</vt:lpstr>
      <vt:lpstr>PowerPoint 演示文稿</vt:lpstr>
      <vt:lpstr>Exercise--Minimum</vt:lpstr>
      <vt:lpstr>Lost Cows</vt:lpstr>
      <vt:lpstr>PowerPoint 演示文稿</vt:lpstr>
      <vt:lpstr>Brute force</vt:lpstr>
      <vt:lpstr>Using segment tree</vt:lpstr>
      <vt:lpstr>1. Bulid the tree</vt:lpstr>
      <vt:lpstr>2. Query &amp; Update</vt:lpstr>
      <vt:lpstr>PowerPoint 演示文稿</vt:lpstr>
      <vt:lpstr>Complexity</vt:lpstr>
      <vt:lpstr>A Simple Problem with Integers</vt:lpstr>
      <vt:lpstr>PowerPoint 演示文稿</vt:lpstr>
      <vt:lpstr>Key of modifying a subsegment: lazy-tag</vt:lpstr>
      <vt:lpstr>1. Build()</vt:lpstr>
      <vt:lpstr>2. Adding a value to all elements in a subsegment</vt:lpstr>
      <vt:lpstr>PowerPoint 演示文稿</vt:lpstr>
      <vt:lpstr>More segment tree problems</vt:lpstr>
      <vt:lpstr>Binary Indexed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greedy approach</dc:title>
  <dc:creator>Xu Yanyan</dc:creator>
  <cp:lastModifiedBy>艳艳 徐</cp:lastModifiedBy>
  <cp:revision>394</cp:revision>
  <dcterms:created xsi:type="dcterms:W3CDTF">2021-03-21T14:58:38Z</dcterms:created>
  <dcterms:modified xsi:type="dcterms:W3CDTF">2024-04-23T14:35:22Z</dcterms:modified>
</cp:coreProperties>
</file>