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2" r:id="rId9"/>
    <p:sldId id="263" r:id="rId10"/>
    <p:sldId id="266" r:id="rId11"/>
    <p:sldId id="264" r:id="rId12"/>
    <p:sldId id="267" r:id="rId13"/>
    <p:sldId id="268" r:id="rId14"/>
    <p:sldId id="269" r:id="rId15"/>
    <p:sldId id="270" r:id="rId16"/>
    <p:sldId id="271" r:id="rId17"/>
    <p:sldId id="272" r:id="rId18"/>
    <p:sldId id="598" r:id="rId19"/>
    <p:sldId id="273" r:id="rId20"/>
    <p:sldId id="599" r:id="rId21"/>
    <p:sldId id="274" r:id="rId22"/>
    <p:sldId id="600" r:id="rId23"/>
    <p:sldId id="606" r:id="rId24"/>
    <p:sldId id="601" r:id="rId25"/>
    <p:sldId id="602" r:id="rId26"/>
    <p:sldId id="603" r:id="rId27"/>
    <p:sldId id="604" r:id="rId28"/>
    <p:sldId id="605"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C9F1E-2AF7-4571-A574-B9647ED3627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AF749D2-9671-4AFF-AA75-C3C80BBED2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B3CFA0F-446A-4FBA-8550-175AC34E9F70}"/>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82F573A8-0039-4595-B0D0-7AD58110C8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1880FF-7340-4043-8285-648ED2D358D0}"/>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448904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38836A-C88A-401C-9296-BA2A462750C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2549AD5-7CC0-4AE1-9862-647498D7355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113FBC-E276-4BA1-A392-8DA050E56BF1}"/>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16729DD9-8870-4B19-B982-8BB4AAAAD7D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FE9038-E2FE-429E-A8BC-CFEA485E8686}"/>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3411750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2FCEC5-2FD5-4F20-A68C-536AA1F3D8F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50353A1-652A-41DA-ACB5-2E73C43F5C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8DD1B71-4CAB-40E8-8236-64CC7581BDA5}"/>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67F648FF-0CAF-46B5-AE81-FD2316DA66B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F5FBE63-CBAF-4B85-9217-52AC1F2E3EC7}"/>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2754514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0CD21B-C1C0-466A-875D-F810F3DD1B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25E8089-018C-42FA-9657-02998B63D0B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AFF05F5-F6EC-431F-9C0F-28E3F92C95B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279AD7D-C140-4345-B3F3-D2159F699A81}"/>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6" name="页脚占位符 5">
            <a:extLst>
              <a:ext uri="{FF2B5EF4-FFF2-40B4-BE49-F238E27FC236}">
                <a16:creationId xmlns:a16="http://schemas.microsoft.com/office/drawing/2014/main" id="{4E4B5180-D146-4D4E-9B15-3263C92D486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CEF776-F94E-40A7-982D-7BB75E602FFA}"/>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3514542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DCA7D4-8E23-43FD-A135-D86DBF9A7F7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ECA9EC6-1D86-4B15-8C4F-22E13FC3C5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74EF643-2FC4-4AB1-8185-6AD333EC9B8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CA8D4EC-6E2A-49CE-98DC-0C0EBD8BB8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26E7449-08A2-41BD-8DF5-D30A75322F5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A71F020-772E-44C0-ADF1-2EC2F170649E}"/>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8" name="页脚占位符 7">
            <a:extLst>
              <a:ext uri="{FF2B5EF4-FFF2-40B4-BE49-F238E27FC236}">
                <a16:creationId xmlns:a16="http://schemas.microsoft.com/office/drawing/2014/main" id="{2708E16E-E77E-4032-A8A8-CD290162124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E7AF769-0D71-4DC4-A2BC-937ADEF47746}"/>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878555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620B03-0430-4119-9736-857047A34C0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20186F0-7E49-4378-A6FD-6126D1DFA824}"/>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4" name="页脚占位符 3">
            <a:extLst>
              <a:ext uri="{FF2B5EF4-FFF2-40B4-BE49-F238E27FC236}">
                <a16:creationId xmlns:a16="http://schemas.microsoft.com/office/drawing/2014/main" id="{C29EC314-9D38-451E-ADEA-9AD0E65956E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EBA8EF0-1C6A-4DB5-B952-F5E085C22D9A}"/>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1793425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326C91B-1480-4C5A-8E9B-40492E705679}"/>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3" name="页脚占位符 2">
            <a:extLst>
              <a:ext uri="{FF2B5EF4-FFF2-40B4-BE49-F238E27FC236}">
                <a16:creationId xmlns:a16="http://schemas.microsoft.com/office/drawing/2014/main" id="{24E9D0C9-8E00-4BD0-A262-B388A64223E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9E129B6-1C7C-4FD6-AAAD-95CC171EC497}"/>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1210864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5E2FF4-604F-45B9-B20C-333E123AB4C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55D34AE-3C60-4F5D-8042-A4AFEB191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0CD343-0468-46B7-9BA6-74C5BC064D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C23FA4-9376-4066-8595-A3BBC1F06D79}"/>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6" name="页脚占位符 5">
            <a:extLst>
              <a:ext uri="{FF2B5EF4-FFF2-40B4-BE49-F238E27FC236}">
                <a16:creationId xmlns:a16="http://schemas.microsoft.com/office/drawing/2014/main" id="{F37BD00D-333E-4CFD-B172-5B8435E0053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F6831A2-F4AC-4EE0-8F5A-4EB2FC296F5E}"/>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3785775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B5373A-429F-4A1E-91BF-3D18A7FC3D3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4B0CB9F-0160-4742-9CD5-1C6571EBC8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2BD760A-8C59-483B-ABC7-37E2E34E13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FE15833-EC5D-4204-A1AC-652FECFDB781}"/>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6" name="页脚占位符 5">
            <a:extLst>
              <a:ext uri="{FF2B5EF4-FFF2-40B4-BE49-F238E27FC236}">
                <a16:creationId xmlns:a16="http://schemas.microsoft.com/office/drawing/2014/main" id="{5F54D948-25C5-4D49-9883-31FE8D14661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9867DFA-B76E-4382-909D-DAC54FD4158E}"/>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2764127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18847A-9CFD-4929-BC19-FE70A9AE116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114AD76-E296-41B3-8ACF-6ED830618DA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DAF860-D79B-4D65-AC3E-2A0545F3CD4E}"/>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93B2CBE4-3D92-42EC-9C61-54E04CE2C5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9A931B4-DA39-41E5-A848-D913EAD3D0A9}"/>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253118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26B4077-1E1B-41ED-87AD-897B76F2D55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6B9D070-2FB2-4D42-B7CB-6E17F509591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2B9FCDD-99CD-4164-91E1-9A02D5239B78}"/>
              </a:ext>
            </a:extLst>
          </p:cNvPr>
          <p:cNvSpPr>
            <a:spLocks noGrp="1"/>
          </p:cNvSpPr>
          <p:nvPr>
            <p:ph type="dt" sz="half" idx="10"/>
          </p:nvPr>
        </p:nvSpPr>
        <p:spPr/>
        <p:txBody>
          <a:bodyPr/>
          <a:lstStyle/>
          <a:p>
            <a:fld id="{6525FFA8-5DC2-4B0B-B9FF-05A8E6099F1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54D0FABF-E453-4DA8-A9C1-3DD629092D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37870A3-B931-4A58-AE7B-2B401A29F161}"/>
              </a:ext>
            </a:extLst>
          </p:cNvPr>
          <p:cNvSpPr>
            <a:spLocks noGrp="1"/>
          </p:cNvSpPr>
          <p:nvPr>
            <p:ph type="sldNum" sz="quarter" idx="12"/>
          </p:nvPr>
        </p:nvSpPr>
        <p:spPr/>
        <p:txBody>
          <a:body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3072617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AA8618A-81B6-4BA5-AA69-65888DD328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F422D4A-1328-482D-B590-970ABDE907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09A940-B871-47AA-AFF7-E5D31126C9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25FFA8-5DC2-4B0B-B9FF-05A8E6099F1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32B459D4-825E-44F3-9F69-0473AB58C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10CB9CD-4E58-4669-8E66-CB7E73DF18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5B1347-1EB9-41D2-84E6-7C2A35775E5B}" type="slidenum">
              <a:rPr lang="zh-CN" altLang="en-US" smtClean="0"/>
              <a:t>‹#›</a:t>
            </a:fld>
            <a:endParaRPr lang="zh-CN" altLang="en-US"/>
          </a:p>
        </p:txBody>
      </p:sp>
    </p:spTree>
    <p:extLst>
      <p:ext uri="{BB962C8B-B14F-4D97-AF65-F5344CB8AC3E}">
        <p14:creationId xmlns:p14="http://schemas.microsoft.com/office/powerpoint/2010/main" val="104455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Prime%20Ring%20Problem.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Egyptian%20Fractions.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redblobgames.com/pathfinding/a-star/introduction.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2D5525-AD3D-4B2C-B4DE-80F23BDDD957}"/>
              </a:ext>
            </a:extLst>
          </p:cNvPr>
          <p:cNvSpPr>
            <a:spLocks noGrp="1"/>
          </p:cNvSpPr>
          <p:nvPr>
            <p:ph type="ctrTitle"/>
          </p:nvPr>
        </p:nvSpPr>
        <p:spPr/>
        <p:txBody>
          <a:bodyPr/>
          <a:lstStyle/>
          <a:p>
            <a:r>
              <a:rPr lang="en-US" altLang="zh-CN"/>
              <a:t>Search</a:t>
            </a:r>
            <a:br>
              <a:rPr lang="en-US" altLang="zh-CN"/>
            </a:br>
            <a:r>
              <a:rPr lang="en-US" altLang="zh-CN" sz="3600"/>
              <a:t>part 2</a:t>
            </a:r>
            <a:endParaRPr lang="zh-CN" altLang="en-US" sz="3600"/>
          </a:p>
        </p:txBody>
      </p:sp>
      <p:sp>
        <p:nvSpPr>
          <p:cNvPr id="3" name="副标题 2">
            <a:extLst>
              <a:ext uri="{FF2B5EF4-FFF2-40B4-BE49-F238E27FC236}">
                <a16:creationId xmlns:a16="http://schemas.microsoft.com/office/drawing/2014/main" id="{3D997E34-9F2C-46C1-9BE0-BFD0C2B71970}"/>
              </a:ext>
            </a:extLst>
          </p:cNvPr>
          <p:cNvSpPr>
            <a:spLocks noGrp="1"/>
          </p:cNvSpPr>
          <p:nvPr>
            <p:ph type="subTitle" idx="1"/>
          </p:nvPr>
        </p:nvSpPr>
        <p:spPr/>
        <p:txBody>
          <a:bodyPr/>
          <a:lstStyle/>
          <a:p>
            <a:r>
              <a:rPr lang="en-US" altLang="zh-CN"/>
              <a:t>Xu Yanyan</a:t>
            </a:r>
            <a:endParaRPr lang="zh-CN" altLang="en-US"/>
          </a:p>
        </p:txBody>
      </p:sp>
    </p:spTree>
    <p:extLst>
      <p:ext uri="{BB962C8B-B14F-4D97-AF65-F5344CB8AC3E}">
        <p14:creationId xmlns:p14="http://schemas.microsoft.com/office/powerpoint/2010/main" val="1689718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1606D2-C006-4810-A58B-2F47B444DB74}"/>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36764593-C5A2-4062-8221-65975D04CDAB}"/>
              </a:ext>
            </a:extLst>
          </p:cNvPr>
          <p:cNvSpPr>
            <a:spLocks noGrp="1"/>
          </p:cNvSpPr>
          <p:nvPr>
            <p:ph idx="1"/>
          </p:nvPr>
        </p:nvSpPr>
        <p:spPr/>
        <p:txBody>
          <a:bodyPr/>
          <a:lstStyle/>
          <a:p>
            <a:r>
              <a:rPr lang="en-US" altLang="zh-CN" dirty="0"/>
              <a:t>Backtracking (</a:t>
            </a:r>
            <a:r>
              <a:rPr lang="en-US" altLang="zh-CN" dirty="0" err="1"/>
              <a:t>dfs</a:t>
            </a:r>
            <a:r>
              <a:rPr lang="en-US" altLang="zh-CN" dirty="0"/>
              <a:t> + pruning)</a:t>
            </a:r>
          </a:p>
          <a:p>
            <a:r>
              <a:rPr lang="en-US" altLang="zh-CN" dirty="0"/>
              <a:t>Path finding in an implicit graph (</a:t>
            </a:r>
            <a:r>
              <a:rPr lang="en-US" altLang="zh-CN" dirty="0" err="1"/>
              <a:t>bfs</a:t>
            </a:r>
            <a:r>
              <a:rPr lang="en-US" altLang="zh-CN" dirty="0"/>
              <a:t>)</a:t>
            </a:r>
          </a:p>
          <a:p>
            <a:r>
              <a:rPr lang="en-US" altLang="zh-CN" dirty="0"/>
              <a:t>Iterative deepening depth-first search (IDS or IDDFS)</a:t>
            </a:r>
          </a:p>
          <a:p>
            <a:r>
              <a:rPr lang="en-US" altLang="zh-CN" dirty="0"/>
              <a:t>A</a:t>
            </a:r>
            <a:r>
              <a:rPr lang="en-US" altLang="zh-CN" baseline="30000" dirty="0"/>
              <a:t>*</a:t>
            </a:r>
            <a:r>
              <a:rPr lang="zh-CN" altLang="en-US" dirty="0"/>
              <a:t> </a:t>
            </a:r>
            <a:r>
              <a:rPr lang="en-US" altLang="zh-CN" dirty="0"/>
              <a:t>(optional)</a:t>
            </a:r>
            <a:endParaRPr lang="zh-CN" altLang="en-US" dirty="0"/>
          </a:p>
        </p:txBody>
      </p:sp>
    </p:spTree>
    <p:extLst>
      <p:ext uri="{BB962C8B-B14F-4D97-AF65-F5344CB8AC3E}">
        <p14:creationId xmlns:p14="http://schemas.microsoft.com/office/powerpoint/2010/main" val="921896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2B843F-41E5-4092-AECB-B06591E057A3}"/>
              </a:ext>
            </a:extLst>
          </p:cNvPr>
          <p:cNvSpPr>
            <a:spLocks noGrp="1"/>
          </p:cNvSpPr>
          <p:nvPr>
            <p:ph type="title"/>
          </p:nvPr>
        </p:nvSpPr>
        <p:spPr/>
        <p:txBody>
          <a:bodyPr/>
          <a:lstStyle/>
          <a:p>
            <a:r>
              <a:rPr lang="en-US" altLang="zh-CN"/>
              <a:t>1 Backtracking</a:t>
            </a:r>
            <a:endParaRPr lang="zh-CN" altLang="en-US"/>
          </a:p>
        </p:txBody>
      </p:sp>
      <p:sp>
        <p:nvSpPr>
          <p:cNvPr id="3" name="内容占位符 2">
            <a:extLst>
              <a:ext uri="{FF2B5EF4-FFF2-40B4-BE49-F238E27FC236}">
                <a16:creationId xmlns:a16="http://schemas.microsoft.com/office/drawing/2014/main" id="{D8929051-700A-4B99-A6BB-1E76674C90E0}"/>
              </a:ext>
            </a:extLst>
          </p:cNvPr>
          <p:cNvSpPr>
            <a:spLocks noGrp="1"/>
          </p:cNvSpPr>
          <p:nvPr>
            <p:ph idx="1"/>
          </p:nvPr>
        </p:nvSpPr>
        <p:spPr/>
        <p:txBody>
          <a:bodyPr>
            <a:normAutofit/>
          </a:bodyPr>
          <a:lstStyle/>
          <a:p>
            <a:r>
              <a:rPr lang="zh-CN" altLang="en-US" dirty="0"/>
              <a:t>回溯是一种通用算法，用于查找某些计算问题（尤其是约束满足问题）的所有（或部分）解决方案，它逐步构建解决方案的候选者，并在确定候选者不可能完成有效解决方案时立即放弃候选者（“回溯”）。</a:t>
            </a:r>
            <a:endParaRPr lang="en-US" altLang="zh-CN" dirty="0"/>
          </a:p>
          <a:p>
            <a:r>
              <a:rPr lang="zh-CN" altLang="en-US" dirty="0"/>
              <a:t>回溯只能应用于承认“部分候选解决方案”概念的问题，以及相对快速地测试它是否可能被完成为有效解决方案的问题（例如，八皇后难题）。</a:t>
            </a:r>
            <a:endParaRPr lang="en-US" altLang="zh-CN" dirty="0"/>
          </a:p>
        </p:txBody>
      </p:sp>
    </p:spTree>
    <p:extLst>
      <p:ext uri="{BB962C8B-B14F-4D97-AF65-F5344CB8AC3E}">
        <p14:creationId xmlns:p14="http://schemas.microsoft.com/office/powerpoint/2010/main" val="4046957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06FAC47-FE7B-4870-8E5F-D2D2F76E5F9B}"/>
              </a:ext>
            </a:extLst>
          </p:cNvPr>
          <p:cNvSpPr>
            <a:spLocks noGrp="1"/>
          </p:cNvSpPr>
          <p:nvPr>
            <p:ph idx="1"/>
          </p:nvPr>
        </p:nvSpPr>
        <p:spPr>
          <a:xfrm>
            <a:off x="838200" y="470517"/>
            <a:ext cx="10515600" cy="5706446"/>
          </a:xfrm>
        </p:spPr>
        <p:txBody>
          <a:bodyPr>
            <a:normAutofit/>
          </a:bodyPr>
          <a:lstStyle/>
          <a:p>
            <a:r>
              <a:rPr lang="zh-CN" altLang="en-US" dirty="0"/>
              <a:t>然而，当它适用时，回溯通常比暴力枚举所有完整的候选者快得多，因为它可以通过一次测试消除许多候选者。</a:t>
            </a:r>
            <a:endParaRPr lang="en-US" altLang="zh-CN" dirty="0"/>
          </a:p>
          <a:p>
            <a:endParaRPr lang="en-US" altLang="zh-CN" dirty="0"/>
          </a:p>
          <a:p>
            <a:r>
              <a:rPr lang="zh-CN" altLang="en-US" dirty="0"/>
              <a:t>回溯是解决约束满足问题的重要工具，如填字游戏、数独游戏和许多其他谜题。对于背包问题和其他组合优化问题，这通常是最方便（如果不是最有效的话）的技术。</a:t>
            </a:r>
            <a:endParaRPr lang="en-US" altLang="zh-CN" dirty="0"/>
          </a:p>
          <a:p>
            <a:endParaRPr lang="en-US" altLang="zh-CN" dirty="0"/>
          </a:p>
          <a:p>
            <a:r>
              <a:rPr lang="zh-CN" altLang="en-US" dirty="0"/>
              <a:t>它是一种元启发式算法，而不是一种特定的算法</a:t>
            </a:r>
            <a:r>
              <a:rPr lang="en-US" altLang="zh-CN" dirty="0"/>
              <a:t>——</a:t>
            </a:r>
            <a:r>
              <a:rPr lang="zh-CN" altLang="en-US" dirty="0"/>
              <a:t>尽管与许多其他元启发式算法不同，它可以保证在有限的时间内找到有限问题的所有解决方案。（潜在的搜索树不能太大）</a:t>
            </a:r>
          </a:p>
        </p:txBody>
      </p:sp>
    </p:spTree>
    <p:extLst>
      <p:ext uri="{BB962C8B-B14F-4D97-AF65-F5344CB8AC3E}">
        <p14:creationId xmlns:p14="http://schemas.microsoft.com/office/powerpoint/2010/main" val="3365748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7355B77-D459-4FFB-BA63-1C1AD3AE614E}"/>
              </a:ext>
            </a:extLst>
          </p:cNvPr>
          <p:cNvSpPr>
            <a:spLocks noGrp="1"/>
          </p:cNvSpPr>
          <p:nvPr>
            <p:ph idx="1"/>
          </p:nvPr>
        </p:nvSpPr>
        <p:spPr>
          <a:xfrm>
            <a:off x="838200" y="355107"/>
            <a:ext cx="10515600" cy="2006353"/>
          </a:xfrm>
        </p:spPr>
        <p:txBody>
          <a:bodyPr>
            <a:noAutofit/>
          </a:bodyPr>
          <a:lstStyle/>
          <a:p>
            <a:pPr marL="0" indent="0">
              <a:buNone/>
            </a:pPr>
            <a:r>
              <a:rPr lang="zh-CN" altLang="en-US" sz="2400" dirty="0"/>
              <a:t>回溯算法以深度优先的顺序从根向下递归遍历搜索树。在每个节点</a:t>
            </a:r>
            <a:r>
              <a:rPr lang="en-US" altLang="zh-CN" sz="2400" dirty="0"/>
              <a:t>c</a:t>
            </a:r>
            <a:r>
              <a:rPr lang="zh-CN" altLang="en-US" sz="2400" dirty="0"/>
              <a:t>处，算法检查</a:t>
            </a:r>
            <a:r>
              <a:rPr lang="en-US" altLang="zh-CN" sz="2400" dirty="0"/>
              <a:t>c</a:t>
            </a:r>
            <a:r>
              <a:rPr lang="zh-CN" altLang="en-US" sz="2400" dirty="0"/>
              <a:t>是否可以被完成为有效的解。如果不能，则跳过（修剪）以</a:t>
            </a:r>
            <a:r>
              <a:rPr lang="en-US" altLang="zh-CN" sz="2400" dirty="0"/>
              <a:t>c</a:t>
            </a:r>
            <a:r>
              <a:rPr lang="zh-CN" altLang="en-US" sz="2400" dirty="0"/>
              <a:t>为根的整个子树。否则，算法（</a:t>
            </a:r>
            <a:r>
              <a:rPr lang="en-US" altLang="zh-CN" sz="2400" dirty="0"/>
              <a:t>1</a:t>
            </a:r>
            <a:r>
              <a:rPr lang="zh-CN" altLang="en-US" sz="2400" dirty="0"/>
              <a:t>）检查</a:t>
            </a:r>
            <a:r>
              <a:rPr lang="en-US" altLang="zh-CN" sz="2400" dirty="0"/>
              <a:t>c</a:t>
            </a:r>
            <a:r>
              <a:rPr lang="zh-CN" altLang="en-US" sz="2400" dirty="0"/>
              <a:t>本身是否是有效的解决方案，如果是，则将其报告给用户；（</a:t>
            </a:r>
            <a:r>
              <a:rPr lang="en-US" altLang="zh-CN" sz="2400" dirty="0"/>
              <a:t>2</a:t>
            </a:r>
            <a:r>
              <a:rPr lang="zh-CN" altLang="en-US" sz="2400" dirty="0"/>
              <a:t>）递归枚举</a:t>
            </a:r>
            <a:r>
              <a:rPr lang="en-US" altLang="zh-CN" sz="2400" dirty="0"/>
              <a:t>c</a:t>
            </a:r>
            <a:r>
              <a:rPr lang="zh-CN" altLang="en-US" sz="2400" dirty="0"/>
              <a:t>的所有子树。</a:t>
            </a:r>
            <a:endParaRPr lang="en-US" altLang="zh-CN" sz="2400" dirty="0"/>
          </a:p>
        </p:txBody>
      </p:sp>
      <p:pic>
        <p:nvPicPr>
          <p:cNvPr id="5" name="图片 4">
            <a:extLst>
              <a:ext uri="{FF2B5EF4-FFF2-40B4-BE49-F238E27FC236}">
                <a16:creationId xmlns:a16="http://schemas.microsoft.com/office/drawing/2014/main" id="{3CA90B96-EDBD-45B7-A4F7-1C7137C619C5}"/>
              </a:ext>
            </a:extLst>
          </p:cNvPr>
          <p:cNvPicPr>
            <a:picLocks noChangeAspect="1"/>
          </p:cNvPicPr>
          <p:nvPr/>
        </p:nvPicPr>
        <p:blipFill>
          <a:blip r:embed="rId2"/>
          <a:stretch>
            <a:fillRect/>
          </a:stretch>
        </p:blipFill>
        <p:spPr>
          <a:xfrm>
            <a:off x="0" y="2361460"/>
            <a:ext cx="6227739" cy="2827537"/>
          </a:xfrm>
          <a:prstGeom prst="rect">
            <a:avLst/>
          </a:prstGeom>
        </p:spPr>
      </p:pic>
      <p:sp>
        <p:nvSpPr>
          <p:cNvPr id="6" name="文本框 5">
            <a:extLst>
              <a:ext uri="{FF2B5EF4-FFF2-40B4-BE49-F238E27FC236}">
                <a16:creationId xmlns:a16="http://schemas.microsoft.com/office/drawing/2014/main" id="{F2AD8E11-0AB7-4401-97E2-108698DE6ED8}"/>
              </a:ext>
            </a:extLst>
          </p:cNvPr>
          <p:cNvSpPr txBox="1"/>
          <p:nvPr/>
        </p:nvSpPr>
        <p:spPr>
          <a:xfrm>
            <a:off x="3487720" y="2238613"/>
            <a:ext cx="1695634" cy="461665"/>
          </a:xfrm>
          <a:prstGeom prst="rect">
            <a:avLst/>
          </a:prstGeom>
          <a:noFill/>
        </p:spPr>
        <p:txBody>
          <a:bodyPr wrap="square" rtlCol="0">
            <a:spAutoFit/>
          </a:bodyPr>
          <a:lstStyle/>
          <a:p>
            <a:r>
              <a:rPr lang="en-US" altLang="zh-CN" sz="2400" b="0" i="1">
                <a:solidFill>
                  <a:srgbClr val="FF0000"/>
                </a:solidFill>
                <a:effectLst/>
                <a:latin typeface="Arial" panose="020B0604020202020204" pitchFamily="34" charset="0"/>
              </a:rPr>
              <a:t>bt</a:t>
            </a:r>
            <a:r>
              <a:rPr lang="en-US" altLang="zh-CN" sz="2400" b="0" i="0">
                <a:solidFill>
                  <a:srgbClr val="FF0000"/>
                </a:solidFill>
                <a:effectLst/>
                <a:latin typeface="Arial" panose="020B0604020202020204" pitchFamily="34" charset="0"/>
              </a:rPr>
              <a:t>(</a:t>
            </a:r>
            <a:r>
              <a:rPr lang="en-US" altLang="zh-CN" sz="2400" b="0" i="1">
                <a:solidFill>
                  <a:srgbClr val="FF0000"/>
                </a:solidFill>
                <a:effectLst/>
                <a:latin typeface="Arial" panose="020B0604020202020204" pitchFamily="34" charset="0"/>
              </a:rPr>
              <a:t>root</a:t>
            </a:r>
            <a:r>
              <a:rPr lang="en-US" altLang="zh-CN" sz="2400" b="0" i="0">
                <a:solidFill>
                  <a:srgbClr val="FF0000"/>
                </a:solidFill>
                <a:effectLst/>
                <a:latin typeface="Arial" panose="020B0604020202020204" pitchFamily="34" charset="0"/>
              </a:rPr>
              <a:t>(</a:t>
            </a:r>
            <a:r>
              <a:rPr lang="en-US" altLang="zh-CN" sz="2400" b="0" i="1">
                <a:solidFill>
                  <a:srgbClr val="FF0000"/>
                </a:solidFill>
                <a:effectLst/>
                <a:latin typeface="Arial" panose="020B0604020202020204" pitchFamily="34" charset="0"/>
              </a:rPr>
              <a:t>P</a:t>
            </a:r>
            <a:r>
              <a:rPr lang="en-US" altLang="zh-CN" sz="2400" b="0" i="0">
                <a:solidFill>
                  <a:srgbClr val="FF0000"/>
                </a:solidFill>
                <a:effectLst/>
                <a:latin typeface="Arial" panose="020B0604020202020204" pitchFamily="34" charset="0"/>
              </a:rPr>
              <a:t>))</a:t>
            </a:r>
            <a:endParaRPr lang="zh-CN" altLang="en-US" sz="2400">
              <a:solidFill>
                <a:srgbClr val="FF0000"/>
              </a:solidFill>
            </a:endParaRPr>
          </a:p>
        </p:txBody>
      </p:sp>
      <p:sp>
        <p:nvSpPr>
          <p:cNvPr id="7" name="内容占位符 2">
            <a:extLst>
              <a:ext uri="{FF2B5EF4-FFF2-40B4-BE49-F238E27FC236}">
                <a16:creationId xmlns:a16="http://schemas.microsoft.com/office/drawing/2014/main" id="{D0B1F44A-6651-4FF0-8BDA-6D3A908A47D5}"/>
              </a:ext>
            </a:extLst>
          </p:cNvPr>
          <p:cNvSpPr txBox="1">
            <a:spLocks/>
          </p:cNvSpPr>
          <p:nvPr/>
        </p:nvSpPr>
        <p:spPr>
          <a:xfrm>
            <a:off x="517918" y="4719961"/>
            <a:ext cx="10515600" cy="21395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ltLang="zh-CN" sz="2400"/>
          </a:p>
        </p:txBody>
      </p:sp>
      <p:sp>
        <p:nvSpPr>
          <p:cNvPr id="8" name="内容占位符 2">
            <a:extLst>
              <a:ext uri="{FF2B5EF4-FFF2-40B4-BE49-F238E27FC236}">
                <a16:creationId xmlns:a16="http://schemas.microsoft.com/office/drawing/2014/main" id="{13977B5F-9AD8-4236-9955-C130DE219E19}"/>
              </a:ext>
            </a:extLst>
          </p:cNvPr>
          <p:cNvSpPr txBox="1">
            <a:spLocks/>
          </p:cNvSpPr>
          <p:nvPr/>
        </p:nvSpPr>
        <p:spPr>
          <a:xfrm>
            <a:off x="838200" y="5188997"/>
            <a:ext cx="10515600" cy="113930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solidFill>
                  <a:srgbClr val="FF0000"/>
                </a:solidFill>
              </a:rPr>
              <a:t>伪代码将调用作为给定实例</a:t>
            </a:r>
            <a:r>
              <a:rPr lang="en-US" altLang="zh-CN" sz="2400" b="1" dirty="0">
                <a:solidFill>
                  <a:srgbClr val="FF0000"/>
                </a:solidFill>
              </a:rPr>
              <a:t>P</a:t>
            </a:r>
            <a:r>
              <a:rPr lang="zh-CN" altLang="en-US" sz="2400" b="1" dirty="0">
                <a:solidFill>
                  <a:srgbClr val="FF0000"/>
                </a:solidFill>
              </a:rPr>
              <a:t>的解决方案的所有候选的输出。算法遍历的实际搜索树只是潜在树的一部分。该算法的总成本是实际树的节点数量乘以获得和处理每个节点的成本。</a:t>
            </a:r>
            <a:endParaRPr lang="en-US" altLang="zh-CN" sz="2400" b="1" dirty="0">
              <a:solidFill>
                <a:srgbClr val="FF0000"/>
              </a:solidFill>
            </a:endParaRPr>
          </a:p>
        </p:txBody>
      </p:sp>
      <p:pic>
        <p:nvPicPr>
          <p:cNvPr id="4" name="图片 3">
            <a:extLst>
              <a:ext uri="{FF2B5EF4-FFF2-40B4-BE49-F238E27FC236}">
                <a16:creationId xmlns:a16="http://schemas.microsoft.com/office/drawing/2014/main" id="{2150FE5B-81CC-40DA-A9CD-6B227A611772}"/>
              </a:ext>
            </a:extLst>
          </p:cNvPr>
          <p:cNvPicPr>
            <a:picLocks noChangeAspect="1"/>
          </p:cNvPicPr>
          <p:nvPr/>
        </p:nvPicPr>
        <p:blipFill>
          <a:blip r:embed="rId3"/>
          <a:stretch>
            <a:fillRect/>
          </a:stretch>
        </p:blipFill>
        <p:spPr>
          <a:xfrm>
            <a:off x="5400860" y="3529351"/>
            <a:ext cx="6779820" cy="1676924"/>
          </a:xfrm>
          <a:prstGeom prst="rect">
            <a:avLst/>
          </a:prstGeom>
        </p:spPr>
      </p:pic>
    </p:spTree>
    <p:extLst>
      <p:ext uri="{BB962C8B-B14F-4D97-AF65-F5344CB8AC3E}">
        <p14:creationId xmlns:p14="http://schemas.microsoft.com/office/powerpoint/2010/main" val="2450480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01055B-D6A8-40E0-9AC0-56ACA0EC6FA8}"/>
              </a:ext>
            </a:extLst>
          </p:cNvPr>
          <p:cNvSpPr>
            <a:spLocks noGrp="1"/>
          </p:cNvSpPr>
          <p:nvPr>
            <p:ph type="title"/>
          </p:nvPr>
        </p:nvSpPr>
        <p:spPr>
          <a:xfrm>
            <a:off x="838200" y="100117"/>
            <a:ext cx="10515600" cy="965203"/>
          </a:xfrm>
        </p:spPr>
        <p:txBody>
          <a:bodyPr/>
          <a:lstStyle/>
          <a:p>
            <a:r>
              <a:rPr lang="en-US" altLang="zh-CN"/>
              <a:t>Eight queens puzzle</a:t>
            </a:r>
            <a:endParaRPr lang="zh-CN" altLang="en-US"/>
          </a:p>
        </p:txBody>
      </p:sp>
      <p:sp>
        <p:nvSpPr>
          <p:cNvPr id="3" name="内容占位符 2">
            <a:extLst>
              <a:ext uri="{FF2B5EF4-FFF2-40B4-BE49-F238E27FC236}">
                <a16:creationId xmlns:a16="http://schemas.microsoft.com/office/drawing/2014/main" id="{D10F64B4-D14B-4AAD-950B-3EC149870839}"/>
              </a:ext>
            </a:extLst>
          </p:cNvPr>
          <p:cNvSpPr>
            <a:spLocks noGrp="1"/>
          </p:cNvSpPr>
          <p:nvPr>
            <p:ph idx="1"/>
          </p:nvPr>
        </p:nvSpPr>
        <p:spPr>
          <a:xfrm>
            <a:off x="838200" y="1025076"/>
            <a:ext cx="10515600" cy="2821519"/>
          </a:xfrm>
        </p:spPr>
        <p:txBody>
          <a:bodyPr>
            <a:normAutofit/>
          </a:bodyPr>
          <a:lstStyle/>
          <a:p>
            <a:pPr marL="0" indent="0">
              <a:buNone/>
            </a:pPr>
            <a:r>
              <a:rPr lang="zh-CN" altLang="en-US" dirty="0"/>
              <a:t>八皇后之谜是将八个国际象棋皇后放在一个</a:t>
            </a:r>
            <a:r>
              <a:rPr lang="en-US" altLang="zh-CN" dirty="0"/>
              <a:t>8×8</a:t>
            </a:r>
            <a:r>
              <a:rPr lang="zh-CN" altLang="en-US" dirty="0"/>
              <a:t>的棋盘上，这样就不会有两个皇后互相威胁；因此，解决方案要求没有两个王后共享同一行、同一列或同一对角线。八皇后难题是将</a:t>
            </a:r>
            <a:r>
              <a:rPr lang="en-US" altLang="zh-CN" dirty="0"/>
              <a:t>n</a:t>
            </a:r>
            <a:r>
              <a:rPr lang="zh-CN" altLang="en-US" dirty="0"/>
              <a:t>个非攻击皇后放置在</a:t>
            </a:r>
            <a:r>
              <a:rPr lang="en-US" altLang="zh-CN" dirty="0" err="1"/>
              <a:t>n×n</a:t>
            </a:r>
            <a:r>
              <a:rPr lang="zh-CN" altLang="en-US" dirty="0"/>
              <a:t>棋盘上的更一般的</a:t>
            </a:r>
            <a:r>
              <a:rPr lang="en-US" altLang="zh-CN" dirty="0"/>
              <a:t>n</a:t>
            </a:r>
            <a:r>
              <a:rPr lang="zh-CN" altLang="en-US" dirty="0"/>
              <a:t>皇后问题的一个例子，对于该问题，除了</a:t>
            </a:r>
            <a:r>
              <a:rPr lang="en-US" altLang="zh-CN" dirty="0"/>
              <a:t>n=2</a:t>
            </a:r>
            <a:r>
              <a:rPr lang="zh-CN" altLang="en-US" dirty="0"/>
              <a:t>和</a:t>
            </a:r>
            <a:r>
              <a:rPr lang="en-US" altLang="zh-CN" dirty="0"/>
              <a:t>n=3</a:t>
            </a:r>
            <a:r>
              <a:rPr lang="zh-CN" altLang="en-US" dirty="0"/>
              <a:t>之外，所有自然数</a:t>
            </a:r>
            <a:r>
              <a:rPr lang="en-US" altLang="zh-CN" dirty="0"/>
              <a:t>n</a:t>
            </a:r>
            <a:r>
              <a:rPr lang="zh-CN" altLang="en-US" dirty="0"/>
              <a:t>都存在解。</a:t>
            </a:r>
            <a:endParaRPr lang="en-US" altLang="zh-CN" dirty="0"/>
          </a:p>
        </p:txBody>
      </p:sp>
      <p:pic>
        <p:nvPicPr>
          <p:cNvPr id="5" name="图片 4">
            <a:extLst>
              <a:ext uri="{FF2B5EF4-FFF2-40B4-BE49-F238E27FC236}">
                <a16:creationId xmlns:a16="http://schemas.microsoft.com/office/drawing/2014/main" id="{42B4E75B-38F8-4C35-8325-0F520C75FA47}"/>
              </a:ext>
            </a:extLst>
          </p:cNvPr>
          <p:cNvPicPr>
            <a:picLocks noChangeAspect="1"/>
          </p:cNvPicPr>
          <p:nvPr/>
        </p:nvPicPr>
        <p:blipFill>
          <a:blip r:embed="rId2"/>
          <a:stretch>
            <a:fillRect/>
          </a:stretch>
        </p:blipFill>
        <p:spPr>
          <a:xfrm>
            <a:off x="2438929" y="3772286"/>
            <a:ext cx="7704762" cy="3085714"/>
          </a:xfrm>
          <a:prstGeom prst="rect">
            <a:avLst/>
          </a:prstGeom>
        </p:spPr>
      </p:pic>
    </p:spTree>
    <p:extLst>
      <p:ext uri="{BB962C8B-B14F-4D97-AF65-F5344CB8AC3E}">
        <p14:creationId xmlns:p14="http://schemas.microsoft.com/office/powerpoint/2010/main" val="840310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671080E-E105-4E0A-91F1-795DC62BF068}"/>
              </a:ext>
            </a:extLst>
          </p:cNvPr>
          <p:cNvPicPr>
            <a:picLocks noChangeAspect="1"/>
          </p:cNvPicPr>
          <p:nvPr/>
        </p:nvPicPr>
        <p:blipFill>
          <a:blip r:embed="rId2"/>
          <a:stretch>
            <a:fillRect/>
          </a:stretch>
        </p:blipFill>
        <p:spPr>
          <a:xfrm>
            <a:off x="0" y="0"/>
            <a:ext cx="3595625" cy="6852041"/>
          </a:xfrm>
          <a:prstGeom prst="rect">
            <a:avLst/>
          </a:prstGeom>
        </p:spPr>
      </p:pic>
      <p:sp>
        <p:nvSpPr>
          <p:cNvPr id="6" name="文本框 5">
            <a:extLst>
              <a:ext uri="{FF2B5EF4-FFF2-40B4-BE49-F238E27FC236}">
                <a16:creationId xmlns:a16="http://schemas.microsoft.com/office/drawing/2014/main" id="{D825D18A-E18B-4CF8-9064-323E9109F139}"/>
              </a:ext>
            </a:extLst>
          </p:cNvPr>
          <p:cNvSpPr txBox="1"/>
          <p:nvPr/>
        </p:nvSpPr>
        <p:spPr>
          <a:xfrm>
            <a:off x="3826276" y="2556769"/>
            <a:ext cx="6580648" cy="369332"/>
          </a:xfrm>
          <a:prstGeom prst="rect">
            <a:avLst/>
          </a:prstGeom>
          <a:noFill/>
        </p:spPr>
        <p:txBody>
          <a:bodyPr wrap="none" rtlCol="0">
            <a:spAutoFit/>
          </a:bodyPr>
          <a:lstStyle/>
          <a:p>
            <a:r>
              <a:rPr lang="en-US" altLang="zh-CN" b="0" i="0" dirty="0">
                <a:solidFill>
                  <a:srgbClr val="202122"/>
                </a:solidFill>
                <a:effectLst/>
                <a:latin typeface="Arial" panose="020B0604020202020204" pitchFamily="34" charset="0"/>
              </a:rPr>
              <a:t>the number of solutions for placing </a:t>
            </a:r>
            <a:r>
              <a:rPr lang="en-US" altLang="zh-CN" b="0" i="1" dirty="0">
                <a:solidFill>
                  <a:srgbClr val="202122"/>
                </a:solidFill>
                <a:effectLst/>
                <a:latin typeface="Arial" panose="020B0604020202020204" pitchFamily="34" charset="0"/>
              </a:rPr>
              <a:t>n</a:t>
            </a:r>
            <a:r>
              <a:rPr lang="en-US" altLang="zh-CN" b="0" i="0" dirty="0">
                <a:solidFill>
                  <a:srgbClr val="202122"/>
                </a:solidFill>
                <a:effectLst/>
                <a:latin typeface="Arial" panose="020B0604020202020204" pitchFamily="34" charset="0"/>
              </a:rPr>
              <a:t> queens on an </a:t>
            </a:r>
            <a:r>
              <a:rPr lang="en-US" altLang="zh-CN" b="0" i="1" dirty="0">
                <a:solidFill>
                  <a:srgbClr val="202122"/>
                </a:solidFill>
                <a:effectLst/>
                <a:latin typeface="Nimbus Roman No9 L"/>
              </a:rPr>
              <a:t>n</a:t>
            </a:r>
            <a:r>
              <a:rPr lang="en-US" altLang="zh-CN" b="0" i="0" dirty="0">
                <a:solidFill>
                  <a:srgbClr val="202122"/>
                </a:solidFill>
                <a:effectLst/>
                <a:latin typeface="Nimbus Roman No9 L"/>
              </a:rPr>
              <a:t> × </a:t>
            </a:r>
            <a:r>
              <a:rPr lang="en-US" altLang="zh-CN" b="0" i="1" dirty="0">
                <a:solidFill>
                  <a:srgbClr val="202122"/>
                </a:solidFill>
                <a:effectLst/>
                <a:latin typeface="Nimbus Roman No9 L"/>
              </a:rPr>
              <a:t>n</a:t>
            </a:r>
            <a:r>
              <a:rPr lang="en-US" altLang="zh-CN" b="0" i="0" dirty="0">
                <a:solidFill>
                  <a:srgbClr val="202122"/>
                </a:solidFill>
                <a:effectLst/>
                <a:latin typeface="Arial" panose="020B0604020202020204" pitchFamily="34" charset="0"/>
              </a:rPr>
              <a:t> board</a:t>
            </a:r>
            <a:endParaRPr lang="zh-CN" altLang="en-US" dirty="0"/>
          </a:p>
        </p:txBody>
      </p:sp>
      <p:sp>
        <p:nvSpPr>
          <p:cNvPr id="2" name="文本框 1">
            <a:extLst>
              <a:ext uri="{FF2B5EF4-FFF2-40B4-BE49-F238E27FC236}">
                <a16:creationId xmlns:a16="http://schemas.microsoft.com/office/drawing/2014/main" id="{A8BD66ED-145F-CF73-190A-2A59A1AC1044}"/>
              </a:ext>
            </a:extLst>
          </p:cNvPr>
          <p:cNvSpPr txBox="1"/>
          <p:nvPr/>
        </p:nvSpPr>
        <p:spPr>
          <a:xfrm>
            <a:off x="3889899" y="3426020"/>
            <a:ext cx="3374642" cy="369332"/>
          </a:xfrm>
          <a:prstGeom prst="rect">
            <a:avLst/>
          </a:prstGeom>
          <a:noFill/>
        </p:spPr>
        <p:txBody>
          <a:bodyPr wrap="none" rtlCol="0">
            <a:spAutoFit/>
          </a:bodyPr>
          <a:lstStyle/>
          <a:p>
            <a:r>
              <a:rPr lang="en-US" altLang="zh-CN" dirty="0">
                <a:effectLst/>
              </a:rPr>
              <a:t>Fundamental:</a:t>
            </a:r>
            <a:r>
              <a:rPr lang="zh-CN" altLang="en-US" dirty="0">
                <a:solidFill>
                  <a:srgbClr val="202122"/>
                </a:solidFill>
                <a:latin typeface="Arial" panose="020B0604020202020204" pitchFamily="34" charset="0"/>
              </a:rPr>
              <a:t>对称解只计算一次</a:t>
            </a:r>
          </a:p>
        </p:txBody>
      </p:sp>
    </p:spTree>
    <p:extLst>
      <p:ext uri="{BB962C8B-B14F-4D97-AF65-F5344CB8AC3E}">
        <p14:creationId xmlns:p14="http://schemas.microsoft.com/office/powerpoint/2010/main" val="3375040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46F61-59D1-4C42-94CA-AC409CB3B2BC}"/>
              </a:ext>
            </a:extLst>
          </p:cNvPr>
          <p:cNvSpPr>
            <a:spLocks noGrp="1"/>
          </p:cNvSpPr>
          <p:nvPr>
            <p:ph type="title"/>
          </p:nvPr>
        </p:nvSpPr>
        <p:spPr/>
        <p:txBody>
          <a:bodyPr/>
          <a:lstStyle/>
          <a:p>
            <a:r>
              <a:rPr lang="en-US" altLang="zh-CN"/>
              <a:t>Algorithm design</a:t>
            </a:r>
            <a:endParaRPr lang="zh-CN" altLang="en-US"/>
          </a:p>
        </p:txBody>
      </p:sp>
      <p:sp>
        <p:nvSpPr>
          <p:cNvPr id="3" name="内容占位符 2">
            <a:extLst>
              <a:ext uri="{FF2B5EF4-FFF2-40B4-BE49-F238E27FC236}">
                <a16:creationId xmlns:a16="http://schemas.microsoft.com/office/drawing/2014/main" id="{193EDA60-A7E8-4A66-9465-3CDF24E59F8A}"/>
              </a:ext>
            </a:extLst>
          </p:cNvPr>
          <p:cNvSpPr>
            <a:spLocks noGrp="1"/>
          </p:cNvSpPr>
          <p:nvPr>
            <p:ph idx="1"/>
          </p:nvPr>
        </p:nvSpPr>
        <p:spPr/>
        <p:txBody>
          <a:bodyPr>
            <a:normAutofit/>
          </a:bodyPr>
          <a:lstStyle/>
          <a:p>
            <a:r>
              <a:rPr lang="zh-CN" altLang="en-US" dirty="0"/>
              <a:t>天真的蛮力搜索算法考虑了八个女王的所有</a:t>
            </a:r>
            <a:r>
              <a:rPr lang="en-US" altLang="zh-CN" dirty="0"/>
              <a:t>648=248=28144749767100656</a:t>
            </a:r>
            <a:r>
              <a:rPr lang="zh-CN" altLang="en-US" dirty="0"/>
              <a:t>可能的盲放置。</a:t>
            </a:r>
            <a:endParaRPr lang="en-US" altLang="zh-CN" dirty="0"/>
          </a:p>
          <a:p>
            <a:r>
              <a:rPr lang="zh-CN" altLang="en-US" dirty="0"/>
              <a:t>更好的暴力算法在每行上放置一个女王，导致只有</a:t>
            </a:r>
            <a:r>
              <a:rPr lang="en-US" altLang="zh-CN" dirty="0"/>
              <a:t>88=224=16777216</a:t>
            </a:r>
            <a:r>
              <a:rPr lang="zh-CN" altLang="en-US" dirty="0"/>
              <a:t>个盲放置。</a:t>
            </a:r>
            <a:endParaRPr lang="en-US" altLang="zh-CN" dirty="0"/>
          </a:p>
          <a:p>
            <a:r>
              <a:rPr lang="zh-CN" altLang="en-US" dirty="0"/>
              <a:t>一种算法通过生成数字</a:t>
            </a:r>
            <a:r>
              <a:rPr lang="en-US" altLang="zh-CN" dirty="0"/>
              <a:t>1</a:t>
            </a:r>
            <a:r>
              <a:rPr lang="zh-CN" altLang="en-US" dirty="0"/>
              <a:t>到</a:t>
            </a:r>
            <a:r>
              <a:rPr lang="en-US" altLang="zh-CN" dirty="0"/>
              <a:t>8</a:t>
            </a:r>
            <a:r>
              <a:rPr lang="zh-CN" altLang="en-US" dirty="0"/>
              <a:t>（其中有</a:t>
            </a:r>
            <a:r>
              <a:rPr lang="en-US" altLang="zh-CN" dirty="0"/>
              <a:t>8</a:t>
            </a:r>
            <a:r>
              <a:rPr lang="zh-CN" altLang="en-US" dirty="0"/>
              <a:t>！</a:t>
            </a:r>
            <a:r>
              <a:rPr lang="en-US" altLang="zh-CN" dirty="0"/>
              <a:t>=40320</a:t>
            </a:r>
            <a:r>
              <a:rPr lang="zh-CN" altLang="en-US" dirty="0"/>
              <a:t>）的排列来解决这个难题，并使用每个排列的元素作为索引，在每行上放置一个女王。然后它拒绝那些具有对角进攻位置的板。对于</a:t>
            </a:r>
            <a:r>
              <a:rPr lang="en-US" altLang="zh-CN" dirty="0"/>
              <a:t>n=8</a:t>
            </a:r>
            <a:r>
              <a:rPr lang="zh-CN" altLang="en-US" dirty="0"/>
              <a:t>，它在计算上是可管理的，但对于</a:t>
            </a:r>
            <a:r>
              <a:rPr lang="en-US" altLang="zh-CN" dirty="0"/>
              <a:t>n≥20</a:t>
            </a:r>
            <a:r>
              <a:rPr lang="zh-CN" altLang="en-US" dirty="0"/>
              <a:t>的问题，如</a:t>
            </a:r>
            <a:r>
              <a:rPr lang="en-US" altLang="zh-CN" dirty="0"/>
              <a:t>20</a:t>
            </a:r>
            <a:r>
              <a:rPr lang="zh-CN" altLang="en-US" dirty="0"/>
              <a:t>！</a:t>
            </a:r>
            <a:r>
              <a:rPr lang="en-US" altLang="zh-CN" dirty="0"/>
              <a:t>=2.433 × 1018. </a:t>
            </a:r>
            <a:endParaRPr lang="zh-CN" altLang="en-US" dirty="0"/>
          </a:p>
        </p:txBody>
      </p:sp>
    </p:spTree>
    <p:extLst>
      <p:ext uri="{BB962C8B-B14F-4D97-AF65-F5344CB8AC3E}">
        <p14:creationId xmlns:p14="http://schemas.microsoft.com/office/powerpoint/2010/main" val="729865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9717264-5D3D-44A0-92EB-5E4E5EA35AF0}"/>
              </a:ext>
            </a:extLst>
          </p:cNvPr>
          <p:cNvSpPr>
            <a:spLocks noGrp="1"/>
          </p:cNvSpPr>
          <p:nvPr>
            <p:ph idx="1"/>
          </p:nvPr>
        </p:nvSpPr>
        <p:spPr>
          <a:xfrm>
            <a:off x="838200" y="319596"/>
            <a:ext cx="10515600" cy="5857367"/>
          </a:xfrm>
        </p:spPr>
        <p:txBody>
          <a:bodyPr/>
          <a:lstStyle/>
          <a:p>
            <a:pPr marL="0" indent="0">
              <a:buNone/>
            </a:pPr>
            <a:r>
              <a:rPr lang="en-US" altLang="zh-CN" dirty="0"/>
              <a:t>4.</a:t>
            </a:r>
            <a:r>
              <a:rPr lang="zh-CN" altLang="en-US" dirty="0"/>
              <a:t>回溯深度优先搜索程序在排列方法的基础上略有改进，通过一次考虑一行板来构建搜索树，在构建的早期阶段消除了大多数非解板的位置。因为即使在不完整的木板上，它也会拒绝</a:t>
            </a:r>
            <a:r>
              <a:rPr lang="en-US" altLang="zh-CN" dirty="0"/>
              <a:t>rook</a:t>
            </a:r>
            <a:r>
              <a:rPr lang="zh-CN" altLang="en-US" dirty="0"/>
              <a:t>和对角线攻击，所以它只检查了</a:t>
            </a:r>
            <a:r>
              <a:rPr lang="en-US" altLang="zh-CN" dirty="0"/>
              <a:t>15720</a:t>
            </a:r>
            <a:r>
              <a:rPr lang="zh-CN" altLang="en-US" dirty="0"/>
              <a:t>个可能的女王位置。</a:t>
            </a:r>
            <a:endParaRPr lang="en-US" altLang="zh-CN" dirty="0"/>
          </a:p>
          <a:p>
            <a:pPr marL="0" indent="0">
              <a:buNone/>
            </a:pPr>
            <a:endParaRPr lang="en-US" altLang="zh-CN" dirty="0"/>
          </a:p>
          <a:p>
            <a:pPr marL="0" indent="0">
              <a:buNone/>
            </a:pPr>
            <a:r>
              <a:rPr lang="en-US" altLang="zh-CN" dirty="0"/>
              <a:t>5.</a:t>
            </a:r>
            <a:r>
              <a:rPr lang="zh-CN" altLang="en-US" dirty="0"/>
              <a:t>进一步的改进，只检查了</a:t>
            </a:r>
            <a:r>
              <a:rPr lang="en-US" altLang="zh-CN" dirty="0"/>
              <a:t>2057</a:t>
            </a:r>
            <a:r>
              <a:rPr lang="zh-CN" altLang="en-US" dirty="0"/>
              <a:t>个可能的女王位置，是将基于排列的方法与早期修剪方法相结合：首先生成深度排列，如果部分排列产生对角攻击，则修剪搜索空间。</a:t>
            </a:r>
          </a:p>
        </p:txBody>
      </p:sp>
    </p:spTree>
    <p:extLst>
      <p:ext uri="{BB962C8B-B14F-4D97-AF65-F5344CB8AC3E}">
        <p14:creationId xmlns:p14="http://schemas.microsoft.com/office/powerpoint/2010/main" val="1881129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5A658-EC4C-4C42-81AD-2D8AD0150C27}"/>
              </a:ext>
            </a:extLst>
          </p:cNvPr>
          <p:cNvSpPr>
            <a:spLocks noGrp="1"/>
          </p:cNvSpPr>
          <p:nvPr>
            <p:ph type="title"/>
          </p:nvPr>
        </p:nvSpPr>
        <p:spPr/>
        <p:txBody>
          <a:bodyPr/>
          <a:lstStyle/>
          <a:p>
            <a:r>
              <a:rPr lang="en-US" altLang="zh-CN"/>
              <a:t>Brute-force </a:t>
            </a:r>
            <a:r>
              <a:rPr lang="en-US" altLang="zh-CN">
                <a:solidFill>
                  <a:srgbClr val="FF0000"/>
                </a:solidFill>
              </a:rPr>
              <a:t>8</a:t>
            </a:r>
            <a:r>
              <a:rPr lang="en-US" altLang="zh-CN" baseline="30000">
                <a:solidFill>
                  <a:srgbClr val="FF0000"/>
                </a:solidFill>
              </a:rPr>
              <a:t>8</a:t>
            </a:r>
            <a:endParaRPr lang="zh-CN" altLang="en-US" baseline="30000">
              <a:solidFill>
                <a:srgbClr val="FF0000"/>
              </a:solidFill>
            </a:endParaRPr>
          </a:p>
        </p:txBody>
      </p:sp>
      <p:pic>
        <p:nvPicPr>
          <p:cNvPr id="5" name="图片 4">
            <a:extLst>
              <a:ext uri="{FF2B5EF4-FFF2-40B4-BE49-F238E27FC236}">
                <a16:creationId xmlns:a16="http://schemas.microsoft.com/office/drawing/2014/main" id="{C1FDE852-AB1D-449C-BF59-5F86E72FD229}"/>
              </a:ext>
            </a:extLst>
          </p:cNvPr>
          <p:cNvPicPr>
            <a:picLocks noChangeAspect="1"/>
          </p:cNvPicPr>
          <p:nvPr/>
        </p:nvPicPr>
        <p:blipFill>
          <a:blip r:embed="rId2"/>
          <a:stretch>
            <a:fillRect/>
          </a:stretch>
        </p:blipFill>
        <p:spPr>
          <a:xfrm>
            <a:off x="753365" y="1690688"/>
            <a:ext cx="8323809" cy="3000000"/>
          </a:xfrm>
          <a:prstGeom prst="rect">
            <a:avLst/>
          </a:prstGeom>
        </p:spPr>
      </p:pic>
      <p:sp>
        <p:nvSpPr>
          <p:cNvPr id="7" name="文本框 6">
            <a:extLst>
              <a:ext uri="{FF2B5EF4-FFF2-40B4-BE49-F238E27FC236}">
                <a16:creationId xmlns:a16="http://schemas.microsoft.com/office/drawing/2014/main" id="{A5FAF8C6-8A80-4070-A46D-C01B7CA355FE}"/>
              </a:ext>
            </a:extLst>
          </p:cNvPr>
          <p:cNvSpPr txBox="1"/>
          <p:nvPr/>
        </p:nvSpPr>
        <p:spPr>
          <a:xfrm>
            <a:off x="685060" y="4797728"/>
            <a:ext cx="3505201" cy="923330"/>
          </a:xfrm>
          <a:prstGeom prst="rect">
            <a:avLst/>
          </a:prstGeom>
          <a:noFill/>
        </p:spPr>
        <p:txBody>
          <a:bodyPr wrap="square" rtlCol="0">
            <a:spAutoFit/>
          </a:bodyPr>
          <a:lstStyle/>
          <a:p>
            <a:r>
              <a:rPr lang="en-US" altLang="zh-CN"/>
              <a:t>Diagonal, </a:t>
            </a:r>
            <a:r>
              <a:rPr lang="en-US" altLang="zh-CN" sz="1800">
                <a:latin typeface="宋体" panose="02010600030101010101" pitchFamily="2" charset="-122"/>
                <a:ea typeface="宋体" panose="02010600030101010101" pitchFamily="2" charset="-122"/>
              </a:rPr>
              <a:t>cur-C[cur] == j-C[j]</a:t>
            </a:r>
          </a:p>
          <a:p>
            <a:r>
              <a:rPr lang="en-US" altLang="zh-CN">
                <a:latin typeface="宋体" panose="02010600030101010101" pitchFamily="2" charset="-122"/>
                <a:ea typeface="宋体" panose="02010600030101010101" pitchFamily="2" charset="-122"/>
              </a:rPr>
              <a:t>Judge (cur,C[cur]) &amp; (j,C[j])</a:t>
            </a:r>
          </a:p>
          <a:p>
            <a:r>
              <a:rPr lang="en-US" altLang="zh-CN" sz="1800">
                <a:latin typeface="宋体" panose="02010600030101010101" pitchFamily="2" charset="-122"/>
                <a:ea typeface="宋体" panose="02010600030101010101" pitchFamily="2" charset="-122"/>
              </a:rPr>
              <a:t>Value:(x,</a:t>
            </a:r>
            <a:r>
              <a:rPr lang="en-US" altLang="zh-CN">
                <a:latin typeface="宋体" panose="02010600030101010101" pitchFamily="2" charset="-122"/>
                <a:ea typeface="宋体" panose="02010600030101010101" pitchFamily="2" charset="-122"/>
              </a:rPr>
              <a:t>y) y-x</a:t>
            </a:r>
            <a:r>
              <a:rPr lang="en-US" altLang="zh-CN" sz="1800">
                <a:latin typeface="宋体" panose="02010600030101010101" pitchFamily="2" charset="-122"/>
                <a:ea typeface="宋体" panose="02010600030101010101" pitchFamily="2" charset="-122"/>
              </a:rPr>
              <a:t> </a:t>
            </a:r>
            <a:endParaRPr lang="zh-CN" altLang="en-US"/>
          </a:p>
        </p:txBody>
      </p:sp>
      <p:sp>
        <p:nvSpPr>
          <p:cNvPr id="8" name="文本框 7">
            <a:extLst>
              <a:ext uri="{FF2B5EF4-FFF2-40B4-BE49-F238E27FC236}">
                <a16:creationId xmlns:a16="http://schemas.microsoft.com/office/drawing/2014/main" id="{336BA715-07F3-417C-803B-F0F7EF3111DD}"/>
              </a:ext>
            </a:extLst>
          </p:cNvPr>
          <p:cNvSpPr txBox="1"/>
          <p:nvPr/>
        </p:nvSpPr>
        <p:spPr>
          <a:xfrm>
            <a:off x="5782322" y="4789362"/>
            <a:ext cx="3885461" cy="923330"/>
          </a:xfrm>
          <a:prstGeom prst="rect">
            <a:avLst/>
          </a:prstGeom>
          <a:noFill/>
        </p:spPr>
        <p:txBody>
          <a:bodyPr wrap="square" rtlCol="0">
            <a:spAutoFit/>
          </a:bodyPr>
          <a:lstStyle/>
          <a:p>
            <a:r>
              <a:rPr lang="en-US" altLang="zh-CN"/>
              <a:t>Subdiagonal, </a:t>
            </a:r>
            <a:r>
              <a:rPr lang="en-US" altLang="zh-CN" sz="1800">
                <a:latin typeface="宋体" panose="02010600030101010101" pitchFamily="2" charset="-122"/>
                <a:ea typeface="宋体" panose="02010600030101010101" pitchFamily="2" charset="-122"/>
              </a:rPr>
              <a:t>cur+C[cur] == j+C[j]</a:t>
            </a:r>
          </a:p>
          <a:p>
            <a:r>
              <a:rPr lang="en-US" altLang="zh-CN">
                <a:latin typeface="宋体" panose="02010600030101010101" pitchFamily="2" charset="-122"/>
                <a:ea typeface="宋体" panose="02010600030101010101" pitchFamily="2" charset="-122"/>
              </a:rPr>
              <a:t>Judge (cur,C[cur]) &amp; (j,C[j])</a:t>
            </a:r>
          </a:p>
          <a:p>
            <a:r>
              <a:rPr lang="en-US" altLang="zh-CN" sz="1800">
                <a:latin typeface="宋体" panose="02010600030101010101" pitchFamily="2" charset="-122"/>
                <a:ea typeface="宋体" panose="02010600030101010101" pitchFamily="2" charset="-122"/>
              </a:rPr>
              <a:t>Value:(x,</a:t>
            </a:r>
            <a:r>
              <a:rPr lang="en-US" altLang="zh-CN">
                <a:latin typeface="宋体" panose="02010600030101010101" pitchFamily="2" charset="-122"/>
                <a:ea typeface="宋体" panose="02010600030101010101" pitchFamily="2" charset="-122"/>
              </a:rPr>
              <a:t>y) x+y</a:t>
            </a:r>
            <a:r>
              <a:rPr lang="en-US" altLang="zh-CN" sz="1800">
                <a:latin typeface="宋体" panose="02010600030101010101" pitchFamily="2" charset="-122"/>
                <a:ea typeface="宋体" panose="02010600030101010101" pitchFamily="2" charset="-122"/>
              </a:rPr>
              <a:t> </a:t>
            </a:r>
            <a:endParaRPr lang="zh-CN" altLang="en-US"/>
          </a:p>
        </p:txBody>
      </p:sp>
    </p:spTree>
    <p:extLst>
      <p:ext uri="{BB962C8B-B14F-4D97-AF65-F5344CB8AC3E}">
        <p14:creationId xmlns:p14="http://schemas.microsoft.com/office/powerpoint/2010/main" val="654438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9F16D0-694E-4C57-A51F-7549ECAFA433}"/>
              </a:ext>
            </a:extLst>
          </p:cNvPr>
          <p:cNvSpPr>
            <a:spLocks noGrp="1"/>
          </p:cNvSpPr>
          <p:nvPr>
            <p:ph type="title"/>
          </p:nvPr>
        </p:nvSpPr>
        <p:spPr/>
        <p:txBody>
          <a:bodyPr/>
          <a:lstStyle/>
          <a:p>
            <a:r>
              <a:rPr lang="en-US" altLang="zh-CN"/>
              <a:t>Backtracking</a:t>
            </a:r>
            <a:endParaRPr lang="zh-CN" altLang="en-US"/>
          </a:p>
        </p:txBody>
      </p:sp>
      <p:sp>
        <p:nvSpPr>
          <p:cNvPr id="3" name="内容占位符 2">
            <a:extLst>
              <a:ext uri="{FF2B5EF4-FFF2-40B4-BE49-F238E27FC236}">
                <a16:creationId xmlns:a16="http://schemas.microsoft.com/office/drawing/2014/main" id="{EE9C8883-90F6-421A-AF25-CAC258756125}"/>
              </a:ext>
            </a:extLst>
          </p:cNvPr>
          <p:cNvSpPr>
            <a:spLocks noGrp="1"/>
          </p:cNvSpPr>
          <p:nvPr>
            <p:ph idx="1"/>
          </p:nvPr>
        </p:nvSpPr>
        <p:spPr>
          <a:xfrm>
            <a:off x="3146394" y="5233128"/>
            <a:ext cx="4825754" cy="479394"/>
          </a:xfrm>
        </p:spPr>
        <p:txBody>
          <a:bodyPr>
            <a:normAutofit/>
          </a:bodyPr>
          <a:lstStyle/>
          <a:p>
            <a:pPr marL="0" indent="0">
              <a:buNone/>
            </a:pPr>
            <a:r>
              <a:rPr lang="en-US" altLang="zh-CN"/>
              <a:t>The search tree of 4-queens </a:t>
            </a:r>
            <a:endParaRPr lang="zh-CN" altLang="en-US"/>
          </a:p>
        </p:txBody>
      </p:sp>
      <p:pic>
        <p:nvPicPr>
          <p:cNvPr id="5" name="图片 4">
            <a:extLst>
              <a:ext uri="{FF2B5EF4-FFF2-40B4-BE49-F238E27FC236}">
                <a16:creationId xmlns:a16="http://schemas.microsoft.com/office/drawing/2014/main" id="{428A9BB3-309B-44B2-850C-83F0F9FDBFC5}"/>
              </a:ext>
            </a:extLst>
          </p:cNvPr>
          <p:cNvPicPr>
            <a:picLocks noChangeAspect="1"/>
          </p:cNvPicPr>
          <p:nvPr/>
        </p:nvPicPr>
        <p:blipFill>
          <a:blip r:embed="rId2"/>
          <a:stretch>
            <a:fillRect/>
          </a:stretch>
        </p:blipFill>
        <p:spPr>
          <a:xfrm>
            <a:off x="981112" y="1482319"/>
            <a:ext cx="9059533" cy="3750809"/>
          </a:xfrm>
          <a:prstGeom prst="rect">
            <a:avLst/>
          </a:prstGeom>
        </p:spPr>
      </p:pic>
      <p:sp>
        <p:nvSpPr>
          <p:cNvPr id="6" name="内容占位符 2">
            <a:extLst>
              <a:ext uri="{FF2B5EF4-FFF2-40B4-BE49-F238E27FC236}">
                <a16:creationId xmlns:a16="http://schemas.microsoft.com/office/drawing/2014/main" id="{8A365367-6DCD-40A8-A320-14D3B3DF20F0}"/>
              </a:ext>
            </a:extLst>
          </p:cNvPr>
          <p:cNvSpPr txBox="1">
            <a:spLocks/>
          </p:cNvSpPr>
          <p:nvPr/>
        </p:nvSpPr>
        <p:spPr>
          <a:xfrm>
            <a:off x="3767091" y="5870928"/>
            <a:ext cx="3289917" cy="4793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a:solidFill>
                  <a:srgbClr val="FF0000"/>
                </a:solidFill>
              </a:rPr>
              <a:t>17 nodes &lt; 4! = 24</a:t>
            </a:r>
            <a:endParaRPr lang="zh-CN" altLang="en-US">
              <a:solidFill>
                <a:srgbClr val="FF0000"/>
              </a:solidFill>
            </a:endParaRPr>
          </a:p>
        </p:txBody>
      </p:sp>
    </p:spTree>
    <p:extLst>
      <p:ext uri="{BB962C8B-B14F-4D97-AF65-F5344CB8AC3E}">
        <p14:creationId xmlns:p14="http://schemas.microsoft.com/office/powerpoint/2010/main" val="3520604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02FA34-4C1A-4AB1-BA02-3F0D51C33ED5}"/>
              </a:ext>
            </a:extLst>
          </p:cNvPr>
          <p:cNvSpPr>
            <a:spLocks noGrp="1"/>
          </p:cNvSpPr>
          <p:nvPr>
            <p:ph type="title"/>
          </p:nvPr>
        </p:nvSpPr>
        <p:spPr/>
        <p:txBody>
          <a:bodyPr/>
          <a:lstStyle/>
          <a:p>
            <a:r>
              <a:rPr lang="zh-CN" altLang="en-US" dirty="0"/>
              <a:t>优化回溯</a:t>
            </a:r>
          </a:p>
        </p:txBody>
      </p:sp>
      <p:sp>
        <p:nvSpPr>
          <p:cNvPr id="3" name="内容占位符 2">
            <a:extLst>
              <a:ext uri="{FF2B5EF4-FFF2-40B4-BE49-F238E27FC236}">
                <a16:creationId xmlns:a16="http://schemas.microsoft.com/office/drawing/2014/main" id="{FA2AADDF-BBB0-4E2D-9AC9-8FEAEACBEB1C}"/>
              </a:ext>
            </a:extLst>
          </p:cNvPr>
          <p:cNvSpPr>
            <a:spLocks noGrp="1"/>
          </p:cNvSpPr>
          <p:nvPr>
            <p:ph idx="1"/>
          </p:nvPr>
        </p:nvSpPr>
        <p:spPr/>
        <p:txBody>
          <a:bodyPr/>
          <a:lstStyle/>
          <a:p>
            <a:pPr marL="0" indent="0">
              <a:buNone/>
            </a:pPr>
            <a:r>
              <a:rPr lang="zh-CN" altLang="en-US" dirty="0"/>
              <a:t>节点的数量不能再减少了。然而，可以通过使用阵列</a:t>
            </a:r>
            <a:r>
              <a:rPr lang="en-US" altLang="zh-CN" dirty="0"/>
              <a:t>vis[3][]</a:t>
            </a:r>
            <a:r>
              <a:rPr lang="zh-CN" altLang="en-US" dirty="0"/>
              <a:t>来提高效率。</a:t>
            </a:r>
            <a:endParaRPr lang="en-US" altLang="zh-CN" dirty="0"/>
          </a:p>
          <a:p>
            <a:pPr marL="0" indent="0">
              <a:buNone/>
            </a:pPr>
            <a:r>
              <a:rPr lang="en-US" altLang="zh-CN" dirty="0"/>
              <a:t>n=14</a:t>
            </a:r>
            <a:r>
              <a:rPr lang="zh-CN" altLang="en-US" dirty="0"/>
              <a:t>，回溯</a:t>
            </a:r>
            <a:r>
              <a:rPr lang="en-US" altLang="zh-CN" dirty="0"/>
              <a:t>16406ms</a:t>
            </a:r>
            <a:r>
              <a:rPr lang="zh-CN" altLang="en-US" dirty="0"/>
              <a:t>，优化回溯</a:t>
            </a:r>
            <a:r>
              <a:rPr lang="en-US" altLang="zh-CN" dirty="0"/>
              <a:t>3485ms</a:t>
            </a:r>
          </a:p>
          <a:p>
            <a:pPr marL="0" indent="0">
              <a:buNone/>
            </a:pPr>
            <a:r>
              <a:rPr lang="en-US" altLang="zh-CN" dirty="0"/>
              <a:t>n=15</a:t>
            </a:r>
            <a:r>
              <a:rPr lang="zh-CN" altLang="en-US" dirty="0"/>
              <a:t>，回溯</a:t>
            </a:r>
            <a:r>
              <a:rPr lang="en-US" altLang="zh-CN" dirty="0"/>
              <a:t>117078ms</a:t>
            </a:r>
            <a:r>
              <a:rPr lang="zh-CN" altLang="en-US" dirty="0"/>
              <a:t>，优化回溯</a:t>
            </a:r>
            <a:r>
              <a:rPr lang="en-US" altLang="zh-CN" dirty="0"/>
              <a:t>27031ms</a:t>
            </a:r>
            <a:endParaRPr lang="zh-CN" altLang="en-US" dirty="0"/>
          </a:p>
        </p:txBody>
      </p:sp>
      <p:sp>
        <p:nvSpPr>
          <p:cNvPr id="4" name="标题 1">
            <a:extLst>
              <a:ext uri="{FF2B5EF4-FFF2-40B4-BE49-F238E27FC236}">
                <a16:creationId xmlns:a16="http://schemas.microsoft.com/office/drawing/2014/main" id="{201E529F-5D03-4B04-A5C9-C26185B93B7A}"/>
              </a:ext>
            </a:extLst>
          </p:cNvPr>
          <p:cNvSpPr txBox="1">
            <a:spLocks/>
          </p:cNvSpPr>
          <p:nvPr/>
        </p:nvSpPr>
        <p:spPr>
          <a:xfrm>
            <a:off x="838200" y="4840792"/>
            <a:ext cx="9841637" cy="9652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t>n</a:t>
            </a:r>
            <a:r>
              <a:rPr lang="zh-CN" altLang="en-US" sz="3200" b="1" dirty="0"/>
              <a:t>皇后难题的时间复杂性是</a:t>
            </a:r>
            <a:r>
              <a:rPr lang="en-US" altLang="zh-CN" sz="3200" b="1" dirty="0"/>
              <a:t>NP</a:t>
            </a:r>
            <a:r>
              <a:rPr lang="zh-CN" altLang="en-US" sz="3200" b="1" dirty="0"/>
              <a:t>完全的。</a:t>
            </a:r>
          </a:p>
        </p:txBody>
      </p:sp>
    </p:spTree>
    <p:extLst>
      <p:ext uri="{BB962C8B-B14F-4D97-AF65-F5344CB8AC3E}">
        <p14:creationId xmlns:p14="http://schemas.microsoft.com/office/powerpoint/2010/main" val="2115429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7F5-EC9E-4ED0-87D6-74AE071CA8F3}"/>
              </a:ext>
            </a:extLst>
          </p:cNvPr>
          <p:cNvSpPr>
            <a:spLocks noGrp="1"/>
          </p:cNvSpPr>
          <p:nvPr>
            <p:ph type="title"/>
          </p:nvPr>
        </p:nvSpPr>
        <p:spPr>
          <a:xfrm>
            <a:off x="3520366" y="2282702"/>
            <a:ext cx="5151268" cy="1325563"/>
          </a:xfrm>
        </p:spPr>
        <p:txBody>
          <a:bodyPr/>
          <a:lstStyle/>
          <a:p>
            <a:pPr algn="ctr"/>
            <a:r>
              <a:rPr lang="en-US" altLang="zh-CN">
                <a:hlinkClick r:id="rId2" action="ppaction://hlinkfile"/>
              </a:rPr>
              <a:t>Prime Ring Problem</a:t>
            </a:r>
            <a:endParaRPr lang="zh-CN" altLang="en-US"/>
          </a:p>
        </p:txBody>
      </p:sp>
    </p:spTree>
    <p:extLst>
      <p:ext uri="{BB962C8B-B14F-4D97-AF65-F5344CB8AC3E}">
        <p14:creationId xmlns:p14="http://schemas.microsoft.com/office/powerpoint/2010/main" val="3411976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7743C2-11DF-4CCC-8D66-1D77E980F046}"/>
              </a:ext>
            </a:extLst>
          </p:cNvPr>
          <p:cNvSpPr>
            <a:spLocks noGrp="1"/>
          </p:cNvSpPr>
          <p:nvPr>
            <p:ph type="title"/>
          </p:nvPr>
        </p:nvSpPr>
        <p:spPr/>
        <p:txBody>
          <a:bodyPr/>
          <a:lstStyle/>
          <a:p>
            <a:r>
              <a:rPr lang="en-US" altLang="zh-CN"/>
              <a:t>Brute force &amp; Backtracking</a:t>
            </a:r>
            <a:endParaRPr lang="zh-CN" altLang="en-US"/>
          </a:p>
        </p:txBody>
      </p:sp>
      <p:sp>
        <p:nvSpPr>
          <p:cNvPr id="3" name="内容占位符 2">
            <a:extLst>
              <a:ext uri="{FF2B5EF4-FFF2-40B4-BE49-F238E27FC236}">
                <a16:creationId xmlns:a16="http://schemas.microsoft.com/office/drawing/2014/main" id="{50AC82B6-2683-481A-B46E-7D00CBFC022F}"/>
              </a:ext>
            </a:extLst>
          </p:cNvPr>
          <p:cNvSpPr>
            <a:spLocks noGrp="1"/>
          </p:cNvSpPr>
          <p:nvPr>
            <p:ph idx="1"/>
          </p:nvPr>
        </p:nvSpPr>
        <p:spPr/>
        <p:txBody>
          <a:bodyPr/>
          <a:lstStyle/>
          <a:p>
            <a:r>
              <a:rPr lang="en-US" altLang="zh-CN" dirty="0"/>
              <a:t>Brute force (permutations, n!)</a:t>
            </a:r>
          </a:p>
          <a:p>
            <a:pPr marL="0" indent="0">
              <a:buNone/>
            </a:pPr>
            <a:r>
              <a:rPr lang="en-US" altLang="zh-CN" dirty="0"/>
              <a:t>n=12   3328ms</a:t>
            </a:r>
          </a:p>
          <a:p>
            <a:pPr marL="0" indent="0">
              <a:buNone/>
            </a:pPr>
            <a:r>
              <a:rPr lang="en-US" altLang="zh-CN" dirty="0"/>
              <a:t>n=16   &gt; 1 hour</a:t>
            </a:r>
          </a:p>
          <a:p>
            <a:pPr marL="0" indent="0">
              <a:buNone/>
            </a:pPr>
            <a:endParaRPr lang="en-US" altLang="zh-CN" dirty="0"/>
          </a:p>
          <a:p>
            <a:r>
              <a:rPr lang="en-US" altLang="zh-CN" dirty="0"/>
              <a:t>Backtracking (DFS)</a:t>
            </a:r>
          </a:p>
          <a:p>
            <a:pPr marL="0" indent="0">
              <a:buNone/>
            </a:pPr>
            <a:r>
              <a:rPr lang="en-US" altLang="zh-CN" dirty="0"/>
              <a:t>n=12   1594ms</a:t>
            </a:r>
          </a:p>
          <a:p>
            <a:pPr marL="0" indent="0">
              <a:buNone/>
            </a:pPr>
            <a:r>
              <a:rPr lang="en-US" altLang="zh-CN" dirty="0"/>
              <a:t>n=16   153437ms </a:t>
            </a:r>
            <a:endParaRPr lang="zh-CN" altLang="en-US" dirty="0"/>
          </a:p>
        </p:txBody>
      </p:sp>
    </p:spTree>
    <p:extLst>
      <p:ext uri="{BB962C8B-B14F-4D97-AF65-F5344CB8AC3E}">
        <p14:creationId xmlns:p14="http://schemas.microsoft.com/office/powerpoint/2010/main" val="706644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D3807A-CF1C-48FD-83C4-68F4C28C9ACC}"/>
              </a:ext>
            </a:extLst>
          </p:cNvPr>
          <p:cNvSpPr>
            <a:spLocks noGrp="1"/>
          </p:cNvSpPr>
          <p:nvPr>
            <p:ph type="title"/>
          </p:nvPr>
        </p:nvSpPr>
        <p:spPr/>
        <p:txBody>
          <a:bodyPr/>
          <a:lstStyle/>
          <a:p>
            <a:r>
              <a:rPr lang="en-US" altLang="zh-CN" dirty="0"/>
              <a:t>2</a:t>
            </a:r>
            <a:r>
              <a:rPr lang="zh-CN" altLang="en-US" dirty="0"/>
              <a:t>隐式图中的路径查找</a:t>
            </a:r>
          </a:p>
        </p:txBody>
      </p:sp>
      <p:sp>
        <p:nvSpPr>
          <p:cNvPr id="3" name="内容占位符 2">
            <a:extLst>
              <a:ext uri="{FF2B5EF4-FFF2-40B4-BE49-F238E27FC236}">
                <a16:creationId xmlns:a16="http://schemas.microsoft.com/office/drawing/2014/main" id="{0B4DCBB8-819F-4B6B-AF08-AF19C0453F21}"/>
              </a:ext>
            </a:extLst>
          </p:cNvPr>
          <p:cNvSpPr>
            <a:spLocks noGrp="1"/>
          </p:cNvSpPr>
          <p:nvPr>
            <p:ph idx="1"/>
          </p:nvPr>
        </p:nvSpPr>
        <p:spPr/>
        <p:txBody>
          <a:bodyPr/>
          <a:lstStyle/>
          <a:p>
            <a:r>
              <a:rPr lang="zh-CN" altLang="en-US" dirty="0"/>
              <a:t>隐式图是指其顶点或边在计算机内存中不表示为显式对象，而是由一些更简洁的输入通过算法确定的图。</a:t>
            </a:r>
            <a:endParaRPr lang="en-US" altLang="zh-CN" dirty="0"/>
          </a:p>
          <a:p>
            <a:r>
              <a:rPr lang="zh-CN" altLang="en-US" dirty="0"/>
              <a:t>隐式图中路径查找的目标是找到从初始状态到目标状态的最短解。</a:t>
            </a:r>
          </a:p>
        </p:txBody>
      </p:sp>
    </p:spTree>
    <p:extLst>
      <p:ext uri="{BB962C8B-B14F-4D97-AF65-F5344CB8AC3E}">
        <p14:creationId xmlns:p14="http://schemas.microsoft.com/office/powerpoint/2010/main" val="2583919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46E597-5CDF-4B70-9408-251BDA9AD02D}"/>
              </a:ext>
            </a:extLst>
          </p:cNvPr>
          <p:cNvSpPr>
            <a:spLocks noGrp="1"/>
          </p:cNvSpPr>
          <p:nvPr>
            <p:ph type="title"/>
          </p:nvPr>
        </p:nvSpPr>
        <p:spPr/>
        <p:txBody>
          <a:bodyPr/>
          <a:lstStyle/>
          <a:p>
            <a:r>
              <a:rPr lang="en-US" altLang="zh-CN" dirty="0"/>
              <a:t>n-puzzle</a:t>
            </a:r>
            <a:endParaRPr lang="zh-CN" altLang="en-US" dirty="0"/>
          </a:p>
        </p:txBody>
      </p:sp>
      <p:sp>
        <p:nvSpPr>
          <p:cNvPr id="3" name="内容占位符 2">
            <a:extLst>
              <a:ext uri="{FF2B5EF4-FFF2-40B4-BE49-F238E27FC236}">
                <a16:creationId xmlns:a16="http://schemas.microsoft.com/office/drawing/2014/main" id="{DF67CCC5-16C4-4DE6-8DB6-BA4C55987483}"/>
              </a:ext>
            </a:extLst>
          </p:cNvPr>
          <p:cNvSpPr>
            <a:spLocks noGrp="1"/>
          </p:cNvSpPr>
          <p:nvPr>
            <p:ph idx="1"/>
          </p:nvPr>
        </p:nvSpPr>
        <p:spPr>
          <a:xfrm>
            <a:off x="838200" y="1825625"/>
            <a:ext cx="10515600" cy="899820"/>
          </a:xfrm>
        </p:spPr>
        <p:txBody>
          <a:bodyPr/>
          <a:lstStyle/>
          <a:p>
            <a:pPr marL="0" indent="0">
              <a:buNone/>
            </a:pPr>
            <a:r>
              <a:rPr lang="en-US" altLang="zh-CN" dirty="0"/>
              <a:t>n</a:t>
            </a:r>
            <a:r>
              <a:rPr lang="zh-CN" altLang="en-US" dirty="0"/>
              <a:t>拼图是一个滑动拼图，由一帧按随机顺序编号的正方形瓷砖组成，其中缺少一块瓷砖。</a:t>
            </a:r>
          </a:p>
        </p:txBody>
      </p:sp>
      <p:pic>
        <p:nvPicPr>
          <p:cNvPr id="5" name="图片 4">
            <a:extLst>
              <a:ext uri="{FF2B5EF4-FFF2-40B4-BE49-F238E27FC236}">
                <a16:creationId xmlns:a16="http://schemas.microsoft.com/office/drawing/2014/main" id="{47C696A0-7F32-45A1-87E0-2D446456B0F9}"/>
              </a:ext>
            </a:extLst>
          </p:cNvPr>
          <p:cNvPicPr>
            <a:picLocks noChangeAspect="1"/>
          </p:cNvPicPr>
          <p:nvPr/>
        </p:nvPicPr>
        <p:blipFill>
          <a:blip r:embed="rId2"/>
          <a:stretch>
            <a:fillRect/>
          </a:stretch>
        </p:blipFill>
        <p:spPr>
          <a:xfrm>
            <a:off x="1106120" y="2861491"/>
            <a:ext cx="2504762" cy="2466667"/>
          </a:xfrm>
          <a:prstGeom prst="rect">
            <a:avLst/>
          </a:prstGeom>
        </p:spPr>
      </p:pic>
      <p:pic>
        <p:nvPicPr>
          <p:cNvPr id="7" name="图片 6">
            <a:extLst>
              <a:ext uri="{FF2B5EF4-FFF2-40B4-BE49-F238E27FC236}">
                <a16:creationId xmlns:a16="http://schemas.microsoft.com/office/drawing/2014/main" id="{2296AF06-D554-4118-A792-99C3D70CD398}"/>
              </a:ext>
            </a:extLst>
          </p:cNvPr>
          <p:cNvPicPr>
            <a:picLocks noChangeAspect="1"/>
          </p:cNvPicPr>
          <p:nvPr/>
        </p:nvPicPr>
        <p:blipFill>
          <a:blip r:embed="rId3"/>
          <a:stretch>
            <a:fillRect/>
          </a:stretch>
        </p:blipFill>
        <p:spPr>
          <a:xfrm>
            <a:off x="7089235" y="2860382"/>
            <a:ext cx="2694330" cy="2576674"/>
          </a:xfrm>
          <a:prstGeom prst="rect">
            <a:avLst/>
          </a:prstGeom>
        </p:spPr>
      </p:pic>
      <p:sp>
        <p:nvSpPr>
          <p:cNvPr id="8" name="内容占位符 2">
            <a:extLst>
              <a:ext uri="{FF2B5EF4-FFF2-40B4-BE49-F238E27FC236}">
                <a16:creationId xmlns:a16="http://schemas.microsoft.com/office/drawing/2014/main" id="{A9601B46-51E3-41AC-AD86-D9A43E0C35B8}"/>
              </a:ext>
            </a:extLst>
          </p:cNvPr>
          <p:cNvSpPr txBox="1">
            <a:spLocks/>
          </p:cNvSpPr>
          <p:nvPr/>
        </p:nvSpPr>
        <p:spPr>
          <a:xfrm>
            <a:off x="774466" y="5464204"/>
            <a:ext cx="10515600" cy="899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a:p>
        </p:txBody>
      </p:sp>
      <p:sp>
        <p:nvSpPr>
          <p:cNvPr id="10" name="文本框 9">
            <a:extLst>
              <a:ext uri="{FF2B5EF4-FFF2-40B4-BE49-F238E27FC236}">
                <a16:creationId xmlns:a16="http://schemas.microsoft.com/office/drawing/2014/main" id="{841277C8-31DC-4F27-9EF0-7BA6E0BCC7FD}"/>
              </a:ext>
            </a:extLst>
          </p:cNvPr>
          <p:cNvSpPr txBox="1"/>
          <p:nvPr/>
        </p:nvSpPr>
        <p:spPr>
          <a:xfrm>
            <a:off x="838200" y="5437060"/>
            <a:ext cx="9795658" cy="523220"/>
          </a:xfrm>
          <a:prstGeom prst="rect">
            <a:avLst/>
          </a:prstGeom>
          <a:noFill/>
        </p:spPr>
        <p:txBody>
          <a:bodyPr wrap="square">
            <a:spAutoFit/>
          </a:bodyPr>
          <a:lstStyle/>
          <a:p>
            <a:r>
              <a:rPr lang="zh-CN" altLang="en-US" sz="2800" dirty="0"/>
              <a:t>拼图的目的是通过利用空白空间进行滑动，将瓷砖按顺序放置。</a:t>
            </a:r>
          </a:p>
        </p:txBody>
      </p:sp>
      <p:cxnSp>
        <p:nvCxnSpPr>
          <p:cNvPr id="12" name="直接箭头连接符 11">
            <a:extLst>
              <a:ext uri="{FF2B5EF4-FFF2-40B4-BE49-F238E27FC236}">
                <a16:creationId xmlns:a16="http://schemas.microsoft.com/office/drawing/2014/main" id="{56463D0E-57D2-40B1-B141-6E63A9ADD452}"/>
              </a:ext>
            </a:extLst>
          </p:cNvPr>
          <p:cNvCxnSpPr/>
          <p:nvPr/>
        </p:nvCxnSpPr>
        <p:spPr>
          <a:xfrm>
            <a:off x="4853126" y="4094824"/>
            <a:ext cx="1242874" cy="0"/>
          </a:xfrm>
          <a:prstGeom prst="straightConnector1">
            <a:avLst/>
          </a:prstGeom>
          <a:ln w="76200">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3204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D167C0-DF9B-4969-BEA1-2C714BCF213A}"/>
              </a:ext>
            </a:extLst>
          </p:cNvPr>
          <p:cNvSpPr>
            <a:spLocks noGrp="1"/>
          </p:cNvSpPr>
          <p:nvPr>
            <p:ph type="title"/>
          </p:nvPr>
        </p:nvSpPr>
        <p:spPr/>
        <p:txBody>
          <a:bodyPr/>
          <a:lstStyle/>
          <a:p>
            <a:r>
              <a:rPr lang="en-US" altLang="zh-CN"/>
              <a:t>8-puzzle</a:t>
            </a:r>
            <a:endParaRPr lang="zh-CN" altLang="en-US"/>
          </a:p>
        </p:txBody>
      </p:sp>
      <p:pic>
        <p:nvPicPr>
          <p:cNvPr id="7" name="图片 6">
            <a:extLst>
              <a:ext uri="{FF2B5EF4-FFF2-40B4-BE49-F238E27FC236}">
                <a16:creationId xmlns:a16="http://schemas.microsoft.com/office/drawing/2014/main" id="{6320BABF-8812-4896-80F3-AAD1C91236CB}"/>
              </a:ext>
            </a:extLst>
          </p:cNvPr>
          <p:cNvPicPr>
            <a:picLocks noChangeAspect="1"/>
          </p:cNvPicPr>
          <p:nvPr/>
        </p:nvPicPr>
        <p:blipFill>
          <a:blip r:embed="rId2"/>
          <a:stretch>
            <a:fillRect/>
          </a:stretch>
        </p:blipFill>
        <p:spPr>
          <a:xfrm>
            <a:off x="838200" y="1408722"/>
            <a:ext cx="1961905" cy="1847619"/>
          </a:xfrm>
          <a:prstGeom prst="rect">
            <a:avLst/>
          </a:prstGeom>
        </p:spPr>
      </p:pic>
      <p:pic>
        <p:nvPicPr>
          <p:cNvPr id="9" name="图片 8">
            <a:extLst>
              <a:ext uri="{FF2B5EF4-FFF2-40B4-BE49-F238E27FC236}">
                <a16:creationId xmlns:a16="http://schemas.microsoft.com/office/drawing/2014/main" id="{975BAD66-06EC-489A-8D9D-642B79637FBF}"/>
              </a:ext>
            </a:extLst>
          </p:cNvPr>
          <p:cNvPicPr>
            <a:picLocks noChangeAspect="1"/>
          </p:cNvPicPr>
          <p:nvPr/>
        </p:nvPicPr>
        <p:blipFill>
          <a:blip r:embed="rId3"/>
          <a:stretch>
            <a:fillRect/>
          </a:stretch>
        </p:blipFill>
        <p:spPr>
          <a:xfrm>
            <a:off x="4276277" y="1361388"/>
            <a:ext cx="1961905" cy="1942286"/>
          </a:xfrm>
          <a:prstGeom prst="rect">
            <a:avLst/>
          </a:prstGeom>
        </p:spPr>
      </p:pic>
      <p:sp>
        <p:nvSpPr>
          <p:cNvPr id="11" name="文本框 10">
            <a:extLst>
              <a:ext uri="{FF2B5EF4-FFF2-40B4-BE49-F238E27FC236}">
                <a16:creationId xmlns:a16="http://schemas.microsoft.com/office/drawing/2014/main" id="{209A2263-2E29-41FA-9681-1B427430CA4D}"/>
              </a:ext>
            </a:extLst>
          </p:cNvPr>
          <p:cNvSpPr txBox="1"/>
          <p:nvPr/>
        </p:nvSpPr>
        <p:spPr>
          <a:xfrm>
            <a:off x="1021881" y="3303674"/>
            <a:ext cx="1677540" cy="369332"/>
          </a:xfrm>
          <a:prstGeom prst="rect">
            <a:avLst/>
          </a:prstGeom>
          <a:noFill/>
        </p:spPr>
        <p:txBody>
          <a:bodyPr wrap="square">
            <a:spAutoFit/>
          </a:bodyPr>
          <a:lstStyle/>
          <a:p>
            <a:r>
              <a:rPr lang="en-US" altLang="zh-CN">
                <a:solidFill>
                  <a:srgbClr val="FF0000"/>
                </a:solidFill>
                <a:ea typeface="Microsoft YaHei" panose="020B0503020204020204" pitchFamily="34" charset="-122"/>
              </a:rPr>
              <a:t>the</a:t>
            </a:r>
            <a:r>
              <a:rPr lang="en-US" altLang="zh-CN" b="0">
                <a:solidFill>
                  <a:srgbClr val="FF0000"/>
                </a:solidFill>
                <a:effectLst/>
                <a:ea typeface="Microsoft YaHei" panose="020B0503020204020204" pitchFamily="34" charset="-122"/>
              </a:rPr>
              <a:t> initial state</a:t>
            </a:r>
            <a:endParaRPr lang="zh-CN" altLang="en-US">
              <a:solidFill>
                <a:srgbClr val="FF0000"/>
              </a:solidFill>
            </a:endParaRPr>
          </a:p>
        </p:txBody>
      </p:sp>
      <p:sp>
        <p:nvSpPr>
          <p:cNvPr id="12" name="文本框 11">
            <a:extLst>
              <a:ext uri="{FF2B5EF4-FFF2-40B4-BE49-F238E27FC236}">
                <a16:creationId xmlns:a16="http://schemas.microsoft.com/office/drawing/2014/main" id="{22F6FF8F-665D-4F5A-835B-476A535E99CC}"/>
              </a:ext>
            </a:extLst>
          </p:cNvPr>
          <p:cNvSpPr txBox="1"/>
          <p:nvPr/>
        </p:nvSpPr>
        <p:spPr>
          <a:xfrm>
            <a:off x="4418459" y="3303674"/>
            <a:ext cx="1677540" cy="369332"/>
          </a:xfrm>
          <a:prstGeom prst="rect">
            <a:avLst/>
          </a:prstGeom>
          <a:noFill/>
        </p:spPr>
        <p:txBody>
          <a:bodyPr wrap="square">
            <a:spAutoFit/>
          </a:bodyPr>
          <a:lstStyle/>
          <a:p>
            <a:r>
              <a:rPr lang="en-US" altLang="zh-CN">
                <a:solidFill>
                  <a:srgbClr val="FF0000"/>
                </a:solidFill>
                <a:ea typeface="Microsoft YaHei" panose="020B0503020204020204" pitchFamily="34" charset="-122"/>
              </a:rPr>
              <a:t>the</a:t>
            </a:r>
            <a:r>
              <a:rPr lang="en-US" altLang="zh-CN" b="0">
                <a:solidFill>
                  <a:srgbClr val="FF0000"/>
                </a:solidFill>
                <a:effectLst/>
                <a:ea typeface="Microsoft YaHei" panose="020B0503020204020204" pitchFamily="34" charset="-122"/>
              </a:rPr>
              <a:t> goal state</a:t>
            </a:r>
            <a:endParaRPr lang="zh-CN" altLang="en-US">
              <a:solidFill>
                <a:srgbClr val="FF0000"/>
              </a:solidFill>
            </a:endParaRPr>
          </a:p>
        </p:txBody>
      </p:sp>
      <p:sp>
        <p:nvSpPr>
          <p:cNvPr id="13" name="文本框 12">
            <a:extLst>
              <a:ext uri="{FF2B5EF4-FFF2-40B4-BE49-F238E27FC236}">
                <a16:creationId xmlns:a16="http://schemas.microsoft.com/office/drawing/2014/main" id="{9BC08608-5290-49B2-A838-EF53E72C93CA}"/>
              </a:ext>
            </a:extLst>
          </p:cNvPr>
          <p:cNvSpPr txBox="1"/>
          <p:nvPr/>
        </p:nvSpPr>
        <p:spPr>
          <a:xfrm>
            <a:off x="949911" y="4021584"/>
            <a:ext cx="1850194" cy="1754326"/>
          </a:xfrm>
          <a:prstGeom prst="rect">
            <a:avLst/>
          </a:prstGeom>
          <a:noFill/>
        </p:spPr>
        <p:txBody>
          <a:bodyPr wrap="square" rtlCol="0">
            <a:spAutoFit/>
          </a:bodyPr>
          <a:lstStyle/>
          <a:p>
            <a:r>
              <a:rPr lang="en-US" altLang="zh-CN"/>
              <a:t>Sample input:</a:t>
            </a:r>
          </a:p>
          <a:p>
            <a:r>
              <a:rPr lang="en-US" altLang="zh-CN"/>
              <a:t>2 6 4 1 3 7 0 5 8</a:t>
            </a:r>
          </a:p>
          <a:p>
            <a:r>
              <a:rPr lang="en-US" altLang="zh-CN"/>
              <a:t>8 1 5 7 3 6 4 0 2</a:t>
            </a:r>
          </a:p>
          <a:p>
            <a:endParaRPr lang="en-US" altLang="zh-CN"/>
          </a:p>
          <a:p>
            <a:r>
              <a:rPr lang="en-US" altLang="zh-CN"/>
              <a:t>Sample output:</a:t>
            </a:r>
          </a:p>
          <a:p>
            <a:r>
              <a:rPr lang="en-US" altLang="zh-CN"/>
              <a:t>31</a:t>
            </a:r>
            <a:endParaRPr lang="zh-CN" altLang="en-US"/>
          </a:p>
        </p:txBody>
      </p:sp>
      <p:sp>
        <p:nvSpPr>
          <p:cNvPr id="15" name="文本框 14">
            <a:extLst>
              <a:ext uri="{FF2B5EF4-FFF2-40B4-BE49-F238E27FC236}">
                <a16:creationId xmlns:a16="http://schemas.microsoft.com/office/drawing/2014/main" id="{8EEE76FD-2B58-474F-98AD-4C126F326493}"/>
              </a:ext>
            </a:extLst>
          </p:cNvPr>
          <p:cNvSpPr txBox="1"/>
          <p:nvPr/>
        </p:nvSpPr>
        <p:spPr>
          <a:xfrm>
            <a:off x="3313588" y="5173446"/>
            <a:ext cx="4800601" cy="677108"/>
          </a:xfrm>
          <a:prstGeom prst="rect">
            <a:avLst/>
          </a:prstGeom>
          <a:noFill/>
        </p:spPr>
        <p:txBody>
          <a:bodyPr wrap="square">
            <a:spAutoFit/>
          </a:bodyPr>
          <a:lstStyle/>
          <a:p>
            <a:r>
              <a:rPr lang="en-US" altLang="zh-CN" b="0" i="0">
                <a:solidFill>
                  <a:srgbClr val="000000"/>
                </a:solidFill>
                <a:effectLst/>
                <a:latin typeface="Microsoft YaHei" panose="020B0503020204020204" pitchFamily="34" charset="-122"/>
                <a:ea typeface="Microsoft YaHei" panose="020B0503020204020204" pitchFamily="34" charset="-122"/>
              </a:rPr>
              <a:t>Output </a:t>
            </a:r>
            <a:r>
              <a:rPr lang="en-US" altLang="zh-CN" sz="2000" b="0" i="0">
                <a:solidFill>
                  <a:srgbClr val="FF0000"/>
                </a:solidFill>
                <a:effectLst/>
                <a:latin typeface="Microsoft YaHei" panose="020B0503020204020204" pitchFamily="34" charset="-122"/>
                <a:ea typeface="Microsoft YaHei" panose="020B0503020204020204" pitchFamily="34" charset="-122"/>
              </a:rPr>
              <a:t>the least number of tile moves </a:t>
            </a:r>
            <a:r>
              <a:rPr lang="en-US" altLang="zh-CN" b="0" i="0">
                <a:solidFill>
                  <a:srgbClr val="000000"/>
                </a:solidFill>
                <a:effectLst/>
                <a:latin typeface="Microsoft YaHei" panose="020B0503020204020204" pitchFamily="34" charset="-122"/>
                <a:ea typeface="Microsoft YaHei" panose="020B0503020204020204" pitchFamily="34" charset="-122"/>
              </a:rPr>
              <a:t>or </a:t>
            </a:r>
            <a:r>
              <a:rPr lang="en-US" altLang="zh-CN" b="0" i="0">
                <a:solidFill>
                  <a:srgbClr val="FF0000"/>
                </a:solidFill>
                <a:effectLst/>
                <a:latin typeface="Microsoft YaHei" panose="020B0503020204020204" pitchFamily="34" charset="-122"/>
                <a:ea typeface="Microsoft YaHei" panose="020B0503020204020204" pitchFamily="34" charset="-122"/>
              </a:rPr>
              <a:t>-1 </a:t>
            </a:r>
            <a:r>
              <a:rPr lang="en-US" altLang="zh-CN" b="0" i="0">
                <a:solidFill>
                  <a:srgbClr val="000000"/>
                </a:solidFill>
                <a:effectLst/>
                <a:latin typeface="Microsoft YaHei" panose="020B0503020204020204" pitchFamily="34" charset="-122"/>
                <a:ea typeface="Microsoft YaHei" panose="020B0503020204020204" pitchFamily="34" charset="-122"/>
              </a:rPr>
              <a:t>(no solution)</a:t>
            </a:r>
            <a:endParaRPr lang="zh-CN" altLang="en-US"/>
          </a:p>
        </p:txBody>
      </p:sp>
    </p:spTree>
    <p:extLst>
      <p:ext uri="{BB962C8B-B14F-4D97-AF65-F5344CB8AC3E}">
        <p14:creationId xmlns:p14="http://schemas.microsoft.com/office/powerpoint/2010/main" val="3935472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3" name="对象 32">
            <a:extLst>
              <a:ext uri="{FF2B5EF4-FFF2-40B4-BE49-F238E27FC236}">
                <a16:creationId xmlns:a16="http://schemas.microsoft.com/office/drawing/2014/main" id="{C29C525B-494B-43F6-A8DC-EFB5B78AAE16}"/>
              </a:ext>
            </a:extLst>
          </p:cNvPr>
          <p:cNvGraphicFramePr>
            <a:graphicFrameLocks/>
          </p:cNvGraphicFramePr>
          <p:nvPr>
            <p:extLst>
              <p:ext uri="{D42A27DB-BD31-4B8C-83A1-F6EECF244321}">
                <p14:modId xmlns:p14="http://schemas.microsoft.com/office/powerpoint/2010/main" val="240489000"/>
              </p:ext>
            </p:extLst>
          </p:nvPr>
        </p:nvGraphicFramePr>
        <p:xfrm>
          <a:off x="1955647" y="0"/>
          <a:ext cx="7523163" cy="6508750"/>
        </p:xfrm>
        <a:graphic>
          <a:graphicData uri="http://schemas.openxmlformats.org/presentationml/2006/ole">
            <mc:AlternateContent xmlns:mc="http://schemas.openxmlformats.org/markup-compatibility/2006">
              <mc:Choice xmlns:v="urn:schemas-microsoft-com:vml" Requires="v">
                <p:oleObj r:id="rId2" imgW="3864240" imgH="3117600" progId="Visio.Drawing.11">
                  <p:embed/>
                </p:oleObj>
              </mc:Choice>
              <mc:Fallback>
                <p:oleObj r:id="rId2" imgW="3864240" imgH="3117600" progId="Visio.Drawing.11">
                  <p:embed/>
                  <p:pic>
                    <p:nvPicPr>
                      <p:cNvPr id="84993" name="对象 32">
                        <a:extLst>
                          <a:ext uri="{FF2B5EF4-FFF2-40B4-BE49-F238E27FC236}">
                            <a16:creationId xmlns:a16="http://schemas.microsoft.com/office/drawing/2014/main" id="{C29C525B-494B-43F6-A8DC-EFB5B78AAE1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5647" y="0"/>
                        <a:ext cx="7523163" cy="650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EB5F2-BD8F-446A-A7DC-11D006FD5A27}"/>
              </a:ext>
            </a:extLst>
          </p:cNvPr>
          <p:cNvSpPr>
            <a:spLocks noGrp="1"/>
          </p:cNvSpPr>
          <p:nvPr>
            <p:ph type="title"/>
          </p:nvPr>
        </p:nvSpPr>
        <p:spPr/>
        <p:txBody>
          <a:bodyPr/>
          <a:lstStyle/>
          <a:p>
            <a:r>
              <a:rPr lang="zh-CN" altLang="en-US" dirty="0"/>
              <a:t>如何判断重复？</a:t>
            </a:r>
          </a:p>
        </p:txBody>
      </p:sp>
      <p:sp>
        <p:nvSpPr>
          <p:cNvPr id="3" name="内容占位符 2">
            <a:extLst>
              <a:ext uri="{FF2B5EF4-FFF2-40B4-BE49-F238E27FC236}">
                <a16:creationId xmlns:a16="http://schemas.microsoft.com/office/drawing/2014/main" id="{0D11BBA3-BC60-4238-B31F-62B5954C5A85}"/>
              </a:ext>
            </a:extLst>
          </p:cNvPr>
          <p:cNvSpPr>
            <a:spLocks noGrp="1"/>
          </p:cNvSpPr>
          <p:nvPr>
            <p:ph idx="1"/>
          </p:nvPr>
        </p:nvSpPr>
        <p:spPr/>
        <p:txBody>
          <a:bodyPr/>
          <a:lstStyle/>
          <a:p>
            <a:pPr marL="0" indent="0">
              <a:buNone/>
            </a:pPr>
            <a:r>
              <a:rPr lang="zh-CN" altLang="en-US" dirty="0">
                <a:solidFill>
                  <a:srgbClr val="FF0000"/>
                </a:solidFill>
              </a:rPr>
              <a:t>如果（</a:t>
            </a:r>
            <a:r>
              <a:rPr lang="en-US" altLang="zh-CN" dirty="0">
                <a:solidFill>
                  <a:srgbClr val="FF0000"/>
                </a:solidFill>
              </a:rPr>
              <a:t>vis[s[0]][s[1]…[s[8]]</a:t>
            </a:r>
            <a:r>
              <a:rPr lang="zh-CN" altLang="en-US" dirty="0">
                <a:solidFill>
                  <a:srgbClr val="FF0000"/>
                </a:solidFill>
              </a:rPr>
              <a:t>）？</a:t>
            </a:r>
            <a:r>
              <a:rPr lang="en-US" altLang="zh-CN" dirty="0">
                <a:solidFill>
                  <a:srgbClr val="FF0000"/>
                </a:solidFill>
              </a:rPr>
              <a:t>9</a:t>
            </a:r>
            <a:r>
              <a:rPr lang="zh-CN" altLang="en-US" dirty="0">
                <a:solidFill>
                  <a:srgbClr val="FF0000"/>
                </a:solidFill>
              </a:rPr>
              <a:t>维阵列？</a:t>
            </a:r>
            <a:r>
              <a:rPr lang="en-US" altLang="zh-CN" dirty="0">
                <a:solidFill>
                  <a:srgbClr val="FF0000"/>
                </a:solidFill>
              </a:rPr>
              <a:t>99=387420489</a:t>
            </a:r>
            <a:r>
              <a:rPr lang="zh-CN" altLang="en-US" dirty="0">
                <a:solidFill>
                  <a:srgbClr val="FF0000"/>
                </a:solidFill>
              </a:rPr>
              <a:t>太大而无法使用；确切地说，</a:t>
            </a:r>
            <a:r>
              <a:rPr lang="en-US" altLang="zh-CN" dirty="0">
                <a:solidFill>
                  <a:srgbClr val="FF0000"/>
                </a:solidFill>
              </a:rPr>
              <a:t>9=362880</a:t>
            </a:r>
          </a:p>
        </p:txBody>
      </p:sp>
      <p:graphicFrame>
        <p:nvGraphicFramePr>
          <p:cNvPr id="4" name="表格 3">
            <a:extLst>
              <a:ext uri="{FF2B5EF4-FFF2-40B4-BE49-F238E27FC236}">
                <a16:creationId xmlns:a16="http://schemas.microsoft.com/office/drawing/2014/main" id="{643F4F7D-745B-4E3A-A598-6CE311FAD0BB}"/>
              </a:ext>
            </a:extLst>
          </p:cNvPr>
          <p:cNvGraphicFramePr>
            <a:graphicFrameLocks noGrp="1"/>
          </p:cNvGraphicFramePr>
          <p:nvPr>
            <p:extLst>
              <p:ext uri="{D42A27DB-BD31-4B8C-83A1-F6EECF244321}">
                <p14:modId xmlns:p14="http://schemas.microsoft.com/office/powerpoint/2010/main" val="424067525"/>
              </p:ext>
            </p:extLst>
          </p:nvPr>
        </p:nvGraphicFramePr>
        <p:xfrm>
          <a:off x="958157" y="3882640"/>
          <a:ext cx="8713787" cy="1231900"/>
        </p:xfrm>
        <a:graphic>
          <a:graphicData uri="http://schemas.openxmlformats.org/drawingml/2006/table">
            <a:tbl>
              <a:tblPr/>
              <a:tblGrid>
                <a:gridCol w="869950">
                  <a:extLst>
                    <a:ext uri="{9D8B030D-6E8A-4147-A177-3AD203B41FA5}">
                      <a16:colId xmlns:a16="http://schemas.microsoft.com/office/drawing/2014/main" val="20000"/>
                    </a:ext>
                  </a:extLst>
                </a:gridCol>
                <a:gridCol w="1308100">
                  <a:extLst>
                    <a:ext uri="{9D8B030D-6E8A-4147-A177-3AD203B41FA5}">
                      <a16:colId xmlns:a16="http://schemas.microsoft.com/office/drawing/2014/main" val="20001"/>
                    </a:ext>
                  </a:extLst>
                </a:gridCol>
                <a:gridCol w="1304925">
                  <a:extLst>
                    <a:ext uri="{9D8B030D-6E8A-4147-A177-3AD203B41FA5}">
                      <a16:colId xmlns:a16="http://schemas.microsoft.com/office/drawing/2014/main" val="20002"/>
                    </a:ext>
                  </a:extLst>
                </a:gridCol>
                <a:gridCol w="1308100">
                  <a:extLst>
                    <a:ext uri="{9D8B030D-6E8A-4147-A177-3AD203B41FA5}">
                      <a16:colId xmlns:a16="http://schemas.microsoft.com/office/drawing/2014/main" val="20003"/>
                    </a:ext>
                  </a:extLst>
                </a:gridCol>
                <a:gridCol w="1308100">
                  <a:extLst>
                    <a:ext uri="{9D8B030D-6E8A-4147-A177-3AD203B41FA5}">
                      <a16:colId xmlns:a16="http://schemas.microsoft.com/office/drawing/2014/main" val="20004"/>
                    </a:ext>
                  </a:extLst>
                </a:gridCol>
                <a:gridCol w="1304925">
                  <a:extLst>
                    <a:ext uri="{9D8B030D-6E8A-4147-A177-3AD203B41FA5}">
                      <a16:colId xmlns:a16="http://schemas.microsoft.com/office/drawing/2014/main" val="20005"/>
                    </a:ext>
                  </a:extLst>
                </a:gridCol>
                <a:gridCol w="1309687">
                  <a:extLst>
                    <a:ext uri="{9D8B030D-6E8A-4147-A177-3AD203B41FA5}">
                      <a16:colId xmlns:a16="http://schemas.microsoft.com/office/drawing/2014/main" val="20006"/>
                    </a:ext>
                  </a:extLst>
                </a:gridCol>
              </a:tblGrid>
              <a:tr h="7493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state</a:t>
                      </a:r>
                      <a:endPar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0" marR="0" marT="0" marB="1"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012345678</a:t>
                      </a:r>
                    </a:p>
                  </a:txBody>
                  <a:tcPr marL="0" marR="0" marT="0" marB="1"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012345687</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012345768</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012345786</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876543210</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26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Cantor</a:t>
                      </a:r>
                    </a:p>
                  </a:txBody>
                  <a:tcPr marL="0" marR="0" marT="0" marB="1"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0</a:t>
                      </a:r>
                    </a:p>
                  </a:txBody>
                  <a:tcPr marL="0" marR="0" marT="0" marB="1"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3</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362880-1</a:t>
                      </a:r>
                    </a:p>
                  </a:txBody>
                  <a:tcPr marL="0" marR="0" marT="0" marB="1"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标题 1">
            <a:extLst>
              <a:ext uri="{FF2B5EF4-FFF2-40B4-BE49-F238E27FC236}">
                <a16:creationId xmlns:a16="http://schemas.microsoft.com/office/drawing/2014/main" id="{AE68BEF8-7096-4AFA-8763-2387E205F38A}"/>
              </a:ext>
            </a:extLst>
          </p:cNvPr>
          <p:cNvSpPr txBox="1">
            <a:spLocks noChangeArrowheads="1"/>
          </p:cNvSpPr>
          <p:nvPr/>
        </p:nvSpPr>
        <p:spPr>
          <a:xfrm>
            <a:off x="958157" y="2820217"/>
            <a:ext cx="9606269" cy="9274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0070C0"/>
                </a:solidFill>
              </a:rPr>
              <a:t>康托展开是从置换到自然数的双射。</a:t>
            </a:r>
          </a:p>
        </p:txBody>
      </p:sp>
    </p:spTree>
    <p:extLst>
      <p:ext uri="{BB962C8B-B14F-4D97-AF65-F5344CB8AC3E}">
        <p14:creationId xmlns:p14="http://schemas.microsoft.com/office/powerpoint/2010/main" val="874875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95D909-4ED1-40A1-9EF0-15A2F37BDC9C}"/>
              </a:ext>
            </a:extLst>
          </p:cNvPr>
          <p:cNvSpPr>
            <a:spLocks noGrp="1"/>
          </p:cNvSpPr>
          <p:nvPr>
            <p:ph type="title"/>
          </p:nvPr>
        </p:nvSpPr>
        <p:spPr/>
        <p:txBody>
          <a:bodyPr/>
          <a:lstStyle/>
          <a:p>
            <a:r>
              <a:rPr lang="en-US" altLang="zh-CN" dirty="0"/>
              <a:t>BFS for the shortest solution of 8-puzzle</a:t>
            </a:r>
            <a:endParaRPr lang="zh-CN" altLang="en-US" dirty="0"/>
          </a:p>
        </p:txBody>
      </p:sp>
      <p:sp>
        <p:nvSpPr>
          <p:cNvPr id="3" name="内容占位符 2">
            <a:extLst>
              <a:ext uri="{FF2B5EF4-FFF2-40B4-BE49-F238E27FC236}">
                <a16:creationId xmlns:a16="http://schemas.microsoft.com/office/drawing/2014/main" id="{33B2CFB5-E4AD-4477-8446-020E87A2786D}"/>
              </a:ext>
            </a:extLst>
          </p:cNvPr>
          <p:cNvSpPr>
            <a:spLocks noGrp="1"/>
          </p:cNvSpPr>
          <p:nvPr>
            <p:ph idx="1"/>
          </p:nvPr>
        </p:nvSpPr>
        <p:spPr/>
        <p:txBody>
          <a:bodyPr/>
          <a:lstStyle/>
          <a:p>
            <a:r>
              <a:rPr lang="en-US" altLang="zh-CN" dirty="0">
                <a:solidFill>
                  <a:srgbClr val="FF0000"/>
                </a:solidFill>
              </a:rPr>
              <a:t>Encoding: 0~8 permutations -&gt; 0~362879 </a:t>
            </a:r>
            <a:r>
              <a:rPr lang="en-US" altLang="zh-CN" dirty="0"/>
              <a:t>// 141ms</a:t>
            </a:r>
          </a:p>
          <a:p>
            <a:pPr marL="0" indent="0">
              <a:buNone/>
            </a:pPr>
            <a:r>
              <a:rPr lang="en-US" altLang="zh-CN" dirty="0"/>
              <a:t>Often the</a:t>
            </a:r>
            <a:r>
              <a:rPr lang="zh-CN" altLang="en-US" dirty="0"/>
              <a:t> </a:t>
            </a:r>
            <a:r>
              <a:rPr lang="en-US" altLang="zh-CN" dirty="0"/>
              <a:t>most efficient, but not always applicable</a:t>
            </a:r>
          </a:p>
          <a:p>
            <a:r>
              <a:rPr lang="en-US" altLang="zh-CN" dirty="0">
                <a:solidFill>
                  <a:srgbClr val="FF0000"/>
                </a:solidFill>
              </a:rPr>
              <a:t>STL: set  </a:t>
            </a:r>
            <a:r>
              <a:rPr lang="en-US" altLang="zh-CN" dirty="0"/>
              <a:t>// 360ms, easy to write, but not efficient</a:t>
            </a:r>
          </a:p>
          <a:p>
            <a:r>
              <a:rPr lang="en-US" altLang="zh-CN" b="1" dirty="0">
                <a:solidFill>
                  <a:srgbClr val="FF0000"/>
                </a:solidFill>
              </a:rPr>
              <a:t>hash    </a:t>
            </a:r>
            <a:r>
              <a:rPr lang="en-US" altLang="zh-CN" b="1" dirty="0"/>
              <a:t> // 47ms, </a:t>
            </a:r>
            <a:r>
              <a:rPr lang="en-US" altLang="zh-CN" b="1" dirty="0">
                <a:solidFill>
                  <a:srgbClr val="FF0000"/>
                </a:solidFill>
              </a:rPr>
              <a:t>the most commonly used</a:t>
            </a:r>
            <a:endParaRPr lang="zh-CN" altLang="en-US" b="1" dirty="0">
              <a:solidFill>
                <a:srgbClr val="FF0000"/>
              </a:solidFill>
            </a:endParaRPr>
          </a:p>
        </p:txBody>
      </p:sp>
      <p:sp>
        <p:nvSpPr>
          <p:cNvPr id="5" name="文本框 4">
            <a:extLst>
              <a:ext uri="{FF2B5EF4-FFF2-40B4-BE49-F238E27FC236}">
                <a16:creationId xmlns:a16="http://schemas.microsoft.com/office/drawing/2014/main" id="{C5E65B6F-B222-48F6-A6F9-A2BA5FF2E555}"/>
              </a:ext>
            </a:extLst>
          </p:cNvPr>
          <p:cNvSpPr txBox="1"/>
          <p:nvPr/>
        </p:nvSpPr>
        <p:spPr>
          <a:xfrm>
            <a:off x="838199" y="5048720"/>
            <a:ext cx="7311501" cy="461665"/>
          </a:xfrm>
          <a:prstGeom prst="rect">
            <a:avLst/>
          </a:prstGeom>
          <a:noFill/>
        </p:spPr>
        <p:txBody>
          <a:bodyPr wrap="square">
            <a:spAutoFit/>
          </a:bodyPr>
          <a:lstStyle/>
          <a:p>
            <a:r>
              <a:rPr lang="en-US" altLang="zh-CN" sz="2400" dirty="0">
                <a:solidFill>
                  <a:srgbClr val="202122"/>
                </a:solidFill>
                <a:latin typeface="Arial" panose="020B0604020202020204" pitchFamily="34" charset="0"/>
              </a:rPr>
              <a:t>F</a:t>
            </a:r>
            <a:r>
              <a:rPr lang="en-US" altLang="zh-CN" sz="2400" b="0" i="0" dirty="0">
                <a:solidFill>
                  <a:srgbClr val="202122"/>
                </a:solidFill>
                <a:effectLst/>
                <a:latin typeface="Arial" panose="020B0604020202020204" pitchFamily="34" charset="0"/>
              </a:rPr>
              <a:t>inding the </a:t>
            </a:r>
            <a:r>
              <a:rPr lang="en-US" altLang="zh-CN" sz="2400" b="0" i="1" dirty="0">
                <a:solidFill>
                  <a:srgbClr val="202122"/>
                </a:solidFill>
                <a:effectLst/>
                <a:latin typeface="Arial" panose="020B0604020202020204" pitchFamily="34" charset="0"/>
              </a:rPr>
              <a:t>shortest</a:t>
            </a:r>
            <a:r>
              <a:rPr lang="en-US" altLang="zh-CN" sz="2400" b="0" i="0" dirty="0">
                <a:solidFill>
                  <a:srgbClr val="202122"/>
                </a:solidFill>
                <a:effectLst/>
                <a:latin typeface="Arial" panose="020B0604020202020204" pitchFamily="34" charset="0"/>
              </a:rPr>
              <a:t> solution of n-puzzle is </a:t>
            </a:r>
            <a:r>
              <a:rPr lang="en-US" altLang="zh-CN" sz="2400" b="1" i="0" u="none" strike="noStrike" dirty="0">
                <a:solidFill>
                  <a:srgbClr val="0645AD"/>
                </a:solidFill>
                <a:effectLst/>
                <a:latin typeface="Arial" panose="020B0604020202020204" pitchFamily="34" charset="0"/>
              </a:rPr>
              <a:t>NP-hard</a:t>
            </a:r>
            <a:r>
              <a:rPr lang="en-US" altLang="zh-CN" sz="2400" b="1" i="0" u="none" strike="noStrike" dirty="0">
                <a:effectLst/>
                <a:latin typeface="Arial" panose="020B0604020202020204" pitchFamily="34" charset="0"/>
              </a:rPr>
              <a:t>.</a:t>
            </a:r>
            <a:endParaRPr lang="zh-CN" altLang="en-US" sz="2400" b="1" dirty="0"/>
          </a:p>
        </p:txBody>
      </p:sp>
    </p:spTree>
    <p:extLst>
      <p:ext uri="{BB962C8B-B14F-4D97-AF65-F5344CB8AC3E}">
        <p14:creationId xmlns:p14="http://schemas.microsoft.com/office/powerpoint/2010/main" val="2927256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0F815-ACC0-421C-8675-859353BE284B}"/>
              </a:ext>
            </a:extLst>
          </p:cNvPr>
          <p:cNvSpPr>
            <a:spLocks noGrp="1"/>
          </p:cNvSpPr>
          <p:nvPr>
            <p:ph type="title"/>
          </p:nvPr>
        </p:nvSpPr>
        <p:spPr/>
        <p:txBody>
          <a:bodyPr>
            <a:normAutofit/>
          </a:bodyPr>
          <a:lstStyle/>
          <a:p>
            <a:r>
              <a:rPr lang="en-US" altLang="zh-CN" dirty="0"/>
              <a:t>3</a:t>
            </a:r>
            <a:r>
              <a:rPr lang="zh-CN" altLang="en-US" dirty="0"/>
              <a:t>迭代深化深度优先搜索（</a:t>
            </a:r>
            <a:r>
              <a:rPr lang="en-US" altLang="zh-CN" dirty="0"/>
              <a:t>IDS</a:t>
            </a:r>
            <a:r>
              <a:rPr lang="zh-CN" altLang="en-US" dirty="0"/>
              <a:t>或</a:t>
            </a:r>
            <a:r>
              <a:rPr lang="en-US" altLang="zh-CN" dirty="0"/>
              <a:t>IDDFS</a:t>
            </a:r>
            <a:r>
              <a:rPr lang="zh-CN" altLang="en-US" dirty="0"/>
              <a:t>）</a:t>
            </a:r>
          </a:p>
        </p:txBody>
      </p:sp>
      <p:sp>
        <p:nvSpPr>
          <p:cNvPr id="3" name="内容占位符 2">
            <a:extLst>
              <a:ext uri="{FF2B5EF4-FFF2-40B4-BE49-F238E27FC236}">
                <a16:creationId xmlns:a16="http://schemas.microsoft.com/office/drawing/2014/main" id="{3D4CF68B-39BE-4656-9F49-1370927C2934}"/>
              </a:ext>
            </a:extLst>
          </p:cNvPr>
          <p:cNvSpPr>
            <a:spLocks noGrp="1"/>
          </p:cNvSpPr>
          <p:nvPr>
            <p:ph idx="1"/>
          </p:nvPr>
        </p:nvSpPr>
        <p:spPr/>
        <p:txBody>
          <a:bodyPr/>
          <a:lstStyle/>
          <a:p>
            <a:r>
              <a:rPr lang="en-US" altLang="zh-CN" dirty="0"/>
              <a:t>IDS</a:t>
            </a:r>
            <a:r>
              <a:rPr lang="zh-CN" altLang="en-US" dirty="0"/>
              <a:t>或</a:t>
            </a:r>
            <a:r>
              <a:rPr lang="en-US" altLang="zh-CN" dirty="0"/>
              <a:t>IDDFS</a:t>
            </a:r>
            <a:r>
              <a:rPr lang="zh-CN" altLang="en-US" dirty="0"/>
              <a:t>是一种状态空间</a:t>
            </a:r>
            <a:r>
              <a:rPr lang="en-US" altLang="zh-CN" dirty="0"/>
              <a:t>/</a:t>
            </a:r>
            <a:r>
              <a:rPr lang="zh-CN" altLang="en-US" dirty="0"/>
              <a:t>图形搜索策略，其中深度限制版本的</a:t>
            </a:r>
            <a:r>
              <a:rPr lang="en-US" altLang="zh-CN" dirty="0"/>
              <a:t>DFS</a:t>
            </a:r>
            <a:r>
              <a:rPr lang="zh-CN" altLang="en-US" dirty="0"/>
              <a:t>会随着深度限制的增加而重复运行，直到找到目标。它与</a:t>
            </a:r>
            <a:r>
              <a:rPr lang="en-US" altLang="zh-CN" dirty="0"/>
              <a:t>BFS</a:t>
            </a:r>
            <a:r>
              <a:rPr lang="zh-CN" altLang="en-US" dirty="0"/>
              <a:t>一样是最优的，但使用的内存要少得多；在每次迭代中，它以与深度优先搜索相同的顺序访问搜索树中的节点，但首先访问节点的累积顺序实际上是广度优先的。</a:t>
            </a:r>
          </a:p>
        </p:txBody>
      </p:sp>
    </p:spTree>
    <p:extLst>
      <p:ext uri="{BB962C8B-B14F-4D97-AF65-F5344CB8AC3E}">
        <p14:creationId xmlns:p14="http://schemas.microsoft.com/office/powerpoint/2010/main" val="2183243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66AF4DD-F63E-4A7A-88D3-CF617B228662}"/>
              </a:ext>
            </a:extLst>
          </p:cNvPr>
          <p:cNvPicPr>
            <a:picLocks noChangeAspect="1"/>
          </p:cNvPicPr>
          <p:nvPr/>
        </p:nvPicPr>
        <p:blipFill>
          <a:blip r:embed="rId2"/>
          <a:stretch>
            <a:fillRect/>
          </a:stretch>
        </p:blipFill>
        <p:spPr>
          <a:xfrm>
            <a:off x="0" y="0"/>
            <a:ext cx="8238095" cy="5180952"/>
          </a:xfrm>
          <a:prstGeom prst="rect">
            <a:avLst/>
          </a:prstGeom>
        </p:spPr>
      </p:pic>
      <p:sp>
        <p:nvSpPr>
          <p:cNvPr id="7" name="文本框 6">
            <a:extLst>
              <a:ext uri="{FF2B5EF4-FFF2-40B4-BE49-F238E27FC236}">
                <a16:creationId xmlns:a16="http://schemas.microsoft.com/office/drawing/2014/main" id="{C10CC653-1626-455D-9C5F-451C3459D86F}"/>
              </a:ext>
            </a:extLst>
          </p:cNvPr>
          <p:cNvSpPr txBox="1"/>
          <p:nvPr/>
        </p:nvSpPr>
        <p:spPr>
          <a:xfrm>
            <a:off x="0" y="5180952"/>
            <a:ext cx="5955437" cy="1200329"/>
          </a:xfrm>
          <a:prstGeom prst="rect">
            <a:avLst/>
          </a:prstGeom>
          <a:noFill/>
        </p:spPr>
        <p:txBody>
          <a:bodyPr wrap="square">
            <a:spAutoFit/>
          </a:bodyPr>
          <a:lstStyle/>
          <a:p>
            <a:r>
              <a:rPr lang="zh-CN" altLang="en-US" dirty="0"/>
              <a:t>如果找到了目标节点，则</a:t>
            </a:r>
            <a:r>
              <a:rPr lang="en-US" altLang="zh-CN" dirty="0"/>
              <a:t>DLS</a:t>
            </a:r>
            <a:r>
              <a:rPr lang="zh-CN" altLang="en-US" dirty="0"/>
              <a:t>（递归深度受限的</a:t>
            </a:r>
            <a:r>
              <a:rPr lang="en-US" altLang="zh-CN" dirty="0"/>
              <a:t>DFS</a:t>
            </a:r>
            <a:r>
              <a:rPr lang="zh-CN" altLang="en-US" dirty="0"/>
              <a:t>）将取消递归返回，不再进行进一步迭代。否则，如果在该深度级别上至少存在一个节点，则剩余的标志将允许</a:t>
            </a:r>
            <a:r>
              <a:rPr lang="en-US" altLang="zh-CN" dirty="0"/>
              <a:t>IDDFS</a:t>
            </a:r>
            <a:r>
              <a:rPr lang="zh-CN" altLang="en-US" dirty="0"/>
              <a:t>继续。</a:t>
            </a:r>
          </a:p>
        </p:txBody>
      </p:sp>
      <p:sp>
        <p:nvSpPr>
          <p:cNvPr id="9" name="文本框 8">
            <a:extLst>
              <a:ext uri="{FF2B5EF4-FFF2-40B4-BE49-F238E27FC236}">
                <a16:creationId xmlns:a16="http://schemas.microsoft.com/office/drawing/2014/main" id="{1969C7BF-B2CA-4031-AB82-B635CC30E526}"/>
              </a:ext>
            </a:extLst>
          </p:cNvPr>
          <p:cNvSpPr txBox="1"/>
          <p:nvPr/>
        </p:nvSpPr>
        <p:spPr>
          <a:xfrm>
            <a:off x="6483659" y="5180952"/>
            <a:ext cx="5708341" cy="923330"/>
          </a:xfrm>
          <a:prstGeom prst="rect">
            <a:avLst/>
          </a:prstGeom>
          <a:noFill/>
        </p:spPr>
        <p:txBody>
          <a:bodyPr wrap="square">
            <a:spAutoFit/>
          </a:bodyPr>
          <a:lstStyle/>
          <a:p>
            <a:r>
              <a:rPr lang="en-US" altLang="zh-CN" dirty="0"/>
              <a:t>IDDFS</a:t>
            </a:r>
            <a:r>
              <a:rPr lang="zh-CN" altLang="en-US" dirty="0"/>
              <a:t>结合了深度优先搜索的空间效率和广度优先搜索的完整性。如果存在解决方案，它将找到具有最少圆弧的解决方案路径。</a:t>
            </a:r>
          </a:p>
        </p:txBody>
      </p:sp>
    </p:spTree>
    <p:extLst>
      <p:ext uri="{BB962C8B-B14F-4D97-AF65-F5344CB8AC3E}">
        <p14:creationId xmlns:p14="http://schemas.microsoft.com/office/powerpoint/2010/main" val="33965176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9CE203-9F84-8E6D-1986-6FE933C6AE65}"/>
              </a:ext>
            </a:extLst>
          </p:cNvPr>
          <p:cNvSpPr>
            <a:spLocks noGrp="1"/>
          </p:cNvSpPr>
          <p:nvPr>
            <p:ph type="title"/>
          </p:nvPr>
        </p:nvSpPr>
        <p:spPr/>
        <p:txBody>
          <a:bodyPr/>
          <a:lstStyle/>
          <a:p>
            <a:r>
              <a:rPr lang="en-US" altLang="zh-CN" dirty="0"/>
              <a:t>Time complexity</a:t>
            </a:r>
            <a:endParaRPr lang="zh-CN" altLang="en-US" dirty="0"/>
          </a:p>
        </p:txBody>
      </p:sp>
      <p:sp>
        <p:nvSpPr>
          <p:cNvPr id="3" name="内容占位符 2">
            <a:extLst>
              <a:ext uri="{FF2B5EF4-FFF2-40B4-BE49-F238E27FC236}">
                <a16:creationId xmlns:a16="http://schemas.microsoft.com/office/drawing/2014/main" id="{67BADC13-A845-9C46-2F4A-1E317D1F2134}"/>
              </a:ext>
            </a:extLst>
          </p:cNvPr>
          <p:cNvSpPr>
            <a:spLocks noGrp="1"/>
          </p:cNvSpPr>
          <p:nvPr>
            <p:ph idx="1"/>
          </p:nvPr>
        </p:nvSpPr>
        <p:spPr/>
        <p:txBody>
          <a:bodyPr>
            <a:normAutofit/>
          </a:bodyPr>
          <a:lstStyle/>
          <a:p>
            <a:r>
              <a:rPr lang="en-US" altLang="zh-CN" dirty="0"/>
              <a:t>The time complexity of IDDFS in a (well-balanced) tree works out to be the same as breadth-first search, i.e. O(b</a:t>
            </a:r>
            <a:r>
              <a:rPr lang="en-US" altLang="zh-CN" baseline="30000" dirty="0"/>
              <a:t>d</a:t>
            </a:r>
            <a:r>
              <a:rPr lang="en-US" altLang="zh-CN" dirty="0"/>
              <a:t>), where b is the branching factor and d is the depth of the goal.</a:t>
            </a:r>
            <a:endParaRPr lang="zh-CN" altLang="en-US" dirty="0"/>
          </a:p>
        </p:txBody>
      </p:sp>
    </p:spTree>
    <p:extLst>
      <p:ext uri="{BB962C8B-B14F-4D97-AF65-F5344CB8AC3E}">
        <p14:creationId xmlns:p14="http://schemas.microsoft.com/office/powerpoint/2010/main" val="3102801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7A2CF7-5242-4CBF-8017-4669F67EB650}"/>
              </a:ext>
            </a:extLst>
          </p:cNvPr>
          <p:cNvSpPr>
            <a:spLocks noGrp="1"/>
          </p:cNvSpPr>
          <p:nvPr>
            <p:ph type="title"/>
          </p:nvPr>
        </p:nvSpPr>
        <p:spPr>
          <a:xfrm>
            <a:off x="838200" y="2247191"/>
            <a:ext cx="10515600" cy="1325563"/>
          </a:xfrm>
        </p:spPr>
        <p:txBody>
          <a:bodyPr/>
          <a:lstStyle/>
          <a:p>
            <a:pPr algn="ctr"/>
            <a:r>
              <a:rPr lang="en-US" altLang="zh-CN">
                <a:hlinkClick r:id="rId2" action="ppaction://hlinkfile"/>
              </a:rPr>
              <a:t>Egyptian Fractions</a:t>
            </a:r>
            <a:endParaRPr lang="zh-CN" altLang="en-US"/>
          </a:p>
        </p:txBody>
      </p:sp>
    </p:spTree>
    <p:extLst>
      <p:ext uri="{BB962C8B-B14F-4D97-AF65-F5344CB8AC3E}">
        <p14:creationId xmlns:p14="http://schemas.microsoft.com/office/powerpoint/2010/main" val="74925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59CE2-C0B8-4D6E-AAE3-AE1D3CFDC7B8}"/>
              </a:ext>
            </a:extLst>
          </p:cNvPr>
          <p:cNvSpPr>
            <a:spLocks noGrp="1"/>
          </p:cNvSpPr>
          <p:nvPr>
            <p:ph type="title"/>
          </p:nvPr>
        </p:nvSpPr>
        <p:spPr/>
        <p:txBody>
          <a:bodyPr/>
          <a:lstStyle/>
          <a:p>
            <a:r>
              <a:rPr lang="en-US" altLang="zh-CN"/>
              <a:t>Egyptian Fraction</a:t>
            </a:r>
            <a:endParaRPr lang="zh-CN" altLang="en-US"/>
          </a:p>
        </p:txBody>
      </p:sp>
      <p:sp>
        <p:nvSpPr>
          <p:cNvPr id="3" name="内容占位符 2">
            <a:extLst>
              <a:ext uri="{FF2B5EF4-FFF2-40B4-BE49-F238E27FC236}">
                <a16:creationId xmlns:a16="http://schemas.microsoft.com/office/drawing/2014/main" id="{60E92BA6-BED7-4FF6-8E2B-B41C9C1CEF45}"/>
              </a:ext>
            </a:extLst>
          </p:cNvPr>
          <p:cNvSpPr>
            <a:spLocks noGrp="1"/>
          </p:cNvSpPr>
          <p:nvPr>
            <p:ph idx="1"/>
          </p:nvPr>
        </p:nvSpPr>
        <p:spPr>
          <a:xfrm>
            <a:off x="838200" y="1825625"/>
            <a:ext cx="7089559" cy="3660775"/>
          </a:xfrm>
        </p:spPr>
        <p:txBody>
          <a:bodyPr>
            <a:normAutofit lnSpcReduction="10000"/>
          </a:bodyPr>
          <a:lstStyle/>
          <a:p>
            <a:r>
              <a:rPr lang="en-US" altLang="zh-CN"/>
              <a:t>Backtracking? The solution tree is tremendous. Both the depth and the width are huge, even infinite, so BFS cannot be used. </a:t>
            </a:r>
          </a:p>
          <a:p>
            <a:endParaRPr lang="en-US" altLang="zh-CN"/>
          </a:p>
          <a:p>
            <a:r>
              <a:rPr lang="en-US" altLang="zh-CN">
                <a:solidFill>
                  <a:srgbClr val="FF0000"/>
                </a:solidFill>
              </a:rPr>
              <a:t>For problems that can be solved by backtracking but there is no obvious upper limit to the depth of the solution tree</a:t>
            </a:r>
            <a:r>
              <a:rPr lang="en-US" altLang="zh-CN"/>
              <a:t>, consider using IDDFS.</a:t>
            </a:r>
            <a:endParaRPr lang="zh-CN" altLang="en-US"/>
          </a:p>
        </p:txBody>
      </p:sp>
      <p:pic>
        <p:nvPicPr>
          <p:cNvPr id="5" name="图片 4">
            <a:extLst>
              <a:ext uri="{FF2B5EF4-FFF2-40B4-BE49-F238E27FC236}">
                <a16:creationId xmlns:a16="http://schemas.microsoft.com/office/drawing/2014/main" id="{A5FACE85-12C3-4888-B163-E3D7DD255438}"/>
              </a:ext>
            </a:extLst>
          </p:cNvPr>
          <p:cNvPicPr>
            <a:picLocks noChangeAspect="1"/>
          </p:cNvPicPr>
          <p:nvPr/>
        </p:nvPicPr>
        <p:blipFill>
          <a:blip r:embed="rId2"/>
          <a:stretch>
            <a:fillRect/>
          </a:stretch>
        </p:blipFill>
        <p:spPr>
          <a:xfrm>
            <a:off x="7794594" y="1467920"/>
            <a:ext cx="4228730" cy="3714426"/>
          </a:xfrm>
          <a:prstGeom prst="rect">
            <a:avLst/>
          </a:prstGeom>
        </p:spPr>
      </p:pic>
    </p:spTree>
    <p:extLst>
      <p:ext uri="{BB962C8B-B14F-4D97-AF65-F5344CB8AC3E}">
        <p14:creationId xmlns:p14="http://schemas.microsoft.com/office/powerpoint/2010/main" val="4109308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7C3F76-E2A6-4F3B-B874-5534F562FF97}"/>
              </a:ext>
            </a:extLst>
          </p:cNvPr>
          <p:cNvSpPr>
            <a:spLocks noGrp="1"/>
          </p:cNvSpPr>
          <p:nvPr>
            <p:ph type="title"/>
          </p:nvPr>
        </p:nvSpPr>
        <p:spPr/>
        <p:txBody>
          <a:bodyPr/>
          <a:lstStyle/>
          <a:p>
            <a:r>
              <a:rPr lang="en-US" altLang="zh-CN"/>
              <a:t>IDDFS -&gt; IDA</a:t>
            </a:r>
            <a:r>
              <a:rPr lang="en-US" altLang="zh-CN" baseline="30000"/>
              <a:t>*</a:t>
            </a:r>
            <a:endParaRPr lang="zh-CN" altLang="en-US" baseline="30000"/>
          </a:p>
        </p:txBody>
      </p:sp>
      <p:sp>
        <p:nvSpPr>
          <p:cNvPr id="3" name="内容占位符 2">
            <a:extLst>
              <a:ext uri="{FF2B5EF4-FFF2-40B4-BE49-F238E27FC236}">
                <a16:creationId xmlns:a16="http://schemas.microsoft.com/office/drawing/2014/main" id="{96034DD7-06AE-4B0A-A9A8-9F3AA67259AB}"/>
              </a:ext>
            </a:extLst>
          </p:cNvPr>
          <p:cNvSpPr>
            <a:spLocks noGrp="1"/>
          </p:cNvSpPr>
          <p:nvPr>
            <p:ph idx="1"/>
          </p:nvPr>
        </p:nvSpPr>
        <p:spPr/>
        <p:txBody>
          <a:bodyPr>
            <a:normAutofit/>
          </a:bodyPr>
          <a:lstStyle/>
          <a:p>
            <a:r>
              <a:rPr lang="en-US" altLang="zh-CN">
                <a:solidFill>
                  <a:srgbClr val="FF0000"/>
                </a:solidFill>
              </a:rPr>
              <a:t>Iterative deepening A* (IDA*) </a:t>
            </a:r>
            <a:r>
              <a:rPr lang="en-US" altLang="zh-CN"/>
              <a:t>is </a:t>
            </a:r>
            <a:r>
              <a:rPr lang="en-US" altLang="zh-CN">
                <a:solidFill>
                  <a:srgbClr val="FF0000"/>
                </a:solidFill>
              </a:rPr>
              <a:t>a variant of IDDFS </a:t>
            </a:r>
            <a:r>
              <a:rPr lang="en-US" altLang="zh-CN"/>
              <a:t>that borrows the idea to use </a:t>
            </a:r>
            <a:r>
              <a:rPr lang="en-US" altLang="zh-CN" b="1">
                <a:solidFill>
                  <a:srgbClr val="FF0000"/>
                </a:solidFill>
              </a:rPr>
              <a:t>a heuristic function </a:t>
            </a:r>
            <a:r>
              <a:rPr lang="en-US" altLang="zh-CN"/>
              <a:t>to evaluate the remaining cost to get to the goal from the </a:t>
            </a:r>
            <a:r>
              <a:rPr lang="en-US" altLang="zh-CN" b="1">
                <a:solidFill>
                  <a:srgbClr val="FF0000"/>
                </a:solidFill>
              </a:rPr>
              <a:t>A* search </a:t>
            </a:r>
            <a:r>
              <a:rPr lang="en-US" altLang="zh-CN"/>
              <a:t>algorithm.</a:t>
            </a:r>
          </a:p>
          <a:p>
            <a:r>
              <a:rPr lang="en-US" altLang="zh-CN"/>
              <a:t>While the standard iterative deepening depth-first search uses search depth as the cutoff for each iteration, the IDA* uses the </a:t>
            </a:r>
            <a:r>
              <a:rPr lang="en-US" altLang="zh-CN" b="1"/>
              <a:t>more informative </a:t>
            </a:r>
            <a:r>
              <a:rPr lang="en-US" altLang="zh-CN">
                <a:solidFill>
                  <a:srgbClr val="FF0000"/>
                </a:solidFill>
              </a:rPr>
              <a:t>f(n)=g(n)+h(n)</a:t>
            </a:r>
            <a:r>
              <a:rPr lang="en-US" altLang="zh-CN"/>
              <a:t>,</a:t>
            </a:r>
            <a:r>
              <a:rPr lang="en-US" altLang="zh-CN">
                <a:solidFill>
                  <a:srgbClr val="FF0000"/>
                </a:solidFill>
              </a:rPr>
              <a:t> </a:t>
            </a:r>
            <a:r>
              <a:rPr lang="en-US" altLang="zh-CN"/>
              <a:t>where g(n) is the cost to travel from the root to node n and h(n) is a </a:t>
            </a:r>
            <a:r>
              <a:rPr lang="en-US" altLang="zh-CN" b="1"/>
              <a:t>problem-specific</a:t>
            </a:r>
            <a:r>
              <a:rPr lang="en-US" altLang="zh-CN"/>
              <a:t> heuristic estimate of the cost to travel from node n to the goal.</a:t>
            </a:r>
          </a:p>
          <a:p>
            <a:r>
              <a:rPr lang="en-US" altLang="zh-CN">
                <a:solidFill>
                  <a:srgbClr val="FF0000"/>
                </a:solidFill>
              </a:rPr>
              <a:t>The heuristic h(n) (admissible) </a:t>
            </a:r>
            <a:r>
              <a:rPr lang="en-US" altLang="zh-CN"/>
              <a:t>has to have particular properties to guarantee </a:t>
            </a:r>
            <a:r>
              <a:rPr lang="en-US" altLang="zh-CN">
                <a:solidFill>
                  <a:srgbClr val="FF0000"/>
                </a:solidFill>
              </a:rPr>
              <a:t>optimality </a:t>
            </a:r>
            <a:r>
              <a:rPr lang="en-US" altLang="zh-CN"/>
              <a:t>(shortest paths).</a:t>
            </a:r>
            <a:endParaRPr lang="zh-CN" altLang="en-US"/>
          </a:p>
        </p:txBody>
      </p:sp>
    </p:spTree>
    <p:extLst>
      <p:ext uri="{BB962C8B-B14F-4D97-AF65-F5344CB8AC3E}">
        <p14:creationId xmlns:p14="http://schemas.microsoft.com/office/powerpoint/2010/main" val="3932076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AE1DC5-FC03-4294-8CF6-9A935ACBFDF7}"/>
              </a:ext>
            </a:extLst>
          </p:cNvPr>
          <p:cNvSpPr>
            <a:spLocks noGrp="1"/>
          </p:cNvSpPr>
          <p:nvPr>
            <p:ph type="title"/>
          </p:nvPr>
        </p:nvSpPr>
        <p:spPr/>
        <p:txBody>
          <a:bodyPr/>
          <a:lstStyle/>
          <a:p>
            <a:r>
              <a:rPr lang="en-US" altLang="zh-CN"/>
              <a:t>Heuristic for Egyptian Fraction</a:t>
            </a:r>
            <a:endParaRPr lang="zh-CN" altLang="en-US"/>
          </a:p>
        </p:txBody>
      </p:sp>
      <p:sp>
        <p:nvSpPr>
          <p:cNvPr id="3" name="内容占位符 2">
            <a:extLst>
              <a:ext uri="{FF2B5EF4-FFF2-40B4-BE49-F238E27FC236}">
                <a16:creationId xmlns:a16="http://schemas.microsoft.com/office/drawing/2014/main" id="{9E61DFCD-77AF-4C85-B219-59369C41D166}"/>
              </a:ext>
            </a:extLst>
          </p:cNvPr>
          <p:cNvSpPr>
            <a:spLocks noGrp="1"/>
          </p:cNvSpPr>
          <p:nvPr>
            <p:ph idx="1"/>
          </p:nvPr>
        </p:nvSpPr>
        <p:spPr/>
        <p:txBody>
          <a:bodyPr/>
          <a:lstStyle/>
          <a:p>
            <a:pPr marL="0" indent="0">
              <a:buNone/>
            </a:pPr>
            <a:r>
              <a:rPr lang="en-US" altLang="zh-CN">
                <a:solidFill>
                  <a:srgbClr val="FF0000"/>
                </a:solidFill>
              </a:rPr>
              <a:t>h(n): (a/b-c/d)/(1/e)</a:t>
            </a:r>
          </a:p>
          <a:p>
            <a:pPr marL="0" indent="0">
              <a:buNone/>
            </a:pPr>
            <a:r>
              <a:rPr lang="en-US" altLang="zh-CN"/>
              <a:t>For example,</a:t>
            </a:r>
          </a:p>
          <a:p>
            <a:pPr marL="0" indent="0">
              <a:buNone/>
            </a:pPr>
            <a:r>
              <a:rPr lang="en-US" altLang="zh-CN"/>
              <a:t>19/45=1/5+1/100+…</a:t>
            </a:r>
          </a:p>
          <a:p>
            <a:pPr marL="0" indent="0">
              <a:buNone/>
            </a:pPr>
            <a:r>
              <a:rPr lang="en-US" altLang="zh-CN"/>
              <a:t>(19/45-1/5)/(1/101)=23 (the minimum number of the remaining)</a:t>
            </a:r>
          </a:p>
          <a:p>
            <a:pPr marL="0" indent="0">
              <a:buNone/>
            </a:pPr>
            <a:r>
              <a:rPr lang="en-US" altLang="zh-CN"/>
              <a:t>When maxd&lt;=22, this branch can be </a:t>
            </a:r>
            <a:r>
              <a:rPr lang="en-US" altLang="zh-CN" b="1">
                <a:solidFill>
                  <a:srgbClr val="FF0000"/>
                </a:solidFill>
              </a:rPr>
              <a:t>pruned</a:t>
            </a:r>
            <a:r>
              <a:rPr lang="en-US" altLang="zh-CN"/>
              <a:t>.</a:t>
            </a:r>
          </a:p>
          <a:p>
            <a:pPr marL="0" indent="0">
              <a:buNone/>
            </a:pPr>
            <a:r>
              <a:rPr lang="en-US" altLang="zh-CN">
                <a:solidFill>
                  <a:srgbClr val="FF0000"/>
                </a:solidFill>
              </a:rPr>
              <a:t>“g(n)+h(n)&gt;maxd” must be satisfied.</a:t>
            </a:r>
            <a:endParaRPr lang="zh-CN" altLang="en-US">
              <a:solidFill>
                <a:srgbClr val="FF0000"/>
              </a:solidFill>
            </a:endParaRPr>
          </a:p>
        </p:txBody>
      </p:sp>
    </p:spTree>
    <p:extLst>
      <p:ext uri="{BB962C8B-B14F-4D97-AF65-F5344CB8AC3E}">
        <p14:creationId xmlns:p14="http://schemas.microsoft.com/office/powerpoint/2010/main" val="1338216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0D6AD8-262B-48A9-A226-D014464FD7D2}"/>
              </a:ext>
            </a:extLst>
          </p:cNvPr>
          <p:cNvSpPr>
            <a:spLocks noGrp="1"/>
          </p:cNvSpPr>
          <p:nvPr>
            <p:ph type="title"/>
          </p:nvPr>
        </p:nvSpPr>
        <p:spPr>
          <a:xfrm>
            <a:off x="2240502" y="2353723"/>
            <a:ext cx="8030592" cy="1325563"/>
          </a:xfrm>
        </p:spPr>
        <p:txBody>
          <a:bodyPr/>
          <a:lstStyle/>
          <a:p>
            <a:r>
              <a:rPr lang="en-US" altLang="zh-CN">
                <a:hlinkClick r:id="rId2"/>
              </a:rPr>
              <a:t>Introduction to the A* Algorithm</a:t>
            </a:r>
            <a:br>
              <a:rPr lang="en-US" altLang="zh-CN">
                <a:hlinkClick r:id="rId2"/>
              </a:rPr>
            </a:br>
            <a:r>
              <a:rPr lang="en-US" altLang="zh-CN" sz="3200">
                <a:hlinkClick r:id="rId2"/>
              </a:rPr>
              <a:t>from Red Blob Games</a:t>
            </a:r>
            <a:endParaRPr lang="zh-CN" altLang="en-US" sz="3200"/>
          </a:p>
        </p:txBody>
      </p:sp>
    </p:spTree>
    <p:extLst>
      <p:ext uri="{BB962C8B-B14F-4D97-AF65-F5344CB8AC3E}">
        <p14:creationId xmlns:p14="http://schemas.microsoft.com/office/powerpoint/2010/main" val="28689523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2928</TotalTime>
  <Words>1689</Words>
  <Application>Microsoft Office PowerPoint</Application>
  <PresentationFormat>宽屏</PresentationFormat>
  <Paragraphs>115</Paragraphs>
  <Slides>28</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37" baseType="lpstr">
      <vt:lpstr>Nimbus Roman No9 L</vt:lpstr>
      <vt:lpstr>等线</vt:lpstr>
      <vt:lpstr>等线 Light</vt:lpstr>
      <vt:lpstr>宋体</vt:lpstr>
      <vt:lpstr>Microsoft YaHei</vt:lpstr>
      <vt:lpstr>Arial</vt:lpstr>
      <vt:lpstr>Times New Roman</vt:lpstr>
      <vt:lpstr>Office 主题​​</vt:lpstr>
      <vt:lpstr>Visio.Drawing.11</vt:lpstr>
      <vt:lpstr>Search part 2</vt:lpstr>
      <vt:lpstr>Outline</vt:lpstr>
      <vt:lpstr>1 Backtracking</vt:lpstr>
      <vt:lpstr>PowerPoint 演示文稿</vt:lpstr>
      <vt:lpstr>PowerPoint 演示文稿</vt:lpstr>
      <vt:lpstr>Eight queens puzzle</vt:lpstr>
      <vt:lpstr>PowerPoint 演示文稿</vt:lpstr>
      <vt:lpstr>Algorithm design</vt:lpstr>
      <vt:lpstr>PowerPoint 演示文稿</vt:lpstr>
      <vt:lpstr>Brute-force 88</vt:lpstr>
      <vt:lpstr>Backtracking</vt:lpstr>
      <vt:lpstr>优化回溯</vt:lpstr>
      <vt:lpstr>Prime Ring Problem</vt:lpstr>
      <vt:lpstr>Brute force &amp; Backtracking</vt:lpstr>
      <vt:lpstr>2隐式图中的路径查找</vt:lpstr>
      <vt:lpstr>n-puzzle</vt:lpstr>
      <vt:lpstr>8-puzzle</vt:lpstr>
      <vt:lpstr>PowerPoint 演示文稿</vt:lpstr>
      <vt:lpstr>如何判断重复？</vt:lpstr>
      <vt:lpstr>BFS for the shortest solution of 8-puzzle</vt:lpstr>
      <vt:lpstr>3迭代深化深度优先搜索（IDS或IDDFS）</vt:lpstr>
      <vt:lpstr>PowerPoint 演示文稿</vt:lpstr>
      <vt:lpstr>Time complexity</vt:lpstr>
      <vt:lpstr>Egyptian Fractions</vt:lpstr>
      <vt:lpstr>Egyptian Fraction</vt:lpstr>
      <vt:lpstr>IDDFS -&gt; IDA*</vt:lpstr>
      <vt:lpstr>Heuristic for Egyptian Fraction</vt:lpstr>
      <vt:lpstr>Introduction to the A* Algorithm from Red Blob Games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part 2</dc:title>
  <dc:creator>Xu Yanyan</dc:creator>
  <cp:lastModifiedBy>俊翔 黄</cp:lastModifiedBy>
  <cp:revision>179</cp:revision>
  <dcterms:created xsi:type="dcterms:W3CDTF">2021-02-03T11:14:08Z</dcterms:created>
  <dcterms:modified xsi:type="dcterms:W3CDTF">2024-05-25T08:16:06Z</dcterms:modified>
</cp:coreProperties>
</file>