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552" r:id="rId3"/>
    <p:sldId id="437" r:id="rId4"/>
    <p:sldId id="438" r:id="rId5"/>
    <p:sldId id="441" r:id="rId6"/>
    <p:sldId id="600" r:id="rId7"/>
    <p:sldId id="603" r:id="rId8"/>
    <p:sldId id="602" r:id="rId9"/>
    <p:sldId id="601" r:id="rId10"/>
    <p:sldId id="466" r:id="rId11"/>
    <p:sldId id="257" r:id="rId12"/>
    <p:sldId id="258" r:id="rId13"/>
    <p:sldId id="261" r:id="rId14"/>
    <p:sldId id="260" r:id="rId15"/>
    <p:sldId id="592" r:id="rId16"/>
    <p:sldId id="467" r:id="rId17"/>
    <p:sldId id="591" r:id="rId18"/>
    <p:sldId id="478" r:id="rId19"/>
    <p:sldId id="477" r:id="rId20"/>
    <p:sldId id="476" r:id="rId21"/>
    <p:sldId id="479" r:id="rId22"/>
    <p:sldId id="480" r:id="rId23"/>
    <p:sldId id="482" r:id="rId24"/>
    <p:sldId id="483" r:id="rId25"/>
    <p:sldId id="581" r:id="rId26"/>
    <p:sldId id="582" r:id="rId27"/>
    <p:sldId id="583" r:id="rId28"/>
    <p:sldId id="484" r:id="rId29"/>
    <p:sldId id="584" r:id="rId30"/>
    <p:sldId id="585" r:id="rId31"/>
    <p:sldId id="485" r:id="rId32"/>
    <p:sldId id="594" r:id="rId33"/>
    <p:sldId id="487" r:id="rId34"/>
    <p:sldId id="595" r:id="rId35"/>
    <p:sldId id="596" r:id="rId36"/>
    <p:sldId id="599" r:id="rId37"/>
    <p:sldId id="597" r:id="rId38"/>
    <p:sldId id="587" r:id="rId39"/>
    <p:sldId id="589" r:id="rId40"/>
    <p:sldId id="598"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snapToGrid="0">
      <p:cViewPr varScale="1">
        <p:scale>
          <a:sx n="108" d="100"/>
          <a:sy n="108" d="100"/>
        </p:scale>
        <p:origin x="6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CFB11-A474-4037-92C3-6A96DA592FEF}" type="datetimeFigureOut">
              <a:rPr lang="zh-CN" altLang="en-US" smtClean="0"/>
              <a:t>2024/5/2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97EEE-B9B4-43CE-BA0C-48B2D1726773}" type="slidenum">
              <a:rPr lang="zh-CN" altLang="en-US" smtClean="0"/>
              <a:t>‹#›</a:t>
            </a:fld>
            <a:endParaRPr lang="zh-CN" altLang="en-US"/>
          </a:p>
        </p:txBody>
      </p:sp>
    </p:spTree>
    <p:extLst>
      <p:ext uri="{BB962C8B-B14F-4D97-AF65-F5344CB8AC3E}">
        <p14:creationId xmlns:p14="http://schemas.microsoft.com/office/powerpoint/2010/main" val="178222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1318201-79EC-4801-B6EE-CCFAE2C9D7A0}" type="slidenum">
              <a:rPr lang="zh-CN" altLang="en-US" smtClean="0"/>
              <a:t>21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E74C3-BE1E-4FDA-B2BF-F5CABD9EC3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414A93-03CD-41B0-91EF-9F89B4908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601CB88-104E-4041-9593-0364358049E3}"/>
              </a:ext>
            </a:extLst>
          </p:cNvPr>
          <p:cNvSpPr>
            <a:spLocks noGrp="1"/>
          </p:cNvSpPr>
          <p:nvPr>
            <p:ph type="dt" sz="half" idx="10"/>
          </p:nvPr>
        </p:nvSpPr>
        <p:spPr/>
        <p:txBody>
          <a:bodyPr/>
          <a:lstStyle/>
          <a:p>
            <a:fld id="{4361E322-A179-4949-AD92-5F54E714D291}" type="datetime1">
              <a:rPr lang="zh-CN" altLang="en-US" smtClean="0"/>
              <a:t>2024/5/2</a:t>
            </a:fld>
            <a:endParaRPr lang="zh-CN" altLang="en-US"/>
          </a:p>
        </p:txBody>
      </p:sp>
      <p:sp>
        <p:nvSpPr>
          <p:cNvPr id="5" name="页脚占位符 4">
            <a:extLst>
              <a:ext uri="{FF2B5EF4-FFF2-40B4-BE49-F238E27FC236}">
                <a16:creationId xmlns:a16="http://schemas.microsoft.com/office/drawing/2014/main" id="{CF16315D-AFAA-4980-9819-6534D5CAE936}"/>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C5CDB79D-F8FD-4605-B404-0A84510A198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579750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E719E-23D3-47FD-839B-203CBF92D87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7803645-37D3-4EDD-9200-E560C33C33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ABE395-7C27-47EB-9B39-141339C966A0}"/>
              </a:ext>
            </a:extLst>
          </p:cNvPr>
          <p:cNvSpPr>
            <a:spLocks noGrp="1"/>
          </p:cNvSpPr>
          <p:nvPr>
            <p:ph type="dt" sz="half" idx="10"/>
          </p:nvPr>
        </p:nvSpPr>
        <p:spPr/>
        <p:txBody>
          <a:bodyPr/>
          <a:lstStyle/>
          <a:p>
            <a:fld id="{962E290C-E5C5-401B-B689-CB0F01D78AD6}" type="datetime1">
              <a:rPr lang="zh-CN" altLang="en-US" smtClean="0"/>
              <a:t>2024/5/2</a:t>
            </a:fld>
            <a:endParaRPr lang="zh-CN" altLang="en-US"/>
          </a:p>
        </p:txBody>
      </p:sp>
      <p:sp>
        <p:nvSpPr>
          <p:cNvPr id="5" name="页脚占位符 4">
            <a:extLst>
              <a:ext uri="{FF2B5EF4-FFF2-40B4-BE49-F238E27FC236}">
                <a16:creationId xmlns:a16="http://schemas.microsoft.com/office/drawing/2014/main" id="{E37E058E-0A79-4BC7-8808-FCA05AA07F2B}"/>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ACF20585-5CC9-42E1-9691-1780E38898B7}"/>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72161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B95CF-A2F3-4DB3-8B9B-B5A15A4F079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68E97E6-45A3-431D-90EC-74E70EC9B8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AF24651-B974-490D-ADA3-BD93E52E2313}"/>
              </a:ext>
            </a:extLst>
          </p:cNvPr>
          <p:cNvSpPr>
            <a:spLocks noGrp="1"/>
          </p:cNvSpPr>
          <p:nvPr>
            <p:ph type="dt" sz="half" idx="10"/>
          </p:nvPr>
        </p:nvSpPr>
        <p:spPr/>
        <p:txBody>
          <a:bodyPr/>
          <a:lstStyle/>
          <a:p>
            <a:fld id="{70590B48-C9F0-493A-97CB-7990B50BAF1B}" type="datetime1">
              <a:rPr lang="zh-CN" altLang="en-US" smtClean="0"/>
              <a:t>2024/5/2</a:t>
            </a:fld>
            <a:endParaRPr lang="zh-CN" altLang="en-US"/>
          </a:p>
        </p:txBody>
      </p:sp>
      <p:sp>
        <p:nvSpPr>
          <p:cNvPr id="5" name="页脚占位符 4">
            <a:extLst>
              <a:ext uri="{FF2B5EF4-FFF2-40B4-BE49-F238E27FC236}">
                <a16:creationId xmlns:a16="http://schemas.microsoft.com/office/drawing/2014/main" id="{F62087D7-E624-474A-97FD-9337901EA964}"/>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BDC309BF-F8DE-4469-B753-69CF4D47791A}"/>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862561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C7CB6-6364-416E-BC11-15804AA6919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3FA0C0-9455-4CF5-8F1F-A05BB585DAE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D2CB45D-96E7-40D8-9A8D-6F28DD8FC75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B3513F1-0F43-4B9E-873A-CFD9DF940E55}"/>
              </a:ext>
            </a:extLst>
          </p:cNvPr>
          <p:cNvSpPr>
            <a:spLocks noGrp="1"/>
          </p:cNvSpPr>
          <p:nvPr>
            <p:ph type="dt" sz="half" idx="10"/>
          </p:nvPr>
        </p:nvSpPr>
        <p:spPr/>
        <p:txBody>
          <a:bodyPr/>
          <a:lstStyle/>
          <a:p>
            <a:fld id="{56DBAEC1-0F40-4936-BAB4-B76FFC7624AE}" type="datetime1">
              <a:rPr lang="zh-CN" altLang="en-US" smtClean="0"/>
              <a:t>2024/5/2</a:t>
            </a:fld>
            <a:endParaRPr lang="zh-CN" altLang="en-US"/>
          </a:p>
        </p:txBody>
      </p:sp>
      <p:sp>
        <p:nvSpPr>
          <p:cNvPr id="6" name="页脚占位符 5">
            <a:extLst>
              <a:ext uri="{FF2B5EF4-FFF2-40B4-BE49-F238E27FC236}">
                <a16:creationId xmlns:a16="http://schemas.microsoft.com/office/drawing/2014/main" id="{71A56703-3DF2-494C-9E6B-77E1ECC290BE}"/>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80F162C8-81F2-4EA9-AEC3-32059D2D241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3277678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C611FA-6024-4450-8519-BD266187B24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8907EE1-3194-4B7B-BD9D-4535D11108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8F5AB7E-A7EB-4818-84FD-9AF639601AE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879A2-D71C-449E-9A04-8E5CABA0A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E6F23C-4380-4F63-AB22-69AF54CF0D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A8E1901-C27B-4F5F-9B6C-2C949A0D043E}"/>
              </a:ext>
            </a:extLst>
          </p:cNvPr>
          <p:cNvSpPr>
            <a:spLocks noGrp="1"/>
          </p:cNvSpPr>
          <p:nvPr>
            <p:ph type="dt" sz="half" idx="10"/>
          </p:nvPr>
        </p:nvSpPr>
        <p:spPr/>
        <p:txBody>
          <a:bodyPr/>
          <a:lstStyle/>
          <a:p>
            <a:fld id="{D386BA85-5951-40BE-84B6-CDD9CCBD4E1E}" type="datetime1">
              <a:rPr lang="zh-CN" altLang="en-US" smtClean="0"/>
              <a:t>2024/5/2</a:t>
            </a:fld>
            <a:endParaRPr lang="zh-CN" altLang="en-US"/>
          </a:p>
        </p:txBody>
      </p:sp>
      <p:sp>
        <p:nvSpPr>
          <p:cNvPr id="8" name="页脚占位符 7">
            <a:extLst>
              <a:ext uri="{FF2B5EF4-FFF2-40B4-BE49-F238E27FC236}">
                <a16:creationId xmlns:a16="http://schemas.microsoft.com/office/drawing/2014/main" id="{240AD1F4-B793-48D7-AF18-2AF92E428387}"/>
              </a:ext>
            </a:extLst>
          </p:cNvPr>
          <p:cNvSpPr>
            <a:spLocks noGrp="1"/>
          </p:cNvSpPr>
          <p:nvPr>
            <p:ph type="ftr" sz="quarter" idx="11"/>
          </p:nvPr>
        </p:nvSpPr>
        <p:spPr/>
        <p:txBody>
          <a:bodyPr/>
          <a:lstStyle/>
          <a:p>
            <a:r>
              <a:rPr lang="zh-CN" altLang="en-US"/>
              <a:t>华东理工大学 罗勇军</a:t>
            </a:r>
          </a:p>
        </p:txBody>
      </p:sp>
      <p:sp>
        <p:nvSpPr>
          <p:cNvPr id="9" name="灯片编号占位符 8">
            <a:extLst>
              <a:ext uri="{FF2B5EF4-FFF2-40B4-BE49-F238E27FC236}">
                <a16:creationId xmlns:a16="http://schemas.microsoft.com/office/drawing/2014/main" id="{2977C2D3-54BE-488A-BADA-71A18521C172}"/>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932451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A93380-92D5-4A1B-96A0-7D4213E6C2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6D8E708-CC46-4DDB-823E-C1A1209F8FBD}"/>
              </a:ext>
            </a:extLst>
          </p:cNvPr>
          <p:cNvSpPr>
            <a:spLocks noGrp="1"/>
          </p:cNvSpPr>
          <p:nvPr>
            <p:ph type="dt" sz="half" idx="10"/>
          </p:nvPr>
        </p:nvSpPr>
        <p:spPr/>
        <p:txBody>
          <a:bodyPr/>
          <a:lstStyle/>
          <a:p>
            <a:fld id="{D042F9CB-26F1-4929-BA46-545B2B3FB693}" type="datetime1">
              <a:rPr lang="zh-CN" altLang="en-US" smtClean="0"/>
              <a:t>2024/5/2</a:t>
            </a:fld>
            <a:endParaRPr lang="zh-CN" altLang="en-US"/>
          </a:p>
        </p:txBody>
      </p:sp>
      <p:sp>
        <p:nvSpPr>
          <p:cNvPr id="4" name="页脚占位符 3">
            <a:extLst>
              <a:ext uri="{FF2B5EF4-FFF2-40B4-BE49-F238E27FC236}">
                <a16:creationId xmlns:a16="http://schemas.microsoft.com/office/drawing/2014/main" id="{4F925D70-BD66-4BE5-BFF2-674F2DC3CAD1}"/>
              </a:ext>
            </a:extLst>
          </p:cNvPr>
          <p:cNvSpPr>
            <a:spLocks noGrp="1"/>
          </p:cNvSpPr>
          <p:nvPr>
            <p:ph type="ftr" sz="quarter" idx="11"/>
          </p:nvPr>
        </p:nvSpPr>
        <p:spPr/>
        <p:txBody>
          <a:bodyPr/>
          <a:lstStyle/>
          <a:p>
            <a:r>
              <a:rPr lang="zh-CN" altLang="en-US"/>
              <a:t>华东理工大学 罗勇军</a:t>
            </a:r>
          </a:p>
        </p:txBody>
      </p:sp>
      <p:sp>
        <p:nvSpPr>
          <p:cNvPr id="5" name="灯片编号占位符 4">
            <a:extLst>
              <a:ext uri="{FF2B5EF4-FFF2-40B4-BE49-F238E27FC236}">
                <a16:creationId xmlns:a16="http://schemas.microsoft.com/office/drawing/2014/main" id="{AB9E7361-9083-4F13-A530-AEBB30D12700}"/>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88961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11168A-BF5E-418E-9BA2-C715C297C452}"/>
              </a:ext>
            </a:extLst>
          </p:cNvPr>
          <p:cNvSpPr>
            <a:spLocks noGrp="1"/>
          </p:cNvSpPr>
          <p:nvPr>
            <p:ph type="dt" sz="half" idx="10"/>
          </p:nvPr>
        </p:nvSpPr>
        <p:spPr/>
        <p:txBody>
          <a:bodyPr/>
          <a:lstStyle/>
          <a:p>
            <a:fld id="{72067AAC-07E9-4345-B48F-5BDAE39F21DE}" type="datetime1">
              <a:rPr lang="zh-CN" altLang="en-US" smtClean="0"/>
              <a:t>2024/5/2</a:t>
            </a:fld>
            <a:endParaRPr lang="zh-CN" altLang="en-US"/>
          </a:p>
        </p:txBody>
      </p:sp>
      <p:sp>
        <p:nvSpPr>
          <p:cNvPr id="3" name="页脚占位符 2">
            <a:extLst>
              <a:ext uri="{FF2B5EF4-FFF2-40B4-BE49-F238E27FC236}">
                <a16:creationId xmlns:a16="http://schemas.microsoft.com/office/drawing/2014/main" id="{1C266FE5-38F5-4063-98BC-6E6CAAA47689}"/>
              </a:ext>
            </a:extLst>
          </p:cNvPr>
          <p:cNvSpPr>
            <a:spLocks noGrp="1"/>
          </p:cNvSpPr>
          <p:nvPr>
            <p:ph type="ftr" sz="quarter" idx="11"/>
          </p:nvPr>
        </p:nvSpPr>
        <p:spPr/>
        <p:txBody>
          <a:bodyPr/>
          <a:lstStyle/>
          <a:p>
            <a:r>
              <a:rPr lang="zh-CN" altLang="en-US"/>
              <a:t>华东理工大学 罗勇军</a:t>
            </a:r>
          </a:p>
        </p:txBody>
      </p:sp>
      <p:sp>
        <p:nvSpPr>
          <p:cNvPr id="4" name="灯片编号占位符 3">
            <a:extLst>
              <a:ext uri="{FF2B5EF4-FFF2-40B4-BE49-F238E27FC236}">
                <a16:creationId xmlns:a16="http://schemas.microsoft.com/office/drawing/2014/main" id="{BD36AE1B-2A81-4BBE-8E6F-0E376693F876}"/>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72737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127597-6C40-4007-9989-3826A10C6CC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5463319-D02E-4CA5-9853-A219EBBF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5DA2A57-CBD9-4774-BB6B-82281FBC30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829E9F-EA46-4D95-B45E-1F46C1C49598}"/>
              </a:ext>
            </a:extLst>
          </p:cNvPr>
          <p:cNvSpPr>
            <a:spLocks noGrp="1"/>
          </p:cNvSpPr>
          <p:nvPr>
            <p:ph type="dt" sz="half" idx="10"/>
          </p:nvPr>
        </p:nvSpPr>
        <p:spPr/>
        <p:txBody>
          <a:bodyPr/>
          <a:lstStyle/>
          <a:p>
            <a:fld id="{88DF262F-8485-4478-B221-A223E2AFA7D2}" type="datetime1">
              <a:rPr lang="zh-CN" altLang="en-US" smtClean="0"/>
              <a:t>2024/5/2</a:t>
            </a:fld>
            <a:endParaRPr lang="zh-CN" altLang="en-US"/>
          </a:p>
        </p:txBody>
      </p:sp>
      <p:sp>
        <p:nvSpPr>
          <p:cNvPr id="6" name="页脚占位符 5">
            <a:extLst>
              <a:ext uri="{FF2B5EF4-FFF2-40B4-BE49-F238E27FC236}">
                <a16:creationId xmlns:a16="http://schemas.microsoft.com/office/drawing/2014/main" id="{30FB46E0-6AFB-4FCB-9055-A3C0CB041024}"/>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A1346969-FD6B-4D1F-89FD-0C8EBCC1999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74407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A1383-B422-4680-A0F8-5DFD729A08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A9BC39B-2D77-4B0B-9ACF-C366DF3EAD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3E619F4-8857-4618-8AE4-83F851D8F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924A66-E039-41AF-A5C2-5BD5E6ECC361}"/>
              </a:ext>
            </a:extLst>
          </p:cNvPr>
          <p:cNvSpPr>
            <a:spLocks noGrp="1"/>
          </p:cNvSpPr>
          <p:nvPr>
            <p:ph type="dt" sz="half" idx="10"/>
          </p:nvPr>
        </p:nvSpPr>
        <p:spPr/>
        <p:txBody>
          <a:bodyPr/>
          <a:lstStyle/>
          <a:p>
            <a:fld id="{4DC6948D-8171-44A5-A7EB-ACA3F5959B70}" type="datetime1">
              <a:rPr lang="zh-CN" altLang="en-US" smtClean="0"/>
              <a:t>2024/5/2</a:t>
            </a:fld>
            <a:endParaRPr lang="zh-CN" altLang="en-US"/>
          </a:p>
        </p:txBody>
      </p:sp>
      <p:sp>
        <p:nvSpPr>
          <p:cNvPr id="6" name="页脚占位符 5">
            <a:extLst>
              <a:ext uri="{FF2B5EF4-FFF2-40B4-BE49-F238E27FC236}">
                <a16:creationId xmlns:a16="http://schemas.microsoft.com/office/drawing/2014/main" id="{8A4BC89A-CEFA-425F-B0AB-2A15CE260149}"/>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91205E3E-00AF-4B8D-BEE8-C526559A0A7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2205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66994A-4F47-4A8C-85EB-6828F8EA5A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1C5012-C01F-48DE-94EC-956BD273975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13E8F8-E8F8-4CF0-BD5A-754BD5DCCF34}"/>
              </a:ext>
            </a:extLst>
          </p:cNvPr>
          <p:cNvSpPr>
            <a:spLocks noGrp="1"/>
          </p:cNvSpPr>
          <p:nvPr>
            <p:ph type="dt" sz="half" idx="10"/>
          </p:nvPr>
        </p:nvSpPr>
        <p:spPr/>
        <p:txBody>
          <a:bodyPr/>
          <a:lstStyle/>
          <a:p>
            <a:fld id="{29C23938-A6B9-412F-9EF4-5BC039545D11}" type="datetime1">
              <a:rPr lang="zh-CN" altLang="en-US" smtClean="0"/>
              <a:t>2024/5/2</a:t>
            </a:fld>
            <a:endParaRPr lang="zh-CN" altLang="en-US"/>
          </a:p>
        </p:txBody>
      </p:sp>
      <p:sp>
        <p:nvSpPr>
          <p:cNvPr id="5" name="页脚占位符 4">
            <a:extLst>
              <a:ext uri="{FF2B5EF4-FFF2-40B4-BE49-F238E27FC236}">
                <a16:creationId xmlns:a16="http://schemas.microsoft.com/office/drawing/2014/main" id="{2700D0BF-26C3-4A56-A3C7-2ED586A6AE47}"/>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115E7682-BEAE-437B-8780-F5016D6A2805}"/>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70308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5CC12D-03AC-4DB4-9D58-9D0DBC1479E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C51A0C4-5809-4033-8E3F-A8B0B43E338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26E71E-661E-4BC2-9C53-99F2F7DD9906}"/>
              </a:ext>
            </a:extLst>
          </p:cNvPr>
          <p:cNvSpPr>
            <a:spLocks noGrp="1"/>
          </p:cNvSpPr>
          <p:nvPr>
            <p:ph type="dt" sz="half" idx="10"/>
          </p:nvPr>
        </p:nvSpPr>
        <p:spPr/>
        <p:txBody>
          <a:bodyPr/>
          <a:lstStyle/>
          <a:p>
            <a:fld id="{CBD8E667-3B81-47E4-AB42-4B6B6071A2E3}" type="datetime1">
              <a:rPr lang="zh-CN" altLang="en-US" smtClean="0"/>
              <a:t>2024/5/2</a:t>
            </a:fld>
            <a:endParaRPr lang="zh-CN" altLang="en-US"/>
          </a:p>
        </p:txBody>
      </p:sp>
      <p:sp>
        <p:nvSpPr>
          <p:cNvPr id="5" name="页脚占位符 4">
            <a:extLst>
              <a:ext uri="{FF2B5EF4-FFF2-40B4-BE49-F238E27FC236}">
                <a16:creationId xmlns:a16="http://schemas.microsoft.com/office/drawing/2014/main" id="{1868A5A8-46D3-4E9C-AA2D-74555DDC5DD5}"/>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4BB1C9CF-9E8A-4283-A9AB-D7B2F8D9D20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82660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031604-5912-4115-B09C-86E853762C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C4E87EC-8BA5-438E-AAE0-E98A4D5D26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1A3949-B522-40E7-878E-BA86016C5F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865053-14B3-48EC-BC22-51B6118460A4}" type="datetime1">
              <a:rPr lang="zh-CN" altLang="en-US" smtClean="0"/>
              <a:t>2024/5/2</a:t>
            </a:fld>
            <a:endParaRPr lang="zh-CN" altLang="en-US"/>
          </a:p>
        </p:txBody>
      </p:sp>
      <p:sp>
        <p:nvSpPr>
          <p:cNvPr id="5" name="页脚占位符 4">
            <a:extLst>
              <a:ext uri="{FF2B5EF4-FFF2-40B4-BE49-F238E27FC236}">
                <a16:creationId xmlns:a16="http://schemas.microsoft.com/office/drawing/2014/main" id="{5EBAAADC-80B5-480B-9307-C10F894DFE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华东理工大学 罗勇军</a:t>
            </a:r>
          </a:p>
        </p:txBody>
      </p:sp>
      <p:sp>
        <p:nvSpPr>
          <p:cNvPr id="6" name="灯片编号占位符 5">
            <a:extLst>
              <a:ext uri="{FF2B5EF4-FFF2-40B4-BE49-F238E27FC236}">
                <a16:creationId xmlns:a16="http://schemas.microsoft.com/office/drawing/2014/main" id="{533DF350-80E3-4A4A-B02D-0BEF4B5C9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81472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Shopping.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Keywords%20Search.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99CD26-DE4A-4C5C-A434-7BEA4B7F630B}"/>
              </a:ext>
            </a:extLst>
          </p:cNvPr>
          <p:cNvSpPr>
            <a:spLocks noGrp="1"/>
          </p:cNvSpPr>
          <p:nvPr>
            <p:ph type="ctrTitle"/>
          </p:nvPr>
        </p:nvSpPr>
        <p:spPr/>
        <p:txBody>
          <a:bodyPr/>
          <a:lstStyle/>
          <a:p>
            <a:r>
              <a:rPr lang="en-US" altLang="zh-CN" sz="3600"/>
              <a:t>String</a:t>
            </a:r>
            <a:endParaRPr lang="zh-CN" altLang="en-US" sz="3600"/>
          </a:p>
        </p:txBody>
      </p:sp>
      <p:sp>
        <p:nvSpPr>
          <p:cNvPr id="3" name="副标题 2">
            <a:extLst>
              <a:ext uri="{FF2B5EF4-FFF2-40B4-BE49-F238E27FC236}">
                <a16:creationId xmlns:a16="http://schemas.microsoft.com/office/drawing/2014/main" id="{6CB23BCE-929C-4235-B6FF-239832128CDF}"/>
              </a:ext>
            </a:extLst>
          </p:cNvPr>
          <p:cNvSpPr>
            <a:spLocks noGrp="1"/>
          </p:cNvSpPr>
          <p:nvPr>
            <p:ph type="subTitle" idx="1"/>
          </p:nvPr>
        </p:nvSpPr>
        <p:spPr/>
        <p:txBody>
          <a:bodyPr/>
          <a:lstStyle/>
          <a:p>
            <a:r>
              <a:rPr lang="en-US" altLang="zh-CN"/>
              <a:t>Xu Yanyan</a:t>
            </a:r>
            <a:endParaRPr lang="zh-CN" altLang="en-US"/>
          </a:p>
        </p:txBody>
      </p:sp>
    </p:spTree>
    <p:extLst>
      <p:ext uri="{BB962C8B-B14F-4D97-AF65-F5344CB8AC3E}">
        <p14:creationId xmlns:p14="http://schemas.microsoft.com/office/powerpoint/2010/main" val="449864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000826-764B-4413-B3D1-01BA6D3D0640}"/>
              </a:ext>
            </a:extLst>
          </p:cNvPr>
          <p:cNvSpPr>
            <a:spLocks noGrp="1"/>
          </p:cNvSpPr>
          <p:nvPr>
            <p:ph type="title"/>
          </p:nvPr>
        </p:nvSpPr>
        <p:spPr/>
        <p:txBody>
          <a:bodyPr/>
          <a:lstStyle/>
          <a:p>
            <a:r>
              <a:rPr lang="en-US" altLang="zh-CN" sz="4400"/>
              <a:t>String</a:t>
            </a:r>
            <a:endParaRPr lang="zh-CN" altLang="en-US"/>
          </a:p>
        </p:txBody>
      </p:sp>
      <p:sp>
        <p:nvSpPr>
          <p:cNvPr id="3" name="内容占位符 2">
            <a:extLst>
              <a:ext uri="{FF2B5EF4-FFF2-40B4-BE49-F238E27FC236}">
                <a16:creationId xmlns:a16="http://schemas.microsoft.com/office/drawing/2014/main" id="{BC13EC4F-759E-486A-ADF7-743C44C376A1}"/>
              </a:ext>
            </a:extLst>
          </p:cNvPr>
          <p:cNvSpPr>
            <a:spLocks noGrp="1"/>
          </p:cNvSpPr>
          <p:nvPr>
            <p:ph idx="1"/>
          </p:nvPr>
        </p:nvSpPr>
        <p:spPr/>
        <p:txBody>
          <a:bodyPr/>
          <a:lstStyle/>
          <a:p>
            <a:r>
              <a:rPr lang="en-US" altLang="zh-CN" dirty="0">
                <a:solidFill>
                  <a:srgbClr val="FF0000"/>
                </a:solidFill>
              </a:rPr>
              <a:t>Commonly used string functions</a:t>
            </a:r>
          </a:p>
          <a:p>
            <a:r>
              <a:rPr lang="en-US" altLang="zh-CN" dirty="0">
                <a:solidFill>
                  <a:srgbClr val="FF0000"/>
                </a:solidFill>
              </a:rPr>
              <a:t>Hashing strings</a:t>
            </a:r>
          </a:p>
          <a:p>
            <a:r>
              <a:rPr lang="en-US" altLang="zh-CN" dirty="0" err="1">
                <a:solidFill>
                  <a:srgbClr val="FF0000"/>
                </a:solidFill>
              </a:rPr>
              <a:t>Trie</a:t>
            </a:r>
            <a:r>
              <a:rPr lang="en-US" altLang="zh-CN" dirty="0">
                <a:solidFill>
                  <a:srgbClr val="FF0000"/>
                </a:solidFill>
              </a:rPr>
              <a:t> (re</a:t>
            </a:r>
            <a:r>
              <a:rPr lang="en-US" altLang="zh-CN" dirty="0">
                <a:solidFill>
                  <a:srgbClr val="0000FF"/>
                </a:solidFill>
              </a:rPr>
              <a:t>trie</a:t>
            </a:r>
            <a:r>
              <a:rPr lang="en-US" altLang="zh-CN" dirty="0">
                <a:solidFill>
                  <a:srgbClr val="FF0000"/>
                </a:solidFill>
              </a:rPr>
              <a:t>val, digital tree or prefix tree)</a:t>
            </a:r>
          </a:p>
          <a:p>
            <a:r>
              <a:rPr lang="en-US" altLang="zh-CN" dirty="0">
                <a:solidFill>
                  <a:srgbClr val="FF0000"/>
                </a:solidFill>
              </a:rPr>
              <a:t>The KMP algorithm -&gt; BM </a:t>
            </a:r>
            <a:r>
              <a:rPr lang="en-US" altLang="zh-CN" b="1" dirty="0">
                <a:solidFill>
                  <a:srgbClr val="FF0000"/>
                </a:solidFill>
              </a:rPr>
              <a:t>(omitted)</a:t>
            </a:r>
          </a:p>
          <a:p>
            <a:r>
              <a:rPr lang="en-US" altLang="zh-CN" dirty="0">
                <a:solidFill>
                  <a:srgbClr val="FF0000"/>
                </a:solidFill>
              </a:rPr>
              <a:t>The </a:t>
            </a:r>
            <a:r>
              <a:rPr lang="en-US" altLang="zh-CN" dirty="0" err="1">
                <a:solidFill>
                  <a:srgbClr val="FF0000"/>
                </a:solidFill>
              </a:rPr>
              <a:t>Aho</a:t>
            </a:r>
            <a:r>
              <a:rPr lang="en-US" altLang="zh-CN" dirty="0">
                <a:solidFill>
                  <a:srgbClr val="FF0000"/>
                </a:solidFill>
              </a:rPr>
              <a:t>–</a:t>
            </a:r>
            <a:r>
              <a:rPr lang="en-US" altLang="zh-CN" dirty="0" err="1">
                <a:solidFill>
                  <a:srgbClr val="FF0000"/>
                </a:solidFill>
              </a:rPr>
              <a:t>Corasick</a:t>
            </a:r>
            <a:r>
              <a:rPr lang="en-US" altLang="zh-CN" dirty="0">
                <a:solidFill>
                  <a:srgbClr val="FF0000"/>
                </a:solidFill>
              </a:rPr>
              <a:t> algorithm</a:t>
            </a:r>
          </a:p>
          <a:p>
            <a:r>
              <a:rPr lang="en-US" altLang="zh-CN" dirty="0"/>
              <a:t>Suffix tree and suffix array (optional)</a:t>
            </a:r>
          </a:p>
          <a:p>
            <a:pPr lvl="1"/>
            <a:r>
              <a:rPr lang="en-US" altLang="zh-CN" dirty="0"/>
              <a:t>Solve most string problems: find substring, the longest repeated substring, the longest common substring, etc.</a:t>
            </a:r>
          </a:p>
        </p:txBody>
      </p:sp>
    </p:spTree>
    <p:extLst>
      <p:ext uri="{BB962C8B-B14F-4D97-AF65-F5344CB8AC3E}">
        <p14:creationId xmlns:p14="http://schemas.microsoft.com/office/powerpoint/2010/main" val="3957392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noChangeArrowheads="1"/>
          </p:cNvSpPr>
          <p:nvPr>
            <p:ph type="title"/>
          </p:nvPr>
        </p:nvSpPr>
        <p:spPr/>
        <p:txBody>
          <a:bodyPr/>
          <a:lstStyle/>
          <a:p>
            <a:r>
              <a:rPr lang="en-US" altLang="zh-CN">
                <a:solidFill>
                  <a:srgbClr val="FF0000"/>
                </a:solidFill>
              </a:rPr>
              <a:t>Commonly used string functions</a:t>
            </a:r>
            <a:endParaRPr lang="en-US" altLang="zh-CN" dirty="0">
              <a:solidFill>
                <a:srgbClr val="FF0000"/>
              </a:solidFill>
            </a:endParaRPr>
          </a:p>
        </p:txBody>
      </p:sp>
      <p:sp>
        <p:nvSpPr>
          <p:cNvPr id="19459" name="内容占位符 2"/>
          <p:cNvSpPr>
            <a:spLocks noGrp="1" noChangeArrowheads="1"/>
          </p:cNvSpPr>
          <p:nvPr>
            <p:ph idx="1"/>
          </p:nvPr>
        </p:nvSpPr>
        <p:spPr>
          <a:xfrm>
            <a:off x="2782888" y="1700214"/>
            <a:ext cx="7427912" cy="4249737"/>
          </a:xfrm>
        </p:spPr>
        <p:txBody>
          <a:bodyPr/>
          <a:lstStyle/>
          <a:p>
            <a:pPr marL="0" indent="0">
              <a:buNone/>
            </a:pPr>
            <a:r>
              <a:rPr lang="en-US" altLang="zh-CN"/>
              <a:t>Basic operations of strings:</a:t>
            </a:r>
          </a:p>
          <a:p>
            <a:pPr marL="0" indent="0">
              <a:buNone/>
            </a:pPr>
            <a:r>
              <a:rPr lang="en-US" altLang="zh-CN" b="1"/>
              <a:t>Read</a:t>
            </a:r>
          </a:p>
          <a:p>
            <a:pPr marL="0" indent="0">
              <a:buNone/>
            </a:pPr>
            <a:r>
              <a:rPr lang="en-US" altLang="zh-CN" b="1"/>
              <a:t>Find</a:t>
            </a:r>
          </a:p>
          <a:p>
            <a:pPr marL="0" indent="0">
              <a:buNone/>
            </a:pPr>
            <a:r>
              <a:rPr lang="en-US" altLang="zh-CN" b="1"/>
              <a:t>Replace</a:t>
            </a:r>
          </a:p>
          <a:p>
            <a:pPr marL="0" indent="0">
              <a:buNone/>
            </a:pPr>
            <a:r>
              <a:rPr lang="en-US" altLang="zh-CN" b="1"/>
              <a:t>Number and string conversion</a:t>
            </a:r>
          </a:p>
          <a:p>
            <a:pPr marL="0" indent="0">
              <a:buNone/>
            </a:pPr>
            <a:r>
              <a:rPr lang="en-US" altLang="zh-CN" b="1"/>
              <a:t>…</a:t>
            </a:r>
            <a:endParaRPr lang="zh-CN" altLang="en-US" b="1" dirty="0"/>
          </a:p>
          <a:p>
            <a:pPr marL="0" indent="0">
              <a:buNone/>
            </a:pPr>
            <a:endParaRPr lang="zh-CN" altLang="en-US" dirty="0"/>
          </a:p>
          <a:p>
            <a:pPr marL="0" indent="0">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noChangeArrowheads="1"/>
          </p:cNvSpPr>
          <p:nvPr>
            <p:ph type="title"/>
          </p:nvPr>
        </p:nvSpPr>
        <p:spPr/>
        <p:txBody>
          <a:bodyPr/>
          <a:lstStyle/>
          <a:p>
            <a:r>
              <a:rPr lang="en-US" altLang="zh-CN" sz="3600" dirty="0">
                <a:solidFill>
                  <a:srgbClr val="0070C0"/>
                </a:solidFill>
              </a:rPr>
              <a:t>C:</a:t>
            </a:r>
            <a:r>
              <a:rPr lang="zh-CN" altLang="en-US" sz="3600" dirty="0">
                <a:solidFill>
                  <a:srgbClr val="0070C0"/>
                </a:solidFill>
              </a:rPr>
              <a:t> </a:t>
            </a:r>
            <a:r>
              <a:rPr lang="en-US" altLang="zh-CN" sz="3600" dirty="0" err="1">
                <a:solidFill>
                  <a:srgbClr val="0070C0"/>
                </a:solidFill>
              </a:rPr>
              <a:t>getchar</a:t>
            </a:r>
            <a:r>
              <a:rPr lang="en-US" altLang="zh-CN" sz="3600" dirty="0">
                <a:solidFill>
                  <a:srgbClr val="0070C0"/>
                </a:solidFill>
              </a:rPr>
              <a:t>() &amp; gets()</a:t>
            </a:r>
            <a:r>
              <a:rPr lang="zh-CN" altLang="en-US" sz="3600" dirty="0">
                <a:solidFill>
                  <a:srgbClr val="0070C0"/>
                </a:solidFill>
              </a:rPr>
              <a:t>  </a:t>
            </a:r>
          </a:p>
        </p:txBody>
      </p:sp>
      <p:sp>
        <p:nvSpPr>
          <p:cNvPr id="20483" name="内容占位符 2"/>
          <p:cNvSpPr>
            <a:spLocks noGrp="1" noChangeArrowheads="1"/>
          </p:cNvSpPr>
          <p:nvPr>
            <p:ph idx="1"/>
          </p:nvPr>
        </p:nvSpPr>
        <p:spPr>
          <a:xfrm>
            <a:off x="2279576" y="1600201"/>
            <a:ext cx="7931224" cy="4525963"/>
          </a:xfrm>
        </p:spPr>
        <p:txBody>
          <a:bodyPr/>
          <a:lstStyle/>
          <a:p>
            <a:pPr marL="0" indent="0">
              <a:buNone/>
            </a:pPr>
            <a:r>
              <a:rPr lang="en-US" altLang="zh-CN"/>
              <a:t>Read</a:t>
            </a:r>
            <a:r>
              <a:rPr lang="zh-CN" altLang="en-US"/>
              <a:t> </a:t>
            </a:r>
            <a:r>
              <a:rPr lang="en-US" altLang="zh-CN"/>
              <a:t>a</a:t>
            </a:r>
            <a:r>
              <a:rPr lang="zh-CN" altLang="en-US"/>
              <a:t> </a:t>
            </a:r>
            <a:r>
              <a:rPr lang="en-US" altLang="zh-CN"/>
              <a:t>character:</a:t>
            </a:r>
            <a:endParaRPr lang="en-US" altLang="zh-CN" dirty="0"/>
          </a:p>
          <a:p>
            <a:pPr marL="400050" lvl="1" indent="0">
              <a:buNone/>
            </a:pPr>
            <a:r>
              <a:rPr lang="en-US" altLang="zh-CN" dirty="0">
                <a:latin typeface="Courier New" panose="02070309020205020404" pitchFamily="49" charset="0"/>
                <a:cs typeface="Courier New" panose="02070309020205020404" pitchFamily="49" charset="0"/>
              </a:rPr>
              <a:t>char ch1;</a:t>
            </a:r>
          </a:p>
          <a:p>
            <a:pPr marL="400050" lvl="1" indent="0">
              <a:buNone/>
            </a:pPr>
            <a:r>
              <a:rPr lang="en-US" altLang="zh-CN" dirty="0">
                <a:latin typeface="Courier New" panose="02070309020205020404" pitchFamily="49" charset="0"/>
                <a:cs typeface="Courier New" panose="02070309020205020404" pitchFamily="49" charset="0"/>
              </a:rPr>
              <a:t>ch1=</a:t>
            </a:r>
            <a:r>
              <a:rPr lang="en-US" altLang="zh-CN" dirty="0" err="1">
                <a:latin typeface="Courier New" panose="02070309020205020404" pitchFamily="49" charset="0"/>
                <a:cs typeface="Courier New" panose="02070309020205020404" pitchFamily="49" charset="0"/>
              </a:rPr>
              <a:t>getchar</a:t>
            </a:r>
            <a:r>
              <a:rPr lang="en-US" altLang="zh-CN" dirty="0">
                <a:latin typeface="Courier New" panose="02070309020205020404" pitchFamily="49" charset="0"/>
                <a:cs typeface="Courier New" panose="02070309020205020404" pitchFamily="49" charset="0"/>
              </a:rPr>
              <a:t>();</a:t>
            </a:r>
          </a:p>
          <a:p>
            <a:pPr marL="400050" lvl="1" indent="0">
              <a:buNone/>
            </a:pPr>
            <a:endParaRPr lang="en-US" altLang="zh-CN" dirty="0"/>
          </a:p>
          <a:p>
            <a:pPr marL="0" indent="0">
              <a:buNone/>
            </a:pPr>
            <a:r>
              <a:rPr lang="en-US" altLang="zh-CN"/>
              <a:t>Read</a:t>
            </a:r>
            <a:r>
              <a:rPr lang="zh-CN" altLang="en-US"/>
              <a:t> </a:t>
            </a:r>
            <a:r>
              <a:rPr lang="en-US" altLang="zh-CN"/>
              <a:t>a</a:t>
            </a:r>
            <a:r>
              <a:rPr lang="zh-CN" altLang="en-US"/>
              <a:t> </a:t>
            </a:r>
            <a:r>
              <a:rPr lang="en-US" altLang="zh-CN"/>
              <a:t>string:</a:t>
            </a:r>
            <a:endParaRPr lang="en-US" altLang="zh-CN" dirty="0"/>
          </a:p>
          <a:p>
            <a:pPr marL="400050" lvl="1" indent="0">
              <a:buNone/>
            </a:pPr>
            <a:r>
              <a:rPr lang="en-US" altLang="zh-CN" dirty="0">
                <a:latin typeface="Courier New" panose="02070309020205020404" pitchFamily="49" charset="0"/>
                <a:cs typeface="Courier New" panose="02070309020205020404" pitchFamily="49" charset="0"/>
              </a:rPr>
              <a:t>char str[1002];</a:t>
            </a:r>
          </a:p>
          <a:p>
            <a:pPr marL="400050" lvl="1" indent="0">
              <a:buNone/>
            </a:pPr>
            <a:r>
              <a:rPr lang="en-US" altLang="zh-CN" dirty="0">
                <a:latin typeface="Courier New" panose="02070309020205020404" pitchFamily="49" charset="0"/>
                <a:cs typeface="Courier New" panose="02070309020205020404" pitchFamily="49" charset="0"/>
              </a:rPr>
              <a:t>gets(str);</a:t>
            </a:r>
          </a:p>
          <a:p>
            <a:pPr marL="400050" lvl="1" indent="0">
              <a:buNone/>
            </a:pP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noChangeArrowheads="1"/>
          </p:cNvSpPr>
          <p:nvPr>
            <p:ph type="title"/>
          </p:nvPr>
        </p:nvSpPr>
        <p:spPr>
          <a:xfrm>
            <a:off x="1981200" y="83765"/>
            <a:ext cx="8229600" cy="648073"/>
          </a:xfrm>
        </p:spPr>
        <p:txBody>
          <a:bodyPr/>
          <a:lstStyle/>
          <a:p>
            <a:r>
              <a:rPr lang="en-US" altLang="zh-CN" sz="3600" dirty="0">
                <a:solidFill>
                  <a:srgbClr val="0070C0"/>
                </a:solidFill>
              </a:rPr>
              <a:t>C++ string</a:t>
            </a:r>
            <a:endParaRPr lang="zh-CN" altLang="en-US" sz="3600" dirty="0">
              <a:solidFill>
                <a:srgbClr val="0070C0"/>
              </a:solidFill>
            </a:endParaRPr>
          </a:p>
        </p:txBody>
      </p:sp>
      <p:sp>
        <p:nvSpPr>
          <p:cNvPr id="21507" name="内容占位符 2"/>
          <p:cNvSpPr>
            <a:spLocks noGrp="1" noChangeArrowheads="1"/>
          </p:cNvSpPr>
          <p:nvPr>
            <p:ph idx="1"/>
          </p:nvPr>
        </p:nvSpPr>
        <p:spPr>
          <a:xfrm>
            <a:off x="1981200" y="836712"/>
            <a:ext cx="8435280" cy="5937524"/>
          </a:xfrm>
        </p:spPr>
        <p:txBody>
          <a:bodyPr/>
          <a:lstStyle/>
          <a:p>
            <a:pPr marL="0" indent="0">
              <a:buNone/>
            </a:pPr>
            <a:r>
              <a:rPr lang="en-US" altLang="zh-CN" dirty="0">
                <a:solidFill>
                  <a:srgbClr val="FF0000"/>
                </a:solidFill>
              </a:rPr>
              <a:t>Read a string and replace all "you" with "we”.</a:t>
            </a:r>
          </a:p>
          <a:p>
            <a:pPr marL="400050" lvl="1" indent="0">
              <a:buNone/>
            </a:pPr>
            <a:r>
              <a:rPr lang="en-US" altLang="zh-CN" dirty="0">
                <a:latin typeface="Courier New" panose="02070309020205020404" pitchFamily="49" charset="0"/>
                <a:cs typeface="Courier New" panose="02070309020205020404" pitchFamily="49" charset="0"/>
              </a:rPr>
              <a:t>#include&lt;bits/</a:t>
            </a:r>
            <a:r>
              <a:rPr lang="en-US" altLang="zh-CN" dirty="0" err="1">
                <a:latin typeface="Courier New" panose="02070309020205020404" pitchFamily="49" charset="0"/>
                <a:cs typeface="Courier New" panose="02070309020205020404" pitchFamily="49" charset="0"/>
              </a:rPr>
              <a:t>stdc</a:t>
            </a:r>
            <a:r>
              <a:rPr lang="en-US" altLang="zh-CN" dirty="0">
                <a:latin typeface="Courier New" panose="02070309020205020404" pitchFamily="49" charset="0"/>
                <a:cs typeface="Courier New" panose="02070309020205020404" pitchFamily="49" charset="0"/>
              </a:rPr>
              <a:t>++.h&gt;</a:t>
            </a:r>
          </a:p>
          <a:p>
            <a:pPr marL="400050" lvl="1" indent="0">
              <a:buNone/>
            </a:pPr>
            <a:r>
              <a:rPr lang="en-US" altLang="zh-CN" dirty="0">
                <a:latin typeface="Courier New" panose="02070309020205020404" pitchFamily="49" charset="0"/>
                <a:cs typeface="Courier New" panose="02070309020205020404" pitchFamily="49" charset="0"/>
              </a:rPr>
              <a:t>using namespace std;</a:t>
            </a:r>
          </a:p>
          <a:p>
            <a:pPr marL="400050" lvl="1" indent="0">
              <a:buNone/>
            </a:pPr>
            <a:r>
              <a:rPr lang="en-US" altLang="zh-CN" dirty="0">
                <a:latin typeface="Courier New" panose="02070309020205020404" pitchFamily="49" charset="0"/>
                <a:cs typeface="Courier New" panose="02070309020205020404" pitchFamily="49" charset="0"/>
              </a:rPr>
              <a:t>int main(){</a:t>
            </a:r>
          </a:p>
          <a:p>
            <a:pPr marL="400050" lvl="1" indent="0">
              <a:buNone/>
            </a:pPr>
            <a:r>
              <a:rPr lang="en-US" altLang="zh-CN" dirty="0">
                <a:latin typeface="Courier New" panose="02070309020205020404" pitchFamily="49" charset="0"/>
                <a:cs typeface="Courier New" panose="02070309020205020404" pitchFamily="49" charset="0"/>
              </a:rPr>
              <a:t>    </a:t>
            </a:r>
            <a:r>
              <a:rPr lang="en-US" altLang="zh-CN" dirty="0">
                <a:solidFill>
                  <a:srgbClr val="FF0000"/>
                </a:solidFill>
                <a:latin typeface="Courier New" panose="02070309020205020404" pitchFamily="49" charset="0"/>
                <a:cs typeface="Courier New" panose="02070309020205020404" pitchFamily="49" charset="0"/>
              </a:rPr>
              <a:t>string</a:t>
            </a:r>
            <a:r>
              <a:rPr lang="en-US" altLang="zh-CN" dirty="0">
                <a:latin typeface="Courier New" panose="02070309020205020404" pitchFamily="49" charset="0"/>
                <a:cs typeface="Courier New" panose="02070309020205020404" pitchFamily="49" charset="0"/>
              </a:rPr>
              <a:t> str;</a:t>
            </a:r>
          </a:p>
          <a:p>
            <a:pPr marL="400050" lvl="1" indent="0">
              <a:buNone/>
            </a:pPr>
            <a:r>
              <a:rPr lang="en-US" altLang="zh-CN" dirty="0">
                <a:latin typeface="Courier New" panose="02070309020205020404" pitchFamily="49" charset="0"/>
                <a:cs typeface="Courier New" panose="02070309020205020404" pitchFamily="49" charset="0"/>
              </a:rPr>
              <a:t>    int pos;</a:t>
            </a:r>
          </a:p>
          <a:p>
            <a:pPr marL="400050" lvl="1" indent="0">
              <a:buNone/>
            </a:pPr>
            <a:r>
              <a:rPr lang="en-US" altLang="zh-CN" dirty="0">
                <a:latin typeface="Courier New" panose="02070309020205020404" pitchFamily="49" charset="0"/>
                <a:cs typeface="Courier New" panose="02070309020205020404" pitchFamily="49" charset="0"/>
              </a:rPr>
              <a:t>    while(</a:t>
            </a:r>
            <a:r>
              <a:rPr lang="en-US" altLang="zh-CN" dirty="0" err="1">
                <a:solidFill>
                  <a:srgbClr val="FF0000"/>
                </a:solidFill>
                <a:latin typeface="Courier New" panose="02070309020205020404" pitchFamily="49" charset="0"/>
                <a:cs typeface="Courier New" panose="02070309020205020404" pitchFamily="49" charset="0"/>
              </a:rPr>
              <a:t>getline</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cin</a:t>
            </a:r>
            <a:r>
              <a:rPr lang="en-US" altLang="zh-CN" dirty="0">
                <a:latin typeface="Courier New" panose="02070309020205020404" pitchFamily="49" charset="0"/>
                <a:cs typeface="Courier New" panose="02070309020205020404" pitchFamily="49" charset="0"/>
              </a:rPr>
              <a:t>, str)){</a:t>
            </a:r>
          </a:p>
          <a:p>
            <a:pPr marL="400050" lvl="1" indent="0">
              <a:buNone/>
            </a:pPr>
            <a:r>
              <a:rPr lang="en-US" altLang="zh-CN" dirty="0">
                <a:latin typeface="Courier New" panose="02070309020205020404" pitchFamily="49" charset="0"/>
                <a:cs typeface="Courier New" panose="02070309020205020404" pitchFamily="49" charset="0"/>
              </a:rPr>
              <a:t>        while((pos=</a:t>
            </a:r>
            <a:r>
              <a:rPr lang="en-US" altLang="zh-CN" dirty="0" err="1">
                <a:latin typeface="Courier New" panose="02070309020205020404" pitchFamily="49" charset="0"/>
                <a:cs typeface="Courier New" panose="02070309020205020404" pitchFamily="49" charset="0"/>
              </a:rPr>
              <a:t>str.</a:t>
            </a:r>
            <a:r>
              <a:rPr lang="en-US" altLang="zh-CN" dirty="0" err="1">
                <a:solidFill>
                  <a:srgbClr val="FF0000"/>
                </a:solidFill>
                <a:latin typeface="Courier New" panose="02070309020205020404" pitchFamily="49" charset="0"/>
                <a:cs typeface="Courier New" panose="02070309020205020404" pitchFamily="49" charset="0"/>
              </a:rPr>
              <a:t>find</a:t>
            </a:r>
            <a:r>
              <a:rPr lang="en-US" altLang="zh-CN" dirty="0">
                <a:latin typeface="Courier New" panose="02070309020205020404" pitchFamily="49" charset="0"/>
                <a:cs typeface="Courier New" panose="02070309020205020404" pitchFamily="49" charset="0"/>
              </a:rPr>
              <a:t>("you")) != -1)</a:t>
            </a:r>
          </a:p>
          <a:p>
            <a:pPr marL="400050" lvl="1" indent="0">
              <a:buNone/>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str.</a:t>
            </a:r>
            <a:r>
              <a:rPr lang="en-US" altLang="zh-CN" dirty="0" err="1">
                <a:solidFill>
                  <a:srgbClr val="FF0000"/>
                </a:solidFill>
                <a:latin typeface="Courier New" panose="02070309020205020404" pitchFamily="49" charset="0"/>
                <a:cs typeface="Courier New" panose="02070309020205020404" pitchFamily="49" charset="0"/>
              </a:rPr>
              <a:t>replace</a:t>
            </a:r>
            <a:r>
              <a:rPr lang="en-US" altLang="zh-CN" dirty="0">
                <a:latin typeface="Courier New" panose="02070309020205020404" pitchFamily="49" charset="0"/>
                <a:cs typeface="Courier New" panose="02070309020205020404" pitchFamily="49" charset="0"/>
              </a:rPr>
              <a:t>(pos, 3, "we");</a:t>
            </a:r>
          </a:p>
          <a:p>
            <a:pPr marL="400050" lvl="1" indent="0">
              <a:buNone/>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cout</a:t>
            </a:r>
            <a:r>
              <a:rPr lang="en-US" altLang="zh-CN" dirty="0">
                <a:latin typeface="Courier New" panose="02070309020205020404" pitchFamily="49" charset="0"/>
                <a:cs typeface="Courier New" panose="02070309020205020404" pitchFamily="49" charset="0"/>
              </a:rPr>
              <a:t>&lt;&lt;str&lt;&lt;</a:t>
            </a:r>
            <a:r>
              <a:rPr lang="en-US" altLang="zh-CN" dirty="0" err="1">
                <a:latin typeface="Courier New" panose="02070309020205020404" pitchFamily="49" charset="0"/>
                <a:cs typeface="Courier New" panose="02070309020205020404" pitchFamily="49" charset="0"/>
              </a:rPr>
              <a:t>endl</a:t>
            </a:r>
            <a:r>
              <a:rPr lang="en-US" altLang="zh-CN" dirty="0">
                <a:latin typeface="Courier New" panose="02070309020205020404" pitchFamily="49" charset="0"/>
                <a:cs typeface="Courier New" panose="02070309020205020404" pitchFamily="49" charset="0"/>
              </a:rPr>
              <a:t>;</a:t>
            </a:r>
          </a:p>
          <a:p>
            <a:pPr marL="400050" lvl="1" indent="0">
              <a:buNone/>
            </a:pPr>
            <a:r>
              <a:rPr lang="en-US" altLang="zh-CN" dirty="0">
                <a:latin typeface="Courier New" panose="02070309020205020404" pitchFamily="49" charset="0"/>
                <a:cs typeface="Courier New" panose="02070309020205020404" pitchFamily="49" charset="0"/>
              </a:rPr>
              <a:t>    }</a:t>
            </a:r>
          </a:p>
          <a:p>
            <a:pPr marL="400050" lvl="1" indent="0">
              <a:buNone/>
            </a:pPr>
            <a:r>
              <a:rPr lang="en-US" altLang="zh-CN" dirty="0">
                <a:latin typeface="Courier New" panose="02070309020205020404" pitchFamily="49" charset="0"/>
                <a:cs typeface="Courier New" panose="02070309020205020404" pitchFamily="49" charset="0"/>
              </a:rPr>
              <a:t>    return 0;</a:t>
            </a:r>
          </a:p>
          <a:p>
            <a:pPr marL="400050" lvl="1" indent="0">
              <a:buNone/>
            </a:pPr>
            <a:r>
              <a:rPr lang="en-US" altLang="zh-CN" dirty="0">
                <a:latin typeface="Courier New" panose="02070309020205020404" pitchFamily="49" charset="0"/>
                <a:cs typeface="Courier New" panose="02070309020205020404" pitchFamily="49"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4B565B-6445-4FB2-8D08-032FB3952266}"/>
              </a:ext>
            </a:extLst>
          </p:cNvPr>
          <p:cNvSpPr>
            <a:spLocks noGrp="1"/>
          </p:cNvSpPr>
          <p:nvPr>
            <p:ph type="title"/>
          </p:nvPr>
        </p:nvSpPr>
        <p:spPr/>
        <p:txBody>
          <a:bodyPr/>
          <a:lstStyle/>
          <a:p>
            <a:r>
              <a:rPr lang="en-US" altLang="zh-CN" dirty="0">
                <a:solidFill>
                  <a:srgbClr val="0070C0"/>
                </a:solidFill>
              </a:rPr>
              <a:t>int to string</a:t>
            </a:r>
            <a:endParaRPr lang="zh-CN" altLang="en-US" dirty="0">
              <a:solidFill>
                <a:srgbClr val="0070C0"/>
              </a:solidFill>
            </a:endParaRPr>
          </a:p>
        </p:txBody>
      </p:sp>
      <p:sp>
        <p:nvSpPr>
          <p:cNvPr id="3" name="内容占位符 2">
            <a:extLst>
              <a:ext uri="{FF2B5EF4-FFF2-40B4-BE49-F238E27FC236}">
                <a16:creationId xmlns:a16="http://schemas.microsoft.com/office/drawing/2014/main" id="{1A9D25C1-7F3E-4549-B4E1-B62F91358547}"/>
              </a:ext>
            </a:extLst>
          </p:cNvPr>
          <p:cNvSpPr>
            <a:spLocks noGrp="1"/>
          </p:cNvSpPr>
          <p:nvPr>
            <p:ph idx="1"/>
          </p:nvPr>
        </p:nvSpPr>
        <p:spPr/>
        <p:txBody>
          <a:bodyPr/>
          <a:lstStyle/>
          <a:p>
            <a:r>
              <a:rPr lang="en-US" altLang="zh-CN" dirty="0" err="1"/>
              <a:t>sprintf</a:t>
            </a:r>
            <a:r>
              <a:rPr lang="en-US" altLang="zh-CN" dirty="0"/>
              <a:t>           &lt;</a:t>
            </a:r>
            <a:r>
              <a:rPr lang="en-US" altLang="zh-CN" dirty="0" err="1"/>
              <a:t>cstdio</a:t>
            </a:r>
            <a:r>
              <a:rPr lang="en-US" altLang="zh-CN" dirty="0"/>
              <a:t>&gt;   </a:t>
            </a:r>
          </a:p>
          <a:p>
            <a:r>
              <a:rPr lang="en-US" altLang="zh-CN" dirty="0" err="1"/>
              <a:t>to_string</a:t>
            </a:r>
            <a:r>
              <a:rPr lang="en-US" altLang="zh-CN" dirty="0"/>
              <a:t>       &lt;string&gt;</a:t>
            </a:r>
          </a:p>
          <a:p>
            <a:r>
              <a:rPr lang="en-US" altLang="zh-CN" dirty="0" err="1"/>
              <a:t>stringstream</a:t>
            </a:r>
            <a:r>
              <a:rPr lang="en-US" altLang="zh-CN" dirty="0"/>
              <a:t> &lt;</a:t>
            </a:r>
            <a:r>
              <a:rPr lang="en-US" altLang="zh-CN" dirty="0" err="1"/>
              <a:t>sstream</a:t>
            </a:r>
            <a:r>
              <a:rPr lang="en-US" altLang="zh-CN" dirty="0"/>
              <a:t>&gt;</a:t>
            </a:r>
          </a:p>
          <a:p>
            <a:r>
              <a:rPr lang="en-US" altLang="zh-CN" dirty="0" err="1"/>
              <a:t>to_chars</a:t>
            </a:r>
            <a:r>
              <a:rPr lang="en-US" altLang="zh-CN" dirty="0"/>
              <a:t>        &lt;</a:t>
            </a:r>
            <a:r>
              <a:rPr lang="en-US" altLang="zh-CN" dirty="0" err="1"/>
              <a:t>charconv</a:t>
            </a:r>
            <a:r>
              <a:rPr lang="en-US" altLang="zh-CN" dirty="0"/>
              <a:t>&gt; C++17</a:t>
            </a:r>
            <a:endParaRPr lang="zh-CN" altLang="en-US" dirty="0"/>
          </a:p>
        </p:txBody>
      </p:sp>
    </p:spTree>
    <p:extLst>
      <p:ext uri="{BB962C8B-B14F-4D97-AF65-F5344CB8AC3E}">
        <p14:creationId xmlns:p14="http://schemas.microsoft.com/office/powerpoint/2010/main" val="2462758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93069F8-56CF-440E-A19C-168BB97C68DC}"/>
              </a:ext>
            </a:extLst>
          </p:cNvPr>
          <p:cNvSpPr>
            <a:spLocks noGrp="1"/>
          </p:cNvSpPr>
          <p:nvPr>
            <p:ph idx="1"/>
          </p:nvPr>
        </p:nvSpPr>
        <p:spPr>
          <a:xfrm>
            <a:off x="838200" y="577049"/>
            <a:ext cx="10515600" cy="5599914"/>
          </a:xfrm>
        </p:spPr>
        <p:txBody>
          <a:bodyPr/>
          <a:lstStyle/>
          <a:p>
            <a:pPr marL="0" indent="0">
              <a:buNone/>
            </a:pPr>
            <a:r>
              <a:rPr lang="en-US" altLang="zh-CN" dirty="0"/>
              <a:t>/* </a:t>
            </a:r>
            <a:r>
              <a:rPr lang="en-US" altLang="zh-CN" dirty="0" err="1"/>
              <a:t>sprintf</a:t>
            </a:r>
            <a:r>
              <a:rPr lang="en-US" altLang="zh-CN" dirty="0"/>
              <a:t> example */</a:t>
            </a:r>
          </a:p>
          <a:p>
            <a:pPr marL="0" indent="0">
              <a:buNone/>
            </a:pPr>
            <a:r>
              <a:rPr lang="en-US" altLang="zh-CN" dirty="0"/>
              <a:t>#include &lt;</a:t>
            </a:r>
            <a:r>
              <a:rPr lang="en-US" altLang="zh-CN" dirty="0" err="1"/>
              <a:t>stdio.h</a:t>
            </a:r>
            <a:r>
              <a:rPr lang="en-US" altLang="zh-CN" dirty="0"/>
              <a:t>&gt;</a:t>
            </a:r>
          </a:p>
          <a:p>
            <a:pPr marL="0" indent="0">
              <a:buNone/>
            </a:pPr>
            <a:endParaRPr lang="en-US" altLang="zh-CN" dirty="0"/>
          </a:p>
          <a:p>
            <a:pPr marL="0" indent="0">
              <a:buNone/>
            </a:pPr>
            <a:r>
              <a:rPr lang="en-US" altLang="zh-CN" dirty="0"/>
              <a:t>int main ()</a:t>
            </a:r>
          </a:p>
          <a:p>
            <a:pPr marL="0" indent="0">
              <a:buNone/>
            </a:pPr>
            <a:r>
              <a:rPr lang="en-US" altLang="zh-CN" dirty="0"/>
              <a:t>{</a:t>
            </a:r>
          </a:p>
          <a:p>
            <a:pPr marL="0" indent="0">
              <a:buNone/>
            </a:pPr>
            <a:r>
              <a:rPr lang="en-US" altLang="zh-CN" dirty="0"/>
              <a:t>  char buffer [50];</a:t>
            </a:r>
          </a:p>
          <a:p>
            <a:pPr marL="0" indent="0">
              <a:buNone/>
            </a:pPr>
            <a:r>
              <a:rPr lang="en-US" altLang="zh-CN" dirty="0"/>
              <a:t>  int n, a=5, b=3;</a:t>
            </a:r>
          </a:p>
          <a:p>
            <a:pPr marL="0" indent="0">
              <a:buNone/>
            </a:pPr>
            <a:r>
              <a:rPr lang="en-US" altLang="zh-CN" dirty="0"/>
              <a:t>  n=</a:t>
            </a:r>
            <a:r>
              <a:rPr lang="en-US" altLang="zh-CN" dirty="0" err="1"/>
              <a:t>sprintf</a:t>
            </a:r>
            <a:r>
              <a:rPr lang="en-US" altLang="zh-CN" dirty="0"/>
              <a:t> (buffer, "%d plus %d is %d", a, b, </a:t>
            </a:r>
            <a:r>
              <a:rPr lang="en-US" altLang="zh-CN" dirty="0" err="1"/>
              <a:t>a+b</a:t>
            </a:r>
            <a:r>
              <a:rPr lang="en-US" altLang="zh-CN" dirty="0"/>
              <a:t>);</a:t>
            </a:r>
          </a:p>
          <a:p>
            <a:pPr marL="0" indent="0">
              <a:buNone/>
            </a:pPr>
            <a:r>
              <a:rPr lang="en-US" altLang="zh-CN" dirty="0"/>
              <a:t>  </a:t>
            </a:r>
            <a:r>
              <a:rPr lang="en-US" altLang="zh-CN" dirty="0" err="1"/>
              <a:t>printf</a:t>
            </a:r>
            <a:r>
              <a:rPr lang="en-US" altLang="zh-CN" dirty="0"/>
              <a:t> ("[%s] is a string %d chars long\n",</a:t>
            </a:r>
            <a:r>
              <a:rPr lang="en-US" altLang="zh-CN" dirty="0" err="1"/>
              <a:t>buffer,n</a:t>
            </a:r>
            <a:r>
              <a:rPr lang="en-US" altLang="zh-CN" dirty="0"/>
              <a:t>);</a:t>
            </a:r>
          </a:p>
          <a:p>
            <a:pPr marL="0" indent="0">
              <a:buNone/>
            </a:pPr>
            <a:r>
              <a:rPr lang="en-US" altLang="zh-CN" dirty="0"/>
              <a:t>  return 0;</a:t>
            </a:r>
          </a:p>
          <a:p>
            <a:pPr marL="0" indent="0">
              <a:buNone/>
            </a:pPr>
            <a:r>
              <a:rPr lang="en-US" altLang="zh-CN" dirty="0"/>
              <a:t>}</a:t>
            </a:r>
            <a:endParaRPr lang="zh-CN" altLang="en-US" dirty="0"/>
          </a:p>
        </p:txBody>
      </p:sp>
    </p:spTree>
    <p:extLst>
      <p:ext uri="{BB962C8B-B14F-4D97-AF65-F5344CB8AC3E}">
        <p14:creationId xmlns:p14="http://schemas.microsoft.com/office/powerpoint/2010/main" val="1535560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2585C15-3013-4272-AF4A-CE3F781D960D}"/>
              </a:ext>
            </a:extLst>
          </p:cNvPr>
          <p:cNvSpPr>
            <a:spLocks noGrp="1"/>
          </p:cNvSpPr>
          <p:nvPr>
            <p:ph idx="1"/>
          </p:nvPr>
        </p:nvSpPr>
        <p:spPr>
          <a:xfrm>
            <a:off x="838200" y="665825"/>
            <a:ext cx="10515600" cy="5511138"/>
          </a:xfrm>
        </p:spPr>
        <p:txBody>
          <a:bodyPr>
            <a:normAutofit fontScale="92500" lnSpcReduction="20000"/>
          </a:bodyPr>
          <a:lstStyle/>
          <a:p>
            <a:pPr marL="0" indent="0">
              <a:buNone/>
            </a:pPr>
            <a:r>
              <a:rPr lang="en-US" altLang="zh-CN" dirty="0"/>
              <a:t>// </a:t>
            </a:r>
            <a:r>
              <a:rPr lang="en-US" altLang="zh-CN" dirty="0" err="1"/>
              <a:t>to_string</a:t>
            </a:r>
            <a:r>
              <a:rPr lang="en-US" altLang="zh-CN" dirty="0"/>
              <a:t> example</a:t>
            </a:r>
          </a:p>
          <a:p>
            <a:pPr marL="0" indent="0">
              <a:buNone/>
            </a:pPr>
            <a:r>
              <a:rPr lang="en-US" altLang="zh-CN" dirty="0"/>
              <a:t>#include &lt;iostream&gt;   // std::</a:t>
            </a:r>
            <a:r>
              <a:rPr lang="en-US" altLang="zh-CN" dirty="0" err="1"/>
              <a:t>cout</a:t>
            </a:r>
            <a:endParaRPr lang="en-US" altLang="zh-CN" dirty="0"/>
          </a:p>
          <a:p>
            <a:pPr marL="0" indent="0">
              <a:buNone/>
            </a:pPr>
            <a:r>
              <a:rPr lang="en-US" altLang="zh-CN" dirty="0"/>
              <a:t>#include &lt;string&gt;     // std::string, std::</a:t>
            </a:r>
            <a:r>
              <a:rPr lang="en-US" altLang="zh-CN" dirty="0" err="1"/>
              <a:t>to_string</a:t>
            </a:r>
            <a:endParaRPr lang="en-US" altLang="zh-CN" dirty="0"/>
          </a:p>
          <a:p>
            <a:pPr marL="0" indent="0">
              <a:buNone/>
            </a:pPr>
            <a:endParaRPr lang="en-US" altLang="zh-CN" dirty="0"/>
          </a:p>
          <a:p>
            <a:pPr marL="0" indent="0">
              <a:buNone/>
            </a:pPr>
            <a:r>
              <a:rPr lang="en-US" altLang="zh-CN" dirty="0"/>
              <a:t>int main ()</a:t>
            </a:r>
          </a:p>
          <a:p>
            <a:pPr marL="0" indent="0">
              <a:buNone/>
            </a:pPr>
            <a:r>
              <a:rPr lang="en-US" altLang="zh-CN" dirty="0"/>
              <a:t>{</a:t>
            </a:r>
          </a:p>
          <a:p>
            <a:pPr marL="0" indent="0">
              <a:buNone/>
            </a:pPr>
            <a:r>
              <a:rPr lang="en-US" altLang="zh-CN" dirty="0"/>
              <a:t>  std::string pi = "pi is " + std::</a:t>
            </a:r>
            <a:r>
              <a:rPr lang="en-US" altLang="zh-CN" dirty="0" err="1"/>
              <a:t>to_string</a:t>
            </a:r>
            <a:r>
              <a:rPr lang="en-US" altLang="zh-CN" dirty="0"/>
              <a:t>(3.1415926);</a:t>
            </a:r>
          </a:p>
          <a:p>
            <a:pPr marL="0" indent="0">
              <a:buNone/>
            </a:pPr>
            <a:r>
              <a:rPr lang="en-US" altLang="zh-CN" dirty="0"/>
              <a:t>  std::string perfect = std::</a:t>
            </a:r>
            <a:r>
              <a:rPr lang="en-US" altLang="zh-CN" dirty="0" err="1"/>
              <a:t>to_string</a:t>
            </a:r>
            <a:r>
              <a:rPr lang="en-US" altLang="zh-CN" dirty="0"/>
              <a:t>(1+2+4+7+14) + " is a perfect number";</a:t>
            </a:r>
          </a:p>
          <a:p>
            <a:pPr marL="0" indent="0">
              <a:buNone/>
            </a:pPr>
            <a:r>
              <a:rPr lang="en-US" altLang="zh-CN" dirty="0"/>
              <a:t>  std::</a:t>
            </a:r>
            <a:r>
              <a:rPr lang="en-US" altLang="zh-CN" dirty="0" err="1"/>
              <a:t>cout</a:t>
            </a:r>
            <a:r>
              <a:rPr lang="en-US" altLang="zh-CN" dirty="0"/>
              <a:t> &lt;&lt; pi &lt;&lt; '\n';</a:t>
            </a:r>
          </a:p>
          <a:p>
            <a:pPr marL="0" indent="0">
              <a:buNone/>
            </a:pPr>
            <a:r>
              <a:rPr lang="en-US" altLang="zh-CN" dirty="0"/>
              <a:t>  std::</a:t>
            </a:r>
            <a:r>
              <a:rPr lang="en-US" altLang="zh-CN" dirty="0" err="1"/>
              <a:t>cout</a:t>
            </a:r>
            <a:r>
              <a:rPr lang="en-US" altLang="zh-CN" dirty="0"/>
              <a:t> &lt;&lt; perfect &lt;&lt; '\n';</a:t>
            </a:r>
          </a:p>
          <a:p>
            <a:pPr marL="0" indent="0">
              <a:buNone/>
            </a:pPr>
            <a:r>
              <a:rPr lang="en-US" altLang="zh-CN" dirty="0"/>
              <a:t>  return 0;</a:t>
            </a:r>
          </a:p>
          <a:p>
            <a:pPr marL="0" indent="0">
              <a:buNone/>
            </a:pPr>
            <a:r>
              <a:rPr lang="en-US" altLang="zh-CN" dirty="0"/>
              <a:t>}</a:t>
            </a:r>
            <a:endParaRPr lang="zh-CN" altLang="en-US" dirty="0"/>
          </a:p>
        </p:txBody>
      </p:sp>
    </p:spTree>
    <p:extLst>
      <p:ext uri="{BB962C8B-B14F-4D97-AF65-F5344CB8AC3E}">
        <p14:creationId xmlns:p14="http://schemas.microsoft.com/office/powerpoint/2010/main" val="120887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F086E63-46DC-4E3E-A6CB-60E72094E6F3}"/>
              </a:ext>
            </a:extLst>
          </p:cNvPr>
          <p:cNvSpPr>
            <a:spLocks noGrp="1"/>
          </p:cNvSpPr>
          <p:nvPr>
            <p:ph idx="1"/>
          </p:nvPr>
        </p:nvSpPr>
        <p:spPr>
          <a:xfrm>
            <a:off x="838200" y="479394"/>
            <a:ext cx="10515600" cy="5697569"/>
          </a:xfrm>
        </p:spPr>
        <p:txBody>
          <a:bodyPr>
            <a:noAutofit/>
          </a:bodyPr>
          <a:lstStyle/>
          <a:p>
            <a:pPr marL="0" indent="0">
              <a:buNone/>
            </a:pPr>
            <a:r>
              <a:rPr lang="en-US" altLang="zh-CN" sz="1600" dirty="0"/>
              <a:t>#include&lt;iostream&gt;</a:t>
            </a:r>
          </a:p>
          <a:p>
            <a:pPr marL="0" indent="0">
              <a:buNone/>
            </a:pPr>
            <a:r>
              <a:rPr lang="en-US" altLang="zh-CN" sz="1600" dirty="0"/>
              <a:t>#include&lt;sstream&gt;</a:t>
            </a:r>
          </a:p>
          <a:p>
            <a:pPr marL="0" indent="0">
              <a:buNone/>
            </a:pPr>
            <a:r>
              <a:rPr lang="en-US" altLang="zh-CN" sz="1600" dirty="0"/>
              <a:t>using namespace std;</a:t>
            </a:r>
          </a:p>
          <a:p>
            <a:pPr marL="0" indent="0">
              <a:buNone/>
            </a:pPr>
            <a:r>
              <a:rPr lang="en-US" altLang="zh-CN" sz="1600" dirty="0"/>
              <a:t>int main(){ </a:t>
            </a:r>
          </a:p>
          <a:p>
            <a:pPr marL="0" indent="0">
              <a:buNone/>
            </a:pPr>
            <a:r>
              <a:rPr lang="en-US" altLang="zh-CN" sz="1600" dirty="0"/>
              <a:t>	</a:t>
            </a:r>
            <a:r>
              <a:rPr lang="en-US" altLang="zh-CN" sz="1600" dirty="0" err="1"/>
              <a:t>istringstream</a:t>
            </a:r>
            <a:r>
              <a:rPr lang="en-US" altLang="zh-CN" sz="1600" dirty="0"/>
              <a:t> </a:t>
            </a:r>
            <a:r>
              <a:rPr lang="en-US" altLang="zh-CN" sz="1600" dirty="0" err="1"/>
              <a:t>iss</a:t>
            </a:r>
            <a:r>
              <a:rPr lang="en-US" altLang="zh-CN" sz="1600" dirty="0"/>
              <a:t>("12 34"); </a:t>
            </a:r>
          </a:p>
          <a:p>
            <a:pPr marL="0" indent="0">
              <a:buNone/>
            </a:pPr>
            <a:r>
              <a:rPr lang="en-US" altLang="zh-CN" sz="1600" dirty="0"/>
              <a:t>	int a, b; </a:t>
            </a:r>
          </a:p>
          <a:p>
            <a:pPr marL="0" indent="0">
              <a:buNone/>
            </a:pPr>
            <a:r>
              <a:rPr lang="en-US" altLang="zh-CN" sz="1600" dirty="0"/>
              <a:t>	</a:t>
            </a:r>
            <a:r>
              <a:rPr lang="en-US" altLang="zh-CN" sz="1600" dirty="0" err="1"/>
              <a:t>iss</a:t>
            </a:r>
            <a:r>
              <a:rPr lang="en-US" altLang="zh-CN" sz="1600" dirty="0"/>
              <a:t> &gt;&gt; a &gt;&gt; b; </a:t>
            </a:r>
          </a:p>
          <a:p>
            <a:pPr marL="0" indent="0">
              <a:buNone/>
            </a:pPr>
            <a:r>
              <a:rPr lang="en-US" altLang="zh-CN" sz="1600" dirty="0"/>
              <a:t>	</a:t>
            </a:r>
            <a:r>
              <a:rPr lang="en-US" altLang="zh-CN" sz="1600" dirty="0" err="1"/>
              <a:t>cout</a:t>
            </a:r>
            <a:r>
              <a:rPr lang="en-US" altLang="zh-CN" sz="1600" dirty="0"/>
              <a:t> &lt;&lt; a &lt;&lt; " " &lt;&lt; b &lt;&lt; </a:t>
            </a:r>
            <a:r>
              <a:rPr lang="en-US" altLang="zh-CN" sz="1600" dirty="0" err="1"/>
              <a:t>endl</a:t>
            </a:r>
            <a:r>
              <a:rPr lang="en-US" altLang="zh-CN" sz="1600" dirty="0"/>
              <a:t>; </a:t>
            </a:r>
          </a:p>
          <a:p>
            <a:pPr marL="0" indent="0">
              <a:buNone/>
            </a:pPr>
            <a:r>
              <a:rPr lang="en-US" altLang="zh-CN" sz="1600" dirty="0"/>
              <a:t>	</a:t>
            </a:r>
          </a:p>
          <a:p>
            <a:pPr marL="0" indent="0">
              <a:buNone/>
            </a:pPr>
            <a:r>
              <a:rPr lang="en-US" altLang="zh-CN" sz="1600" dirty="0"/>
              <a:t>	string str; </a:t>
            </a:r>
          </a:p>
          <a:p>
            <a:pPr marL="0" indent="0">
              <a:buNone/>
            </a:pPr>
            <a:r>
              <a:rPr lang="en-US" altLang="zh-CN" sz="1600" dirty="0"/>
              <a:t>	</a:t>
            </a:r>
            <a:r>
              <a:rPr lang="en-US" altLang="zh-CN" sz="1600" dirty="0" err="1"/>
              <a:t>ostringstream</a:t>
            </a:r>
            <a:r>
              <a:rPr lang="en-US" altLang="zh-CN" sz="1600" dirty="0"/>
              <a:t> </a:t>
            </a:r>
            <a:r>
              <a:rPr lang="en-US" altLang="zh-CN" sz="1600" dirty="0" err="1"/>
              <a:t>oss</a:t>
            </a:r>
            <a:r>
              <a:rPr lang="en-US" altLang="zh-CN" sz="1600" dirty="0"/>
              <a:t>;</a:t>
            </a:r>
          </a:p>
          <a:p>
            <a:pPr marL="0" indent="0">
              <a:buNone/>
            </a:pPr>
            <a:r>
              <a:rPr lang="en-US" altLang="zh-CN" sz="1600" dirty="0"/>
              <a:t>	</a:t>
            </a:r>
            <a:r>
              <a:rPr lang="en-US" altLang="zh-CN" sz="1600" dirty="0" err="1"/>
              <a:t>oss</a:t>
            </a:r>
            <a:r>
              <a:rPr lang="en-US" altLang="zh-CN" sz="1600" dirty="0"/>
              <a:t> &lt;&lt; a &lt;&lt; " " &lt;&lt; b;</a:t>
            </a:r>
          </a:p>
          <a:p>
            <a:pPr marL="0" indent="0">
              <a:buNone/>
            </a:pPr>
            <a:r>
              <a:rPr lang="en-US" altLang="zh-CN" sz="1600" dirty="0"/>
              <a:t>	str = </a:t>
            </a:r>
            <a:r>
              <a:rPr lang="en-US" altLang="zh-CN" sz="1600" dirty="0" err="1"/>
              <a:t>oss.str</a:t>
            </a:r>
            <a:r>
              <a:rPr lang="en-US" altLang="zh-CN" sz="1600" dirty="0"/>
              <a:t>();</a:t>
            </a:r>
          </a:p>
          <a:p>
            <a:pPr marL="0" indent="0">
              <a:buNone/>
            </a:pPr>
            <a:r>
              <a:rPr lang="en-US" altLang="zh-CN" sz="1600" dirty="0"/>
              <a:t>	</a:t>
            </a:r>
            <a:r>
              <a:rPr lang="en-US" altLang="zh-CN" sz="1600" dirty="0" err="1"/>
              <a:t>cout</a:t>
            </a:r>
            <a:r>
              <a:rPr lang="en-US" altLang="zh-CN" sz="1600" dirty="0"/>
              <a:t>&lt;&lt;str; </a:t>
            </a:r>
          </a:p>
          <a:p>
            <a:pPr marL="0" indent="0">
              <a:buNone/>
            </a:pPr>
            <a:endParaRPr lang="en-US" altLang="zh-CN" sz="1600" dirty="0"/>
          </a:p>
          <a:p>
            <a:pPr marL="0" indent="0">
              <a:buNone/>
            </a:pPr>
            <a:r>
              <a:rPr lang="en-US" altLang="zh-CN" sz="1600" dirty="0"/>
              <a:t>	return 0;</a:t>
            </a:r>
          </a:p>
          <a:p>
            <a:pPr marL="0" indent="0">
              <a:buNone/>
            </a:pPr>
            <a:r>
              <a:rPr lang="en-US" altLang="zh-CN" sz="1600" dirty="0"/>
              <a:t>}</a:t>
            </a:r>
            <a:endParaRPr lang="zh-CN" altLang="en-US" sz="1600" dirty="0"/>
          </a:p>
        </p:txBody>
      </p:sp>
    </p:spTree>
    <p:extLst>
      <p:ext uri="{BB962C8B-B14F-4D97-AF65-F5344CB8AC3E}">
        <p14:creationId xmlns:p14="http://schemas.microsoft.com/office/powerpoint/2010/main" val="3812403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p:nvPr>
        </p:nvSpPr>
        <p:spPr/>
        <p:txBody>
          <a:bodyPr/>
          <a:lstStyle/>
          <a:p>
            <a:r>
              <a:rPr lang="en-US" altLang="zh-CN" sz="4000">
                <a:solidFill>
                  <a:srgbClr val="FF0000"/>
                </a:solidFill>
              </a:rPr>
              <a:t>Hashing strings</a:t>
            </a:r>
            <a:endParaRPr lang="en-US" altLang="zh-CN" sz="4000" dirty="0">
              <a:solidFill>
                <a:srgbClr val="FF0000"/>
              </a:solidFill>
            </a:endParaRPr>
          </a:p>
        </p:txBody>
      </p:sp>
      <p:sp>
        <p:nvSpPr>
          <p:cNvPr id="2" name="内容占位符 1"/>
          <p:cNvSpPr>
            <a:spLocks noGrp="1"/>
          </p:cNvSpPr>
          <p:nvPr>
            <p:ph idx="1"/>
          </p:nvPr>
        </p:nvSpPr>
        <p:spPr/>
        <p:txBody>
          <a:bodyPr/>
          <a:lstStyle/>
          <a:p>
            <a:r>
              <a:rPr lang="en-US" altLang="zh-CN" dirty="0"/>
              <a:t>Hashing strings is to use </a:t>
            </a:r>
            <a:r>
              <a:rPr lang="en-US" altLang="zh-CN" dirty="0">
                <a:solidFill>
                  <a:srgbClr val="FF0000"/>
                </a:solidFill>
              </a:rPr>
              <a:t>a hash function </a:t>
            </a:r>
            <a:r>
              <a:rPr lang="en-US" altLang="zh-CN" dirty="0"/>
              <a:t>to hash each string to a different number, that is, an integer value.</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noChangeArrowheads="1"/>
          </p:cNvSpPr>
          <p:nvPr>
            <p:ph type="title"/>
          </p:nvPr>
        </p:nvSpPr>
        <p:spPr/>
        <p:txBody>
          <a:bodyPr/>
          <a:lstStyle/>
          <a:p>
            <a:pPr eaLnBrk="1" hangingPunct="1"/>
            <a:r>
              <a:rPr lang="en-US" altLang="zh-CN" sz="3600" dirty="0">
                <a:solidFill>
                  <a:srgbClr val="0070C0"/>
                </a:solidFill>
              </a:rPr>
              <a:t>How</a:t>
            </a:r>
            <a:r>
              <a:rPr lang="zh-CN" altLang="en-US" sz="3600" dirty="0">
                <a:solidFill>
                  <a:srgbClr val="0070C0"/>
                </a:solidFill>
              </a:rPr>
              <a:t> </a:t>
            </a:r>
            <a:r>
              <a:rPr lang="en-US" altLang="zh-CN" sz="3600" dirty="0">
                <a:solidFill>
                  <a:srgbClr val="0070C0"/>
                </a:solidFill>
              </a:rPr>
              <a:t>to</a:t>
            </a:r>
            <a:r>
              <a:rPr lang="zh-CN" altLang="en-US" sz="3600" dirty="0">
                <a:solidFill>
                  <a:srgbClr val="0070C0"/>
                </a:solidFill>
              </a:rPr>
              <a:t> </a:t>
            </a:r>
            <a:r>
              <a:rPr lang="en-US" altLang="zh-CN" sz="3600" dirty="0">
                <a:solidFill>
                  <a:srgbClr val="0070C0"/>
                </a:solidFill>
              </a:rPr>
              <a:t>design a string</a:t>
            </a:r>
            <a:r>
              <a:rPr lang="zh-CN" altLang="en-US" sz="3600" dirty="0">
                <a:solidFill>
                  <a:srgbClr val="0070C0"/>
                </a:solidFill>
              </a:rPr>
              <a:t> </a:t>
            </a:r>
            <a:r>
              <a:rPr lang="en-US" altLang="zh-CN" sz="3600" dirty="0">
                <a:solidFill>
                  <a:srgbClr val="0070C0"/>
                </a:solidFill>
              </a:rPr>
              <a:t>hash function?</a:t>
            </a:r>
            <a:endParaRPr lang="zh-CN" altLang="en-US" sz="3600" dirty="0">
              <a:solidFill>
                <a:srgbClr val="0070C0"/>
              </a:solidFill>
            </a:endParaRPr>
          </a:p>
        </p:txBody>
      </p:sp>
      <p:sp>
        <p:nvSpPr>
          <p:cNvPr id="3075" name="内容占位符 2"/>
          <p:cNvSpPr>
            <a:spLocks noGrp="1" noChangeArrowheads="1"/>
          </p:cNvSpPr>
          <p:nvPr>
            <p:ph idx="1"/>
          </p:nvPr>
        </p:nvSpPr>
        <p:spPr/>
        <p:txBody>
          <a:bodyPr/>
          <a:lstStyle/>
          <a:p>
            <a:pPr eaLnBrk="1" hangingPunct="1"/>
            <a:r>
              <a:rPr lang="en-US" altLang="zh-CN" dirty="0"/>
              <a:t>In order to </a:t>
            </a:r>
            <a:r>
              <a:rPr lang="en-US" altLang="zh-CN" dirty="0">
                <a:solidFill>
                  <a:srgbClr val="FF0000"/>
                </a:solidFill>
              </a:rPr>
              <a:t>reduce collisions</a:t>
            </a:r>
            <a:r>
              <a:rPr lang="en-US" altLang="zh-CN" dirty="0"/>
              <a:t>, each character in the string should participate in the hash value calculation.</a:t>
            </a:r>
            <a:endParaRPr lang="zh-CN" altLang="en-US" dirty="0"/>
          </a:p>
          <a:p>
            <a:pPr eaLnBrk="1" hangingPunct="1"/>
            <a:r>
              <a:rPr lang="en-US" altLang="zh-CN" dirty="0"/>
              <a:t>Should have avalanche effect: Changing only one character in the string may have a great impact on the hash value.</a:t>
            </a:r>
            <a:endParaRPr lang="zh-CN" altLang="en-US" dirty="0"/>
          </a:p>
        </p:txBody>
      </p:sp>
      <p:pic>
        <p:nvPicPr>
          <p:cNvPr id="29700" name="Picture 4" descr="éªå´© çå¾åç»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2105" y="3843219"/>
            <a:ext cx="3700651" cy="23337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内容占位符 2"/>
          <p:cNvSpPr>
            <a:spLocks noGrp="1" noChangeArrowheads="1"/>
          </p:cNvSpPr>
          <p:nvPr>
            <p:ph idx="1"/>
          </p:nvPr>
        </p:nvSpPr>
        <p:spPr/>
        <p:txBody>
          <a:bodyPr/>
          <a:lstStyle/>
          <a:p>
            <a:pPr marL="0" indent="0">
              <a:buNone/>
            </a:pPr>
            <a:r>
              <a:rPr lang="zh-CN" altLang="en-US" sz="2400" dirty="0">
                <a:latin typeface="Courier New" panose="02070309020205020404" pitchFamily="49" charset="0"/>
                <a:cs typeface="Courier New" panose="02070309020205020404" pitchFamily="49" charset="0"/>
              </a:rPr>
              <a:t>unsigned int BKDRHash(char *str)  {  </a:t>
            </a:r>
          </a:p>
          <a:p>
            <a:pPr marL="0" indent="0">
              <a:buNone/>
            </a:pPr>
            <a:r>
              <a:rPr lang="zh-CN" altLang="en-US" sz="2400" dirty="0">
                <a:latin typeface="Courier New" panose="02070309020205020404" pitchFamily="49" charset="0"/>
                <a:cs typeface="Courier New" panose="02070309020205020404" pitchFamily="49" charset="0"/>
              </a:rPr>
              <a:t>    unsigned int seed=31,key=0; </a:t>
            </a:r>
            <a:r>
              <a:rPr lang="en-US" altLang="zh-CN" sz="2000" dirty="0">
                <a:latin typeface="Courier New" panose="02070309020205020404" pitchFamily="49" charset="0"/>
                <a:cs typeface="Courier New" panose="02070309020205020404" pitchFamily="49" charset="0"/>
              </a:rPr>
              <a:t>// </a:t>
            </a:r>
            <a:r>
              <a:rPr lang="nb-NO" altLang="zh-CN" sz="2000" dirty="0">
                <a:cs typeface="Courier New" panose="02070309020205020404" pitchFamily="49" charset="0"/>
              </a:rPr>
              <a:t>31 131 1313 13131 131313 etc..</a:t>
            </a:r>
            <a:r>
              <a:rPr lang="zh-CN" altLang="en-US" sz="2400" dirty="0">
                <a:latin typeface="Courier New" panose="02070309020205020404" pitchFamily="49" charset="0"/>
                <a:cs typeface="Courier New" panose="02070309020205020404" pitchFamily="49" charset="0"/>
              </a:rPr>
              <a:t>    </a:t>
            </a:r>
            <a:r>
              <a:rPr lang="en-US" altLang="zh-CN" sz="2400" dirty="0">
                <a:latin typeface="Courier New" panose="02070309020205020404" pitchFamily="49" charset="0"/>
                <a:cs typeface="Courier New" panose="02070309020205020404" pitchFamily="49" charset="0"/>
              </a:rPr>
              <a:t>      	</a:t>
            </a:r>
            <a:r>
              <a:rPr lang="zh-CN" altLang="en-US" sz="2400" dirty="0">
                <a:latin typeface="Courier New" panose="02070309020205020404" pitchFamily="49" charset="0"/>
                <a:cs typeface="Courier New" panose="02070309020205020404" pitchFamily="49" charset="0"/>
              </a:rPr>
              <a:t>while(*str)</a:t>
            </a:r>
          </a:p>
          <a:p>
            <a:pPr marL="0" indent="0">
              <a:buNone/>
            </a:pPr>
            <a:r>
              <a:rPr lang="zh-CN" altLang="en-US" sz="2400" dirty="0">
                <a:latin typeface="Courier New" panose="02070309020205020404" pitchFamily="49" charset="0"/>
                <a:cs typeface="Courier New" panose="02070309020205020404" pitchFamily="49" charset="0"/>
              </a:rPr>
              <a:t>          key = key*seed+(*str++);</a:t>
            </a:r>
          </a:p>
          <a:p>
            <a:pPr marL="0" indent="0">
              <a:buNone/>
            </a:pPr>
            <a:r>
              <a:rPr lang="zh-CN" altLang="en-US" sz="2400" dirty="0">
                <a:latin typeface="Courier New" panose="02070309020205020404" pitchFamily="49" charset="0"/>
                <a:cs typeface="Courier New" panose="02070309020205020404" pitchFamily="49" charset="0"/>
              </a:rPr>
              <a:t>    return key &amp; 0x7fffffff;    </a:t>
            </a:r>
            <a:r>
              <a:rPr lang="en-US" altLang="zh-CN" sz="2400" dirty="0">
                <a:latin typeface="Courier New" panose="02070309020205020404" pitchFamily="49" charset="0"/>
                <a:cs typeface="Courier New" panose="02070309020205020404" pitchFamily="49" charset="0"/>
              </a:rPr>
              <a:t>//</a:t>
            </a:r>
            <a:r>
              <a:rPr lang="zh-CN" altLang="en-US" sz="2400" dirty="0">
                <a:latin typeface="Courier New" panose="02070309020205020404" pitchFamily="49" charset="0"/>
                <a:cs typeface="Courier New" panose="02070309020205020404" pitchFamily="49" charset="0"/>
              </a:rPr>
              <a:t> </a:t>
            </a:r>
            <a:r>
              <a:rPr lang="en-US" altLang="zh-CN" sz="2400" dirty="0">
                <a:latin typeface="Courier New" panose="02070309020205020404" pitchFamily="49" charset="0"/>
                <a:cs typeface="Courier New" panose="02070309020205020404" pitchFamily="49" charset="0"/>
              </a:rPr>
              <a:t>return</a:t>
            </a:r>
            <a:r>
              <a:rPr lang="zh-CN" altLang="en-US" sz="2400" dirty="0">
                <a:latin typeface="Courier New" panose="02070309020205020404" pitchFamily="49" charset="0"/>
                <a:cs typeface="Courier New" panose="02070309020205020404" pitchFamily="49" charset="0"/>
              </a:rPr>
              <a:t> </a:t>
            </a:r>
            <a:r>
              <a:rPr lang="en-US" altLang="zh-CN" sz="2400" dirty="0">
                <a:latin typeface="Courier New" panose="02070309020205020404" pitchFamily="49" charset="0"/>
                <a:cs typeface="Courier New" panose="02070309020205020404" pitchFamily="49" charset="0"/>
              </a:rPr>
              <a:t>a 31-bit value</a:t>
            </a:r>
            <a:endParaRPr lang="zh-CN" altLang="en-US" sz="2400" dirty="0">
              <a:latin typeface="Courier New" panose="02070309020205020404" pitchFamily="49" charset="0"/>
              <a:cs typeface="Courier New" panose="02070309020205020404" pitchFamily="49" charset="0"/>
            </a:endParaRPr>
          </a:p>
          <a:p>
            <a:pPr marL="0" indent="0">
              <a:buNone/>
            </a:pPr>
            <a:r>
              <a:rPr lang="zh-CN" altLang="en-US" sz="2400" dirty="0">
                <a:latin typeface="Courier New" panose="02070309020205020404" pitchFamily="49" charset="0"/>
                <a:cs typeface="Courier New" panose="02070309020205020404" pitchFamily="49" charset="0"/>
              </a:rPr>
              <a:t>}</a:t>
            </a:r>
          </a:p>
          <a:p>
            <a:pPr marL="0" indent="0">
              <a:buNone/>
            </a:pPr>
            <a:endParaRPr lang="zh-CN" altLang="en-US" sz="2000" dirty="0"/>
          </a:p>
          <a:p>
            <a:pPr marL="0" indent="0">
              <a:buNone/>
            </a:pPr>
            <a:r>
              <a:rPr lang="en-US" altLang="zh-CN" dirty="0">
                <a:solidFill>
                  <a:srgbClr val="0070C0"/>
                </a:solidFill>
              </a:rPr>
              <a:t>Return a 31-bit value, which is still too large. The modulo can be taken in the main program (%N).</a:t>
            </a:r>
            <a:endParaRPr lang="zh-CN" altLang="en-US" dirty="0">
              <a:solidFill>
                <a:srgbClr val="0070C0"/>
              </a:solidFill>
            </a:endParaRPr>
          </a:p>
        </p:txBody>
      </p:sp>
      <p:sp>
        <p:nvSpPr>
          <p:cNvPr id="3" name="标题 1"/>
          <p:cNvSpPr>
            <a:spLocks noGrp="1" noChangeArrowheads="1"/>
          </p:cNvSpPr>
          <p:nvPr>
            <p:ph type="title"/>
          </p:nvPr>
        </p:nvSpPr>
        <p:spPr>
          <a:xfrm>
            <a:off x="1981200" y="274638"/>
            <a:ext cx="8229600" cy="1143000"/>
          </a:xfrm>
        </p:spPr>
        <p:txBody>
          <a:bodyPr/>
          <a:lstStyle/>
          <a:p>
            <a:pPr algn="ctr" eaLnBrk="1" hangingPunct="1"/>
            <a:r>
              <a:rPr lang="en-US" altLang="zh-CN" sz="3600" b="1" dirty="0">
                <a:solidFill>
                  <a:srgbClr val="0070C0"/>
                </a:solidFill>
              </a:rPr>
              <a:t>BKDR Hash Function</a:t>
            </a:r>
            <a:endParaRPr lang="zh-CN" altLang="en-US" sz="3600" b="1" dirty="0">
              <a:solidFill>
                <a:srgbClr val="0070C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81200" y="969963"/>
            <a:ext cx="8229600" cy="4525962"/>
          </a:xfrm>
        </p:spPr>
        <p:txBody>
          <a:bodyPr/>
          <a:lstStyle/>
          <a:p>
            <a:pPr marL="0" indent="0">
              <a:buNone/>
              <a:defRPr/>
            </a:pPr>
            <a:r>
              <a:rPr lang="zh-CN" altLang="en-US" sz="2400" noProof="1">
                <a:latin typeface="Courier New" panose="02070309020205020404" pitchFamily="49" charset="0"/>
                <a:cs typeface="Courier New" panose="02070309020205020404" pitchFamily="49" charset="0"/>
                <a:sym typeface="+mn-ea"/>
              </a:rPr>
              <a:t>unsigned int BKDRHash(char *str)  {  </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    unsigned int seed = 31,  key = 0;   </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    while(*str)</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        </a:t>
            </a:r>
            <a:r>
              <a:rPr lang="zh-CN" altLang="en-US" sz="2400" noProof="1">
                <a:solidFill>
                  <a:srgbClr val="FF0000"/>
                </a:solidFill>
                <a:latin typeface="Courier New" panose="02070309020205020404" pitchFamily="49" charset="0"/>
                <a:cs typeface="Courier New" panose="02070309020205020404" pitchFamily="49" charset="0"/>
                <a:sym typeface="+mn-ea"/>
              </a:rPr>
              <a:t>key = key*seed+(*str++);</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    return key &amp; 0x7fffffff;       </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a:t>
            </a:r>
            <a:endParaRPr lang="zh-CN" altLang="en-US" sz="2400" noProof="1">
              <a:latin typeface="Courier New" panose="02070309020205020404" pitchFamily="49" charset="0"/>
              <a:cs typeface="Courier New" panose="02070309020205020404" pitchFamily="49" charset="0"/>
            </a:endParaRPr>
          </a:p>
          <a:p>
            <a:pPr marL="0" indent="0">
              <a:buNone/>
              <a:defRPr/>
            </a:pPr>
            <a:endParaRPr lang="zh-CN" altLang="en-US" noProof="1"/>
          </a:p>
          <a:p>
            <a:pPr marL="0" indent="0">
              <a:buNone/>
              <a:defRPr/>
            </a:pPr>
            <a:r>
              <a:rPr lang="en-US" altLang="zh-CN" noProof="1">
                <a:solidFill>
                  <a:srgbClr val="0070C0"/>
                </a:solidFill>
              </a:rPr>
              <a:t>Use </a:t>
            </a:r>
            <a:r>
              <a:rPr lang="en-US" altLang="zh-CN" noProof="1">
                <a:solidFill>
                  <a:srgbClr val="FF0000"/>
                </a:solidFill>
              </a:rPr>
              <a:t>key = key*seed+(*str++) </a:t>
            </a:r>
            <a:r>
              <a:rPr lang="en-US" altLang="zh-CN" noProof="1">
                <a:solidFill>
                  <a:srgbClr val="0070C0"/>
                </a:solidFill>
              </a:rPr>
              <a:t>to enlarge the hash interval of characters.</a:t>
            </a:r>
            <a:endParaRPr lang="zh-CN" altLang="en-US" noProof="1"/>
          </a:p>
          <a:p>
            <a:pPr eaLnBrk="1" hangingPunct="1">
              <a:defRPr/>
            </a:pPr>
            <a:endParaRPr lang="zh-CN" altLang="en-US" noProof="1"/>
          </a:p>
        </p:txBody>
      </p:sp>
      <p:pic>
        <p:nvPicPr>
          <p:cNvPr id="30722" name="Picture 2" descr="æ¥çæºå¾å"/>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288" y="4589637"/>
            <a:ext cx="1700244" cy="1298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defRPr/>
            </a:pPr>
            <a:r>
              <a:rPr lang="zh-CN" altLang="en-US" sz="2400" noProof="1">
                <a:latin typeface="Courier New" panose="02070309020205020404" pitchFamily="49" charset="0"/>
                <a:cs typeface="Courier New" panose="02070309020205020404" pitchFamily="49" charset="0"/>
                <a:sym typeface="+mn-ea"/>
              </a:rPr>
              <a:t>unsigned int BKDRHash(char *str)  {  </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    unsigned int seed = 31,  key = 0;   </a:t>
            </a:r>
            <a:endParaRPr lang="en-US" altLang="zh-CN" sz="2400" noProof="1">
              <a:latin typeface="Courier New" panose="02070309020205020404" pitchFamily="49" charset="0"/>
              <a:cs typeface="Courier New" panose="02070309020205020404" pitchFamily="49" charset="0"/>
              <a:sym typeface="+mn-ea"/>
            </a:endParaRPr>
          </a:p>
          <a:p>
            <a:pPr marL="0" indent="0">
              <a:buNone/>
              <a:defRPr/>
            </a:pPr>
            <a:r>
              <a:rPr lang="en-US" altLang="zh-CN" sz="2400" noProof="1">
                <a:latin typeface="Courier New" panose="02070309020205020404" pitchFamily="49" charset="0"/>
                <a:cs typeface="Courier New" panose="02070309020205020404" pitchFamily="49" charset="0"/>
                <a:sym typeface="+mn-ea"/>
              </a:rPr>
              <a:t>                      </a:t>
            </a:r>
            <a:r>
              <a:rPr lang="zh-CN" altLang="en-US" sz="2400" noProof="1">
                <a:latin typeface="Courier New" panose="02070309020205020404" pitchFamily="49" charset="0"/>
                <a:cs typeface="Courier New" panose="02070309020205020404" pitchFamily="49" charset="0"/>
                <a:sym typeface="+mn-ea"/>
              </a:rPr>
              <a:t>// </a:t>
            </a:r>
            <a:r>
              <a:rPr lang="zh-CN" altLang="en-US" sz="2400" noProof="1">
                <a:solidFill>
                  <a:srgbClr val="FF0000"/>
                </a:solidFill>
                <a:latin typeface="Courier New" panose="02070309020205020404" pitchFamily="49" charset="0"/>
                <a:cs typeface="Courier New" panose="02070309020205020404" pitchFamily="49" charset="0"/>
                <a:sym typeface="+mn-ea"/>
              </a:rPr>
              <a:t>31, 131, 1313</a:t>
            </a:r>
            <a:r>
              <a:rPr lang="en-US" altLang="zh-CN" sz="2400" noProof="1">
                <a:solidFill>
                  <a:srgbClr val="FF0000"/>
                </a:solidFill>
                <a:latin typeface="Courier New" panose="02070309020205020404" pitchFamily="49" charset="0"/>
                <a:cs typeface="Courier New" panose="02070309020205020404" pitchFamily="49" charset="0"/>
                <a:sym typeface="+mn-ea"/>
              </a:rPr>
              <a:t>..</a:t>
            </a:r>
            <a:r>
              <a:rPr lang="zh-CN" altLang="en-US" sz="2400" noProof="1">
                <a:solidFill>
                  <a:srgbClr val="FF0000"/>
                </a:solidFill>
                <a:latin typeface="Courier New" panose="02070309020205020404" pitchFamily="49" charset="0"/>
                <a:cs typeface="Courier New" panose="02070309020205020404" pitchFamily="49" charset="0"/>
                <a:sym typeface="+mn-ea"/>
              </a:rPr>
              <a:t>.</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    while(*str)</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        key = key*seed+(*str++);</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    return key &amp; 0x7fffffff;       </a:t>
            </a:r>
            <a:endParaRPr lang="zh-CN" altLang="en-US" sz="2400" noProof="1">
              <a:latin typeface="Courier New" panose="02070309020205020404" pitchFamily="49" charset="0"/>
              <a:cs typeface="Courier New" panose="02070309020205020404" pitchFamily="49" charset="0"/>
            </a:endParaRPr>
          </a:p>
          <a:p>
            <a:pPr marL="0" indent="0">
              <a:buNone/>
              <a:defRPr/>
            </a:pPr>
            <a:r>
              <a:rPr lang="zh-CN" altLang="en-US" sz="2400" noProof="1">
                <a:latin typeface="Courier New" panose="02070309020205020404" pitchFamily="49" charset="0"/>
                <a:cs typeface="Courier New" panose="02070309020205020404" pitchFamily="49" charset="0"/>
                <a:sym typeface="+mn-ea"/>
              </a:rPr>
              <a:t>}</a:t>
            </a:r>
            <a:endParaRPr lang="zh-CN" altLang="en-US" sz="2400" noProof="1">
              <a:latin typeface="Courier New" panose="02070309020205020404" pitchFamily="49" charset="0"/>
              <a:cs typeface="Courier New" panose="02070309020205020404" pitchFamily="49" charset="0"/>
            </a:endParaRPr>
          </a:p>
          <a:p>
            <a:pPr marL="0" indent="0">
              <a:buNone/>
              <a:defRPr/>
            </a:pPr>
            <a:r>
              <a:rPr lang="en-US" altLang="zh-CN" noProof="1">
                <a:solidFill>
                  <a:srgbClr val="0070C0"/>
                </a:solidFill>
              </a:rPr>
              <a:t>Use 31, 131,… to reduce collisions</a:t>
            </a:r>
            <a:r>
              <a:rPr lang="zh-CN" altLang="en-US" noProof="1">
                <a:solidFill>
                  <a:srgbClr val="0070C0"/>
                </a:solidFill>
              </a:rPr>
              <a:t> </a:t>
            </a:r>
            <a:r>
              <a:rPr lang="en-US" altLang="zh-CN" noProof="1">
                <a:solidFill>
                  <a:srgbClr val="0070C0"/>
                </a:solidFill>
              </a:rPr>
              <a:t>(compared with even numbers)</a:t>
            </a:r>
            <a:endParaRPr lang="zh-CN" altLang="en-US" noProof="1">
              <a:solidFill>
                <a:srgbClr val="0070C0"/>
              </a:solidFill>
            </a:endParaRPr>
          </a:p>
          <a:p>
            <a:pPr eaLnBrk="1" hangingPunct="1">
              <a:defRPr/>
            </a:pPr>
            <a:endParaRPr lang="zh-CN" altLang="en-US" noProof="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8F0ADA-8029-42B8-98E1-DDC1BCE7BC05}"/>
              </a:ext>
            </a:extLst>
          </p:cNvPr>
          <p:cNvSpPr>
            <a:spLocks noGrp="1"/>
          </p:cNvSpPr>
          <p:nvPr>
            <p:ph type="title"/>
          </p:nvPr>
        </p:nvSpPr>
        <p:spPr>
          <a:xfrm>
            <a:off x="456460" y="1705653"/>
            <a:ext cx="10515600" cy="1325563"/>
          </a:xfrm>
        </p:spPr>
        <p:txBody>
          <a:bodyPr/>
          <a:lstStyle/>
          <a:p>
            <a:pPr algn="ctr"/>
            <a:r>
              <a:rPr lang="en-US" altLang="zh-CN">
                <a:hlinkClick r:id="rId2" action="ppaction://hlinkfile"/>
              </a:rPr>
              <a:t>Shopping</a:t>
            </a:r>
            <a:endParaRPr lang="zh-CN" altLang="en-US"/>
          </a:p>
        </p:txBody>
      </p:sp>
      <p:sp>
        <p:nvSpPr>
          <p:cNvPr id="3" name="文本框 2">
            <a:extLst>
              <a:ext uri="{FF2B5EF4-FFF2-40B4-BE49-F238E27FC236}">
                <a16:creationId xmlns:a16="http://schemas.microsoft.com/office/drawing/2014/main" id="{1E2D2F0F-1027-4B09-A92F-0F424764565A}"/>
              </a:ext>
            </a:extLst>
          </p:cNvPr>
          <p:cNvSpPr txBox="1"/>
          <p:nvPr/>
        </p:nvSpPr>
        <p:spPr>
          <a:xfrm>
            <a:off x="4891597" y="3242569"/>
            <a:ext cx="1473693" cy="372862"/>
          </a:xfrm>
          <a:prstGeom prst="rect">
            <a:avLst/>
          </a:prstGeom>
          <a:noFill/>
        </p:spPr>
        <p:txBody>
          <a:bodyPr wrap="square" rtlCol="0">
            <a:spAutoFit/>
          </a:bodyPr>
          <a:lstStyle/>
          <a:p>
            <a:r>
              <a:rPr lang="en-US" altLang="zh-CN" dirty="0"/>
              <a:t>map or hash</a:t>
            </a:r>
            <a:endParaRPr lang="zh-CN" altLang="en-US" dirty="0"/>
          </a:p>
        </p:txBody>
      </p:sp>
    </p:spTree>
    <p:extLst>
      <p:ext uri="{BB962C8B-B14F-4D97-AF65-F5344CB8AC3E}">
        <p14:creationId xmlns:p14="http://schemas.microsoft.com/office/powerpoint/2010/main" val="1086083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title"/>
          </p:nvPr>
        </p:nvSpPr>
        <p:spPr>
          <a:xfrm>
            <a:off x="4295800" y="260648"/>
            <a:ext cx="3600400" cy="778098"/>
          </a:xfrm>
        </p:spPr>
        <p:txBody>
          <a:bodyPr/>
          <a:lstStyle/>
          <a:p>
            <a:r>
              <a:rPr lang="en-US" altLang="zh-CN" sz="3600">
                <a:solidFill>
                  <a:srgbClr val="FF0000"/>
                </a:solidFill>
              </a:rPr>
              <a:t>Trie </a:t>
            </a:r>
            <a:r>
              <a:rPr lang="en-US" altLang="zh-CN" sz="3600"/>
              <a:t>(re</a:t>
            </a:r>
            <a:r>
              <a:rPr lang="en-US" altLang="zh-CN" sz="3600">
                <a:solidFill>
                  <a:srgbClr val="FF0000"/>
                </a:solidFill>
              </a:rPr>
              <a:t>trie</a:t>
            </a:r>
            <a:r>
              <a:rPr lang="en-US" altLang="zh-CN" sz="3600"/>
              <a:t>val)</a:t>
            </a:r>
            <a:endParaRPr lang="zh-CN" altLang="en-US" sz="3600" dirty="0"/>
          </a:p>
        </p:txBody>
      </p:sp>
      <p:sp>
        <p:nvSpPr>
          <p:cNvPr id="62467" name="内容占位符 2"/>
          <p:cNvSpPr>
            <a:spLocks noGrp="1" noChangeArrowheads="1"/>
          </p:cNvSpPr>
          <p:nvPr>
            <p:ph idx="1"/>
          </p:nvPr>
        </p:nvSpPr>
        <p:spPr>
          <a:xfrm>
            <a:off x="1981200" y="1268761"/>
            <a:ext cx="8229600" cy="4857403"/>
          </a:xfrm>
        </p:spPr>
        <p:txBody>
          <a:bodyPr>
            <a:normAutofit/>
          </a:bodyPr>
          <a:lstStyle/>
          <a:p>
            <a:r>
              <a:rPr lang="en-US" altLang="zh-CN"/>
              <a:t>A string matching problem: Find a string in n strings.</a:t>
            </a:r>
            <a:endParaRPr lang="zh-CN" altLang="en-US" dirty="0"/>
          </a:p>
          <a:p>
            <a:r>
              <a:rPr lang="en-US" altLang="zh-CN" sz="2400"/>
              <a:t>Trie: For example, to search for "dog", first search “d”, then “o”, and at last “g”. Only search for a total of 3 times. To find any word, the maximum number of searches is the number of letters in the word.</a:t>
            </a:r>
            <a:endParaRPr lang="zh-CN" altLang="en-US" sz="2400" dirty="0"/>
          </a:p>
        </p:txBody>
      </p:sp>
      <p:pic>
        <p:nvPicPr>
          <p:cNvPr id="7" name="Picture 4" descr="æ¥å­å¸ çå¾åç»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0162" y="3456383"/>
            <a:ext cx="2850579" cy="21328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72F8D-1BB6-4F03-966C-75BA979B73E9}"/>
              </a:ext>
            </a:extLst>
          </p:cNvPr>
          <p:cNvSpPr>
            <a:spLocks noGrp="1"/>
          </p:cNvSpPr>
          <p:nvPr>
            <p:ph type="title"/>
          </p:nvPr>
        </p:nvSpPr>
        <p:spPr/>
        <p:txBody>
          <a:bodyPr/>
          <a:lstStyle/>
          <a:p>
            <a:r>
              <a:rPr lang="en-US" altLang="zh-CN">
                <a:solidFill>
                  <a:schemeClr val="accent5"/>
                </a:solidFill>
              </a:rPr>
              <a:t>Trie: Dictionary Representation</a:t>
            </a:r>
            <a:endParaRPr lang="zh-CN" altLang="en-US">
              <a:solidFill>
                <a:schemeClr val="accent5"/>
              </a:solidFill>
            </a:endParaRPr>
          </a:p>
        </p:txBody>
      </p:sp>
      <p:sp>
        <p:nvSpPr>
          <p:cNvPr id="3" name="内容占位符 2">
            <a:extLst>
              <a:ext uri="{FF2B5EF4-FFF2-40B4-BE49-F238E27FC236}">
                <a16:creationId xmlns:a16="http://schemas.microsoft.com/office/drawing/2014/main" id="{FCF8E0D2-C194-4330-9628-B82E3A47CB08}"/>
              </a:ext>
            </a:extLst>
          </p:cNvPr>
          <p:cNvSpPr>
            <a:spLocks noGrp="1"/>
          </p:cNvSpPr>
          <p:nvPr>
            <p:ph idx="1"/>
          </p:nvPr>
        </p:nvSpPr>
        <p:spPr/>
        <p:txBody>
          <a:bodyPr>
            <a:normAutofit/>
          </a:bodyPr>
          <a:lstStyle/>
          <a:p>
            <a:r>
              <a:rPr lang="en-US" altLang="zh-CN" dirty="0" err="1"/>
              <a:t>Trie</a:t>
            </a:r>
            <a:r>
              <a:rPr lang="en-US" altLang="zh-CN" dirty="0"/>
              <a:t>: a tree structure that simulates looking up the dictionary.</a:t>
            </a:r>
          </a:p>
          <a:p>
            <a:r>
              <a:rPr lang="en-US" altLang="zh-CN" dirty="0"/>
              <a:t>Both </a:t>
            </a:r>
            <a:r>
              <a:rPr lang="en-US" altLang="zh-CN" dirty="0">
                <a:solidFill>
                  <a:srgbClr val="FF0000"/>
                </a:solidFill>
              </a:rPr>
              <a:t>Insert</a:t>
            </a:r>
            <a:r>
              <a:rPr lang="en-US" altLang="zh-CN" dirty="0"/>
              <a:t> and </a:t>
            </a:r>
            <a:r>
              <a:rPr lang="en-US" altLang="zh-CN" dirty="0">
                <a:solidFill>
                  <a:srgbClr val="FF0000"/>
                </a:solidFill>
              </a:rPr>
              <a:t>Find</a:t>
            </a:r>
            <a:r>
              <a:rPr lang="en-US" altLang="zh-CN" dirty="0"/>
              <a:t> run in O(m) time, where m is the length of the key.</a:t>
            </a:r>
          </a:p>
          <a:p>
            <a:r>
              <a:rPr lang="en-US" altLang="zh-CN" dirty="0"/>
              <a:t>Building a </a:t>
            </a:r>
            <a:r>
              <a:rPr lang="en-US" altLang="zh-CN" dirty="0" err="1"/>
              <a:t>Trie</a:t>
            </a:r>
            <a:r>
              <a:rPr lang="en-US" altLang="zh-CN" dirty="0"/>
              <a:t> requires scanning all strings, and the time complexity is O(n) (n represents the sum of the lengths of all strings).</a:t>
            </a:r>
          </a:p>
          <a:p>
            <a:r>
              <a:rPr lang="en-US" altLang="zh-CN" dirty="0">
                <a:solidFill>
                  <a:srgbClr val="FF0000"/>
                </a:solidFill>
              </a:rPr>
              <a:t>Building while inserting</a:t>
            </a:r>
            <a:endParaRPr lang="zh-CN" altLang="en-US" dirty="0">
              <a:solidFill>
                <a:srgbClr val="FF0000"/>
              </a:solidFill>
            </a:endParaRPr>
          </a:p>
        </p:txBody>
      </p:sp>
    </p:spTree>
    <p:extLst>
      <p:ext uri="{BB962C8B-B14F-4D97-AF65-F5344CB8AC3E}">
        <p14:creationId xmlns:p14="http://schemas.microsoft.com/office/powerpoint/2010/main" val="769047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81200" y="980728"/>
            <a:ext cx="8229600" cy="626130"/>
          </a:xfrm>
        </p:spPr>
        <p:txBody>
          <a:bodyPr>
            <a:normAutofit fontScale="92500"/>
          </a:bodyPr>
          <a:lstStyle/>
          <a:p>
            <a:pPr marL="0" indent="0">
              <a:buNone/>
            </a:pPr>
            <a:r>
              <a:rPr lang="en-US" altLang="zh-CN"/>
              <a:t>A trie for keys “be”,</a:t>
            </a:r>
            <a:r>
              <a:rPr lang="zh-CN" altLang="en-US"/>
              <a:t> </a:t>
            </a:r>
            <a:r>
              <a:rPr lang="en-US" altLang="zh-CN"/>
              <a:t>“bee”,</a:t>
            </a:r>
            <a:r>
              <a:rPr lang="zh-CN" altLang="en-US"/>
              <a:t> </a:t>
            </a:r>
            <a:r>
              <a:rPr lang="en-US" altLang="zh-CN"/>
              <a:t>“may”,</a:t>
            </a:r>
            <a:r>
              <a:rPr lang="zh-CN" altLang="en-US"/>
              <a:t> </a:t>
            </a:r>
            <a:r>
              <a:rPr lang="en-US" altLang="zh-CN"/>
              <a:t>“man”,</a:t>
            </a:r>
            <a:r>
              <a:rPr lang="zh-CN" altLang="en-US"/>
              <a:t> </a:t>
            </a:r>
            <a:r>
              <a:rPr lang="en-US" altLang="zh-CN"/>
              <a:t>“mom”,</a:t>
            </a:r>
            <a:r>
              <a:rPr lang="zh-CN" altLang="en-US"/>
              <a:t> </a:t>
            </a:r>
            <a:r>
              <a:rPr lang="en-US" altLang="zh-CN"/>
              <a:t>and “he”</a:t>
            </a:r>
            <a:endParaRPr lang="zh-CN" altLang="en-US" dirty="0"/>
          </a:p>
          <a:p>
            <a:endParaRPr lang="zh-CN" altLang="en-US" dirty="0"/>
          </a:p>
        </p:txBody>
      </p:sp>
      <p:pic>
        <p:nvPicPr>
          <p:cNvPr id="17410" name="Picture 2" descr="C:\Users\luo\AppData\Local\Temp\ksohtml5984\wps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696" y="2132856"/>
            <a:ext cx="4517876" cy="31837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noChangeArrowheads="1"/>
          </p:cNvSpPr>
          <p:nvPr>
            <p:ph type="title"/>
          </p:nvPr>
        </p:nvSpPr>
        <p:spPr>
          <a:xfrm>
            <a:off x="838200" y="345659"/>
            <a:ext cx="8003232" cy="1143000"/>
          </a:xfrm>
        </p:spPr>
        <p:txBody>
          <a:bodyPr/>
          <a:lstStyle/>
          <a:p>
            <a:r>
              <a:rPr lang="en-US" altLang="zh-CN" sz="3600">
                <a:solidFill>
                  <a:srgbClr val="0070C0"/>
                </a:solidFill>
              </a:rPr>
              <a:t>Applications</a:t>
            </a:r>
            <a:endParaRPr lang="zh-CN" altLang="en-US" sz="3600" dirty="0">
              <a:solidFill>
                <a:srgbClr val="0070C0"/>
              </a:solidFill>
            </a:endParaRPr>
          </a:p>
        </p:txBody>
      </p:sp>
      <p:sp>
        <p:nvSpPr>
          <p:cNvPr id="2" name="内容占位符 1"/>
          <p:cNvSpPr>
            <a:spLocks noGrp="1"/>
          </p:cNvSpPr>
          <p:nvPr>
            <p:ph idx="1"/>
          </p:nvPr>
        </p:nvSpPr>
        <p:spPr/>
        <p:txBody>
          <a:bodyPr/>
          <a:lstStyle/>
          <a:p>
            <a:pPr marL="0" indent="0">
              <a:buNone/>
            </a:pPr>
            <a:r>
              <a:rPr lang="en-US" altLang="zh-CN"/>
              <a:t>1.</a:t>
            </a:r>
            <a:r>
              <a:rPr lang="zh-CN" altLang="en-US"/>
              <a:t> </a:t>
            </a:r>
            <a:r>
              <a:rPr lang="en-US" altLang="zh-CN">
                <a:solidFill>
                  <a:srgbClr val="FF0000"/>
                </a:solidFill>
              </a:rPr>
              <a:t>Search for strings.</a:t>
            </a:r>
            <a:endParaRPr lang="zh-CN" altLang="en-US" dirty="0">
              <a:solidFill>
                <a:srgbClr val="FF0000"/>
              </a:solidFill>
            </a:endParaRPr>
          </a:p>
          <a:p>
            <a:pPr marL="0" indent="0">
              <a:buNone/>
            </a:pPr>
            <a:r>
              <a:rPr lang="en-US" altLang="zh-CN"/>
              <a:t>2.</a:t>
            </a:r>
            <a:r>
              <a:rPr lang="zh-CN" altLang="en-US"/>
              <a:t> </a:t>
            </a:r>
            <a:r>
              <a:rPr lang="en-US" altLang="zh-CN">
                <a:solidFill>
                  <a:srgbClr val="FF0000"/>
                </a:solidFill>
              </a:rPr>
              <a:t>Word frequency statistics. </a:t>
            </a:r>
            <a:r>
              <a:rPr lang="en-US" altLang="zh-CN"/>
              <a:t>Count how many times a word appears.</a:t>
            </a:r>
          </a:p>
          <a:p>
            <a:pPr marL="0" indent="0">
              <a:buNone/>
            </a:pPr>
            <a:r>
              <a:rPr lang="en-US" altLang="zh-CN"/>
              <a:t>3. </a:t>
            </a:r>
            <a:r>
              <a:rPr lang="en-US" altLang="zh-CN">
                <a:solidFill>
                  <a:srgbClr val="FF0000"/>
                </a:solidFill>
              </a:rPr>
              <a:t>Sorting.</a:t>
            </a:r>
            <a:r>
              <a:rPr lang="zh-CN" altLang="en-US">
                <a:solidFill>
                  <a:srgbClr val="FF0000"/>
                </a:solidFill>
              </a:rPr>
              <a:t> </a:t>
            </a:r>
            <a:r>
              <a:rPr lang="en-US" altLang="zh-CN"/>
              <a:t>Lexicographic sorting of a set of keys can be accomplished by building a trie from them, with the children of each node sorted lexicographically, and </a:t>
            </a:r>
            <a:r>
              <a:rPr lang="en-US" altLang="zh-CN">
                <a:solidFill>
                  <a:srgbClr val="FF0000"/>
                </a:solidFill>
              </a:rPr>
              <a:t>traversing it in pre-order</a:t>
            </a:r>
            <a:r>
              <a:rPr lang="en-US" altLang="zh-CN"/>
              <a:t>, printing any values in either the interior nodes or in the leaf nodes.</a:t>
            </a:r>
            <a:endParaRPr lang="zh-CN" altLang="en-US" dirty="0"/>
          </a:p>
          <a:p>
            <a:pPr marL="0" indent="0">
              <a:buNone/>
            </a:pPr>
            <a:r>
              <a:rPr lang="en-US" altLang="zh-CN"/>
              <a:t>4.</a:t>
            </a:r>
            <a:r>
              <a:rPr lang="zh-CN" altLang="en-US"/>
              <a:t> </a:t>
            </a:r>
            <a:r>
              <a:rPr lang="en-US" altLang="zh-CN">
                <a:solidFill>
                  <a:srgbClr val="FF0000"/>
                </a:solidFill>
              </a:rPr>
              <a:t>Autocomplete.</a:t>
            </a:r>
            <a:r>
              <a:rPr lang="zh-CN" altLang="en-US">
                <a:solidFill>
                  <a:srgbClr val="FF0000"/>
                </a:solidFill>
              </a:rPr>
              <a:t> </a:t>
            </a:r>
            <a:r>
              <a:rPr lang="en-US" altLang="zh-CN"/>
              <a:t>Tries can be used to return a list of keys with a given prefix. </a:t>
            </a:r>
            <a:endParaRPr lang="zh-CN" altLang="en-US" sz="2400" dirty="0"/>
          </a:p>
          <a:p>
            <a:pPr marL="0" indent="0">
              <a:buNone/>
            </a:pP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noChangeArrowheads="1"/>
          </p:cNvSpPr>
          <p:nvPr>
            <p:ph type="title"/>
          </p:nvPr>
        </p:nvSpPr>
        <p:spPr/>
        <p:txBody>
          <a:bodyPr/>
          <a:lstStyle/>
          <a:p>
            <a:r>
              <a:rPr lang="en-US" altLang="zh-CN" sz="3600">
                <a:solidFill>
                  <a:srgbClr val="0070C0"/>
                </a:solidFill>
              </a:rPr>
              <a:t>A statistical problem</a:t>
            </a:r>
            <a:endParaRPr lang="zh-CN" altLang="en-US" sz="3600" dirty="0">
              <a:solidFill>
                <a:srgbClr val="0070C0"/>
              </a:solidFill>
            </a:endParaRPr>
          </a:p>
        </p:txBody>
      </p:sp>
      <p:sp>
        <p:nvSpPr>
          <p:cNvPr id="2" name="内容占位符 1"/>
          <p:cNvSpPr>
            <a:spLocks noGrp="1"/>
          </p:cNvSpPr>
          <p:nvPr>
            <p:ph idx="1"/>
          </p:nvPr>
        </p:nvSpPr>
        <p:spPr>
          <a:xfrm>
            <a:off x="838200" y="1825625"/>
            <a:ext cx="10515600" cy="1095128"/>
          </a:xfrm>
        </p:spPr>
        <p:txBody>
          <a:bodyPr>
            <a:normAutofit fontScale="92500" lnSpcReduction="10000"/>
          </a:bodyPr>
          <a:lstStyle/>
          <a:p>
            <a:pPr marL="0" indent="0">
              <a:buNone/>
            </a:pPr>
            <a:r>
              <a:rPr lang="en-US" altLang="zh-CN"/>
              <a:t>There are many words, which are only composed of lowercase letters, and there will be no repeated words. Count the number of words prefixed with a certain string.</a:t>
            </a:r>
            <a:endParaRPr lang="zh-CN" altLang="en-US" dirty="0"/>
          </a:p>
        </p:txBody>
      </p:sp>
      <p:pic>
        <p:nvPicPr>
          <p:cNvPr id="4" name="图片 3">
            <a:extLst>
              <a:ext uri="{FF2B5EF4-FFF2-40B4-BE49-F238E27FC236}">
                <a16:creationId xmlns:a16="http://schemas.microsoft.com/office/drawing/2014/main" id="{355EDF60-96A2-4629-8B1C-760017EDD4DF}"/>
              </a:ext>
            </a:extLst>
          </p:cNvPr>
          <p:cNvPicPr>
            <a:picLocks noChangeAspect="1"/>
          </p:cNvPicPr>
          <p:nvPr/>
        </p:nvPicPr>
        <p:blipFill>
          <a:blip r:embed="rId2"/>
          <a:stretch>
            <a:fillRect/>
          </a:stretch>
        </p:blipFill>
        <p:spPr>
          <a:xfrm>
            <a:off x="5738802" y="2472631"/>
            <a:ext cx="3671527" cy="438536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noChangeArrowheads="1"/>
          </p:cNvSpPr>
          <p:nvPr>
            <p:ph type="title"/>
          </p:nvPr>
        </p:nvSpPr>
        <p:spPr>
          <a:xfrm>
            <a:off x="1981200" y="6648"/>
            <a:ext cx="8229600" cy="562074"/>
          </a:xfrm>
        </p:spPr>
        <p:txBody>
          <a:bodyPr/>
          <a:lstStyle/>
          <a:p>
            <a:r>
              <a:rPr lang="en-US" altLang="zh-CN" sz="3200">
                <a:solidFill>
                  <a:srgbClr val="0070C0"/>
                </a:solidFill>
              </a:rPr>
              <a:t>Method</a:t>
            </a:r>
            <a:r>
              <a:rPr lang="zh-CN" altLang="en-US" sz="3200">
                <a:solidFill>
                  <a:srgbClr val="0070C0"/>
                </a:solidFill>
              </a:rPr>
              <a:t> </a:t>
            </a:r>
            <a:r>
              <a:rPr lang="en-US" altLang="zh-CN" sz="3200">
                <a:solidFill>
                  <a:srgbClr val="0070C0"/>
                </a:solidFill>
              </a:rPr>
              <a:t>1:</a:t>
            </a:r>
            <a:r>
              <a:rPr lang="zh-CN" altLang="en-US" sz="3200">
                <a:solidFill>
                  <a:srgbClr val="0070C0"/>
                </a:solidFill>
              </a:rPr>
              <a:t> </a:t>
            </a:r>
            <a:r>
              <a:rPr lang="en-US" altLang="zh-CN" sz="3200">
                <a:solidFill>
                  <a:srgbClr val="0070C0"/>
                </a:solidFill>
              </a:rPr>
              <a:t>map</a:t>
            </a:r>
            <a:endParaRPr lang="zh-CN" altLang="en-US" sz="3200" dirty="0">
              <a:solidFill>
                <a:srgbClr val="0070C0"/>
              </a:solidFill>
            </a:endParaRPr>
          </a:p>
        </p:txBody>
      </p:sp>
      <p:sp>
        <p:nvSpPr>
          <p:cNvPr id="2" name="内容占位符 1"/>
          <p:cNvSpPr>
            <a:spLocks noGrp="1"/>
          </p:cNvSpPr>
          <p:nvPr>
            <p:ph idx="1"/>
          </p:nvPr>
        </p:nvSpPr>
        <p:spPr>
          <a:xfrm>
            <a:off x="1981200" y="692696"/>
            <a:ext cx="8229600" cy="5832648"/>
          </a:xfrm>
        </p:spPr>
        <p:txBody>
          <a:bodyPr>
            <a:normAutofit fontScale="92500" lnSpcReduction="20000"/>
          </a:bodyPr>
          <a:lstStyle/>
          <a:p>
            <a:pPr marL="0" indent="0">
              <a:buNone/>
            </a:pPr>
            <a:r>
              <a:rPr lang="en-US" altLang="zh-CN" sz="1800" dirty="0">
                <a:latin typeface="Courier New" panose="02070309020205020404" pitchFamily="49" charset="0"/>
                <a:cs typeface="Courier New" panose="02070309020205020404" pitchFamily="49" charset="0"/>
              </a:rPr>
              <a:t>#include &lt;bits/</a:t>
            </a:r>
            <a:r>
              <a:rPr lang="en-US" altLang="zh-CN" sz="1800" dirty="0" err="1">
                <a:latin typeface="Courier New" panose="02070309020205020404" pitchFamily="49" charset="0"/>
                <a:cs typeface="Courier New" panose="02070309020205020404" pitchFamily="49" charset="0"/>
              </a:rPr>
              <a:t>stdc</a:t>
            </a:r>
            <a:r>
              <a:rPr lang="en-US" altLang="zh-CN" sz="1800" dirty="0">
                <a:latin typeface="Courier New" panose="02070309020205020404" pitchFamily="49" charset="0"/>
                <a:cs typeface="Courier New" panose="02070309020205020404" pitchFamily="49" charset="0"/>
              </a:rPr>
              <a:t>++.h&gt;</a:t>
            </a:r>
          </a:p>
          <a:p>
            <a:pPr marL="0" indent="0">
              <a:buNone/>
            </a:pPr>
            <a:r>
              <a:rPr lang="en-US" altLang="zh-CN" sz="1800" dirty="0">
                <a:latin typeface="Courier New" panose="02070309020205020404" pitchFamily="49" charset="0"/>
                <a:cs typeface="Courier New" panose="02070309020205020404" pitchFamily="49" charset="0"/>
              </a:rPr>
              <a:t>using namespace std;</a:t>
            </a:r>
          </a:p>
          <a:p>
            <a:pPr marL="0" indent="0">
              <a:buNone/>
            </a:pPr>
            <a:r>
              <a:rPr lang="en-US" altLang="zh-CN" sz="2000" dirty="0">
                <a:latin typeface="Courier New" panose="02070309020205020404" pitchFamily="49" charset="0"/>
                <a:cs typeface="Courier New" panose="02070309020205020404" pitchFamily="49" charset="0"/>
              </a:rPr>
              <a:t>int main(){</a:t>
            </a:r>
          </a:p>
          <a:p>
            <a:pPr marL="0" indent="0">
              <a:buNone/>
            </a:pPr>
            <a:r>
              <a:rPr lang="en-US" altLang="zh-CN" sz="2000" dirty="0">
                <a:latin typeface="Courier New" panose="02070309020205020404" pitchFamily="49" charset="0"/>
                <a:cs typeface="Courier New" panose="02070309020205020404" pitchFamily="49" charset="0"/>
              </a:rPr>
              <a:t>    char str[10];</a:t>
            </a:r>
          </a:p>
          <a:p>
            <a:pPr marL="0" indent="0">
              <a:buNone/>
            </a:pPr>
            <a:r>
              <a:rPr lang="en-US" altLang="zh-CN" sz="2000" dirty="0">
                <a:latin typeface="Courier New" panose="02070309020205020404" pitchFamily="49" charset="0"/>
                <a:cs typeface="Courier New" panose="02070309020205020404" pitchFamily="49" charset="0"/>
              </a:rPr>
              <a:t>    </a:t>
            </a:r>
            <a:r>
              <a:rPr lang="en-US" altLang="zh-CN" sz="2000" dirty="0">
                <a:solidFill>
                  <a:srgbClr val="FF0000"/>
                </a:solidFill>
                <a:latin typeface="Courier New" panose="02070309020205020404" pitchFamily="49" charset="0"/>
                <a:cs typeface="Courier New" panose="02070309020205020404" pitchFamily="49" charset="0"/>
              </a:rPr>
              <a:t>map</a:t>
            </a:r>
            <a:r>
              <a:rPr lang="en-US" altLang="zh-CN" sz="2000" dirty="0">
                <a:latin typeface="Courier New" panose="02070309020205020404" pitchFamily="49" charset="0"/>
                <a:cs typeface="Courier New" panose="02070309020205020404" pitchFamily="49" charset="0"/>
              </a:rPr>
              <a:t>&lt;string, int&gt; m;</a:t>
            </a:r>
          </a:p>
          <a:p>
            <a:pPr marL="0" indent="0">
              <a:buNone/>
            </a:pPr>
            <a:r>
              <a:rPr lang="en-US" altLang="zh-CN" sz="2000" dirty="0">
                <a:latin typeface="Courier New" panose="02070309020205020404" pitchFamily="49" charset="0"/>
                <a:cs typeface="Courier New" panose="02070309020205020404" pitchFamily="49" charset="0"/>
              </a:rPr>
              <a:t>    while(gets(str)){</a:t>
            </a:r>
          </a:p>
          <a:p>
            <a:pPr marL="0" indent="0">
              <a:buNone/>
            </a:pPr>
            <a:r>
              <a:rPr lang="en-US" altLang="zh-CN" sz="2000" dirty="0">
                <a:latin typeface="Courier New" panose="02070309020205020404" pitchFamily="49" charset="0"/>
                <a:cs typeface="Courier New" panose="02070309020205020404" pitchFamily="49" charset="0"/>
              </a:rPr>
              <a:t>        int </a:t>
            </a:r>
            <a:r>
              <a:rPr lang="en-US" altLang="zh-CN" sz="2000" dirty="0" err="1">
                <a:latin typeface="Courier New" panose="02070309020205020404" pitchFamily="49" charset="0"/>
                <a:cs typeface="Courier New" panose="02070309020205020404" pitchFamily="49" charset="0"/>
              </a:rPr>
              <a:t>len</a:t>
            </a:r>
            <a:r>
              <a:rPr lang="en-US" altLang="zh-CN" sz="2000" dirty="0">
                <a:latin typeface="Courier New" panose="02070309020205020404" pitchFamily="49" charset="0"/>
                <a:cs typeface="Courier New" panose="02070309020205020404" pitchFamily="49" charset="0"/>
              </a:rPr>
              <a:t> = </a:t>
            </a:r>
            <a:r>
              <a:rPr lang="en-US" altLang="zh-CN" sz="2000" dirty="0" err="1">
                <a:latin typeface="Courier New" panose="02070309020205020404" pitchFamily="49" charset="0"/>
                <a:cs typeface="Courier New" panose="02070309020205020404" pitchFamily="49" charset="0"/>
              </a:rPr>
              <a:t>strlen</a:t>
            </a:r>
            <a:r>
              <a:rPr lang="en-US" altLang="zh-CN" sz="2000" dirty="0">
                <a:latin typeface="Courier New" panose="02070309020205020404" pitchFamily="49" charset="0"/>
                <a:cs typeface="Courier New" panose="02070309020205020404" pitchFamily="49" charset="0"/>
              </a:rPr>
              <a:t>(str);</a:t>
            </a:r>
          </a:p>
          <a:p>
            <a:pPr marL="0" indent="0">
              <a:buNone/>
            </a:pPr>
            <a:r>
              <a:rPr lang="en-US" altLang="zh-CN" sz="2000" dirty="0">
                <a:latin typeface="Courier New" panose="02070309020205020404" pitchFamily="49" charset="0"/>
                <a:cs typeface="Courier New" panose="02070309020205020404" pitchFamily="49" charset="0"/>
              </a:rPr>
              <a:t>        if ( !</a:t>
            </a:r>
            <a:r>
              <a:rPr lang="en-US" altLang="zh-CN" sz="2000" dirty="0" err="1">
                <a:latin typeface="Courier New" panose="02070309020205020404" pitchFamily="49" charset="0"/>
                <a:cs typeface="Courier New" panose="02070309020205020404" pitchFamily="49" charset="0"/>
              </a:rPr>
              <a:t>len</a:t>
            </a:r>
            <a:r>
              <a:rPr lang="en-US" altLang="zh-CN" sz="2000" dirty="0">
                <a:latin typeface="Courier New" panose="02070309020205020404" pitchFamily="49" charset="0"/>
                <a:cs typeface="Courier New" panose="02070309020205020404" pitchFamily="49" charset="0"/>
              </a:rPr>
              <a:t> )  break</a:t>
            </a:r>
            <a:r>
              <a:rPr lang="en-US" altLang="zh-CN" sz="2000">
                <a:latin typeface="Courier New" panose="02070309020205020404" pitchFamily="49" charset="0"/>
                <a:cs typeface="Courier New" panose="02070309020205020404" pitchFamily="49" charset="0"/>
              </a:rPr>
              <a:t>;      </a:t>
            </a:r>
            <a:r>
              <a:rPr lang="en-US" altLang="zh-CN" sz="1800">
                <a:latin typeface="Courier New" panose="02070309020205020404" pitchFamily="49" charset="0"/>
                <a:cs typeface="Courier New" panose="02070309020205020404" pitchFamily="49" charset="0"/>
              </a:rPr>
              <a:t>//</a:t>
            </a:r>
            <a:r>
              <a:rPr lang="zh-CN" altLang="en-US" sz="1800">
                <a:latin typeface="Courier New" panose="02070309020205020404" pitchFamily="49" charset="0"/>
                <a:cs typeface="Courier New" panose="02070309020205020404" pitchFamily="49" charset="0"/>
              </a:rPr>
              <a:t> </a:t>
            </a:r>
            <a:r>
              <a:rPr lang="en-US" altLang="zh-CN" sz="1800">
                <a:latin typeface="Courier New" panose="02070309020205020404" pitchFamily="49" charset="0"/>
                <a:cs typeface="Courier New" panose="02070309020205020404" pitchFamily="49" charset="0"/>
              </a:rPr>
              <a:t>input</a:t>
            </a:r>
            <a:r>
              <a:rPr lang="zh-CN" altLang="en-US" sz="1800">
                <a:latin typeface="Courier New" panose="02070309020205020404" pitchFamily="49" charset="0"/>
                <a:cs typeface="Courier New" panose="02070309020205020404" pitchFamily="49" charset="0"/>
              </a:rPr>
              <a:t> </a:t>
            </a:r>
            <a:r>
              <a:rPr lang="en-US" altLang="zh-CN" sz="1800">
                <a:latin typeface="Courier New" panose="02070309020205020404" pitchFamily="49" charset="0"/>
                <a:cs typeface="Courier New" panose="02070309020205020404" pitchFamily="49" charset="0"/>
              </a:rPr>
              <a:t>an</a:t>
            </a:r>
            <a:r>
              <a:rPr lang="zh-CN" altLang="en-US" sz="1800">
                <a:latin typeface="Courier New" panose="02070309020205020404" pitchFamily="49" charset="0"/>
                <a:cs typeface="Courier New" panose="02070309020205020404" pitchFamily="49" charset="0"/>
              </a:rPr>
              <a:t> </a:t>
            </a:r>
            <a:r>
              <a:rPr lang="en-US" altLang="zh-CN" sz="1800">
                <a:latin typeface="Courier New" panose="02070309020205020404" pitchFamily="49" charset="0"/>
                <a:cs typeface="Courier New" panose="02070309020205020404" pitchFamily="49" charset="0"/>
              </a:rPr>
              <a:t>empty</a:t>
            </a:r>
            <a:r>
              <a:rPr lang="zh-CN" altLang="en-US" sz="1800">
                <a:latin typeface="Courier New" panose="02070309020205020404" pitchFamily="49" charset="0"/>
                <a:cs typeface="Courier New" panose="02070309020205020404" pitchFamily="49" charset="0"/>
              </a:rPr>
              <a:t> </a:t>
            </a:r>
            <a:r>
              <a:rPr lang="en-US" altLang="zh-CN" sz="1800">
                <a:latin typeface="Courier New" panose="02070309020205020404" pitchFamily="49" charset="0"/>
                <a:cs typeface="Courier New" panose="02070309020205020404" pitchFamily="49" charset="0"/>
              </a:rPr>
              <a:t>line</a:t>
            </a:r>
            <a:endParaRPr lang="zh-CN" altLang="en-US" sz="1800" dirty="0">
              <a:latin typeface="Courier New" panose="02070309020205020404" pitchFamily="49" charset="0"/>
              <a:cs typeface="Courier New" panose="02070309020205020404" pitchFamily="49" charset="0"/>
            </a:endParaRPr>
          </a:p>
          <a:p>
            <a:pPr marL="0" indent="0">
              <a:buNone/>
            </a:pPr>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for(int </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 = </a:t>
            </a:r>
            <a:r>
              <a:rPr lang="en-US" altLang="zh-CN" sz="2000" dirty="0" err="1">
                <a:latin typeface="Courier New" panose="02070309020205020404" pitchFamily="49" charset="0"/>
                <a:cs typeface="Courier New" panose="02070309020205020404" pitchFamily="49" charset="0"/>
              </a:rPr>
              <a:t>len</a:t>
            </a:r>
            <a:r>
              <a:rPr lang="en-US" altLang="zh-CN" sz="2000" dirty="0">
                <a:latin typeface="Courier New" panose="02070309020205020404" pitchFamily="49" charset="0"/>
                <a:cs typeface="Courier New" panose="02070309020205020404" pitchFamily="49" charset="0"/>
              </a:rPr>
              <a:t>; </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 &gt; 0; </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a:t>
            </a:r>
          </a:p>
          <a:p>
            <a:pPr marL="0" indent="0">
              <a:buNone/>
            </a:pPr>
            <a:r>
              <a:rPr lang="en-US" altLang="zh-CN" sz="2000" dirty="0">
                <a:latin typeface="Courier New" panose="02070309020205020404" pitchFamily="49" charset="0"/>
                <a:cs typeface="Courier New" panose="02070309020205020404" pitchFamily="49" charset="0"/>
              </a:rPr>
              <a:t>            str[</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 = ‘\0</a:t>
            </a:r>
            <a:r>
              <a:rPr lang="en-US" altLang="zh-CN" sz="2000">
                <a:latin typeface="Courier New" panose="02070309020205020404" pitchFamily="49" charset="0"/>
                <a:cs typeface="Courier New" panose="02070309020205020404" pitchFamily="49" charset="0"/>
              </a:rPr>
              <a:t>’; </a:t>
            </a:r>
            <a:r>
              <a:rPr lang="en-US" altLang="zh-CN" sz="1400">
                <a:latin typeface="Courier New" panose="02070309020205020404" pitchFamily="49" charset="0"/>
                <a:cs typeface="Courier New" panose="02070309020205020404" pitchFamily="49" charset="0"/>
              </a:rPr>
              <a:t>//Delete the characters of this string </a:t>
            </a:r>
          </a:p>
          <a:p>
            <a:pPr marL="0" indent="0">
              <a:buNone/>
            </a:pPr>
            <a:r>
              <a:rPr lang="en-US" altLang="zh-CN" sz="1400">
                <a:latin typeface="Courier New" panose="02070309020205020404" pitchFamily="49" charset="0"/>
                <a:cs typeface="Courier New" panose="02070309020205020404" pitchFamily="49" charset="0"/>
              </a:rPr>
              <a:t>// one by one from back to front, to get the prefixes</a:t>
            </a:r>
            <a:endParaRPr lang="zh-CN" altLang="en-US" sz="2000" dirty="0">
              <a:latin typeface="Courier New" panose="02070309020205020404" pitchFamily="49" charset="0"/>
              <a:cs typeface="Courier New" panose="02070309020205020404" pitchFamily="49" charset="0"/>
            </a:endParaRPr>
          </a:p>
          <a:p>
            <a:pPr marL="0" indent="0">
              <a:buNone/>
            </a:pPr>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m[</a:t>
            </a:r>
            <a:r>
              <a:rPr lang="en-US" altLang="zh-CN" sz="2000">
                <a:latin typeface="Courier New" panose="02070309020205020404" pitchFamily="49" charset="0"/>
                <a:cs typeface="Courier New" panose="02070309020205020404" pitchFamily="49" charset="0"/>
              </a:rPr>
              <a:t>str]++; </a:t>
            </a:r>
            <a:r>
              <a:rPr lang="en-US" altLang="zh-CN" sz="1700">
                <a:latin typeface="Courier New" panose="02070309020205020404" pitchFamily="49" charset="0"/>
                <a:cs typeface="Courier New" panose="02070309020205020404" pitchFamily="49" charset="0"/>
              </a:rPr>
              <a:t>//the number of words prefixed with str</a:t>
            </a:r>
            <a:endParaRPr lang="zh-CN" altLang="en-US" sz="1700" dirty="0">
              <a:latin typeface="Courier New" panose="02070309020205020404" pitchFamily="49" charset="0"/>
              <a:cs typeface="Courier New" panose="02070309020205020404" pitchFamily="49" charset="0"/>
            </a:endParaRPr>
          </a:p>
          <a:p>
            <a:pPr marL="0" indent="0">
              <a:buNone/>
            </a:pPr>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a:p>
            <a:pPr marL="0" indent="0">
              <a:buNone/>
            </a:pPr>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a:p>
            <a:pPr marL="0" indent="0">
              <a:buNone/>
            </a:pPr>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while( gets(str) )  </a:t>
            </a:r>
            <a:r>
              <a:rPr lang="en-US" altLang="zh-CN" sz="2000" dirty="0" err="1">
                <a:latin typeface="Courier New" panose="02070309020205020404" pitchFamily="49" charset="0"/>
                <a:cs typeface="Courier New" panose="02070309020205020404" pitchFamily="49" charset="0"/>
              </a:rPr>
              <a:t>cout</a:t>
            </a:r>
            <a:r>
              <a:rPr lang="en-US" altLang="zh-CN" sz="2000" dirty="0">
                <a:latin typeface="Courier New" panose="02070309020205020404" pitchFamily="49" charset="0"/>
                <a:cs typeface="Courier New" panose="02070309020205020404" pitchFamily="49" charset="0"/>
              </a:rPr>
              <a:t> &lt;&lt; m[str] &lt;&lt; </a:t>
            </a:r>
            <a:r>
              <a:rPr lang="en-US" altLang="zh-CN" sz="2000" dirty="0" err="1">
                <a:latin typeface="Courier New" panose="02070309020205020404" pitchFamily="49" charset="0"/>
                <a:cs typeface="Courier New" panose="02070309020205020404" pitchFamily="49" charset="0"/>
              </a:rPr>
              <a:t>endl</a:t>
            </a:r>
            <a:r>
              <a:rPr lang="en-US" altLang="zh-CN" sz="2000" dirty="0">
                <a:latin typeface="Courier New" panose="02070309020205020404" pitchFamily="49" charset="0"/>
                <a:cs typeface="Courier New" panose="02070309020205020404" pitchFamily="49" charset="0"/>
              </a:rPr>
              <a:t>;</a:t>
            </a:r>
          </a:p>
          <a:p>
            <a:pPr marL="0" indent="0">
              <a:buNone/>
            </a:pPr>
            <a:r>
              <a:rPr lang="en-US" altLang="zh-CN" sz="2000" dirty="0">
                <a:latin typeface="Courier New" panose="02070309020205020404" pitchFamily="49" charset="0"/>
                <a:cs typeface="Courier New" panose="02070309020205020404" pitchFamily="49" charset="0"/>
              </a:rPr>
              <a:t>    return 0;</a:t>
            </a:r>
          </a:p>
          <a:p>
            <a:pPr marL="0" indent="0">
              <a:buNone/>
            </a:pPr>
            <a:r>
              <a:rPr lang="en-US" altLang="zh-CN" sz="200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noChangeArrowheads="1"/>
          </p:cNvSpPr>
          <p:nvPr>
            <p:ph type="title"/>
          </p:nvPr>
        </p:nvSpPr>
        <p:spPr/>
        <p:txBody>
          <a:bodyPr/>
          <a:lstStyle/>
          <a:p>
            <a:r>
              <a:rPr lang="en-US" altLang="zh-CN" sz="3600">
                <a:solidFill>
                  <a:srgbClr val="0070C0"/>
                </a:solidFill>
              </a:rPr>
              <a:t>Method 2: Using struct to implement the trie </a:t>
            </a:r>
            <a:r>
              <a:rPr lang="en-US" altLang="zh-CN" sz="3600">
                <a:solidFill>
                  <a:srgbClr val="FF0000"/>
                </a:solidFill>
              </a:rPr>
              <a:t>(MLE)</a:t>
            </a:r>
            <a:endParaRPr lang="zh-CN" altLang="en-US" sz="3600" dirty="0">
              <a:solidFill>
                <a:srgbClr val="FF0000"/>
              </a:solidFill>
            </a:endParaRPr>
          </a:p>
        </p:txBody>
      </p:sp>
      <p:sp>
        <p:nvSpPr>
          <p:cNvPr id="3" name="内容占位符 2"/>
          <p:cNvSpPr>
            <a:spLocks noGrp="1"/>
          </p:cNvSpPr>
          <p:nvPr>
            <p:ph idx="1"/>
          </p:nvPr>
        </p:nvSpPr>
        <p:spPr>
          <a:xfrm>
            <a:off x="1812524" y="1968054"/>
            <a:ext cx="8229600" cy="757391"/>
          </a:xfrm>
        </p:spPr>
        <p:txBody>
          <a:bodyPr/>
          <a:lstStyle/>
          <a:p>
            <a:pPr marL="0" indent="0">
              <a:buNone/>
            </a:pPr>
            <a:r>
              <a:rPr lang="en-US" altLang="zh-CN"/>
              <a:t>Insert():</a:t>
            </a:r>
            <a:r>
              <a:rPr lang="zh-CN" altLang="en-US"/>
              <a:t> </a:t>
            </a:r>
            <a:r>
              <a:rPr lang="en-US" altLang="zh-CN"/>
              <a:t>new Trie      </a:t>
            </a:r>
            <a:r>
              <a:rPr lang="en-US" altLang="zh-CN">
                <a:solidFill>
                  <a:srgbClr val="FF0000"/>
                </a:solidFill>
              </a:rPr>
              <a:t>MLE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noChangeArrowheads="1"/>
          </p:cNvSpPr>
          <p:nvPr>
            <p:ph type="title"/>
          </p:nvPr>
        </p:nvSpPr>
        <p:spPr/>
        <p:txBody>
          <a:bodyPr/>
          <a:lstStyle/>
          <a:p>
            <a:r>
              <a:rPr lang="en-US" altLang="zh-CN" sz="3600">
                <a:solidFill>
                  <a:srgbClr val="0070C0"/>
                </a:solidFill>
              </a:rPr>
              <a:t>Method 3: Using array to implement the trie</a:t>
            </a:r>
            <a:endParaRPr lang="zh-CN" altLang="en-US" sz="3600" dirty="0">
              <a:solidFill>
                <a:srgbClr val="0070C0"/>
              </a:solidFill>
            </a:endParaRPr>
          </a:p>
        </p:txBody>
      </p:sp>
      <p:sp>
        <p:nvSpPr>
          <p:cNvPr id="70659" name="内容占位符 2"/>
          <p:cNvSpPr>
            <a:spLocks noGrp="1" noChangeArrowheads="1"/>
          </p:cNvSpPr>
          <p:nvPr>
            <p:ph idx="1"/>
          </p:nvPr>
        </p:nvSpPr>
        <p:spPr>
          <a:xfrm>
            <a:off x="1981200" y="2203883"/>
            <a:ext cx="8229600" cy="2908920"/>
          </a:xfrm>
        </p:spPr>
        <p:txBody>
          <a:bodyPr/>
          <a:lstStyle/>
          <a:p>
            <a:pPr marL="0" indent="0">
              <a:buNone/>
            </a:pPr>
            <a:r>
              <a:rPr lang="en-US" altLang="zh-CN"/>
              <a:t>Compared with “struct”, “array” is more compact.</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noChangeArrowheads="1"/>
          </p:cNvSpPr>
          <p:nvPr>
            <p:ph type="title"/>
          </p:nvPr>
        </p:nvSpPr>
        <p:spPr/>
        <p:txBody>
          <a:bodyPr/>
          <a:lstStyle/>
          <a:p>
            <a:r>
              <a:rPr lang="en-US" altLang="zh-CN" sz="4000">
                <a:solidFill>
                  <a:srgbClr val="FF0000"/>
                </a:solidFill>
              </a:rPr>
              <a:t>KMP</a:t>
            </a:r>
            <a:endParaRPr lang="en-US" altLang="zh-CN" sz="4000" dirty="0">
              <a:solidFill>
                <a:srgbClr val="FF0000"/>
              </a:solidFill>
            </a:endParaRPr>
          </a:p>
        </p:txBody>
      </p:sp>
      <p:sp>
        <p:nvSpPr>
          <p:cNvPr id="71683" name="内容占位符 2"/>
          <p:cNvSpPr>
            <a:spLocks noGrp="1" noChangeArrowheads="1"/>
          </p:cNvSpPr>
          <p:nvPr>
            <p:ph idx="1"/>
          </p:nvPr>
        </p:nvSpPr>
        <p:spPr/>
        <p:txBody>
          <a:bodyPr>
            <a:normAutofit/>
          </a:bodyPr>
          <a:lstStyle/>
          <a:p>
            <a:r>
              <a:rPr lang="en-US" altLang="zh-CN"/>
              <a:t>KMP searches for occurrences of a "word” (m) within a main "text string“ (n) by employing the observation that when a mismatch occurs, the word itself embodies sufficient information to determine where the next match could begin, thus bypassing re-examination of previously matched characters. </a:t>
            </a:r>
            <a:r>
              <a:rPr lang="en-US" altLang="zh-CN">
                <a:solidFill>
                  <a:srgbClr val="FF0000"/>
                </a:solidFill>
              </a:rPr>
              <a:t>It is the first linear-time algorithm for string matching.</a:t>
            </a:r>
          </a:p>
          <a:p>
            <a:r>
              <a:rPr lang="en-US" altLang="zh-CN"/>
              <a:t>the complexity is O</a:t>
            </a:r>
            <a:r>
              <a:rPr lang="en-US" altLang="zh-CN" dirty="0"/>
              <a:t>(m + </a:t>
            </a:r>
            <a:r>
              <a:rPr lang="en-US" altLang="zh-CN"/>
              <a:t>n).</a:t>
            </a:r>
            <a:r>
              <a:rPr lang="zh-CN" altLang="en-US"/>
              <a:t> </a:t>
            </a:r>
            <a:r>
              <a:rPr lang="en-US" altLang="zh-CN"/>
              <a:t>It</a:t>
            </a:r>
            <a:r>
              <a:rPr lang="zh-CN" altLang="en-US"/>
              <a:t> </a:t>
            </a:r>
            <a:r>
              <a:rPr lang="en-US" altLang="zh-CN"/>
              <a:t>is</a:t>
            </a:r>
            <a:r>
              <a:rPr lang="zh-CN" altLang="en-US"/>
              <a:t> </a:t>
            </a:r>
            <a:r>
              <a:rPr lang="en-US" altLang="zh-CN"/>
              <a:t>an optimal string matching algorithm, since at least n+m characters need to be processed.</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6491064" cy="1143000"/>
          </a:xfrm>
        </p:spPr>
        <p:txBody>
          <a:bodyPr/>
          <a:lstStyle/>
          <a:p>
            <a:r>
              <a:rPr lang="en-US" altLang="zh-CN" sz="3200" b="1">
                <a:solidFill>
                  <a:srgbClr val="0070C0"/>
                </a:solidFill>
              </a:rPr>
              <a:t>Brute force?</a:t>
            </a:r>
            <a:endParaRPr lang="zh-CN" altLang="en-US" sz="3600" dirty="0">
              <a:solidFill>
                <a:srgbClr val="0070C0"/>
              </a:solidFill>
            </a:endParaRPr>
          </a:p>
        </p:txBody>
      </p:sp>
      <p:sp>
        <p:nvSpPr>
          <p:cNvPr id="3" name="内容占位符 2"/>
          <p:cNvSpPr>
            <a:spLocks noGrp="1"/>
          </p:cNvSpPr>
          <p:nvPr>
            <p:ph idx="1"/>
          </p:nvPr>
        </p:nvSpPr>
        <p:spPr>
          <a:xfrm>
            <a:off x="1981200" y="1600201"/>
            <a:ext cx="4258816" cy="4525963"/>
          </a:xfrm>
        </p:spPr>
        <p:txBody>
          <a:bodyPr/>
          <a:lstStyle/>
          <a:p>
            <a:r>
              <a:rPr lang="en-US" altLang="zh-CN">
                <a:solidFill>
                  <a:srgbClr val="0070C0"/>
                </a:solidFill>
              </a:rPr>
              <a:t>For all the characters of S, match each character of P one by one.</a:t>
            </a:r>
          </a:p>
          <a:p>
            <a:r>
              <a:rPr lang="en-US" altLang="zh-CN"/>
              <a:t>For</a:t>
            </a:r>
            <a:r>
              <a:rPr lang="zh-CN" altLang="en-US"/>
              <a:t> </a:t>
            </a:r>
            <a:r>
              <a:rPr lang="en-US" altLang="zh-CN"/>
              <a:t>example:</a:t>
            </a:r>
            <a:endParaRPr lang="en-US" altLang="zh-CN" dirty="0"/>
          </a:p>
          <a:p>
            <a:pPr marL="800100" lvl="2" indent="0">
              <a:buNone/>
            </a:pPr>
            <a:r>
              <a:rPr lang="en-US" altLang="zh-CN" sz="2800" dirty="0"/>
              <a:t>S=”abcxyz123”</a:t>
            </a:r>
          </a:p>
          <a:p>
            <a:pPr marL="800100" lvl="2" indent="0">
              <a:buNone/>
            </a:pPr>
            <a:r>
              <a:rPr lang="en-US" altLang="zh-CN" sz="2800" dirty="0"/>
              <a:t>P =”123”</a:t>
            </a:r>
          </a:p>
          <a:p>
            <a:r>
              <a:rPr lang="en-US" altLang="zh-CN"/>
              <a:t>Complexity:</a:t>
            </a:r>
            <a:r>
              <a:rPr lang="zh-CN" altLang="en-US"/>
              <a:t> </a:t>
            </a:r>
            <a:r>
              <a:rPr lang="en-US" altLang="zh-CN"/>
              <a:t>6+3</a:t>
            </a:r>
            <a:endParaRPr lang="en-US" altLang="zh-CN" dirty="0"/>
          </a:p>
          <a:p>
            <a:endParaRPr lang="en-US" altLang="zh-CN" dirty="0"/>
          </a:p>
          <a:p>
            <a:pPr marL="800100" lvl="2" indent="0">
              <a:buNone/>
            </a:pPr>
            <a:endParaRPr lang="en-US" altLang="zh-CN" sz="2800" dirty="0"/>
          </a:p>
          <a:p>
            <a:endParaRPr lang="zh-CN" altLang="en-US" dirty="0"/>
          </a:p>
        </p:txBody>
      </p:sp>
      <p:pic>
        <p:nvPicPr>
          <p:cNvPr id="6" name="图片 5">
            <a:extLst>
              <a:ext uri="{FF2B5EF4-FFF2-40B4-BE49-F238E27FC236}">
                <a16:creationId xmlns:a16="http://schemas.microsoft.com/office/drawing/2014/main" id="{E578A2CC-7FEC-4227-B144-13C6FD0BE52C}"/>
              </a:ext>
            </a:extLst>
          </p:cNvPr>
          <p:cNvPicPr>
            <a:picLocks noChangeAspect="1"/>
          </p:cNvPicPr>
          <p:nvPr/>
        </p:nvPicPr>
        <p:blipFill>
          <a:blip r:embed="rId2"/>
          <a:stretch>
            <a:fillRect/>
          </a:stretch>
        </p:blipFill>
        <p:spPr>
          <a:xfrm>
            <a:off x="6983109" y="954735"/>
            <a:ext cx="3552381" cy="517142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a:t>When most of the characters of P and S are different, brute force performs well.</a:t>
            </a:r>
          </a:p>
          <a:p>
            <a:r>
              <a:rPr lang="en-US" altLang="zh-CN"/>
              <a:t>Each time when matching, the first character doesn’t match, and there is no need to match the remaining characters of P.</a:t>
            </a:r>
          </a:p>
          <a:p>
            <a:r>
              <a:rPr lang="en-US" altLang="zh-CN"/>
              <a:t>O</a:t>
            </a:r>
            <a:r>
              <a:rPr lang="en-US" altLang="zh-CN" dirty="0"/>
              <a:t>(</a:t>
            </a:r>
            <a:r>
              <a:rPr lang="en-US" altLang="zh-CN" dirty="0" err="1"/>
              <a:t>n+m</a:t>
            </a:r>
            <a:r>
              <a:rPr lang="en-US" altLang="zh-CN" dirty="0"/>
              <a:t>)</a:t>
            </a:r>
          </a:p>
          <a:p>
            <a:endParaRPr lang="en-US" altLang="zh-CN" dirty="0"/>
          </a:p>
          <a:p>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3394720" cy="1143000"/>
          </a:xfrm>
        </p:spPr>
        <p:txBody>
          <a:bodyPr/>
          <a:lstStyle/>
          <a:p>
            <a:r>
              <a:rPr lang="en-US" altLang="zh-CN" sz="3600">
                <a:solidFill>
                  <a:srgbClr val="0070C0"/>
                </a:solidFill>
              </a:rPr>
              <a:t>However,</a:t>
            </a:r>
            <a:endParaRPr lang="zh-CN" altLang="en-US" sz="3600" dirty="0">
              <a:solidFill>
                <a:srgbClr val="0070C0"/>
              </a:solidFill>
            </a:endParaRPr>
          </a:p>
        </p:txBody>
      </p:sp>
      <p:sp>
        <p:nvSpPr>
          <p:cNvPr id="3" name="内容占位符 2"/>
          <p:cNvSpPr>
            <a:spLocks noGrp="1"/>
          </p:cNvSpPr>
          <p:nvPr>
            <p:ph idx="1"/>
          </p:nvPr>
        </p:nvSpPr>
        <p:spPr>
          <a:xfrm>
            <a:off x="2383986" y="1697857"/>
            <a:ext cx="4114800" cy="2448015"/>
          </a:xfrm>
        </p:spPr>
        <p:txBody>
          <a:bodyPr/>
          <a:lstStyle/>
          <a:p>
            <a:pPr marL="0" indent="0">
              <a:buNone/>
            </a:pPr>
            <a:r>
              <a:rPr lang="en-US" altLang="zh-CN"/>
              <a:t>If all the first m-1 characters of P match, and only the last one does not match, then the complexity is O(nm).</a:t>
            </a:r>
            <a:endParaRPr lang="zh-CN" altLang="en-US" dirty="0"/>
          </a:p>
        </p:txBody>
      </p:sp>
      <p:pic>
        <p:nvPicPr>
          <p:cNvPr id="6" name="图片 5">
            <a:extLst>
              <a:ext uri="{FF2B5EF4-FFF2-40B4-BE49-F238E27FC236}">
                <a16:creationId xmlns:a16="http://schemas.microsoft.com/office/drawing/2014/main" id="{9EBCE897-244A-43B0-B57A-CDBAFF4649D8}"/>
              </a:ext>
            </a:extLst>
          </p:cNvPr>
          <p:cNvPicPr>
            <a:picLocks noChangeAspect="1"/>
          </p:cNvPicPr>
          <p:nvPr/>
        </p:nvPicPr>
        <p:blipFill>
          <a:blip r:embed="rId2"/>
          <a:stretch>
            <a:fillRect/>
          </a:stretch>
        </p:blipFill>
        <p:spPr>
          <a:xfrm>
            <a:off x="6498786" y="1260872"/>
            <a:ext cx="3828571" cy="46380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内容占位符 2"/>
          <p:cNvSpPr>
            <a:spLocks noGrp="1" noChangeArrowheads="1"/>
          </p:cNvSpPr>
          <p:nvPr>
            <p:ph idx="1"/>
          </p:nvPr>
        </p:nvSpPr>
        <p:spPr>
          <a:xfrm>
            <a:off x="1901301" y="461210"/>
            <a:ext cx="8229600" cy="1190037"/>
          </a:xfrm>
        </p:spPr>
        <p:txBody>
          <a:bodyPr/>
          <a:lstStyle/>
          <a:p>
            <a:pPr marL="0" indent="0">
              <a:buNone/>
            </a:pPr>
            <a:r>
              <a:rPr lang="en-US" altLang="zh-CN">
                <a:solidFill>
                  <a:schemeClr val="accent5"/>
                </a:solidFill>
              </a:rPr>
              <a:t>KMP:</a:t>
            </a:r>
            <a:r>
              <a:rPr lang="zh-CN" altLang="en-US">
                <a:solidFill>
                  <a:schemeClr val="accent5"/>
                </a:solidFill>
              </a:rPr>
              <a:t> </a:t>
            </a:r>
            <a:r>
              <a:rPr lang="en-US" altLang="zh-CN">
                <a:solidFill>
                  <a:schemeClr val="accent5"/>
                </a:solidFill>
              </a:rPr>
              <a:t>always O</a:t>
            </a:r>
            <a:r>
              <a:rPr lang="en-US" altLang="zh-CN" dirty="0">
                <a:solidFill>
                  <a:schemeClr val="accent5"/>
                </a:solidFill>
              </a:rPr>
              <a:t>(</a:t>
            </a:r>
            <a:r>
              <a:rPr lang="en-US" altLang="zh-CN" dirty="0" err="1">
                <a:solidFill>
                  <a:schemeClr val="accent5"/>
                </a:solidFill>
              </a:rPr>
              <a:t>n+</a:t>
            </a:r>
            <a:r>
              <a:rPr lang="en-US" altLang="zh-CN" err="1">
                <a:solidFill>
                  <a:schemeClr val="accent5"/>
                </a:solidFill>
              </a:rPr>
              <a:t>m</a:t>
            </a:r>
            <a:r>
              <a:rPr lang="en-US" altLang="zh-CN">
                <a:solidFill>
                  <a:schemeClr val="accent5"/>
                </a:solidFill>
              </a:rPr>
              <a:t>)</a:t>
            </a:r>
            <a:endParaRPr lang="en-US" altLang="zh-CN" sz="1800" dirty="0">
              <a:solidFill>
                <a:schemeClr val="accent5"/>
              </a:solidFill>
            </a:endParaRPr>
          </a:p>
          <a:p>
            <a:pPr marL="0" indent="0">
              <a:buNone/>
            </a:pPr>
            <a:r>
              <a:rPr lang="en-US" altLang="zh-CN"/>
              <a:t>For</a:t>
            </a:r>
            <a:r>
              <a:rPr lang="zh-CN" altLang="en-US"/>
              <a:t> </a:t>
            </a:r>
            <a:r>
              <a:rPr lang="en-US" altLang="zh-CN"/>
              <a:t>exmaple:</a:t>
            </a:r>
            <a:r>
              <a:rPr lang="zh-CN" altLang="en-US"/>
              <a:t> </a:t>
            </a:r>
            <a:r>
              <a:rPr lang="en-US" altLang="zh-CN"/>
              <a:t>S[]=“abcabcabcd”,</a:t>
            </a:r>
            <a:r>
              <a:rPr lang="zh-CN" altLang="en-US" dirty="0"/>
              <a:t> </a:t>
            </a:r>
            <a:r>
              <a:rPr lang="en-US" altLang="zh-CN"/>
              <a:t>P[]=“abcd</a:t>
            </a:r>
            <a:r>
              <a:rPr lang="en-US" altLang="zh-CN" dirty="0"/>
              <a:t>”</a:t>
            </a:r>
          </a:p>
          <a:p>
            <a:endParaRPr lang="zh-CN" altLang="en-US" dirty="0"/>
          </a:p>
        </p:txBody>
      </p:sp>
      <p:sp>
        <p:nvSpPr>
          <p:cNvPr id="8" name="文本框 7">
            <a:extLst>
              <a:ext uri="{FF2B5EF4-FFF2-40B4-BE49-F238E27FC236}">
                <a16:creationId xmlns:a16="http://schemas.microsoft.com/office/drawing/2014/main" id="{174A679C-F167-4A2D-B09A-E3D568659D26}"/>
              </a:ext>
            </a:extLst>
          </p:cNvPr>
          <p:cNvSpPr txBox="1"/>
          <p:nvPr/>
        </p:nvSpPr>
        <p:spPr>
          <a:xfrm>
            <a:off x="2968841" y="5206753"/>
            <a:ext cx="6094520" cy="646331"/>
          </a:xfrm>
          <a:prstGeom prst="rect">
            <a:avLst/>
          </a:prstGeom>
          <a:noFill/>
        </p:spPr>
        <p:txBody>
          <a:bodyPr wrap="square">
            <a:spAutoFit/>
          </a:bodyPr>
          <a:lstStyle/>
          <a:p>
            <a:r>
              <a:rPr lang="zh-CN" altLang="en-US"/>
              <a:t>After the first round of matching, there is a mismatch at i=3, j=3</a:t>
            </a:r>
            <a:r>
              <a:rPr lang="en-US" altLang="zh-CN"/>
              <a:t>.</a:t>
            </a:r>
            <a:endParaRPr lang="zh-CN" altLang="en-US"/>
          </a:p>
        </p:txBody>
      </p:sp>
      <p:pic>
        <p:nvPicPr>
          <p:cNvPr id="7" name="图片 6">
            <a:extLst>
              <a:ext uri="{FF2B5EF4-FFF2-40B4-BE49-F238E27FC236}">
                <a16:creationId xmlns:a16="http://schemas.microsoft.com/office/drawing/2014/main" id="{020DFF40-5565-4174-8E3C-062B180FAB1C}"/>
              </a:ext>
            </a:extLst>
          </p:cNvPr>
          <p:cNvPicPr>
            <a:picLocks noChangeAspect="1"/>
          </p:cNvPicPr>
          <p:nvPr/>
        </p:nvPicPr>
        <p:blipFill>
          <a:blip r:embed="rId2"/>
          <a:stretch>
            <a:fillRect/>
          </a:stretch>
        </p:blipFill>
        <p:spPr>
          <a:xfrm>
            <a:off x="3601815" y="2073420"/>
            <a:ext cx="4828571" cy="313333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0214" y="1600200"/>
            <a:ext cx="2135057" cy="4525963"/>
          </a:xfrm>
        </p:spPr>
        <p:txBody>
          <a:bodyPr/>
          <a:lstStyle/>
          <a:p>
            <a:r>
              <a:rPr lang="en-US" altLang="zh-CN">
                <a:solidFill>
                  <a:srgbClr val="0070C0"/>
                </a:solidFill>
              </a:rPr>
              <a:t>Brute</a:t>
            </a:r>
            <a:r>
              <a:rPr lang="zh-CN" altLang="en-US">
                <a:solidFill>
                  <a:srgbClr val="0070C0"/>
                </a:solidFill>
              </a:rPr>
              <a:t> </a:t>
            </a:r>
            <a:r>
              <a:rPr lang="en-US" altLang="zh-CN">
                <a:solidFill>
                  <a:srgbClr val="0070C0"/>
                </a:solidFill>
              </a:rPr>
              <a:t>force</a:t>
            </a:r>
            <a:endParaRPr lang="en-US" altLang="zh-CN" dirty="0">
              <a:solidFill>
                <a:srgbClr val="0070C0"/>
              </a:solidFill>
            </a:endParaRPr>
          </a:p>
          <a:p>
            <a:pPr marL="0" indent="0" algn="ctr">
              <a:buNone/>
            </a:pPr>
            <a:r>
              <a:rPr lang="zh-CN" altLang="zh-CN" sz="4800" dirty="0">
                <a:solidFill>
                  <a:srgbClr val="FF0000"/>
                </a:solidFill>
                <a:latin typeface="Times New Roman" panose="02020603050405020304" pitchFamily="18" charset="0"/>
                <a:cs typeface="Times New Roman" panose="02020603050405020304" pitchFamily="18" charset="0"/>
              </a:rPr>
              <a:t>˟</a:t>
            </a:r>
            <a:endParaRPr lang="en-US" altLang="zh-CN" sz="4800" dirty="0">
              <a:solidFill>
                <a:srgbClr val="FF0000"/>
              </a:solidFill>
            </a:endParaRPr>
          </a:p>
          <a:p>
            <a:endParaRPr lang="en-US" altLang="zh-CN" dirty="0"/>
          </a:p>
          <a:p>
            <a:endParaRPr lang="en-US" altLang="zh-CN" dirty="0"/>
          </a:p>
          <a:p>
            <a:r>
              <a:rPr lang="en-US" altLang="zh-CN" dirty="0">
                <a:solidFill>
                  <a:srgbClr val="0070C0"/>
                </a:solidFill>
              </a:rPr>
              <a:t>KMP</a:t>
            </a:r>
          </a:p>
          <a:p>
            <a:pPr marL="0" indent="0" algn="ctr">
              <a:buNone/>
            </a:pPr>
            <a:r>
              <a:rPr lang="zh-CN" altLang="en-US" b="1" dirty="0">
                <a:solidFill>
                  <a:srgbClr val="FF0000"/>
                </a:solidFill>
                <a:latin typeface="Times New Roman" panose="02020603050405020304" pitchFamily="18" charset="0"/>
                <a:cs typeface="Times New Roman" panose="02020603050405020304" pitchFamily="18" charset="0"/>
              </a:rPr>
              <a:t>√</a:t>
            </a:r>
            <a:endParaRPr lang="zh-CN" altLang="en-US" b="1" dirty="0">
              <a:solidFill>
                <a:srgbClr val="FF0000"/>
              </a:solidFill>
            </a:endParaRPr>
          </a:p>
        </p:txBody>
      </p:sp>
      <p:sp>
        <p:nvSpPr>
          <p:cNvPr id="8" name="对话气泡: 圆角矩形 7"/>
          <p:cNvSpPr/>
          <p:nvPr/>
        </p:nvSpPr>
        <p:spPr>
          <a:xfrm>
            <a:off x="7027682" y="3118472"/>
            <a:ext cx="2757736" cy="878698"/>
          </a:xfrm>
          <a:prstGeom prst="wedgeRoundRectCallout">
            <a:avLst>
              <a:gd name="adj1" fmla="val -70708"/>
              <a:gd name="adj2" fmla="val 509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a:solidFill>
                  <a:srgbClr val="FF0000"/>
                </a:solidFill>
              </a:rPr>
              <a:t>i doesn’t go back, just keep going forward</a:t>
            </a:r>
            <a:endParaRPr lang="zh-CN" altLang="en-US" b="1" dirty="0">
              <a:solidFill>
                <a:srgbClr val="FF0000"/>
              </a:solidFill>
            </a:endParaRPr>
          </a:p>
        </p:txBody>
      </p:sp>
      <p:sp>
        <p:nvSpPr>
          <p:cNvPr id="7" name="文本框 6">
            <a:extLst>
              <a:ext uri="{FF2B5EF4-FFF2-40B4-BE49-F238E27FC236}">
                <a16:creationId xmlns:a16="http://schemas.microsoft.com/office/drawing/2014/main" id="{87B49371-1C1C-4EBB-9570-A225F015FA79}"/>
              </a:ext>
            </a:extLst>
          </p:cNvPr>
          <p:cNvSpPr txBox="1"/>
          <p:nvPr/>
        </p:nvSpPr>
        <p:spPr>
          <a:xfrm>
            <a:off x="3851544" y="2384190"/>
            <a:ext cx="6094520" cy="369332"/>
          </a:xfrm>
          <a:prstGeom prst="rect">
            <a:avLst/>
          </a:prstGeom>
          <a:noFill/>
        </p:spPr>
        <p:txBody>
          <a:bodyPr wrap="square">
            <a:spAutoFit/>
          </a:bodyPr>
          <a:lstStyle/>
          <a:p>
            <a:r>
              <a:rPr lang="zh-CN" altLang="en-US"/>
              <a:t>In the second round of matching, i and j return to i=1, j=0</a:t>
            </a:r>
            <a:r>
              <a:rPr lang="en-US" altLang="zh-CN"/>
              <a:t>.</a:t>
            </a:r>
            <a:endParaRPr lang="zh-CN" altLang="en-US"/>
          </a:p>
        </p:txBody>
      </p:sp>
      <p:pic>
        <p:nvPicPr>
          <p:cNvPr id="9" name="图片 8">
            <a:extLst>
              <a:ext uri="{FF2B5EF4-FFF2-40B4-BE49-F238E27FC236}">
                <a16:creationId xmlns:a16="http://schemas.microsoft.com/office/drawing/2014/main" id="{30EDFC68-3004-4052-8E11-DB04F44F4631}"/>
              </a:ext>
            </a:extLst>
          </p:cNvPr>
          <p:cNvPicPr>
            <a:picLocks noChangeAspect="1"/>
          </p:cNvPicPr>
          <p:nvPr/>
        </p:nvPicPr>
        <p:blipFill>
          <a:blip r:embed="rId2"/>
          <a:stretch>
            <a:fillRect/>
          </a:stretch>
        </p:blipFill>
        <p:spPr>
          <a:xfrm>
            <a:off x="4824138" y="0"/>
            <a:ext cx="3733333" cy="2295238"/>
          </a:xfrm>
          <a:prstGeom prst="rect">
            <a:avLst/>
          </a:prstGeom>
        </p:spPr>
      </p:pic>
      <p:sp>
        <p:nvSpPr>
          <p:cNvPr id="10" name="文本框 9">
            <a:extLst>
              <a:ext uri="{FF2B5EF4-FFF2-40B4-BE49-F238E27FC236}">
                <a16:creationId xmlns:a16="http://schemas.microsoft.com/office/drawing/2014/main" id="{81DB32BB-353C-4622-9E6F-4DD38D2CF512}"/>
              </a:ext>
            </a:extLst>
          </p:cNvPr>
          <p:cNvSpPr txBox="1"/>
          <p:nvPr/>
        </p:nvSpPr>
        <p:spPr>
          <a:xfrm>
            <a:off x="3505570" y="6334538"/>
            <a:ext cx="6370468" cy="369332"/>
          </a:xfrm>
          <a:prstGeom prst="rect">
            <a:avLst/>
          </a:prstGeom>
          <a:noFill/>
        </p:spPr>
        <p:txBody>
          <a:bodyPr wrap="square">
            <a:spAutoFit/>
          </a:bodyPr>
          <a:lstStyle/>
          <a:p>
            <a:r>
              <a:rPr lang="zh-CN" altLang="en-US"/>
              <a:t>In the second round of matching, </a:t>
            </a:r>
            <a:r>
              <a:rPr lang="en-US" altLang="zh-CN"/>
              <a:t>i=3</a:t>
            </a:r>
            <a:r>
              <a:rPr lang="zh-CN" altLang="en-US"/>
              <a:t> and </a:t>
            </a:r>
            <a:r>
              <a:rPr lang="en-US" altLang="zh-CN"/>
              <a:t>only</a:t>
            </a:r>
            <a:r>
              <a:rPr lang="zh-CN" altLang="en-US"/>
              <a:t> j return</a:t>
            </a:r>
            <a:r>
              <a:rPr lang="en-US" altLang="zh-CN"/>
              <a:t>s</a:t>
            </a:r>
            <a:r>
              <a:rPr lang="zh-CN" altLang="en-US"/>
              <a:t> to j=0</a:t>
            </a:r>
            <a:r>
              <a:rPr lang="en-US" altLang="zh-CN"/>
              <a:t>.</a:t>
            </a:r>
            <a:endParaRPr lang="zh-CN" altLang="en-US"/>
          </a:p>
        </p:txBody>
      </p:sp>
      <p:pic>
        <p:nvPicPr>
          <p:cNvPr id="12" name="图片 11">
            <a:extLst>
              <a:ext uri="{FF2B5EF4-FFF2-40B4-BE49-F238E27FC236}">
                <a16:creationId xmlns:a16="http://schemas.microsoft.com/office/drawing/2014/main" id="{061900F5-0320-4891-BC97-25F7670ADCA1}"/>
              </a:ext>
            </a:extLst>
          </p:cNvPr>
          <p:cNvPicPr>
            <a:picLocks noChangeAspect="1"/>
          </p:cNvPicPr>
          <p:nvPr/>
        </p:nvPicPr>
        <p:blipFill>
          <a:blip r:embed="rId3"/>
          <a:stretch>
            <a:fillRect/>
          </a:stretch>
        </p:blipFill>
        <p:spPr>
          <a:xfrm>
            <a:off x="4913607" y="4091252"/>
            <a:ext cx="3723809" cy="221904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noChangeArrowheads="1"/>
          </p:cNvSpPr>
          <p:nvPr>
            <p:ph type="title"/>
          </p:nvPr>
        </p:nvSpPr>
        <p:spPr/>
        <p:txBody>
          <a:bodyPr/>
          <a:lstStyle/>
          <a:p>
            <a:r>
              <a:rPr lang="en-US" altLang="zh-CN" sz="3600">
                <a:solidFill>
                  <a:srgbClr val="0070C0"/>
                </a:solidFill>
              </a:rPr>
              <a:t>The principle of KMP</a:t>
            </a:r>
            <a:endParaRPr lang="zh-CN" altLang="en-US" sz="3600" dirty="0">
              <a:solidFill>
                <a:srgbClr val="0070C0"/>
              </a:solidFill>
            </a:endParaRPr>
          </a:p>
        </p:txBody>
      </p:sp>
      <p:sp>
        <p:nvSpPr>
          <p:cNvPr id="3" name="内容占位符 2"/>
          <p:cNvSpPr>
            <a:spLocks noGrp="1"/>
          </p:cNvSpPr>
          <p:nvPr>
            <p:ph idx="1"/>
          </p:nvPr>
        </p:nvSpPr>
        <p:spPr>
          <a:xfrm>
            <a:off x="1981200" y="1600201"/>
            <a:ext cx="8435280" cy="4525963"/>
          </a:xfrm>
        </p:spPr>
        <p:txBody>
          <a:bodyPr/>
          <a:lstStyle/>
          <a:p>
            <a:pPr>
              <a:defRPr/>
            </a:pPr>
            <a:r>
              <a:rPr lang="en-US" altLang="zh-CN"/>
              <a:t>The i pointer pointing to S doesn’t go back, and just go forward until the end.</a:t>
            </a:r>
          </a:p>
          <a:p>
            <a:pPr>
              <a:defRPr/>
            </a:pPr>
            <a:endParaRPr lang="en-US" altLang="zh-CN"/>
          </a:p>
          <a:p>
            <a:pPr>
              <a:defRPr/>
            </a:pPr>
            <a:r>
              <a:rPr lang="en-US" altLang="zh-CN"/>
              <a:t>Preprocess P and calculate </a:t>
            </a:r>
            <a:r>
              <a:rPr lang="en-US" altLang="zh-CN">
                <a:solidFill>
                  <a:srgbClr val="FF0000"/>
                </a:solidFill>
              </a:rPr>
              <a:t>the Next[] array</a:t>
            </a:r>
            <a:r>
              <a:rPr lang="en-US" altLang="zh-CN"/>
              <a:t>. After a mismatch occurs, when the next match is performed, use Next[] to get the position of j’s backtracking.</a:t>
            </a:r>
            <a:endParaRPr lang="en-US" altLang="zh-CN" dirty="0"/>
          </a:p>
          <a:p>
            <a:pPr>
              <a:defRPr/>
            </a:pPr>
            <a:endParaRPr lang="zh-CN" altLang="en-US" dirty="0"/>
          </a:p>
          <a:p>
            <a:pPr>
              <a:defRPr/>
            </a:pPr>
            <a:endParaRPr lang="zh-CN" altLang="en-US" dirty="0"/>
          </a:p>
        </p:txBody>
      </p:sp>
      <p:sp>
        <p:nvSpPr>
          <p:cNvPr id="5" name="文本框 4">
            <a:extLst>
              <a:ext uri="{FF2B5EF4-FFF2-40B4-BE49-F238E27FC236}">
                <a16:creationId xmlns:a16="http://schemas.microsoft.com/office/drawing/2014/main" id="{44866332-1A86-45CF-A716-DBE5361BEF2F}"/>
              </a:ext>
            </a:extLst>
          </p:cNvPr>
          <p:cNvSpPr txBox="1"/>
          <p:nvPr/>
        </p:nvSpPr>
        <p:spPr>
          <a:xfrm>
            <a:off x="2257147" y="4812567"/>
            <a:ext cx="6647156" cy="369332"/>
          </a:xfrm>
          <a:prstGeom prst="rect">
            <a:avLst/>
          </a:prstGeom>
          <a:noFill/>
        </p:spPr>
        <p:txBody>
          <a:bodyPr wrap="square">
            <a:spAutoFit/>
          </a:bodyPr>
          <a:lstStyle/>
          <a:p>
            <a:r>
              <a:rPr lang="zh-CN" altLang="en-US" dirty="0"/>
              <a:t>https://blog.csdn.net/weixin_43914593/article/details/117533364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noChangeArrowheads="1"/>
          </p:cNvSpPr>
          <p:nvPr>
            <p:ph type="title"/>
          </p:nvPr>
        </p:nvSpPr>
        <p:spPr>
          <a:xfrm>
            <a:off x="1981200" y="274638"/>
            <a:ext cx="8229600" cy="634082"/>
          </a:xfrm>
        </p:spPr>
        <p:txBody>
          <a:bodyPr/>
          <a:lstStyle/>
          <a:p>
            <a:r>
              <a:rPr lang="en-US" altLang="zh-CN" sz="3200">
                <a:solidFill>
                  <a:srgbClr val="0070C0"/>
                </a:solidFill>
              </a:rPr>
              <a:t>Compute</a:t>
            </a:r>
            <a:r>
              <a:rPr lang="zh-CN" altLang="en-US" sz="3200" dirty="0">
                <a:solidFill>
                  <a:srgbClr val="0070C0"/>
                </a:solidFill>
              </a:rPr>
              <a:t> </a:t>
            </a:r>
            <a:r>
              <a:rPr lang="en-US" altLang="zh-CN" sz="3200">
                <a:solidFill>
                  <a:srgbClr val="0070C0"/>
                </a:solidFill>
              </a:rPr>
              <a:t>Next[]</a:t>
            </a:r>
            <a:endParaRPr lang="zh-CN" altLang="en-US" sz="3200" dirty="0">
              <a:solidFill>
                <a:srgbClr val="0070C0"/>
              </a:solidFill>
            </a:endParaRPr>
          </a:p>
        </p:txBody>
      </p:sp>
      <p:sp>
        <p:nvSpPr>
          <p:cNvPr id="3" name="内容占位符 2"/>
          <p:cNvSpPr>
            <a:spLocks noGrp="1"/>
          </p:cNvSpPr>
          <p:nvPr>
            <p:ph idx="1"/>
          </p:nvPr>
        </p:nvSpPr>
        <p:spPr>
          <a:xfrm>
            <a:off x="1981200" y="1124744"/>
            <a:ext cx="8435280" cy="4308390"/>
          </a:xfrm>
        </p:spPr>
        <p:txBody>
          <a:bodyPr>
            <a:normAutofit/>
          </a:bodyPr>
          <a:lstStyle/>
          <a:p>
            <a:pPr marL="0" indent="0">
              <a:buNone/>
            </a:pPr>
            <a:r>
              <a:rPr lang="en-US" altLang="zh-CN" sz="2000" dirty="0">
                <a:latin typeface="Courier New" panose="02070309020205020404" pitchFamily="49" charset="0"/>
                <a:cs typeface="Courier New" panose="02070309020205020404" pitchFamily="49" charset="0"/>
              </a:rPr>
              <a:t>int Next[MAXN];</a:t>
            </a:r>
          </a:p>
          <a:p>
            <a:pPr marL="0" indent="0">
              <a:buNone/>
            </a:pPr>
            <a:r>
              <a:rPr lang="en-US" altLang="zh-CN" sz="2000" dirty="0">
                <a:latin typeface="Courier New" panose="02070309020205020404" pitchFamily="49" charset="0"/>
                <a:cs typeface="Courier New" panose="02070309020205020404" pitchFamily="49" charset="0"/>
              </a:rPr>
              <a:t>int </a:t>
            </a:r>
            <a:r>
              <a:rPr lang="en-US" altLang="zh-CN" sz="2000" dirty="0" err="1">
                <a:latin typeface="Courier New" panose="02070309020205020404" pitchFamily="49" charset="0"/>
                <a:cs typeface="Courier New" panose="02070309020205020404" pitchFamily="49" charset="0"/>
              </a:rPr>
              <a:t>getFail</a:t>
            </a:r>
            <a:r>
              <a:rPr lang="en-US" altLang="zh-CN" sz="2000" dirty="0">
                <a:latin typeface="Courier New" panose="02070309020205020404" pitchFamily="49" charset="0"/>
                <a:cs typeface="Courier New" panose="02070309020205020404" pitchFamily="49" charset="0"/>
              </a:rPr>
              <a:t>(char *p, int </a:t>
            </a:r>
            <a:r>
              <a:rPr lang="en-US" altLang="zh-CN" sz="2000" dirty="0" err="1">
                <a:latin typeface="Courier New" panose="02070309020205020404" pitchFamily="49" charset="0"/>
                <a:cs typeface="Courier New" panose="02070309020205020404" pitchFamily="49" charset="0"/>
              </a:rPr>
              <a:t>plen</a:t>
            </a:r>
            <a:r>
              <a:rPr lang="en-US" altLang="zh-CN" sz="2000" dirty="0">
                <a:latin typeface="Courier New" panose="02070309020205020404" pitchFamily="49" charset="0"/>
                <a:cs typeface="Courier New" panose="02070309020205020404" pitchFamily="49" charset="0"/>
              </a:rPr>
              <a:t>){ </a:t>
            </a:r>
          </a:p>
          <a:p>
            <a:pPr marL="0" indent="0">
              <a:buNone/>
            </a:pPr>
            <a:r>
              <a:rPr lang="en-US" altLang="zh-CN" sz="2000">
                <a:latin typeface="Courier New" panose="02070309020205020404" pitchFamily="49" charset="0"/>
                <a:cs typeface="Courier New" panose="02070309020205020404" pitchFamily="49" charset="0"/>
              </a:rPr>
              <a:t>// for j’s backtracking when mismatching</a:t>
            </a:r>
            <a:endParaRPr lang="zh-CN" altLang="en-US" sz="2000" dirty="0">
              <a:latin typeface="Courier New" panose="02070309020205020404" pitchFamily="49" charset="0"/>
              <a:cs typeface="Courier New" panose="02070309020205020404" pitchFamily="49" charset="0"/>
            </a:endParaRPr>
          </a:p>
          <a:p>
            <a:pPr marL="0" indent="0">
              <a:buNone/>
            </a:pPr>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Next[0]=0; Next[1]=0;</a:t>
            </a:r>
          </a:p>
          <a:p>
            <a:pPr marL="0" indent="0">
              <a:buNone/>
            </a:pPr>
            <a:r>
              <a:rPr lang="en-US" altLang="zh-CN" sz="2000" dirty="0">
                <a:latin typeface="Courier New" panose="02070309020205020404" pitchFamily="49" charset="0"/>
                <a:cs typeface="Courier New" panose="02070309020205020404" pitchFamily="49" charset="0"/>
              </a:rPr>
              <a:t>    for(int </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=1; </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 &lt; </a:t>
            </a:r>
            <a:r>
              <a:rPr lang="en-US" altLang="zh-CN" sz="2000" dirty="0" err="1">
                <a:latin typeface="Courier New" panose="02070309020205020404" pitchFamily="49" charset="0"/>
                <a:cs typeface="Courier New" panose="02070309020205020404" pitchFamily="49" charset="0"/>
              </a:rPr>
              <a:t>plen</a:t>
            </a:r>
            <a:r>
              <a:rPr lang="en-US" altLang="zh-CN" sz="2000" dirty="0">
                <a:latin typeface="Courier New" panose="02070309020205020404" pitchFamily="49" charset="0"/>
                <a:cs typeface="Courier New" panose="02070309020205020404" pitchFamily="49" charset="0"/>
              </a:rPr>
              <a:t>; </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a:t>
            </a:r>
          </a:p>
          <a:p>
            <a:pPr marL="0" indent="0">
              <a:buNone/>
            </a:pPr>
            <a:r>
              <a:rPr lang="en-US" altLang="zh-CN" sz="2000" dirty="0">
                <a:latin typeface="Courier New" panose="02070309020205020404" pitchFamily="49" charset="0"/>
                <a:cs typeface="Courier New" panose="02070309020205020404" pitchFamily="49" charset="0"/>
              </a:rPr>
              <a:t>        int j = Next[</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a:t>
            </a:r>
          </a:p>
          <a:p>
            <a:pPr marL="0" indent="0">
              <a:buNone/>
            </a:pPr>
            <a:r>
              <a:rPr lang="en-US" altLang="zh-CN" sz="2000" dirty="0">
                <a:latin typeface="Courier New" panose="02070309020205020404" pitchFamily="49" charset="0"/>
                <a:cs typeface="Courier New" panose="02070309020205020404" pitchFamily="49" charset="0"/>
              </a:rPr>
              <a:t>        while(j &amp;&amp; p[</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 != p[j])   j = Next[j];</a:t>
            </a:r>
          </a:p>
          <a:p>
            <a:pPr marL="0" indent="0">
              <a:buNone/>
            </a:pPr>
            <a:r>
              <a:rPr lang="en-US" altLang="zh-CN" sz="2000" dirty="0">
                <a:latin typeface="Courier New" panose="02070309020205020404" pitchFamily="49" charset="0"/>
                <a:cs typeface="Courier New" panose="02070309020205020404" pitchFamily="49" charset="0"/>
              </a:rPr>
              <a:t>        Next[i+1] = (p[</a:t>
            </a:r>
            <a:r>
              <a:rPr lang="en-US" altLang="zh-CN" sz="2000" dirty="0" err="1">
                <a:latin typeface="Courier New" panose="02070309020205020404" pitchFamily="49" charset="0"/>
                <a:cs typeface="Courier New" panose="02070309020205020404" pitchFamily="49" charset="0"/>
              </a:rPr>
              <a:t>i</a:t>
            </a:r>
            <a:r>
              <a:rPr lang="en-US" altLang="zh-CN" sz="2000" dirty="0">
                <a:latin typeface="Courier New" panose="02070309020205020404" pitchFamily="49" charset="0"/>
                <a:cs typeface="Courier New" panose="02070309020205020404" pitchFamily="49" charset="0"/>
              </a:rPr>
              <a:t>]==p[j]) ? j+1 : 0;</a:t>
            </a:r>
          </a:p>
          <a:p>
            <a:pPr marL="0" indent="0">
              <a:buNone/>
            </a:pPr>
            <a:r>
              <a:rPr lang="en-US" altLang="zh-CN" sz="2000" dirty="0">
                <a:latin typeface="Courier New" panose="02070309020205020404" pitchFamily="49" charset="0"/>
                <a:cs typeface="Courier New" panose="02070309020205020404" pitchFamily="49" charset="0"/>
              </a:rPr>
              <a:t>    }</a:t>
            </a:r>
          </a:p>
          <a:p>
            <a:pPr marL="0" indent="0">
              <a:buNone/>
            </a:pPr>
            <a:r>
              <a:rPr lang="en-US" altLang="zh-CN" sz="2000" dirty="0">
                <a:latin typeface="Courier New" panose="02070309020205020404" pitchFamily="49" charset="0"/>
                <a:cs typeface="Courier New" panose="02070309020205020404" pitchFamily="49" charset="0"/>
              </a:rPr>
              <a:t>}</a:t>
            </a:r>
          </a:p>
          <a:p>
            <a:pPr marL="0" indent="0">
              <a:buNone/>
            </a:pPr>
            <a:endParaRPr lang="en-US" altLang="zh-CN" sz="2000" dirty="0"/>
          </a:p>
          <a:p>
            <a:pPr marL="0" indent="0">
              <a:buNone/>
              <a:defRPr/>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7ABFAF-7E7F-4F44-B58C-1EDE77D8B19A}"/>
              </a:ext>
            </a:extLst>
          </p:cNvPr>
          <p:cNvSpPr>
            <a:spLocks noGrp="1"/>
          </p:cNvSpPr>
          <p:nvPr>
            <p:ph type="title"/>
          </p:nvPr>
        </p:nvSpPr>
        <p:spPr/>
        <p:txBody>
          <a:bodyPr/>
          <a:lstStyle/>
          <a:p>
            <a:r>
              <a:rPr lang="en-US" altLang="zh-CN"/>
              <a:t>How many matches?</a:t>
            </a:r>
            <a:endParaRPr lang="zh-CN" altLang="en-US"/>
          </a:p>
        </p:txBody>
      </p:sp>
      <p:pic>
        <p:nvPicPr>
          <p:cNvPr id="5" name="图片 4">
            <a:extLst>
              <a:ext uri="{FF2B5EF4-FFF2-40B4-BE49-F238E27FC236}">
                <a16:creationId xmlns:a16="http://schemas.microsoft.com/office/drawing/2014/main" id="{E3543A59-E91B-47DF-AB79-002A610AF9C9}"/>
              </a:ext>
            </a:extLst>
          </p:cNvPr>
          <p:cNvPicPr>
            <a:picLocks noChangeAspect="1"/>
          </p:cNvPicPr>
          <p:nvPr/>
        </p:nvPicPr>
        <p:blipFill>
          <a:blip r:embed="rId2"/>
          <a:stretch>
            <a:fillRect/>
          </a:stretch>
        </p:blipFill>
        <p:spPr>
          <a:xfrm>
            <a:off x="749423" y="3019997"/>
            <a:ext cx="1942857" cy="2504762"/>
          </a:xfrm>
          <a:prstGeom prst="rect">
            <a:avLst/>
          </a:prstGeom>
        </p:spPr>
      </p:pic>
      <p:sp>
        <p:nvSpPr>
          <p:cNvPr id="7" name="文本框 6">
            <a:extLst>
              <a:ext uri="{FF2B5EF4-FFF2-40B4-BE49-F238E27FC236}">
                <a16:creationId xmlns:a16="http://schemas.microsoft.com/office/drawing/2014/main" id="{84277E10-831C-4133-AA89-FFCA252C9D0B}"/>
              </a:ext>
            </a:extLst>
          </p:cNvPr>
          <p:cNvSpPr txBox="1"/>
          <p:nvPr/>
        </p:nvSpPr>
        <p:spPr>
          <a:xfrm>
            <a:off x="838200" y="2065823"/>
            <a:ext cx="6094520" cy="646331"/>
          </a:xfrm>
          <a:prstGeom prst="rect">
            <a:avLst/>
          </a:prstGeom>
          <a:noFill/>
        </p:spPr>
        <p:txBody>
          <a:bodyPr wrap="square">
            <a:spAutoFit/>
          </a:bodyPr>
          <a:lstStyle/>
          <a:p>
            <a:r>
              <a:rPr lang="en-US" altLang="zh-CN"/>
              <a:t>Count how many times the pattern string appears in the input string.</a:t>
            </a:r>
            <a:endParaRPr lang="zh-CN" altLang="en-US"/>
          </a:p>
        </p:txBody>
      </p:sp>
    </p:spTree>
    <p:extLst>
      <p:ext uri="{BB962C8B-B14F-4D97-AF65-F5344CB8AC3E}">
        <p14:creationId xmlns:p14="http://schemas.microsoft.com/office/powerpoint/2010/main" val="1666353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noChangeArrowheads="1"/>
          </p:cNvSpPr>
          <p:nvPr>
            <p:ph type="title"/>
          </p:nvPr>
        </p:nvSpPr>
        <p:spPr/>
        <p:txBody>
          <a:bodyPr/>
          <a:lstStyle/>
          <a:p>
            <a:r>
              <a:rPr lang="en-US" altLang="zh-CN" sz="4000">
                <a:solidFill>
                  <a:srgbClr val="FF0000"/>
                </a:solidFill>
              </a:rPr>
              <a:t>The Aho–Corasick algorithm</a:t>
            </a:r>
            <a:endParaRPr lang="en-US" altLang="zh-CN" sz="4000" dirty="0">
              <a:solidFill>
                <a:srgbClr val="FF0000"/>
              </a:solidFill>
            </a:endParaRPr>
          </a:p>
        </p:txBody>
      </p:sp>
      <p:sp>
        <p:nvSpPr>
          <p:cNvPr id="4" name="内容占位符 3"/>
          <p:cNvSpPr>
            <a:spLocks noGrp="1"/>
          </p:cNvSpPr>
          <p:nvPr>
            <p:ph idx="1"/>
          </p:nvPr>
        </p:nvSpPr>
        <p:spPr/>
        <p:txBody>
          <a:bodyPr/>
          <a:lstStyle/>
          <a:p>
            <a:r>
              <a:rPr lang="en-US" altLang="zh-CN"/>
              <a:t>The AC</a:t>
            </a:r>
            <a:r>
              <a:rPr lang="zh-CN" altLang="en-US"/>
              <a:t> </a:t>
            </a:r>
            <a:r>
              <a:rPr lang="en-US" altLang="zh-CN"/>
              <a:t>algorithm:</a:t>
            </a:r>
            <a:r>
              <a:rPr lang="zh-CN" altLang="en-US"/>
              <a:t> </a:t>
            </a:r>
            <a:r>
              <a:rPr lang="en-US" altLang="zh-CN"/>
              <a:t>KMP+trie</a:t>
            </a:r>
            <a:endParaRPr lang="en-US" altLang="zh-CN" dirty="0"/>
          </a:p>
          <a:p>
            <a:endParaRPr lang="en-US" altLang="zh-CN" dirty="0"/>
          </a:p>
          <a:p>
            <a:r>
              <a:rPr lang="en-US" altLang="zh-CN"/>
              <a:t>KMP:</a:t>
            </a:r>
            <a:r>
              <a:rPr lang="zh-CN" altLang="en-US"/>
              <a:t> </a:t>
            </a:r>
            <a:r>
              <a:rPr lang="en-US" altLang="zh-CN"/>
              <a:t>a single-pattern matching algorithm</a:t>
            </a:r>
            <a:endParaRPr lang="en-US" altLang="zh-CN" dirty="0"/>
          </a:p>
          <a:p>
            <a:endParaRPr lang="en-US" altLang="zh-CN" dirty="0"/>
          </a:p>
          <a:p>
            <a:r>
              <a:rPr lang="en-US" altLang="zh-CN"/>
              <a:t>The AC</a:t>
            </a:r>
            <a:r>
              <a:rPr lang="zh-CN" altLang="en-US"/>
              <a:t> </a:t>
            </a:r>
            <a:r>
              <a:rPr lang="en-US" altLang="zh-CN"/>
              <a:t>algorithm:</a:t>
            </a:r>
            <a:r>
              <a:rPr lang="zh-CN" altLang="en-US"/>
              <a:t> </a:t>
            </a:r>
            <a:r>
              <a:rPr lang="en-US" altLang="zh-CN"/>
              <a:t>a multi-pattern matching algorithm. In a text string, find multiple different pattern strings simultaneously.</a:t>
            </a:r>
            <a:endParaRPr lang="zh-CN" altLang="en-US" dirty="0"/>
          </a:p>
          <a:p>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noChangeArrowheads="1"/>
          </p:cNvSpPr>
          <p:nvPr>
            <p:ph type="title"/>
          </p:nvPr>
        </p:nvSpPr>
        <p:spPr/>
        <p:txBody>
          <a:bodyPr/>
          <a:lstStyle/>
          <a:p>
            <a:r>
              <a:rPr lang="en-US" altLang="zh-CN" sz="4000">
                <a:solidFill>
                  <a:srgbClr val="FF0000"/>
                </a:solidFill>
              </a:rPr>
              <a:t>The Aho–Corasick algorithm</a:t>
            </a:r>
            <a:endParaRPr lang="en-US" altLang="zh-CN" sz="4000" dirty="0">
              <a:solidFill>
                <a:srgbClr val="FF0000"/>
              </a:solidFill>
            </a:endParaRPr>
          </a:p>
        </p:txBody>
      </p:sp>
      <p:sp>
        <p:nvSpPr>
          <p:cNvPr id="4" name="内容占位符 3"/>
          <p:cNvSpPr>
            <a:spLocks noGrp="1"/>
          </p:cNvSpPr>
          <p:nvPr>
            <p:ph idx="1"/>
          </p:nvPr>
        </p:nvSpPr>
        <p:spPr/>
        <p:txBody>
          <a:bodyPr/>
          <a:lstStyle/>
          <a:p>
            <a:r>
              <a:rPr lang="en-US" altLang="zh-CN"/>
              <a:t>The AC algorithm is a kind of</a:t>
            </a:r>
            <a:r>
              <a:rPr lang="en-US" altLang="zh-CN">
                <a:solidFill>
                  <a:srgbClr val="FF0000"/>
                </a:solidFill>
              </a:rPr>
              <a:t> dictionary-matching algorithm </a:t>
            </a:r>
            <a:r>
              <a:rPr lang="en-US" altLang="zh-CN"/>
              <a:t>that locates elements of a finite set of strings (the "dictionary") within an input text. </a:t>
            </a:r>
            <a:r>
              <a:rPr lang="en-US" altLang="zh-CN">
                <a:solidFill>
                  <a:srgbClr val="FF0000"/>
                </a:solidFill>
              </a:rPr>
              <a:t>It matches all strings </a:t>
            </a:r>
            <a:r>
              <a:rPr lang="en-US" altLang="zh-CN" b="1">
                <a:solidFill>
                  <a:srgbClr val="FF0000"/>
                </a:solidFill>
              </a:rPr>
              <a:t>simultaneously</a:t>
            </a:r>
            <a:r>
              <a:rPr lang="en-US" altLang="zh-CN">
                <a:solidFill>
                  <a:srgbClr val="FF0000"/>
                </a:solidFill>
              </a:rPr>
              <a:t>.</a:t>
            </a:r>
          </a:p>
          <a:p>
            <a:pPr marL="0" indent="0">
              <a:buNone/>
            </a:pPr>
            <a:endParaRPr lang="en-US" altLang="zh-CN">
              <a:solidFill>
                <a:srgbClr val="FF0000"/>
              </a:solidFill>
            </a:endParaRPr>
          </a:p>
          <a:p>
            <a:r>
              <a:rPr lang="en-US" altLang="zh-CN"/>
              <a:t>Informally, the algorithm constructs </a:t>
            </a:r>
            <a:r>
              <a:rPr lang="en-US" altLang="zh-CN">
                <a:solidFill>
                  <a:srgbClr val="FF0000"/>
                </a:solidFill>
              </a:rPr>
              <a:t>a finite-state machine </a:t>
            </a:r>
            <a:r>
              <a:rPr lang="en-US" altLang="zh-CN"/>
              <a:t>that resembles a trie with additional links between the various internal nodes, which allows the automaton to transition between string matches </a:t>
            </a:r>
            <a:r>
              <a:rPr lang="en-US" altLang="zh-CN">
                <a:solidFill>
                  <a:srgbClr val="FF0000"/>
                </a:solidFill>
              </a:rPr>
              <a:t>without the need for backtracking</a:t>
            </a:r>
            <a:r>
              <a:rPr lang="en-US" altLang="zh-CN"/>
              <a:t>.</a:t>
            </a:r>
          </a:p>
          <a:p>
            <a:endParaRPr lang="en-US" altLang="zh-CN"/>
          </a:p>
          <a:p>
            <a:endParaRPr lang="en-US" altLang="zh-CN"/>
          </a:p>
          <a:p>
            <a:endParaRPr lang="en-US" altLang="zh-CN">
              <a:solidFill>
                <a:srgbClr val="FF0000"/>
              </a:solidFill>
            </a:endParaRPr>
          </a:p>
        </p:txBody>
      </p:sp>
    </p:spTree>
    <p:extLst>
      <p:ext uri="{BB962C8B-B14F-4D97-AF65-F5344CB8AC3E}">
        <p14:creationId xmlns:p14="http://schemas.microsoft.com/office/powerpoint/2010/main" val="27013255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1B4B3-19C6-4719-8D8E-365B91498E34}"/>
              </a:ext>
            </a:extLst>
          </p:cNvPr>
          <p:cNvSpPr>
            <a:spLocks noGrp="1"/>
          </p:cNvSpPr>
          <p:nvPr>
            <p:ph type="title"/>
          </p:nvPr>
        </p:nvSpPr>
        <p:spPr>
          <a:xfrm>
            <a:off x="838200" y="146481"/>
            <a:ext cx="10515600" cy="1325563"/>
          </a:xfrm>
        </p:spPr>
        <p:txBody>
          <a:bodyPr/>
          <a:lstStyle/>
          <a:p>
            <a:r>
              <a:rPr lang="en-US" altLang="zh-CN"/>
              <a:t>Example (</a:t>
            </a:r>
            <a:r>
              <a:rPr lang="en-US" altLang="zh-CN" sz="3200"/>
              <a:t>Dictionary </a:t>
            </a:r>
            <a:r>
              <a:rPr lang="en-US" altLang="zh-CN" sz="3200">
                <a:solidFill>
                  <a:srgbClr val="FF0000"/>
                </a:solidFill>
              </a:rPr>
              <a:t>{a, ab, bab, bc, bca, c, caa}</a:t>
            </a:r>
            <a:r>
              <a:rPr lang="en-US" altLang="zh-CN"/>
              <a:t>)</a:t>
            </a:r>
            <a:endParaRPr lang="zh-CN" altLang="en-US"/>
          </a:p>
        </p:txBody>
      </p:sp>
      <p:pic>
        <p:nvPicPr>
          <p:cNvPr id="5" name="图片 4">
            <a:extLst>
              <a:ext uri="{FF2B5EF4-FFF2-40B4-BE49-F238E27FC236}">
                <a16:creationId xmlns:a16="http://schemas.microsoft.com/office/drawing/2014/main" id="{F57C0E1E-1729-4D8B-82EB-F58BCAA0E53E}"/>
              </a:ext>
            </a:extLst>
          </p:cNvPr>
          <p:cNvPicPr>
            <a:picLocks noChangeAspect="1"/>
          </p:cNvPicPr>
          <p:nvPr/>
        </p:nvPicPr>
        <p:blipFill>
          <a:blip r:embed="rId2"/>
          <a:stretch>
            <a:fillRect/>
          </a:stretch>
        </p:blipFill>
        <p:spPr>
          <a:xfrm>
            <a:off x="988453" y="1402673"/>
            <a:ext cx="5639750" cy="5308846"/>
          </a:xfrm>
          <a:prstGeom prst="rect">
            <a:avLst/>
          </a:prstGeom>
        </p:spPr>
      </p:pic>
      <p:sp>
        <p:nvSpPr>
          <p:cNvPr id="7" name="文本框 6">
            <a:extLst>
              <a:ext uri="{FF2B5EF4-FFF2-40B4-BE49-F238E27FC236}">
                <a16:creationId xmlns:a16="http://schemas.microsoft.com/office/drawing/2014/main" id="{6EAF083E-A822-4FC3-8D53-A8EFB6C1A0AD}"/>
              </a:ext>
            </a:extLst>
          </p:cNvPr>
          <p:cNvSpPr txBox="1"/>
          <p:nvPr/>
        </p:nvSpPr>
        <p:spPr>
          <a:xfrm>
            <a:off x="7031327" y="2963301"/>
            <a:ext cx="3919349" cy="1754326"/>
          </a:xfrm>
          <a:prstGeom prst="rect">
            <a:avLst/>
          </a:prstGeom>
          <a:noFill/>
        </p:spPr>
        <p:txBody>
          <a:bodyPr wrap="square">
            <a:spAutoFit/>
          </a:bodyPr>
          <a:lstStyle/>
          <a:p>
            <a:r>
              <a:rPr lang="en-US" altLang="zh-CN" b="0" i="0">
                <a:solidFill>
                  <a:srgbClr val="202122"/>
                </a:solidFill>
                <a:effectLst/>
                <a:latin typeface="Arial" panose="020B0604020202020204" pitchFamily="34" charset="0"/>
              </a:rPr>
              <a:t>A visualization of the trie for the dictionary. </a:t>
            </a:r>
            <a:r>
              <a:rPr lang="en-US" altLang="zh-CN" b="0" i="0">
                <a:solidFill>
                  <a:srgbClr val="FF0000"/>
                </a:solidFill>
                <a:effectLst/>
                <a:latin typeface="Arial" panose="020B0604020202020204" pitchFamily="34" charset="0"/>
              </a:rPr>
              <a:t>Suffix links (the longest possible strict suffix) </a:t>
            </a:r>
            <a:r>
              <a:rPr lang="en-US" altLang="zh-CN" b="0" i="0">
                <a:solidFill>
                  <a:srgbClr val="202122"/>
                </a:solidFill>
                <a:effectLst/>
                <a:latin typeface="Arial" panose="020B0604020202020204" pitchFamily="34" charset="0"/>
              </a:rPr>
              <a:t>are in blue; </a:t>
            </a:r>
            <a:r>
              <a:rPr lang="en-US" altLang="zh-CN" b="0" i="0">
                <a:solidFill>
                  <a:srgbClr val="FF0000"/>
                </a:solidFill>
                <a:effectLst/>
                <a:latin typeface="Arial" panose="020B0604020202020204" pitchFamily="34" charset="0"/>
              </a:rPr>
              <a:t>dictionary suffix links </a:t>
            </a:r>
            <a:r>
              <a:rPr lang="en-US" altLang="zh-CN" b="0" i="0">
                <a:solidFill>
                  <a:srgbClr val="202122"/>
                </a:solidFill>
                <a:effectLst/>
                <a:latin typeface="Arial" panose="020B0604020202020204" pitchFamily="34" charset="0"/>
              </a:rPr>
              <a:t>in green. Nodes corresponding to dictionary entries are highlighted in blue.</a:t>
            </a:r>
            <a:endParaRPr lang="zh-CN" altLang="en-US"/>
          </a:p>
        </p:txBody>
      </p:sp>
    </p:spTree>
    <p:extLst>
      <p:ext uri="{BB962C8B-B14F-4D97-AF65-F5344CB8AC3E}">
        <p14:creationId xmlns:p14="http://schemas.microsoft.com/office/powerpoint/2010/main" val="31210891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7D86FC3-C254-44DC-9901-520FBBF0EA41}"/>
              </a:ext>
            </a:extLst>
          </p:cNvPr>
          <p:cNvSpPr>
            <a:spLocks noGrp="1"/>
          </p:cNvSpPr>
          <p:nvPr>
            <p:ph idx="1"/>
          </p:nvPr>
        </p:nvSpPr>
        <p:spPr>
          <a:xfrm>
            <a:off x="838200" y="923278"/>
            <a:ext cx="10515600" cy="5253685"/>
          </a:xfrm>
        </p:spPr>
        <p:txBody>
          <a:bodyPr>
            <a:normAutofit fontScale="77500" lnSpcReduction="20000"/>
          </a:bodyPr>
          <a:lstStyle/>
          <a:p>
            <a:r>
              <a:rPr lang="en-US" altLang="zh-CN"/>
              <a:t>There is a blue directed "suffix" arc from each node to the node that is the longest possible strict suffix of it in the graph. For example, for node (caa), its strict suffixes are (aa) and (a) and (). The longest of these that exists in the graph is (a). So there is a blue arc from (caa) to (a). The blue arcs can be computed in linear time by performing a breadth-first search starting from the root. The target for the blue arc of a visited node can be found by following its parent's blue arc to its longest suffix node and searching for a child of the suffix node whose character matches that of the visited node. If the character does not exist as a child, we can find the next longest suffix (following the blue arc again) and then search for the character. We can do this until we either find the character (as child of a node) or we reach the root (which will always be a suffix of every string).</a:t>
            </a:r>
          </a:p>
          <a:p>
            <a:endParaRPr lang="en-US" altLang="zh-CN"/>
          </a:p>
          <a:p>
            <a:r>
              <a:rPr lang="en-US" altLang="zh-CN"/>
              <a:t>There is a green "dictionary suffix" arc from each node to the next node in the dictionary that can be reached by following blue arcs. For example, there is a green arc from (bca) to (a) because (a) is the first node in the dictionary (i.e. a blue node) that is reached when following the blue arcs to (ca) and then on to (a). The green arcs can be computed in linear time by repeatedly traversing blue arcs until a blue node is found, and memoizing this information.</a:t>
            </a:r>
            <a:endParaRPr lang="zh-CN" altLang="en-US"/>
          </a:p>
        </p:txBody>
      </p:sp>
    </p:spTree>
    <p:extLst>
      <p:ext uri="{BB962C8B-B14F-4D97-AF65-F5344CB8AC3E}">
        <p14:creationId xmlns:p14="http://schemas.microsoft.com/office/powerpoint/2010/main" val="3673295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E3ED8A4-674F-4E0A-B2BA-A1C255EE6706}"/>
              </a:ext>
            </a:extLst>
          </p:cNvPr>
          <p:cNvPicPr>
            <a:picLocks noChangeAspect="1"/>
          </p:cNvPicPr>
          <p:nvPr/>
        </p:nvPicPr>
        <p:blipFill>
          <a:blip r:embed="rId2"/>
          <a:stretch>
            <a:fillRect/>
          </a:stretch>
        </p:blipFill>
        <p:spPr>
          <a:xfrm>
            <a:off x="947902" y="0"/>
            <a:ext cx="10047619" cy="3142857"/>
          </a:xfrm>
          <a:prstGeom prst="rect">
            <a:avLst/>
          </a:prstGeom>
        </p:spPr>
      </p:pic>
      <p:sp>
        <p:nvSpPr>
          <p:cNvPr id="7" name="文本框 6">
            <a:extLst>
              <a:ext uri="{FF2B5EF4-FFF2-40B4-BE49-F238E27FC236}">
                <a16:creationId xmlns:a16="http://schemas.microsoft.com/office/drawing/2014/main" id="{E2B8C804-0E81-4146-8E1D-81129E113D6E}"/>
              </a:ext>
            </a:extLst>
          </p:cNvPr>
          <p:cNvSpPr txBox="1"/>
          <p:nvPr/>
        </p:nvSpPr>
        <p:spPr>
          <a:xfrm>
            <a:off x="947902" y="3020627"/>
            <a:ext cx="10965930" cy="2031325"/>
          </a:xfrm>
          <a:prstGeom prst="rect">
            <a:avLst/>
          </a:prstGeom>
          <a:noFill/>
        </p:spPr>
        <p:txBody>
          <a:bodyPr wrap="square">
            <a:spAutoFit/>
          </a:bodyPr>
          <a:lstStyle/>
          <a:p>
            <a:pPr algn="l"/>
            <a:r>
              <a:rPr lang="en-US" altLang="zh-CN" b="0" i="0">
                <a:solidFill>
                  <a:srgbClr val="202122"/>
                </a:solidFill>
                <a:effectLst/>
                <a:latin typeface="Arial" panose="020B0604020202020204" pitchFamily="34" charset="0"/>
              </a:rPr>
              <a:t>At each step, the current node is extended by finding its child, and if that doesn't exist, finding its suffix's child, and if that doesn't work, finding its suffix's suffix's child, and so on, finally ending in the root node if nothing's seen before.</a:t>
            </a:r>
          </a:p>
          <a:p>
            <a:pPr algn="l"/>
            <a:r>
              <a:rPr lang="en-US" altLang="zh-CN" b="0" i="0">
                <a:solidFill>
                  <a:srgbClr val="202122"/>
                </a:solidFill>
                <a:effectLst/>
                <a:latin typeface="Arial" panose="020B0604020202020204" pitchFamily="34" charset="0"/>
              </a:rPr>
              <a:t>When the algorithm reaches a node, it outputs all the dictionary entries that end at the current character position in the input text. This is done by printing every node reached by following the dictionary suffix links, starting from that node, and continuing until it reaches a node with no dictionary suffix link. In addition, the node itself is printed, if it is a dictionary entry.</a:t>
            </a:r>
          </a:p>
        </p:txBody>
      </p:sp>
      <p:pic>
        <p:nvPicPr>
          <p:cNvPr id="9" name="图片 8">
            <a:extLst>
              <a:ext uri="{FF2B5EF4-FFF2-40B4-BE49-F238E27FC236}">
                <a16:creationId xmlns:a16="http://schemas.microsoft.com/office/drawing/2014/main" id="{A8A4322F-BE6B-4666-B65B-00BF6FA4557A}"/>
              </a:ext>
            </a:extLst>
          </p:cNvPr>
          <p:cNvPicPr>
            <a:picLocks noChangeAspect="1"/>
          </p:cNvPicPr>
          <p:nvPr/>
        </p:nvPicPr>
        <p:blipFill>
          <a:blip r:embed="rId3"/>
          <a:stretch>
            <a:fillRect/>
          </a:stretch>
        </p:blipFill>
        <p:spPr>
          <a:xfrm>
            <a:off x="9997482" y="4739280"/>
            <a:ext cx="2194518" cy="2118720"/>
          </a:xfrm>
          <a:prstGeom prst="rect">
            <a:avLst/>
          </a:prstGeom>
        </p:spPr>
      </p:pic>
    </p:spTree>
    <p:extLst>
      <p:ext uri="{BB962C8B-B14F-4D97-AF65-F5344CB8AC3E}">
        <p14:creationId xmlns:p14="http://schemas.microsoft.com/office/powerpoint/2010/main" val="611365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solidFill>
                  <a:srgbClr val="0070C0"/>
                </a:solidFill>
              </a:rPr>
              <a:t>Multi-pattern matching</a:t>
            </a:r>
            <a:endParaRPr lang="zh-CN" altLang="en-US" sz="3600" dirty="0">
              <a:solidFill>
                <a:srgbClr val="0070C0"/>
              </a:solidFill>
            </a:endParaRPr>
          </a:p>
        </p:txBody>
      </p:sp>
      <p:sp>
        <p:nvSpPr>
          <p:cNvPr id="3" name="内容占位符 2"/>
          <p:cNvSpPr>
            <a:spLocks noGrp="1"/>
          </p:cNvSpPr>
          <p:nvPr>
            <p:ph idx="1"/>
          </p:nvPr>
        </p:nvSpPr>
        <p:spPr/>
        <p:txBody>
          <a:bodyPr/>
          <a:lstStyle/>
          <a:p>
            <a:r>
              <a:rPr lang="en-US" altLang="zh-CN"/>
              <a:t>Given an input string S with length of n and k pattern strings P1,</a:t>
            </a:r>
            <a:r>
              <a:rPr lang="zh-CN" altLang="en-US"/>
              <a:t> </a:t>
            </a:r>
            <a:r>
              <a:rPr lang="en-US" altLang="zh-CN"/>
              <a:t>P2,</a:t>
            </a:r>
            <a:r>
              <a:rPr lang="zh-CN" altLang="en-US"/>
              <a:t> </a:t>
            </a:r>
            <a:r>
              <a:rPr lang="en-US" altLang="zh-CN"/>
              <a:t>..., Pk with an average length of m, find the positions where these pattern strings appear in S.</a:t>
            </a:r>
            <a:endParaRPr lang="en-US" altLang="zh-CN" dirty="0"/>
          </a:p>
          <a:p>
            <a:endParaRPr lang="en-US" altLang="zh-CN" dirty="0"/>
          </a:p>
          <a:p>
            <a:r>
              <a:rPr lang="en-US" altLang="zh-CN"/>
              <a:t>KMP:</a:t>
            </a:r>
            <a:r>
              <a:rPr lang="zh-CN" altLang="en-US"/>
              <a:t> </a:t>
            </a:r>
            <a:r>
              <a:rPr lang="en-US" altLang="zh-CN" sz="2400"/>
              <a:t>Do a kmp for each P1, P2,...Pk, and the total complexity is O((n + m)k).</a:t>
            </a:r>
            <a:endParaRPr lang="en-US" altLang="zh-CN" sz="2400" dirty="0"/>
          </a:p>
          <a:p>
            <a:endParaRPr lang="en-US" altLang="zh-CN" dirty="0"/>
          </a:p>
          <a:p>
            <a:r>
              <a:rPr lang="en-US" altLang="zh-CN"/>
              <a:t>The AC algorithm:</a:t>
            </a:r>
            <a:r>
              <a:rPr lang="zh-CN" altLang="en-US"/>
              <a:t> </a:t>
            </a:r>
            <a:r>
              <a:rPr lang="en-US" altLang="zh-CN"/>
              <a:t>Match all pattern strings simultaneously.</a:t>
            </a:r>
            <a:endParaRPr lang="en-US" altLang="zh-CN" dirty="0"/>
          </a:p>
          <a:p>
            <a:endParaRPr lang="zh-CN" altLang="en-US" dirty="0"/>
          </a:p>
          <a:p>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solidFill>
                  <a:srgbClr val="0070C0"/>
                </a:solidFill>
              </a:rPr>
              <a:t>Complextity</a:t>
            </a:r>
            <a:r>
              <a:rPr lang="zh-CN" altLang="en-US" sz="3600">
                <a:solidFill>
                  <a:srgbClr val="0070C0"/>
                </a:solidFill>
              </a:rPr>
              <a:t> </a:t>
            </a:r>
            <a:r>
              <a:rPr lang="en-US" altLang="zh-CN" sz="3600">
                <a:solidFill>
                  <a:srgbClr val="0070C0"/>
                </a:solidFill>
              </a:rPr>
              <a:t>of</a:t>
            </a:r>
            <a:r>
              <a:rPr lang="zh-CN" altLang="en-US" sz="3600">
                <a:solidFill>
                  <a:srgbClr val="0070C0"/>
                </a:solidFill>
              </a:rPr>
              <a:t> </a:t>
            </a:r>
            <a:r>
              <a:rPr lang="en-US" altLang="zh-CN" sz="3600">
                <a:solidFill>
                  <a:srgbClr val="0070C0"/>
                </a:solidFill>
              </a:rPr>
              <a:t>the</a:t>
            </a:r>
            <a:r>
              <a:rPr lang="zh-CN" altLang="en-US" sz="3600">
                <a:solidFill>
                  <a:srgbClr val="0070C0"/>
                </a:solidFill>
              </a:rPr>
              <a:t> </a:t>
            </a:r>
            <a:r>
              <a:rPr lang="en-US" altLang="zh-CN" sz="3600">
                <a:solidFill>
                  <a:srgbClr val="0070C0"/>
                </a:solidFill>
              </a:rPr>
              <a:t>AC</a:t>
            </a:r>
            <a:r>
              <a:rPr lang="zh-CN" altLang="en-US" sz="3600">
                <a:solidFill>
                  <a:srgbClr val="0070C0"/>
                </a:solidFill>
              </a:rPr>
              <a:t> </a:t>
            </a:r>
            <a:r>
              <a:rPr lang="en-US" altLang="zh-CN" sz="3600">
                <a:solidFill>
                  <a:srgbClr val="0070C0"/>
                </a:solidFill>
              </a:rPr>
              <a:t>algorithm</a:t>
            </a:r>
            <a:endParaRPr lang="zh-CN" altLang="en-US" sz="3600" dirty="0">
              <a:solidFill>
                <a:srgbClr val="0070C0"/>
              </a:solidFill>
            </a:endParaRPr>
          </a:p>
        </p:txBody>
      </p:sp>
      <p:sp>
        <p:nvSpPr>
          <p:cNvPr id="3" name="内容占位符 2"/>
          <p:cNvSpPr>
            <a:spLocks noGrp="1"/>
          </p:cNvSpPr>
          <p:nvPr>
            <p:ph idx="1"/>
          </p:nvPr>
        </p:nvSpPr>
        <p:spPr/>
        <p:txBody>
          <a:bodyPr/>
          <a:lstStyle/>
          <a:p>
            <a:r>
              <a:rPr lang="en-US" altLang="zh-CN"/>
              <a:t>Complexity</a:t>
            </a:r>
          </a:p>
          <a:p>
            <a:pPr marL="400050" lvl="1" indent="0">
              <a:buNone/>
            </a:pPr>
            <a:r>
              <a:rPr lang="en-US" altLang="zh-CN"/>
              <a:t>Buliding</a:t>
            </a:r>
            <a:r>
              <a:rPr lang="zh-CN" altLang="en-US"/>
              <a:t> </a:t>
            </a:r>
            <a:r>
              <a:rPr lang="en-US" altLang="zh-CN"/>
              <a:t>the trie:</a:t>
            </a:r>
            <a:r>
              <a:rPr lang="zh-CN" altLang="en-US"/>
              <a:t> </a:t>
            </a:r>
            <a:r>
              <a:rPr lang="en-US" altLang="zh-CN"/>
              <a:t>O</a:t>
            </a:r>
            <a:r>
              <a:rPr lang="en-US" altLang="zh-CN" dirty="0"/>
              <a:t>(km)</a:t>
            </a:r>
          </a:p>
          <a:p>
            <a:pPr marL="400050" lvl="1" indent="0">
              <a:buNone/>
            </a:pPr>
            <a:r>
              <a:rPr lang="en-US" altLang="zh-CN"/>
              <a:t>Buliding links (getFail() BFS):</a:t>
            </a:r>
            <a:r>
              <a:rPr lang="zh-CN" altLang="en-US"/>
              <a:t> </a:t>
            </a:r>
            <a:r>
              <a:rPr lang="en-US" altLang="zh-CN"/>
              <a:t>O</a:t>
            </a:r>
            <a:r>
              <a:rPr lang="en-US" altLang="zh-CN" dirty="0"/>
              <a:t>(km)</a:t>
            </a:r>
          </a:p>
          <a:p>
            <a:pPr marL="400050" lvl="1" indent="0">
              <a:buNone/>
            </a:pPr>
            <a:r>
              <a:rPr lang="en-US" altLang="zh-CN"/>
              <a:t>Matching:</a:t>
            </a:r>
            <a:r>
              <a:rPr lang="zh-CN" altLang="en-US"/>
              <a:t> </a:t>
            </a:r>
            <a:r>
              <a:rPr lang="en-US" altLang="zh-CN"/>
              <a:t>O</a:t>
            </a:r>
            <a:r>
              <a:rPr lang="en-US" altLang="zh-CN" dirty="0"/>
              <a:t>(nm)</a:t>
            </a:r>
          </a:p>
          <a:p>
            <a:pPr marL="400050" lvl="1" indent="0">
              <a:buNone/>
            </a:pPr>
            <a:r>
              <a:rPr lang="en-US" altLang="zh-CN"/>
              <a:t>Total:</a:t>
            </a:r>
            <a:r>
              <a:rPr lang="zh-CN" altLang="en-US"/>
              <a:t> </a:t>
            </a:r>
            <a:r>
              <a:rPr lang="en-US" altLang="zh-CN"/>
              <a:t>O</a:t>
            </a:r>
            <a:r>
              <a:rPr lang="en-US" altLang="zh-CN" dirty="0"/>
              <a:t>(km +</a:t>
            </a:r>
            <a:r>
              <a:rPr lang="zh-CN" altLang="en-US" dirty="0"/>
              <a:t> </a:t>
            </a:r>
            <a:r>
              <a:rPr lang="en-US" altLang="zh-CN" dirty="0"/>
              <a:t>km</a:t>
            </a:r>
            <a:r>
              <a:rPr lang="zh-CN" altLang="en-US" dirty="0"/>
              <a:t> </a:t>
            </a:r>
            <a:r>
              <a:rPr lang="en-US" altLang="zh-CN" dirty="0"/>
              <a:t>+nm)= O(km</a:t>
            </a:r>
            <a:r>
              <a:rPr lang="zh-CN" altLang="en-US" dirty="0"/>
              <a:t> </a:t>
            </a:r>
            <a:r>
              <a:rPr lang="en-US" altLang="zh-CN" dirty="0"/>
              <a:t>+</a:t>
            </a:r>
            <a:r>
              <a:rPr lang="en-US" altLang="zh-CN"/>
              <a:t>nm)</a:t>
            </a:r>
          </a:p>
          <a:p>
            <a:pPr marL="400050" lvl="1" indent="0">
              <a:buNone/>
            </a:pPr>
            <a:endParaRPr lang="zh-CN" altLang="en-US" dirty="0"/>
          </a:p>
          <a:p>
            <a:r>
              <a:rPr lang="en-US" altLang="zh-CN"/>
              <a:t>Comparison</a:t>
            </a:r>
            <a:r>
              <a:rPr lang="zh-CN" altLang="en-US"/>
              <a:t> </a:t>
            </a:r>
            <a:r>
              <a:rPr lang="en-US" altLang="zh-CN"/>
              <a:t>with</a:t>
            </a:r>
            <a:r>
              <a:rPr lang="zh-CN" altLang="en-US"/>
              <a:t> </a:t>
            </a:r>
            <a:r>
              <a:rPr lang="en-US" altLang="zh-CN"/>
              <a:t>KMP</a:t>
            </a:r>
            <a:r>
              <a:rPr lang="zh-CN" altLang="en-US"/>
              <a:t>：</a:t>
            </a:r>
            <a:endParaRPr lang="en-US" altLang="zh-CN" dirty="0"/>
          </a:p>
          <a:p>
            <a:pPr marL="400050" lvl="1" indent="0">
              <a:buNone/>
            </a:pPr>
            <a:r>
              <a:rPr lang="en-US" altLang="zh-CN"/>
              <a:t>KMP:</a:t>
            </a:r>
            <a:r>
              <a:rPr lang="zh-CN" altLang="en-US"/>
              <a:t> </a:t>
            </a:r>
            <a:r>
              <a:rPr lang="en-US" altLang="zh-CN"/>
              <a:t>O</a:t>
            </a:r>
            <a:r>
              <a:rPr lang="en-US" altLang="zh-CN" dirty="0"/>
              <a:t>((n + m)k)</a:t>
            </a:r>
            <a:r>
              <a:rPr lang="zh-CN" altLang="en-US" dirty="0"/>
              <a:t>，</a:t>
            </a:r>
            <a:endParaRPr lang="en-US" altLang="zh-CN" dirty="0"/>
          </a:p>
          <a:p>
            <a:pPr marL="400050" lvl="1" indent="0">
              <a:buNone/>
            </a:pPr>
            <a:r>
              <a:rPr lang="en-US" altLang="zh-CN"/>
              <a:t>When</a:t>
            </a:r>
            <a:r>
              <a:rPr lang="zh-CN" altLang="en-US" dirty="0"/>
              <a:t> </a:t>
            </a:r>
            <a:r>
              <a:rPr lang="en-US" altLang="zh-CN"/>
              <a:t>m &lt;&lt; k,</a:t>
            </a:r>
            <a:r>
              <a:rPr lang="zh-CN" altLang="en-US"/>
              <a:t> </a:t>
            </a:r>
            <a:r>
              <a:rPr lang="en-US" altLang="zh-CN"/>
              <a:t>(k+n)m &lt;&lt; (n + m)k</a:t>
            </a:r>
            <a:endParaRPr lang="zh-CN" altLang="en-US" dirty="0"/>
          </a:p>
          <a:p>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5E2B1D-E501-4F1D-94AE-BDAF30A28DB8}"/>
              </a:ext>
            </a:extLst>
          </p:cNvPr>
          <p:cNvSpPr>
            <a:spLocks noGrp="1"/>
          </p:cNvSpPr>
          <p:nvPr>
            <p:ph type="title"/>
          </p:nvPr>
        </p:nvSpPr>
        <p:spPr>
          <a:xfrm>
            <a:off x="412072" y="2103437"/>
            <a:ext cx="10515600" cy="1325563"/>
          </a:xfrm>
        </p:spPr>
        <p:txBody>
          <a:bodyPr/>
          <a:lstStyle/>
          <a:p>
            <a:pPr algn="ctr"/>
            <a:r>
              <a:rPr lang="en-US" altLang="zh-CN">
                <a:hlinkClick r:id="rId2" action="ppaction://hlinkfile"/>
              </a:rPr>
              <a:t>Keywords Search</a:t>
            </a:r>
            <a:endParaRPr lang="zh-CN" altLang="en-US"/>
          </a:p>
        </p:txBody>
      </p:sp>
    </p:spTree>
    <p:extLst>
      <p:ext uri="{BB962C8B-B14F-4D97-AF65-F5344CB8AC3E}">
        <p14:creationId xmlns:p14="http://schemas.microsoft.com/office/powerpoint/2010/main" val="244550475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4919</TotalTime>
  <Words>2508</Words>
  <Application>Microsoft Office PowerPoint</Application>
  <PresentationFormat>宽屏</PresentationFormat>
  <Paragraphs>234</Paragraphs>
  <Slides>40</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40</vt:i4>
      </vt:variant>
    </vt:vector>
  </HeadingPairs>
  <TitlesOfParts>
    <vt:vector size="46" baseType="lpstr">
      <vt:lpstr>等线</vt:lpstr>
      <vt:lpstr>等线 Light</vt:lpstr>
      <vt:lpstr>Arial</vt:lpstr>
      <vt:lpstr>Courier New</vt:lpstr>
      <vt:lpstr>Times New Roman</vt:lpstr>
      <vt:lpstr>Office 主题​​</vt:lpstr>
      <vt:lpstr>String</vt:lpstr>
      <vt:lpstr>String</vt:lpstr>
      <vt:lpstr>Commonly used string functions</vt:lpstr>
      <vt:lpstr>C: getchar() &amp; gets()  </vt:lpstr>
      <vt:lpstr>C++ string</vt:lpstr>
      <vt:lpstr>int to string</vt:lpstr>
      <vt:lpstr>PowerPoint 演示文稿</vt:lpstr>
      <vt:lpstr>PowerPoint 演示文稿</vt:lpstr>
      <vt:lpstr>PowerPoint 演示文稿</vt:lpstr>
      <vt:lpstr>Hashing strings</vt:lpstr>
      <vt:lpstr>How to design a string hash function?</vt:lpstr>
      <vt:lpstr>BKDR Hash Function</vt:lpstr>
      <vt:lpstr>PowerPoint 演示文稿</vt:lpstr>
      <vt:lpstr>PowerPoint 演示文稿</vt:lpstr>
      <vt:lpstr>Shopping</vt:lpstr>
      <vt:lpstr>Trie (retrieval)</vt:lpstr>
      <vt:lpstr>Trie: Dictionary Representation</vt:lpstr>
      <vt:lpstr>PowerPoint 演示文稿</vt:lpstr>
      <vt:lpstr>Applications</vt:lpstr>
      <vt:lpstr>A statistical problem</vt:lpstr>
      <vt:lpstr>Method 1: map</vt:lpstr>
      <vt:lpstr>Method 2: Using struct to implement the trie (MLE)</vt:lpstr>
      <vt:lpstr>Method 3: Using array to implement the trie</vt:lpstr>
      <vt:lpstr>KMP</vt:lpstr>
      <vt:lpstr>Brute force?</vt:lpstr>
      <vt:lpstr>PowerPoint 演示文稿</vt:lpstr>
      <vt:lpstr>However,</vt:lpstr>
      <vt:lpstr>PowerPoint 演示文稿</vt:lpstr>
      <vt:lpstr>PowerPoint 演示文稿</vt:lpstr>
      <vt:lpstr>The principle of KMP</vt:lpstr>
      <vt:lpstr>Compute Next[]</vt:lpstr>
      <vt:lpstr>How many matches?</vt:lpstr>
      <vt:lpstr>The Aho–Corasick algorithm</vt:lpstr>
      <vt:lpstr>The Aho–Corasick algorithm</vt:lpstr>
      <vt:lpstr>Example (Dictionary {a, ab, bab, bc, bca, c, caa})</vt:lpstr>
      <vt:lpstr>PowerPoint 演示文稿</vt:lpstr>
      <vt:lpstr>PowerPoint 演示文稿</vt:lpstr>
      <vt:lpstr>Multi-pattern matching</vt:lpstr>
      <vt:lpstr>Complextity of the AC algorithm</vt:lpstr>
      <vt:lpstr>Keywords Search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greedy approach</dc:title>
  <dc:creator>Xu Yanyan</dc:creator>
  <cp:lastModifiedBy>艳艳 徐</cp:lastModifiedBy>
  <cp:revision>519</cp:revision>
  <dcterms:created xsi:type="dcterms:W3CDTF">2021-03-21T14:58:38Z</dcterms:created>
  <dcterms:modified xsi:type="dcterms:W3CDTF">2024-05-02T10:40:00Z</dcterms:modified>
</cp:coreProperties>
</file>