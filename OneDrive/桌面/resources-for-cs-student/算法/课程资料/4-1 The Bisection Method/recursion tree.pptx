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2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18AD5-6EC0-41DF-9F48-D6C0F97EE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55BD15-8BE8-4222-809F-BB8CED746F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38475-6411-4444-8D11-BF57B078E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772F-78D8-4FCD-B686-6B7DCF437E97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60B30F-5565-4153-BE66-DD1DA49D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3EB712-940C-48B4-ACA6-35DAFF36A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EA001-EF0B-407F-8348-FE06033D5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042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91C3D2-308B-43FC-A893-25E461AE2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C5D4-A558-45DD-B073-133589C88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C4A70D-A041-41EE-9C06-F11A497B3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772F-78D8-4FCD-B686-6B7DCF437E97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630DFD-8788-46B2-979D-DFA97F598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7DAC91-7A4C-4CEE-9BAB-E3271EB68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EA001-EF0B-407F-8348-FE06033D5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690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B47922-0B1A-4082-8464-40EFB9E25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56F085-45C1-4D3C-83C9-88250A4FD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8248E1-2AC0-492F-83F9-E7289EF2A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772F-78D8-4FCD-B686-6B7DCF437E97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233B7-673B-4FF7-A2DE-D12728721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EE0871-C533-44D6-9002-7F457E560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EA001-EF0B-407F-8348-FE06033D5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837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0B228-49A6-4F69-9574-76173BC1D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68767D-0C53-4F60-B348-481DA2E6B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7BF242-C4E9-44C4-8FE2-913A4C64F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1D8FC4-E79D-4847-BB58-DF2485AF3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772F-78D8-4FCD-B686-6B7DCF437E97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BE6913-6B4F-4AEC-95A4-69D619EA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66F632-756A-4EB0-B6DC-26122A6FC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EA001-EF0B-407F-8348-FE06033D5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20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D5DFC-A20F-424C-A4E2-A0EA35C8F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0A371B-713C-44E0-9BAC-A747408BC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204953-7CDD-4DCE-84BC-1515ABC72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04B03EE-C9F3-415C-989F-38F7EDC4E8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F3B313-3708-43CD-B825-258F21A0F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210C0B-B10A-4687-A89D-DD2A9ADE1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772F-78D8-4FCD-B686-6B7DCF437E97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038669E-AE38-4022-B3A6-4214FF2A3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79F718-01EE-4B67-B659-50F7FCE8F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EA001-EF0B-407F-8348-FE06033D5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319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E1ADA-C656-4A06-A887-F55434B81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1CA0FA-4E1B-47B4-8259-2C5673833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772F-78D8-4FCD-B686-6B7DCF437E97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529950-A436-48E9-975D-72F1EEEB2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45097F-1156-42D1-BD86-88DF6F69B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EA001-EF0B-407F-8348-FE06033D5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513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C3FF3A-A23A-42C1-9D13-A7670CE19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772F-78D8-4FCD-B686-6B7DCF437E97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7F1F216-A14F-4E3F-BCB6-3B6C27813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853DD2-31AE-45B3-B4CF-F5D4DEE3F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EA001-EF0B-407F-8348-FE06033D5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102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11FFC2-6930-49F8-A436-13534F88B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585F6-95D9-434F-A87A-936112C2B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86B43B-F19E-42B9-8D25-41B518C08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206D40-677A-4B81-8137-25E8B12ED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772F-78D8-4FCD-B686-6B7DCF437E97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FFADFC-F2E4-4B50-A808-C843BA32B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024518-FD91-4A25-B97C-72A6C719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EA001-EF0B-407F-8348-FE06033D5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523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3E46E3-A0E7-416A-AB26-7D1A84003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DB3FCBF-8BCC-4C7C-B7FC-FA5BFDF0E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138AE3-3D0E-437E-B3A7-2AD3F0CF8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0420A3-85BB-440F-9536-8E88D2B6E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772F-78D8-4FCD-B686-6B7DCF437E97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940C91-C70C-4A31-8611-78A12EF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0B673C-63FE-4696-885D-49DDAAE4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EA001-EF0B-407F-8348-FE06033D5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129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7C1F5-21CC-409E-BCA0-3A1C66D96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54A470-10D1-460A-9C7C-B7C295EA9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22E7F7-C23C-4474-A700-97A1D200A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772F-78D8-4FCD-B686-6B7DCF437E97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2662E4-FC6D-4141-9583-057CAFBC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2C7EC1-71F7-4826-BE6D-F22243C2E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EA001-EF0B-407F-8348-FE06033D5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879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39C3443-80B6-49D9-B04B-9C23DDF49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25B5A0-4CBD-43FF-B7D2-704716DF9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F2CF97-E4F0-4AA7-86AE-B07F89082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772F-78D8-4FCD-B686-6B7DCF437E97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037EEE-9870-4A33-B3E7-8D8A6849C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E4E687-1FE9-4EA4-99B7-F7BCDE38D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EA001-EF0B-407F-8348-FE06033D5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25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E9B9DA9-4E2B-4DE1-82C3-9A9A59C14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BE5E36-CB77-4B67-A386-31D87279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CE6F1D-5FA0-40E9-A8D4-FB5FF2E50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D772F-78D8-4FCD-B686-6B7DCF437E97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007428-4E36-41D4-8EBE-0FF7BF05A9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69B98F-723E-4F76-B2C5-E690BC3652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EA001-EF0B-407F-8348-FE06033D5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71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8668E-3A18-42DA-9242-4057109807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递归树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B06A23-D2C1-4EE0-8748-653CE02FB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Xu Yanyan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01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BD25F-594E-4EC3-8C9A-AC6E9906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递归算法的时间复杂度分析</a:t>
            </a:r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DD5E96DB-BF60-49A4-95CE-5B1191CDD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Recurrence relation</a:t>
            </a:r>
          </a:p>
          <a:p>
            <a:pPr marL="0" indent="0">
              <a:buNone/>
            </a:pPr>
            <a:endParaRPr lang="zh-CN" altLang="en-US" sz="3600" dirty="0"/>
          </a:p>
          <a:p>
            <a:r>
              <a:rPr lang="en-US" altLang="zh-CN" sz="3600" dirty="0"/>
              <a:t>Recursion tree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80674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BD25F-594E-4EC3-8C9A-AC6E9906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/>
              <a:t>Recurrence relation</a:t>
            </a:r>
            <a:endParaRPr lang="zh-CN" altLang="en-US" sz="40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494E66-3B5F-4846-B0CC-E99F60C33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57" y="1388151"/>
            <a:ext cx="9904762" cy="4400090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2D3E85C7-77A6-4827-90CA-C8354FEB8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642" y="5705167"/>
            <a:ext cx="10830637" cy="530192"/>
          </a:xfrm>
        </p:spPr>
        <p:txBody>
          <a:bodyPr>
            <a:normAutofit fontScale="92500"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Sometimes, recurrence relation is very complicated. (Using recursion tree) 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897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A68331-2C70-4630-9BFB-D357C57A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Recursion tree</a:t>
            </a:r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4E577CA-CA12-4CA4-B986-79671F8A13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5238" y="1831546"/>
            <a:ext cx="6478022" cy="4199663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6283554-B77A-42D3-87B7-E7A93D4DFB3D}"/>
              </a:ext>
            </a:extLst>
          </p:cNvPr>
          <p:cNvSpPr txBox="1"/>
          <p:nvPr/>
        </p:nvSpPr>
        <p:spPr>
          <a:xfrm>
            <a:off x="2856989" y="6031209"/>
            <a:ext cx="6478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recursion tree of the </a:t>
            </a:r>
            <a:r>
              <a:rPr lang="en-US" altLang="zh-CN" sz="2400" dirty="0">
                <a:solidFill>
                  <a:srgbClr val="FF0000"/>
                </a:solidFill>
              </a:rPr>
              <a:t>Fibonacci sequence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8F2B78-EA1F-4003-B2F9-54B3EBF251BE}"/>
              </a:ext>
            </a:extLst>
          </p:cNvPr>
          <p:cNvSpPr txBox="1"/>
          <p:nvPr/>
        </p:nvSpPr>
        <p:spPr>
          <a:xfrm>
            <a:off x="838200" y="1321356"/>
            <a:ext cx="4151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dirty="0"/>
              <a:t>recurrence relation: f(n)=f(n-1)+f(n-2)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3494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E7A1B-C00F-4BF0-B40D-30E3444B9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400"/>
              <a:t>The recursion tree of the Fibonacci sequence</a:t>
            </a:r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D0726A8-A9F5-46EB-800C-CAD05BDA6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490" y="1577493"/>
            <a:ext cx="6171429" cy="312380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0F0330F-6767-490E-B862-A84435021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237" y="4794793"/>
            <a:ext cx="2257143" cy="4857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F171DC9-54A7-4AE6-8B47-482890739258}"/>
                  </a:ext>
                </a:extLst>
              </p:cNvPr>
              <p:cNvSpPr txBox="1"/>
              <p:nvPr/>
            </p:nvSpPr>
            <p:spPr>
              <a:xfrm>
                <a:off x="3163417" y="4852984"/>
                <a:ext cx="20840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𝑙𝑜𝑛𝑔𝑒𝑠𝑡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𝑝𝑎𝑡h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F171DC9-54A7-4AE6-8B47-482890739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417" y="4852984"/>
                <a:ext cx="2084032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DE803EE-4928-4652-8F52-F6F32B3E531F}"/>
                  </a:ext>
                </a:extLst>
              </p:cNvPr>
              <p:cNvSpPr txBox="1"/>
              <p:nvPr/>
            </p:nvSpPr>
            <p:spPr>
              <a:xfrm>
                <a:off x="4382248" y="2405505"/>
                <a:ext cx="4350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DE803EE-4928-4652-8F52-F6F32B3E5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248" y="2405505"/>
                <a:ext cx="435005" cy="369332"/>
              </a:xfrm>
              <a:prstGeom prst="rect">
                <a:avLst/>
              </a:prstGeom>
              <a:blipFill>
                <a:blip r:embed="rId5"/>
                <a:stretch>
                  <a:fillRect r="-8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D38B630-F507-4077-8947-521AD2D4B2C5}"/>
                  </a:ext>
                </a:extLst>
              </p:cNvPr>
              <p:cNvSpPr txBox="1"/>
              <p:nvPr/>
            </p:nvSpPr>
            <p:spPr>
              <a:xfrm>
                <a:off x="7085861" y="2333743"/>
                <a:ext cx="4350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D38B630-F507-4077-8947-521AD2D4B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861" y="2333743"/>
                <a:ext cx="435005" cy="369332"/>
              </a:xfrm>
              <a:prstGeom prst="rect">
                <a:avLst/>
              </a:prstGeom>
              <a:blipFill>
                <a:blip r:embed="rId6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7F3D651-D1EC-4AAF-AF8D-6F8DE5FE7B67}"/>
                  </a:ext>
                </a:extLst>
              </p:cNvPr>
              <p:cNvSpPr txBox="1"/>
              <p:nvPr/>
            </p:nvSpPr>
            <p:spPr>
              <a:xfrm>
                <a:off x="3163417" y="5412758"/>
                <a:ext cx="2084032" cy="564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𝑠h𝑜𝑟𝑡𝑒𝑠𝑡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𝑝𝑎𝑡h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7F3D651-D1EC-4AAF-AF8D-6F8DE5FE7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417" y="5412758"/>
                <a:ext cx="2084032" cy="564898"/>
              </a:xfrm>
              <a:prstGeom prst="rect">
                <a:avLst/>
              </a:prstGeom>
              <a:blipFill>
                <a:blip r:embed="rId7"/>
                <a:stretch>
                  <a:fillRect r="-5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D785BAD9-6C38-44F2-AE82-809A76D014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0976" y="5487642"/>
            <a:ext cx="2285663" cy="5648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8ACC382-7C57-42EA-BE4F-104E9CE20BE3}"/>
                  </a:ext>
                </a:extLst>
              </p:cNvPr>
              <p:cNvSpPr txBox="1"/>
              <p:nvPr/>
            </p:nvSpPr>
            <p:spPr>
              <a:xfrm>
                <a:off x="8816991" y="4671679"/>
                <a:ext cx="6998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altLang="zh-CN" b="0" i="1" baseline="30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8ACC382-7C57-42EA-BE4F-104E9CE20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991" y="4671679"/>
                <a:ext cx="699856" cy="369332"/>
              </a:xfrm>
              <a:prstGeom prst="rect">
                <a:avLst/>
              </a:prstGeom>
              <a:blipFill>
                <a:blip r:embed="rId9"/>
                <a:stretch>
                  <a:fillRect r="-10435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9A89A58-8756-4837-BCFF-8E687D11462A}"/>
                  </a:ext>
                </a:extLst>
              </p:cNvPr>
              <p:cNvSpPr txBox="1"/>
              <p:nvPr/>
            </p:nvSpPr>
            <p:spPr>
              <a:xfrm>
                <a:off x="8698622" y="5283868"/>
                <a:ext cx="936594" cy="486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9A89A58-8756-4837-BCFF-8E687D114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622" y="5283868"/>
                <a:ext cx="936594" cy="48622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644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8805A8-CE6A-4E9D-84F3-B914F199D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/>
              <a:t>The recursion tree of mergeSort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D89ED5-ED7A-4122-89DC-5F33806E5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88" y="1466713"/>
            <a:ext cx="7563774" cy="354691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B081E99-2C83-4D71-8B5D-AC5B7A309915}"/>
              </a:ext>
            </a:extLst>
          </p:cNvPr>
          <p:cNvSpPr txBox="1"/>
          <p:nvPr/>
        </p:nvSpPr>
        <p:spPr>
          <a:xfrm>
            <a:off x="2863787" y="5302510"/>
            <a:ext cx="375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/>
              <a:t>O(n*h)=O(nlogn)</a:t>
            </a:r>
            <a:endParaRPr lang="zh-CN" altLang="en-US" sz="36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1C1463-C211-4131-BC38-E313F93204E0}"/>
              </a:ext>
            </a:extLst>
          </p:cNvPr>
          <p:cNvSpPr txBox="1"/>
          <p:nvPr/>
        </p:nvSpPr>
        <p:spPr>
          <a:xfrm>
            <a:off x="8895425" y="2655397"/>
            <a:ext cx="28586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full binary tree</a:t>
            </a:r>
          </a:p>
          <a:p>
            <a:r>
              <a:rPr lang="en-US" altLang="zh-CN" sz="3200">
                <a:solidFill>
                  <a:srgbClr val="FF0000"/>
                </a:solidFill>
              </a:rPr>
              <a:t>h=logn</a:t>
            </a:r>
            <a:endParaRPr lang="zh-CN" altLang="en-US" sz="3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978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03EB40-557F-4BDF-A9D5-DF659DD2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400" dirty="0"/>
              <a:t>The recursion tree of quicksort </a:t>
            </a:r>
            <a:r>
              <a:rPr lang="zh-CN" altLang="en-US" sz="2700" b="1" dirty="0">
                <a:solidFill>
                  <a:srgbClr val="FF0000"/>
                </a:solidFill>
              </a:rPr>
              <a:t>Average time complexity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91F4BE-316F-469A-BAE7-FB15FB3C3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5" y="1464243"/>
            <a:ext cx="6342857" cy="355238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813DC2D-6D56-4B22-B5ED-84EBB8AEC22F}"/>
              </a:ext>
            </a:extLst>
          </p:cNvPr>
          <p:cNvSpPr txBox="1"/>
          <p:nvPr/>
        </p:nvSpPr>
        <p:spPr>
          <a:xfrm>
            <a:off x="131925" y="5242859"/>
            <a:ext cx="2475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rgbClr val="FF0000"/>
                </a:solidFill>
              </a:rPr>
              <a:t>O(n*h), h?</a:t>
            </a:r>
            <a:endParaRPr lang="zh-CN" altLang="en-US" sz="36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3D6D090-77FD-499B-8A82-61A63630DE7E}"/>
                  </a:ext>
                </a:extLst>
              </p:cNvPr>
              <p:cNvSpPr txBox="1"/>
              <p:nvPr/>
            </p:nvSpPr>
            <p:spPr>
              <a:xfrm>
                <a:off x="6462204" y="2449308"/>
                <a:ext cx="4891596" cy="463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zh-CN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,…,1 →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𝑠h𝑜𝑟𝑡𝑒𝑠𝑡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𝑝𝑎𝑡h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altLang="zh-CN" b="0" i="1" baseline="-25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3D6D090-77FD-499B-8A82-61A63630D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204" y="2449308"/>
                <a:ext cx="4891596" cy="463204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3101B46-2A58-4FCD-9CA7-E5837BCBA075}"/>
                  </a:ext>
                </a:extLst>
              </p:cNvPr>
              <p:cNvSpPr txBox="1"/>
              <p:nvPr/>
            </p:nvSpPr>
            <p:spPr>
              <a:xfrm>
                <a:off x="6462204" y="2997546"/>
                <a:ext cx="5122415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zh-CN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,…,1 →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𝑙𝑜𝑛𝑔𝑒𝑠𝑡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𝑝𝑎𝑡h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f>
                      <m:fPr>
                        <m:ctrlPr>
                          <a:rPr lang="en-US" altLang="zh-CN" b="0" i="1" baseline="-250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baseline="-250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zh-CN" b="0" i="1" baseline="-250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3101B46-2A58-4FCD-9CA7-E5837BCBA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204" y="2997546"/>
                <a:ext cx="5122415" cy="485774"/>
              </a:xfrm>
              <a:prstGeom prst="rect">
                <a:avLst/>
              </a:prstGeom>
              <a:blipFill>
                <a:blip r:embed="rId4"/>
                <a:stretch>
                  <a:fillRect b="-17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8B318F14-E422-488A-B53F-64DE775F2A96}"/>
              </a:ext>
            </a:extLst>
          </p:cNvPr>
          <p:cNvSpPr txBox="1"/>
          <p:nvPr/>
        </p:nvSpPr>
        <p:spPr>
          <a:xfrm>
            <a:off x="2483649" y="5242859"/>
            <a:ext cx="1870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rgbClr val="FF0000"/>
                </a:solidFill>
              </a:rPr>
              <a:t> h=logn</a:t>
            </a:r>
            <a:endParaRPr lang="zh-CN" altLang="en-US" sz="360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FAA261-BA62-4FBF-982F-F90F6E21C0E9}"/>
              </a:ext>
            </a:extLst>
          </p:cNvPr>
          <p:cNvSpPr txBox="1"/>
          <p:nvPr/>
        </p:nvSpPr>
        <p:spPr>
          <a:xfrm>
            <a:off x="4440315" y="5255032"/>
            <a:ext cx="2475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rgbClr val="FF0000"/>
                </a:solidFill>
              </a:rPr>
              <a:t>O(nlogn)</a:t>
            </a:r>
            <a:endParaRPr lang="zh-CN" altLang="en-US" sz="36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7A9CE84-5720-4CA7-8837-4DE1FBF32B2F}"/>
                  </a:ext>
                </a:extLst>
              </p:cNvPr>
              <p:cNvSpPr txBox="1"/>
              <p:nvPr/>
            </p:nvSpPr>
            <p:spPr>
              <a:xfrm>
                <a:off x="6604986" y="1816563"/>
                <a:ext cx="4030462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/>
                  <a:t>+n, complicated</a:t>
                </a:r>
                <a:endParaRPr lang="zh-CN" altLang="en-US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7A9CE84-5720-4CA7-8837-4DE1FBF32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986" y="1816563"/>
                <a:ext cx="4030462" cy="506870"/>
              </a:xfrm>
              <a:prstGeom prst="rect">
                <a:avLst/>
              </a:prstGeom>
              <a:blipFill>
                <a:blip r:embed="rId5"/>
                <a:stretch>
                  <a:fillRect r="-1208" b="-60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929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FFE2A-255A-42C8-A15F-33A287CF0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/>
              <a:t>The recursion tree of permutations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23E6FF2-D64F-4E5F-B1A0-12495499D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753" y="1474105"/>
            <a:ext cx="4438095" cy="43714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11FB6D-6FFE-45A1-A121-F3DFE5FFD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237" y="6022991"/>
            <a:ext cx="6491894" cy="3955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32AFF3D-48D3-4C36-A643-B1B41EB028B7}"/>
                  </a:ext>
                </a:extLst>
              </p:cNvPr>
              <p:cNvSpPr txBox="1"/>
              <p:nvPr/>
            </p:nvSpPr>
            <p:spPr>
              <a:xfrm>
                <a:off x="8336131" y="3059668"/>
                <a:ext cx="29296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!)</m:t>
                      </m:r>
                    </m:oMath>
                  </m:oMathPara>
                </a14:m>
                <a:endParaRPr lang="zh-CN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32AFF3D-48D3-4C36-A643-B1B41EB02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6131" y="3059668"/>
                <a:ext cx="2929631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732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202</Words>
  <Application>Microsoft Office PowerPoint</Application>
  <PresentationFormat>宽屏</PresentationFormat>
  <Paragraphs>31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Cambria Math</vt:lpstr>
      <vt:lpstr>Office 主题​​</vt:lpstr>
      <vt:lpstr>递归树</vt:lpstr>
      <vt:lpstr>递归算法的时间复杂度分析</vt:lpstr>
      <vt:lpstr>Recurrence relation</vt:lpstr>
      <vt:lpstr>Recursion tree</vt:lpstr>
      <vt:lpstr>The recursion tree of the Fibonacci sequence</vt:lpstr>
      <vt:lpstr>The recursion tree of mergeSort</vt:lpstr>
      <vt:lpstr>The recursion tree of quicksort Average time complexity </vt:lpstr>
      <vt:lpstr>The recursion tree of permutations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Recursion Tree</dc:title>
  <dc:creator>Xu Yanyan</dc:creator>
  <cp:lastModifiedBy>俊翔 黄</cp:lastModifiedBy>
  <cp:revision>47</cp:revision>
  <dcterms:created xsi:type="dcterms:W3CDTF">2021-02-10T14:22:01Z</dcterms:created>
  <dcterms:modified xsi:type="dcterms:W3CDTF">2024-05-25T08:41:44Z</dcterms:modified>
</cp:coreProperties>
</file>