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552" r:id="rId3"/>
    <p:sldId id="553" r:id="rId4"/>
    <p:sldId id="554" r:id="rId5"/>
    <p:sldId id="268" r:id="rId6"/>
    <p:sldId id="555" r:id="rId7"/>
    <p:sldId id="556" r:id="rId8"/>
    <p:sldId id="557" r:id="rId9"/>
    <p:sldId id="558" r:id="rId10"/>
    <p:sldId id="559" r:id="rId11"/>
    <p:sldId id="560" r:id="rId12"/>
    <p:sldId id="561" r:id="rId13"/>
    <p:sldId id="562" r:id="rId14"/>
    <p:sldId id="563" r:id="rId15"/>
    <p:sldId id="564" r:id="rId16"/>
    <p:sldId id="568" r:id="rId17"/>
    <p:sldId id="565" r:id="rId18"/>
    <p:sldId id="566" r:id="rId19"/>
    <p:sldId id="567" r:id="rId20"/>
    <p:sldId id="569" r:id="rId21"/>
    <p:sldId id="570" r:id="rId22"/>
    <p:sldId id="581" r:id="rId23"/>
    <p:sldId id="571" r:id="rId24"/>
    <p:sldId id="572" r:id="rId25"/>
    <p:sldId id="573" r:id="rId26"/>
    <p:sldId id="574" r:id="rId27"/>
    <p:sldId id="575" r:id="rId28"/>
    <p:sldId id="576" r:id="rId29"/>
    <p:sldId id="577" r:id="rId30"/>
    <p:sldId id="578" r:id="rId31"/>
    <p:sldId id="579" r:id="rId32"/>
    <p:sldId id="580"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4660"/>
  </p:normalViewPr>
  <p:slideViewPr>
    <p:cSldViewPr snapToGrid="0">
      <p:cViewPr varScale="1">
        <p:scale>
          <a:sx n="108" d="100"/>
          <a:sy n="108" d="100"/>
        </p:scale>
        <p:origin x="6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8CFB11-A474-4037-92C3-6A96DA592FEF}" type="datetimeFigureOut">
              <a:rPr lang="zh-CN" altLang="en-US" smtClean="0"/>
              <a:t>2024/5/10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97EEE-B9B4-43CE-BA0C-48B2D1726773}" type="slidenum">
              <a:rPr lang="zh-CN" altLang="en-US" smtClean="0"/>
              <a:t>‹#›</a:t>
            </a:fld>
            <a:endParaRPr lang="zh-CN" altLang="en-US"/>
          </a:p>
        </p:txBody>
      </p:sp>
    </p:spTree>
    <p:extLst>
      <p:ext uri="{BB962C8B-B14F-4D97-AF65-F5344CB8AC3E}">
        <p14:creationId xmlns:p14="http://schemas.microsoft.com/office/powerpoint/2010/main" val="1782228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E74C3-BE1E-4FDA-B2BF-F5CABD9EC3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8414A93-03CD-41B0-91EF-9F89B49089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601CB88-104E-4041-9593-0364358049E3}"/>
              </a:ext>
            </a:extLst>
          </p:cNvPr>
          <p:cNvSpPr>
            <a:spLocks noGrp="1"/>
          </p:cNvSpPr>
          <p:nvPr>
            <p:ph type="dt" sz="half" idx="10"/>
          </p:nvPr>
        </p:nvSpPr>
        <p:spPr/>
        <p:txBody>
          <a:bodyPr/>
          <a:lstStyle/>
          <a:p>
            <a:fld id="{4361E322-A179-4949-AD92-5F54E714D291}" type="datetime1">
              <a:rPr lang="zh-CN" altLang="en-US" smtClean="0"/>
              <a:t>2024/5/10</a:t>
            </a:fld>
            <a:endParaRPr lang="zh-CN" altLang="en-US"/>
          </a:p>
        </p:txBody>
      </p:sp>
      <p:sp>
        <p:nvSpPr>
          <p:cNvPr id="5" name="页脚占位符 4">
            <a:extLst>
              <a:ext uri="{FF2B5EF4-FFF2-40B4-BE49-F238E27FC236}">
                <a16:creationId xmlns:a16="http://schemas.microsoft.com/office/drawing/2014/main" id="{CF16315D-AFAA-4980-9819-6534D5CAE936}"/>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C5CDB79D-F8FD-4605-B404-0A84510A198B}"/>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579750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E719E-23D3-47FD-839B-203CBF92D87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7803645-37D3-4EDD-9200-E560C33C336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3ABE395-7C27-47EB-9B39-141339C966A0}"/>
              </a:ext>
            </a:extLst>
          </p:cNvPr>
          <p:cNvSpPr>
            <a:spLocks noGrp="1"/>
          </p:cNvSpPr>
          <p:nvPr>
            <p:ph type="dt" sz="half" idx="10"/>
          </p:nvPr>
        </p:nvSpPr>
        <p:spPr/>
        <p:txBody>
          <a:bodyPr/>
          <a:lstStyle/>
          <a:p>
            <a:fld id="{962E290C-E5C5-401B-B689-CB0F01D78AD6}" type="datetime1">
              <a:rPr lang="zh-CN" altLang="en-US" smtClean="0"/>
              <a:t>2024/5/10</a:t>
            </a:fld>
            <a:endParaRPr lang="zh-CN" altLang="en-US"/>
          </a:p>
        </p:txBody>
      </p:sp>
      <p:sp>
        <p:nvSpPr>
          <p:cNvPr id="5" name="页脚占位符 4">
            <a:extLst>
              <a:ext uri="{FF2B5EF4-FFF2-40B4-BE49-F238E27FC236}">
                <a16:creationId xmlns:a16="http://schemas.microsoft.com/office/drawing/2014/main" id="{E37E058E-0A79-4BC7-8808-FCA05AA07F2B}"/>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ACF20585-5CC9-42E1-9691-1780E38898B7}"/>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672161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B95CF-A2F3-4DB3-8B9B-B5A15A4F079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68E97E6-45A3-431D-90EC-74E70EC9B8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AF24651-B974-490D-ADA3-BD93E52E2313}"/>
              </a:ext>
            </a:extLst>
          </p:cNvPr>
          <p:cNvSpPr>
            <a:spLocks noGrp="1"/>
          </p:cNvSpPr>
          <p:nvPr>
            <p:ph type="dt" sz="half" idx="10"/>
          </p:nvPr>
        </p:nvSpPr>
        <p:spPr/>
        <p:txBody>
          <a:bodyPr/>
          <a:lstStyle/>
          <a:p>
            <a:fld id="{70590B48-C9F0-493A-97CB-7990B50BAF1B}" type="datetime1">
              <a:rPr lang="zh-CN" altLang="en-US" smtClean="0"/>
              <a:t>2024/5/10</a:t>
            </a:fld>
            <a:endParaRPr lang="zh-CN" altLang="en-US"/>
          </a:p>
        </p:txBody>
      </p:sp>
      <p:sp>
        <p:nvSpPr>
          <p:cNvPr id="5" name="页脚占位符 4">
            <a:extLst>
              <a:ext uri="{FF2B5EF4-FFF2-40B4-BE49-F238E27FC236}">
                <a16:creationId xmlns:a16="http://schemas.microsoft.com/office/drawing/2014/main" id="{F62087D7-E624-474A-97FD-9337901EA964}"/>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BDC309BF-F8DE-4469-B753-69CF4D47791A}"/>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862561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2C7CB6-6364-416E-BC11-15804AA6919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3FA0C0-9455-4CF5-8F1F-A05BB585DAE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D2CB45D-96E7-40D8-9A8D-6F28DD8FC75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B3513F1-0F43-4B9E-873A-CFD9DF940E55}"/>
              </a:ext>
            </a:extLst>
          </p:cNvPr>
          <p:cNvSpPr>
            <a:spLocks noGrp="1"/>
          </p:cNvSpPr>
          <p:nvPr>
            <p:ph type="dt" sz="half" idx="10"/>
          </p:nvPr>
        </p:nvSpPr>
        <p:spPr/>
        <p:txBody>
          <a:bodyPr/>
          <a:lstStyle/>
          <a:p>
            <a:fld id="{56DBAEC1-0F40-4936-BAB4-B76FFC7624AE}" type="datetime1">
              <a:rPr lang="zh-CN" altLang="en-US" smtClean="0"/>
              <a:t>2024/5/10</a:t>
            </a:fld>
            <a:endParaRPr lang="zh-CN" altLang="en-US"/>
          </a:p>
        </p:txBody>
      </p:sp>
      <p:sp>
        <p:nvSpPr>
          <p:cNvPr id="6" name="页脚占位符 5">
            <a:extLst>
              <a:ext uri="{FF2B5EF4-FFF2-40B4-BE49-F238E27FC236}">
                <a16:creationId xmlns:a16="http://schemas.microsoft.com/office/drawing/2014/main" id="{71A56703-3DF2-494C-9E6B-77E1ECC290BE}"/>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80F162C8-81F2-4EA9-AEC3-32059D2D241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3277678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C611FA-6024-4450-8519-BD266187B24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8907EE1-3194-4B7B-BD9D-4535D11108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8F5AB7E-A7EB-4818-84FD-9AF639601AE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879A2-D71C-449E-9A04-8E5CABA0AE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E6F23C-4380-4F63-AB22-69AF54CF0DA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A8E1901-C27B-4F5F-9B6C-2C949A0D043E}"/>
              </a:ext>
            </a:extLst>
          </p:cNvPr>
          <p:cNvSpPr>
            <a:spLocks noGrp="1"/>
          </p:cNvSpPr>
          <p:nvPr>
            <p:ph type="dt" sz="half" idx="10"/>
          </p:nvPr>
        </p:nvSpPr>
        <p:spPr/>
        <p:txBody>
          <a:bodyPr/>
          <a:lstStyle/>
          <a:p>
            <a:fld id="{D386BA85-5951-40BE-84B6-CDD9CCBD4E1E}" type="datetime1">
              <a:rPr lang="zh-CN" altLang="en-US" smtClean="0"/>
              <a:t>2024/5/10</a:t>
            </a:fld>
            <a:endParaRPr lang="zh-CN" altLang="en-US"/>
          </a:p>
        </p:txBody>
      </p:sp>
      <p:sp>
        <p:nvSpPr>
          <p:cNvPr id="8" name="页脚占位符 7">
            <a:extLst>
              <a:ext uri="{FF2B5EF4-FFF2-40B4-BE49-F238E27FC236}">
                <a16:creationId xmlns:a16="http://schemas.microsoft.com/office/drawing/2014/main" id="{240AD1F4-B793-48D7-AF18-2AF92E428387}"/>
              </a:ext>
            </a:extLst>
          </p:cNvPr>
          <p:cNvSpPr>
            <a:spLocks noGrp="1"/>
          </p:cNvSpPr>
          <p:nvPr>
            <p:ph type="ftr" sz="quarter" idx="11"/>
          </p:nvPr>
        </p:nvSpPr>
        <p:spPr/>
        <p:txBody>
          <a:bodyPr/>
          <a:lstStyle/>
          <a:p>
            <a:r>
              <a:rPr lang="zh-CN" altLang="en-US"/>
              <a:t>华东理工大学 罗勇军</a:t>
            </a:r>
          </a:p>
        </p:txBody>
      </p:sp>
      <p:sp>
        <p:nvSpPr>
          <p:cNvPr id="9" name="灯片编号占位符 8">
            <a:extLst>
              <a:ext uri="{FF2B5EF4-FFF2-40B4-BE49-F238E27FC236}">
                <a16:creationId xmlns:a16="http://schemas.microsoft.com/office/drawing/2014/main" id="{2977C2D3-54BE-488A-BADA-71A18521C172}"/>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932451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A93380-92D5-4A1B-96A0-7D4213E6C20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6D8E708-CC46-4DDB-823E-C1A1209F8FBD}"/>
              </a:ext>
            </a:extLst>
          </p:cNvPr>
          <p:cNvSpPr>
            <a:spLocks noGrp="1"/>
          </p:cNvSpPr>
          <p:nvPr>
            <p:ph type="dt" sz="half" idx="10"/>
          </p:nvPr>
        </p:nvSpPr>
        <p:spPr/>
        <p:txBody>
          <a:bodyPr/>
          <a:lstStyle/>
          <a:p>
            <a:fld id="{D042F9CB-26F1-4929-BA46-545B2B3FB693}" type="datetime1">
              <a:rPr lang="zh-CN" altLang="en-US" smtClean="0"/>
              <a:t>2024/5/10</a:t>
            </a:fld>
            <a:endParaRPr lang="zh-CN" altLang="en-US"/>
          </a:p>
        </p:txBody>
      </p:sp>
      <p:sp>
        <p:nvSpPr>
          <p:cNvPr id="4" name="页脚占位符 3">
            <a:extLst>
              <a:ext uri="{FF2B5EF4-FFF2-40B4-BE49-F238E27FC236}">
                <a16:creationId xmlns:a16="http://schemas.microsoft.com/office/drawing/2014/main" id="{4F925D70-BD66-4BE5-BFF2-674F2DC3CAD1}"/>
              </a:ext>
            </a:extLst>
          </p:cNvPr>
          <p:cNvSpPr>
            <a:spLocks noGrp="1"/>
          </p:cNvSpPr>
          <p:nvPr>
            <p:ph type="ftr" sz="quarter" idx="11"/>
          </p:nvPr>
        </p:nvSpPr>
        <p:spPr/>
        <p:txBody>
          <a:bodyPr/>
          <a:lstStyle/>
          <a:p>
            <a:r>
              <a:rPr lang="zh-CN" altLang="en-US"/>
              <a:t>华东理工大学 罗勇军</a:t>
            </a:r>
          </a:p>
        </p:txBody>
      </p:sp>
      <p:sp>
        <p:nvSpPr>
          <p:cNvPr id="5" name="灯片编号占位符 4">
            <a:extLst>
              <a:ext uri="{FF2B5EF4-FFF2-40B4-BE49-F238E27FC236}">
                <a16:creationId xmlns:a16="http://schemas.microsoft.com/office/drawing/2014/main" id="{AB9E7361-9083-4F13-A530-AEBB30D12700}"/>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88961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911168A-BF5E-418E-9BA2-C715C297C452}"/>
              </a:ext>
            </a:extLst>
          </p:cNvPr>
          <p:cNvSpPr>
            <a:spLocks noGrp="1"/>
          </p:cNvSpPr>
          <p:nvPr>
            <p:ph type="dt" sz="half" idx="10"/>
          </p:nvPr>
        </p:nvSpPr>
        <p:spPr/>
        <p:txBody>
          <a:bodyPr/>
          <a:lstStyle/>
          <a:p>
            <a:fld id="{72067AAC-07E9-4345-B48F-5BDAE39F21DE}" type="datetime1">
              <a:rPr lang="zh-CN" altLang="en-US" smtClean="0"/>
              <a:t>2024/5/10</a:t>
            </a:fld>
            <a:endParaRPr lang="zh-CN" altLang="en-US"/>
          </a:p>
        </p:txBody>
      </p:sp>
      <p:sp>
        <p:nvSpPr>
          <p:cNvPr id="3" name="页脚占位符 2">
            <a:extLst>
              <a:ext uri="{FF2B5EF4-FFF2-40B4-BE49-F238E27FC236}">
                <a16:creationId xmlns:a16="http://schemas.microsoft.com/office/drawing/2014/main" id="{1C266FE5-38F5-4063-98BC-6E6CAAA47689}"/>
              </a:ext>
            </a:extLst>
          </p:cNvPr>
          <p:cNvSpPr>
            <a:spLocks noGrp="1"/>
          </p:cNvSpPr>
          <p:nvPr>
            <p:ph type="ftr" sz="quarter" idx="11"/>
          </p:nvPr>
        </p:nvSpPr>
        <p:spPr/>
        <p:txBody>
          <a:bodyPr/>
          <a:lstStyle/>
          <a:p>
            <a:r>
              <a:rPr lang="zh-CN" altLang="en-US"/>
              <a:t>华东理工大学 罗勇军</a:t>
            </a:r>
          </a:p>
        </p:txBody>
      </p:sp>
      <p:sp>
        <p:nvSpPr>
          <p:cNvPr id="4" name="灯片编号占位符 3">
            <a:extLst>
              <a:ext uri="{FF2B5EF4-FFF2-40B4-BE49-F238E27FC236}">
                <a16:creationId xmlns:a16="http://schemas.microsoft.com/office/drawing/2014/main" id="{BD36AE1B-2A81-4BBE-8E6F-0E376693F876}"/>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72737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127597-6C40-4007-9989-3826A10C6CC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5463319-D02E-4CA5-9853-A219EBBF1F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5DA2A57-CBD9-4774-BB6B-82281FBC30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829E9F-EA46-4D95-B45E-1F46C1C49598}"/>
              </a:ext>
            </a:extLst>
          </p:cNvPr>
          <p:cNvSpPr>
            <a:spLocks noGrp="1"/>
          </p:cNvSpPr>
          <p:nvPr>
            <p:ph type="dt" sz="half" idx="10"/>
          </p:nvPr>
        </p:nvSpPr>
        <p:spPr/>
        <p:txBody>
          <a:bodyPr/>
          <a:lstStyle/>
          <a:p>
            <a:fld id="{88DF262F-8485-4478-B221-A223E2AFA7D2}" type="datetime1">
              <a:rPr lang="zh-CN" altLang="en-US" smtClean="0"/>
              <a:t>2024/5/10</a:t>
            </a:fld>
            <a:endParaRPr lang="zh-CN" altLang="en-US"/>
          </a:p>
        </p:txBody>
      </p:sp>
      <p:sp>
        <p:nvSpPr>
          <p:cNvPr id="6" name="页脚占位符 5">
            <a:extLst>
              <a:ext uri="{FF2B5EF4-FFF2-40B4-BE49-F238E27FC236}">
                <a16:creationId xmlns:a16="http://schemas.microsoft.com/office/drawing/2014/main" id="{30FB46E0-6AFB-4FCB-9055-A3C0CB041024}"/>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A1346969-FD6B-4D1F-89FD-0C8EBCC1999B}"/>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174407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A1383-B422-4680-A0F8-5DFD729A08E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A9BC39B-2D77-4B0B-9ACF-C366DF3EAD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3E619F4-8857-4618-8AE4-83F851D8F4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D924A66-E039-41AF-A5C2-5BD5E6ECC361}"/>
              </a:ext>
            </a:extLst>
          </p:cNvPr>
          <p:cNvSpPr>
            <a:spLocks noGrp="1"/>
          </p:cNvSpPr>
          <p:nvPr>
            <p:ph type="dt" sz="half" idx="10"/>
          </p:nvPr>
        </p:nvSpPr>
        <p:spPr/>
        <p:txBody>
          <a:bodyPr/>
          <a:lstStyle/>
          <a:p>
            <a:fld id="{4DC6948D-8171-44A5-A7EB-ACA3F5959B70}" type="datetime1">
              <a:rPr lang="zh-CN" altLang="en-US" smtClean="0"/>
              <a:t>2024/5/10</a:t>
            </a:fld>
            <a:endParaRPr lang="zh-CN" altLang="en-US"/>
          </a:p>
        </p:txBody>
      </p:sp>
      <p:sp>
        <p:nvSpPr>
          <p:cNvPr id="6" name="页脚占位符 5">
            <a:extLst>
              <a:ext uri="{FF2B5EF4-FFF2-40B4-BE49-F238E27FC236}">
                <a16:creationId xmlns:a16="http://schemas.microsoft.com/office/drawing/2014/main" id="{8A4BC89A-CEFA-425F-B0AB-2A15CE260149}"/>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91205E3E-00AF-4B8D-BEE8-C526559A0A7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622055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66994A-4F47-4A8C-85EB-6828F8EA5A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E1C5012-C01F-48DE-94EC-956BD273975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13E8F8-E8F8-4CF0-BD5A-754BD5DCCF34}"/>
              </a:ext>
            </a:extLst>
          </p:cNvPr>
          <p:cNvSpPr>
            <a:spLocks noGrp="1"/>
          </p:cNvSpPr>
          <p:nvPr>
            <p:ph type="dt" sz="half" idx="10"/>
          </p:nvPr>
        </p:nvSpPr>
        <p:spPr/>
        <p:txBody>
          <a:bodyPr/>
          <a:lstStyle/>
          <a:p>
            <a:fld id="{29C23938-A6B9-412F-9EF4-5BC039545D11}" type="datetime1">
              <a:rPr lang="zh-CN" altLang="en-US" smtClean="0"/>
              <a:t>2024/5/10</a:t>
            </a:fld>
            <a:endParaRPr lang="zh-CN" altLang="en-US"/>
          </a:p>
        </p:txBody>
      </p:sp>
      <p:sp>
        <p:nvSpPr>
          <p:cNvPr id="5" name="页脚占位符 4">
            <a:extLst>
              <a:ext uri="{FF2B5EF4-FFF2-40B4-BE49-F238E27FC236}">
                <a16:creationId xmlns:a16="http://schemas.microsoft.com/office/drawing/2014/main" id="{2700D0BF-26C3-4A56-A3C7-2ED586A6AE47}"/>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115E7682-BEAE-437B-8780-F5016D6A2805}"/>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703089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15CC12D-03AC-4DB4-9D58-9D0DBC1479E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C51A0C4-5809-4033-8E3F-A8B0B43E338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26E71E-661E-4BC2-9C53-99F2F7DD9906}"/>
              </a:ext>
            </a:extLst>
          </p:cNvPr>
          <p:cNvSpPr>
            <a:spLocks noGrp="1"/>
          </p:cNvSpPr>
          <p:nvPr>
            <p:ph type="dt" sz="half" idx="10"/>
          </p:nvPr>
        </p:nvSpPr>
        <p:spPr/>
        <p:txBody>
          <a:bodyPr/>
          <a:lstStyle/>
          <a:p>
            <a:fld id="{CBD8E667-3B81-47E4-AB42-4B6B6071A2E3}" type="datetime1">
              <a:rPr lang="zh-CN" altLang="en-US" smtClean="0"/>
              <a:t>2024/5/10</a:t>
            </a:fld>
            <a:endParaRPr lang="zh-CN" altLang="en-US"/>
          </a:p>
        </p:txBody>
      </p:sp>
      <p:sp>
        <p:nvSpPr>
          <p:cNvPr id="5" name="页脚占位符 4">
            <a:extLst>
              <a:ext uri="{FF2B5EF4-FFF2-40B4-BE49-F238E27FC236}">
                <a16:creationId xmlns:a16="http://schemas.microsoft.com/office/drawing/2014/main" id="{1868A5A8-46D3-4E9C-AA2D-74555DDC5DD5}"/>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4BB1C9CF-9E8A-4283-A9AB-D7B2F8D9D20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826600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1031604-5912-4115-B09C-86E853762C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C4E87EC-8BA5-438E-AAE0-E98A4D5D26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41A3949-B522-40E7-878E-BA86016C5F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865053-14B3-48EC-BC22-51B6118460A4}" type="datetime1">
              <a:rPr lang="zh-CN" altLang="en-US" smtClean="0"/>
              <a:t>2024/5/10</a:t>
            </a:fld>
            <a:endParaRPr lang="zh-CN" altLang="en-US"/>
          </a:p>
        </p:txBody>
      </p:sp>
      <p:sp>
        <p:nvSpPr>
          <p:cNvPr id="5" name="页脚占位符 4">
            <a:extLst>
              <a:ext uri="{FF2B5EF4-FFF2-40B4-BE49-F238E27FC236}">
                <a16:creationId xmlns:a16="http://schemas.microsoft.com/office/drawing/2014/main" id="{5EBAAADC-80B5-480B-9307-C10F894DFE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华东理工大学 罗勇军</a:t>
            </a:r>
          </a:p>
        </p:txBody>
      </p:sp>
      <p:sp>
        <p:nvSpPr>
          <p:cNvPr id="6" name="灯片编号占位符 5">
            <a:extLst>
              <a:ext uri="{FF2B5EF4-FFF2-40B4-BE49-F238E27FC236}">
                <a16:creationId xmlns:a16="http://schemas.microsoft.com/office/drawing/2014/main" id="{533DF350-80E3-4A4A-B02D-0BEF4B5C9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181472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Syntax" TargetMode="External"/><Relationship Id="rId2" Type="http://schemas.openxmlformats.org/officeDocument/2006/relationships/hyperlink" Target="https://en.wikipedia.org/wiki/Natural_number" TargetMode="External"/><Relationship Id="rId1" Type="http://schemas.openxmlformats.org/officeDocument/2006/relationships/slideLayout" Target="../slideLayouts/slideLayout2.xml"/><Relationship Id="rId4" Type="http://schemas.openxmlformats.org/officeDocument/2006/relationships/hyperlink" Target="https://en.wikipedia.org/wiki/Semantic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99CD26-DE4A-4C5C-A434-7BEA4B7F630B}"/>
              </a:ext>
            </a:extLst>
          </p:cNvPr>
          <p:cNvSpPr>
            <a:spLocks noGrp="1"/>
          </p:cNvSpPr>
          <p:nvPr>
            <p:ph type="ctrTitle"/>
          </p:nvPr>
        </p:nvSpPr>
        <p:spPr/>
        <p:txBody>
          <a:bodyPr/>
          <a:lstStyle/>
          <a:p>
            <a:r>
              <a:rPr lang="en-US" altLang="zh-CN" sz="3600"/>
              <a:t>Complexity of Problems</a:t>
            </a:r>
            <a:endParaRPr lang="zh-CN" altLang="en-US" sz="3600"/>
          </a:p>
        </p:txBody>
      </p:sp>
      <p:sp>
        <p:nvSpPr>
          <p:cNvPr id="3" name="副标题 2">
            <a:extLst>
              <a:ext uri="{FF2B5EF4-FFF2-40B4-BE49-F238E27FC236}">
                <a16:creationId xmlns:a16="http://schemas.microsoft.com/office/drawing/2014/main" id="{6CB23BCE-929C-4235-B6FF-239832128CDF}"/>
              </a:ext>
            </a:extLst>
          </p:cNvPr>
          <p:cNvSpPr>
            <a:spLocks noGrp="1"/>
          </p:cNvSpPr>
          <p:nvPr>
            <p:ph type="subTitle" idx="1"/>
          </p:nvPr>
        </p:nvSpPr>
        <p:spPr/>
        <p:txBody>
          <a:bodyPr/>
          <a:lstStyle/>
          <a:p>
            <a:r>
              <a:rPr lang="en-US" altLang="zh-CN"/>
              <a:t>Xu Yanyan</a:t>
            </a:r>
            <a:endParaRPr lang="zh-CN" altLang="en-US"/>
          </a:p>
        </p:txBody>
      </p:sp>
    </p:spTree>
    <p:extLst>
      <p:ext uri="{BB962C8B-B14F-4D97-AF65-F5344CB8AC3E}">
        <p14:creationId xmlns:p14="http://schemas.microsoft.com/office/powerpoint/2010/main" val="449864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000826-764B-4413-B3D1-01BA6D3D0640}"/>
              </a:ext>
            </a:extLst>
          </p:cNvPr>
          <p:cNvSpPr>
            <a:spLocks noGrp="1"/>
          </p:cNvSpPr>
          <p:nvPr>
            <p:ph type="title"/>
          </p:nvPr>
        </p:nvSpPr>
        <p:spPr/>
        <p:txBody>
          <a:bodyPr/>
          <a:lstStyle/>
          <a:p>
            <a:r>
              <a:rPr lang="en-US" altLang="zh-CN" sz="4400"/>
              <a:t>Complexity of Problems</a:t>
            </a:r>
            <a:endParaRPr lang="zh-CN" altLang="en-US"/>
          </a:p>
        </p:txBody>
      </p:sp>
      <p:sp>
        <p:nvSpPr>
          <p:cNvPr id="3" name="内容占位符 2">
            <a:extLst>
              <a:ext uri="{FF2B5EF4-FFF2-40B4-BE49-F238E27FC236}">
                <a16:creationId xmlns:a16="http://schemas.microsoft.com/office/drawing/2014/main" id="{BC13EC4F-759E-486A-ADF7-743C44C376A1}"/>
              </a:ext>
            </a:extLst>
          </p:cNvPr>
          <p:cNvSpPr>
            <a:spLocks noGrp="1"/>
          </p:cNvSpPr>
          <p:nvPr>
            <p:ph idx="1"/>
          </p:nvPr>
        </p:nvSpPr>
        <p:spPr/>
        <p:txBody>
          <a:bodyPr/>
          <a:lstStyle/>
          <a:p>
            <a:pPr marL="514350" indent="-514350">
              <a:buFont typeface="+mj-lt"/>
              <a:buAutoNum type="arabicPeriod"/>
            </a:pPr>
            <a:r>
              <a:rPr lang="en-US" altLang="zh-CN"/>
              <a:t>NP-Complete Problems</a:t>
            </a:r>
          </a:p>
          <a:p>
            <a:pPr marL="514350" indent="-514350">
              <a:buFont typeface="+mj-lt"/>
              <a:buAutoNum type="arabicPeriod"/>
            </a:pPr>
            <a:r>
              <a:rPr lang="en-US" altLang="zh-CN"/>
              <a:t>The Decision Tree Model for Lower Bounds</a:t>
            </a:r>
          </a:p>
        </p:txBody>
      </p:sp>
    </p:spTree>
    <p:extLst>
      <p:ext uri="{BB962C8B-B14F-4D97-AF65-F5344CB8AC3E}">
        <p14:creationId xmlns:p14="http://schemas.microsoft.com/office/powerpoint/2010/main" val="3957392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2311E3-DE78-44F3-AF3E-9290BB67CFC3}"/>
              </a:ext>
            </a:extLst>
          </p:cNvPr>
          <p:cNvSpPr>
            <a:spLocks noGrp="1"/>
          </p:cNvSpPr>
          <p:nvPr>
            <p:ph type="title"/>
          </p:nvPr>
        </p:nvSpPr>
        <p:spPr/>
        <p:txBody>
          <a:bodyPr/>
          <a:lstStyle/>
          <a:p>
            <a:r>
              <a:rPr lang="en-US" altLang="zh-CN"/>
              <a:t>The computational complexity of a problem </a:t>
            </a:r>
            <a:endParaRPr lang="zh-CN" altLang="en-US"/>
          </a:p>
        </p:txBody>
      </p:sp>
      <p:sp>
        <p:nvSpPr>
          <p:cNvPr id="3" name="内容占位符 2">
            <a:extLst>
              <a:ext uri="{FF2B5EF4-FFF2-40B4-BE49-F238E27FC236}">
                <a16:creationId xmlns:a16="http://schemas.microsoft.com/office/drawing/2014/main" id="{BEE1ABFB-12BF-4139-8C76-87D078BFCE00}"/>
              </a:ext>
            </a:extLst>
          </p:cNvPr>
          <p:cNvSpPr>
            <a:spLocks noGrp="1"/>
          </p:cNvSpPr>
          <p:nvPr>
            <p:ph idx="1"/>
          </p:nvPr>
        </p:nvSpPr>
        <p:spPr/>
        <p:txBody>
          <a:bodyPr/>
          <a:lstStyle/>
          <a:p>
            <a:r>
              <a:rPr lang="en-US" altLang="zh-CN"/>
              <a:t>Define the computational complexity of a problem to be the computational complexity of </a:t>
            </a:r>
            <a:r>
              <a:rPr lang="en-US" altLang="zh-CN">
                <a:solidFill>
                  <a:srgbClr val="FF0000"/>
                </a:solidFill>
              </a:rPr>
              <a:t>the most efficient algorithm </a:t>
            </a:r>
            <a:r>
              <a:rPr lang="en-US" altLang="zh-CN"/>
              <a:t>to solve the problem.</a:t>
            </a:r>
          </a:p>
          <a:p>
            <a:endParaRPr lang="zh-CN" altLang="en-US"/>
          </a:p>
        </p:txBody>
      </p:sp>
    </p:spTree>
    <p:extLst>
      <p:ext uri="{BB962C8B-B14F-4D97-AF65-F5344CB8AC3E}">
        <p14:creationId xmlns:p14="http://schemas.microsoft.com/office/powerpoint/2010/main" val="1886485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BFF5DE-1A97-4208-B727-C894C2ABBF2F}"/>
              </a:ext>
            </a:extLst>
          </p:cNvPr>
          <p:cNvSpPr>
            <a:spLocks noGrp="1"/>
          </p:cNvSpPr>
          <p:nvPr>
            <p:ph type="title"/>
          </p:nvPr>
        </p:nvSpPr>
        <p:spPr/>
        <p:txBody>
          <a:bodyPr/>
          <a:lstStyle/>
          <a:p>
            <a:r>
              <a:rPr lang="en-US" altLang="zh-CN"/>
              <a:t>1. NP-Complete Problems</a:t>
            </a:r>
            <a:endParaRPr lang="zh-CN" altLang="en-US"/>
          </a:p>
        </p:txBody>
      </p:sp>
      <p:sp>
        <p:nvSpPr>
          <p:cNvPr id="3" name="内容占位符 2">
            <a:extLst>
              <a:ext uri="{FF2B5EF4-FFF2-40B4-BE49-F238E27FC236}">
                <a16:creationId xmlns:a16="http://schemas.microsoft.com/office/drawing/2014/main" id="{F004C07F-C6C1-4641-9189-168B20852B6B}"/>
              </a:ext>
            </a:extLst>
          </p:cNvPr>
          <p:cNvSpPr>
            <a:spLocks noGrp="1"/>
          </p:cNvSpPr>
          <p:nvPr>
            <p:ph idx="1"/>
          </p:nvPr>
        </p:nvSpPr>
        <p:spPr/>
        <p:txBody>
          <a:bodyPr/>
          <a:lstStyle/>
          <a:p>
            <a:pPr marL="0" indent="0">
              <a:buNone/>
            </a:pPr>
            <a:r>
              <a:rPr lang="en-US" altLang="zh-CN"/>
              <a:t>1.1 Decision Problem &amp; Optimization Problem</a:t>
            </a:r>
          </a:p>
          <a:p>
            <a:pPr marL="0" indent="0">
              <a:buNone/>
            </a:pPr>
            <a:r>
              <a:rPr lang="en-US" altLang="zh-CN"/>
              <a:t>1.2 The Class P</a:t>
            </a:r>
          </a:p>
          <a:p>
            <a:pPr marL="0" indent="0">
              <a:buNone/>
            </a:pPr>
            <a:r>
              <a:rPr lang="en-US" altLang="zh-CN"/>
              <a:t>1.3 The Class NP</a:t>
            </a:r>
          </a:p>
          <a:p>
            <a:pPr marL="0" indent="0">
              <a:buNone/>
            </a:pPr>
            <a:r>
              <a:rPr lang="en-US" altLang="zh-CN"/>
              <a:t>1.4 NP-Complete Problems</a:t>
            </a:r>
            <a:endParaRPr lang="zh-CN" altLang="en-US"/>
          </a:p>
        </p:txBody>
      </p:sp>
    </p:spTree>
    <p:extLst>
      <p:ext uri="{BB962C8B-B14F-4D97-AF65-F5344CB8AC3E}">
        <p14:creationId xmlns:p14="http://schemas.microsoft.com/office/powerpoint/2010/main" val="1648873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3D0D88-9333-457A-BCFB-C30FEB4306AC}"/>
              </a:ext>
            </a:extLst>
          </p:cNvPr>
          <p:cNvSpPr>
            <a:spLocks noGrp="1"/>
          </p:cNvSpPr>
          <p:nvPr>
            <p:ph type="title"/>
          </p:nvPr>
        </p:nvSpPr>
        <p:spPr/>
        <p:txBody>
          <a:bodyPr/>
          <a:lstStyle/>
          <a:p>
            <a:r>
              <a:rPr lang="en-US" altLang="zh-CN"/>
              <a:t>Order of growth</a:t>
            </a:r>
            <a:endParaRPr lang="zh-CN" altLang="en-US"/>
          </a:p>
        </p:txBody>
      </p:sp>
      <p:pic>
        <p:nvPicPr>
          <p:cNvPr id="4" name="图片 3">
            <a:extLst>
              <a:ext uri="{FF2B5EF4-FFF2-40B4-BE49-F238E27FC236}">
                <a16:creationId xmlns:a16="http://schemas.microsoft.com/office/drawing/2014/main" id="{74CB198B-CA96-48AA-8B2B-80D63286416C}"/>
              </a:ext>
            </a:extLst>
          </p:cNvPr>
          <p:cNvPicPr>
            <a:picLocks noChangeAspect="1"/>
          </p:cNvPicPr>
          <p:nvPr/>
        </p:nvPicPr>
        <p:blipFill>
          <a:blip r:embed="rId2"/>
          <a:stretch>
            <a:fillRect/>
          </a:stretch>
        </p:blipFill>
        <p:spPr>
          <a:xfrm>
            <a:off x="838200" y="1343533"/>
            <a:ext cx="7867650" cy="4810125"/>
          </a:xfrm>
          <a:prstGeom prst="rect">
            <a:avLst/>
          </a:prstGeom>
        </p:spPr>
      </p:pic>
      <p:sp>
        <p:nvSpPr>
          <p:cNvPr id="6" name="文本框 5">
            <a:extLst>
              <a:ext uri="{FF2B5EF4-FFF2-40B4-BE49-F238E27FC236}">
                <a16:creationId xmlns:a16="http://schemas.microsoft.com/office/drawing/2014/main" id="{5250CCAC-864F-4BBC-8F6D-A0D96B178FFE}"/>
              </a:ext>
            </a:extLst>
          </p:cNvPr>
          <p:cNvSpPr txBox="1"/>
          <p:nvPr/>
        </p:nvSpPr>
        <p:spPr>
          <a:xfrm>
            <a:off x="838199" y="6153658"/>
            <a:ext cx="9424387" cy="369332"/>
          </a:xfrm>
          <a:prstGeom prst="rect">
            <a:avLst/>
          </a:prstGeom>
          <a:noFill/>
        </p:spPr>
        <p:txBody>
          <a:bodyPr wrap="square" rtlCol="0">
            <a:spAutoFit/>
          </a:bodyPr>
          <a:lstStyle/>
          <a:p>
            <a:r>
              <a:rPr lang="en-US" altLang="zh-CN"/>
              <a:t>assuming that each operation takes one nanosecond (nsec, 10</a:t>
            </a:r>
            <a:r>
              <a:rPr lang="en-US" altLang="zh-CN" baseline="30000"/>
              <a:t>-9</a:t>
            </a:r>
            <a:r>
              <a:rPr lang="en-US" altLang="zh-CN"/>
              <a:t>s). </a:t>
            </a:r>
            <a:r>
              <a:rPr lang="el-GR" altLang="zh-CN"/>
              <a:t>μ</a:t>
            </a:r>
            <a:r>
              <a:rPr lang="en-US" altLang="zh-CN"/>
              <a:t> means millisecond (10</a:t>
            </a:r>
            <a:r>
              <a:rPr lang="en-US" altLang="zh-CN" baseline="30000"/>
              <a:t>-3</a:t>
            </a:r>
            <a:r>
              <a:rPr lang="en-US" altLang="zh-CN"/>
              <a:t>s).</a:t>
            </a:r>
          </a:p>
        </p:txBody>
      </p:sp>
    </p:spTree>
    <p:extLst>
      <p:ext uri="{BB962C8B-B14F-4D97-AF65-F5344CB8AC3E}">
        <p14:creationId xmlns:p14="http://schemas.microsoft.com/office/powerpoint/2010/main" val="997356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6C83CA-75FB-46D9-A134-9C7BF2089217}"/>
              </a:ext>
            </a:extLst>
          </p:cNvPr>
          <p:cNvSpPr>
            <a:spLocks noGrp="1"/>
          </p:cNvSpPr>
          <p:nvPr>
            <p:ph type="title"/>
          </p:nvPr>
        </p:nvSpPr>
        <p:spPr/>
        <p:txBody>
          <a:bodyPr/>
          <a:lstStyle/>
          <a:p>
            <a:r>
              <a:rPr lang="en-US" altLang="zh-CN"/>
              <a:t>1.1.1 Decision Problem</a:t>
            </a:r>
            <a:endParaRPr lang="zh-CN" altLang="en-US"/>
          </a:p>
        </p:txBody>
      </p:sp>
      <p:sp>
        <p:nvSpPr>
          <p:cNvPr id="3" name="内容占位符 2">
            <a:extLst>
              <a:ext uri="{FF2B5EF4-FFF2-40B4-BE49-F238E27FC236}">
                <a16:creationId xmlns:a16="http://schemas.microsoft.com/office/drawing/2014/main" id="{773C5792-22D5-435A-9090-9A7A459F3B30}"/>
              </a:ext>
            </a:extLst>
          </p:cNvPr>
          <p:cNvSpPr>
            <a:spLocks noGrp="1"/>
          </p:cNvSpPr>
          <p:nvPr>
            <p:ph idx="1"/>
          </p:nvPr>
        </p:nvSpPr>
        <p:spPr/>
        <p:txBody>
          <a:bodyPr>
            <a:normAutofit lnSpcReduction="10000"/>
          </a:bodyPr>
          <a:lstStyle/>
          <a:p>
            <a:r>
              <a:rPr lang="en-US" altLang="zh-CN"/>
              <a:t> In computability theory and computational complexity theory, a </a:t>
            </a:r>
            <a:r>
              <a:rPr lang="en-US" altLang="zh-CN">
                <a:solidFill>
                  <a:srgbClr val="FF0000"/>
                </a:solidFill>
              </a:rPr>
              <a:t>decision problem </a:t>
            </a:r>
            <a:r>
              <a:rPr lang="en-US" altLang="zh-CN"/>
              <a:t>is a problem that can be posed as </a:t>
            </a:r>
            <a:r>
              <a:rPr lang="en-US" altLang="zh-CN">
                <a:solidFill>
                  <a:srgbClr val="FF0000"/>
                </a:solidFill>
              </a:rPr>
              <a:t>a </a:t>
            </a:r>
            <a:r>
              <a:rPr lang="en-US" altLang="zh-CN" b="1">
                <a:solidFill>
                  <a:srgbClr val="FF0000"/>
                </a:solidFill>
              </a:rPr>
              <a:t>yes-no</a:t>
            </a:r>
            <a:r>
              <a:rPr lang="en-US" altLang="zh-CN">
                <a:solidFill>
                  <a:srgbClr val="FF0000"/>
                </a:solidFill>
              </a:rPr>
              <a:t> question of the input values</a:t>
            </a:r>
            <a:r>
              <a:rPr lang="en-US" altLang="zh-CN"/>
              <a:t>. An example of a decision problem is deciding whether a given natural number is prime. A decision problem which can be solved by an algorithm is called </a:t>
            </a:r>
            <a:r>
              <a:rPr lang="en-US" altLang="zh-CN">
                <a:solidFill>
                  <a:srgbClr val="FF0000"/>
                </a:solidFill>
              </a:rPr>
              <a:t>decidable</a:t>
            </a:r>
            <a:r>
              <a:rPr lang="en-US" altLang="zh-CN"/>
              <a:t>.</a:t>
            </a:r>
          </a:p>
          <a:p>
            <a:r>
              <a:rPr lang="en-US" altLang="zh-CN">
                <a:solidFill>
                  <a:srgbClr val="FF0000"/>
                </a:solidFill>
              </a:rPr>
              <a:t>The halting problem </a:t>
            </a:r>
            <a:r>
              <a:rPr lang="en-US" altLang="zh-CN"/>
              <a:t>is the problem of determining, from a description of an arbitrary computer program and an input, whether the program will finish running, or continue to run forever. Alan Turing proved in 1936 that a general algorithm to solve the halting problem for all possible program-input pairs cannot exist. The halting problem is an important </a:t>
            </a:r>
            <a:r>
              <a:rPr lang="en-US" altLang="zh-CN">
                <a:solidFill>
                  <a:srgbClr val="FF0000"/>
                </a:solidFill>
              </a:rPr>
              <a:t>undecidable </a:t>
            </a:r>
            <a:r>
              <a:rPr lang="en-US" altLang="zh-CN"/>
              <a:t>decision problem.</a:t>
            </a:r>
            <a:endParaRPr lang="zh-CN" altLang="en-US"/>
          </a:p>
        </p:txBody>
      </p:sp>
    </p:spTree>
    <p:extLst>
      <p:ext uri="{BB962C8B-B14F-4D97-AF65-F5344CB8AC3E}">
        <p14:creationId xmlns:p14="http://schemas.microsoft.com/office/powerpoint/2010/main" val="2792083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1BBD32-AB02-44DE-B870-13D103E01AB7}"/>
              </a:ext>
            </a:extLst>
          </p:cNvPr>
          <p:cNvSpPr>
            <a:spLocks noGrp="1"/>
          </p:cNvSpPr>
          <p:nvPr>
            <p:ph type="title"/>
          </p:nvPr>
        </p:nvSpPr>
        <p:spPr/>
        <p:txBody>
          <a:bodyPr/>
          <a:lstStyle/>
          <a:p>
            <a:r>
              <a:rPr lang="en-US" altLang="zh-CN"/>
              <a:t>1.1.2 Optimization Problem</a:t>
            </a:r>
            <a:endParaRPr lang="zh-CN" altLang="en-US"/>
          </a:p>
        </p:txBody>
      </p:sp>
      <p:sp>
        <p:nvSpPr>
          <p:cNvPr id="3" name="内容占位符 2">
            <a:extLst>
              <a:ext uri="{FF2B5EF4-FFF2-40B4-BE49-F238E27FC236}">
                <a16:creationId xmlns:a16="http://schemas.microsoft.com/office/drawing/2014/main" id="{AC60F354-B670-41EC-9B2C-FBBC6405A9E1}"/>
              </a:ext>
            </a:extLst>
          </p:cNvPr>
          <p:cNvSpPr>
            <a:spLocks noGrp="1"/>
          </p:cNvSpPr>
          <p:nvPr>
            <p:ph idx="1"/>
          </p:nvPr>
        </p:nvSpPr>
        <p:spPr>
          <a:xfrm>
            <a:off x="838200" y="1825625"/>
            <a:ext cx="10515600" cy="1814220"/>
          </a:xfrm>
        </p:spPr>
        <p:txBody>
          <a:bodyPr/>
          <a:lstStyle/>
          <a:p>
            <a:r>
              <a:rPr lang="en-US" altLang="zh-CN" dirty="0"/>
              <a:t>An </a:t>
            </a:r>
            <a:r>
              <a:rPr lang="en-US" altLang="zh-CN" dirty="0">
                <a:solidFill>
                  <a:srgbClr val="FF0000"/>
                </a:solidFill>
              </a:rPr>
              <a:t>optimization problem </a:t>
            </a:r>
            <a:r>
              <a:rPr lang="en-US" altLang="zh-CN" dirty="0"/>
              <a:t>is the problem of finding the best solution from all feasible solutions.</a:t>
            </a:r>
          </a:p>
          <a:p>
            <a:r>
              <a:rPr lang="en-US" altLang="zh-CN" dirty="0"/>
              <a:t>Formally, </a:t>
            </a:r>
            <a:r>
              <a:rPr lang="en-US" altLang="zh-CN" dirty="0">
                <a:solidFill>
                  <a:srgbClr val="FF0000"/>
                </a:solidFill>
              </a:rPr>
              <a:t>a combinatorial optimization problem </a:t>
            </a:r>
            <a:r>
              <a:rPr lang="en-US" altLang="zh-CN" dirty="0"/>
              <a:t>A is a quadruple (</a:t>
            </a:r>
            <a:r>
              <a:rPr lang="en-US" altLang="zh-CN" dirty="0" err="1"/>
              <a:t>I,f,m,g</a:t>
            </a:r>
            <a:r>
              <a:rPr lang="en-US" altLang="zh-CN" dirty="0"/>
              <a:t>), where</a:t>
            </a:r>
            <a:endParaRPr lang="zh-CN" altLang="en-US" dirty="0"/>
          </a:p>
        </p:txBody>
      </p:sp>
      <p:pic>
        <p:nvPicPr>
          <p:cNvPr id="5" name="图片 4">
            <a:extLst>
              <a:ext uri="{FF2B5EF4-FFF2-40B4-BE49-F238E27FC236}">
                <a16:creationId xmlns:a16="http://schemas.microsoft.com/office/drawing/2014/main" id="{77034A78-0DB3-434D-87EC-F4D01CE37D41}"/>
              </a:ext>
            </a:extLst>
          </p:cNvPr>
          <p:cNvPicPr>
            <a:picLocks noChangeAspect="1"/>
          </p:cNvPicPr>
          <p:nvPr/>
        </p:nvPicPr>
        <p:blipFill>
          <a:blip r:embed="rId2"/>
          <a:stretch>
            <a:fillRect/>
          </a:stretch>
        </p:blipFill>
        <p:spPr>
          <a:xfrm>
            <a:off x="711198" y="3639845"/>
            <a:ext cx="11227486" cy="2306422"/>
          </a:xfrm>
          <a:prstGeom prst="rect">
            <a:avLst/>
          </a:prstGeom>
        </p:spPr>
      </p:pic>
      <p:sp>
        <p:nvSpPr>
          <p:cNvPr id="10" name="文本框 9">
            <a:extLst>
              <a:ext uri="{FF2B5EF4-FFF2-40B4-BE49-F238E27FC236}">
                <a16:creationId xmlns:a16="http://schemas.microsoft.com/office/drawing/2014/main" id="{DDACC79E-53AE-4670-A898-A6CB56E58720}"/>
              </a:ext>
            </a:extLst>
          </p:cNvPr>
          <p:cNvSpPr txBox="1"/>
          <p:nvPr/>
        </p:nvSpPr>
        <p:spPr>
          <a:xfrm>
            <a:off x="932155" y="5908090"/>
            <a:ext cx="9969624" cy="707886"/>
          </a:xfrm>
          <a:prstGeom prst="rect">
            <a:avLst/>
          </a:prstGeom>
          <a:noFill/>
        </p:spPr>
        <p:txBody>
          <a:bodyPr wrap="square" rtlCol="0">
            <a:spAutoFit/>
          </a:bodyPr>
          <a:lstStyle/>
          <a:p>
            <a:r>
              <a:rPr lang="en-US" altLang="zh-CN" sz="2000">
                <a:solidFill>
                  <a:srgbClr val="FF0000"/>
                </a:solidFill>
              </a:rPr>
              <a:t>For each combinatorial optimization problem, there is a corresponding decision problem that asks whether there is a feasible solution for some particular measure m</a:t>
            </a:r>
            <a:r>
              <a:rPr lang="en-US" altLang="zh-CN" sz="2000" baseline="-25000">
                <a:solidFill>
                  <a:srgbClr val="FF0000"/>
                </a:solidFill>
              </a:rPr>
              <a:t>0</a:t>
            </a:r>
            <a:r>
              <a:rPr lang="en-US" altLang="zh-CN" sz="2000">
                <a:solidFill>
                  <a:srgbClr val="FF0000"/>
                </a:solidFill>
              </a:rPr>
              <a:t>.</a:t>
            </a:r>
            <a:endParaRPr lang="zh-CN" altLang="en-US" sz="2000">
              <a:solidFill>
                <a:srgbClr val="FF0000"/>
              </a:solidFill>
            </a:endParaRPr>
          </a:p>
        </p:txBody>
      </p:sp>
    </p:spTree>
    <p:extLst>
      <p:ext uri="{BB962C8B-B14F-4D97-AF65-F5344CB8AC3E}">
        <p14:creationId xmlns:p14="http://schemas.microsoft.com/office/powerpoint/2010/main" val="3449486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DD82CB2-C691-41F5-9600-2FB4D19C5EF6}"/>
              </a:ext>
            </a:extLst>
          </p:cNvPr>
          <p:cNvPicPr>
            <a:picLocks noChangeAspect="1"/>
          </p:cNvPicPr>
          <p:nvPr/>
        </p:nvPicPr>
        <p:blipFill>
          <a:blip r:embed="rId2"/>
          <a:stretch>
            <a:fillRect/>
          </a:stretch>
        </p:blipFill>
        <p:spPr>
          <a:xfrm>
            <a:off x="321104" y="292963"/>
            <a:ext cx="11770490" cy="6391922"/>
          </a:xfrm>
          <a:prstGeom prst="rect">
            <a:avLst/>
          </a:prstGeom>
        </p:spPr>
      </p:pic>
    </p:spTree>
    <p:extLst>
      <p:ext uri="{BB962C8B-B14F-4D97-AF65-F5344CB8AC3E}">
        <p14:creationId xmlns:p14="http://schemas.microsoft.com/office/powerpoint/2010/main" val="1548798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D0263B9-5EC4-4BAC-8D75-0460549018E3}"/>
              </a:ext>
            </a:extLst>
          </p:cNvPr>
          <p:cNvPicPr>
            <a:picLocks noChangeAspect="1"/>
          </p:cNvPicPr>
          <p:nvPr/>
        </p:nvPicPr>
        <p:blipFill>
          <a:blip r:embed="rId2"/>
          <a:stretch>
            <a:fillRect/>
          </a:stretch>
        </p:blipFill>
        <p:spPr>
          <a:xfrm>
            <a:off x="1091238" y="241064"/>
            <a:ext cx="10009524" cy="4866667"/>
          </a:xfrm>
          <a:prstGeom prst="rect">
            <a:avLst/>
          </a:prstGeom>
        </p:spPr>
      </p:pic>
      <p:pic>
        <p:nvPicPr>
          <p:cNvPr id="7" name="图片 6">
            <a:extLst>
              <a:ext uri="{FF2B5EF4-FFF2-40B4-BE49-F238E27FC236}">
                <a16:creationId xmlns:a16="http://schemas.microsoft.com/office/drawing/2014/main" id="{63BF3CB8-B1B8-4D2D-85C6-1DEF982940D8}"/>
              </a:ext>
            </a:extLst>
          </p:cNvPr>
          <p:cNvPicPr>
            <a:picLocks noChangeAspect="1"/>
          </p:cNvPicPr>
          <p:nvPr/>
        </p:nvPicPr>
        <p:blipFill>
          <a:blip r:embed="rId3"/>
          <a:stretch>
            <a:fillRect/>
          </a:stretch>
        </p:blipFill>
        <p:spPr>
          <a:xfrm>
            <a:off x="975829" y="5107731"/>
            <a:ext cx="5761905" cy="1333333"/>
          </a:xfrm>
          <a:prstGeom prst="rect">
            <a:avLst/>
          </a:prstGeom>
        </p:spPr>
      </p:pic>
      <p:pic>
        <p:nvPicPr>
          <p:cNvPr id="9" name="图片 8">
            <a:extLst>
              <a:ext uri="{FF2B5EF4-FFF2-40B4-BE49-F238E27FC236}">
                <a16:creationId xmlns:a16="http://schemas.microsoft.com/office/drawing/2014/main" id="{3A6A1404-E0BB-4317-9D49-5FBE9B938421}"/>
              </a:ext>
            </a:extLst>
          </p:cNvPr>
          <p:cNvPicPr>
            <a:picLocks noChangeAspect="1"/>
          </p:cNvPicPr>
          <p:nvPr/>
        </p:nvPicPr>
        <p:blipFill>
          <a:blip r:embed="rId4"/>
          <a:stretch>
            <a:fillRect/>
          </a:stretch>
        </p:blipFill>
        <p:spPr>
          <a:xfrm>
            <a:off x="10383255" y="5104975"/>
            <a:ext cx="1808745" cy="1753025"/>
          </a:xfrm>
          <a:prstGeom prst="rect">
            <a:avLst/>
          </a:prstGeom>
        </p:spPr>
      </p:pic>
    </p:spTree>
    <p:extLst>
      <p:ext uri="{BB962C8B-B14F-4D97-AF65-F5344CB8AC3E}">
        <p14:creationId xmlns:p14="http://schemas.microsoft.com/office/powerpoint/2010/main" val="3092917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DDDE309-BF66-48CB-A88B-4FC1DB3DDE43}"/>
              </a:ext>
            </a:extLst>
          </p:cNvPr>
          <p:cNvPicPr>
            <a:picLocks noChangeAspect="1"/>
          </p:cNvPicPr>
          <p:nvPr/>
        </p:nvPicPr>
        <p:blipFill>
          <a:blip r:embed="rId2"/>
          <a:stretch>
            <a:fillRect/>
          </a:stretch>
        </p:blipFill>
        <p:spPr>
          <a:xfrm>
            <a:off x="0" y="0"/>
            <a:ext cx="9570128" cy="5149640"/>
          </a:xfrm>
          <a:prstGeom prst="rect">
            <a:avLst/>
          </a:prstGeom>
        </p:spPr>
      </p:pic>
      <p:pic>
        <p:nvPicPr>
          <p:cNvPr id="7" name="图片 6">
            <a:extLst>
              <a:ext uri="{FF2B5EF4-FFF2-40B4-BE49-F238E27FC236}">
                <a16:creationId xmlns:a16="http://schemas.microsoft.com/office/drawing/2014/main" id="{28F4DC12-BFF3-40C9-955B-B0AEE15C1F7D}"/>
              </a:ext>
            </a:extLst>
          </p:cNvPr>
          <p:cNvPicPr>
            <a:picLocks noChangeAspect="1"/>
          </p:cNvPicPr>
          <p:nvPr/>
        </p:nvPicPr>
        <p:blipFill>
          <a:blip r:embed="rId3"/>
          <a:stretch>
            <a:fillRect/>
          </a:stretch>
        </p:blipFill>
        <p:spPr>
          <a:xfrm>
            <a:off x="9913544" y="0"/>
            <a:ext cx="2278456" cy="2332521"/>
          </a:xfrm>
          <a:prstGeom prst="rect">
            <a:avLst/>
          </a:prstGeom>
        </p:spPr>
      </p:pic>
      <p:pic>
        <p:nvPicPr>
          <p:cNvPr id="9" name="图片 8">
            <a:extLst>
              <a:ext uri="{FF2B5EF4-FFF2-40B4-BE49-F238E27FC236}">
                <a16:creationId xmlns:a16="http://schemas.microsoft.com/office/drawing/2014/main" id="{A8820C04-EE2A-4FB4-A125-AE453921B88C}"/>
              </a:ext>
            </a:extLst>
          </p:cNvPr>
          <p:cNvPicPr>
            <a:picLocks noChangeAspect="1"/>
          </p:cNvPicPr>
          <p:nvPr/>
        </p:nvPicPr>
        <p:blipFill>
          <a:blip r:embed="rId4"/>
          <a:stretch>
            <a:fillRect/>
          </a:stretch>
        </p:blipFill>
        <p:spPr>
          <a:xfrm>
            <a:off x="8562809" y="3293616"/>
            <a:ext cx="3629191" cy="3564384"/>
          </a:xfrm>
          <a:prstGeom prst="rect">
            <a:avLst/>
          </a:prstGeom>
        </p:spPr>
      </p:pic>
      <p:sp>
        <p:nvSpPr>
          <p:cNvPr id="10" name="文本框 9">
            <a:extLst>
              <a:ext uri="{FF2B5EF4-FFF2-40B4-BE49-F238E27FC236}">
                <a16:creationId xmlns:a16="http://schemas.microsoft.com/office/drawing/2014/main" id="{4F8E9C62-E4D8-4818-9B8E-E5721BDB5466}"/>
              </a:ext>
            </a:extLst>
          </p:cNvPr>
          <p:cNvSpPr txBox="1"/>
          <p:nvPr/>
        </p:nvSpPr>
        <p:spPr>
          <a:xfrm>
            <a:off x="115410" y="5450889"/>
            <a:ext cx="8131945" cy="1015663"/>
          </a:xfrm>
          <a:prstGeom prst="rect">
            <a:avLst/>
          </a:prstGeom>
          <a:noFill/>
        </p:spPr>
        <p:txBody>
          <a:bodyPr wrap="square" rtlCol="0">
            <a:spAutoFit/>
          </a:bodyPr>
          <a:lstStyle/>
          <a:p>
            <a:r>
              <a:rPr lang="en-US" altLang="zh-CN" sz="2000"/>
              <a:t>The brute force algorithm finds a 4-clique in this 7-vertex graph by systematically checking all C(7,4) = 35 4-vertex subgraphs for completeness.</a:t>
            </a:r>
            <a:endParaRPr lang="zh-CN" altLang="en-US" sz="2000"/>
          </a:p>
        </p:txBody>
      </p:sp>
    </p:spTree>
    <p:extLst>
      <p:ext uri="{BB962C8B-B14F-4D97-AF65-F5344CB8AC3E}">
        <p14:creationId xmlns:p14="http://schemas.microsoft.com/office/powerpoint/2010/main" val="1069951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F9BEDF9-4FBD-4324-8E22-554E79AC66B5}"/>
              </a:ext>
            </a:extLst>
          </p:cNvPr>
          <p:cNvSpPr>
            <a:spLocks noGrp="1"/>
          </p:cNvSpPr>
          <p:nvPr>
            <p:ph idx="1"/>
          </p:nvPr>
        </p:nvSpPr>
        <p:spPr>
          <a:xfrm>
            <a:off x="838200" y="781235"/>
            <a:ext cx="10515600" cy="5395728"/>
          </a:xfrm>
        </p:spPr>
        <p:txBody>
          <a:bodyPr>
            <a:normAutofit fontScale="40000" lnSpcReduction="20000"/>
          </a:bodyPr>
          <a:lstStyle/>
          <a:p>
            <a:pPr>
              <a:lnSpc>
                <a:spcPct val="120000"/>
              </a:lnSpc>
            </a:pPr>
            <a:r>
              <a:rPr lang="en-US" altLang="zh-CN" sz="5800" dirty="0"/>
              <a:t>If we have an efficient algorithm that solves a decision problem, then it can easily be modified to solve its corresponding optimization problem.</a:t>
            </a:r>
          </a:p>
          <a:p>
            <a:pPr>
              <a:lnSpc>
                <a:spcPct val="120000"/>
              </a:lnSpc>
            </a:pPr>
            <a:endParaRPr lang="en-US" altLang="zh-CN" sz="5800" dirty="0"/>
          </a:p>
          <a:p>
            <a:pPr>
              <a:lnSpc>
                <a:spcPct val="120000"/>
              </a:lnSpc>
            </a:pPr>
            <a:r>
              <a:rPr lang="en-US" altLang="zh-CN" sz="5800" dirty="0"/>
              <a:t>For instance, if we have an algorithm A that solves the decision problem for graph coloring, we can find the chromatic number of a graph G using binary search and Algorithm A as a subroutine. Clearly, 1 &lt; </a:t>
            </a:r>
            <a:r>
              <a:rPr lang="el-GR" altLang="zh-CN" sz="5800" dirty="0"/>
              <a:t>χ</a:t>
            </a:r>
            <a:r>
              <a:rPr lang="en-US" altLang="zh-CN" sz="5800" dirty="0"/>
              <a:t>(G) &lt;n</a:t>
            </a:r>
            <a:r>
              <a:rPr lang="zh-CN" altLang="en-US" sz="5800" dirty="0"/>
              <a:t>，</a:t>
            </a:r>
            <a:r>
              <a:rPr lang="en-US" altLang="zh-CN" sz="5800" dirty="0"/>
              <a:t>where n is the number of vertices in G. Hence, the chromatic number of G can be found using only O(</a:t>
            </a:r>
            <a:r>
              <a:rPr lang="en-US" altLang="zh-CN" sz="5800" dirty="0" err="1"/>
              <a:t>logn</a:t>
            </a:r>
            <a:r>
              <a:rPr lang="en-US" altLang="zh-CN" sz="5800" dirty="0"/>
              <a:t>) calls to algorithm A. </a:t>
            </a:r>
          </a:p>
          <a:p>
            <a:pPr>
              <a:lnSpc>
                <a:spcPct val="120000"/>
              </a:lnSpc>
            </a:pPr>
            <a:endParaRPr lang="en-US" altLang="zh-CN" sz="5800" dirty="0"/>
          </a:p>
          <a:p>
            <a:pPr>
              <a:lnSpc>
                <a:spcPct val="120000"/>
              </a:lnSpc>
            </a:pPr>
            <a:r>
              <a:rPr lang="en-US" altLang="zh-CN" sz="5800" dirty="0"/>
              <a:t>Since we are dealing with polynomial time algorithms, the log n factor is inconsequential.  Because of this reason, in the study of NP-complete problems, and computational complexity or even computability in general, it is easier to </a:t>
            </a:r>
            <a:r>
              <a:rPr lang="en-US" altLang="zh-CN" sz="5800" dirty="0">
                <a:solidFill>
                  <a:srgbClr val="FF0000"/>
                </a:solidFill>
              </a:rPr>
              <a:t>restrict one’s attention to decision problems.</a:t>
            </a:r>
            <a:endParaRPr lang="zh-CN" altLang="en-US" sz="5800" dirty="0">
              <a:solidFill>
                <a:srgbClr val="FF0000"/>
              </a:solidFill>
            </a:endParaRPr>
          </a:p>
        </p:txBody>
      </p:sp>
    </p:spTree>
    <p:extLst>
      <p:ext uri="{BB962C8B-B14F-4D97-AF65-F5344CB8AC3E}">
        <p14:creationId xmlns:p14="http://schemas.microsoft.com/office/powerpoint/2010/main" val="388169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F06C1E-97CE-4C62-B0F9-33A5C0A3983A}"/>
              </a:ext>
            </a:extLst>
          </p:cNvPr>
          <p:cNvSpPr>
            <a:spLocks noGrp="1"/>
          </p:cNvSpPr>
          <p:nvPr>
            <p:ph type="title"/>
          </p:nvPr>
        </p:nvSpPr>
        <p:spPr/>
        <p:txBody>
          <a:bodyPr/>
          <a:lstStyle/>
          <a:p>
            <a:r>
              <a:rPr lang="en-US" altLang="zh-CN"/>
              <a:t>1.2 The Class P</a:t>
            </a:r>
            <a:endParaRPr lang="zh-CN" altLang="en-US"/>
          </a:p>
        </p:txBody>
      </p:sp>
      <p:sp>
        <p:nvSpPr>
          <p:cNvPr id="3" name="内容占位符 2">
            <a:extLst>
              <a:ext uri="{FF2B5EF4-FFF2-40B4-BE49-F238E27FC236}">
                <a16:creationId xmlns:a16="http://schemas.microsoft.com/office/drawing/2014/main" id="{A54F993A-E47A-4D11-A1AD-0A2F2652797C}"/>
              </a:ext>
            </a:extLst>
          </p:cNvPr>
          <p:cNvSpPr>
            <a:spLocks noGrp="1"/>
          </p:cNvSpPr>
          <p:nvPr>
            <p:ph idx="1"/>
          </p:nvPr>
        </p:nvSpPr>
        <p:spPr/>
        <p:txBody>
          <a:bodyPr>
            <a:normAutofit/>
          </a:bodyPr>
          <a:lstStyle/>
          <a:p>
            <a:r>
              <a:rPr lang="en-US" altLang="zh-CN" b="1">
                <a:solidFill>
                  <a:srgbClr val="FF0000"/>
                </a:solidFill>
              </a:rPr>
              <a:t>P</a:t>
            </a:r>
            <a:r>
              <a:rPr lang="en-US" altLang="zh-CN"/>
              <a:t> is a fundamental complexity class. It contains all decision problems that can be solved by </a:t>
            </a:r>
            <a:r>
              <a:rPr lang="en-US" altLang="zh-CN">
                <a:solidFill>
                  <a:srgbClr val="FF0000"/>
                </a:solidFill>
              </a:rPr>
              <a:t>a deterministic Turing machine </a:t>
            </a:r>
            <a:r>
              <a:rPr lang="en-US" altLang="zh-CN"/>
              <a:t>using a polynomial amount of computation time, or </a:t>
            </a:r>
            <a:r>
              <a:rPr lang="en-US" altLang="zh-CN">
                <a:solidFill>
                  <a:srgbClr val="FF0000"/>
                </a:solidFill>
              </a:rPr>
              <a:t>polynomial time</a:t>
            </a:r>
            <a:r>
              <a:rPr lang="en-US" altLang="zh-CN"/>
              <a:t>.</a:t>
            </a:r>
          </a:p>
          <a:p>
            <a:r>
              <a:rPr lang="en-US" altLang="zh-CN"/>
              <a:t>A </a:t>
            </a:r>
            <a:r>
              <a:rPr lang="en-US" altLang="zh-CN">
                <a:solidFill>
                  <a:srgbClr val="FF0000"/>
                </a:solidFill>
              </a:rPr>
              <a:t>formal language L </a:t>
            </a:r>
            <a:r>
              <a:rPr lang="en-US" altLang="zh-CN"/>
              <a:t>is in P if and only if there exists a deterministic Turing machine M, such that</a:t>
            </a:r>
          </a:p>
          <a:p>
            <a:pPr lvl="1"/>
            <a:r>
              <a:rPr lang="en-US" altLang="zh-CN"/>
              <a:t>M runs for polynomial time on all inputs</a:t>
            </a:r>
          </a:p>
          <a:p>
            <a:pPr lvl="1"/>
            <a:r>
              <a:rPr lang="en-US" altLang="zh-CN"/>
              <a:t>For all </a:t>
            </a:r>
            <a:r>
              <a:rPr lang="az-Cyrl-AZ" altLang="zh-CN"/>
              <a:t>х</a:t>
            </a:r>
            <a:r>
              <a:rPr lang="en-US" altLang="zh-CN"/>
              <a:t> in L, M outputs 1</a:t>
            </a:r>
          </a:p>
          <a:p>
            <a:pPr lvl="1"/>
            <a:r>
              <a:rPr lang="en-US" altLang="zh-CN"/>
              <a:t>For all </a:t>
            </a:r>
            <a:r>
              <a:rPr lang="az-Cyrl-AZ" altLang="zh-CN"/>
              <a:t>х</a:t>
            </a:r>
            <a:r>
              <a:rPr lang="en-US" altLang="zh-CN"/>
              <a:t> not in L, M outputs 0</a:t>
            </a:r>
            <a:endParaRPr lang="zh-CN" altLang="en-US"/>
          </a:p>
        </p:txBody>
      </p:sp>
    </p:spTree>
    <p:extLst>
      <p:ext uri="{BB962C8B-B14F-4D97-AF65-F5344CB8AC3E}">
        <p14:creationId xmlns:p14="http://schemas.microsoft.com/office/powerpoint/2010/main" val="3819344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6A9D41-2B37-4A9A-A0FE-A34489837A46}"/>
              </a:ext>
            </a:extLst>
          </p:cNvPr>
          <p:cNvSpPr>
            <a:spLocks noGrp="1"/>
          </p:cNvSpPr>
          <p:nvPr>
            <p:ph type="title"/>
          </p:nvPr>
        </p:nvSpPr>
        <p:spPr/>
        <p:txBody>
          <a:bodyPr/>
          <a:lstStyle/>
          <a:p>
            <a:r>
              <a:rPr lang="en-US" altLang="zh-CN"/>
              <a:t>Formal Language</a:t>
            </a:r>
            <a:endParaRPr lang="zh-CN" altLang="en-US"/>
          </a:p>
        </p:txBody>
      </p:sp>
      <p:sp>
        <p:nvSpPr>
          <p:cNvPr id="3" name="内容占位符 2">
            <a:extLst>
              <a:ext uri="{FF2B5EF4-FFF2-40B4-BE49-F238E27FC236}">
                <a16:creationId xmlns:a16="http://schemas.microsoft.com/office/drawing/2014/main" id="{4A3F22E3-0B85-48F1-8505-CC798E763ADA}"/>
              </a:ext>
            </a:extLst>
          </p:cNvPr>
          <p:cNvSpPr>
            <a:spLocks noGrp="1"/>
          </p:cNvSpPr>
          <p:nvPr>
            <p:ph idx="1"/>
          </p:nvPr>
        </p:nvSpPr>
        <p:spPr>
          <a:xfrm>
            <a:off x="838200" y="1690688"/>
            <a:ext cx="10515600" cy="1228293"/>
          </a:xfrm>
        </p:spPr>
        <p:txBody>
          <a:bodyPr>
            <a:normAutofit lnSpcReduction="10000"/>
          </a:bodyPr>
          <a:lstStyle/>
          <a:p>
            <a:r>
              <a:rPr lang="en-US" altLang="zh-CN"/>
              <a:t>A formal language consists of words whose letters are taken from an alphabet and are well-formed according to a specific set of rules.</a:t>
            </a:r>
            <a:endParaRPr lang="zh-CN" altLang="en-US"/>
          </a:p>
        </p:txBody>
      </p:sp>
      <p:sp>
        <p:nvSpPr>
          <p:cNvPr id="7" name="文本框 6">
            <a:extLst>
              <a:ext uri="{FF2B5EF4-FFF2-40B4-BE49-F238E27FC236}">
                <a16:creationId xmlns:a16="http://schemas.microsoft.com/office/drawing/2014/main" id="{EAE3138B-B49C-4533-9E21-E32123384211}"/>
              </a:ext>
            </a:extLst>
          </p:cNvPr>
          <p:cNvSpPr txBox="1"/>
          <p:nvPr/>
        </p:nvSpPr>
        <p:spPr>
          <a:xfrm>
            <a:off x="924756" y="2956264"/>
            <a:ext cx="10515599" cy="3139321"/>
          </a:xfrm>
          <a:prstGeom prst="rect">
            <a:avLst/>
          </a:prstGeom>
          <a:noFill/>
        </p:spPr>
        <p:txBody>
          <a:bodyPr wrap="square">
            <a:spAutoFit/>
          </a:bodyPr>
          <a:lstStyle/>
          <a:p>
            <a:pPr algn="l"/>
            <a:r>
              <a:rPr lang="en-US" altLang="zh-CN" b="0" i="0">
                <a:solidFill>
                  <a:srgbClr val="202122"/>
                </a:solidFill>
                <a:effectLst/>
                <a:latin typeface="Arial" panose="020B0604020202020204" pitchFamily="34" charset="0"/>
              </a:rPr>
              <a:t>The following rules describe a formal language </a:t>
            </a:r>
            <a:r>
              <a:rPr lang="en-US" altLang="zh-CN" b="0" i="1">
                <a:solidFill>
                  <a:srgbClr val="202122"/>
                </a:solidFill>
                <a:effectLst/>
                <a:latin typeface="Nimbus Roman No9 L"/>
              </a:rPr>
              <a:t>L</a:t>
            </a:r>
            <a:r>
              <a:rPr lang="en-US" altLang="zh-CN" b="0" i="0">
                <a:solidFill>
                  <a:srgbClr val="202122"/>
                </a:solidFill>
                <a:effectLst/>
                <a:latin typeface="Arial" panose="020B0604020202020204" pitchFamily="34" charset="0"/>
              </a:rPr>
              <a:t> over the alphabet Σ = {0, 1, 2, 3, 4, 5, 6, 7, 8, 9, +, =}:</a:t>
            </a:r>
          </a:p>
          <a:p>
            <a:pPr algn="l">
              <a:buFont typeface="Arial" panose="020B0604020202020204" pitchFamily="34" charset="0"/>
              <a:buChar char="•"/>
            </a:pPr>
            <a:r>
              <a:rPr lang="en-US" altLang="zh-CN" b="0" i="0">
                <a:solidFill>
                  <a:srgbClr val="202122"/>
                </a:solidFill>
                <a:effectLst/>
                <a:latin typeface="Arial" panose="020B0604020202020204" pitchFamily="34" charset="0"/>
              </a:rPr>
              <a:t>Every nonempty string that does not contain "+" or "=" and does not start with "0" is in </a:t>
            </a:r>
            <a:r>
              <a:rPr lang="en-US" altLang="zh-CN" b="0" i="1">
                <a:solidFill>
                  <a:srgbClr val="202122"/>
                </a:solidFill>
                <a:effectLst/>
                <a:latin typeface="Nimbus Roman No9 L"/>
              </a:rPr>
              <a:t>L</a:t>
            </a:r>
            <a:r>
              <a:rPr lang="en-US" altLang="zh-CN" b="0" i="0">
                <a:solidFill>
                  <a:srgbClr val="202122"/>
                </a:solidFill>
                <a:effectLst/>
                <a:latin typeface="Arial" panose="020B0604020202020204" pitchFamily="34" charset="0"/>
              </a:rPr>
              <a:t>.</a:t>
            </a:r>
          </a:p>
          <a:p>
            <a:pPr algn="l">
              <a:buFont typeface="Arial" panose="020B0604020202020204" pitchFamily="34" charset="0"/>
              <a:buChar char="•"/>
            </a:pPr>
            <a:r>
              <a:rPr lang="en-US" altLang="zh-CN" b="0" i="0">
                <a:solidFill>
                  <a:srgbClr val="202122"/>
                </a:solidFill>
                <a:effectLst/>
                <a:latin typeface="Arial" panose="020B0604020202020204" pitchFamily="34" charset="0"/>
              </a:rPr>
              <a:t>The string "0" is in </a:t>
            </a:r>
            <a:r>
              <a:rPr lang="en-US" altLang="zh-CN" b="0" i="1">
                <a:solidFill>
                  <a:srgbClr val="202122"/>
                </a:solidFill>
                <a:effectLst/>
                <a:latin typeface="Nimbus Roman No9 L"/>
              </a:rPr>
              <a:t>L</a:t>
            </a:r>
            <a:r>
              <a:rPr lang="en-US" altLang="zh-CN" b="0" i="0">
                <a:solidFill>
                  <a:srgbClr val="202122"/>
                </a:solidFill>
                <a:effectLst/>
                <a:latin typeface="Arial" panose="020B0604020202020204" pitchFamily="34" charset="0"/>
              </a:rPr>
              <a:t>.</a:t>
            </a:r>
          </a:p>
          <a:p>
            <a:pPr algn="l">
              <a:buFont typeface="Arial" panose="020B0604020202020204" pitchFamily="34" charset="0"/>
              <a:buChar char="•"/>
            </a:pPr>
            <a:r>
              <a:rPr lang="en-US" altLang="zh-CN" b="0" i="0">
                <a:solidFill>
                  <a:srgbClr val="202122"/>
                </a:solidFill>
                <a:effectLst/>
                <a:latin typeface="Arial" panose="020B0604020202020204" pitchFamily="34" charset="0"/>
              </a:rPr>
              <a:t>A string containing "=" is in </a:t>
            </a:r>
            <a:r>
              <a:rPr lang="en-US" altLang="zh-CN" b="0" i="1">
                <a:solidFill>
                  <a:srgbClr val="202122"/>
                </a:solidFill>
                <a:effectLst/>
                <a:latin typeface="Nimbus Roman No9 L"/>
              </a:rPr>
              <a:t>L</a:t>
            </a:r>
            <a:r>
              <a:rPr lang="en-US" altLang="zh-CN" b="0" i="0">
                <a:solidFill>
                  <a:srgbClr val="202122"/>
                </a:solidFill>
                <a:effectLst/>
                <a:latin typeface="Arial" panose="020B0604020202020204" pitchFamily="34" charset="0"/>
              </a:rPr>
              <a:t> if and only if there is exactly one "=", and it separates two valid strings of </a:t>
            </a:r>
            <a:r>
              <a:rPr lang="en-US" altLang="zh-CN" b="0" i="1">
                <a:solidFill>
                  <a:srgbClr val="202122"/>
                </a:solidFill>
                <a:effectLst/>
                <a:latin typeface="Nimbus Roman No9 L"/>
              </a:rPr>
              <a:t>L</a:t>
            </a:r>
            <a:r>
              <a:rPr lang="en-US" altLang="zh-CN" b="0" i="0">
                <a:solidFill>
                  <a:srgbClr val="202122"/>
                </a:solidFill>
                <a:effectLst/>
                <a:latin typeface="Arial" panose="020B0604020202020204" pitchFamily="34" charset="0"/>
              </a:rPr>
              <a:t>.</a:t>
            </a:r>
          </a:p>
          <a:p>
            <a:pPr algn="l">
              <a:buFont typeface="Arial" panose="020B0604020202020204" pitchFamily="34" charset="0"/>
              <a:buChar char="•"/>
            </a:pPr>
            <a:r>
              <a:rPr lang="en-US" altLang="zh-CN" b="0" i="0">
                <a:solidFill>
                  <a:srgbClr val="202122"/>
                </a:solidFill>
                <a:effectLst/>
                <a:latin typeface="Arial" panose="020B0604020202020204" pitchFamily="34" charset="0"/>
              </a:rPr>
              <a:t>A string containing "+" but not "=" is in </a:t>
            </a:r>
            <a:r>
              <a:rPr lang="en-US" altLang="zh-CN" b="0" i="1">
                <a:solidFill>
                  <a:srgbClr val="202122"/>
                </a:solidFill>
                <a:effectLst/>
                <a:latin typeface="Nimbus Roman No9 L"/>
              </a:rPr>
              <a:t>L</a:t>
            </a:r>
            <a:r>
              <a:rPr lang="en-US" altLang="zh-CN" b="0" i="0">
                <a:solidFill>
                  <a:srgbClr val="202122"/>
                </a:solidFill>
                <a:effectLst/>
                <a:latin typeface="Arial" panose="020B0604020202020204" pitchFamily="34" charset="0"/>
              </a:rPr>
              <a:t> if and only if every "+" in the string separates two valid strings of </a:t>
            </a:r>
            <a:r>
              <a:rPr lang="en-US" altLang="zh-CN" b="0" i="1">
                <a:solidFill>
                  <a:srgbClr val="202122"/>
                </a:solidFill>
                <a:effectLst/>
                <a:latin typeface="Nimbus Roman No9 L"/>
              </a:rPr>
              <a:t>L</a:t>
            </a:r>
            <a:r>
              <a:rPr lang="en-US" altLang="zh-CN" b="0" i="0">
                <a:solidFill>
                  <a:srgbClr val="202122"/>
                </a:solidFill>
                <a:effectLst/>
                <a:latin typeface="Arial" panose="020B0604020202020204" pitchFamily="34" charset="0"/>
              </a:rPr>
              <a:t>.</a:t>
            </a:r>
          </a:p>
          <a:p>
            <a:pPr algn="l">
              <a:buFont typeface="Arial" panose="020B0604020202020204" pitchFamily="34" charset="0"/>
              <a:buChar char="•"/>
            </a:pPr>
            <a:r>
              <a:rPr lang="en-US" altLang="zh-CN" b="0" i="0">
                <a:solidFill>
                  <a:srgbClr val="202122"/>
                </a:solidFill>
                <a:effectLst/>
                <a:latin typeface="Arial" panose="020B0604020202020204" pitchFamily="34" charset="0"/>
              </a:rPr>
              <a:t>No string is in </a:t>
            </a:r>
            <a:r>
              <a:rPr lang="en-US" altLang="zh-CN" b="0" i="1">
                <a:solidFill>
                  <a:srgbClr val="202122"/>
                </a:solidFill>
                <a:effectLst/>
                <a:latin typeface="Nimbus Roman No9 L"/>
              </a:rPr>
              <a:t>L</a:t>
            </a:r>
            <a:r>
              <a:rPr lang="en-US" altLang="zh-CN" b="0" i="0">
                <a:solidFill>
                  <a:srgbClr val="202122"/>
                </a:solidFill>
                <a:effectLst/>
                <a:latin typeface="Arial" panose="020B0604020202020204" pitchFamily="34" charset="0"/>
              </a:rPr>
              <a:t> other than those implied by the previous rules.</a:t>
            </a:r>
          </a:p>
          <a:p>
            <a:pPr algn="l"/>
            <a:r>
              <a:rPr lang="en-US" altLang="zh-CN" b="0" i="0">
                <a:solidFill>
                  <a:srgbClr val="202122"/>
                </a:solidFill>
                <a:effectLst/>
                <a:latin typeface="Arial" panose="020B0604020202020204" pitchFamily="34" charset="0"/>
              </a:rPr>
              <a:t>Under these rules, the string "23+4=555" is in </a:t>
            </a:r>
            <a:r>
              <a:rPr lang="en-US" altLang="zh-CN" b="0" i="1">
                <a:solidFill>
                  <a:srgbClr val="202122"/>
                </a:solidFill>
                <a:effectLst/>
                <a:latin typeface="Nimbus Roman No9 L"/>
              </a:rPr>
              <a:t>L</a:t>
            </a:r>
            <a:r>
              <a:rPr lang="en-US" altLang="zh-CN" b="0" i="0">
                <a:solidFill>
                  <a:srgbClr val="202122"/>
                </a:solidFill>
                <a:effectLst/>
                <a:latin typeface="Arial" panose="020B0604020202020204" pitchFamily="34" charset="0"/>
              </a:rPr>
              <a:t>, but the string "=234=+" is not. This formal language expresses </a:t>
            </a:r>
            <a:r>
              <a:rPr lang="en-US" altLang="zh-CN" b="0" i="0" u="none" strike="noStrike">
                <a:solidFill>
                  <a:srgbClr val="0645AD"/>
                </a:solidFill>
                <a:effectLst/>
                <a:latin typeface="Arial" panose="020B0604020202020204" pitchFamily="34" charset="0"/>
                <a:hlinkClick r:id="rId2" tooltip="Natural number"/>
              </a:rPr>
              <a:t>natural numbers</a:t>
            </a:r>
            <a:r>
              <a:rPr lang="en-US" altLang="zh-CN" b="0" i="0">
                <a:solidFill>
                  <a:srgbClr val="202122"/>
                </a:solidFill>
                <a:effectLst/>
                <a:latin typeface="Arial" panose="020B0604020202020204" pitchFamily="34" charset="0"/>
              </a:rPr>
              <a:t>, well-formed additions, and well-formed addition equalities, but it expresses only what they look like (their </a:t>
            </a:r>
            <a:r>
              <a:rPr lang="en-US" altLang="zh-CN" b="0" i="0" u="none" strike="noStrike">
                <a:solidFill>
                  <a:srgbClr val="0645AD"/>
                </a:solidFill>
                <a:effectLst/>
                <a:latin typeface="Arial" panose="020B0604020202020204" pitchFamily="34" charset="0"/>
                <a:hlinkClick r:id="rId3" tooltip="Syntax"/>
              </a:rPr>
              <a:t>syntax</a:t>
            </a:r>
            <a:r>
              <a:rPr lang="en-US" altLang="zh-CN" b="0" i="0">
                <a:solidFill>
                  <a:srgbClr val="202122"/>
                </a:solidFill>
                <a:effectLst/>
                <a:latin typeface="Arial" panose="020B0604020202020204" pitchFamily="34" charset="0"/>
              </a:rPr>
              <a:t>), not what they mean (</a:t>
            </a:r>
            <a:r>
              <a:rPr lang="en-US" altLang="zh-CN" b="0" i="0" u="none" strike="noStrike">
                <a:solidFill>
                  <a:srgbClr val="0645AD"/>
                </a:solidFill>
                <a:effectLst/>
                <a:latin typeface="Arial" panose="020B0604020202020204" pitchFamily="34" charset="0"/>
                <a:hlinkClick r:id="rId4" tooltip="Semantics"/>
              </a:rPr>
              <a:t>semantics</a:t>
            </a:r>
            <a:r>
              <a:rPr lang="en-US" altLang="zh-CN" b="0" i="0">
                <a:solidFill>
                  <a:srgbClr val="202122"/>
                </a:solidFill>
                <a:effectLst/>
                <a:latin typeface="Arial" panose="020B0604020202020204" pitchFamily="34" charset="0"/>
              </a:rPr>
              <a:t>).</a:t>
            </a:r>
          </a:p>
        </p:txBody>
      </p:sp>
    </p:spTree>
    <p:extLst>
      <p:ext uri="{BB962C8B-B14F-4D97-AF65-F5344CB8AC3E}">
        <p14:creationId xmlns:p14="http://schemas.microsoft.com/office/powerpoint/2010/main" val="2718523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2FEECD-267A-45DE-8845-F34E9C0E6C87}"/>
              </a:ext>
            </a:extLst>
          </p:cNvPr>
          <p:cNvSpPr>
            <a:spLocks noGrp="1"/>
          </p:cNvSpPr>
          <p:nvPr>
            <p:ph type="title"/>
          </p:nvPr>
        </p:nvSpPr>
        <p:spPr/>
        <p:txBody>
          <a:bodyPr/>
          <a:lstStyle/>
          <a:p>
            <a:r>
              <a:rPr lang="en-US" altLang="zh-CN"/>
              <a:t>Turing Machine (1936 by Alan Turing)</a:t>
            </a:r>
            <a:endParaRPr lang="zh-CN" altLang="en-US"/>
          </a:p>
        </p:txBody>
      </p:sp>
      <p:sp>
        <p:nvSpPr>
          <p:cNvPr id="3" name="内容占位符 2">
            <a:extLst>
              <a:ext uri="{FF2B5EF4-FFF2-40B4-BE49-F238E27FC236}">
                <a16:creationId xmlns:a16="http://schemas.microsoft.com/office/drawing/2014/main" id="{D38A2049-C9B0-4A87-84CA-EE9A168D5FB4}"/>
              </a:ext>
            </a:extLst>
          </p:cNvPr>
          <p:cNvSpPr>
            <a:spLocks noGrp="1"/>
          </p:cNvSpPr>
          <p:nvPr>
            <p:ph idx="1"/>
          </p:nvPr>
        </p:nvSpPr>
        <p:spPr/>
        <p:txBody>
          <a:bodyPr/>
          <a:lstStyle/>
          <a:p>
            <a:r>
              <a:rPr lang="en-US" altLang="zh-CN"/>
              <a:t>A Turing machine is a mathematical model of computation that defines an abstract machine that manipulates symbols on a strip of tape according to a table of rules. </a:t>
            </a:r>
            <a:r>
              <a:rPr lang="en-US" altLang="zh-CN" sz="2000"/>
              <a:t>(An example of one of a Turing Machine's rules might thus be: "If you are in state 2 and you see an 'A', change it to 'B', move left, and change to state 3.“)</a:t>
            </a:r>
          </a:p>
          <a:p>
            <a:pPr marL="0" indent="0">
              <a:buNone/>
            </a:pPr>
            <a:endParaRPr lang="en-US" altLang="zh-CN"/>
          </a:p>
          <a:p>
            <a:r>
              <a:rPr lang="en-US" altLang="zh-CN"/>
              <a:t>Despite the model's simplicity, given any computer algorithm, a Turing machine capable of simulating that algorithm's logic can be constructed.</a:t>
            </a:r>
            <a:endParaRPr lang="zh-CN" altLang="en-US"/>
          </a:p>
        </p:txBody>
      </p:sp>
    </p:spTree>
    <p:extLst>
      <p:ext uri="{BB962C8B-B14F-4D97-AF65-F5344CB8AC3E}">
        <p14:creationId xmlns:p14="http://schemas.microsoft.com/office/powerpoint/2010/main" val="1209667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916691-E813-457B-9DAC-0C1DBAA709D2}"/>
              </a:ext>
            </a:extLst>
          </p:cNvPr>
          <p:cNvSpPr>
            <a:spLocks noGrp="1"/>
          </p:cNvSpPr>
          <p:nvPr>
            <p:ph type="title"/>
          </p:nvPr>
        </p:nvSpPr>
        <p:spPr/>
        <p:txBody>
          <a:bodyPr/>
          <a:lstStyle/>
          <a:p>
            <a:r>
              <a:rPr lang="en-US" altLang="zh-CN"/>
              <a:t>Formal Definition of the (Deterministic ) Turing Machine</a:t>
            </a:r>
            <a:endParaRPr lang="zh-CN" altLang="en-US"/>
          </a:p>
        </p:txBody>
      </p:sp>
      <p:pic>
        <p:nvPicPr>
          <p:cNvPr id="19" name="图片 18">
            <a:extLst>
              <a:ext uri="{FF2B5EF4-FFF2-40B4-BE49-F238E27FC236}">
                <a16:creationId xmlns:a16="http://schemas.microsoft.com/office/drawing/2014/main" id="{27A46DAB-2CAB-4AF6-98F5-7725376453D9}"/>
              </a:ext>
            </a:extLst>
          </p:cNvPr>
          <p:cNvPicPr>
            <a:picLocks noChangeAspect="1"/>
          </p:cNvPicPr>
          <p:nvPr/>
        </p:nvPicPr>
        <p:blipFill>
          <a:blip r:embed="rId2"/>
          <a:stretch>
            <a:fillRect/>
          </a:stretch>
        </p:blipFill>
        <p:spPr>
          <a:xfrm>
            <a:off x="62143" y="1849099"/>
            <a:ext cx="12067713" cy="3159802"/>
          </a:xfrm>
          <a:prstGeom prst="rect">
            <a:avLst/>
          </a:prstGeom>
        </p:spPr>
      </p:pic>
    </p:spTree>
    <p:extLst>
      <p:ext uri="{BB962C8B-B14F-4D97-AF65-F5344CB8AC3E}">
        <p14:creationId xmlns:p14="http://schemas.microsoft.com/office/powerpoint/2010/main" val="950691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927B44-1FA7-42C8-ABE4-306EBA930E74}"/>
              </a:ext>
            </a:extLst>
          </p:cNvPr>
          <p:cNvSpPr>
            <a:spLocks noGrp="1"/>
          </p:cNvSpPr>
          <p:nvPr>
            <p:ph type="title"/>
          </p:nvPr>
        </p:nvSpPr>
        <p:spPr/>
        <p:txBody>
          <a:bodyPr/>
          <a:lstStyle/>
          <a:p>
            <a:r>
              <a:rPr lang="en-US" altLang="zh-CN"/>
              <a:t>Deterministic Turing machine</a:t>
            </a:r>
            <a:endParaRPr lang="zh-CN" altLang="en-US"/>
          </a:p>
        </p:txBody>
      </p:sp>
      <p:sp>
        <p:nvSpPr>
          <p:cNvPr id="3" name="内容占位符 2">
            <a:extLst>
              <a:ext uri="{FF2B5EF4-FFF2-40B4-BE49-F238E27FC236}">
                <a16:creationId xmlns:a16="http://schemas.microsoft.com/office/drawing/2014/main" id="{CBB96707-23AA-49AC-A87D-BACCC5C29DAA}"/>
              </a:ext>
            </a:extLst>
          </p:cNvPr>
          <p:cNvSpPr>
            <a:spLocks noGrp="1"/>
          </p:cNvSpPr>
          <p:nvPr>
            <p:ph idx="1"/>
          </p:nvPr>
        </p:nvSpPr>
        <p:spPr/>
        <p:txBody>
          <a:bodyPr>
            <a:normAutofit/>
          </a:bodyPr>
          <a:lstStyle/>
          <a:p>
            <a:r>
              <a:rPr lang="en-US" altLang="zh-CN"/>
              <a:t>In a deterministic Turing machine (DTM), the set of rules prescribes at most one action to be performed for any given situation.</a:t>
            </a:r>
          </a:p>
        </p:txBody>
      </p:sp>
    </p:spTree>
    <p:extLst>
      <p:ext uri="{BB962C8B-B14F-4D97-AF65-F5344CB8AC3E}">
        <p14:creationId xmlns:p14="http://schemas.microsoft.com/office/powerpoint/2010/main" val="2545659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5F59C6-2526-4FB9-A6B5-4C48E468B929}"/>
              </a:ext>
            </a:extLst>
          </p:cNvPr>
          <p:cNvSpPr>
            <a:spLocks noGrp="1"/>
          </p:cNvSpPr>
          <p:nvPr>
            <p:ph type="title"/>
          </p:nvPr>
        </p:nvSpPr>
        <p:spPr/>
        <p:txBody>
          <a:bodyPr/>
          <a:lstStyle/>
          <a:p>
            <a:r>
              <a:rPr lang="en-US" altLang="zh-CN"/>
              <a:t>Notable problems in P</a:t>
            </a:r>
            <a:endParaRPr lang="zh-CN" altLang="en-US"/>
          </a:p>
        </p:txBody>
      </p:sp>
      <p:sp>
        <p:nvSpPr>
          <p:cNvPr id="3" name="内容占位符 2">
            <a:extLst>
              <a:ext uri="{FF2B5EF4-FFF2-40B4-BE49-F238E27FC236}">
                <a16:creationId xmlns:a16="http://schemas.microsoft.com/office/drawing/2014/main" id="{A2B11AF8-A5C6-4148-BBDF-F900A2F99C3A}"/>
              </a:ext>
            </a:extLst>
          </p:cNvPr>
          <p:cNvSpPr>
            <a:spLocks noGrp="1"/>
          </p:cNvSpPr>
          <p:nvPr>
            <p:ph idx="1"/>
          </p:nvPr>
        </p:nvSpPr>
        <p:spPr/>
        <p:txBody>
          <a:bodyPr/>
          <a:lstStyle/>
          <a:p>
            <a:r>
              <a:rPr lang="en-US" altLang="zh-CN" dirty="0"/>
              <a:t>Sorting</a:t>
            </a:r>
          </a:p>
          <a:p>
            <a:r>
              <a:rPr lang="en-US" altLang="zh-CN" dirty="0"/>
              <a:t>Shortest Path</a:t>
            </a:r>
          </a:p>
          <a:p>
            <a:r>
              <a:rPr lang="en-US" altLang="zh-CN" dirty="0"/>
              <a:t>Set </a:t>
            </a:r>
            <a:r>
              <a:rPr lang="en-US" altLang="zh-CN" dirty="0" err="1"/>
              <a:t>Disjointness</a:t>
            </a:r>
            <a:endParaRPr lang="en-US" altLang="zh-CN" dirty="0"/>
          </a:p>
          <a:p>
            <a:r>
              <a:rPr lang="en-US" altLang="zh-CN" dirty="0"/>
              <a:t>2-coloring (bipartite graph, BFS or DFS)</a:t>
            </a:r>
          </a:p>
          <a:p>
            <a:r>
              <a:rPr lang="en-US" altLang="zh-CN" dirty="0"/>
              <a:t>2-SAT</a:t>
            </a:r>
          </a:p>
          <a:p>
            <a:r>
              <a:rPr lang="en-US" altLang="zh-CN" dirty="0"/>
              <a:t>…</a:t>
            </a:r>
            <a:endParaRPr lang="zh-CN" altLang="en-US" dirty="0"/>
          </a:p>
        </p:txBody>
      </p:sp>
      <p:sp>
        <p:nvSpPr>
          <p:cNvPr id="5" name="文本框 4">
            <a:extLst>
              <a:ext uri="{FF2B5EF4-FFF2-40B4-BE49-F238E27FC236}">
                <a16:creationId xmlns:a16="http://schemas.microsoft.com/office/drawing/2014/main" id="{7C2D1D67-3200-4F1B-BB25-F42DADCE7255}"/>
              </a:ext>
            </a:extLst>
          </p:cNvPr>
          <p:cNvSpPr txBox="1"/>
          <p:nvPr/>
        </p:nvSpPr>
        <p:spPr>
          <a:xfrm>
            <a:off x="2745418" y="3896527"/>
            <a:ext cx="6094520" cy="369332"/>
          </a:xfrm>
          <a:prstGeom prst="rect">
            <a:avLst/>
          </a:prstGeom>
          <a:noFill/>
        </p:spPr>
        <p:txBody>
          <a:bodyPr wrap="square">
            <a:spAutoFit/>
          </a:bodyPr>
          <a:lstStyle/>
          <a:p>
            <a:pPr algn="l"/>
            <a:r>
              <a:rPr lang="en-US" altLang="zh-CN" b="1" i="0" dirty="0" err="1">
                <a:solidFill>
                  <a:srgbClr val="000000"/>
                </a:solidFill>
                <a:effectLst/>
                <a:latin typeface="Arial" panose="020B0604020202020204" pitchFamily="34" charset="0"/>
              </a:rPr>
              <a:t>Tarjan</a:t>
            </a:r>
            <a:r>
              <a:rPr lang="en-US" altLang="zh-CN" b="1" i="0" dirty="0">
                <a:solidFill>
                  <a:srgbClr val="000000"/>
                </a:solidFill>
                <a:effectLst/>
                <a:latin typeface="Arial" panose="020B0604020202020204" pitchFamily="34" charset="0"/>
              </a:rPr>
              <a:t>: Strongly connected components, linear time</a:t>
            </a:r>
          </a:p>
        </p:txBody>
      </p:sp>
    </p:spTree>
    <p:extLst>
      <p:ext uri="{BB962C8B-B14F-4D97-AF65-F5344CB8AC3E}">
        <p14:creationId xmlns:p14="http://schemas.microsoft.com/office/powerpoint/2010/main" val="2990470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D93FA9-44CE-4774-B001-7D1DAECB57EF}"/>
              </a:ext>
            </a:extLst>
          </p:cNvPr>
          <p:cNvSpPr>
            <a:spLocks noGrp="1"/>
          </p:cNvSpPr>
          <p:nvPr>
            <p:ph type="title"/>
          </p:nvPr>
        </p:nvSpPr>
        <p:spPr/>
        <p:txBody>
          <a:bodyPr/>
          <a:lstStyle/>
          <a:p>
            <a:r>
              <a:rPr lang="en-US" altLang="zh-CN"/>
              <a:t>1.3 The Class NP</a:t>
            </a:r>
            <a:endParaRPr lang="zh-CN" altLang="en-US"/>
          </a:p>
        </p:txBody>
      </p:sp>
      <p:sp>
        <p:nvSpPr>
          <p:cNvPr id="3" name="内容占位符 2">
            <a:extLst>
              <a:ext uri="{FF2B5EF4-FFF2-40B4-BE49-F238E27FC236}">
                <a16:creationId xmlns:a16="http://schemas.microsoft.com/office/drawing/2014/main" id="{959DF8A8-EEBF-478B-81F7-F222A7C13C53}"/>
              </a:ext>
            </a:extLst>
          </p:cNvPr>
          <p:cNvSpPr>
            <a:spLocks noGrp="1"/>
          </p:cNvSpPr>
          <p:nvPr>
            <p:ph idx="1"/>
          </p:nvPr>
        </p:nvSpPr>
        <p:spPr>
          <a:xfrm>
            <a:off x="838200" y="1639911"/>
            <a:ext cx="10515600" cy="4351338"/>
          </a:xfrm>
        </p:spPr>
        <p:txBody>
          <a:bodyPr>
            <a:normAutofit fontScale="92500" lnSpcReduction="10000"/>
          </a:bodyPr>
          <a:lstStyle/>
          <a:p>
            <a:r>
              <a:rPr lang="en-US" altLang="zh-CN"/>
              <a:t>In computational complexity theory, NP (nondeterministic polynomial time) is a complexity class used to classify decision problems. NP is the set of decision problems for which the problem instances, where the answer is "yes", have proofs </a:t>
            </a:r>
            <a:r>
              <a:rPr lang="en-US" altLang="zh-CN" b="1">
                <a:solidFill>
                  <a:srgbClr val="FF0000"/>
                </a:solidFill>
              </a:rPr>
              <a:t>verifiable</a:t>
            </a:r>
            <a:r>
              <a:rPr lang="en-US" altLang="zh-CN">
                <a:solidFill>
                  <a:srgbClr val="FF0000"/>
                </a:solidFill>
              </a:rPr>
              <a:t> in polynomial time by a deterministic Turing machine</a:t>
            </a:r>
            <a:r>
              <a:rPr lang="en-US" altLang="zh-CN"/>
              <a:t>, or alternatively the set of problems that can be </a:t>
            </a:r>
            <a:r>
              <a:rPr lang="en-US" altLang="zh-CN" b="1">
                <a:solidFill>
                  <a:srgbClr val="FF0000"/>
                </a:solidFill>
              </a:rPr>
              <a:t>solved</a:t>
            </a:r>
            <a:r>
              <a:rPr lang="en-US" altLang="zh-CN"/>
              <a:t> </a:t>
            </a:r>
            <a:r>
              <a:rPr lang="en-US" altLang="zh-CN">
                <a:solidFill>
                  <a:srgbClr val="FF0000"/>
                </a:solidFill>
              </a:rPr>
              <a:t>in polynomial time by a nondeterministic Turing machine</a:t>
            </a:r>
            <a:r>
              <a:rPr lang="en-US" altLang="zh-CN"/>
              <a:t>.</a:t>
            </a:r>
          </a:p>
          <a:p>
            <a:pPr>
              <a:spcBef>
                <a:spcPts val="2400"/>
              </a:spcBef>
            </a:pPr>
            <a:r>
              <a:rPr lang="en-US" altLang="zh-CN">
                <a:solidFill>
                  <a:srgbClr val="FF0000"/>
                </a:solidFill>
              </a:rPr>
              <a:t>The nondeterministic algorithm </a:t>
            </a:r>
            <a:r>
              <a:rPr lang="en-US" altLang="zh-CN"/>
              <a:t>consists of two phases, the first of which consists of </a:t>
            </a:r>
            <a:r>
              <a:rPr lang="en-US" altLang="zh-CN">
                <a:solidFill>
                  <a:srgbClr val="FF0000"/>
                </a:solidFill>
              </a:rPr>
              <a:t>a guess about the solution</a:t>
            </a:r>
            <a:r>
              <a:rPr lang="en-US" altLang="zh-CN"/>
              <a:t>, which is generated in a non-deterministic way, while the second phase consists of </a:t>
            </a:r>
            <a:r>
              <a:rPr lang="en-US" altLang="zh-CN">
                <a:solidFill>
                  <a:srgbClr val="FF0000"/>
                </a:solidFill>
              </a:rPr>
              <a:t>a deterministic algorithm </a:t>
            </a:r>
            <a:r>
              <a:rPr lang="en-US" altLang="zh-CN"/>
              <a:t>that verifies if the guess is a solution to the problem.</a:t>
            </a:r>
            <a:endParaRPr lang="zh-CN" altLang="en-US"/>
          </a:p>
        </p:txBody>
      </p:sp>
    </p:spTree>
    <p:extLst>
      <p:ext uri="{BB962C8B-B14F-4D97-AF65-F5344CB8AC3E}">
        <p14:creationId xmlns:p14="http://schemas.microsoft.com/office/powerpoint/2010/main" val="1469655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B8CF24-EE4C-4F0E-8C80-5F7FFBF01E1F}"/>
              </a:ext>
            </a:extLst>
          </p:cNvPr>
          <p:cNvSpPr>
            <a:spLocks noGrp="1"/>
          </p:cNvSpPr>
          <p:nvPr>
            <p:ph type="title"/>
          </p:nvPr>
        </p:nvSpPr>
        <p:spPr/>
        <p:txBody>
          <a:bodyPr/>
          <a:lstStyle/>
          <a:p>
            <a:r>
              <a:rPr lang="en-US" altLang="zh-CN"/>
              <a:t>Nondeterministic Turing machine</a:t>
            </a:r>
            <a:endParaRPr lang="zh-CN" altLang="en-US"/>
          </a:p>
        </p:txBody>
      </p:sp>
      <p:sp>
        <p:nvSpPr>
          <p:cNvPr id="3" name="内容占位符 2">
            <a:extLst>
              <a:ext uri="{FF2B5EF4-FFF2-40B4-BE49-F238E27FC236}">
                <a16:creationId xmlns:a16="http://schemas.microsoft.com/office/drawing/2014/main" id="{07F252EE-A230-42B4-8C0D-F858762C75E2}"/>
              </a:ext>
            </a:extLst>
          </p:cNvPr>
          <p:cNvSpPr>
            <a:spLocks noGrp="1"/>
          </p:cNvSpPr>
          <p:nvPr>
            <p:ph idx="1"/>
          </p:nvPr>
        </p:nvSpPr>
        <p:spPr/>
        <p:txBody>
          <a:bodyPr/>
          <a:lstStyle/>
          <a:p>
            <a:r>
              <a:rPr lang="en-US" altLang="zh-CN"/>
              <a:t>A nondeterministic Turing machine (NTM) is a theoretical model of computation in which governing rules specify more than one possible action when in some given situations. That is, an NTM's next state is not completely determined by its action and the current symbol it sees, unlike a deterministic Turing machine.</a:t>
            </a:r>
            <a:endParaRPr lang="zh-CN" altLang="en-US"/>
          </a:p>
        </p:txBody>
      </p:sp>
    </p:spTree>
    <p:extLst>
      <p:ext uri="{BB962C8B-B14F-4D97-AF65-F5344CB8AC3E}">
        <p14:creationId xmlns:p14="http://schemas.microsoft.com/office/powerpoint/2010/main" val="3509849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916691-E813-457B-9DAC-0C1DBAA709D2}"/>
              </a:ext>
            </a:extLst>
          </p:cNvPr>
          <p:cNvSpPr>
            <a:spLocks noGrp="1"/>
          </p:cNvSpPr>
          <p:nvPr>
            <p:ph type="title"/>
          </p:nvPr>
        </p:nvSpPr>
        <p:spPr/>
        <p:txBody>
          <a:bodyPr/>
          <a:lstStyle/>
          <a:p>
            <a:r>
              <a:rPr lang="en-US" altLang="zh-CN"/>
              <a:t>Formal Definition of the Nondeterministic Turing Machine</a:t>
            </a:r>
            <a:endParaRPr lang="zh-CN" altLang="en-US"/>
          </a:p>
        </p:txBody>
      </p:sp>
      <p:pic>
        <p:nvPicPr>
          <p:cNvPr id="4" name="图片 3">
            <a:extLst>
              <a:ext uri="{FF2B5EF4-FFF2-40B4-BE49-F238E27FC236}">
                <a16:creationId xmlns:a16="http://schemas.microsoft.com/office/drawing/2014/main" id="{E7B5A9BA-65A8-4C7B-BDE6-CB55E36B0FFC}"/>
              </a:ext>
            </a:extLst>
          </p:cNvPr>
          <p:cNvPicPr>
            <a:picLocks noChangeAspect="1"/>
          </p:cNvPicPr>
          <p:nvPr/>
        </p:nvPicPr>
        <p:blipFill>
          <a:blip r:embed="rId2"/>
          <a:stretch>
            <a:fillRect/>
          </a:stretch>
        </p:blipFill>
        <p:spPr>
          <a:xfrm>
            <a:off x="115410" y="2052154"/>
            <a:ext cx="11984854" cy="2653011"/>
          </a:xfrm>
          <a:prstGeom prst="rect">
            <a:avLst/>
          </a:prstGeom>
        </p:spPr>
      </p:pic>
      <p:sp>
        <p:nvSpPr>
          <p:cNvPr id="7" name="文本框 6">
            <a:extLst>
              <a:ext uri="{FF2B5EF4-FFF2-40B4-BE49-F238E27FC236}">
                <a16:creationId xmlns:a16="http://schemas.microsoft.com/office/drawing/2014/main" id="{6DD85A64-6C71-4F4F-B092-5F3446E74AD5}"/>
              </a:ext>
            </a:extLst>
          </p:cNvPr>
          <p:cNvSpPr txBox="1"/>
          <p:nvPr/>
        </p:nvSpPr>
        <p:spPr>
          <a:xfrm>
            <a:off x="268548" y="4922642"/>
            <a:ext cx="10411289" cy="646331"/>
          </a:xfrm>
          <a:prstGeom prst="rect">
            <a:avLst/>
          </a:prstGeom>
          <a:noFill/>
        </p:spPr>
        <p:txBody>
          <a:bodyPr wrap="square">
            <a:spAutoFit/>
          </a:bodyPr>
          <a:lstStyle/>
          <a:p>
            <a:r>
              <a:rPr lang="en-US" altLang="zh-CN">
                <a:solidFill>
                  <a:srgbClr val="FF0000"/>
                </a:solidFill>
              </a:rPr>
              <a:t>The difference with a standard (deterministic) Turing machine is that, for deterministic Turing machines, the transition relation is a function rather than just </a:t>
            </a:r>
            <a:r>
              <a:rPr lang="en-US" altLang="zh-CN" b="1">
                <a:solidFill>
                  <a:srgbClr val="FF0000"/>
                </a:solidFill>
              </a:rPr>
              <a:t>a relation</a:t>
            </a:r>
            <a:r>
              <a:rPr lang="en-US" altLang="zh-CN">
                <a:solidFill>
                  <a:srgbClr val="FF0000"/>
                </a:solidFill>
              </a:rPr>
              <a:t>.</a:t>
            </a:r>
          </a:p>
        </p:txBody>
      </p:sp>
      <p:sp>
        <p:nvSpPr>
          <p:cNvPr id="3" name="文本框 2">
            <a:extLst>
              <a:ext uri="{FF2B5EF4-FFF2-40B4-BE49-F238E27FC236}">
                <a16:creationId xmlns:a16="http://schemas.microsoft.com/office/drawing/2014/main" id="{A341991C-8641-B6E8-69B3-3140174EBB47}"/>
              </a:ext>
            </a:extLst>
          </p:cNvPr>
          <p:cNvSpPr txBox="1"/>
          <p:nvPr/>
        </p:nvSpPr>
        <p:spPr>
          <a:xfrm>
            <a:off x="2885244" y="3378659"/>
            <a:ext cx="1606858" cy="369332"/>
          </a:xfrm>
          <a:prstGeom prst="rect">
            <a:avLst/>
          </a:prstGeom>
          <a:noFill/>
        </p:spPr>
        <p:txBody>
          <a:bodyPr wrap="square" rtlCol="0">
            <a:spAutoFit/>
          </a:bodyPr>
          <a:lstStyle/>
          <a:p>
            <a:r>
              <a:rPr lang="zh-CN" altLang="en-US" b="1" i="0">
                <a:solidFill>
                  <a:srgbClr val="5F6368"/>
                </a:solidFill>
                <a:effectLst/>
                <a:latin typeface="arial" panose="020B0604020202020204" pitchFamily="34" charset="0"/>
              </a:rPr>
              <a:t>⊔</a:t>
            </a:r>
            <a:r>
              <a:rPr lang="en-US" altLang="zh-CN" b="1" i="0">
                <a:solidFill>
                  <a:srgbClr val="FF0000"/>
                </a:solidFill>
                <a:effectLst/>
                <a:latin typeface="arial" panose="020B0604020202020204" pitchFamily="34" charset="0"/>
              </a:rPr>
              <a:t> </a:t>
            </a:r>
            <a:r>
              <a:rPr lang="en-US" altLang="zh-CN" i="0">
                <a:effectLst/>
                <a:latin typeface="arial" panose="020B0604020202020204" pitchFamily="34" charset="0"/>
              </a:rPr>
              <a:t>square cup</a:t>
            </a:r>
            <a:endParaRPr lang="zh-CN" altLang="en-US"/>
          </a:p>
        </p:txBody>
      </p:sp>
    </p:spTree>
    <p:extLst>
      <p:ext uri="{BB962C8B-B14F-4D97-AF65-F5344CB8AC3E}">
        <p14:creationId xmlns:p14="http://schemas.microsoft.com/office/powerpoint/2010/main" val="4158691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4798F5-E545-486C-8A5F-F1C00CA8A285}"/>
              </a:ext>
            </a:extLst>
          </p:cNvPr>
          <p:cNvSpPr>
            <a:spLocks noGrp="1"/>
          </p:cNvSpPr>
          <p:nvPr>
            <p:ph type="title"/>
          </p:nvPr>
        </p:nvSpPr>
        <p:spPr/>
        <p:txBody>
          <a:bodyPr/>
          <a:lstStyle/>
          <a:p>
            <a:r>
              <a:rPr lang="en-US" altLang="zh-CN"/>
              <a:t>P &amp; NP</a:t>
            </a:r>
            <a:endParaRPr lang="zh-CN" altLang="en-US"/>
          </a:p>
        </p:txBody>
      </p:sp>
      <p:sp>
        <p:nvSpPr>
          <p:cNvPr id="3" name="内容占位符 2">
            <a:extLst>
              <a:ext uri="{FF2B5EF4-FFF2-40B4-BE49-F238E27FC236}">
                <a16:creationId xmlns:a16="http://schemas.microsoft.com/office/drawing/2014/main" id="{BA621764-17A9-4636-BDCE-6187B8073694}"/>
              </a:ext>
            </a:extLst>
          </p:cNvPr>
          <p:cNvSpPr>
            <a:spLocks noGrp="1"/>
          </p:cNvSpPr>
          <p:nvPr>
            <p:ph idx="1"/>
          </p:nvPr>
        </p:nvSpPr>
        <p:spPr/>
        <p:txBody>
          <a:bodyPr/>
          <a:lstStyle/>
          <a:p>
            <a:r>
              <a:rPr lang="en-US" altLang="zh-CN"/>
              <a:t>P is the class of decision problems that we can </a:t>
            </a:r>
            <a:r>
              <a:rPr lang="en-US" altLang="zh-CN">
                <a:solidFill>
                  <a:srgbClr val="FF0000"/>
                </a:solidFill>
              </a:rPr>
              <a:t>decide or solve </a:t>
            </a:r>
            <a:r>
              <a:rPr lang="en-US" altLang="zh-CN"/>
              <a:t>using a deterministic algorithm that runs in polynomial time.</a:t>
            </a:r>
          </a:p>
          <a:p>
            <a:pPr marL="0" indent="0">
              <a:buNone/>
            </a:pPr>
            <a:endParaRPr lang="en-US" altLang="zh-CN"/>
          </a:p>
          <a:p>
            <a:r>
              <a:rPr lang="en-US" altLang="zh-CN"/>
              <a:t>NP is the class of decision problems that we can </a:t>
            </a:r>
            <a:r>
              <a:rPr lang="en-US" altLang="zh-CN">
                <a:solidFill>
                  <a:srgbClr val="FF0000"/>
                </a:solidFill>
              </a:rPr>
              <a:t>check or verify </a:t>
            </a:r>
            <a:r>
              <a:rPr lang="en-US" altLang="zh-CN"/>
              <a:t>their solution using a deterministic algorithm that runs in polynomial time.</a:t>
            </a:r>
          </a:p>
          <a:p>
            <a:endParaRPr lang="zh-CN" altLang="en-US"/>
          </a:p>
        </p:txBody>
      </p:sp>
      <p:sp>
        <p:nvSpPr>
          <p:cNvPr id="4" name="文本框 3">
            <a:extLst>
              <a:ext uri="{FF2B5EF4-FFF2-40B4-BE49-F238E27FC236}">
                <a16:creationId xmlns:a16="http://schemas.microsoft.com/office/drawing/2014/main" id="{D29CA0B4-505F-47BB-A44D-EE4CDF2506B9}"/>
              </a:ext>
            </a:extLst>
          </p:cNvPr>
          <p:cNvSpPr txBox="1"/>
          <p:nvPr/>
        </p:nvSpPr>
        <p:spPr>
          <a:xfrm>
            <a:off x="5894773" y="4883298"/>
            <a:ext cx="1340529" cy="461665"/>
          </a:xfrm>
          <a:prstGeom prst="rect">
            <a:avLst/>
          </a:prstGeom>
          <a:noFill/>
        </p:spPr>
        <p:txBody>
          <a:bodyPr wrap="square" rtlCol="0">
            <a:spAutoFit/>
          </a:bodyPr>
          <a:lstStyle/>
          <a:p>
            <a:r>
              <a:rPr lang="en-US" altLang="zh-CN"/>
              <a:t>      P=NP </a:t>
            </a:r>
            <a:r>
              <a:rPr lang="en-US" altLang="zh-CN" sz="2400"/>
              <a:t>? </a:t>
            </a:r>
            <a:r>
              <a:rPr lang="en-US" altLang="zh-CN"/>
              <a:t>  </a:t>
            </a:r>
            <a:endParaRPr lang="zh-CN" altLang="en-US"/>
          </a:p>
        </p:txBody>
      </p:sp>
      <p:pic>
        <p:nvPicPr>
          <p:cNvPr id="5" name="图片 4">
            <a:extLst>
              <a:ext uri="{FF2B5EF4-FFF2-40B4-BE49-F238E27FC236}">
                <a16:creationId xmlns:a16="http://schemas.microsoft.com/office/drawing/2014/main" id="{466106F3-D9DA-4007-8F9C-405D63561784}"/>
              </a:ext>
            </a:extLst>
          </p:cNvPr>
          <p:cNvPicPr>
            <a:picLocks noChangeAspect="1"/>
          </p:cNvPicPr>
          <p:nvPr/>
        </p:nvPicPr>
        <p:blipFill>
          <a:blip r:embed="rId2"/>
          <a:stretch>
            <a:fillRect/>
          </a:stretch>
        </p:blipFill>
        <p:spPr>
          <a:xfrm>
            <a:off x="4663367" y="4928417"/>
            <a:ext cx="752381" cy="371429"/>
          </a:xfrm>
          <a:prstGeom prst="rect">
            <a:avLst/>
          </a:prstGeom>
        </p:spPr>
      </p:pic>
    </p:spTree>
    <p:extLst>
      <p:ext uri="{BB962C8B-B14F-4D97-AF65-F5344CB8AC3E}">
        <p14:creationId xmlns:p14="http://schemas.microsoft.com/office/powerpoint/2010/main" val="1622351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9F857A-7CA0-3C6E-B56F-A80E9A4ABCFB}"/>
              </a:ext>
            </a:extLst>
          </p:cNvPr>
          <p:cNvSpPr>
            <a:spLocks noGrp="1"/>
          </p:cNvSpPr>
          <p:nvPr>
            <p:ph type="title"/>
          </p:nvPr>
        </p:nvSpPr>
        <p:spPr>
          <a:xfrm>
            <a:off x="953610" y="2300457"/>
            <a:ext cx="10515600" cy="1325563"/>
          </a:xfrm>
        </p:spPr>
        <p:txBody>
          <a:bodyPr/>
          <a:lstStyle/>
          <a:p>
            <a:pPr algn="ctr"/>
            <a:r>
              <a:rPr lang="en-US" altLang="zh-CN"/>
              <a:t>1.4 NP-Complete Problems</a:t>
            </a:r>
            <a:endParaRPr lang="zh-CN" altLang="en-US"/>
          </a:p>
        </p:txBody>
      </p:sp>
    </p:spTree>
    <p:extLst>
      <p:ext uri="{BB962C8B-B14F-4D97-AF65-F5344CB8AC3E}">
        <p14:creationId xmlns:p14="http://schemas.microsoft.com/office/powerpoint/2010/main" val="3243773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98A526-A8BC-4D02-A318-3CA5431D480A}"/>
              </a:ext>
            </a:extLst>
          </p:cNvPr>
          <p:cNvSpPr>
            <a:spLocks noGrp="1"/>
          </p:cNvSpPr>
          <p:nvPr>
            <p:ph type="title"/>
          </p:nvPr>
        </p:nvSpPr>
        <p:spPr>
          <a:xfrm>
            <a:off x="838200" y="-238557"/>
            <a:ext cx="10515600" cy="1325563"/>
          </a:xfrm>
        </p:spPr>
        <p:txBody>
          <a:bodyPr/>
          <a:lstStyle/>
          <a:p>
            <a:r>
              <a:rPr lang="en-US" altLang="zh-CN"/>
              <a:t>1.4.1 NP-Complete &amp; NP-Hard</a:t>
            </a:r>
            <a:endParaRPr lang="zh-CN" altLang="en-US"/>
          </a:p>
        </p:txBody>
      </p:sp>
      <p:pic>
        <p:nvPicPr>
          <p:cNvPr id="7" name="图片 6">
            <a:extLst>
              <a:ext uri="{FF2B5EF4-FFF2-40B4-BE49-F238E27FC236}">
                <a16:creationId xmlns:a16="http://schemas.microsoft.com/office/drawing/2014/main" id="{0BA4C56F-90E6-4A50-B82C-64EE7E10B17D}"/>
              </a:ext>
            </a:extLst>
          </p:cNvPr>
          <p:cNvPicPr>
            <a:picLocks noChangeAspect="1"/>
          </p:cNvPicPr>
          <p:nvPr/>
        </p:nvPicPr>
        <p:blipFill>
          <a:blip r:embed="rId2"/>
          <a:stretch>
            <a:fillRect/>
          </a:stretch>
        </p:blipFill>
        <p:spPr>
          <a:xfrm>
            <a:off x="838200" y="762643"/>
            <a:ext cx="9043762" cy="6095357"/>
          </a:xfrm>
          <a:prstGeom prst="rect">
            <a:avLst/>
          </a:prstGeom>
        </p:spPr>
      </p:pic>
    </p:spTree>
    <p:extLst>
      <p:ext uri="{BB962C8B-B14F-4D97-AF65-F5344CB8AC3E}">
        <p14:creationId xmlns:p14="http://schemas.microsoft.com/office/powerpoint/2010/main" val="3197109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B6A749-0D81-48D2-AA46-5E12B871A446}"/>
              </a:ext>
            </a:extLst>
          </p:cNvPr>
          <p:cNvSpPr>
            <a:spLocks noGrp="1"/>
          </p:cNvSpPr>
          <p:nvPr>
            <p:ph type="title"/>
          </p:nvPr>
        </p:nvSpPr>
        <p:spPr/>
        <p:txBody>
          <a:bodyPr/>
          <a:lstStyle/>
          <a:p>
            <a:r>
              <a:rPr lang="en-US" altLang="zh-CN"/>
              <a:t>1.4.2 NP-Complete Problems</a:t>
            </a:r>
            <a:endParaRPr lang="zh-CN" altLang="en-US"/>
          </a:p>
        </p:txBody>
      </p:sp>
      <p:sp>
        <p:nvSpPr>
          <p:cNvPr id="3" name="内容占位符 2">
            <a:extLst>
              <a:ext uri="{FF2B5EF4-FFF2-40B4-BE49-F238E27FC236}">
                <a16:creationId xmlns:a16="http://schemas.microsoft.com/office/drawing/2014/main" id="{916D4ED4-EEF4-4933-9585-7BDBCA9A7823}"/>
              </a:ext>
            </a:extLst>
          </p:cNvPr>
          <p:cNvSpPr>
            <a:spLocks noGrp="1"/>
          </p:cNvSpPr>
          <p:nvPr>
            <p:ph idx="1"/>
          </p:nvPr>
        </p:nvSpPr>
        <p:spPr>
          <a:xfrm>
            <a:off x="838200" y="1825625"/>
            <a:ext cx="10515600" cy="2293614"/>
          </a:xfrm>
        </p:spPr>
        <p:txBody>
          <a:bodyPr/>
          <a:lstStyle/>
          <a:p>
            <a:r>
              <a:rPr lang="en-US" altLang="zh-CN"/>
              <a:t>The easiest way to prove that some new problem is NP-complete is first to prove that it is in NP, and then to reduce some known NP-complete problem to it. </a:t>
            </a:r>
          </a:p>
          <a:p>
            <a:r>
              <a:rPr lang="en-US" altLang="zh-CN"/>
              <a:t>The list below contains some well-known problems that are NP-complete when expressed as </a:t>
            </a:r>
            <a:r>
              <a:rPr lang="en-US" altLang="zh-CN">
                <a:solidFill>
                  <a:srgbClr val="FF0000"/>
                </a:solidFill>
              </a:rPr>
              <a:t>decision problems</a:t>
            </a:r>
            <a:r>
              <a:rPr lang="en-US" altLang="zh-CN"/>
              <a:t>.</a:t>
            </a:r>
            <a:endParaRPr lang="zh-CN" altLang="en-US"/>
          </a:p>
        </p:txBody>
      </p:sp>
      <p:pic>
        <p:nvPicPr>
          <p:cNvPr id="5" name="图片 4">
            <a:extLst>
              <a:ext uri="{FF2B5EF4-FFF2-40B4-BE49-F238E27FC236}">
                <a16:creationId xmlns:a16="http://schemas.microsoft.com/office/drawing/2014/main" id="{B269B416-98D1-4E5F-9B7A-6060ECA7F4C5}"/>
              </a:ext>
            </a:extLst>
          </p:cNvPr>
          <p:cNvPicPr>
            <a:picLocks noChangeAspect="1"/>
          </p:cNvPicPr>
          <p:nvPr/>
        </p:nvPicPr>
        <p:blipFill>
          <a:blip r:embed="rId2"/>
          <a:stretch>
            <a:fillRect/>
          </a:stretch>
        </p:blipFill>
        <p:spPr>
          <a:xfrm>
            <a:off x="1010480" y="4211560"/>
            <a:ext cx="8857143" cy="1752381"/>
          </a:xfrm>
          <a:prstGeom prst="rect">
            <a:avLst/>
          </a:prstGeom>
        </p:spPr>
      </p:pic>
    </p:spTree>
    <p:extLst>
      <p:ext uri="{BB962C8B-B14F-4D97-AF65-F5344CB8AC3E}">
        <p14:creationId xmlns:p14="http://schemas.microsoft.com/office/powerpoint/2010/main" val="740255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25F213-3027-4CA2-A6EF-D7B996C826DD}"/>
              </a:ext>
            </a:extLst>
          </p:cNvPr>
          <p:cNvSpPr>
            <a:spLocks noGrp="1"/>
          </p:cNvSpPr>
          <p:nvPr>
            <p:ph type="title"/>
          </p:nvPr>
        </p:nvSpPr>
        <p:spPr/>
        <p:txBody>
          <a:bodyPr/>
          <a:lstStyle/>
          <a:p>
            <a:r>
              <a:rPr lang="en-US" altLang="zh-CN"/>
              <a:t>The Vertex Cover Problem</a:t>
            </a:r>
            <a:endParaRPr lang="zh-CN" altLang="en-US"/>
          </a:p>
        </p:txBody>
      </p:sp>
      <p:sp>
        <p:nvSpPr>
          <p:cNvPr id="3" name="内容占位符 2">
            <a:extLst>
              <a:ext uri="{FF2B5EF4-FFF2-40B4-BE49-F238E27FC236}">
                <a16:creationId xmlns:a16="http://schemas.microsoft.com/office/drawing/2014/main" id="{F4546A75-70B9-4AC4-88D1-51BE9C7C823B}"/>
              </a:ext>
            </a:extLst>
          </p:cNvPr>
          <p:cNvSpPr>
            <a:spLocks noGrp="1"/>
          </p:cNvSpPr>
          <p:nvPr>
            <p:ph idx="1"/>
          </p:nvPr>
        </p:nvSpPr>
        <p:spPr>
          <a:xfrm>
            <a:off x="838200" y="1825625"/>
            <a:ext cx="6769963" cy="4351338"/>
          </a:xfrm>
        </p:spPr>
        <p:txBody>
          <a:bodyPr/>
          <a:lstStyle/>
          <a:p>
            <a:r>
              <a:rPr lang="en-US" altLang="zh-CN"/>
              <a:t>A vertex cover of a graph is a set of vertices that includes at least one endpoint of every edge of the graph. The problem of finding a minimum vertex cover is a classical optimization problem in computer science and is a typical example of an NP-hard optimization problem. Its decision version, the vertex cover problem is a classical NP-complete problem in computational complexity theory.</a:t>
            </a:r>
            <a:endParaRPr lang="zh-CN" altLang="en-US"/>
          </a:p>
        </p:txBody>
      </p:sp>
      <p:pic>
        <p:nvPicPr>
          <p:cNvPr id="5" name="图片 4">
            <a:extLst>
              <a:ext uri="{FF2B5EF4-FFF2-40B4-BE49-F238E27FC236}">
                <a16:creationId xmlns:a16="http://schemas.microsoft.com/office/drawing/2014/main" id="{C31506AF-AD44-4330-BFB3-CA4D09C6C2AE}"/>
              </a:ext>
            </a:extLst>
          </p:cNvPr>
          <p:cNvPicPr>
            <a:picLocks noChangeAspect="1"/>
          </p:cNvPicPr>
          <p:nvPr/>
        </p:nvPicPr>
        <p:blipFill>
          <a:blip r:embed="rId2"/>
          <a:stretch>
            <a:fillRect/>
          </a:stretch>
        </p:blipFill>
        <p:spPr>
          <a:xfrm>
            <a:off x="8259823" y="1690688"/>
            <a:ext cx="2685714" cy="4495238"/>
          </a:xfrm>
          <a:prstGeom prst="rect">
            <a:avLst/>
          </a:prstGeom>
        </p:spPr>
      </p:pic>
    </p:spTree>
    <p:extLst>
      <p:ext uri="{BB962C8B-B14F-4D97-AF65-F5344CB8AC3E}">
        <p14:creationId xmlns:p14="http://schemas.microsoft.com/office/powerpoint/2010/main" val="1652183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8EE3A6-4752-4EF5-A16C-867E5B212228}"/>
              </a:ext>
            </a:extLst>
          </p:cNvPr>
          <p:cNvSpPr>
            <a:spLocks noGrp="1"/>
          </p:cNvSpPr>
          <p:nvPr>
            <p:ph type="title"/>
          </p:nvPr>
        </p:nvSpPr>
        <p:spPr/>
        <p:txBody>
          <a:bodyPr/>
          <a:lstStyle/>
          <a:p>
            <a:r>
              <a:rPr lang="en-US" altLang="zh-CN" dirty="0"/>
              <a:t>The Independent Set Problem</a:t>
            </a:r>
            <a:endParaRPr lang="zh-CN" altLang="en-US" dirty="0"/>
          </a:p>
        </p:txBody>
      </p:sp>
      <p:sp>
        <p:nvSpPr>
          <p:cNvPr id="3" name="内容占位符 2">
            <a:extLst>
              <a:ext uri="{FF2B5EF4-FFF2-40B4-BE49-F238E27FC236}">
                <a16:creationId xmlns:a16="http://schemas.microsoft.com/office/drawing/2014/main" id="{6B659A8D-6C16-439B-8E96-C75F6B98A674}"/>
              </a:ext>
            </a:extLst>
          </p:cNvPr>
          <p:cNvSpPr>
            <a:spLocks noGrp="1"/>
          </p:cNvSpPr>
          <p:nvPr>
            <p:ph idx="1"/>
          </p:nvPr>
        </p:nvSpPr>
        <p:spPr>
          <a:xfrm>
            <a:off x="838200" y="1825625"/>
            <a:ext cx="6299447" cy="4351338"/>
          </a:xfrm>
        </p:spPr>
        <p:txBody>
          <a:bodyPr/>
          <a:lstStyle/>
          <a:p>
            <a:r>
              <a:rPr lang="en-US" altLang="zh-CN"/>
              <a:t>In graph theory, an independent set, is a set of vertices in a graph, no two of which are adjacent. That is, it is a set S of vertices such that for every two vertices in S, there is no edge connecting the two. Equivalently, each edge in the graph has at most one endpoint in S. </a:t>
            </a:r>
          </a:p>
          <a:p>
            <a:r>
              <a:rPr lang="en-US" altLang="zh-CN"/>
              <a:t>A set is independent if and only if it is a clique in the graph’s complement. </a:t>
            </a:r>
            <a:endParaRPr lang="zh-CN" altLang="en-US"/>
          </a:p>
        </p:txBody>
      </p:sp>
      <p:pic>
        <p:nvPicPr>
          <p:cNvPr id="5" name="图片 4">
            <a:extLst>
              <a:ext uri="{FF2B5EF4-FFF2-40B4-BE49-F238E27FC236}">
                <a16:creationId xmlns:a16="http://schemas.microsoft.com/office/drawing/2014/main" id="{77BBA656-E771-48C3-BE18-A6271121D696}"/>
              </a:ext>
            </a:extLst>
          </p:cNvPr>
          <p:cNvPicPr>
            <a:picLocks noChangeAspect="1"/>
          </p:cNvPicPr>
          <p:nvPr/>
        </p:nvPicPr>
        <p:blipFill>
          <a:blip r:embed="rId2"/>
          <a:stretch>
            <a:fillRect/>
          </a:stretch>
        </p:blipFill>
        <p:spPr>
          <a:xfrm>
            <a:off x="7729246" y="1601763"/>
            <a:ext cx="3624554" cy="4799062"/>
          </a:xfrm>
          <a:prstGeom prst="rect">
            <a:avLst/>
          </a:prstGeom>
        </p:spPr>
      </p:pic>
    </p:spTree>
    <p:extLst>
      <p:ext uri="{BB962C8B-B14F-4D97-AF65-F5344CB8AC3E}">
        <p14:creationId xmlns:p14="http://schemas.microsoft.com/office/powerpoint/2010/main" val="2132671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E75401-57DB-490B-B876-B5018FB3FDE1}"/>
              </a:ext>
            </a:extLst>
          </p:cNvPr>
          <p:cNvSpPr>
            <a:spLocks noGrp="1"/>
          </p:cNvSpPr>
          <p:nvPr>
            <p:ph type="title"/>
          </p:nvPr>
        </p:nvSpPr>
        <p:spPr/>
        <p:txBody>
          <a:bodyPr/>
          <a:lstStyle/>
          <a:p>
            <a:r>
              <a:rPr lang="en-US" altLang="zh-CN" dirty="0"/>
              <a:t>The Dominating Set Problem</a:t>
            </a:r>
            <a:endParaRPr lang="zh-CN" altLang="en-US" dirty="0"/>
          </a:p>
        </p:txBody>
      </p:sp>
      <p:sp>
        <p:nvSpPr>
          <p:cNvPr id="3" name="内容占位符 2">
            <a:extLst>
              <a:ext uri="{FF2B5EF4-FFF2-40B4-BE49-F238E27FC236}">
                <a16:creationId xmlns:a16="http://schemas.microsoft.com/office/drawing/2014/main" id="{857D9A71-DB52-4C47-AEB0-450A0A04DA3F}"/>
              </a:ext>
            </a:extLst>
          </p:cNvPr>
          <p:cNvSpPr>
            <a:spLocks noGrp="1"/>
          </p:cNvSpPr>
          <p:nvPr>
            <p:ph idx="1"/>
          </p:nvPr>
        </p:nvSpPr>
        <p:spPr>
          <a:xfrm>
            <a:off x="838200" y="1825625"/>
            <a:ext cx="5029940" cy="4351338"/>
          </a:xfrm>
        </p:spPr>
        <p:txBody>
          <a:bodyPr/>
          <a:lstStyle/>
          <a:p>
            <a:r>
              <a:rPr lang="en-US" altLang="zh-CN"/>
              <a:t>A dominating set for a graph G = (V, E) is a subset D of V such that every vertex not in D is adjacent to at least one member of D. The domination number γ(G) is the number of vertices in a smallest dominating set for G.</a:t>
            </a:r>
            <a:endParaRPr lang="zh-CN" altLang="en-US"/>
          </a:p>
        </p:txBody>
      </p:sp>
      <p:pic>
        <p:nvPicPr>
          <p:cNvPr id="5" name="图片 4">
            <a:extLst>
              <a:ext uri="{FF2B5EF4-FFF2-40B4-BE49-F238E27FC236}">
                <a16:creationId xmlns:a16="http://schemas.microsoft.com/office/drawing/2014/main" id="{A02057CB-9860-4CFC-AD0A-8324C4A9FC77}"/>
              </a:ext>
            </a:extLst>
          </p:cNvPr>
          <p:cNvPicPr>
            <a:picLocks noChangeAspect="1"/>
          </p:cNvPicPr>
          <p:nvPr/>
        </p:nvPicPr>
        <p:blipFill>
          <a:blip r:embed="rId2"/>
          <a:stretch>
            <a:fillRect/>
          </a:stretch>
        </p:blipFill>
        <p:spPr>
          <a:xfrm>
            <a:off x="7093882" y="1943285"/>
            <a:ext cx="2047990" cy="3276785"/>
          </a:xfrm>
          <a:prstGeom prst="rect">
            <a:avLst/>
          </a:prstGeom>
        </p:spPr>
      </p:pic>
    </p:spTree>
    <p:extLst>
      <p:ext uri="{BB962C8B-B14F-4D97-AF65-F5344CB8AC3E}">
        <p14:creationId xmlns:p14="http://schemas.microsoft.com/office/powerpoint/2010/main" val="4273732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DCF85-17FD-4F17-9B7B-E3DEA175C6BB}"/>
              </a:ext>
            </a:extLst>
          </p:cNvPr>
          <p:cNvSpPr>
            <a:spLocks noGrp="1"/>
          </p:cNvSpPr>
          <p:nvPr>
            <p:ph type="title"/>
          </p:nvPr>
        </p:nvSpPr>
        <p:spPr/>
        <p:txBody>
          <a:bodyPr/>
          <a:lstStyle/>
          <a:p>
            <a:r>
              <a:rPr lang="en-US" altLang="zh-CN" dirty="0"/>
              <a:t>The Subgraph Isomorphism Problem</a:t>
            </a:r>
            <a:endParaRPr lang="zh-CN" altLang="en-US" dirty="0"/>
          </a:p>
        </p:txBody>
      </p:sp>
      <p:sp>
        <p:nvSpPr>
          <p:cNvPr id="3" name="内容占位符 2">
            <a:extLst>
              <a:ext uri="{FF2B5EF4-FFF2-40B4-BE49-F238E27FC236}">
                <a16:creationId xmlns:a16="http://schemas.microsoft.com/office/drawing/2014/main" id="{5AF20FE2-3CEF-4305-834B-5E6685D3F21F}"/>
              </a:ext>
            </a:extLst>
          </p:cNvPr>
          <p:cNvSpPr>
            <a:spLocks noGrp="1"/>
          </p:cNvSpPr>
          <p:nvPr>
            <p:ph idx="1"/>
          </p:nvPr>
        </p:nvSpPr>
        <p:spPr/>
        <p:txBody>
          <a:bodyPr/>
          <a:lstStyle/>
          <a:p>
            <a:r>
              <a:rPr lang="en-US" altLang="zh-CN" dirty="0"/>
              <a:t> The subgraph isomorphism problem is a computational task in which two graphs G and H are given as input, and one must determine whether G contains a subgraph that is isomorphic to H. </a:t>
            </a:r>
            <a:endParaRPr lang="zh-CN" altLang="en-US" dirty="0"/>
          </a:p>
        </p:txBody>
      </p:sp>
    </p:spTree>
    <p:extLst>
      <p:ext uri="{BB962C8B-B14F-4D97-AF65-F5344CB8AC3E}">
        <p14:creationId xmlns:p14="http://schemas.microsoft.com/office/powerpoint/2010/main" val="873662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3686AE-1904-4682-AC43-A529A26E4616}"/>
              </a:ext>
            </a:extLst>
          </p:cNvPr>
          <p:cNvSpPr>
            <a:spLocks noGrp="1"/>
          </p:cNvSpPr>
          <p:nvPr>
            <p:ph type="title"/>
          </p:nvPr>
        </p:nvSpPr>
        <p:spPr/>
        <p:txBody>
          <a:bodyPr/>
          <a:lstStyle/>
          <a:p>
            <a:r>
              <a:rPr lang="en-US" altLang="zh-CN" dirty="0"/>
              <a:t>The Subset Sum Problem</a:t>
            </a:r>
            <a:endParaRPr lang="zh-CN" altLang="en-US" dirty="0"/>
          </a:p>
        </p:txBody>
      </p:sp>
      <p:sp>
        <p:nvSpPr>
          <p:cNvPr id="3" name="内容占位符 2">
            <a:extLst>
              <a:ext uri="{FF2B5EF4-FFF2-40B4-BE49-F238E27FC236}">
                <a16:creationId xmlns:a16="http://schemas.microsoft.com/office/drawing/2014/main" id="{F8770B28-E40C-40F2-B8B2-D8F2AFFBDDDD}"/>
              </a:ext>
            </a:extLst>
          </p:cNvPr>
          <p:cNvSpPr>
            <a:spLocks noGrp="1"/>
          </p:cNvSpPr>
          <p:nvPr>
            <p:ph idx="1"/>
          </p:nvPr>
        </p:nvSpPr>
        <p:spPr/>
        <p:txBody>
          <a:bodyPr/>
          <a:lstStyle/>
          <a:p>
            <a:r>
              <a:rPr lang="en-US" altLang="zh-CN" dirty="0"/>
              <a:t>The subset sum problem is a decision problem in computer science. In its most general formulation, there is a multiset S of integers and a capacity T, and the question is to decide whether any subset of the integers sum to precisely T.</a:t>
            </a:r>
          </a:p>
          <a:p>
            <a:pPr marL="0" indent="0">
              <a:buNone/>
            </a:pPr>
            <a:endParaRPr lang="en-US" altLang="zh-CN" dirty="0"/>
          </a:p>
          <a:p>
            <a:r>
              <a:rPr lang="en-US" altLang="zh-CN" dirty="0"/>
              <a:t>For example, given the set {-7,-3,-2,9000,5,8} and T=0, the answer is yes because the subset {-3,-2,5} sums to zero.</a:t>
            </a:r>
            <a:endParaRPr lang="zh-CN" altLang="en-US" dirty="0"/>
          </a:p>
        </p:txBody>
      </p:sp>
    </p:spTree>
    <p:extLst>
      <p:ext uri="{BB962C8B-B14F-4D97-AF65-F5344CB8AC3E}">
        <p14:creationId xmlns:p14="http://schemas.microsoft.com/office/powerpoint/2010/main" val="5794363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8CDCC2-2542-47A3-8EE5-994BA3C7318C}"/>
              </a:ext>
            </a:extLst>
          </p:cNvPr>
          <p:cNvSpPr>
            <a:spLocks noGrp="1"/>
          </p:cNvSpPr>
          <p:nvPr>
            <p:ph type="title"/>
          </p:nvPr>
        </p:nvSpPr>
        <p:spPr/>
        <p:txBody>
          <a:bodyPr/>
          <a:lstStyle/>
          <a:p>
            <a:r>
              <a:rPr lang="en-US" altLang="zh-CN"/>
              <a:t>2. The Decision Tree Model for Lower Bounds</a:t>
            </a:r>
            <a:endParaRPr lang="zh-CN" altLang="en-US"/>
          </a:p>
        </p:txBody>
      </p:sp>
      <p:sp>
        <p:nvSpPr>
          <p:cNvPr id="3" name="内容占位符 2">
            <a:extLst>
              <a:ext uri="{FF2B5EF4-FFF2-40B4-BE49-F238E27FC236}">
                <a16:creationId xmlns:a16="http://schemas.microsoft.com/office/drawing/2014/main" id="{6207D1D8-6457-4665-81D1-E0ADA619AB7C}"/>
              </a:ext>
            </a:extLst>
          </p:cNvPr>
          <p:cNvSpPr>
            <a:spLocks noGrp="1"/>
          </p:cNvSpPr>
          <p:nvPr>
            <p:ph idx="1"/>
          </p:nvPr>
        </p:nvSpPr>
        <p:spPr/>
        <p:txBody>
          <a:bodyPr/>
          <a:lstStyle/>
          <a:p>
            <a:r>
              <a:rPr lang="en-US" altLang="zh-CN"/>
              <a:t>In computational complexity the decision tree model is the model of computation in which an algorithm is considered to be basically a decision tree.</a:t>
            </a:r>
          </a:p>
          <a:p>
            <a:endParaRPr lang="en-US" altLang="zh-CN"/>
          </a:p>
          <a:p>
            <a:r>
              <a:rPr lang="en-US" altLang="zh-CN"/>
              <a:t>A decision tree is a decision support tool that uses a tree-like model of decisions and their possible consequences.</a:t>
            </a:r>
            <a:endParaRPr lang="zh-CN" altLang="en-US"/>
          </a:p>
        </p:txBody>
      </p:sp>
    </p:spTree>
    <p:extLst>
      <p:ext uri="{BB962C8B-B14F-4D97-AF65-F5344CB8AC3E}">
        <p14:creationId xmlns:p14="http://schemas.microsoft.com/office/powerpoint/2010/main" val="42293790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50E6B8-A8AC-4F47-9F5F-A4FB6639E7FE}"/>
              </a:ext>
            </a:extLst>
          </p:cNvPr>
          <p:cNvSpPr>
            <a:spLocks noGrp="1"/>
          </p:cNvSpPr>
          <p:nvPr>
            <p:ph type="title"/>
          </p:nvPr>
        </p:nvSpPr>
        <p:spPr/>
        <p:txBody>
          <a:bodyPr/>
          <a:lstStyle/>
          <a:p>
            <a:r>
              <a:rPr lang="en-US" altLang="zh-CN"/>
              <a:t>A Decision Tree for Binary Search</a:t>
            </a:r>
            <a:endParaRPr lang="zh-CN" altLang="en-US"/>
          </a:p>
        </p:txBody>
      </p:sp>
      <p:pic>
        <p:nvPicPr>
          <p:cNvPr id="5" name="图片 4">
            <a:extLst>
              <a:ext uri="{FF2B5EF4-FFF2-40B4-BE49-F238E27FC236}">
                <a16:creationId xmlns:a16="http://schemas.microsoft.com/office/drawing/2014/main" id="{DE7158F7-046C-4D9B-8606-E55E2F6B2A66}"/>
              </a:ext>
            </a:extLst>
          </p:cNvPr>
          <p:cNvPicPr>
            <a:picLocks noChangeAspect="1"/>
          </p:cNvPicPr>
          <p:nvPr/>
        </p:nvPicPr>
        <p:blipFill>
          <a:blip r:embed="rId2"/>
          <a:stretch>
            <a:fillRect/>
          </a:stretch>
        </p:blipFill>
        <p:spPr>
          <a:xfrm>
            <a:off x="2219809" y="1515051"/>
            <a:ext cx="7752381" cy="3295238"/>
          </a:xfrm>
          <a:prstGeom prst="rect">
            <a:avLst/>
          </a:prstGeom>
        </p:spPr>
      </p:pic>
      <p:pic>
        <p:nvPicPr>
          <p:cNvPr id="7" name="图片 6">
            <a:extLst>
              <a:ext uri="{FF2B5EF4-FFF2-40B4-BE49-F238E27FC236}">
                <a16:creationId xmlns:a16="http://schemas.microsoft.com/office/drawing/2014/main" id="{47B531D9-F364-46B8-89D2-BAFC41059669}"/>
              </a:ext>
            </a:extLst>
          </p:cNvPr>
          <p:cNvPicPr>
            <a:picLocks noChangeAspect="1"/>
          </p:cNvPicPr>
          <p:nvPr/>
        </p:nvPicPr>
        <p:blipFill>
          <a:blip r:embed="rId3"/>
          <a:stretch>
            <a:fillRect/>
          </a:stretch>
        </p:blipFill>
        <p:spPr>
          <a:xfrm>
            <a:off x="838200" y="4972324"/>
            <a:ext cx="9857143" cy="952381"/>
          </a:xfrm>
          <a:prstGeom prst="rect">
            <a:avLst/>
          </a:prstGeom>
        </p:spPr>
      </p:pic>
    </p:spTree>
    <p:extLst>
      <p:ext uri="{BB962C8B-B14F-4D97-AF65-F5344CB8AC3E}">
        <p14:creationId xmlns:p14="http://schemas.microsoft.com/office/powerpoint/2010/main" val="4152648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CA4D5D-FE79-4361-8062-9F39895C5755}"/>
              </a:ext>
            </a:extLst>
          </p:cNvPr>
          <p:cNvSpPr>
            <a:spLocks noGrp="1"/>
          </p:cNvSpPr>
          <p:nvPr>
            <p:ph type="title"/>
          </p:nvPr>
        </p:nvSpPr>
        <p:spPr/>
        <p:txBody>
          <a:bodyPr/>
          <a:lstStyle/>
          <a:p>
            <a:r>
              <a:rPr lang="en-US" altLang="zh-CN"/>
              <a:t>A Decision Tree for Sorting</a:t>
            </a:r>
            <a:endParaRPr lang="zh-CN" altLang="en-US"/>
          </a:p>
        </p:txBody>
      </p:sp>
      <p:pic>
        <p:nvPicPr>
          <p:cNvPr id="5" name="图片 4">
            <a:extLst>
              <a:ext uri="{FF2B5EF4-FFF2-40B4-BE49-F238E27FC236}">
                <a16:creationId xmlns:a16="http://schemas.microsoft.com/office/drawing/2014/main" id="{60BD9501-A9EC-4E05-9B47-B35ABC4EDE42}"/>
              </a:ext>
            </a:extLst>
          </p:cNvPr>
          <p:cNvPicPr>
            <a:picLocks noChangeAspect="1"/>
          </p:cNvPicPr>
          <p:nvPr/>
        </p:nvPicPr>
        <p:blipFill>
          <a:blip r:embed="rId2"/>
          <a:stretch>
            <a:fillRect/>
          </a:stretch>
        </p:blipFill>
        <p:spPr>
          <a:xfrm>
            <a:off x="3219800" y="1395499"/>
            <a:ext cx="6004099" cy="3288399"/>
          </a:xfrm>
          <a:prstGeom prst="rect">
            <a:avLst/>
          </a:prstGeom>
        </p:spPr>
      </p:pic>
      <p:pic>
        <p:nvPicPr>
          <p:cNvPr id="9" name="图片 8">
            <a:extLst>
              <a:ext uri="{FF2B5EF4-FFF2-40B4-BE49-F238E27FC236}">
                <a16:creationId xmlns:a16="http://schemas.microsoft.com/office/drawing/2014/main" id="{C78D1BC3-849D-49C9-9D21-BA3AB9116D64}"/>
              </a:ext>
            </a:extLst>
          </p:cNvPr>
          <p:cNvPicPr>
            <a:picLocks noChangeAspect="1"/>
          </p:cNvPicPr>
          <p:nvPr/>
        </p:nvPicPr>
        <p:blipFill>
          <a:blip r:embed="rId3"/>
          <a:stretch>
            <a:fillRect/>
          </a:stretch>
        </p:blipFill>
        <p:spPr>
          <a:xfrm>
            <a:off x="715960" y="4871134"/>
            <a:ext cx="8765391" cy="858685"/>
          </a:xfrm>
          <a:prstGeom prst="rect">
            <a:avLst/>
          </a:prstGeom>
        </p:spPr>
      </p:pic>
      <p:pic>
        <p:nvPicPr>
          <p:cNvPr id="11" name="图片 10">
            <a:extLst>
              <a:ext uri="{FF2B5EF4-FFF2-40B4-BE49-F238E27FC236}">
                <a16:creationId xmlns:a16="http://schemas.microsoft.com/office/drawing/2014/main" id="{AEA60522-4AD9-48FE-AB39-BF44C14F1760}"/>
              </a:ext>
            </a:extLst>
          </p:cNvPr>
          <p:cNvPicPr>
            <a:picLocks noChangeAspect="1"/>
          </p:cNvPicPr>
          <p:nvPr/>
        </p:nvPicPr>
        <p:blipFill>
          <a:blip r:embed="rId4"/>
          <a:stretch>
            <a:fillRect/>
          </a:stretch>
        </p:blipFill>
        <p:spPr>
          <a:xfrm>
            <a:off x="715960" y="5917055"/>
            <a:ext cx="8765391" cy="906470"/>
          </a:xfrm>
          <a:prstGeom prst="rect">
            <a:avLst/>
          </a:prstGeom>
        </p:spPr>
      </p:pic>
    </p:spTree>
    <p:extLst>
      <p:ext uri="{BB962C8B-B14F-4D97-AF65-F5344CB8AC3E}">
        <p14:creationId xmlns:p14="http://schemas.microsoft.com/office/powerpoint/2010/main" val="234697068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5735</TotalTime>
  <Words>1671</Words>
  <Application>Microsoft Office PowerPoint</Application>
  <PresentationFormat>宽屏</PresentationFormat>
  <Paragraphs>94</Paragraphs>
  <Slides>32</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32</vt:i4>
      </vt:variant>
    </vt:vector>
  </HeadingPairs>
  <TitlesOfParts>
    <vt:vector size="38" baseType="lpstr">
      <vt:lpstr>Nimbus Roman No9 L</vt:lpstr>
      <vt:lpstr>等线</vt:lpstr>
      <vt:lpstr>等线 Light</vt:lpstr>
      <vt:lpstr>Arial</vt:lpstr>
      <vt:lpstr>Arial</vt:lpstr>
      <vt:lpstr>Office 主题​​</vt:lpstr>
      <vt:lpstr>Complexity of Problems</vt:lpstr>
      <vt:lpstr>Complexity of Problems</vt:lpstr>
      <vt:lpstr>The computational complexity of a problem </vt:lpstr>
      <vt:lpstr>1. NP-Complete Problems</vt:lpstr>
      <vt:lpstr>Order of growth</vt:lpstr>
      <vt:lpstr>1.1.1 Decision Problem</vt:lpstr>
      <vt:lpstr>1.1.2 Optimization Problem</vt:lpstr>
      <vt:lpstr>PowerPoint 演示文稿</vt:lpstr>
      <vt:lpstr>PowerPoint 演示文稿</vt:lpstr>
      <vt:lpstr>PowerPoint 演示文稿</vt:lpstr>
      <vt:lpstr>PowerPoint 演示文稿</vt:lpstr>
      <vt:lpstr>1.2 The Class P</vt:lpstr>
      <vt:lpstr>Formal Language</vt:lpstr>
      <vt:lpstr>Turing Machine (1936 by Alan Turing)</vt:lpstr>
      <vt:lpstr>Formal Definition of the (Deterministic ) Turing Machine</vt:lpstr>
      <vt:lpstr>Deterministic Turing machine</vt:lpstr>
      <vt:lpstr>Notable problems in P</vt:lpstr>
      <vt:lpstr>1.3 The Class NP</vt:lpstr>
      <vt:lpstr>Nondeterministic Turing machine</vt:lpstr>
      <vt:lpstr>Formal Definition of the Nondeterministic Turing Machine</vt:lpstr>
      <vt:lpstr>P &amp; NP</vt:lpstr>
      <vt:lpstr>1.4 NP-Complete Problems</vt:lpstr>
      <vt:lpstr>1.4.1 NP-Complete &amp; NP-Hard</vt:lpstr>
      <vt:lpstr>1.4.2 NP-Complete Problems</vt:lpstr>
      <vt:lpstr>The Vertex Cover Problem</vt:lpstr>
      <vt:lpstr>The Independent Set Problem</vt:lpstr>
      <vt:lpstr>The Dominating Set Problem</vt:lpstr>
      <vt:lpstr>The Subgraph Isomorphism Problem</vt:lpstr>
      <vt:lpstr>The Subset Sum Problem</vt:lpstr>
      <vt:lpstr>2. The Decision Tree Model for Lower Bounds</vt:lpstr>
      <vt:lpstr>A Decision Tree for Binary Search</vt:lpstr>
      <vt:lpstr>A Decision Tree for Sorting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greedy approach</dc:title>
  <dc:creator>Xu Yanyan</dc:creator>
  <cp:lastModifiedBy>艳艳 徐</cp:lastModifiedBy>
  <cp:revision>592</cp:revision>
  <dcterms:created xsi:type="dcterms:W3CDTF">2021-03-21T14:58:38Z</dcterms:created>
  <dcterms:modified xsi:type="dcterms:W3CDTF">2024-05-10T15:22:37Z</dcterms:modified>
</cp:coreProperties>
</file>