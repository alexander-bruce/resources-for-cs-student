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555" r:id="rId2"/>
    <p:sldId id="556" r:id="rId3"/>
    <p:sldId id="561" r:id="rId4"/>
    <p:sldId id="557" r:id="rId5"/>
    <p:sldId id="541" r:id="rId6"/>
    <p:sldId id="562" r:id="rId7"/>
    <p:sldId id="545" r:id="rId8"/>
    <p:sldId id="563"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8CFB11-A474-4037-92C3-6A96DA592FEF}" type="datetimeFigureOut">
              <a:rPr lang="zh-CN" altLang="en-US" smtClean="0"/>
              <a:t>2024/5/10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C97EEE-B9B4-43CE-BA0C-48B2D1726773}" type="slidenum">
              <a:rPr lang="zh-CN" altLang="en-US" smtClean="0"/>
              <a:t>‹#›</a:t>
            </a:fld>
            <a:endParaRPr lang="zh-CN" altLang="en-US"/>
          </a:p>
        </p:txBody>
      </p:sp>
    </p:spTree>
    <p:extLst>
      <p:ext uri="{BB962C8B-B14F-4D97-AF65-F5344CB8AC3E}">
        <p14:creationId xmlns:p14="http://schemas.microsoft.com/office/powerpoint/2010/main" val="1782228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FE74C3-BE1E-4FDA-B2BF-F5CABD9EC32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8414A93-03CD-41B0-91EF-9F89B49089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601CB88-104E-4041-9593-0364358049E3}"/>
              </a:ext>
            </a:extLst>
          </p:cNvPr>
          <p:cNvSpPr>
            <a:spLocks noGrp="1"/>
          </p:cNvSpPr>
          <p:nvPr>
            <p:ph type="dt" sz="half" idx="10"/>
          </p:nvPr>
        </p:nvSpPr>
        <p:spPr/>
        <p:txBody>
          <a:bodyPr/>
          <a:lstStyle/>
          <a:p>
            <a:fld id="{19091380-234D-4686-9A97-71ADE720DC22}" type="datetime1">
              <a:rPr lang="zh-CN" altLang="en-US" smtClean="0"/>
              <a:t>2024/5/10</a:t>
            </a:fld>
            <a:endParaRPr lang="zh-CN" altLang="en-US"/>
          </a:p>
        </p:txBody>
      </p:sp>
      <p:sp>
        <p:nvSpPr>
          <p:cNvPr id="5" name="页脚占位符 4">
            <a:extLst>
              <a:ext uri="{FF2B5EF4-FFF2-40B4-BE49-F238E27FC236}">
                <a16:creationId xmlns:a16="http://schemas.microsoft.com/office/drawing/2014/main" id="{CF16315D-AFAA-4980-9819-6534D5CAE936}"/>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C5CDB79D-F8FD-4605-B404-0A84510A198B}"/>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579750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5E719E-23D3-47FD-839B-203CBF92D87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7803645-37D3-4EDD-9200-E560C33C336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3ABE395-7C27-47EB-9B39-141339C966A0}"/>
              </a:ext>
            </a:extLst>
          </p:cNvPr>
          <p:cNvSpPr>
            <a:spLocks noGrp="1"/>
          </p:cNvSpPr>
          <p:nvPr>
            <p:ph type="dt" sz="half" idx="10"/>
          </p:nvPr>
        </p:nvSpPr>
        <p:spPr/>
        <p:txBody>
          <a:bodyPr/>
          <a:lstStyle/>
          <a:p>
            <a:fld id="{37433FD5-15C1-426F-945B-A9464337B736}" type="datetime1">
              <a:rPr lang="zh-CN" altLang="en-US" smtClean="0"/>
              <a:t>2024/5/10</a:t>
            </a:fld>
            <a:endParaRPr lang="zh-CN" altLang="en-US"/>
          </a:p>
        </p:txBody>
      </p:sp>
      <p:sp>
        <p:nvSpPr>
          <p:cNvPr id="5" name="页脚占位符 4">
            <a:extLst>
              <a:ext uri="{FF2B5EF4-FFF2-40B4-BE49-F238E27FC236}">
                <a16:creationId xmlns:a16="http://schemas.microsoft.com/office/drawing/2014/main" id="{E37E058E-0A79-4BC7-8808-FCA05AA07F2B}"/>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ACF20585-5CC9-42E1-9691-1780E38898B7}"/>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672161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FB95CF-A2F3-4DB3-8B9B-B5A15A4F079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68E97E6-45A3-431D-90EC-74E70EC9B8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AF24651-B974-490D-ADA3-BD93E52E2313}"/>
              </a:ext>
            </a:extLst>
          </p:cNvPr>
          <p:cNvSpPr>
            <a:spLocks noGrp="1"/>
          </p:cNvSpPr>
          <p:nvPr>
            <p:ph type="dt" sz="half" idx="10"/>
          </p:nvPr>
        </p:nvSpPr>
        <p:spPr/>
        <p:txBody>
          <a:bodyPr/>
          <a:lstStyle/>
          <a:p>
            <a:fld id="{5A35AC5E-8BCE-4047-A373-DA47F65D4DEE}" type="datetime1">
              <a:rPr lang="zh-CN" altLang="en-US" smtClean="0"/>
              <a:t>2024/5/10</a:t>
            </a:fld>
            <a:endParaRPr lang="zh-CN" altLang="en-US"/>
          </a:p>
        </p:txBody>
      </p:sp>
      <p:sp>
        <p:nvSpPr>
          <p:cNvPr id="5" name="页脚占位符 4">
            <a:extLst>
              <a:ext uri="{FF2B5EF4-FFF2-40B4-BE49-F238E27FC236}">
                <a16:creationId xmlns:a16="http://schemas.microsoft.com/office/drawing/2014/main" id="{F62087D7-E624-474A-97FD-9337901EA964}"/>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BDC309BF-F8DE-4469-B753-69CF4D47791A}"/>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2862561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2C7CB6-6364-416E-BC11-15804AA6919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3FA0C0-9455-4CF5-8F1F-A05BB585DAE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D2CB45D-96E7-40D8-9A8D-6F28DD8FC75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B3513F1-0F43-4B9E-873A-CFD9DF940E55}"/>
              </a:ext>
            </a:extLst>
          </p:cNvPr>
          <p:cNvSpPr>
            <a:spLocks noGrp="1"/>
          </p:cNvSpPr>
          <p:nvPr>
            <p:ph type="dt" sz="half" idx="10"/>
          </p:nvPr>
        </p:nvSpPr>
        <p:spPr/>
        <p:txBody>
          <a:bodyPr/>
          <a:lstStyle/>
          <a:p>
            <a:fld id="{1D56B9DF-63E2-4D7B-9554-8039D32F4740}" type="datetime1">
              <a:rPr lang="zh-CN" altLang="en-US" smtClean="0"/>
              <a:t>2024/5/10</a:t>
            </a:fld>
            <a:endParaRPr lang="zh-CN" altLang="en-US"/>
          </a:p>
        </p:txBody>
      </p:sp>
      <p:sp>
        <p:nvSpPr>
          <p:cNvPr id="6" name="页脚占位符 5">
            <a:extLst>
              <a:ext uri="{FF2B5EF4-FFF2-40B4-BE49-F238E27FC236}">
                <a16:creationId xmlns:a16="http://schemas.microsoft.com/office/drawing/2014/main" id="{71A56703-3DF2-494C-9E6B-77E1ECC290BE}"/>
              </a:ext>
            </a:extLst>
          </p:cNvPr>
          <p:cNvSpPr>
            <a:spLocks noGrp="1"/>
          </p:cNvSpPr>
          <p:nvPr>
            <p:ph type="ftr" sz="quarter" idx="11"/>
          </p:nvPr>
        </p:nvSpPr>
        <p:spPr/>
        <p:txBody>
          <a:bodyPr/>
          <a:lstStyle/>
          <a:p>
            <a:r>
              <a:rPr lang="zh-CN" altLang="en-US"/>
              <a:t>华东理工大学 罗勇军</a:t>
            </a:r>
          </a:p>
        </p:txBody>
      </p:sp>
      <p:sp>
        <p:nvSpPr>
          <p:cNvPr id="7" name="灯片编号占位符 6">
            <a:extLst>
              <a:ext uri="{FF2B5EF4-FFF2-40B4-BE49-F238E27FC236}">
                <a16:creationId xmlns:a16="http://schemas.microsoft.com/office/drawing/2014/main" id="{80F162C8-81F2-4EA9-AEC3-32059D2D241C}"/>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3277678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C611FA-6024-4450-8519-BD266187B24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8907EE1-3194-4B7B-BD9D-4535D11108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8F5AB7E-A7EB-4818-84FD-9AF639601AE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879A2-D71C-449E-9A04-8E5CABA0AE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E6F23C-4380-4F63-AB22-69AF54CF0DA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A8E1901-C27B-4F5F-9B6C-2C949A0D043E}"/>
              </a:ext>
            </a:extLst>
          </p:cNvPr>
          <p:cNvSpPr>
            <a:spLocks noGrp="1"/>
          </p:cNvSpPr>
          <p:nvPr>
            <p:ph type="dt" sz="half" idx="10"/>
          </p:nvPr>
        </p:nvSpPr>
        <p:spPr/>
        <p:txBody>
          <a:bodyPr/>
          <a:lstStyle/>
          <a:p>
            <a:fld id="{9DF3352A-9F68-4551-AD80-0A2626074E32}" type="datetime1">
              <a:rPr lang="zh-CN" altLang="en-US" smtClean="0"/>
              <a:t>2024/5/10</a:t>
            </a:fld>
            <a:endParaRPr lang="zh-CN" altLang="en-US"/>
          </a:p>
        </p:txBody>
      </p:sp>
      <p:sp>
        <p:nvSpPr>
          <p:cNvPr id="8" name="页脚占位符 7">
            <a:extLst>
              <a:ext uri="{FF2B5EF4-FFF2-40B4-BE49-F238E27FC236}">
                <a16:creationId xmlns:a16="http://schemas.microsoft.com/office/drawing/2014/main" id="{240AD1F4-B793-48D7-AF18-2AF92E428387}"/>
              </a:ext>
            </a:extLst>
          </p:cNvPr>
          <p:cNvSpPr>
            <a:spLocks noGrp="1"/>
          </p:cNvSpPr>
          <p:nvPr>
            <p:ph type="ftr" sz="quarter" idx="11"/>
          </p:nvPr>
        </p:nvSpPr>
        <p:spPr/>
        <p:txBody>
          <a:bodyPr/>
          <a:lstStyle/>
          <a:p>
            <a:r>
              <a:rPr lang="zh-CN" altLang="en-US"/>
              <a:t>华东理工大学 罗勇军</a:t>
            </a:r>
          </a:p>
        </p:txBody>
      </p:sp>
      <p:sp>
        <p:nvSpPr>
          <p:cNvPr id="9" name="灯片编号占位符 8">
            <a:extLst>
              <a:ext uri="{FF2B5EF4-FFF2-40B4-BE49-F238E27FC236}">
                <a16:creationId xmlns:a16="http://schemas.microsoft.com/office/drawing/2014/main" id="{2977C2D3-54BE-488A-BADA-71A18521C172}"/>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932451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A93380-92D5-4A1B-96A0-7D4213E6C20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6D8E708-CC46-4DDB-823E-C1A1209F8FBD}"/>
              </a:ext>
            </a:extLst>
          </p:cNvPr>
          <p:cNvSpPr>
            <a:spLocks noGrp="1"/>
          </p:cNvSpPr>
          <p:nvPr>
            <p:ph type="dt" sz="half" idx="10"/>
          </p:nvPr>
        </p:nvSpPr>
        <p:spPr/>
        <p:txBody>
          <a:bodyPr/>
          <a:lstStyle/>
          <a:p>
            <a:fld id="{42A659E8-92BA-4D5F-91D3-F31881A5DFD7}" type="datetime1">
              <a:rPr lang="zh-CN" altLang="en-US" smtClean="0"/>
              <a:t>2024/5/10</a:t>
            </a:fld>
            <a:endParaRPr lang="zh-CN" altLang="en-US"/>
          </a:p>
        </p:txBody>
      </p:sp>
      <p:sp>
        <p:nvSpPr>
          <p:cNvPr id="4" name="页脚占位符 3">
            <a:extLst>
              <a:ext uri="{FF2B5EF4-FFF2-40B4-BE49-F238E27FC236}">
                <a16:creationId xmlns:a16="http://schemas.microsoft.com/office/drawing/2014/main" id="{4F925D70-BD66-4BE5-BFF2-674F2DC3CAD1}"/>
              </a:ext>
            </a:extLst>
          </p:cNvPr>
          <p:cNvSpPr>
            <a:spLocks noGrp="1"/>
          </p:cNvSpPr>
          <p:nvPr>
            <p:ph type="ftr" sz="quarter" idx="11"/>
          </p:nvPr>
        </p:nvSpPr>
        <p:spPr/>
        <p:txBody>
          <a:bodyPr/>
          <a:lstStyle/>
          <a:p>
            <a:r>
              <a:rPr lang="zh-CN" altLang="en-US"/>
              <a:t>华东理工大学 罗勇军</a:t>
            </a:r>
          </a:p>
        </p:txBody>
      </p:sp>
      <p:sp>
        <p:nvSpPr>
          <p:cNvPr id="5" name="灯片编号占位符 4">
            <a:extLst>
              <a:ext uri="{FF2B5EF4-FFF2-40B4-BE49-F238E27FC236}">
                <a16:creationId xmlns:a16="http://schemas.microsoft.com/office/drawing/2014/main" id="{AB9E7361-9083-4F13-A530-AEBB30D12700}"/>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88961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911168A-BF5E-418E-9BA2-C715C297C452}"/>
              </a:ext>
            </a:extLst>
          </p:cNvPr>
          <p:cNvSpPr>
            <a:spLocks noGrp="1"/>
          </p:cNvSpPr>
          <p:nvPr>
            <p:ph type="dt" sz="half" idx="10"/>
          </p:nvPr>
        </p:nvSpPr>
        <p:spPr/>
        <p:txBody>
          <a:bodyPr/>
          <a:lstStyle/>
          <a:p>
            <a:fld id="{7C91D9BB-9518-41F3-A9EF-5B895C97DDE7}" type="datetime1">
              <a:rPr lang="zh-CN" altLang="en-US" smtClean="0"/>
              <a:t>2024/5/10</a:t>
            </a:fld>
            <a:endParaRPr lang="zh-CN" altLang="en-US"/>
          </a:p>
        </p:txBody>
      </p:sp>
      <p:sp>
        <p:nvSpPr>
          <p:cNvPr id="3" name="页脚占位符 2">
            <a:extLst>
              <a:ext uri="{FF2B5EF4-FFF2-40B4-BE49-F238E27FC236}">
                <a16:creationId xmlns:a16="http://schemas.microsoft.com/office/drawing/2014/main" id="{1C266FE5-38F5-4063-98BC-6E6CAAA47689}"/>
              </a:ext>
            </a:extLst>
          </p:cNvPr>
          <p:cNvSpPr>
            <a:spLocks noGrp="1"/>
          </p:cNvSpPr>
          <p:nvPr>
            <p:ph type="ftr" sz="quarter" idx="11"/>
          </p:nvPr>
        </p:nvSpPr>
        <p:spPr/>
        <p:txBody>
          <a:bodyPr/>
          <a:lstStyle/>
          <a:p>
            <a:r>
              <a:rPr lang="zh-CN" altLang="en-US"/>
              <a:t>华东理工大学 罗勇军</a:t>
            </a:r>
          </a:p>
        </p:txBody>
      </p:sp>
      <p:sp>
        <p:nvSpPr>
          <p:cNvPr id="4" name="灯片编号占位符 3">
            <a:extLst>
              <a:ext uri="{FF2B5EF4-FFF2-40B4-BE49-F238E27FC236}">
                <a16:creationId xmlns:a16="http://schemas.microsoft.com/office/drawing/2014/main" id="{BD36AE1B-2A81-4BBE-8E6F-0E376693F876}"/>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727378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127597-6C40-4007-9989-3826A10C6CC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5463319-D02E-4CA5-9853-A219EBBF1F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5DA2A57-CBD9-4774-BB6B-82281FBC30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E829E9F-EA46-4D95-B45E-1F46C1C49598}"/>
              </a:ext>
            </a:extLst>
          </p:cNvPr>
          <p:cNvSpPr>
            <a:spLocks noGrp="1"/>
          </p:cNvSpPr>
          <p:nvPr>
            <p:ph type="dt" sz="half" idx="10"/>
          </p:nvPr>
        </p:nvSpPr>
        <p:spPr/>
        <p:txBody>
          <a:bodyPr/>
          <a:lstStyle/>
          <a:p>
            <a:fld id="{4AB7B26E-D71A-4D98-8901-D2BAB664AEC0}" type="datetime1">
              <a:rPr lang="zh-CN" altLang="en-US" smtClean="0"/>
              <a:t>2024/5/10</a:t>
            </a:fld>
            <a:endParaRPr lang="zh-CN" altLang="en-US"/>
          </a:p>
        </p:txBody>
      </p:sp>
      <p:sp>
        <p:nvSpPr>
          <p:cNvPr id="6" name="页脚占位符 5">
            <a:extLst>
              <a:ext uri="{FF2B5EF4-FFF2-40B4-BE49-F238E27FC236}">
                <a16:creationId xmlns:a16="http://schemas.microsoft.com/office/drawing/2014/main" id="{30FB46E0-6AFB-4FCB-9055-A3C0CB041024}"/>
              </a:ext>
            </a:extLst>
          </p:cNvPr>
          <p:cNvSpPr>
            <a:spLocks noGrp="1"/>
          </p:cNvSpPr>
          <p:nvPr>
            <p:ph type="ftr" sz="quarter" idx="11"/>
          </p:nvPr>
        </p:nvSpPr>
        <p:spPr/>
        <p:txBody>
          <a:bodyPr/>
          <a:lstStyle/>
          <a:p>
            <a:r>
              <a:rPr lang="zh-CN" altLang="en-US"/>
              <a:t>华东理工大学 罗勇军</a:t>
            </a:r>
          </a:p>
        </p:txBody>
      </p:sp>
      <p:sp>
        <p:nvSpPr>
          <p:cNvPr id="7" name="灯片编号占位符 6">
            <a:extLst>
              <a:ext uri="{FF2B5EF4-FFF2-40B4-BE49-F238E27FC236}">
                <a16:creationId xmlns:a16="http://schemas.microsoft.com/office/drawing/2014/main" id="{A1346969-FD6B-4D1F-89FD-0C8EBCC1999B}"/>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2174407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A1383-B422-4680-A0F8-5DFD729A08E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A9BC39B-2D77-4B0B-9ACF-C366DF3EAD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3E619F4-8857-4618-8AE4-83F851D8F4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D924A66-E039-41AF-A5C2-5BD5E6ECC361}"/>
              </a:ext>
            </a:extLst>
          </p:cNvPr>
          <p:cNvSpPr>
            <a:spLocks noGrp="1"/>
          </p:cNvSpPr>
          <p:nvPr>
            <p:ph type="dt" sz="half" idx="10"/>
          </p:nvPr>
        </p:nvSpPr>
        <p:spPr/>
        <p:txBody>
          <a:bodyPr/>
          <a:lstStyle/>
          <a:p>
            <a:fld id="{B17A7E55-A4F6-4999-A40B-CDAE68B284C1}" type="datetime1">
              <a:rPr lang="zh-CN" altLang="en-US" smtClean="0"/>
              <a:t>2024/5/10</a:t>
            </a:fld>
            <a:endParaRPr lang="zh-CN" altLang="en-US"/>
          </a:p>
        </p:txBody>
      </p:sp>
      <p:sp>
        <p:nvSpPr>
          <p:cNvPr id="6" name="页脚占位符 5">
            <a:extLst>
              <a:ext uri="{FF2B5EF4-FFF2-40B4-BE49-F238E27FC236}">
                <a16:creationId xmlns:a16="http://schemas.microsoft.com/office/drawing/2014/main" id="{8A4BC89A-CEFA-425F-B0AB-2A15CE260149}"/>
              </a:ext>
            </a:extLst>
          </p:cNvPr>
          <p:cNvSpPr>
            <a:spLocks noGrp="1"/>
          </p:cNvSpPr>
          <p:nvPr>
            <p:ph type="ftr" sz="quarter" idx="11"/>
          </p:nvPr>
        </p:nvSpPr>
        <p:spPr/>
        <p:txBody>
          <a:bodyPr/>
          <a:lstStyle/>
          <a:p>
            <a:r>
              <a:rPr lang="zh-CN" altLang="en-US"/>
              <a:t>华东理工大学 罗勇军</a:t>
            </a:r>
          </a:p>
        </p:txBody>
      </p:sp>
      <p:sp>
        <p:nvSpPr>
          <p:cNvPr id="7" name="灯片编号占位符 6">
            <a:extLst>
              <a:ext uri="{FF2B5EF4-FFF2-40B4-BE49-F238E27FC236}">
                <a16:creationId xmlns:a16="http://schemas.microsoft.com/office/drawing/2014/main" id="{91205E3E-00AF-4B8D-BEE8-C526559A0A7C}"/>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622055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66994A-4F47-4A8C-85EB-6828F8EA5A8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E1C5012-C01F-48DE-94EC-956BD273975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113E8F8-E8F8-4CF0-BD5A-754BD5DCCF34}"/>
              </a:ext>
            </a:extLst>
          </p:cNvPr>
          <p:cNvSpPr>
            <a:spLocks noGrp="1"/>
          </p:cNvSpPr>
          <p:nvPr>
            <p:ph type="dt" sz="half" idx="10"/>
          </p:nvPr>
        </p:nvSpPr>
        <p:spPr/>
        <p:txBody>
          <a:bodyPr/>
          <a:lstStyle/>
          <a:p>
            <a:fld id="{53031DD8-3BE4-41EA-B85F-25CE94CE7E75}" type="datetime1">
              <a:rPr lang="zh-CN" altLang="en-US" smtClean="0"/>
              <a:t>2024/5/10</a:t>
            </a:fld>
            <a:endParaRPr lang="zh-CN" altLang="en-US"/>
          </a:p>
        </p:txBody>
      </p:sp>
      <p:sp>
        <p:nvSpPr>
          <p:cNvPr id="5" name="页脚占位符 4">
            <a:extLst>
              <a:ext uri="{FF2B5EF4-FFF2-40B4-BE49-F238E27FC236}">
                <a16:creationId xmlns:a16="http://schemas.microsoft.com/office/drawing/2014/main" id="{2700D0BF-26C3-4A56-A3C7-2ED586A6AE47}"/>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115E7682-BEAE-437B-8780-F5016D6A2805}"/>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2703089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15CC12D-03AC-4DB4-9D58-9D0DBC1479E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C51A0C4-5809-4033-8E3F-A8B0B43E338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26E71E-661E-4BC2-9C53-99F2F7DD9906}"/>
              </a:ext>
            </a:extLst>
          </p:cNvPr>
          <p:cNvSpPr>
            <a:spLocks noGrp="1"/>
          </p:cNvSpPr>
          <p:nvPr>
            <p:ph type="dt" sz="half" idx="10"/>
          </p:nvPr>
        </p:nvSpPr>
        <p:spPr/>
        <p:txBody>
          <a:bodyPr/>
          <a:lstStyle/>
          <a:p>
            <a:fld id="{EFC770E4-4BB3-464C-8C1F-E5AB05B66E11}" type="datetime1">
              <a:rPr lang="zh-CN" altLang="en-US" smtClean="0"/>
              <a:t>2024/5/10</a:t>
            </a:fld>
            <a:endParaRPr lang="zh-CN" altLang="en-US"/>
          </a:p>
        </p:txBody>
      </p:sp>
      <p:sp>
        <p:nvSpPr>
          <p:cNvPr id="5" name="页脚占位符 4">
            <a:extLst>
              <a:ext uri="{FF2B5EF4-FFF2-40B4-BE49-F238E27FC236}">
                <a16:creationId xmlns:a16="http://schemas.microsoft.com/office/drawing/2014/main" id="{1868A5A8-46D3-4E9C-AA2D-74555DDC5DD5}"/>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4BB1C9CF-9E8A-4283-A9AB-D7B2F8D9D20C}"/>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826600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1031604-5912-4115-B09C-86E853762C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C4E87EC-8BA5-438E-AAE0-E98A4D5D26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41A3949-B522-40E7-878E-BA86016C5F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6DBBC4-B19E-4219-9E86-C6A5D6ADB37A}" type="datetime1">
              <a:rPr lang="zh-CN" altLang="en-US" smtClean="0"/>
              <a:t>2024/5/10</a:t>
            </a:fld>
            <a:endParaRPr lang="zh-CN" altLang="en-US"/>
          </a:p>
        </p:txBody>
      </p:sp>
      <p:sp>
        <p:nvSpPr>
          <p:cNvPr id="5" name="页脚占位符 4">
            <a:extLst>
              <a:ext uri="{FF2B5EF4-FFF2-40B4-BE49-F238E27FC236}">
                <a16:creationId xmlns:a16="http://schemas.microsoft.com/office/drawing/2014/main" id="{5EBAAADC-80B5-480B-9307-C10F894DFE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华东理工大学 罗勇军</a:t>
            </a:r>
          </a:p>
        </p:txBody>
      </p:sp>
      <p:sp>
        <p:nvSpPr>
          <p:cNvPr id="6" name="灯片编号占位符 5">
            <a:extLst>
              <a:ext uri="{FF2B5EF4-FFF2-40B4-BE49-F238E27FC236}">
                <a16:creationId xmlns:a16="http://schemas.microsoft.com/office/drawing/2014/main" id="{533DF350-80E3-4A4A-B02D-0BEF4B5C92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21814726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Hill_climbing" TargetMode="External"/><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hyperlink" Target="https://en.wikipedia.org/wiki/Hill_climbing_algorithm#Local_maxima"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Strange%20Function.pdf"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355490-83FA-48E5-885A-6017D9CD2029}"/>
              </a:ext>
            </a:extLst>
          </p:cNvPr>
          <p:cNvSpPr>
            <a:spLocks noGrp="1"/>
          </p:cNvSpPr>
          <p:nvPr>
            <p:ph type="title"/>
          </p:nvPr>
        </p:nvSpPr>
        <p:spPr/>
        <p:txBody>
          <a:bodyPr/>
          <a:lstStyle/>
          <a:p>
            <a:r>
              <a:rPr lang="en-US" altLang="zh-CN" dirty="0"/>
              <a:t>Simulated annealing (Random &amp; Greedy)</a:t>
            </a:r>
            <a:endParaRPr lang="zh-CN" altLang="en-US" dirty="0"/>
          </a:p>
        </p:txBody>
      </p:sp>
      <p:sp>
        <p:nvSpPr>
          <p:cNvPr id="3" name="内容占位符 2">
            <a:extLst>
              <a:ext uri="{FF2B5EF4-FFF2-40B4-BE49-F238E27FC236}">
                <a16:creationId xmlns:a16="http://schemas.microsoft.com/office/drawing/2014/main" id="{649251E2-FB75-4ACE-8B80-7349A04CDE70}"/>
              </a:ext>
            </a:extLst>
          </p:cNvPr>
          <p:cNvSpPr>
            <a:spLocks noGrp="1"/>
          </p:cNvSpPr>
          <p:nvPr>
            <p:ph idx="1"/>
          </p:nvPr>
        </p:nvSpPr>
        <p:spPr/>
        <p:txBody>
          <a:bodyPr/>
          <a:lstStyle/>
          <a:p>
            <a:r>
              <a:rPr lang="en-US" altLang="zh-CN"/>
              <a:t>Simulated annealing is a </a:t>
            </a:r>
            <a:r>
              <a:rPr lang="en-US" altLang="zh-CN">
                <a:solidFill>
                  <a:srgbClr val="FF0000"/>
                </a:solidFill>
              </a:rPr>
              <a:t>probabilistic</a:t>
            </a:r>
            <a:r>
              <a:rPr lang="en-US" altLang="zh-CN"/>
              <a:t> technique for </a:t>
            </a:r>
            <a:r>
              <a:rPr lang="en-US" altLang="zh-CN">
                <a:solidFill>
                  <a:srgbClr val="FF0000"/>
                </a:solidFill>
              </a:rPr>
              <a:t>approximating the global optimum</a:t>
            </a:r>
            <a:r>
              <a:rPr lang="en-US" altLang="zh-CN"/>
              <a:t> of a given function. </a:t>
            </a:r>
          </a:p>
          <a:p>
            <a:r>
              <a:rPr lang="en-US" altLang="zh-CN"/>
              <a:t>Specifically, it is a metaheuristic to </a:t>
            </a:r>
            <a:r>
              <a:rPr lang="en-US" altLang="zh-CN" b="1">
                <a:solidFill>
                  <a:srgbClr val="FF0000"/>
                </a:solidFill>
              </a:rPr>
              <a:t>approximate</a:t>
            </a:r>
            <a:r>
              <a:rPr lang="en-US" altLang="zh-CN"/>
              <a:t> global optimization in a large search space for an optimization problem. It is often used when the search space is discrete (e.g., the traveling salesman problem). </a:t>
            </a:r>
          </a:p>
          <a:p>
            <a:r>
              <a:rPr lang="en-US" altLang="zh-CN"/>
              <a:t>For problems where finding an approximate global optimum is more important than finding a precise local optimum in a fixed amount of time, simulated annealing may be preferable to exact algorithms such as </a:t>
            </a:r>
            <a:r>
              <a:rPr lang="en-US" altLang="zh-CN">
                <a:solidFill>
                  <a:srgbClr val="FF0000"/>
                </a:solidFill>
              </a:rPr>
              <a:t>gradient descent</a:t>
            </a:r>
            <a:r>
              <a:rPr lang="en-US" altLang="zh-CN"/>
              <a:t>.</a:t>
            </a:r>
            <a:endParaRPr lang="zh-CN" altLang="en-US"/>
          </a:p>
        </p:txBody>
      </p:sp>
    </p:spTree>
    <p:extLst>
      <p:ext uri="{BB962C8B-B14F-4D97-AF65-F5344CB8AC3E}">
        <p14:creationId xmlns:p14="http://schemas.microsoft.com/office/powerpoint/2010/main" val="3288400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D85A81-D2AC-43F0-9C12-6152FB566B54}"/>
              </a:ext>
            </a:extLst>
          </p:cNvPr>
          <p:cNvSpPr>
            <a:spLocks noGrp="1"/>
          </p:cNvSpPr>
          <p:nvPr>
            <p:ph type="title"/>
          </p:nvPr>
        </p:nvSpPr>
        <p:spPr/>
        <p:txBody>
          <a:bodyPr/>
          <a:lstStyle/>
          <a:p>
            <a:r>
              <a:rPr lang="en-US" altLang="zh-CN"/>
              <a:t>Overview</a:t>
            </a:r>
            <a:endParaRPr lang="zh-CN" altLang="en-US"/>
          </a:p>
        </p:txBody>
      </p:sp>
      <p:sp>
        <p:nvSpPr>
          <p:cNvPr id="3" name="内容占位符 2">
            <a:extLst>
              <a:ext uri="{FF2B5EF4-FFF2-40B4-BE49-F238E27FC236}">
                <a16:creationId xmlns:a16="http://schemas.microsoft.com/office/drawing/2014/main" id="{8BC0ADD4-6D2F-4886-A3AA-1DF1F5461DD2}"/>
              </a:ext>
            </a:extLst>
          </p:cNvPr>
          <p:cNvSpPr>
            <a:spLocks noGrp="1"/>
          </p:cNvSpPr>
          <p:nvPr>
            <p:ph idx="1"/>
          </p:nvPr>
        </p:nvSpPr>
        <p:spPr/>
        <p:txBody>
          <a:bodyPr>
            <a:normAutofit/>
          </a:bodyPr>
          <a:lstStyle/>
          <a:p>
            <a:r>
              <a:rPr lang="en-US" altLang="zh-CN"/>
              <a:t>In general, simulated annealing algorithms work as follows. The temperature progressively decreases from an initial positive value to zero. At each time step, the algorithm </a:t>
            </a:r>
            <a:r>
              <a:rPr lang="en-US" altLang="zh-CN">
                <a:solidFill>
                  <a:srgbClr val="FF0000"/>
                </a:solidFill>
              </a:rPr>
              <a:t>randomly </a:t>
            </a:r>
            <a:r>
              <a:rPr lang="en-US" altLang="zh-CN"/>
              <a:t>selects a solution close to the current one, measures its quality, and moves to it according to the temperature-dependent probabilities of selecting better or worse solutions.</a:t>
            </a:r>
          </a:p>
          <a:p>
            <a:r>
              <a:rPr lang="en-US" altLang="zh-CN"/>
              <a:t>The state of some physical systems, and the function E(s) to be minimized, is analogous to the internal energy of the system in that state. The goal is to bring the system, </a:t>
            </a:r>
            <a:r>
              <a:rPr lang="en-US" altLang="zh-CN">
                <a:solidFill>
                  <a:srgbClr val="FF0000"/>
                </a:solidFill>
              </a:rPr>
              <a:t>from an arbitrary initial state, to a state with the minimum possible energy</a:t>
            </a:r>
            <a:r>
              <a:rPr lang="en-US" altLang="zh-CN"/>
              <a:t>.</a:t>
            </a:r>
            <a:endParaRPr lang="zh-CN" altLang="en-US"/>
          </a:p>
        </p:txBody>
      </p:sp>
    </p:spTree>
    <p:extLst>
      <p:ext uri="{BB962C8B-B14F-4D97-AF65-F5344CB8AC3E}">
        <p14:creationId xmlns:p14="http://schemas.microsoft.com/office/powerpoint/2010/main" val="3706853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144D1D-B653-4108-9550-5396B04A12D9}"/>
              </a:ext>
            </a:extLst>
          </p:cNvPr>
          <p:cNvSpPr>
            <a:spLocks noGrp="1"/>
          </p:cNvSpPr>
          <p:nvPr>
            <p:ph type="title"/>
          </p:nvPr>
        </p:nvSpPr>
        <p:spPr/>
        <p:txBody>
          <a:bodyPr/>
          <a:lstStyle/>
          <a:p>
            <a:r>
              <a:rPr lang="en-US" altLang="zh-CN"/>
              <a:t>Hill Climbing </a:t>
            </a:r>
            <a:r>
              <a:rPr lang="en-US" altLang="zh-CN" sz="2000"/>
              <a:t>(greedy)</a:t>
            </a:r>
            <a:r>
              <a:rPr lang="en-US" altLang="zh-CN"/>
              <a:t> &amp; Simulated Annealing</a:t>
            </a:r>
            <a:endParaRPr lang="zh-CN" altLang="en-US"/>
          </a:p>
        </p:txBody>
      </p:sp>
      <p:sp>
        <p:nvSpPr>
          <p:cNvPr id="6" name="内容占位符 5">
            <a:extLst>
              <a:ext uri="{FF2B5EF4-FFF2-40B4-BE49-F238E27FC236}">
                <a16:creationId xmlns:a16="http://schemas.microsoft.com/office/drawing/2014/main" id="{28E2CDBA-8F55-440A-84CD-5C91693B208B}"/>
              </a:ext>
            </a:extLst>
          </p:cNvPr>
          <p:cNvSpPr>
            <a:spLocks noGrp="1"/>
          </p:cNvSpPr>
          <p:nvPr>
            <p:ph idx="1"/>
          </p:nvPr>
        </p:nvSpPr>
        <p:spPr/>
        <p:txBody>
          <a:bodyPr/>
          <a:lstStyle/>
          <a:p>
            <a:pPr marL="0" indent="0">
              <a:buNone/>
            </a:pPr>
            <a:r>
              <a:rPr lang="en-US" altLang="zh-CN" sz="2000"/>
              <a:t>Simple heuristics like </a:t>
            </a:r>
            <a:r>
              <a:rPr lang="en-US" altLang="zh-CN" sz="2000">
                <a:solidFill>
                  <a:srgbClr val="FF0000"/>
                </a:solidFill>
              </a:rPr>
              <a:t>hill climbing, which move by finding better neighbour after better neighbour </a:t>
            </a:r>
            <a:r>
              <a:rPr lang="en-US" altLang="zh-CN" sz="2000"/>
              <a:t>and stop when they have reached a solution which has no neighbours that are better solutions, cannot guarantee to lead to any of the existing better solutions – their outcome may easily be just a local optimum, while the actual best solution would be a global optimum that could be different. Metaheuristics use the neighbours of a solution as a way to explore the solution space, and </a:t>
            </a:r>
            <a:r>
              <a:rPr lang="en-US" altLang="zh-CN" sz="2000">
                <a:solidFill>
                  <a:srgbClr val="FF0000"/>
                </a:solidFill>
              </a:rPr>
              <a:t>although they prefer better neighbours, they also accept worse neighbours in order to avoid getting stuck in local optima</a:t>
            </a:r>
            <a:r>
              <a:rPr lang="en-US" altLang="zh-CN" sz="2000"/>
              <a:t>; they can find the global optimum if run for a long enough amount of time.</a:t>
            </a:r>
          </a:p>
        </p:txBody>
      </p:sp>
      <p:pic>
        <p:nvPicPr>
          <p:cNvPr id="5" name="图片 4">
            <a:extLst>
              <a:ext uri="{FF2B5EF4-FFF2-40B4-BE49-F238E27FC236}">
                <a16:creationId xmlns:a16="http://schemas.microsoft.com/office/drawing/2014/main" id="{074FCE0D-70F3-4D35-8060-54130EC69550}"/>
              </a:ext>
            </a:extLst>
          </p:cNvPr>
          <p:cNvPicPr>
            <a:picLocks noChangeAspect="1"/>
          </p:cNvPicPr>
          <p:nvPr/>
        </p:nvPicPr>
        <p:blipFill>
          <a:blip r:embed="rId2"/>
          <a:stretch>
            <a:fillRect/>
          </a:stretch>
        </p:blipFill>
        <p:spPr>
          <a:xfrm>
            <a:off x="5781048" y="4001294"/>
            <a:ext cx="6150541" cy="2763947"/>
          </a:xfrm>
          <a:prstGeom prst="rect">
            <a:avLst/>
          </a:prstGeom>
        </p:spPr>
      </p:pic>
    </p:spTree>
    <p:extLst>
      <p:ext uri="{BB962C8B-B14F-4D97-AF65-F5344CB8AC3E}">
        <p14:creationId xmlns:p14="http://schemas.microsoft.com/office/powerpoint/2010/main" val="23361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DE58A3B-A87F-4288-B15B-0FCA92057E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4750" y="1019868"/>
            <a:ext cx="4762500" cy="1533525"/>
          </a:xfrm>
          <a:prstGeom prst="rect">
            <a:avLst/>
          </a:prstGeom>
        </p:spPr>
      </p:pic>
      <p:sp>
        <p:nvSpPr>
          <p:cNvPr id="7" name="文本框 6">
            <a:extLst>
              <a:ext uri="{FF2B5EF4-FFF2-40B4-BE49-F238E27FC236}">
                <a16:creationId xmlns:a16="http://schemas.microsoft.com/office/drawing/2014/main" id="{68D17946-03BF-45A0-BF2B-BB61A0DBFC68}"/>
              </a:ext>
            </a:extLst>
          </p:cNvPr>
          <p:cNvSpPr txBox="1"/>
          <p:nvPr/>
        </p:nvSpPr>
        <p:spPr>
          <a:xfrm>
            <a:off x="3153792" y="2941130"/>
            <a:ext cx="6094520" cy="1477328"/>
          </a:xfrm>
          <a:prstGeom prst="rect">
            <a:avLst/>
          </a:prstGeom>
          <a:noFill/>
        </p:spPr>
        <p:txBody>
          <a:bodyPr wrap="square">
            <a:spAutoFit/>
          </a:bodyPr>
          <a:lstStyle/>
          <a:p>
            <a:r>
              <a:rPr lang="en-US" altLang="zh-CN" b="0" i="0">
                <a:solidFill>
                  <a:srgbClr val="202122"/>
                </a:solidFill>
                <a:effectLst/>
                <a:latin typeface="Arial" panose="020B0604020202020204" pitchFamily="34" charset="0"/>
              </a:rPr>
              <a:t>Simulated annealing searching for a maximum. The objective here is to get to the highest point; however, it is not enough to use a simple </a:t>
            </a:r>
            <a:r>
              <a:rPr lang="en-US" altLang="zh-CN" b="0" i="0" u="none" strike="noStrike">
                <a:solidFill>
                  <a:srgbClr val="0645AD"/>
                </a:solidFill>
                <a:effectLst/>
                <a:latin typeface="Arial" panose="020B0604020202020204" pitchFamily="34" charset="0"/>
                <a:hlinkClick r:id="rId3" tooltip="Hill climbing"/>
              </a:rPr>
              <a:t>hill climb algorithm</a:t>
            </a:r>
            <a:r>
              <a:rPr lang="en-US" altLang="zh-CN" b="0" i="0">
                <a:solidFill>
                  <a:srgbClr val="202122"/>
                </a:solidFill>
                <a:effectLst/>
                <a:latin typeface="Arial" panose="020B0604020202020204" pitchFamily="34" charset="0"/>
              </a:rPr>
              <a:t>, as there are many </a:t>
            </a:r>
            <a:r>
              <a:rPr lang="en-US" altLang="zh-CN" b="0" i="0" u="none" strike="noStrike">
                <a:solidFill>
                  <a:srgbClr val="0645AD"/>
                </a:solidFill>
                <a:effectLst/>
                <a:latin typeface="Arial" panose="020B0604020202020204" pitchFamily="34" charset="0"/>
                <a:hlinkClick r:id="rId4" tooltip="Hill climbing algorithm"/>
              </a:rPr>
              <a:t>local maxima</a:t>
            </a:r>
            <a:r>
              <a:rPr lang="en-US" altLang="zh-CN" b="0" i="0">
                <a:solidFill>
                  <a:srgbClr val="202122"/>
                </a:solidFill>
                <a:effectLst/>
                <a:latin typeface="Arial" panose="020B0604020202020204" pitchFamily="34" charset="0"/>
              </a:rPr>
              <a:t>. By cooling the temperature slowly the global maximum is found.</a:t>
            </a:r>
            <a:endParaRPr lang="zh-CN" altLang="en-US"/>
          </a:p>
        </p:txBody>
      </p:sp>
    </p:spTree>
    <p:extLst>
      <p:ext uri="{BB962C8B-B14F-4D97-AF65-F5344CB8AC3E}">
        <p14:creationId xmlns:p14="http://schemas.microsoft.com/office/powerpoint/2010/main" val="534788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文本框 9217">
            <a:extLst>
              <a:ext uri="{FF2B5EF4-FFF2-40B4-BE49-F238E27FC236}">
                <a16:creationId xmlns:a16="http://schemas.microsoft.com/office/drawing/2014/main" id="{4C91AD0D-FCD3-4406-ACE8-3CBA73806E1E}"/>
              </a:ext>
            </a:extLst>
          </p:cNvPr>
          <p:cNvSpPr txBox="1">
            <a:spLocks noChangeArrowheads="1"/>
          </p:cNvSpPr>
          <p:nvPr/>
        </p:nvSpPr>
        <p:spPr bwMode="auto">
          <a:xfrm>
            <a:off x="2895600" y="762001"/>
            <a:ext cx="6553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ctr" eaLnBrk="1" hangingPunct="1">
              <a:spcBef>
                <a:spcPct val="50000"/>
              </a:spcBef>
            </a:pPr>
            <a:r>
              <a:rPr lang="en-US" altLang="zh-CN" sz="3600">
                <a:solidFill>
                  <a:srgbClr val="0070C0"/>
                </a:solidFill>
                <a:latin typeface="Times New Roman" panose="02020603050405020304" pitchFamily="18" charset="0"/>
                <a:ea typeface="宋体" panose="02010600030101010101" pitchFamily="2" charset="-122"/>
                <a:sym typeface="+mn-ea"/>
              </a:rPr>
              <a:t>Main steps of simulated annealing </a:t>
            </a:r>
            <a:endParaRPr lang="zh-CN" altLang="en-US" sz="3600" b="1">
              <a:solidFill>
                <a:srgbClr val="0070C0"/>
              </a:solidFill>
              <a:latin typeface="Times New Roman" panose="02020603050405020304" pitchFamily="18" charset="0"/>
              <a:ea typeface="宋体" panose="02010600030101010101" pitchFamily="2" charset="-122"/>
            </a:endParaRPr>
          </a:p>
        </p:txBody>
      </p:sp>
      <p:sp>
        <p:nvSpPr>
          <p:cNvPr id="38915" name="文本框 9218">
            <a:extLst>
              <a:ext uri="{FF2B5EF4-FFF2-40B4-BE49-F238E27FC236}">
                <a16:creationId xmlns:a16="http://schemas.microsoft.com/office/drawing/2014/main" id="{849C7194-1A07-4519-9848-F81F160DB26A}"/>
              </a:ext>
            </a:extLst>
          </p:cNvPr>
          <p:cNvSpPr txBox="1">
            <a:spLocks noChangeArrowheads="1"/>
          </p:cNvSpPr>
          <p:nvPr/>
        </p:nvSpPr>
        <p:spPr bwMode="auto">
          <a:xfrm>
            <a:off x="2135188" y="1844676"/>
            <a:ext cx="8077200"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514350" indent="-514350" algn="just" eaLnBrk="1" hangingPunct="1">
              <a:spcBef>
                <a:spcPct val="50000"/>
              </a:spcBef>
              <a:buAutoNum type="arabicParenBoth"/>
            </a:pPr>
            <a:r>
              <a:rPr lang="en-US" altLang="zh-CN" sz="2800">
                <a:solidFill>
                  <a:schemeClr val="tx1"/>
                </a:solidFill>
                <a:latin typeface="Times New Roman" panose="02020603050405020304" pitchFamily="18" charset="0"/>
                <a:ea typeface="宋体" panose="02010600030101010101" pitchFamily="2" charset="-122"/>
              </a:rPr>
              <a:t>Set an initial temperature T.</a:t>
            </a:r>
          </a:p>
          <a:p>
            <a:pPr marL="514350" indent="-514350" algn="just" eaLnBrk="1" hangingPunct="1">
              <a:spcBef>
                <a:spcPct val="50000"/>
              </a:spcBef>
              <a:buAutoNum type="arabicParenBoth"/>
            </a:pPr>
            <a:r>
              <a:rPr lang="en-US" altLang="zh-CN" sz="2800">
                <a:solidFill>
                  <a:schemeClr val="tx1"/>
                </a:solidFill>
                <a:latin typeface="Times New Roman" panose="02020603050405020304" pitchFamily="18" charset="0"/>
                <a:ea typeface="宋体" panose="02010600030101010101" pitchFamily="2" charset="-122"/>
              </a:rPr>
              <a:t>The temperature drops and the state shifts. From the current temperature, decrease to the next temperature according to the cooling coefficient. At the new temperature, the current state is calculated.</a:t>
            </a:r>
          </a:p>
          <a:p>
            <a:pPr marL="514350" indent="-514350" algn="just" eaLnBrk="1" hangingPunct="1">
              <a:spcBef>
                <a:spcPct val="50000"/>
              </a:spcBef>
              <a:buAutoNum type="arabicParenBoth"/>
            </a:pPr>
            <a:r>
              <a:rPr lang="en-US" altLang="zh-CN" sz="2800">
                <a:solidFill>
                  <a:schemeClr val="tx1"/>
                </a:solidFill>
                <a:latin typeface="Times New Roman" panose="02020603050405020304" pitchFamily="18" charset="0"/>
                <a:ea typeface="宋体" panose="02010600030101010101" pitchFamily="2" charset="-122"/>
              </a:rPr>
              <a:t>If the temperature drops to the preset end temperature, the program terminates.</a:t>
            </a:r>
            <a:endParaRPr lang="zh-CN" altLang="en-US" sz="2800">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962487" y="2103437"/>
            <a:ext cx="10515600" cy="1325563"/>
          </a:xfrm>
        </p:spPr>
        <p:txBody>
          <a:bodyPr>
            <a:normAutofit/>
          </a:bodyPr>
          <a:lstStyle/>
          <a:p>
            <a:pPr algn="ctr"/>
            <a:r>
              <a:rPr lang="en-US" altLang="zh-CN" sz="4000">
                <a:hlinkClick r:id="rId2" action="ppaction://hlinkfile"/>
              </a:rPr>
              <a:t>Strange Function</a:t>
            </a:r>
            <a:endParaRPr lang="zh-CN" altLang="en-US" sz="4000" dirty="0"/>
          </a:p>
        </p:txBody>
      </p:sp>
    </p:spTree>
    <p:extLst>
      <p:ext uri="{BB962C8B-B14F-4D97-AF65-F5344CB8AC3E}">
        <p14:creationId xmlns:p14="http://schemas.microsoft.com/office/powerpoint/2010/main" val="2851863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文本框 9217">
            <a:extLst>
              <a:ext uri="{FF2B5EF4-FFF2-40B4-BE49-F238E27FC236}">
                <a16:creationId xmlns:a16="http://schemas.microsoft.com/office/drawing/2014/main" id="{A2D763DE-D151-4B5B-83CA-6A9B84A37838}"/>
              </a:ext>
            </a:extLst>
          </p:cNvPr>
          <p:cNvSpPr txBox="1">
            <a:spLocks noChangeArrowheads="1"/>
          </p:cNvSpPr>
          <p:nvPr/>
        </p:nvSpPr>
        <p:spPr bwMode="auto">
          <a:xfrm>
            <a:off x="2897188" y="762001"/>
            <a:ext cx="766286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ctr" eaLnBrk="1" hangingPunct="1">
              <a:spcBef>
                <a:spcPct val="50000"/>
              </a:spcBef>
            </a:pPr>
            <a:r>
              <a:rPr lang="en-US" altLang="zh-CN" sz="3600" b="1">
                <a:solidFill>
                  <a:srgbClr val="CC0000"/>
                </a:solidFill>
                <a:latin typeface="Times New Roman" panose="02020603050405020304" pitchFamily="18" charset="0"/>
                <a:ea typeface="宋体" panose="02010600030101010101" pitchFamily="2" charset="-122"/>
              </a:rPr>
              <a:t> </a:t>
            </a:r>
            <a:r>
              <a:rPr lang="en-US" altLang="zh-CN" sz="3600">
                <a:solidFill>
                  <a:srgbClr val="FF0000"/>
                </a:solidFill>
                <a:latin typeface="Times New Roman" panose="02020603050405020304" pitchFamily="18" charset="0"/>
                <a:ea typeface="宋体" panose="02010600030101010101" pitchFamily="2" charset="-122"/>
                <a:sym typeface="+mn-ea"/>
              </a:rPr>
              <a:t>Disadvantages</a:t>
            </a:r>
            <a:r>
              <a:rPr lang="en-US" altLang="zh-CN" sz="3600">
                <a:solidFill>
                  <a:schemeClr val="tx1"/>
                </a:solidFill>
                <a:latin typeface="Times New Roman" panose="02020603050405020304" pitchFamily="18" charset="0"/>
                <a:ea typeface="宋体" panose="02010600030101010101" pitchFamily="2" charset="-122"/>
                <a:sym typeface="+mn-ea"/>
              </a:rPr>
              <a:t> of simulated annealing</a:t>
            </a:r>
            <a:endParaRPr lang="zh-CN" altLang="zh-CN" sz="3600" b="1">
              <a:solidFill>
                <a:srgbClr val="FF0000"/>
              </a:solidFill>
              <a:latin typeface="Times New Roman" panose="02020603050405020304" pitchFamily="18" charset="0"/>
              <a:ea typeface="宋体" panose="02010600030101010101" pitchFamily="2" charset="-122"/>
              <a:sym typeface="+mn-ea"/>
            </a:endParaRPr>
          </a:p>
        </p:txBody>
      </p:sp>
      <p:sp>
        <p:nvSpPr>
          <p:cNvPr id="44035" name="文本框 9218">
            <a:extLst>
              <a:ext uri="{FF2B5EF4-FFF2-40B4-BE49-F238E27FC236}">
                <a16:creationId xmlns:a16="http://schemas.microsoft.com/office/drawing/2014/main" id="{8A0A035D-100F-48E5-B817-F08EE6ECF1AC}"/>
              </a:ext>
            </a:extLst>
          </p:cNvPr>
          <p:cNvSpPr txBox="1">
            <a:spLocks noChangeArrowheads="1"/>
          </p:cNvSpPr>
          <p:nvPr/>
        </p:nvSpPr>
        <p:spPr bwMode="auto">
          <a:xfrm>
            <a:off x="2135188" y="1844675"/>
            <a:ext cx="8424862" cy="289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just" eaLnBrk="1" hangingPunct="1">
              <a:spcBef>
                <a:spcPct val="50000"/>
              </a:spcBef>
            </a:pPr>
            <a:r>
              <a:rPr lang="en-US" altLang="zh-CN" sz="2800">
                <a:solidFill>
                  <a:schemeClr val="tx1"/>
                </a:solidFill>
                <a:latin typeface="Times New Roman" panose="02020603050405020304" pitchFamily="18" charset="0"/>
                <a:ea typeface="宋体" panose="02010600030101010101" pitchFamily="2" charset="-122"/>
              </a:rPr>
              <a:t>1. </a:t>
            </a:r>
            <a:r>
              <a:rPr lang="en-US" altLang="zh-CN" sz="2800">
                <a:solidFill>
                  <a:srgbClr val="FF0000"/>
                </a:solidFill>
                <a:latin typeface="Times New Roman" panose="02020603050405020304" pitchFamily="18" charset="0"/>
                <a:ea typeface="宋体" panose="02010600030101010101" pitchFamily="2" charset="-122"/>
              </a:rPr>
              <a:t>Not</a:t>
            </a:r>
            <a:r>
              <a:rPr lang="en-US" altLang="zh-CN" sz="2800">
                <a:solidFill>
                  <a:schemeClr val="tx1"/>
                </a:solidFill>
                <a:latin typeface="Times New Roman" panose="02020603050405020304" pitchFamily="18" charset="0"/>
                <a:ea typeface="宋体" panose="02010600030101010101" pitchFamily="2" charset="-122"/>
              </a:rPr>
              <a:t> a precise solution.</a:t>
            </a:r>
            <a:endParaRPr lang="zh-CN" altLang="zh-CN" sz="2800">
              <a:solidFill>
                <a:schemeClr val="tx1"/>
              </a:solidFill>
              <a:latin typeface="Times New Roman" panose="02020603050405020304" pitchFamily="18" charset="0"/>
              <a:ea typeface="宋体" panose="02010600030101010101" pitchFamily="2" charset="-122"/>
            </a:endParaRPr>
          </a:p>
          <a:p>
            <a:pPr algn="just" eaLnBrk="1" hangingPunct="1">
              <a:spcBef>
                <a:spcPct val="50000"/>
              </a:spcBef>
            </a:pPr>
            <a:r>
              <a:rPr lang="en-US" altLang="zh-CN" sz="2800">
                <a:solidFill>
                  <a:schemeClr val="tx1"/>
                </a:solidFill>
                <a:latin typeface="Times New Roman" panose="02020603050405020304" pitchFamily="18" charset="0"/>
                <a:ea typeface="宋体" panose="02010600030101010101" pitchFamily="2" charset="-122"/>
              </a:rPr>
              <a:t>2. The choices of </a:t>
            </a:r>
            <a:r>
              <a:rPr lang="en-US" altLang="zh-CN" sz="2800">
                <a:solidFill>
                  <a:srgbClr val="FF0000"/>
                </a:solidFill>
                <a:latin typeface="Times New Roman" panose="02020603050405020304" pitchFamily="18" charset="0"/>
                <a:ea typeface="宋体" panose="02010600030101010101" pitchFamily="2" charset="-122"/>
              </a:rPr>
              <a:t>T, delta and eps </a:t>
            </a:r>
            <a:r>
              <a:rPr lang="en-US" altLang="zh-CN" sz="2800">
                <a:solidFill>
                  <a:schemeClr val="tx1"/>
                </a:solidFill>
                <a:latin typeface="Times New Roman" panose="02020603050405020304" pitchFamily="18" charset="0"/>
                <a:ea typeface="宋体" panose="02010600030101010101" pitchFamily="2" charset="-122"/>
              </a:rPr>
              <a:t>can have a significant impact on the method’s performance. Unfortunately, there are no choices of these parameters that will be good for all problems, and there is no general way to find the best choices for a given problem.</a:t>
            </a:r>
            <a:endParaRPr lang="zh-CN" altLang="zh-CN" sz="2800">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C06AD-EBF3-4688-866A-606EDC221D13}"/>
              </a:ext>
            </a:extLst>
          </p:cNvPr>
          <p:cNvSpPr>
            <a:spLocks noGrp="1"/>
          </p:cNvSpPr>
          <p:nvPr>
            <p:ph type="title"/>
          </p:nvPr>
        </p:nvSpPr>
        <p:spPr/>
        <p:txBody>
          <a:bodyPr/>
          <a:lstStyle/>
          <a:p>
            <a:r>
              <a:rPr lang="en-US" altLang="zh-CN"/>
              <a:t>Randomized algorithm</a:t>
            </a:r>
            <a:endParaRPr lang="zh-CN" altLang="en-US"/>
          </a:p>
        </p:txBody>
      </p:sp>
      <p:sp>
        <p:nvSpPr>
          <p:cNvPr id="3" name="内容占位符 2">
            <a:extLst>
              <a:ext uri="{FF2B5EF4-FFF2-40B4-BE49-F238E27FC236}">
                <a16:creationId xmlns:a16="http://schemas.microsoft.com/office/drawing/2014/main" id="{AA17CB5A-581F-4E2E-94CE-19635B5A696A}"/>
              </a:ext>
            </a:extLst>
          </p:cNvPr>
          <p:cNvSpPr>
            <a:spLocks noGrp="1"/>
          </p:cNvSpPr>
          <p:nvPr>
            <p:ph idx="1"/>
          </p:nvPr>
        </p:nvSpPr>
        <p:spPr/>
        <p:txBody>
          <a:bodyPr>
            <a:normAutofit fontScale="92500" lnSpcReduction="20000"/>
          </a:bodyPr>
          <a:lstStyle/>
          <a:p>
            <a:r>
              <a:rPr lang="en-US" altLang="zh-CN"/>
              <a:t>A randomized algorithm is an algorithm that employs a degree of </a:t>
            </a:r>
            <a:r>
              <a:rPr lang="en-US" altLang="zh-CN">
                <a:solidFill>
                  <a:srgbClr val="FF0000"/>
                </a:solidFill>
              </a:rPr>
              <a:t>randomness</a:t>
            </a:r>
            <a:r>
              <a:rPr lang="en-US" altLang="zh-CN"/>
              <a:t> as part of its logic. The algorithm typically uses uniformly random bits as an auxiliary input to guide its behavior, in the hope of achieving good performance in the "average case" over all possible choices of random determined by the random bits; thus either the running time, or the output (or both) are random variables.</a:t>
            </a:r>
          </a:p>
          <a:p>
            <a:r>
              <a:rPr lang="en-US" altLang="zh-CN"/>
              <a:t>One has to distinguish between algorithms that use the random input so that they always terminate with the correct answer, but where the expected running time is finite (</a:t>
            </a:r>
            <a:r>
              <a:rPr lang="en-US" altLang="zh-CN">
                <a:solidFill>
                  <a:srgbClr val="FF0000"/>
                </a:solidFill>
              </a:rPr>
              <a:t>Las Vegas algorithms, </a:t>
            </a:r>
            <a:r>
              <a:rPr lang="en-US" altLang="zh-CN"/>
              <a:t>for example Quicksort), and algorithms which have a chance of producing an incorrect result (</a:t>
            </a:r>
            <a:r>
              <a:rPr lang="en-US" altLang="zh-CN">
                <a:solidFill>
                  <a:srgbClr val="FF0000"/>
                </a:solidFill>
              </a:rPr>
              <a:t>Monte Carlo algorithms</a:t>
            </a:r>
            <a:r>
              <a:rPr lang="en-US" altLang="zh-CN"/>
              <a:t>) or fail to produce a result either by signaling a failure or failing to terminate. In some cases, probabilistic algorithms are the only practical means of solving a problem.</a:t>
            </a:r>
            <a:endParaRPr lang="zh-CN" altLang="en-US"/>
          </a:p>
        </p:txBody>
      </p:sp>
    </p:spTree>
    <p:extLst>
      <p:ext uri="{BB962C8B-B14F-4D97-AF65-F5344CB8AC3E}">
        <p14:creationId xmlns:p14="http://schemas.microsoft.com/office/powerpoint/2010/main" val="229966023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1785</TotalTime>
  <Words>686</Words>
  <Application>Microsoft Office PowerPoint</Application>
  <PresentationFormat>宽屏</PresentationFormat>
  <Paragraphs>21</Paragraphs>
  <Slides>8</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8</vt:i4>
      </vt:variant>
    </vt:vector>
  </HeadingPairs>
  <TitlesOfParts>
    <vt:vector size="13" baseType="lpstr">
      <vt:lpstr>等线</vt:lpstr>
      <vt:lpstr>等线 Light</vt:lpstr>
      <vt:lpstr>Arial</vt:lpstr>
      <vt:lpstr>Times New Roman</vt:lpstr>
      <vt:lpstr>Office 主题​​</vt:lpstr>
      <vt:lpstr>Simulated annealing (Random &amp; Greedy)</vt:lpstr>
      <vt:lpstr>Overview</vt:lpstr>
      <vt:lpstr>Hill Climbing (greedy) &amp; Simulated Annealing</vt:lpstr>
      <vt:lpstr>PowerPoint 演示文稿</vt:lpstr>
      <vt:lpstr>PowerPoint 演示文稿</vt:lpstr>
      <vt:lpstr>Strange Function</vt:lpstr>
      <vt:lpstr>PowerPoint 演示文稿</vt:lpstr>
      <vt:lpstr>Randomized algorithm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greedy approach</dc:title>
  <dc:creator>Xu Yanyan</dc:creator>
  <cp:lastModifiedBy>艳艳 徐</cp:lastModifiedBy>
  <cp:revision>161</cp:revision>
  <dcterms:created xsi:type="dcterms:W3CDTF">2021-03-21T14:58:38Z</dcterms:created>
  <dcterms:modified xsi:type="dcterms:W3CDTF">2024-05-10T15:39:40Z</dcterms:modified>
</cp:coreProperties>
</file>