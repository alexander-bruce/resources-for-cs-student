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59" r:id="rId4"/>
    <p:sldId id="362" r:id="rId5"/>
    <p:sldId id="394" r:id="rId6"/>
    <p:sldId id="393" r:id="rId7"/>
    <p:sldId id="323" r:id="rId8"/>
    <p:sldId id="267" r:id="rId9"/>
    <p:sldId id="258" r:id="rId10"/>
    <p:sldId id="259" r:id="rId11"/>
    <p:sldId id="265" r:id="rId12"/>
    <p:sldId id="271" r:id="rId13"/>
    <p:sldId id="274" r:id="rId14"/>
    <p:sldId id="275" r:id="rId15"/>
    <p:sldId id="268" r:id="rId16"/>
    <p:sldId id="395" r:id="rId17"/>
    <p:sldId id="398" r:id="rId18"/>
    <p:sldId id="396" r:id="rId19"/>
    <p:sldId id="397" r:id="rId20"/>
    <p:sldId id="399" r:id="rId21"/>
    <p:sldId id="401" r:id="rId22"/>
    <p:sldId id="400" r:id="rId23"/>
    <p:sldId id="402" r:id="rId24"/>
    <p:sldId id="26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50F63-F00D-4446-9A6B-16EFEDF0C3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A21E838-7F09-4EAA-AE71-B8F114E0C4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DB491CA-7125-43C3-849F-32A8D0BB131A}"/>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EFBAF6F9-B006-4EC6-A112-310A04A27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908B54D-641C-4C3F-95F9-4BF9A5578E3B}"/>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4217334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A71B3B-8342-4DF8-B085-72EF37DE6E5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058F39B-75D8-434F-8912-CFDD60A9DBA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E15733-9F16-439E-9E5D-A021D2CC1B68}"/>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249CDAD6-BB9A-4CDE-B4E4-FC010FCD78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4E243E-CCE7-415E-A89F-D183A4FF85C5}"/>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2638299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E9E016-2CB9-4527-9D08-A3D1A0F7C69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31DEB71-AC6E-47C0-93C3-998BBCA2F9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AC6ED5B-1747-49D7-B844-FDBA3FE9C7D0}"/>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988FD09D-68BE-4EA2-8CD7-0E462F40E7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236092-85CF-44A3-9928-1F868FE273C3}"/>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3093534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19073-ED2B-4CD2-B065-81433DA103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3E7DC65-1A25-476F-86C1-CB1FFC4386D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2915E8D-A58D-436F-8203-61DC6F01D5E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2AA9E49-3B22-45C4-967B-B746AEE7C5B7}"/>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6" name="页脚占位符 5">
            <a:extLst>
              <a:ext uri="{FF2B5EF4-FFF2-40B4-BE49-F238E27FC236}">
                <a16:creationId xmlns:a16="http://schemas.microsoft.com/office/drawing/2014/main" id="{C5D005DD-3D28-4F26-AA93-25518059D6E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28C56F2-A9F8-42FA-9370-86AC11D5281F}"/>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2575663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DFB07C-8C16-4028-BC30-302245E3C2A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58FFBBD-2922-45C2-9AF6-2DAF30082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8C21060-D1A5-4A4D-B4FB-64FD77212F9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59DB388-B75A-490A-90D4-BCA275F965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983FDF2-068C-4E77-8DA0-CFC0299EA25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92E6B20-4176-47E5-B35C-6CB219099F39}"/>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8" name="页脚占位符 7">
            <a:extLst>
              <a:ext uri="{FF2B5EF4-FFF2-40B4-BE49-F238E27FC236}">
                <a16:creationId xmlns:a16="http://schemas.microsoft.com/office/drawing/2014/main" id="{6549F912-F15E-45CD-9CCF-AA2F8F97CB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E29BE80-F8CD-4C02-853F-83D23395D157}"/>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96236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CC211-3178-4392-996C-A2865A9678D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BD40369-7EF5-46BB-90F2-D4AAF0301329}"/>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4" name="页脚占位符 3">
            <a:extLst>
              <a:ext uri="{FF2B5EF4-FFF2-40B4-BE49-F238E27FC236}">
                <a16:creationId xmlns:a16="http://schemas.microsoft.com/office/drawing/2014/main" id="{1BD422F1-3590-49CB-BBBC-DC36173900A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2F22C87-3884-4886-9126-49E8E64DB7F4}"/>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2662082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43E50D-3D97-483F-A6C7-B5DD5D517662}"/>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3" name="页脚占位符 2">
            <a:extLst>
              <a:ext uri="{FF2B5EF4-FFF2-40B4-BE49-F238E27FC236}">
                <a16:creationId xmlns:a16="http://schemas.microsoft.com/office/drawing/2014/main" id="{949DA655-7CE5-40BF-8221-3A051BA7B08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780AD69-74C3-44EE-8130-CB29B75B39C0}"/>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1370869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CCB5C-1131-4810-BF8B-3FB1C2F3CE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747260B-1941-4FB6-9648-512B5BE56B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B0BE9A0-9B87-4A5D-A6AF-4CAB84EFD9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47B533E-3B16-4C24-9108-7EF59549C717}"/>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6" name="页脚占位符 5">
            <a:extLst>
              <a:ext uri="{FF2B5EF4-FFF2-40B4-BE49-F238E27FC236}">
                <a16:creationId xmlns:a16="http://schemas.microsoft.com/office/drawing/2014/main" id="{C695486A-CBA5-43CE-A509-9E68BE52A48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A26251-284F-4067-9FB0-5EB066D1B449}"/>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1425806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9722FE-DE5A-4EA0-9BD7-71461612870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F23BFB4-D550-48E5-9735-1B5B70C664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7B0A1B8-6D6C-4EAE-BA36-D6320B9554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8D0CBFF-C934-4BA9-9FB0-D82C37386E10}"/>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6" name="页脚占位符 5">
            <a:extLst>
              <a:ext uri="{FF2B5EF4-FFF2-40B4-BE49-F238E27FC236}">
                <a16:creationId xmlns:a16="http://schemas.microsoft.com/office/drawing/2014/main" id="{545C637C-E802-4D3B-AB2C-608ABB96810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062A512-971D-4A03-A295-8CBE4A03203B}"/>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2094425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B688BC-BDB1-4D8C-AFC8-C43B3A2B35F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D1CCA20-8961-4783-8136-F534CB4FB0D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93E41B6-A8DD-4A9D-A1A2-2E6139A0B0EA}"/>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C0EF9D07-3171-4C9B-9D73-69C5F2DAE0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CAE7E7-B106-4641-A469-0353D2C05044}"/>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3634594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A3E0614-8CB9-4955-96CB-9512992353C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F38CFF4-2DDF-44B9-9F55-BD448E03A38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863CC0-7615-42E6-B605-16D14BE2D631}"/>
              </a:ext>
            </a:extLst>
          </p:cNvPr>
          <p:cNvSpPr>
            <a:spLocks noGrp="1"/>
          </p:cNvSpPr>
          <p:nvPr>
            <p:ph type="dt" sz="half" idx="10"/>
          </p:nvPr>
        </p:nvSpPr>
        <p:spPr/>
        <p:txBody>
          <a:bodyPr/>
          <a:lstStyle/>
          <a:p>
            <a:fld id="{E8528ABB-8AC1-4BE3-99F9-46FA18B05F9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C22CE427-2B61-41E9-929C-33A8EB8A78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BCD752-7FD6-460E-A843-748994DA17DE}"/>
              </a:ext>
            </a:extLst>
          </p:cNvPr>
          <p:cNvSpPr>
            <a:spLocks noGrp="1"/>
          </p:cNvSpPr>
          <p:nvPr>
            <p:ph type="sldNum" sz="quarter" idx="12"/>
          </p:nvPr>
        </p:nvSpPr>
        <p:spPr/>
        <p:txBody>
          <a:body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3951578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07A6055-D243-4124-86EA-C5F300B547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BD72CA3-FA82-464F-BDEB-D67D77173D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FB4BC6-D97E-421F-A240-44D7B84B9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28ABB-8AC1-4BE3-99F9-46FA18B05F9C}" type="datetimeFigureOut">
              <a:rPr lang="zh-CN" altLang="en-US" smtClean="0"/>
              <a:t>2024/5/25</a:t>
            </a:fld>
            <a:endParaRPr lang="zh-CN" altLang="en-US"/>
          </a:p>
        </p:txBody>
      </p:sp>
      <p:sp>
        <p:nvSpPr>
          <p:cNvPr id="5" name="页脚占位符 4">
            <a:extLst>
              <a:ext uri="{FF2B5EF4-FFF2-40B4-BE49-F238E27FC236}">
                <a16:creationId xmlns:a16="http://schemas.microsoft.com/office/drawing/2014/main" id="{0BC54EC6-23EA-468D-9324-453730E002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5646C27-9BE7-4DED-A00B-2A29A51FED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9751B5-CB2D-4033-808C-D086A75EDC35}" type="slidenum">
              <a:rPr lang="zh-CN" altLang="en-US" smtClean="0"/>
              <a:t>‹#›</a:t>
            </a:fld>
            <a:endParaRPr lang="zh-CN" altLang="en-US"/>
          </a:p>
        </p:txBody>
      </p:sp>
    </p:spTree>
    <p:extLst>
      <p:ext uri="{BB962C8B-B14F-4D97-AF65-F5344CB8AC3E}">
        <p14:creationId xmlns:p14="http://schemas.microsoft.com/office/powerpoint/2010/main" val="1966641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Ants.pd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A37AA-68FA-40CF-947F-68122C23567A}"/>
              </a:ext>
            </a:extLst>
          </p:cNvPr>
          <p:cNvSpPr>
            <a:spLocks noGrp="1"/>
          </p:cNvSpPr>
          <p:nvPr>
            <p:ph type="ctrTitle"/>
          </p:nvPr>
        </p:nvSpPr>
        <p:spPr/>
        <p:txBody>
          <a:bodyPr/>
          <a:lstStyle/>
          <a:p>
            <a:r>
              <a:rPr lang="zh-CN" altLang="en-US" dirty="0"/>
              <a:t>分治</a:t>
            </a:r>
          </a:p>
        </p:txBody>
      </p:sp>
      <p:sp>
        <p:nvSpPr>
          <p:cNvPr id="3" name="副标题 2">
            <a:extLst>
              <a:ext uri="{FF2B5EF4-FFF2-40B4-BE49-F238E27FC236}">
                <a16:creationId xmlns:a16="http://schemas.microsoft.com/office/drawing/2014/main" id="{F17BCC86-B49C-4F5B-BDB6-62AD331523EB}"/>
              </a:ext>
            </a:extLst>
          </p:cNvPr>
          <p:cNvSpPr>
            <a:spLocks noGrp="1"/>
          </p:cNvSpPr>
          <p:nvPr>
            <p:ph type="subTitle" idx="1"/>
          </p:nvPr>
        </p:nvSpPr>
        <p:spPr/>
        <p:txBody>
          <a:bodyPr/>
          <a:lstStyle/>
          <a:p>
            <a:r>
              <a:rPr lang="en-US" altLang="zh-CN"/>
              <a:t>Xu Yanyan</a:t>
            </a:r>
            <a:endParaRPr lang="zh-CN" altLang="en-US"/>
          </a:p>
        </p:txBody>
      </p:sp>
    </p:spTree>
    <p:extLst>
      <p:ext uri="{BB962C8B-B14F-4D97-AF65-F5344CB8AC3E}">
        <p14:creationId xmlns:p14="http://schemas.microsoft.com/office/powerpoint/2010/main" val="361299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7BB7E9-9CD6-4070-96B1-D64C31F5B128}"/>
              </a:ext>
            </a:extLst>
          </p:cNvPr>
          <p:cNvSpPr>
            <a:spLocks noGrp="1"/>
          </p:cNvSpPr>
          <p:nvPr>
            <p:ph type="title"/>
          </p:nvPr>
        </p:nvSpPr>
        <p:spPr/>
        <p:txBody>
          <a:bodyPr/>
          <a:lstStyle/>
          <a:p>
            <a:r>
              <a:rPr lang="en-US" altLang="zh-CN" dirty="0"/>
              <a:t>Divide and Conquer</a:t>
            </a:r>
            <a:endParaRPr lang="zh-CN" altLang="en-US" dirty="0"/>
          </a:p>
        </p:txBody>
      </p:sp>
      <p:sp>
        <p:nvSpPr>
          <p:cNvPr id="3" name="内容占位符 2">
            <a:extLst>
              <a:ext uri="{FF2B5EF4-FFF2-40B4-BE49-F238E27FC236}">
                <a16:creationId xmlns:a16="http://schemas.microsoft.com/office/drawing/2014/main" id="{8DE51E42-6D50-4D6C-A4B6-F2461F591243}"/>
              </a:ext>
            </a:extLst>
          </p:cNvPr>
          <p:cNvSpPr>
            <a:spLocks noGrp="1"/>
          </p:cNvSpPr>
          <p:nvPr>
            <p:ph idx="1"/>
          </p:nvPr>
        </p:nvSpPr>
        <p:spPr/>
        <p:txBody>
          <a:bodyPr/>
          <a:lstStyle/>
          <a:p>
            <a:r>
              <a:rPr lang="zh-CN" altLang="en-US" dirty="0"/>
              <a:t>分治是一种算法设计范式。</a:t>
            </a:r>
            <a:endParaRPr lang="en-US" altLang="zh-CN" dirty="0"/>
          </a:p>
          <a:p>
            <a:r>
              <a:rPr lang="zh-CN" altLang="en-US" dirty="0"/>
              <a:t>分治算法递归地将一个问题分解为两个或多个相同或相关类型的子问题，直到这些子问题变得足够简单，可以直接求解。然后将子问题的解决方案组合起来，给出原始问题的解决方法。</a:t>
            </a:r>
          </a:p>
        </p:txBody>
      </p:sp>
    </p:spTree>
    <p:extLst>
      <p:ext uri="{BB962C8B-B14F-4D97-AF65-F5344CB8AC3E}">
        <p14:creationId xmlns:p14="http://schemas.microsoft.com/office/powerpoint/2010/main" val="401326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3">
            <a:extLst>
              <a:ext uri="{FF2B5EF4-FFF2-40B4-BE49-F238E27FC236}">
                <a16:creationId xmlns:a16="http://schemas.microsoft.com/office/drawing/2014/main" id="{C6F5FFDC-3626-47E3-A399-7F6743B1507B}"/>
              </a:ext>
            </a:extLst>
          </p:cNvPr>
          <p:cNvSpPr>
            <a:spLocks noGrp="1" noChangeArrowheads="1"/>
          </p:cNvSpPr>
          <p:nvPr>
            <p:ph type="title"/>
          </p:nvPr>
        </p:nvSpPr>
        <p:spPr/>
        <p:txBody>
          <a:bodyPr/>
          <a:lstStyle/>
          <a:p>
            <a:pPr eaLnBrk="1" hangingPunct="1"/>
            <a:r>
              <a:rPr lang="en-US" altLang="zh-CN" dirty="0"/>
              <a:t>Maximum Contiguous Sum (O(n</a:t>
            </a:r>
            <a:r>
              <a:rPr lang="en-US" altLang="zh-CN" baseline="30000" dirty="0"/>
              <a:t>3</a:t>
            </a:r>
            <a:r>
              <a:rPr lang="en-US" altLang="zh-CN" dirty="0"/>
              <a:t>))</a:t>
            </a:r>
            <a:endParaRPr lang="zh-CN" altLang="en-US" dirty="0"/>
          </a:p>
        </p:txBody>
      </p:sp>
      <p:sp>
        <p:nvSpPr>
          <p:cNvPr id="5" name="内容占位符 4">
            <a:extLst>
              <a:ext uri="{FF2B5EF4-FFF2-40B4-BE49-F238E27FC236}">
                <a16:creationId xmlns:a16="http://schemas.microsoft.com/office/drawing/2014/main" id="{854B0DB8-5D38-4342-97A1-0547D3D8A3C3}"/>
              </a:ext>
            </a:extLst>
          </p:cNvPr>
          <p:cNvSpPr>
            <a:spLocks noGrp="1"/>
          </p:cNvSpPr>
          <p:nvPr>
            <p:ph idx="1"/>
          </p:nvPr>
        </p:nvSpPr>
        <p:spPr/>
        <p:txBody>
          <a:bodyPr>
            <a:normAutofit fontScale="92500" lnSpcReduction="10000"/>
          </a:bodyPr>
          <a:lstStyle/>
          <a:p>
            <a:pPr>
              <a:defRPr/>
            </a:pPr>
            <a:r>
              <a:rPr lang="en-US" altLang="zh-CN" sz="1800" dirty="0"/>
              <a:t>Find </a:t>
            </a:r>
            <a:r>
              <a:rPr lang="en-US" altLang="zh-CN" sz="1800" dirty="0">
                <a:solidFill>
                  <a:srgbClr val="FF0000"/>
                </a:solidFill>
              </a:rPr>
              <a:t>the sum of a contiguous subsequence </a:t>
            </a:r>
            <a:r>
              <a:rPr lang="en-US" altLang="zh-CN" sz="1800" dirty="0"/>
              <a:t>in an integer sequence (A</a:t>
            </a:r>
            <a:r>
              <a:rPr lang="en-US" altLang="zh-CN" sz="1800" baseline="-25000" dirty="0"/>
              <a:t>1</a:t>
            </a:r>
            <a:r>
              <a:rPr lang="en-US" altLang="zh-CN" sz="1800" dirty="0"/>
              <a:t>,A</a:t>
            </a:r>
            <a:r>
              <a:rPr lang="en-US" altLang="zh-CN" sz="1800" baseline="-25000" dirty="0"/>
              <a:t>2</a:t>
            </a:r>
            <a:r>
              <a:rPr lang="en-US" altLang="zh-CN" sz="1800" dirty="0"/>
              <a:t>,…,A</a:t>
            </a:r>
            <a:r>
              <a:rPr lang="en-US" altLang="zh-CN" sz="1800" baseline="-25000" dirty="0"/>
              <a:t>n</a:t>
            </a:r>
            <a:r>
              <a:rPr lang="en-US" altLang="zh-CN" sz="1800" dirty="0"/>
              <a:t>) such that the sum of this subsequence is maximized.</a:t>
            </a:r>
          </a:p>
          <a:p>
            <a:pPr>
              <a:defRPr/>
            </a:pPr>
            <a:r>
              <a:rPr lang="en-US" altLang="zh-CN" sz="1800" dirty="0"/>
              <a:t>Brute force</a:t>
            </a:r>
          </a:p>
          <a:p>
            <a:pPr marL="0" indent="0">
              <a:buNone/>
              <a:defRPr/>
            </a:pPr>
            <a:r>
              <a:rPr lang="en-US" altLang="zh-CN" sz="1800" dirty="0"/>
              <a:t>	tot = 0; // Count the number of addition operations</a:t>
            </a:r>
          </a:p>
          <a:p>
            <a:pPr marL="0" indent="0" eaLnBrk="1" hangingPunct="1">
              <a:buFont typeface="Arial" panose="020B0604020202020204" pitchFamily="34" charset="0"/>
              <a:buNone/>
              <a:defRPr/>
            </a:pPr>
            <a:r>
              <a:rPr lang="en-US" altLang="zh-CN" sz="1800" dirty="0"/>
              <a:t>	best = A[1];</a:t>
            </a:r>
          </a:p>
          <a:p>
            <a:pPr marL="0" indent="0" eaLnBrk="1" hangingPunct="1">
              <a:buFont typeface="Arial" panose="020B0604020202020204" pitchFamily="34" charset="0"/>
              <a:buNone/>
              <a:defRPr/>
            </a:pPr>
            <a:r>
              <a:rPr lang="en-US" altLang="zh-CN" sz="1800" dirty="0"/>
              <a:t>	for (</a:t>
            </a:r>
            <a:r>
              <a:rPr lang="en-US" altLang="zh-CN" sz="1800" dirty="0" err="1"/>
              <a:t>int</a:t>
            </a:r>
            <a:r>
              <a:rPr lang="en-US" altLang="zh-CN" sz="1800" dirty="0"/>
              <a:t> </a:t>
            </a:r>
            <a:r>
              <a:rPr lang="en-US" altLang="zh-CN" sz="1800" dirty="0" err="1"/>
              <a:t>i</a:t>
            </a:r>
            <a:r>
              <a:rPr lang="en-US" altLang="zh-CN" sz="1800" dirty="0"/>
              <a:t> = 1; </a:t>
            </a:r>
            <a:r>
              <a:rPr lang="en-US" altLang="zh-CN" sz="1800" dirty="0" err="1"/>
              <a:t>i</a:t>
            </a:r>
            <a:r>
              <a:rPr lang="en-US" altLang="zh-CN" sz="1800" dirty="0"/>
              <a:t> &lt;= n; </a:t>
            </a:r>
            <a:r>
              <a:rPr lang="en-US" altLang="zh-CN" sz="1800" dirty="0" err="1"/>
              <a:t>i</a:t>
            </a:r>
            <a:r>
              <a:rPr lang="en-US" altLang="zh-CN" sz="1800" dirty="0"/>
              <a:t>++){</a:t>
            </a:r>
          </a:p>
          <a:p>
            <a:pPr marL="0" indent="0" eaLnBrk="1" hangingPunct="1">
              <a:buFont typeface="Arial" panose="020B0604020202020204" pitchFamily="34" charset="0"/>
              <a:buNone/>
              <a:defRPr/>
            </a:pPr>
            <a:r>
              <a:rPr lang="en-US" altLang="zh-CN" sz="1800" dirty="0"/>
              <a:t>		for (</a:t>
            </a:r>
            <a:r>
              <a:rPr lang="en-US" altLang="zh-CN" sz="1800" dirty="0" err="1"/>
              <a:t>int</a:t>
            </a:r>
            <a:r>
              <a:rPr lang="en-US" altLang="zh-CN" sz="1800" dirty="0"/>
              <a:t> j = </a:t>
            </a:r>
            <a:r>
              <a:rPr lang="en-US" altLang="zh-CN" sz="1800" dirty="0" err="1"/>
              <a:t>i</a:t>
            </a:r>
            <a:r>
              <a:rPr lang="en-US" altLang="zh-CN" sz="1800" dirty="0"/>
              <a:t>; j &lt;= n; j++){</a:t>
            </a:r>
          </a:p>
          <a:p>
            <a:pPr marL="0" indent="0" eaLnBrk="1" hangingPunct="1">
              <a:buFont typeface="Arial" panose="020B0604020202020204" pitchFamily="34" charset="0"/>
              <a:buNone/>
              <a:defRPr/>
            </a:pPr>
            <a:r>
              <a:rPr lang="en-US" altLang="zh-CN" sz="1800" dirty="0"/>
              <a:t>			</a:t>
            </a:r>
            <a:r>
              <a:rPr lang="en-US" altLang="zh-CN" sz="1800" dirty="0" err="1"/>
              <a:t>int</a:t>
            </a:r>
            <a:r>
              <a:rPr lang="en-US" altLang="zh-CN" sz="1800" dirty="0"/>
              <a:t> sum = 0;</a:t>
            </a:r>
          </a:p>
          <a:p>
            <a:pPr marL="0" indent="0" eaLnBrk="1" hangingPunct="1">
              <a:buFont typeface="Arial" panose="020B0604020202020204" pitchFamily="34" charset="0"/>
              <a:buNone/>
              <a:defRPr/>
            </a:pPr>
            <a:r>
              <a:rPr lang="en-US" altLang="zh-CN" sz="1800" dirty="0"/>
              <a:t>			for (</a:t>
            </a:r>
            <a:r>
              <a:rPr lang="en-US" altLang="zh-CN" sz="1800" dirty="0" err="1"/>
              <a:t>int</a:t>
            </a:r>
            <a:r>
              <a:rPr lang="en-US" altLang="zh-CN" sz="1800" dirty="0"/>
              <a:t> k = </a:t>
            </a:r>
            <a:r>
              <a:rPr lang="en-US" altLang="zh-CN" sz="1800" dirty="0" err="1"/>
              <a:t>i</a:t>
            </a:r>
            <a:r>
              <a:rPr lang="en-US" altLang="zh-CN" sz="1800" dirty="0"/>
              <a:t>; k &lt;= j; k++){ sum += A[k]; tot++; }</a:t>
            </a:r>
          </a:p>
          <a:p>
            <a:pPr marL="0" indent="0" eaLnBrk="1" hangingPunct="1">
              <a:buFont typeface="Arial" panose="020B0604020202020204" pitchFamily="34" charset="0"/>
              <a:buNone/>
              <a:defRPr/>
            </a:pPr>
            <a:r>
              <a:rPr lang="en-US" altLang="zh-CN" sz="1800" dirty="0"/>
              <a:t>			if (sum &gt; best) best = sum;</a:t>
            </a:r>
          </a:p>
          <a:p>
            <a:pPr marL="0" indent="0" eaLnBrk="1" hangingPunct="1">
              <a:buFont typeface="Arial" panose="020B0604020202020204" pitchFamily="34" charset="0"/>
              <a:buNone/>
              <a:defRPr/>
            </a:pPr>
            <a:r>
              <a:rPr lang="en-US" altLang="zh-CN" sz="1800" dirty="0"/>
              <a:t>		}</a:t>
            </a:r>
          </a:p>
          <a:p>
            <a:pPr marL="0" indent="0" eaLnBrk="1" hangingPunct="1">
              <a:buFont typeface="Arial" panose="020B0604020202020204" pitchFamily="34" charset="0"/>
              <a:buNone/>
              <a:defRPr/>
            </a:pPr>
            <a:r>
              <a:rPr lang="en-US" altLang="zh-CN" sz="1800" dirty="0"/>
              <a:t>	}</a:t>
            </a:r>
          </a:p>
          <a:p>
            <a:pPr marL="0" indent="0" eaLnBrk="1" hangingPunct="1">
              <a:buFont typeface="Arial" panose="020B0604020202020204" pitchFamily="34" charset="0"/>
              <a:buNone/>
              <a:defRPr/>
            </a:pPr>
            <a:r>
              <a:rPr lang="en-US" altLang="zh-CN" sz="1800" dirty="0">
                <a:solidFill>
                  <a:srgbClr val="FF0000"/>
                </a:solidFill>
              </a:rPr>
              <a:t>n=1000</a:t>
            </a:r>
            <a:r>
              <a:rPr lang="zh-CN" altLang="en-US" sz="1800" dirty="0">
                <a:solidFill>
                  <a:srgbClr val="FF0000"/>
                </a:solidFill>
              </a:rPr>
              <a:t>，</a:t>
            </a:r>
            <a:r>
              <a:rPr lang="en-US" altLang="zh-CN" sz="1800" dirty="0">
                <a:solidFill>
                  <a:srgbClr val="FF0000"/>
                </a:solidFill>
              </a:rPr>
              <a:t>tot = 167167000</a:t>
            </a:r>
            <a:endParaRPr lang="zh-CN" altLang="en-US" sz="1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 calcmode="lin" valueType="num">
                                      <p:cBhvr additive="base">
                                        <p:cTn id="3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 calcmode="lin" valueType="num">
                                      <p:cBhvr additive="base">
                                        <p:cTn id="4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5">
                                            <p:txEl>
                                              <p:pRg st="9" end="9"/>
                                            </p:txEl>
                                          </p:spTgt>
                                        </p:tgtEl>
                                        <p:attrNameLst>
                                          <p:attrName>style.visibility</p:attrName>
                                        </p:attrNameLst>
                                      </p:cBhvr>
                                      <p:to>
                                        <p:strVal val="visible"/>
                                      </p:to>
                                    </p:set>
                                    <p:anim calcmode="lin" valueType="num">
                                      <p:cBhvr additive="base">
                                        <p:cTn id="45"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
                                            <p:txEl>
                                              <p:pRg st="10" end="10"/>
                                            </p:txEl>
                                          </p:spTgt>
                                        </p:tgtEl>
                                        <p:attrNameLst>
                                          <p:attrName>style.visibility</p:attrName>
                                        </p:attrNameLst>
                                      </p:cBhvr>
                                      <p:to>
                                        <p:strVal val="visible"/>
                                      </p:to>
                                    </p:set>
                                    <p:anim calcmode="lin" valueType="num">
                                      <p:cBhvr additive="base">
                                        <p:cTn id="49"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
                                            <p:txEl>
                                              <p:pRg st="11" end="11"/>
                                            </p:txEl>
                                          </p:spTgt>
                                        </p:tgtEl>
                                        <p:attrNameLst>
                                          <p:attrName>style.visibility</p:attrName>
                                        </p:attrNameLst>
                                      </p:cBhvr>
                                      <p:to>
                                        <p:strVal val="visible"/>
                                      </p:to>
                                    </p:set>
                                    <p:anim calcmode="lin" valueType="num">
                                      <p:cBhvr additive="base">
                                        <p:cTn id="5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E27C967D-7024-4A38-8411-03FD34FFBA6B}"/>
              </a:ext>
            </a:extLst>
          </p:cNvPr>
          <p:cNvSpPr>
            <a:spLocks noGrp="1" noChangeArrowheads="1"/>
          </p:cNvSpPr>
          <p:nvPr>
            <p:ph type="title"/>
          </p:nvPr>
        </p:nvSpPr>
        <p:spPr/>
        <p:txBody>
          <a:bodyPr/>
          <a:lstStyle/>
          <a:p>
            <a:r>
              <a:rPr lang="en-US" altLang="zh-CN" dirty="0"/>
              <a:t>Maximum Contiguous Sum (O(n</a:t>
            </a:r>
            <a:r>
              <a:rPr lang="en-US" altLang="zh-CN" baseline="30000" dirty="0"/>
              <a:t>2</a:t>
            </a:r>
            <a:r>
              <a:rPr lang="en-US" altLang="zh-CN" dirty="0"/>
              <a:t>))</a:t>
            </a:r>
            <a:endParaRPr lang="zh-CN" altLang="en-US" dirty="0"/>
          </a:p>
        </p:txBody>
      </p:sp>
      <p:sp>
        <p:nvSpPr>
          <p:cNvPr id="4" name="内容占位符 3">
            <a:extLst>
              <a:ext uri="{FF2B5EF4-FFF2-40B4-BE49-F238E27FC236}">
                <a16:creationId xmlns:a16="http://schemas.microsoft.com/office/drawing/2014/main" id="{8BCF59AD-E26F-4B50-BAEE-20E99DF9E60B}"/>
              </a:ext>
            </a:extLst>
          </p:cNvPr>
          <p:cNvSpPr>
            <a:spLocks noGrp="1"/>
          </p:cNvSpPr>
          <p:nvPr>
            <p:ph idx="1"/>
          </p:nvPr>
        </p:nvSpPr>
        <p:spPr/>
        <p:txBody>
          <a:bodyPr>
            <a:normAutofit fontScale="85000" lnSpcReduction="20000"/>
          </a:bodyPr>
          <a:lstStyle/>
          <a:p>
            <a:pPr marL="0" indent="0">
              <a:buNone/>
            </a:pPr>
            <a:r>
              <a:rPr lang="en-US" altLang="zh-CN" dirty="0"/>
              <a:t>tot = 0;</a:t>
            </a:r>
          </a:p>
          <a:p>
            <a:pPr marL="0" indent="0">
              <a:buNone/>
            </a:pPr>
            <a:r>
              <a:rPr lang="en-US" altLang="zh-CN" dirty="0"/>
              <a:t>  best = A[1];</a:t>
            </a:r>
          </a:p>
          <a:p>
            <a:pPr marL="0" indent="0">
              <a:buNone/>
            </a:pPr>
            <a:r>
              <a:rPr lang="en-US" altLang="zh-CN" dirty="0"/>
              <a:t>  S[0] = 0;</a:t>
            </a:r>
          </a:p>
          <a:p>
            <a:pPr marL="0" indent="0">
              <a:buNone/>
            </a:pPr>
            <a:r>
              <a:rPr lang="en-US" altLang="zh-CN" dirty="0"/>
              <a:t>  </a:t>
            </a:r>
            <a:r>
              <a:rPr lang="en-US" altLang="zh-CN" dirty="0">
                <a:solidFill>
                  <a:srgbClr val="FF0000"/>
                </a:solidFill>
              </a:rPr>
              <a:t>for(</a:t>
            </a:r>
            <a:r>
              <a:rPr lang="en-US" altLang="zh-CN" dirty="0" err="1">
                <a:solidFill>
                  <a:srgbClr val="FF0000"/>
                </a:solidFill>
              </a:rPr>
              <a:t>i</a:t>
            </a:r>
            <a:r>
              <a:rPr lang="en-US" altLang="zh-CN" dirty="0">
                <a:solidFill>
                  <a:srgbClr val="FF0000"/>
                </a:solidFill>
              </a:rPr>
              <a:t> = 1; </a:t>
            </a:r>
            <a:r>
              <a:rPr lang="en-US" altLang="zh-CN" dirty="0" err="1">
                <a:solidFill>
                  <a:srgbClr val="FF0000"/>
                </a:solidFill>
              </a:rPr>
              <a:t>i</a:t>
            </a:r>
            <a:r>
              <a:rPr lang="en-US" altLang="zh-CN" dirty="0">
                <a:solidFill>
                  <a:srgbClr val="FF0000"/>
                </a:solidFill>
              </a:rPr>
              <a:t> &lt;= n; </a:t>
            </a:r>
            <a:r>
              <a:rPr lang="en-US" altLang="zh-CN" dirty="0" err="1">
                <a:solidFill>
                  <a:srgbClr val="FF0000"/>
                </a:solidFill>
              </a:rPr>
              <a:t>i</a:t>
            </a:r>
            <a:r>
              <a:rPr lang="en-US" altLang="zh-CN" dirty="0">
                <a:solidFill>
                  <a:srgbClr val="FF0000"/>
                </a:solidFill>
              </a:rPr>
              <a:t>++)</a:t>
            </a:r>
          </a:p>
          <a:p>
            <a:pPr marL="0" indent="0">
              <a:buNone/>
            </a:pPr>
            <a:r>
              <a:rPr lang="en-US" altLang="zh-CN" dirty="0">
                <a:solidFill>
                  <a:srgbClr val="FF0000"/>
                </a:solidFill>
              </a:rPr>
              <a:t>    S[</a:t>
            </a:r>
            <a:r>
              <a:rPr lang="en-US" altLang="zh-CN" dirty="0" err="1">
                <a:solidFill>
                  <a:srgbClr val="FF0000"/>
                </a:solidFill>
              </a:rPr>
              <a:t>i</a:t>
            </a:r>
            <a:r>
              <a:rPr lang="en-US" altLang="zh-CN" dirty="0">
                <a:solidFill>
                  <a:srgbClr val="FF0000"/>
                </a:solidFill>
              </a:rPr>
              <a:t>] = S[i-1] + A[</a:t>
            </a:r>
            <a:r>
              <a:rPr lang="en-US" altLang="zh-CN" dirty="0" err="1">
                <a:solidFill>
                  <a:srgbClr val="FF0000"/>
                </a:solidFill>
              </a:rPr>
              <a:t>i</a:t>
            </a:r>
            <a:r>
              <a:rPr lang="en-US" altLang="zh-CN" dirty="0">
                <a:solidFill>
                  <a:srgbClr val="FF0000"/>
                </a:solidFill>
              </a:rPr>
              <a:t>];   </a:t>
            </a:r>
            <a:r>
              <a:rPr lang="en-US" altLang="zh-CN" dirty="0"/>
              <a:t>// recurrence</a:t>
            </a:r>
          </a:p>
          <a:p>
            <a:pPr marL="0" indent="0">
              <a:buNone/>
            </a:pPr>
            <a:r>
              <a:rPr lang="en-US" altLang="zh-CN" dirty="0"/>
              <a:t>  for(</a:t>
            </a:r>
            <a:r>
              <a:rPr lang="en-US" altLang="zh-CN" dirty="0" err="1"/>
              <a:t>i</a:t>
            </a:r>
            <a:r>
              <a:rPr lang="en-US" altLang="zh-CN" dirty="0"/>
              <a:t> = 1; </a:t>
            </a:r>
            <a:r>
              <a:rPr lang="en-US" altLang="zh-CN" dirty="0" err="1"/>
              <a:t>i</a:t>
            </a:r>
            <a:r>
              <a:rPr lang="en-US" altLang="zh-CN" dirty="0"/>
              <a:t> &lt;= n; </a:t>
            </a:r>
            <a:r>
              <a:rPr lang="en-US" altLang="zh-CN" dirty="0" err="1"/>
              <a:t>i</a:t>
            </a:r>
            <a:r>
              <a:rPr lang="en-US" altLang="zh-CN" dirty="0"/>
              <a:t>++)</a:t>
            </a:r>
          </a:p>
          <a:p>
            <a:pPr marL="0" indent="0">
              <a:buNone/>
            </a:pPr>
            <a:r>
              <a:rPr lang="en-US" altLang="zh-CN" dirty="0"/>
              <a:t>    for(j = </a:t>
            </a:r>
            <a:r>
              <a:rPr lang="en-US" altLang="zh-CN" dirty="0" err="1"/>
              <a:t>i</a:t>
            </a:r>
            <a:r>
              <a:rPr lang="en-US" altLang="zh-CN" dirty="0"/>
              <a:t>; j &lt;= n; </a:t>
            </a:r>
            <a:r>
              <a:rPr lang="en-US" altLang="zh-CN" dirty="0" err="1"/>
              <a:t>j++</a:t>
            </a:r>
            <a:r>
              <a:rPr lang="en-US" altLang="zh-CN" dirty="0"/>
              <a:t>) {</a:t>
            </a:r>
          </a:p>
          <a:p>
            <a:pPr marL="0" indent="0">
              <a:buNone/>
            </a:pPr>
            <a:r>
              <a:rPr lang="en-US" altLang="zh-CN" dirty="0"/>
              <a:t>      if(S[j] - S[i-1] &gt;= best)</a:t>
            </a:r>
          </a:p>
          <a:p>
            <a:pPr marL="0" indent="0">
              <a:buNone/>
            </a:pPr>
            <a:r>
              <a:rPr lang="en-US" altLang="zh-CN" dirty="0"/>
              <a:t>        best = S[j] - S[i-1];</a:t>
            </a:r>
          </a:p>
          <a:p>
            <a:pPr marL="0" indent="0">
              <a:buNone/>
            </a:pPr>
            <a:r>
              <a:rPr lang="en-US" altLang="zh-CN" dirty="0"/>
              <a:t>      tot++;</a:t>
            </a:r>
          </a:p>
          <a:p>
            <a:pPr marL="0" indent="0">
              <a:buNone/>
            </a:pPr>
            <a:r>
              <a:rPr lang="en-US" altLang="zh-CN" dirty="0"/>
              <a:t>    } //</a:t>
            </a:r>
            <a:endParaRPr lang="zh-CN" altLang="en-US" dirty="0"/>
          </a:p>
        </p:txBody>
      </p:sp>
      <p:pic>
        <p:nvPicPr>
          <p:cNvPr id="6" name="图片 5">
            <a:extLst>
              <a:ext uri="{FF2B5EF4-FFF2-40B4-BE49-F238E27FC236}">
                <a16:creationId xmlns:a16="http://schemas.microsoft.com/office/drawing/2014/main" id="{7C6C8457-0783-4F43-B091-13734A74D921}"/>
              </a:ext>
            </a:extLst>
          </p:cNvPr>
          <p:cNvPicPr>
            <a:picLocks noChangeAspect="1"/>
          </p:cNvPicPr>
          <p:nvPr/>
        </p:nvPicPr>
        <p:blipFill>
          <a:blip r:embed="rId2"/>
          <a:stretch>
            <a:fillRect/>
          </a:stretch>
        </p:blipFill>
        <p:spPr>
          <a:xfrm>
            <a:off x="1742320" y="5631378"/>
            <a:ext cx="2723809" cy="371429"/>
          </a:xfrm>
          <a:prstGeom prst="rect">
            <a:avLst/>
          </a:prstGeom>
        </p:spPr>
      </p:pic>
      <p:pic>
        <p:nvPicPr>
          <p:cNvPr id="8" name="图片 7">
            <a:extLst>
              <a:ext uri="{FF2B5EF4-FFF2-40B4-BE49-F238E27FC236}">
                <a16:creationId xmlns:a16="http://schemas.microsoft.com/office/drawing/2014/main" id="{56707F21-15E1-4065-9BD6-7C7EB5922AC4}"/>
              </a:ext>
            </a:extLst>
          </p:cNvPr>
          <p:cNvPicPr>
            <a:picLocks noChangeAspect="1"/>
          </p:cNvPicPr>
          <p:nvPr/>
        </p:nvPicPr>
        <p:blipFill>
          <a:blip r:embed="rId3"/>
          <a:stretch>
            <a:fillRect/>
          </a:stretch>
        </p:blipFill>
        <p:spPr>
          <a:xfrm>
            <a:off x="6330181" y="3042470"/>
            <a:ext cx="4219048" cy="10571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689801-DC47-4689-9F66-C3E4F3D693CA}"/>
              </a:ext>
            </a:extLst>
          </p:cNvPr>
          <p:cNvSpPr>
            <a:spLocks noGrp="1"/>
          </p:cNvSpPr>
          <p:nvPr>
            <p:ph type="title"/>
          </p:nvPr>
        </p:nvSpPr>
        <p:spPr>
          <a:xfrm>
            <a:off x="987689" y="205327"/>
            <a:ext cx="10515600" cy="1325563"/>
          </a:xfrm>
        </p:spPr>
        <p:txBody>
          <a:bodyPr>
            <a:normAutofit/>
          </a:bodyPr>
          <a:lstStyle/>
          <a:p>
            <a:r>
              <a:rPr lang="en-US" altLang="zh-CN" sz="4000" dirty="0"/>
              <a:t>Maximum Contiguous Sum (O(</a:t>
            </a:r>
            <a:r>
              <a:rPr lang="en-US" altLang="zh-CN" sz="4000" dirty="0" err="1"/>
              <a:t>nlog</a:t>
            </a:r>
            <a:r>
              <a:rPr lang="en-US" altLang="zh-CN" sz="4000" dirty="0"/>
              <a:t>(n)))</a:t>
            </a:r>
            <a:endParaRPr lang="zh-CN" altLang="en-US" sz="4000" dirty="0"/>
          </a:p>
        </p:txBody>
      </p:sp>
      <p:pic>
        <p:nvPicPr>
          <p:cNvPr id="7" name="图片 6">
            <a:extLst>
              <a:ext uri="{FF2B5EF4-FFF2-40B4-BE49-F238E27FC236}">
                <a16:creationId xmlns:a16="http://schemas.microsoft.com/office/drawing/2014/main" id="{D918859D-43B9-48F8-815E-139974A74D77}"/>
              </a:ext>
            </a:extLst>
          </p:cNvPr>
          <p:cNvPicPr>
            <a:picLocks noChangeAspect="1"/>
          </p:cNvPicPr>
          <p:nvPr/>
        </p:nvPicPr>
        <p:blipFill>
          <a:blip r:embed="rId2"/>
          <a:stretch>
            <a:fillRect/>
          </a:stretch>
        </p:blipFill>
        <p:spPr>
          <a:xfrm>
            <a:off x="838200" y="1260173"/>
            <a:ext cx="5108313" cy="5597827"/>
          </a:xfrm>
          <a:prstGeom prst="rect">
            <a:avLst/>
          </a:prstGeom>
        </p:spPr>
      </p:pic>
      <p:pic>
        <p:nvPicPr>
          <p:cNvPr id="4" name="图片 3">
            <a:extLst>
              <a:ext uri="{FF2B5EF4-FFF2-40B4-BE49-F238E27FC236}">
                <a16:creationId xmlns:a16="http://schemas.microsoft.com/office/drawing/2014/main" id="{E319A8E9-727C-4468-9164-BE259A94388E}"/>
              </a:ext>
            </a:extLst>
          </p:cNvPr>
          <p:cNvPicPr>
            <a:picLocks noChangeAspect="1"/>
          </p:cNvPicPr>
          <p:nvPr/>
        </p:nvPicPr>
        <p:blipFill>
          <a:blip r:embed="rId3"/>
          <a:stretch>
            <a:fillRect/>
          </a:stretch>
        </p:blipFill>
        <p:spPr>
          <a:xfrm>
            <a:off x="5792779" y="2705469"/>
            <a:ext cx="6176717" cy="1447061"/>
          </a:xfrm>
          <a:prstGeom prst="rect">
            <a:avLst/>
          </a:prstGeom>
        </p:spPr>
      </p:pic>
    </p:spTree>
    <p:extLst>
      <p:ext uri="{BB962C8B-B14F-4D97-AF65-F5344CB8AC3E}">
        <p14:creationId xmlns:p14="http://schemas.microsoft.com/office/powerpoint/2010/main" val="3645333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C9BD2756-B657-4E92-9813-12F4052BFC63}"/>
              </a:ext>
            </a:extLst>
          </p:cNvPr>
          <p:cNvSpPr>
            <a:spLocks noGrp="1" noChangeArrowheads="1"/>
          </p:cNvSpPr>
          <p:nvPr>
            <p:ph type="title"/>
          </p:nvPr>
        </p:nvSpPr>
        <p:spPr>
          <a:xfrm>
            <a:off x="213064" y="365125"/>
            <a:ext cx="11978936" cy="1325563"/>
          </a:xfrm>
        </p:spPr>
        <p:txBody>
          <a:bodyPr>
            <a:normAutofit/>
          </a:bodyPr>
          <a:lstStyle/>
          <a:p>
            <a:pPr eaLnBrk="1" hangingPunct="1"/>
            <a:r>
              <a:rPr lang="en-US" altLang="zh-CN" sz="4000" dirty="0"/>
              <a:t>Divide and Conquer for Maximum Contiguous Sum </a:t>
            </a:r>
            <a:endParaRPr lang="zh-CN" altLang="en-US" sz="4000" dirty="0"/>
          </a:p>
        </p:txBody>
      </p:sp>
      <p:sp>
        <p:nvSpPr>
          <p:cNvPr id="2" name="内容占位符 1">
            <a:extLst>
              <a:ext uri="{FF2B5EF4-FFF2-40B4-BE49-F238E27FC236}">
                <a16:creationId xmlns:a16="http://schemas.microsoft.com/office/drawing/2014/main" id="{0870C6D7-6D0F-440E-B27A-81A8E639D3B9}"/>
              </a:ext>
            </a:extLst>
          </p:cNvPr>
          <p:cNvSpPr>
            <a:spLocks noGrp="1"/>
          </p:cNvSpPr>
          <p:nvPr>
            <p:ph idx="1"/>
          </p:nvPr>
        </p:nvSpPr>
        <p:spPr/>
        <p:txBody>
          <a:bodyPr/>
          <a:lstStyle/>
          <a:p>
            <a:pPr>
              <a:defRPr/>
            </a:pPr>
            <a:r>
              <a:rPr lang="en-US" altLang="zh-CN"/>
              <a:t>n</a:t>
            </a:r>
            <a:r>
              <a:rPr lang="en-US" altLang="zh-CN" dirty="0"/>
              <a:t>=1000</a:t>
            </a:r>
            <a:r>
              <a:rPr lang="zh-CN" altLang="en-US" dirty="0"/>
              <a:t>，</a:t>
            </a:r>
            <a:r>
              <a:rPr lang="en-US" altLang="zh-CN" dirty="0"/>
              <a:t>tot =  9976</a:t>
            </a:r>
          </a:p>
          <a:p>
            <a:pPr>
              <a:defRPr/>
            </a:pPr>
            <a:r>
              <a:rPr lang="en-US" altLang="zh-CN"/>
              <a:t>T</a:t>
            </a:r>
            <a:r>
              <a:rPr lang="en-US" altLang="zh-CN" dirty="0"/>
              <a:t>(n) = 2T(n/2)+n, T(1) = </a:t>
            </a:r>
            <a:r>
              <a:rPr lang="en-US" altLang="zh-CN"/>
              <a:t>1      =&gt;   T</a:t>
            </a:r>
            <a:r>
              <a:rPr lang="en-US" altLang="zh-CN" dirty="0"/>
              <a:t>(n) = Ɵ(</a:t>
            </a:r>
            <a:r>
              <a:rPr lang="en-US" altLang="zh-CN" dirty="0" err="1"/>
              <a:t>nlogn</a:t>
            </a:r>
            <a:r>
              <a:rPr lang="en-US" altLang="zh-CN"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61527DA7-ECFB-40DC-A80D-D5B63532BC48}"/>
              </a:ext>
            </a:extLst>
          </p:cNvPr>
          <p:cNvSpPr>
            <a:spLocks noGrp="1" noChangeArrowheads="1"/>
          </p:cNvSpPr>
          <p:nvPr>
            <p:ph type="title"/>
          </p:nvPr>
        </p:nvSpPr>
        <p:spPr>
          <a:xfrm>
            <a:off x="838200" y="2460255"/>
            <a:ext cx="10515600" cy="1325563"/>
          </a:xfrm>
        </p:spPr>
        <p:txBody>
          <a:bodyPr>
            <a:normAutofit/>
          </a:bodyPr>
          <a:lstStyle/>
          <a:p>
            <a:r>
              <a:rPr lang="pt-BR" altLang="zh-CN" sz="3600" dirty="0"/>
              <a:t>More--</a:t>
            </a:r>
            <a:r>
              <a:rPr lang="en-US" altLang="zh-CN" sz="3600" dirty="0"/>
              <a:t> Maximum Contiguous Sum  </a:t>
            </a:r>
            <a:r>
              <a:rPr lang="pt-BR" altLang="zh-CN" sz="3600" dirty="0"/>
              <a:t>(O(n))?</a:t>
            </a:r>
            <a:endParaRPr lang="zh-CN" alt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096BC-3F83-49D1-8C78-09708293351D}"/>
              </a:ext>
            </a:extLst>
          </p:cNvPr>
          <p:cNvSpPr>
            <a:spLocks noGrp="1"/>
          </p:cNvSpPr>
          <p:nvPr>
            <p:ph type="title"/>
          </p:nvPr>
        </p:nvSpPr>
        <p:spPr/>
        <p:txBody>
          <a:bodyPr/>
          <a:lstStyle/>
          <a:p>
            <a:r>
              <a:rPr lang="zh-CN" altLang="en-US" dirty="0"/>
              <a:t>分治的范式</a:t>
            </a:r>
          </a:p>
        </p:txBody>
      </p:sp>
      <p:sp>
        <p:nvSpPr>
          <p:cNvPr id="3" name="内容占位符 2">
            <a:extLst>
              <a:ext uri="{FF2B5EF4-FFF2-40B4-BE49-F238E27FC236}">
                <a16:creationId xmlns:a16="http://schemas.microsoft.com/office/drawing/2014/main" id="{EC84BF14-C7B8-4813-9C26-463BDF132254}"/>
              </a:ext>
            </a:extLst>
          </p:cNvPr>
          <p:cNvSpPr>
            <a:spLocks noGrp="1"/>
          </p:cNvSpPr>
          <p:nvPr>
            <p:ph idx="1"/>
          </p:nvPr>
        </p:nvSpPr>
        <p:spPr/>
        <p:txBody>
          <a:bodyPr/>
          <a:lstStyle/>
          <a:p>
            <a:pPr marL="514350" indent="-514350">
              <a:buFont typeface="+mj-lt"/>
              <a:buAutoNum type="arabicPeriod"/>
            </a:pPr>
            <a:r>
              <a:rPr lang="zh-CN" altLang="en-US" dirty="0"/>
              <a:t>划分步骤</a:t>
            </a:r>
            <a:r>
              <a:rPr lang="en-US" altLang="zh-CN" dirty="0"/>
              <a:t>-</a:t>
            </a:r>
            <a:r>
              <a:rPr lang="zh-CN" altLang="en-US" dirty="0"/>
              <a:t>输入被划分为</a:t>
            </a:r>
            <a:r>
              <a:rPr lang="en-US" altLang="zh-CN" dirty="0"/>
              <a:t>p≥1</a:t>
            </a:r>
            <a:r>
              <a:rPr lang="zh-CN" altLang="en-US" dirty="0"/>
              <a:t>个部分</a:t>
            </a:r>
            <a:endParaRPr lang="en-US" altLang="zh-CN" dirty="0"/>
          </a:p>
          <a:p>
            <a:pPr marL="514350" indent="-514350">
              <a:buFont typeface="+mj-lt"/>
              <a:buAutoNum type="arabicPeriod"/>
            </a:pPr>
            <a:r>
              <a:rPr lang="zh-CN" altLang="en-US" dirty="0"/>
              <a:t>征服步骤</a:t>
            </a:r>
            <a:r>
              <a:rPr lang="en-US" altLang="zh-CN" dirty="0"/>
              <a:t>-</a:t>
            </a:r>
            <a:r>
              <a:rPr lang="zh-CN" altLang="en-US" dirty="0"/>
              <a:t>执行</a:t>
            </a:r>
            <a:r>
              <a:rPr lang="en-US" altLang="zh-CN" dirty="0"/>
              <a:t>p</a:t>
            </a:r>
            <a:r>
              <a:rPr lang="zh-CN" altLang="en-US" dirty="0"/>
              <a:t>递归调用</a:t>
            </a:r>
            <a:endParaRPr lang="en-US" altLang="zh-CN" dirty="0"/>
          </a:p>
          <a:p>
            <a:pPr marL="514350" indent="-514350">
              <a:buFont typeface="+mj-lt"/>
              <a:buAutoNum type="arabicPeriod"/>
            </a:pPr>
            <a:r>
              <a:rPr lang="zh-CN" altLang="en-US" dirty="0"/>
              <a:t>组合步骤</a:t>
            </a:r>
            <a:r>
              <a:rPr lang="en-US" altLang="zh-CN" dirty="0"/>
              <a:t>-</a:t>
            </a:r>
            <a:r>
              <a:rPr lang="zh-CN" altLang="en-US" dirty="0"/>
              <a:t>组合</a:t>
            </a:r>
            <a:r>
              <a:rPr lang="en-US" altLang="zh-CN" dirty="0"/>
              <a:t>p</a:t>
            </a:r>
            <a:r>
              <a:rPr lang="zh-CN" altLang="en-US" dirty="0"/>
              <a:t>个递归调用的解决方案以获得输出</a:t>
            </a:r>
          </a:p>
        </p:txBody>
      </p:sp>
    </p:spTree>
    <p:extLst>
      <p:ext uri="{BB962C8B-B14F-4D97-AF65-F5344CB8AC3E}">
        <p14:creationId xmlns:p14="http://schemas.microsoft.com/office/powerpoint/2010/main" val="4090658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8B9D19-02C8-44BD-BFF6-F63CE773FD53}"/>
              </a:ext>
            </a:extLst>
          </p:cNvPr>
          <p:cNvSpPr>
            <a:spLocks noGrp="1"/>
          </p:cNvSpPr>
          <p:nvPr>
            <p:ph type="title"/>
          </p:nvPr>
        </p:nvSpPr>
        <p:spPr/>
        <p:txBody>
          <a:bodyPr/>
          <a:lstStyle/>
          <a:p>
            <a:r>
              <a:rPr lang="en-US" altLang="zh-CN" dirty="0"/>
              <a:t>Time complexity</a:t>
            </a:r>
            <a:endParaRPr lang="zh-CN" altLang="en-US" dirty="0"/>
          </a:p>
        </p:txBody>
      </p:sp>
      <p:sp>
        <p:nvSpPr>
          <p:cNvPr id="3" name="内容占位符 2">
            <a:extLst>
              <a:ext uri="{FF2B5EF4-FFF2-40B4-BE49-F238E27FC236}">
                <a16:creationId xmlns:a16="http://schemas.microsoft.com/office/drawing/2014/main" id="{1DEC0338-249B-4370-A52D-B79804C76E2C}"/>
              </a:ext>
            </a:extLst>
          </p:cNvPr>
          <p:cNvSpPr>
            <a:spLocks noGrp="1"/>
          </p:cNvSpPr>
          <p:nvPr>
            <p:ph idx="1"/>
          </p:nvPr>
        </p:nvSpPr>
        <p:spPr/>
        <p:txBody>
          <a:bodyPr/>
          <a:lstStyle/>
          <a:p>
            <a:r>
              <a:rPr lang="en-US" altLang="zh-CN" dirty="0"/>
              <a:t> If (a) the base cases have constant-bounded size, the work of splitting the problem and combining the partial solutions is proportional to the problem's size </a:t>
            </a:r>
            <a:r>
              <a:rPr lang="en-US" altLang="zh-CN" dirty="0">
                <a:solidFill>
                  <a:srgbClr val="FF0000"/>
                </a:solidFill>
              </a:rPr>
              <a:t>n</a:t>
            </a:r>
            <a:r>
              <a:rPr lang="en-US" altLang="zh-CN" dirty="0"/>
              <a:t>, and (b) there is a bounded number </a:t>
            </a:r>
            <a:r>
              <a:rPr lang="en-US" altLang="zh-CN" dirty="0">
                <a:solidFill>
                  <a:srgbClr val="FF0000"/>
                </a:solidFill>
              </a:rPr>
              <a:t>p</a:t>
            </a:r>
            <a:r>
              <a:rPr lang="en-US" altLang="zh-CN" dirty="0"/>
              <a:t> of sub-problems of size </a:t>
            </a:r>
            <a:r>
              <a:rPr lang="en-US" altLang="zh-CN" dirty="0">
                <a:solidFill>
                  <a:srgbClr val="FF0000"/>
                </a:solidFill>
              </a:rPr>
              <a:t>n/p</a:t>
            </a:r>
            <a:r>
              <a:rPr lang="en-US" altLang="zh-CN" dirty="0"/>
              <a:t> at each stage, then the cost of the divide-and-conquer algorithm will be </a:t>
            </a:r>
            <a:r>
              <a:rPr lang="en-US" altLang="zh-CN" dirty="0">
                <a:solidFill>
                  <a:srgbClr val="FF0000"/>
                </a:solidFill>
              </a:rPr>
              <a:t>O(n </a:t>
            </a:r>
            <a:r>
              <a:rPr lang="en-US" altLang="zh-CN" dirty="0" err="1">
                <a:solidFill>
                  <a:srgbClr val="FF0000"/>
                </a:solidFill>
              </a:rPr>
              <a:t>log</a:t>
            </a:r>
            <a:r>
              <a:rPr lang="en-US" altLang="zh-CN" baseline="-25000" dirty="0" err="1">
                <a:solidFill>
                  <a:srgbClr val="FF0000"/>
                </a:solidFill>
              </a:rPr>
              <a:t>p</a:t>
            </a:r>
            <a:r>
              <a:rPr lang="en-US" altLang="zh-CN" dirty="0" err="1">
                <a:solidFill>
                  <a:srgbClr val="FF0000"/>
                </a:solidFill>
              </a:rPr>
              <a:t>n</a:t>
            </a:r>
            <a:r>
              <a:rPr lang="en-US" altLang="zh-CN" dirty="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4129920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EA3B65-1205-400E-92E9-7779CC67C1FC}"/>
              </a:ext>
            </a:extLst>
          </p:cNvPr>
          <p:cNvSpPr>
            <a:spLocks noGrp="1"/>
          </p:cNvSpPr>
          <p:nvPr>
            <p:ph type="title"/>
          </p:nvPr>
        </p:nvSpPr>
        <p:spPr/>
        <p:txBody>
          <a:bodyPr/>
          <a:lstStyle/>
          <a:p>
            <a:r>
              <a:rPr lang="zh-CN" altLang="en-US" dirty="0"/>
              <a:t>堆栈大小</a:t>
            </a:r>
          </a:p>
        </p:txBody>
      </p:sp>
      <p:sp>
        <p:nvSpPr>
          <p:cNvPr id="3" name="内容占位符 2">
            <a:extLst>
              <a:ext uri="{FF2B5EF4-FFF2-40B4-BE49-F238E27FC236}">
                <a16:creationId xmlns:a16="http://schemas.microsoft.com/office/drawing/2014/main" id="{EA4C9833-4A84-4F2B-960D-2F54ABE30728}"/>
              </a:ext>
            </a:extLst>
          </p:cNvPr>
          <p:cNvSpPr>
            <a:spLocks noGrp="1"/>
          </p:cNvSpPr>
          <p:nvPr>
            <p:ph idx="1"/>
          </p:nvPr>
        </p:nvSpPr>
        <p:spPr/>
        <p:txBody>
          <a:bodyPr/>
          <a:lstStyle/>
          <a:p>
            <a:r>
              <a:rPr lang="zh-CN" altLang="en-US" dirty="0"/>
              <a:t>在</a:t>
            </a:r>
            <a:r>
              <a:rPr lang="en-US" altLang="zh-CN" dirty="0"/>
              <a:t>D&amp;C</a:t>
            </a:r>
            <a:r>
              <a:rPr lang="zh-CN" altLang="en-US" dirty="0"/>
              <a:t>算法的递归实现中，必须确保为递归堆栈分配了足够的内存，否则执行可能会因堆栈溢出而失败。</a:t>
            </a:r>
          </a:p>
        </p:txBody>
      </p:sp>
    </p:spTree>
    <p:extLst>
      <p:ext uri="{BB962C8B-B14F-4D97-AF65-F5344CB8AC3E}">
        <p14:creationId xmlns:p14="http://schemas.microsoft.com/office/powerpoint/2010/main" val="604773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7797492-C9D4-4BD2-8F64-C2EFE66BFAEC}"/>
              </a:ext>
            </a:extLst>
          </p:cNvPr>
          <p:cNvSpPr>
            <a:spLocks noGrp="1"/>
          </p:cNvSpPr>
          <p:nvPr>
            <p:ph type="title"/>
          </p:nvPr>
        </p:nvSpPr>
        <p:spPr/>
        <p:txBody>
          <a:bodyPr/>
          <a:lstStyle/>
          <a:p>
            <a:r>
              <a:rPr lang="zh-CN" altLang="en-US" dirty="0"/>
              <a:t>合并排序</a:t>
            </a:r>
          </a:p>
        </p:txBody>
      </p:sp>
      <p:sp>
        <p:nvSpPr>
          <p:cNvPr id="3" name="内容占位符 2">
            <a:extLst>
              <a:ext uri="{FF2B5EF4-FFF2-40B4-BE49-F238E27FC236}">
                <a16:creationId xmlns:a16="http://schemas.microsoft.com/office/drawing/2014/main" id="{14213BCE-1599-415A-9ED0-1A51CFDAF56A}"/>
              </a:ext>
            </a:extLst>
          </p:cNvPr>
          <p:cNvSpPr>
            <a:spLocks noGrp="1"/>
          </p:cNvSpPr>
          <p:nvPr>
            <p:ph idx="4294967295"/>
          </p:nvPr>
        </p:nvSpPr>
        <p:spPr>
          <a:xfrm>
            <a:off x="0" y="5646738"/>
            <a:ext cx="10515600" cy="911225"/>
          </a:xfrm>
        </p:spPr>
        <p:txBody>
          <a:bodyPr>
            <a:normAutofit fontScale="70000" lnSpcReduction="20000"/>
          </a:bodyPr>
          <a:lstStyle/>
          <a:p>
            <a:pPr marL="0" indent="0">
              <a:buNone/>
            </a:pPr>
            <a:r>
              <a:rPr lang="zh-CN" altLang="en-US" dirty="0"/>
              <a:t>分治的方法按递增顺序对列表（</a:t>
            </a:r>
            <a:r>
              <a:rPr lang="en-US" altLang="zh-CN" dirty="0"/>
              <a:t>38</a:t>
            </a:r>
            <a:r>
              <a:rPr lang="zh-CN" altLang="en-US" dirty="0"/>
              <a:t>、</a:t>
            </a:r>
            <a:r>
              <a:rPr lang="en-US" altLang="zh-CN" dirty="0"/>
              <a:t>27</a:t>
            </a:r>
            <a:r>
              <a:rPr lang="zh-CN" altLang="en-US" dirty="0"/>
              <a:t>、</a:t>
            </a:r>
            <a:r>
              <a:rPr lang="en-US" altLang="zh-CN" dirty="0"/>
              <a:t>43</a:t>
            </a:r>
            <a:r>
              <a:rPr lang="zh-CN" altLang="en-US" dirty="0"/>
              <a:t>、</a:t>
            </a:r>
            <a:r>
              <a:rPr lang="en-US" altLang="zh-CN" dirty="0"/>
              <a:t>3</a:t>
            </a:r>
            <a:r>
              <a:rPr lang="zh-CN" altLang="en-US" dirty="0"/>
              <a:t>、</a:t>
            </a:r>
            <a:r>
              <a:rPr lang="en-US" altLang="zh-CN" dirty="0"/>
              <a:t>9</a:t>
            </a:r>
            <a:r>
              <a:rPr lang="zh-CN" altLang="en-US" dirty="0"/>
              <a:t>、</a:t>
            </a:r>
            <a:r>
              <a:rPr lang="en-US" altLang="zh-CN" dirty="0"/>
              <a:t>82</a:t>
            </a:r>
            <a:r>
              <a:rPr lang="zh-CN" altLang="en-US" dirty="0"/>
              <a:t>、</a:t>
            </a:r>
            <a:r>
              <a:rPr lang="en-US" altLang="zh-CN" dirty="0"/>
              <a:t>10</a:t>
            </a:r>
            <a:r>
              <a:rPr lang="zh-CN" altLang="en-US" dirty="0"/>
              <a:t>）进行排序。</a:t>
            </a:r>
            <a:endParaRPr lang="en-US" altLang="zh-CN" dirty="0"/>
          </a:p>
          <a:p>
            <a:pPr marL="0" indent="0">
              <a:buNone/>
            </a:pPr>
            <a:r>
              <a:rPr lang="zh-CN" altLang="en-US" dirty="0"/>
              <a:t>上半部分：拆分为子列表；</a:t>
            </a:r>
            <a:r>
              <a:rPr lang="en-US" altLang="zh-CN" dirty="0"/>
              <a:t>mid</a:t>
            </a:r>
            <a:r>
              <a:rPr lang="zh-CN" altLang="en-US" dirty="0"/>
              <a:t>：一个单元素列表被琐碎地排序；下半部分：组成排序的子列表。</a:t>
            </a:r>
          </a:p>
        </p:txBody>
      </p:sp>
      <p:pic>
        <p:nvPicPr>
          <p:cNvPr id="5" name="图片 4">
            <a:extLst>
              <a:ext uri="{FF2B5EF4-FFF2-40B4-BE49-F238E27FC236}">
                <a16:creationId xmlns:a16="http://schemas.microsoft.com/office/drawing/2014/main" id="{F8A2D60F-7108-4F37-9C34-0534B75410F6}"/>
              </a:ext>
            </a:extLst>
          </p:cNvPr>
          <p:cNvPicPr>
            <a:picLocks noChangeAspect="1"/>
          </p:cNvPicPr>
          <p:nvPr/>
        </p:nvPicPr>
        <p:blipFill>
          <a:blip r:embed="rId2"/>
          <a:stretch>
            <a:fillRect/>
          </a:stretch>
        </p:blipFill>
        <p:spPr>
          <a:xfrm>
            <a:off x="4540087" y="472954"/>
            <a:ext cx="5038918" cy="4862526"/>
          </a:xfrm>
          <a:prstGeom prst="rect">
            <a:avLst/>
          </a:prstGeom>
        </p:spPr>
      </p:pic>
    </p:spTree>
    <p:extLst>
      <p:ext uri="{BB962C8B-B14F-4D97-AF65-F5344CB8AC3E}">
        <p14:creationId xmlns:p14="http://schemas.microsoft.com/office/powerpoint/2010/main" val="2047692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2763B-68AF-4924-9300-591E01EFDDCC}"/>
              </a:ext>
            </a:extLst>
          </p:cNvPr>
          <p:cNvSpPr>
            <a:spLocks noGrp="1"/>
          </p:cNvSpPr>
          <p:nvPr>
            <p:ph type="title"/>
          </p:nvPr>
        </p:nvSpPr>
        <p:spPr/>
        <p:txBody>
          <a:bodyPr/>
          <a:lstStyle/>
          <a:p>
            <a:r>
              <a:rPr lang="en-US" altLang="zh-CN" dirty="0" err="1"/>
              <a:t>quickSort</a:t>
            </a:r>
            <a:endParaRPr lang="zh-CN" altLang="en-US" dirty="0"/>
          </a:p>
        </p:txBody>
      </p:sp>
      <p:pic>
        <p:nvPicPr>
          <p:cNvPr id="5" name="图片 4">
            <a:extLst>
              <a:ext uri="{FF2B5EF4-FFF2-40B4-BE49-F238E27FC236}">
                <a16:creationId xmlns:a16="http://schemas.microsoft.com/office/drawing/2014/main" id="{16A92316-56E2-4F7E-8E9F-D6FC8CAA116C}"/>
              </a:ext>
            </a:extLst>
          </p:cNvPr>
          <p:cNvPicPr>
            <a:picLocks noChangeAspect="1"/>
          </p:cNvPicPr>
          <p:nvPr/>
        </p:nvPicPr>
        <p:blipFill>
          <a:blip r:embed="rId2"/>
          <a:stretch>
            <a:fillRect/>
          </a:stretch>
        </p:blipFill>
        <p:spPr>
          <a:xfrm>
            <a:off x="926977" y="1577081"/>
            <a:ext cx="9477375" cy="4076700"/>
          </a:xfrm>
          <a:prstGeom prst="rect">
            <a:avLst/>
          </a:prstGeom>
        </p:spPr>
      </p:pic>
      <p:sp>
        <p:nvSpPr>
          <p:cNvPr id="6" name="文本框 5">
            <a:extLst>
              <a:ext uri="{FF2B5EF4-FFF2-40B4-BE49-F238E27FC236}">
                <a16:creationId xmlns:a16="http://schemas.microsoft.com/office/drawing/2014/main" id="{78A2C0B5-A88C-4A09-8007-D882DC6AC57D}"/>
              </a:ext>
            </a:extLst>
          </p:cNvPr>
          <p:cNvSpPr txBox="1"/>
          <p:nvPr/>
        </p:nvSpPr>
        <p:spPr>
          <a:xfrm>
            <a:off x="5044735" y="5630446"/>
            <a:ext cx="6673789" cy="707886"/>
          </a:xfrm>
          <a:prstGeom prst="rect">
            <a:avLst/>
          </a:prstGeom>
          <a:noFill/>
        </p:spPr>
        <p:txBody>
          <a:bodyPr wrap="square">
            <a:spAutoFit/>
          </a:bodyPr>
          <a:lstStyle/>
          <a:p>
            <a:r>
              <a:rPr lang="zh-CN" altLang="en-US" sz="2000" dirty="0"/>
              <a:t>与</a:t>
            </a:r>
            <a:r>
              <a:rPr lang="en-US" altLang="zh-CN" sz="2000" dirty="0" err="1"/>
              <a:t>mergeSort</a:t>
            </a:r>
            <a:r>
              <a:rPr lang="zh-CN" altLang="en-US" sz="2000" dirty="0"/>
              <a:t>相比，</a:t>
            </a:r>
            <a:r>
              <a:rPr lang="en-US" altLang="zh-CN" sz="2000" dirty="0" err="1"/>
              <a:t>quickSort</a:t>
            </a:r>
            <a:r>
              <a:rPr lang="zh-CN" altLang="en-US" sz="2000" dirty="0"/>
              <a:t>对元素进行了就地排序，也就是说，它不需要辅助存储来对要排序的元素进行排序。</a:t>
            </a:r>
            <a:endParaRPr lang="en-US" altLang="zh-CN" sz="2000" dirty="0"/>
          </a:p>
        </p:txBody>
      </p:sp>
    </p:spTree>
    <p:extLst>
      <p:ext uri="{BB962C8B-B14F-4D97-AF65-F5344CB8AC3E}">
        <p14:creationId xmlns:p14="http://schemas.microsoft.com/office/powerpoint/2010/main" val="2140064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C466F2-02B7-462B-872F-B2456AEBF266}"/>
              </a:ext>
            </a:extLst>
          </p:cNvPr>
          <p:cNvSpPr>
            <a:spLocks noGrp="1"/>
          </p:cNvSpPr>
          <p:nvPr>
            <p:ph type="title"/>
          </p:nvPr>
        </p:nvSpPr>
        <p:spPr/>
        <p:txBody>
          <a:bodyPr/>
          <a:lstStyle/>
          <a:p>
            <a:r>
              <a:rPr lang="en-US" altLang="zh-CN" dirty="0" err="1"/>
              <a:t>quickSort</a:t>
            </a:r>
            <a:r>
              <a:rPr lang="zh-CN" altLang="en-US" dirty="0"/>
              <a:t>的最坏情况行为</a:t>
            </a:r>
            <a:endParaRPr lang="en-US" altLang="zh-CN" dirty="0"/>
          </a:p>
        </p:txBody>
      </p:sp>
      <p:sp>
        <p:nvSpPr>
          <p:cNvPr id="3" name="内容占位符 2">
            <a:extLst>
              <a:ext uri="{FF2B5EF4-FFF2-40B4-BE49-F238E27FC236}">
                <a16:creationId xmlns:a16="http://schemas.microsoft.com/office/drawing/2014/main" id="{9B67F985-384C-4E8A-8524-0BD3ACDA9801}"/>
              </a:ext>
            </a:extLst>
          </p:cNvPr>
          <p:cNvSpPr>
            <a:spLocks noGrp="1"/>
          </p:cNvSpPr>
          <p:nvPr>
            <p:ph idx="1"/>
          </p:nvPr>
        </p:nvSpPr>
        <p:spPr/>
        <p:txBody>
          <a:bodyPr>
            <a:normAutofit fontScale="77500" lnSpcReduction="20000"/>
          </a:bodyPr>
          <a:lstStyle/>
          <a:p>
            <a:r>
              <a:rPr lang="en-US" altLang="zh-CN" dirty="0"/>
              <a:t>The input array is already sorted in nondecreasing order.</a:t>
            </a:r>
            <a:r>
              <a:rPr lang="en-US" altLang="zh-CN" dirty="0">
                <a:solidFill>
                  <a:srgbClr val="FF0000"/>
                </a:solidFill>
              </a:rPr>
              <a:t> (</a:t>
            </a:r>
            <a:r>
              <a:rPr lang="el-GR" altLang="zh-CN" dirty="0">
                <a:solidFill>
                  <a:srgbClr val="FF0000"/>
                </a:solidFill>
              </a:rPr>
              <a:t>Θ</a:t>
            </a:r>
            <a:r>
              <a:rPr lang="en-US" altLang="zh-CN" dirty="0">
                <a:solidFill>
                  <a:srgbClr val="FF0000"/>
                </a:solidFill>
              </a:rPr>
              <a:t>(n</a:t>
            </a:r>
            <a:r>
              <a:rPr lang="en-US" altLang="zh-CN" baseline="30000" dirty="0">
                <a:solidFill>
                  <a:srgbClr val="FF0000"/>
                </a:solidFill>
              </a:rPr>
              <a:t>2</a:t>
            </a:r>
            <a:r>
              <a:rPr lang="en-US" altLang="zh-CN" dirty="0">
                <a:solidFill>
                  <a:srgbClr val="FF0000"/>
                </a:solidFill>
              </a:rPr>
              <a:t>))</a:t>
            </a:r>
          </a:p>
          <a:p>
            <a:pPr marL="0" indent="0">
              <a:buNone/>
            </a:pPr>
            <a:endParaRPr lang="en-US" altLang="zh-CN" dirty="0"/>
          </a:p>
          <a:p>
            <a:endParaRPr lang="en-US" altLang="zh-CN" dirty="0"/>
          </a:p>
          <a:p>
            <a:r>
              <a:rPr lang="en-US" altLang="zh-CN" dirty="0"/>
              <a:t>Or, the algorithm always selects one of the smallest (or largest) k elements, for any constant k that is sufficiently small relative to n, then the algorithm’s running time is also quadratic.</a:t>
            </a:r>
          </a:p>
          <a:p>
            <a:pPr marL="0" indent="0">
              <a:buNone/>
            </a:pPr>
            <a:endParaRPr lang="en-US" altLang="zh-CN" dirty="0"/>
          </a:p>
          <a:p>
            <a:pPr marL="0" indent="0">
              <a:buNone/>
            </a:pPr>
            <a:endParaRPr lang="en-US" altLang="zh-CN" dirty="0"/>
          </a:p>
          <a:p>
            <a:pPr marL="0" indent="0">
              <a:buNone/>
            </a:pPr>
            <a:endParaRPr lang="en-US" altLang="zh-CN" dirty="0"/>
          </a:p>
          <a:p>
            <a:r>
              <a:rPr lang="en-US" altLang="zh-CN" dirty="0"/>
              <a:t>However, the hidden constant in the time complexity of </a:t>
            </a:r>
            <a:r>
              <a:rPr lang="en-US" altLang="zh-CN" dirty="0">
                <a:solidFill>
                  <a:srgbClr val="FF0000"/>
                </a:solidFill>
              </a:rPr>
              <a:t>finding the median </a:t>
            </a:r>
            <a:r>
              <a:rPr lang="en-US" altLang="zh-CN" dirty="0"/>
              <a:t>is too high to be used in conjunction with </a:t>
            </a:r>
            <a:r>
              <a:rPr lang="en-US" altLang="zh-CN" dirty="0" err="1"/>
              <a:t>quickSort</a:t>
            </a:r>
            <a:r>
              <a:rPr lang="en-US" altLang="zh-CN" dirty="0"/>
              <a:t>.</a:t>
            </a:r>
          </a:p>
          <a:p>
            <a:r>
              <a:rPr lang="en-US" altLang="zh-CN" dirty="0"/>
              <a:t>If the input array is not in random order, then choosing the pivot </a:t>
            </a:r>
            <a:r>
              <a:rPr lang="en-US" altLang="zh-CN" dirty="0">
                <a:solidFill>
                  <a:srgbClr val="FF0000"/>
                </a:solidFill>
              </a:rPr>
              <a:t>randomly</a:t>
            </a:r>
            <a:r>
              <a:rPr lang="en-US" altLang="zh-CN" dirty="0"/>
              <a:t> results in a very efficient algorithm.</a:t>
            </a:r>
          </a:p>
        </p:txBody>
      </p:sp>
      <p:pic>
        <p:nvPicPr>
          <p:cNvPr id="5" name="图片 4">
            <a:extLst>
              <a:ext uri="{FF2B5EF4-FFF2-40B4-BE49-F238E27FC236}">
                <a16:creationId xmlns:a16="http://schemas.microsoft.com/office/drawing/2014/main" id="{694633B4-59E8-4931-9774-DD6DAF4C2932}"/>
              </a:ext>
            </a:extLst>
          </p:cNvPr>
          <p:cNvPicPr>
            <a:picLocks noChangeAspect="1"/>
          </p:cNvPicPr>
          <p:nvPr/>
        </p:nvPicPr>
        <p:blipFill>
          <a:blip r:embed="rId2"/>
          <a:stretch>
            <a:fillRect/>
          </a:stretch>
        </p:blipFill>
        <p:spPr>
          <a:xfrm>
            <a:off x="1008076" y="3665055"/>
            <a:ext cx="8420471" cy="1157814"/>
          </a:xfrm>
          <a:prstGeom prst="rect">
            <a:avLst/>
          </a:prstGeom>
        </p:spPr>
      </p:pic>
      <p:pic>
        <p:nvPicPr>
          <p:cNvPr id="9" name="图片 8">
            <a:extLst>
              <a:ext uri="{FF2B5EF4-FFF2-40B4-BE49-F238E27FC236}">
                <a16:creationId xmlns:a16="http://schemas.microsoft.com/office/drawing/2014/main" id="{8E875F84-E590-4F15-B7D3-A309B141123E}"/>
              </a:ext>
            </a:extLst>
          </p:cNvPr>
          <p:cNvPicPr>
            <a:picLocks noChangeAspect="1"/>
          </p:cNvPicPr>
          <p:nvPr/>
        </p:nvPicPr>
        <p:blipFill>
          <a:blip r:embed="rId3"/>
          <a:stretch>
            <a:fillRect/>
          </a:stretch>
        </p:blipFill>
        <p:spPr>
          <a:xfrm>
            <a:off x="1105729" y="2233001"/>
            <a:ext cx="6005285" cy="679633"/>
          </a:xfrm>
          <a:prstGeom prst="rect">
            <a:avLst/>
          </a:prstGeom>
        </p:spPr>
      </p:pic>
    </p:spTree>
    <p:extLst>
      <p:ext uri="{BB962C8B-B14F-4D97-AF65-F5344CB8AC3E}">
        <p14:creationId xmlns:p14="http://schemas.microsoft.com/office/powerpoint/2010/main" val="1828312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1D0389-0D89-4EA7-8E54-4DACA8C5048E}"/>
              </a:ext>
            </a:extLst>
          </p:cNvPr>
          <p:cNvSpPr>
            <a:spLocks noGrp="1"/>
          </p:cNvSpPr>
          <p:nvPr>
            <p:ph type="title"/>
          </p:nvPr>
        </p:nvSpPr>
        <p:spPr/>
        <p:txBody>
          <a:bodyPr/>
          <a:lstStyle/>
          <a:p>
            <a:r>
              <a:rPr lang="en-US" altLang="zh-CN" dirty="0" err="1"/>
              <a:t>quickSort</a:t>
            </a:r>
            <a:r>
              <a:rPr lang="zh-CN" altLang="en-US" dirty="0"/>
              <a:t>的平均事例行为</a:t>
            </a:r>
          </a:p>
        </p:txBody>
      </p:sp>
      <p:pic>
        <p:nvPicPr>
          <p:cNvPr id="5" name="图片 4">
            <a:extLst>
              <a:ext uri="{FF2B5EF4-FFF2-40B4-BE49-F238E27FC236}">
                <a16:creationId xmlns:a16="http://schemas.microsoft.com/office/drawing/2014/main" id="{ABD37811-0E86-485A-A608-4667BA242539}"/>
              </a:ext>
            </a:extLst>
          </p:cNvPr>
          <p:cNvPicPr>
            <a:picLocks noChangeAspect="1"/>
          </p:cNvPicPr>
          <p:nvPr/>
        </p:nvPicPr>
        <p:blipFill>
          <a:blip r:embed="rId2"/>
          <a:stretch>
            <a:fillRect/>
          </a:stretch>
        </p:blipFill>
        <p:spPr>
          <a:xfrm>
            <a:off x="767178" y="2467863"/>
            <a:ext cx="4809524" cy="828571"/>
          </a:xfrm>
          <a:prstGeom prst="rect">
            <a:avLst/>
          </a:prstGeom>
        </p:spPr>
      </p:pic>
      <p:sp>
        <p:nvSpPr>
          <p:cNvPr id="6" name="文本框 5">
            <a:extLst>
              <a:ext uri="{FF2B5EF4-FFF2-40B4-BE49-F238E27FC236}">
                <a16:creationId xmlns:a16="http://schemas.microsoft.com/office/drawing/2014/main" id="{0D340C3F-5CA6-40BE-AC9F-299538FAE906}"/>
              </a:ext>
            </a:extLst>
          </p:cNvPr>
          <p:cNvSpPr txBox="1"/>
          <p:nvPr/>
        </p:nvSpPr>
        <p:spPr>
          <a:xfrm>
            <a:off x="838200" y="1408967"/>
            <a:ext cx="9859392" cy="830997"/>
          </a:xfrm>
          <a:prstGeom prst="rect">
            <a:avLst/>
          </a:prstGeom>
          <a:noFill/>
        </p:spPr>
        <p:txBody>
          <a:bodyPr wrap="square" rtlCol="0">
            <a:spAutoFit/>
          </a:bodyPr>
          <a:lstStyle/>
          <a:p>
            <a:r>
              <a:rPr lang="en-US" altLang="zh-CN" sz="2400"/>
              <a:t>Assuming that all elements are distinct and have the same probability of being picked as the pivot, the average cost can be computed as follows. </a:t>
            </a:r>
            <a:endParaRPr lang="zh-CN" altLang="en-US" sz="2400"/>
          </a:p>
        </p:txBody>
      </p:sp>
      <p:pic>
        <p:nvPicPr>
          <p:cNvPr id="8" name="图片 7">
            <a:extLst>
              <a:ext uri="{FF2B5EF4-FFF2-40B4-BE49-F238E27FC236}">
                <a16:creationId xmlns:a16="http://schemas.microsoft.com/office/drawing/2014/main" id="{ECDB6C30-4F78-4B68-B8E7-851571EFA27C}"/>
              </a:ext>
            </a:extLst>
          </p:cNvPr>
          <p:cNvPicPr>
            <a:picLocks noChangeAspect="1"/>
          </p:cNvPicPr>
          <p:nvPr/>
        </p:nvPicPr>
        <p:blipFill>
          <a:blip r:embed="rId3"/>
          <a:stretch>
            <a:fillRect/>
          </a:stretch>
        </p:blipFill>
        <p:spPr>
          <a:xfrm>
            <a:off x="7383012" y="2615481"/>
            <a:ext cx="3409524" cy="533333"/>
          </a:xfrm>
          <a:prstGeom prst="rect">
            <a:avLst/>
          </a:prstGeom>
        </p:spPr>
      </p:pic>
      <p:sp>
        <p:nvSpPr>
          <p:cNvPr id="9" name="箭头: 右 8">
            <a:extLst>
              <a:ext uri="{FF2B5EF4-FFF2-40B4-BE49-F238E27FC236}">
                <a16:creationId xmlns:a16="http://schemas.microsoft.com/office/drawing/2014/main" id="{9A10825A-C53B-4844-A9ED-826BDF31B14F}"/>
              </a:ext>
            </a:extLst>
          </p:cNvPr>
          <p:cNvSpPr/>
          <p:nvPr/>
        </p:nvSpPr>
        <p:spPr>
          <a:xfrm>
            <a:off x="6193610" y="2752156"/>
            <a:ext cx="843379" cy="2219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2CB01839-84BF-4EDF-8B5D-A97BDB8269B6}"/>
              </a:ext>
            </a:extLst>
          </p:cNvPr>
          <p:cNvPicPr>
            <a:picLocks noChangeAspect="1"/>
          </p:cNvPicPr>
          <p:nvPr/>
        </p:nvPicPr>
        <p:blipFill>
          <a:blip r:embed="rId4"/>
          <a:stretch>
            <a:fillRect/>
          </a:stretch>
        </p:blipFill>
        <p:spPr>
          <a:xfrm>
            <a:off x="775500" y="3798068"/>
            <a:ext cx="10050228" cy="942607"/>
          </a:xfrm>
          <a:prstGeom prst="rect">
            <a:avLst/>
          </a:prstGeom>
        </p:spPr>
      </p:pic>
    </p:spTree>
    <p:extLst>
      <p:ext uri="{BB962C8B-B14F-4D97-AF65-F5344CB8AC3E}">
        <p14:creationId xmlns:p14="http://schemas.microsoft.com/office/powerpoint/2010/main" val="679095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C119C4-4147-4FAB-BDB0-51822969BBBF}"/>
              </a:ext>
            </a:extLst>
          </p:cNvPr>
          <p:cNvSpPr>
            <a:spLocks noGrp="1"/>
          </p:cNvSpPr>
          <p:nvPr>
            <p:ph type="title"/>
          </p:nvPr>
        </p:nvSpPr>
        <p:spPr>
          <a:xfrm>
            <a:off x="1211062" y="2296927"/>
            <a:ext cx="10515600" cy="1325563"/>
          </a:xfrm>
        </p:spPr>
        <p:txBody>
          <a:bodyPr>
            <a:normAutofit/>
          </a:bodyPr>
          <a:lstStyle/>
          <a:p>
            <a:r>
              <a:rPr lang="zh-CN" altLang="en-US" dirty="0"/>
              <a:t>练习：找到</a:t>
            </a:r>
            <a:r>
              <a:rPr lang="en-US" altLang="zh-CN" dirty="0"/>
              <a:t>O</a:t>
            </a:r>
            <a:r>
              <a:rPr lang="zh-CN" altLang="en-US" dirty="0"/>
              <a:t>（</a:t>
            </a:r>
            <a:r>
              <a:rPr lang="en-US" altLang="zh-CN" dirty="0"/>
              <a:t>n</a:t>
            </a:r>
            <a:r>
              <a:rPr lang="zh-CN" altLang="en-US" dirty="0"/>
              <a:t>）中的第</a:t>
            </a:r>
            <a:r>
              <a:rPr lang="en-US" altLang="zh-CN" dirty="0"/>
              <a:t>k</a:t>
            </a:r>
            <a:r>
              <a:rPr lang="zh-CN" altLang="en-US" dirty="0"/>
              <a:t>小的元素</a:t>
            </a:r>
          </a:p>
        </p:txBody>
      </p:sp>
      <p:sp>
        <p:nvSpPr>
          <p:cNvPr id="7" name="文本框 6">
            <a:extLst>
              <a:ext uri="{FF2B5EF4-FFF2-40B4-BE49-F238E27FC236}">
                <a16:creationId xmlns:a16="http://schemas.microsoft.com/office/drawing/2014/main" id="{A18866A0-EFC8-4670-970F-8A83B3CC0A0E}"/>
              </a:ext>
            </a:extLst>
          </p:cNvPr>
          <p:cNvSpPr txBox="1"/>
          <p:nvPr/>
        </p:nvSpPr>
        <p:spPr>
          <a:xfrm>
            <a:off x="3048740" y="4072802"/>
            <a:ext cx="6094520" cy="461665"/>
          </a:xfrm>
          <a:prstGeom prst="rect">
            <a:avLst/>
          </a:prstGeom>
          <a:noFill/>
        </p:spPr>
        <p:txBody>
          <a:bodyPr wrap="square">
            <a:spAutoFit/>
          </a:bodyPr>
          <a:lstStyle/>
          <a:p>
            <a:r>
              <a:rPr lang="zh-CN" altLang="en-US" sz="2400"/>
              <a:t>n+n/2+n/4+n/8+...+1 </a:t>
            </a:r>
            <a:r>
              <a:rPr lang="en-US" altLang="zh-CN" sz="2400"/>
              <a:t>= 2n-1 -&gt; O(n)</a:t>
            </a:r>
            <a:endParaRPr lang="zh-CN" altLang="en-US" sz="2400"/>
          </a:p>
        </p:txBody>
      </p:sp>
    </p:spTree>
    <p:extLst>
      <p:ext uri="{BB962C8B-B14F-4D97-AF65-F5344CB8AC3E}">
        <p14:creationId xmlns:p14="http://schemas.microsoft.com/office/powerpoint/2010/main" val="4056376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7E8CBC-EEB3-488E-8455-919AB966B2C4}"/>
              </a:ext>
            </a:extLst>
          </p:cNvPr>
          <p:cNvSpPr>
            <a:spLocks noGrp="1"/>
          </p:cNvSpPr>
          <p:nvPr>
            <p:ph type="title"/>
          </p:nvPr>
        </p:nvSpPr>
        <p:spPr/>
        <p:txBody>
          <a:bodyPr/>
          <a:lstStyle/>
          <a:p>
            <a:r>
              <a:rPr lang="zh-CN" altLang="en-US" dirty="0"/>
              <a:t>棋盘覆盖问题</a:t>
            </a:r>
          </a:p>
        </p:txBody>
      </p:sp>
      <p:sp>
        <p:nvSpPr>
          <p:cNvPr id="3" name="内容占位符 2">
            <a:extLst>
              <a:ext uri="{FF2B5EF4-FFF2-40B4-BE49-F238E27FC236}">
                <a16:creationId xmlns:a16="http://schemas.microsoft.com/office/drawing/2014/main" id="{D364E88F-FDE0-43FB-95BE-ADDC9C395EBC}"/>
              </a:ext>
            </a:extLst>
          </p:cNvPr>
          <p:cNvSpPr>
            <a:spLocks noGrp="1"/>
          </p:cNvSpPr>
          <p:nvPr>
            <p:ph idx="1"/>
          </p:nvPr>
        </p:nvSpPr>
        <p:spPr/>
        <p:txBody>
          <a:bodyPr>
            <a:normAutofit/>
          </a:bodyPr>
          <a:lstStyle/>
          <a:p>
            <a:pPr marL="0" indent="0">
              <a:buNone/>
            </a:pPr>
            <a:r>
              <a:rPr lang="zh-CN" altLang="en-US" dirty="0"/>
              <a:t>在一块</a:t>
            </a:r>
            <a:r>
              <a:rPr lang="en-US" altLang="zh-CN" dirty="0"/>
              <a:t>2k*2k</a:t>
            </a:r>
            <a:r>
              <a:rPr lang="zh-CN" altLang="en-US" dirty="0"/>
              <a:t>个正方形的木板上，一个正方形是黑色的，其他正方形是白色的。该问题要求，在板覆盖的情况下，除黑色方块外的所有白色方块都应覆盖下图所示的四种不同形式的</a:t>
            </a:r>
            <a:r>
              <a:rPr lang="en-US" altLang="zh-CN" dirty="0"/>
              <a:t>L</a:t>
            </a:r>
            <a:r>
              <a:rPr lang="zh-CN" altLang="en-US" dirty="0"/>
              <a:t>形卡，并且两种</a:t>
            </a:r>
            <a:r>
              <a:rPr lang="en-US" altLang="zh-CN" dirty="0"/>
              <a:t>L</a:t>
            </a:r>
            <a:r>
              <a:rPr lang="zh-CN" altLang="en-US" dirty="0"/>
              <a:t>形卡不应重叠。</a:t>
            </a:r>
          </a:p>
        </p:txBody>
      </p:sp>
      <p:pic>
        <p:nvPicPr>
          <p:cNvPr id="5" name="图片 4">
            <a:extLst>
              <a:ext uri="{FF2B5EF4-FFF2-40B4-BE49-F238E27FC236}">
                <a16:creationId xmlns:a16="http://schemas.microsoft.com/office/drawing/2014/main" id="{C38A5860-BA90-4330-A0E1-E76D83D8C95C}"/>
              </a:ext>
            </a:extLst>
          </p:cNvPr>
          <p:cNvPicPr>
            <a:picLocks noChangeAspect="1"/>
          </p:cNvPicPr>
          <p:nvPr/>
        </p:nvPicPr>
        <p:blipFill>
          <a:blip r:embed="rId2"/>
          <a:stretch>
            <a:fillRect/>
          </a:stretch>
        </p:blipFill>
        <p:spPr>
          <a:xfrm>
            <a:off x="2400361" y="4001294"/>
            <a:ext cx="7391278" cy="2031032"/>
          </a:xfrm>
          <a:prstGeom prst="rect">
            <a:avLst/>
          </a:prstGeom>
        </p:spPr>
      </p:pic>
    </p:spTree>
    <p:extLst>
      <p:ext uri="{BB962C8B-B14F-4D97-AF65-F5344CB8AC3E}">
        <p14:creationId xmlns:p14="http://schemas.microsoft.com/office/powerpoint/2010/main" val="2966641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F187E27-B1F2-4906-9D8E-8CFD22663A24}"/>
              </a:ext>
            </a:extLst>
          </p:cNvPr>
          <p:cNvSpPr>
            <a:spLocks noGrp="1"/>
          </p:cNvSpPr>
          <p:nvPr>
            <p:ph type="title"/>
          </p:nvPr>
        </p:nvSpPr>
        <p:spPr/>
        <p:txBody>
          <a:bodyPr>
            <a:normAutofit/>
          </a:bodyPr>
          <a:lstStyle/>
          <a:p>
            <a:r>
              <a:rPr lang="zh-CN" altLang="en-US" sz="4000" dirty="0"/>
              <a:t>分治，实现棋盘覆盖</a:t>
            </a:r>
          </a:p>
        </p:txBody>
      </p:sp>
      <p:sp>
        <p:nvSpPr>
          <p:cNvPr id="3" name="内容占位符 2">
            <a:extLst>
              <a:ext uri="{FF2B5EF4-FFF2-40B4-BE49-F238E27FC236}">
                <a16:creationId xmlns:a16="http://schemas.microsoft.com/office/drawing/2014/main" id="{098BFDA7-1A8C-4F6D-92A9-73328BD976F7}"/>
              </a:ext>
            </a:extLst>
          </p:cNvPr>
          <p:cNvSpPr>
            <a:spLocks noGrp="1"/>
          </p:cNvSpPr>
          <p:nvPr>
            <p:ph idx="1"/>
          </p:nvPr>
        </p:nvSpPr>
        <p:spPr/>
        <p:txBody>
          <a:bodyPr>
            <a:normAutofit/>
          </a:bodyPr>
          <a:lstStyle/>
          <a:p>
            <a:pPr marL="0" indent="0">
              <a:buNone/>
            </a:pPr>
            <a:r>
              <a:rPr lang="en-US" altLang="zh-CN" dirty="0"/>
              <a:t>k=0</a:t>
            </a:r>
            <a:r>
              <a:rPr lang="zh-CN" altLang="en-US" dirty="0"/>
              <a:t>（</a:t>
            </a:r>
            <a:r>
              <a:rPr lang="en-US" altLang="zh-CN" dirty="0"/>
              <a:t>1×1</a:t>
            </a:r>
            <a:r>
              <a:rPr lang="zh-CN" altLang="en-US" dirty="0"/>
              <a:t>板，一个黑色方块），卡片数量为</a:t>
            </a:r>
            <a:r>
              <a:rPr lang="en-US" altLang="zh-CN" dirty="0"/>
              <a:t>0</a:t>
            </a:r>
            <a:r>
              <a:rPr lang="zh-CN" altLang="en-US" dirty="0"/>
              <a:t>；</a:t>
            </a:r>
            <a:endParaRPr lang="en-US" altLang="zh-CN" dirty="0"/>
          </a:p>
          <a:p>
            <a:pPr marL="0" indent="0">
              <a:buNone/>
            </a:pPr>
            <a:r>
              <a:rPr lang="en-US" altLang="zh-CN" dirty="0"/>
              <a:t>k&gt;0</a:t>
            </a:r>
          </a:p>
          <a:p>
            <a:pPr marL="0" indent="0">
              <a:buNone/>
            </a:pPr>
            <a:r>
              <a:rPr lang="zh-CN" altLang="en-US" dirty="0"/>
              <a:t>将</a:t>
            </a:r>
            <a:r>
              <a:rPr lang="en-US" altLang="zh-CN" dirty="0"/>
              <a:t>2k*2k</a:t>
            </a:r>
            <a:r>
              <a:rPr lang="zh-CN" altLang="en-US" dirty="0"/>
              <a:t>板分为四块</a:t>
            </a:r>
            <a:r>
              <a:rPr lang="en-US" altLang="zh-CN" dirty="0"/>
              <a:t>2k-1*2k-1</a:t>
            </a:r>
            <a:r>
              <a:rPr lang="zh-CN" altLang="en-US" dirty="0"/>
              <a:t>子板；在递归之前，将原始问题转换为四个更小、相同的子问题；用一张卡盖住三个子板（没有黑色方块）的连接处；递归拆分，直到它减少到</a:t>
            </a:r>
            <a:r>
              <a:rPr lang="en-US" altLang="zh-CN" dirty="0"/>
              <a:t>1*1</a:t>
            </a:r>
            <a:r>
              <a:rPr lang="zh-CN" altLang="en-US" dirty="0"/>
              <a:t>。</a:t>
            </a:r>
          </a:p>
        </p:txBody>
      </p:sp>
      <p:pic>
        <p:nvPicPr>
          <p:cNvPr id="8" name="图片 7">
            <a:extLst>
              <a:ext uri="{FF2B5EF4-FFF2-40B4-BE49-F238E27FC236}">
                <a16:creationId xmlns:a16="http://schemas.microsoft.com/office/drawing/2014/main" id="{DF024739-F4FB-4344-91A5-037820091325}"/>
              </a:ext>
            </a:extLst>
          </p:cNvPr>
          <p:cNvPicPr>
            <a:picLocks noChangeAspect="1"/>
          </p:cNvPicPr>
          <p:nvPr/>
        </p:nvPicPr>
        <p:blipFill>
          <a:blip r:embed="rId2"/>
          <a:stretch>
            <a:fillRect/>
          </a:stretch>
        </p:blipFill>
        <p:spPr>
          <a:xfrm>
            <a:off x="7799140" y="3991033"/>
            <a:ext cx="2748734" cy="2501842"/>
          </a:xfrm>
          <a:prstGeom prst="rect">
            <a:avLst/>
          </a:prstGeom>
        </p:spPr>
      </p:pic>
    </p:spTree>
    <p:extLst>
      <p:ext uri="{BB962C8B-B14F-4D97-AF65-F5344CB8AC3E}">
        <p14:creationId xmlns:p14="http://schemas.microsoft.com/office/powerpoint/2010/main" val="3449403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A5E4CB-60F9-4505-AE88-6DAADA06BF69}"/>
              </a:ext>
            </a:extLst>
          </p:cNvPr>
          <p:cNvSpPr>
            <a:spLocks noGrp="1"/>
          </p:cNvSpPr>
          <p:nvPr>
            <p:ph type="title"/>
          </p:nvPr>
        </p:nvSpPr>
        <p:spPr/>
        <p:txBody>
          <a:bodyPr/>
          <a:lstStyle/>
          <a:p>
            <a:r>
              <a:rPr lang="en-US" altLang="zh-CN" dirty="0"/>
              <a:t>Algorithm analysis</a:t>
            </a:r>
            <a:endParaRPr lang="zh-CN" altLang="en-US" dirty="0"/>
          </a:p>
        </p:txBody>
      </p:sp>
      <p:sp>
        <p:nvSpPr>
          <p:cNvPr id="3" name="内容占位符 2">
            <a:extLst>
              <a:ext uri="{FF2B5EF4-FFF2-40B4-BE49-F238E27FC236}">
                <a16:creationId xmlns:a16="http://schemas.microsoft.com/office/drawing/2014/main" id="{41FFD883-FE5F-41D0-BA96-4E436CB1C94A}"/>
              </a:ext>
            </a:extLst>
          </p:cNvPr>
          <p:cNvSpPr>
            <a:spLocks noGrp="1"/>
          </p:cNvSpPr>
          <p:nvPr>
            <p:ph idx="1"/>
          </p:nvPr>
        </p:nvSpPr>
        <p:spPr/>
        <p:txBody>
          <a:bodyPr/>
          <a:lstStyle/>
          <a:p>
            <a:pPr marL="0" indent="0">
              <a:buNone/>
            </a:pPr>
            <a:r>
              <a:rPr lang="en-US" altLang="zh-CN" dirty="0"/>
              <a:t>T(k) satisfies the following equations:</a:t>
            </a:r>
          </a:p>
          <a:p>
            <a:pPr marL="0" indent="0">
              <a:buNone/>
            </a:pPr>
            <a:endParaRPr lang="en-US" altLang="zh-CN" dirty="0"/>
          </a:p>
          <a:p>
            <a:pPr marL="0" indent="0">
              <a:buNone/>
            </a:pPr>
            <a:r>
              <a:rPr lang="en-US" altLang="zh-CN" dirty="0"/>
              <a:t>When k = 0, T(k) = 1</a:t>
            </a:r>
          </a:p>
          <a:p>
            <a:pPr marL="0" indent="0">
              <a:buNone/>
            </a:pPr>
            <a:endParaRPr lang="en-US" altLang="zh-CN" dirty="0"/>
          </a:p>
          <a:p>
            <a:pPr marL="0" indent="0">
              <a:buNone/>
            </a:pPr>
            <a:r>
              <a:rPr lang="en-US" altLang="zh-CN" dirty="0"/>
              <a:t>When k &gt; 0, T(k) = 4T(k-1)</a:t>
            </a:r>
          </a:p>
          <a:p>
            <a:pPr marL="0" indent="0">
              <a:buNone/>
            </a:pPr>
            <a:endParaRPr lang="en-US" altLang="zh-CN" dirty="0"/>
          </a:p>
          <a:p>
            <a:pPr marL="0" indent="0">
              <a:buNone/>
            </a:pPr>
            <a:r>
              <a:rPr lang="en-US" altLang="zh-CN" dirty="0"/>
              <a:t>Solve the equations to get T(k) = O(4</a:t>
            </a:r>
            <a:r>
              <a:rPr lang="en-US" altLang="zh-CN" baseline="30000" dirty="0"/>
              <a:t>k</a:t>
            </a:r>
            <a:r>
              <a:rPr lang="en-US" altLang="zh-CN" dirty="0"/>
              <a:t>)</a:t>
            </a:r>
            <a:endParaRPr lang="zh-CN" altLang="en-US" dirty="0"/>
          </a:p>
        </p:txBody>
      </p:sp>
    </p:spTree>
    <p:extLst>
      <p:ext uri="{BB962C8B-B14F-4D97-AF65-F5344CB8AC3E}">
        <p14:creationId xmlns:p14="http://schemas.microsoft.com/office/powerpoint/2010/main" val="3478110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7E6E7-06BE-4982-86B6-45318439A147}"/>
              </a:ext>
            </a:extLst>
          </p:cNvPr>
          <p:cNvSpPr>
            <a:spLocks noGrp="1"/>
          </p:cNvSpPr>
          <p:nvPr>
            <p:ph type="title"/>
          </p:nvPr>
        </p:nvSpPr>
        <p:spPr/>
        <p:txBody>
          <a:bodyPr/>
          <a:lstStyle/>
          <a:p>
            <a:r>
              <a:rPr lang="zh-CN" altLang="en-US" dirty="0"/>
              <a:t>循环调度问题</a:t>
            </a:r>
          </a:p>
        </p:txBody>
      </p:sp>
      <p:sp>
        <p:nvSpPr>
          <p:cNvPr id="3" name="内容占位符 2">
            <a:extLst>
              <a:ext uri="{FF2B5EF4-FFF2-40B4-BE49-F238E27FC236}">
                <a16:creationId xmlns:a16="http://schemas.microsoft.com/office/drawing/2014/main" id="{1CF6E220-8BAB-4FF6-9352-E4AE9E6D41B3}"/>
              </a:ext>
            </a:extLst>
          </p:cNvPr>
          <p:cNvSpPr>
            <a:spLocks noGrp="1"/>
          </p:cNvSpPr>
          <p:nvPr>
            <p:ph idx="1"/>
          </p:nvPr>
        </p:nvSpPr>
        <p:spPr/>
        <p:txBody>
          <a:bodyPr/>
          <a:lstStyle/>
          <a:p>
            <a:pPr marL="0" indent="0">
              <a:buNone/>
            </a:pPr>
            <a:r>
              <a:rPr lang="en-US" altLang="zh-CN" dirty="0"/>
              <a:t>n=2k</a:t>
            </a:r>
            <a:r>
              <a:rPr lang="zh-CN" altLang="en-US" dirty="0"/>
              <a:t>名选手参加网球循环赛，需要设计比赛时间表。每位选手必须与其他</a:t>
            </a:r>
            <a:r>
              <a:rPr lang="en-US" altLang="zh-CN" dirty="0"/>
              <a:t>n−1</a:t>
            </a:r>
            <a:r>
              <a:rPr lang="zh-CN" altLang="en-US" dirty="0"/>
              <a:t>名选手进行一次比赛；每个选手每天只能参加一次比赛；循环赛将持续</a:t>
            </a:r>
            <a:r>
              <a:rPr lang="en-US" altLang="zh-CN" dirty="0"/>
              <a:t>n-1</a:t>
            </a:r>
            <a:r>
              <a:rPr lang="zh-CN" altLang="en-US" dirty="0"/>
              <a:t>天。根据这些要求，设计一个游戏时间表。该表有</a:t>
            </a:r>
            <a:r>
              <a:rPr lang="en-US" altLang="zh-CN" dirty="0"/>
              <a:t>n</a:t>
            </a:r>
            <a:r>
              <a:rPr lang="zh-CN" altLang="en-US" dirty="0"/>
              <a:t>行，</a:t>
            </a:r>
            <a:r>
              <a:rPr lang="en-US" altLang="zh-CN" dirty="0"/>
              <a:t>n-1</a:t>
            </a:r>
            <a:r>
              <a:rPr lang="zh-CN" altLang="en-US" dirty="0"/>
              <a:t>列，第</a:t>
            </a:r>
            <a:r>
              <a:rPr lang="en-US" altLang="zh-CN" dirty="0" err="1"/>
              <a:t>i</a:t>
            </a:r>
            <a:r>
              <a:rPr lang="zh-CN" altLang="en-US" dirty="0"/>
              <a:t>行中的</a:t>
            </a:r>
            <a:r>
              <a:rPr lang="en-US" altLang="zh-CN" dirty="0"/>
              <a:t>j</a:t>
            </a:r>
            <a:r>
              <a:rPr lang="zh-CN" altLang="en-US" dirty="0"/>
              <a:t>是第</a:t>
            </a:r>
            <a:r>
              <a:rPr lang="en-US" altLang="zh-CN" dirty="0" err="1"/>
              <a:t>i</a:t>
            </a:r>
            <a:r>
              <a:rPr lang="zh-CN" altLang="en-US" dirty="0"/>
              <a:t>个玩家在第</a:t>
            </a:r>
            <a:r>
              <a:rPr lang="en-US" altLang="zh-CN" dirty="0"/>
              <a:t>j</a:t>
            </a:r>
            <a:r>
              <a:rPr lang="zh-CN" altLang="en-US" dirty="0"/>
              <a:t>天遇到的玩家。</a:t>
            </a:r>
          </a:p>
        </p:txBody>
      </p:sp>
    </p:spTree>
    <p:extLst>
      <p:ext uri="{BB962C8B-B14F-4D97-AF65-F5344CB8AC3E}">
        <p14:creationId xmlns:p14="http://schemas.microsoft.com/office/powerpoint/2010/main" val="4193702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44020-3462-4BB6-BBF4-2673E5D27EB8}"/>
              </a:ext>
            </a:extLst>
          </p:cNvPr>
          <p:cNvSpPr>
            <a:spLocks noGrp="1"/>
          </p:cNvSpPr>
          <p:nvPr>
            <p:ph type="title"/>
          </p:nvPr>
        </p:nvSpPr>
        <p:spPr/>
        <p:txBody>
          <a:bodyPr/>
          <a:lstStyle/>
          <a:p>
            <a:r>
              <a:rPr lang="en-US" altLang="zh-CN" sz="4400"/>
              <a:t>Divide and conquer for circular schedule</a:t>
            </a:r>
            <a:endParaRPr lang="zh-CN" altLang="en-US"/>
          </a:p>
        </p:txBody>
      </p:sp>
      <p:pic>
        <p:nvPicPr>
          <p:cNvPr id="5" name="图片 4">
            <a:extLst>
              <a:ext uri="{FF2B5EF4-FFF2-40B4-BE49-F238E27FC236}">
                <a16:creationId xmlns:a16="http://schemas.microsoft.com/office/drawing/2014/main" id="{1B124A7E-9E7C-48D4-B3CF-56CB2A466BEC}"/>
              </a:ext>
            </a:extLst>
          </p:cNvPr>
          <p:cNvPicPr>
            <a:picLocks noChangeAspect="1"/>
          </p:cNvPicPr>
          <p:nvPr/>
        </p:nvPicPr>
        <p:blipFill>
          <a:blip r:embed="rId2"/>
          <a:stretch>
            <a:fillRect/>
          </a:stretch>
        </p:blipFill>
        <p:spPr>
          <a:xfrm>
            <a:off x="838200" y="1540082"/>
            <a:ext cx="3104762" cy="2819048"/>
          </a:xfrm>
          <a:prstGeom prst="rect">
            <a:avLst/>
          </a:prstGeom>
        </p:spPr>
      </p:pic>
      <p:sp>
        <p:nvSpPr>
          <p:cNvPr id="7" name="文本框 6">
            <a:extLst>
              <a:ext uri="{FF2B5EF4-FFF2-40B4-BE49-F238E27FC236}">
                <a16:creationId xmlns:a16="http://schemas.microsoft.com/office/drawing/2014/main" id="{FFB20D75-1265-4EA1-BDDD-7282427B6C41}"/>
              </a:ext>
            </a:extLst>
          </p:cNvPr>
          <p:cNvSpPr txBox="1"/>
          <p:nvPr/>
        </p:nvSpPr>
        <p:spPr>
          <a:xfrm>
            <a:off x="838200" y="4682943"/>
            <a:ext cx="9823882" cy="954107"/>
          </a:xfrm>
          <a:prstGeom prst="rect">
            <a:avLst/>
          </a:prstGeom>
          <a:noFill/>
        </p:spPr>
        <p:txBody>
          <a:bodyPr wrap="square">
            <a:spAutoFit/>
          </a:bodyPr>
          <a:lstStyle/>
          <a:p>
            <a:r>
              <a:rPr lang="zh-CN" altLang="en-US" sz="2800" dirty="0"/>
              <a:t>右下角等于左上角，右上角等于左下角。左下角等于左上角（当</a:t>
            </a:r>
            <a:r>
              <a:rPr lang="en-US" altLang="zh-CN" sz="2800" dirty="0"/>
              <a:t>k=2</a:t>
            </a:r>
            <a:r>
              <a:rPr lang="zh-CN" altLang="en-US" sz="2800" dirty="0"/>
              <a:t>时的解）加</a:t>
            </a:r>
            <a:r>
              <a:rPr lang="en-US" altLang="zh-CN" sz="2800" dirty="0"/>
              <a:t>2k/2</a:t>
            </a:r>
            <a:r>
              <a:rPr lang="zh-CN" altLang="en-US" sz="2800" dirty="0"/>
              <a:t>。</a:t>
            </a:r>
          </a:p>
        </p:txBody>
      </p:sp>
      <p:sp>
        <p:nvSpPr>
          <p:cNvPr id="9" name="文本框 8">
            <a:extLst>
              <a:ext uri="{FF2B5EF4-FFF2-40B4-BE49-F238E27FC236}">
                <a16:creationId xmlns:a16="http://schemas.microsoft.com/office/drawing/2014/main" id="{7A22744C-5E9E-4D7E-ABE1-7BD51EFA58B6}"/>
              </a:ext>
            </a:extLst>
          </p:cNvPr>
          <p:cNvSpPr txBox="1"/>
          <p:nvPr/>
        </p:nvSpPr>
        <p:spPr>
          <a:xfrm>
            <a:off x="4476565" y="2632817"/>
            <a:ext cx="3903955" cy="584775"/>
          </a:xfrm>
          <a:prstGeom prst="rect">
            <a:avLst/>
          </a:prstGeom>
          <a:noFill/>
        </p:spPr>
        <p:txBody>
          <a:bodyPr wrap="square">
            <a:spAutoFit/>
          </a:bodyPr>
          <a:lstStyle/>
          <a:p>
            <a:r>
              <a:rPr lang="en-US" altLang="zh-CN" sz="3200"/>
              <a:t>a solution when k=3</a:t>
            </a:r>
            <a:endParaRPr lang="zh-CN" altLang="en-US" sz="3200"/>
          </a:p>
        </p:txBody>
      </p:sp>
    </p:spTree>
    <p:extLst>
      <p:ext uri="{BB962C8B-B14F-4D97-AF65-F5344CB8AC3E}">
        <p14:creationId xmlns:p14="http://schemas.microsoft.com/office/powerpoint/2010/main" val="3667140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A5E4CB-60F9-4505-AE88-6DAADA06BF69}"/>
              </a:ext>
            </a:extLst>
          </p:cNvPr>
          <p:cNvSpPr>
            <a:spLocks noGrp="1"/>
          </p:cNvSpPr>
          <p:nvPr>
            <p:ph type="title"/>
          </p:nvPr>
        </p:nvSpPr>
        <p:spPr/>
        <p:txBody>
          <a:bodyPr/>
          <a:lstStyle/>
          <a:p>
            <a:r>
              <a:rPr lang="en-US" altLang="zh-CN"/>
              <a:t>Algorithm analysis</a:t>
            </a:r>
            <a:endParaRPr lang="zh-CN" altLang="en-US"/>
          </a:p>
        </p:txBody>
      </p:sp>
      <p:sp>
        <p:nvSpPr>
          <p:cNvPr id="3" name="内容占位符 2">
            <a:extLst>
              <a:ext uri="{FF2B5EF4-FFF2-40B4-BE49-F238E27FC236}">
                <a16:creationId xmlns:a16="http://schemas.microsoft.com/office/drawing/2014/main" id="{41FFD883-FE5F-41D0-BA96-4E436CB1C94A}"/>
              </a:ext>
            </a:extLst>
          </p:cNvPr>
          <p:cNvSpPr>
            <a:spLocks noGrp="1"/>
          </p:cNvSpPr>
          <p:nvPr>
            <p:ph idx="1"/>
          </p:nvPr>
        </p:nvSpPr>
        <p:spPr/>
        <p:txBody>
          <a:bodyPr/>
          <a:lstStyle/>
          <a:p>
            <a:pPr marL="0" indent="0">
              <a:buNone/>
            </a:pPr>
            <a:r>
              <a:rPr lang="en-US" altLang="zh-CN" dirty="0"/>
              <a:t>T(k) satisfies the following equations:</a:t>
            </a:r>
          </a:p>
          <a:p>
            <a:pPr marL="0" indent="0">
              <a:buNone/>
            </a:pPr>
            <a:endParaRPr lang="en-US" altLang="zh-CN" dirty="0"/>
          </a:p>
          <a:p>
            <a:pPr marL="0" indent="0">
              <a:buNone/>
            </a:pPr>
            <a:r>
              <a:rPr lang="en-US" altLang="zh-CN" dirty="0"/>
              <a:t>When k = 0, T(k) = 1</a:t>
            </a:r>
          </a:p>
          <a:p>
            <a:pPr marL="0" indent="0">
              <a:buNone/>
            </a:pPr>
            <a:endParaRPr lang="en-US" altLang="zh-CN" dirty="0"/>
          </a:p>
          <a:p>
            <a:pPr marL="0" indent="0">
              <a:buNone/>
            </a:pPr>
            <a:r>
              <a:rPr lang="en-US" altLang="zh-CN" dirty="0"/>
              <a:t>When k &gt; 0, T(k) = 4T(k-1)</a:t>
            </a:r>
          </a:p>
          <a:p>
            <a:pPr marL="0" indent="0">
              <a:buNone/>
            </a:pPr>
            <a:endParaRPr lang="en-US" altLang="zh-CN" dirty="0"/>
          </a:p>
          <a:p>
            <a:pPr marL="0" indent="0">
              <a:buNone/>
            </a:pPr>
            <a:r>
              <a:rPr lang="en-US" altLang="zh-CN" dirty="0"/>
              <a:t>Solve this equations to get T(k) = O(4</a:t>
            </a:r>
            <a:r>
              <a:rPr lang="en-US" altLang="zh-CN" baseline="30000" dirty="0"/>
              <a:t>k</a:t>
            </a:r>
            <a:r>
              <a:rPr lang="en-US" altLang="zh-CN" dirty="0"/>
              <a:t>)</a:t>
            </a:r>
            <a:endParaRPr lang="zh-CN" altLang="en-US" dirty="0"/>
          </a:p>
        </p:txBody>
      </p:sp>
    </p:spTree>
    <p:extLst>
      <p:ext uri="{BB962C8B-B14F-4D97-AF65-F5344CB8AC3E}">
        <p14:creationId xmlns:p14="http://schemas.microsoft.com/office/powerpoint/2010/main" val="3499049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7567A9-9628-42DD-A550-B8E95011C342}"/>
              </a:ext>
            </a:extLst>
          </p:cNvPr>
          <p:cNvSpPr>
            <a:spLocks noGrp="1"/>
          </p:cNvSpPr>
          <p:nvPr>
            <p:ph type="title"/>
          </p:nvPr>
        </p:nvSpPr>
        <p:spPr>
          <a:xfrm>
            <a:off x="660647" y="223083"/>
            <a:ext cx="10515600" cy="1325563"/>
          </a:xfrm>
        </p:spPr>
        <p:txBody>
          <a:bodyPr/>
          <a:lstStyle/>
          <a:p>
            <a:pPr algn="ctr"/>
            <a:r>
              <a:rPr lang="en-US" altLang="zh-CN">
                <a:hlinkClick r:id="rId2" action="ppaction://hlinkfile"/>
              </a:rPr>
              <a:t>Ants</a:t>
            </a:r>
            <a:endParaRPr lang="zh-CN" altLang="en-US"/>
          </a:p>
        </p:txBody>
      </p:sp>
      <p:pic>
        <p:nvPicPr>
          <p:cNvPr id="5" name="图片 4">
            <a:extLst>
              <a:ext uri="{FF2B5EF4-FFF2-40B4-BE49-F238E27FC236}">
                <a16:creationId xmlns:a16="http://schemas.microsoft.com/office/drawing/2014/main" id="{9B7F827D-36B0-4250-93FE-E6924934C150}"/>
              </a:ext>
            </a:extLst>
          </p:cNvPr>
          <p:cNvPicPr>
            <a:picLocks noChangeAspect="1"/>
          </p:cNvPicPr>
          <p:nvPr/>
        </p:nvPicPr>
        <p:blipFill>
          <a:blip r:embed="rId3"/>
          <a:stretch>
            <a:fillRect/>
          </a:stretch>
        </p:blipFill>
        <p:spPr>
          <a:xfrm>
            <a:off x="2480352" y="1646038"/>
            <a:ext cx="6876190" cy="3228571"/>
          </a:xfrm>
          <a:prstGeom prst="rect">
            <a:avLst/>
          </a:prstGeom>
        </p:spPr>
      </p:pic>
      <p:sp>
        <p:nvSpPr>
          <p:cNvPr id="6" name="文本框 5">
            <a:extLst>
              <a:ext uri="{FF2B5EF4-FFF2-40B4-BE49-F238E27FC236}">
                <a16:creationId xmlns:a16="http://schemas.microsoft.com/office/drawing/2014/main" id="{E3D954A3-449F-49F6-B02D-6D83A53D205D}"/>
              </a:ext>
            </a:extLst>
          </p:cNvPr>
          <p:cNvSpPr txBox="1"/>
          <p:nvPr/>
        </p:nvSpPr>
        <p:spPr>
          <a:xfrm>
            <a:off x="4947452" y="5758934"/>
            <a:ext cx="1941990" cy="584775"/>
          </a:xfrm>
          <a:prstGeom prst="rect">
            <a:avLst/>
          </a:prstGeom>
          <a:noFill/>
        </p:spPr>
        <p:txBody>
          <a:bodyPr wrap="square">
            <a:spAutoFit/>
          </a:bodyPr>
          <a:lstStyle/>
          <a:p>
            <a:r>
              <a:rPr lang="en-US" altLang="zh-CN" sz="3200" b="0" i="0" u="none" strike="noStrike" dirty="0">
                <a:solidFill>
                  <a:srgbClr val="4D4D4D"/>
                </a:solidFill>
                <a:effectLst/>
                <a:latin typeface="MathJax_Math-italic"/>
              </a:rPr>
              <a:t>O</a:t>
            </a:r>
            <a:r>
              <a:rPr lang="en-US" altLang="zh-CN" sz="3200" b="0" i="0" u="none" strike="noStrike" dirty="0">
                <a:solidFill>
                  <a:srgbClr val="4D4D4D"/>
                </a:solidFill>
                <a:effectLst/>
                <a:latin typeface="MathJax_Main"/>
              </a:rPr>
              <a:t>(</a:t>
            </a:r>
            <a:r>
              <a:rPr lang="en-US" altLang="zh-CN" sz="3200" b="0" i="0" u="none" strike="noStrike" dirty="0" err="1">
                <a:solidFill>
                  <a:srgbClr val="4D4D4D"/>
                </a:solidFill>
                <a:effectLst/>
                <a:latin typeface="MathJax_Math-italic"/>
              </a:rPr>
              <a:t>nlogn</a:t>
            </a:r>
            <a:r>
              <a:rPr lang="en-US" altLang="zh-CN" sz="3200" b="0" i="0" u="none" strike="noStrike" dirty="0">
                <a:solidFill>
                  <a:srgbClr val="4D4D4D"/>
                </a:solidFill>
                <a:effectLst/>
                <a:latin typeface="MathJax_Main"/>
              </a:rPr>
              <a:t>)</a:t>
            </a:r>
            <a:endParaRPr lang="zh-CN" altLang="en-US" sz="3200" dirty="0"/>
          </a:p>
        </p:txBody>
      </p:sp>
    </p:spTree>
    <p:extLst>
      <p:ext uri="{BB962C8B-B14F-4D97-AF65-F5344CB8AC3E}">
        <p14:creationId xmlns:p14="http://schemas.microsoft.com/office/powerpoint/2010/main" val="1724567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B888FB-2401-41F1-B925-B61030423936}"/>
              </a:ext>
            </a:extLst>
          </p:cNvPr>
          <p:cNvSpPr>
            <a:spLocks noGrp="1"/>
          </p:cNvSpPr>
          <p:nvPr>
            <p:ph type="title"/>
          </p:nvPr>
        </p:nvSpPr>
        <p:spPr>
          <a:xfrm>
            <a:off x="731668" y="2460255"/>
            <a:ext cx="10515600" cy="1325563"/>
          </a:xfrm>
        </p:spPr>
        <p:txBody>
          <a:bodyPr/>
          <a:lstStyle/>
          <a:p>
            <a:pPr algn="ctr"/>
            <a:r>
              <a:rPr lang="zh-CN" altLang="en-US" sz="3600" dirty="0"/>
              <a:t>学习：最接近对问题（最接近点对问题）</a:t>
            </a:r>
          </a:p>
        </p:txBody>
      </p:sp>
      <p:sp>
        <p:nvSpPr>
          <p:cNvPr id="3" name="文本框 2">
            <a:extLst>
              <a:ext uri="{FF2B5EF4-FFF2-40B4-BE49-F238E27FC236}">
                <a16:creationId xmlns:a16="http://schemas.microsoft.com/office/drawing/2014/main" id="{F586FE6A-1C9E-3234-9A5F-3939C912D696}"/>
              </a:ext>
            </a:extLst>
          </p:cNvPr>
          <p:cNvSpPr txBox="1"/>
          <p:nvPr/>
        </p:nvSpPr>
        <p:spPr>
          <a:xfrm>
            <a:off x="4920818" y="4371744"/>
            <a:ext cx="1941990" cy="584775"/>
          </a:xfrm>
          <a:prstGeom prst="rect">
            <a:avLst/>
          </a:prstGeom>
          <a:noFill/>
        </p:spPr>
        <p:txBody>
          <a:bodyPr wrap="square">
            <a:spAutoFit/>
          </a:bodyPr>
          <a:lstStyle/>
          <a:p>
            <a:r>
              <a:rPr lang="en-US" altLang="zh-CN" sz="3200" b="0" i="0" u="none" strike="noStrike" dirty="0">
                <a:solidFill>
                  <a:srgbClr val="4D4D4D"/>
                </a:solidFill>
                <a:effectLst/>
                <a:latin typeface="MathJax_Math-italic"/>
              </a:rPr>
              <a:t>O</a:t>
            </a:r>
            <a:r>
              <a:rPr lang="en-US" altLang="zh-CN" sz="3200" b="0" i="0" u="none" strike="noStrike" dirty="0">
                <a:solidFill>
                  <a:srgbClr val="4D4D4D"/>
                </a:solidFill>
                <a:effectLst/>
                <a:latin typeface="MathJax_Main"/>
              </a:rPr>
              <a:t>(</a:t>
            </a:r>
            <a:r>
              <a:rPr lang="en-US" altLang="zh-CN" sz="3200" b="0" i="0" u="none" strike="noStrike" dirty="0" err="1">
                <a:solidFill>
                  <a:srgbClr val="4D4D4D"/>
                </a:solidFill>
                <a:effectLst/>
                <a:latin typeface="MathJax_Math-italic"/>
              </a:rPr>
              <a:t>nlogn</a:t>
            </a:r>
            <a:r>
              <a:rPr lang="en-US" altLang="zh-CN" sz="3200" b="0" i="0" u="none" strike="noStrike" dirty="0">
                <a:solidFill>
                  <a:srgbClr val="4D4D4D"/>
                </a:solidFill>
                <a:effectLst/>
                <a:latin typeface="MathJax_Main"/>
              </a:rPr>
              <a:t>)</a:t>
            </a:r>
            <a:endParaRPr lang="zh-CN" altLang="en-US" sz="3200" dirty="0"/>
          </a:p>
        </p:txBody>
      </p:sp>
    </p:spTree>
    <p:extLst>
      <p:ext uri="{BB962C8B-B14F-4D97-AF65-F5344CB8AC3E}">
        <p14:creationId xmlns:p14="http://schemas.microsoft.com/office/powerpoint/2010/main" val="2401358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B12155-CAF5-4670-BD1A-79CE7D608072}"/>
              </a:ext>
            </a:extLst>
          </p:cNvPr>
          <p:cNvSpPr>
            <a:spLocks noGrp="1"/>
          </p:cNvSpPr>
          <p:nvPr>
            <p:ph type="title"/>
          </p:nvPr>
        </p:nvSpPr>
        <p:spPr/>
        <p:txBody>
          <a:bodyPr/>
          <a:lstStyle/>
          <a:p>
            <a:r>
              <a:rPr lang="zh-CN" altLang="en-US" dirty="0"/>
              <a:t>共享重复的子问题</a:t>
            </a:r>
          </a:p>
        </p:txBody>
      </p:sp>
      <p:sp>
        <p:nvSpPr>
          <p:cNvPr id="3" name="内容占位符 2">
            <a:extLst>
              <a:ext uri="{FF2B5EF4-FFF2-40B4-BE49-F238E27FC236}">
                <a16:creationId xmlns:a16="http://schemas.microsoft.com/office/drawing/2014/main" id="{5C049BCA-444E-4253-A4F2-385517F324FB}"/>
              </a:ext>
            </a:extLst>
          </p:cNvPr>
          <p:cNvSpPr>
            <a:spLocks noGrp="1"/>
          </p:cNvSpPr>
          <p:nvPr>
            <p:ph idx="1"/>
          </p:nvPr>
        </p:nvSpPr>
        <p:spPr/>
        <p:txBody>
          <a:bodyPr/>
          <a:lstStyle/>
          <a:p>
            <a:r>
              <a:rPr lang="zh-CN" altLang="en-US" dirty="0"/>
              <a:t>对于某些问题，分支递归可能会多次评估同一个子问题。在这种情况下，可能值得确定并保存这些重叠子问题的解决方案，这是一种通常被称为记忆的技术。遵循极限，它导致了自下而上的分而治之的算法，如动态规划。</a:t>
            </a:r>
          </a:p>
        </p:txBody>
      </p:sp>
    </p:spTree>
    <p:extLst>
      <p:ext uri="{BB962C8B-B14F-4D97-AF65-F5344CB8AC3E}">
        <p14:creationId xmlns:p14="http://schemas.microsoft.com/office/powerpoint/2010/main" val="256522693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1801</TotalTime>
  <Words>1266</Words>
  <Application>Microsoft Office PowerPoint</Application>
  <PresentationFormat>宽屏</PresentationFormat>
  <Paragraphs>95</Paragraphs>
  <Slides>24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MathJax_Main</vt:lpstr>
      <vt:lpstr>MathJax_Math-italic</vt:lpstr>
      <vt:lpstr>等线</vt:lpstr>
      <vt:lpstr>等线 Light</vt:lpstr>
      <vt:lpstr>Arial</vt:lpstr>
      <vt:lpstr>Office 主题​​</vt:lpstr>
      <vt:lpstr>分治</vt:lpstr>
      <vt:lpstr>Divide and Conquer</vt:lpstr>
      <vt:lpstr>Maximum Contiguous Sum (O(n3))</vt:lpstr>
      <vt:lpstr>Maximum Contiguous Sum (O(n2))</vt:lpstr>
      <vt:lpstr>Maximum Contiguous Sum (O(nlog(n)))</vt:lpstr>
      <vt:lpstr>Divide and Conquer for Maximum Contiguous Sum </vt:lpstr>
      <vt:lpstr>More-- Maximum Contiguous Sum  (O(n))?</vt:lpstr>
      <vt:lpstr>分治的范式</vt:lpstr>
      <vt:lpstr>Time complexity</vt:lpstr>
      <vt:lpstr>堆栈大小</vt:lpstr>
      <vt:lpstr>合并排序</vt:lpstr>
      <vt:lpstr>quickSort</vt:lpstr>
      <vt:lpstr>quickSort的最坏情况行为</vt:lpstr>
      <vt:lpstr>quickSort的平均事例行为</vt:lpstr>
      <vt:lpstr>练习：找到O（n）中的第k小的元素</vt:lpstr>
      <vt:lpstr>棋盘覆盖问题</vt:lpstr>
      <vt:lpstr>分治，实现棋盘覆盖</vt:lpstr>
      <vt:lpstr>Algorithm analysis</vt:lpstr>
      <vt:lpstr>循环调度问题</vt:lpstr>
      <vt:lpstr>Divide and conquer for circular schedule</vt:lpstr>
      <vt:lpstr>Algorithm analysis</vt:lpstr>
      <vt:lpstr>Ants</vt:lpstr>
      <vt:lpstr>学习：最接近对问题（最接近点对问题）</vt:lpstr>
      <vt:lpstr>共享重复的子问题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Divide and Conquer</dc:title>
  <dc:creator>Xu Yanyan</dc:creator>
  <cp:lastModifiedBy>俊翔 黄</cp:lastModifiedBy>
  <cp:revision>143</cp:revision>
  <dcterms:created xsi:type="dcterms:W3CDTF">2021-02-14T14:51:38Z</dcterms:created>
  <dcterms:modified xsi:type="dcterms:W3CDTF">2024-05-25T09:09:38Z</dcterms:modified>
</cp:coreProperties>
</file>