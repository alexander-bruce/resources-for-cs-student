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82" r:id="rId5"/>
    <p:sldId id="283" r:id="rId6"/>
    <p:sldId id="257" r:id="rId7"/>
    <p:sldId id="258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84" r:id="rId17"/>
    <p:sldId id="269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B21EC-A978-4029-B469-6FBEB5671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19F3-F0AA-4BBB-BE4C-EDF820191F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B21EC-A978-4029-B469-6FBEB5671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19F3-F0AA-4BBB-BE4C-EDF820191F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B21EC-A978-4029-B469-6FBEB5671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19F3-F0AA-4BBB-BE4C-EDF820191F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B21EC-A978-4029-B469-6FBEB5671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19F3-F0AA-4BBB-BE4C-EDF820191F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B21EC-A978-4029-B469-6FBEB5671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19F3-F0AA-4BBB-BE4C-EDF820191F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B21EC-A978-4029-B469-6FBEB5671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19F3-F0AA-4BBB-BE4C-EDF820191F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B21EC-A978-4029-B469-6FBEB5671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19F3-F0AA-4BBB-BE4C-EDF820191F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B21EC-A978-4029-B469-6FBEB5671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19F3-F0AA-4BBB-BE4C-EDF820191F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B21EC-A978-4029-B469-6FBEB5671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19F3-F0AA-4BBB-BE4C-EDF820191F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B21EC-A978-4029-B469-6FBEB5671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19F3-F0AA-4BBB-BE4C-EDF820191F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B21EC-A978-4029-B469-6FBEB5671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A419F3-F0AA-4BBB-BE4C-EDF820191FB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B21EC-A978-4029-B469-6FBEB56717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419F3-F0AA-4BBB-BE4C-EDF820191FB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位运算 快速幂 </a:t>
            </a:r>
            <a:r>
              <a:rPr lang="en-US" altLang="zh-CN" dirty="0"/>
              <a:t>sort</a:t>
            </a:r>
            <a:br>
              <a:rPr lang="en-US" altLang="zh-CN" dirty="0"/>
            </a:br>
            <a:endParaRPr lang="en-US" alt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位运算概述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从现代计算机中所有的数据二进制的形式存储在设备中。即 0、1 两种状态，</a:t>
            </a:r>
            <a:r>
              <a:rPr lang="zh-CN" altLang="en-US" dirty="0">
                <a:solidFill>
                  <a:srgbClr val="FF0000"/>
                </a:solidFill>
              </a:rPr>
              <a:t>计算机对二进制数据进行的运算</a:t>
            </a:r>
            <a:r>
              <a:rPr lang="zh-CN" altLang="en-US" dirty="0"/>
              <a:t>(+、-、 * 、/)都是叫位运算，即将符号位共同参与运算的运算。相比在代码中直接使用(+、-、*、/)运算符，</a:t>
            </a:r>
            <a:r>
              <a:rPr lang="zh-CN" altLang="en-US" b="1" dirty="0"/>
              <a:t>合理的运用位运算更能显著提高代码在机器上的执行效率。</a:t>
            </a:r>
            <a:endParaRPr lang="zh-CN" altLang="en-US" b="1" dirty="0"/>
          </a:p>
          <a:p>
            <a:pPr marL="0" indent="0">
              <a:buNone/>
            </a:pPr>
            <a:endParaRPr lang="zh-CN" alt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二进制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58470"/>
            <a:ext cx="9144000" cy="788035"/>
          </a:xfrm>
        </p:spPr>
        <p:txBody>
          <a:bodyPr/>
          <a:p>
            <a:r>
              <a:rPr lang="zh-CN" altLang="en-US"/>
              <a:t>二进制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799590"/>
            <a:ext cx="10568940" cy="38627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539115"/>
            <a:ext cx="9144000" cy="876300"/>
          </a:xfrm>
        </p:spPr>
        <p:txBody>
          <a:bodyPr/>
          <a:p>
            <a:r>
              <a:rPr lang="zh-CN" altLang="en-US" sz="2400"/>
              <a:t>二进制</a:t>
            </a:r>
            <a:endParaRPr lang="zh-CN" altLang="en-US" sz="24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535" y="1525270"/>
            <a:ext cx="10488930" cy="43618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879725" y="669290"/>
            <a:ext cx="7059295" cy="1222375"/>
          </a:xfrm>
        </p:spPr>
        <p:txBody>
          <a:bodyPr>
            <a:normAutofit/>
          </a:bodyPr>
          <a:lstStyle/>
          <a:p>
            <a:r>
              <a:rPr lang="zh-CN" altLang="en-US" sz="3200" b="1" i="0" dirty="0">
                <a:solidFill>
                  <a:schemeClr val="tx1"/>
                </a:solidFill>
                <a:effectLst/>
                <a:latin typeface="PingFang SC"/>
              </a:rPr>
              <a:t>位运算概览</a:t>
            </a:r>
            <a:br>
              <a:rPr lang="en-US" altLang="zh-CN" sz="2400" b="1" i="0" dirty="0">
                <a:solidFill>
                  <a:srgbClr val="FF0000"/>
                </a:solidFill>
                <a:effectLst/>
                <a:latin typeface="PingFang SC"/>
              </a:rPr>
            </a:b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625" y="1995170"/>
            <a:ext cx="10650220" cy="43503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424071"/>
            <a:ext cx="9144000" cy="470944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与运算符（</a:t>
            </a:r>
            <a:r>
              <a:rPr lang="en-US" altLang="zh-CN" sz="2400" dirty="0"/>
              <a:t>&amp;</a:t>
            </a:r>
            <a:r>
              <a:rPr lang="zh-CN" altLang="en-US" sz="2400" dirty="0"/>
              <a:t>）</a:t>
            </a:r>
            <a:endParaRPr lang="zh-CN" altLang="en-US" sz="24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 rot="10800000" flipV="1">
            <a:off x="1524000" y="1921565"/>
            <a:ext cx="9144000" cy="3657599"/>
          </a:xfrm>
        </p:spPr>
        <p:txBody>
          <a:bodyPr>
            <a:normAutofit/>
          </a:bodyPr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234440"/>
            <a:ext cx="90830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78377"/>
            <a:ext cx="10707757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ea typeface="+mj-lt"/>
                <a:cs typeface="+mj-lt"/>
              </a:rPr>
              <a:t>按位或运算符（ </a:t>
            </a:r>
            <a:r>
              <a:rPr lang="en-US" altLang="zh-CN" sz="2400" dirty="0">
                <a:solidFill>
                  <a:schemeClr val="tx1"/>
                </a:solidFill>
                <a:ea typeface="+mj-lt"/>
                <a:cs typeface="+mj-lt"/>
              </a:rPr>
              <a:t>| </a:t>
            </a:r>
            <a:r>
              <a:rPr lang="zh-CN" altLang="en-US" sz="2400" dirty="0">
                <a:solidFill>
                  <a:schemeClr val="tx1"/>
                </a:solidFill>
                <a:ea typeface="+mj-lt"/>
                <a:cs typeface="+mj-lt"/>
              </a:rPr>
              <a:t>）</a:t>
            </a:r>
            <a:br>
              <a:rPr lang="zh-CN" altLang="en-US" sz="2400" dirty="0">
                <a:solidFill>
                  <a:schemeClr val="tx1"/>
                </a:solidFill>
              </a:rPr>
            </a:b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35735" y="2336165"/>
            <a:ext cx="9319260" cy="33299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异或运算符（</a:t>
            </a:r>
            <a:r>
              <a:rPr lang="en-US" altLang="zh-CN" sz="2400" dirty="0">
                <a:solidFill>
                  <a:schemeClr val="tx1"/>
                </a:solidFill>
              </a:rPr>
              <a:t>^</a:t>
            </a:r>
            <a:r>
              <a:rPr lang="zh-CN" altLang="en-US" sz="2400" dirty="0">
                <a:solidFill>
                  <a:schemeClr val="tx1"/>
                </a:solidFill>
              </a:rPr>
              <a:t>）</a:t>
            </a:r>
            <a:br>
              <a:rPr lang="zh-CN" altLang="en-US" sz="2400" dirty="0">
                <a:solidFill>
                  <a:srgbClr val="FF0000"/>
                </a:solidFill>
              </a:rPr>
            </a:br>
            <a:endParaRPr lang="zh-CN" altLang="en-US" sz="2400" dirty="0"/>
          </a:p>
        </p:txBody>
      </p:sp>
      <p:pic>
        <p:nvPicPr>
          <p:cNvPr id="8" name="内容占位符 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96950" y="1312545"/>
            <a:ext cx="6629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2157"/>
            <a:ext cx="10515600" cy="602973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sym typeface="+mn-ea"/>
              </a:rPr>
              <a:t>异或运算符（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^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）</a:t>
            </a:r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835" y="1270635"/>
            <a:ext cx="9900920" cy="43224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06475" y="501015"/>
            <a:ext cx="94005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/>
              <a:t>取反运算符</a:t>
            </a:r>
            <a:r>
              <a:rPr lang="en-US" altLang="zh-CN" sz="2400"/>
              <a:t>(~)</a:t>
            </a:r>
            <a:endParaRPr lang="en-US" altLang="zh-CN" sz="2400"/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67410" y="1588770"/>
            <a:ext cx="9891395" cy="39287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2400">
                <a:ea typeface="+mj-lt"/>
                <a:cs typeface="+mj-lt"/>
              </a:rPr>
              <a:t>左移运算符</a:t>
            </a:r>
            <a:r>
              <a:rPr lang="en-US" altLang="zh-CN" sz="2400">
                <a:ea typeface="+mj-lt"/>
                <a:cs typeface="+mj-lt"/>
              </a:rPr>
              <a:t>(&lt;&lt;)</a:t>
            </a:r>
            <a:endParaRPr lang="en-US" altLang="zh-CN" sz="2400">
              <a:ea typeface="+mj-lt"/>
              <a:cs typeface="+mj-lt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65555" y="2233930"/>
            <a:ext cx="9315450" cy="25711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10515601" cy="603462"/>
          </a:xfrm>
        </p:spPr>
        <p:txBody>
          <a:bodyPr>
            <a:noAutofit/>
          </a:bodyPr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右移运算符</a:t>
            </a:r>
            <a:r>
              <a:rPr lang="en-US" altLang="zh-CN" sz="2400" dirty="0">
                <a:solidFill>
                  <a:schemeClr val="tx1"/>
                </a:solidFill>
              </a:rPr>
              <a:t>(&gt;&gt;)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60780" y="2012950"/>
            <a:ext cx="10276205" cy="27978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4927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复合赋值运算符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47165" y="1427480"/>
            <a:ext cx="9296400" cy="39795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762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快速幂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r>
              <a:rPr lang="en-US" altLang="zh-CN"/>
              <a:t>csdn</a:t>
            </a:r>
            <a:r>
              <a:rPr lang="zh-CN" altLang="en-US"/>
              <a:t>搜索</a:t>
            </a:r>
            <a:endParaRPr lang="zh-CN" altLang="en-US"/>
          </a:p>
          <a:p>
            <a:r>
              <a:rPr lang="zh-CN" altLang="en-US"/>
              <a:t>快速幂算法（全网最详细地带你从零开始一步一步优化）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r>
              <a:rPr lang="zh-CN" altLang="en-US"/>
              <a:t>正常求幂运算，结果随着指数的递增，会呈爆炸性的增长，程序设计语言中</a:t>
            </a:r>
            <a:r>
              <a:rPr lang="en-US" altLang="zh-CN"/>
              <a:t>long long </a:t>
            </a:r>
            <a:r>
              <a:rPr lang="zh-CN" altLang="en-US"/>
              <a:t>类型也无法承载这么大的数值，一般题目才不会要求你输出结果，因为结果可能会非常的大，大到没有任何类型可以承载。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939925"/>
            <a:ext cx="9144000" cy="3051810"/>
          </a:xfrm>
        </p:spPr>
        <p:txBody>
          <a:bodyPr>
            <a:normAutofit/>
          </a:bodyPr>
          <a:p>
            <a:r>
              <a:rPr lang="zh-CN" altLang="en-US" sz="4400"/>
              <a:t>取模运算</a:t>
            </a:r>
            <a:r>
              <a:rPr lang="en-US" altLang="zh-CN" sz="4400"/>
              <a:t>-&gt;</a:t>
            </a:r>
            <a:r>
              <a:rPr lang="zh-CN" altLang="en-US" sz="4400"/>
              <a:t>缩指数操作</a:t>
            </a:r>
            <a:r>
              <a:rPr lang="en-US" altLang="zh-CN" sz="4400"/>
              <a:t>-&gt;if else </a:t>
            </a:r>
            <a:r>
              <a:rPr lang="zh-CN" altLang="en-US" sz="4400"/>
              <a:t>代码块优化</a:t>
            </a:r>
            <a:r>
              <a:rPr lang="en-US" altLang="zh-CN" sz="4400"/>
              <a:t>-&gt;</a:t>
            </a:r>
            <a:r>
              <a:rPr lang="zh-CN" altLang="en-US" sz="4400"/>
              <a:t>位运算优化</a:t>
            </a:r>
            <a:endParaRPr lang="zh-CN" altLang="en-US" sz="440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1524000" y="1102995"/>
            <a:ext cx="9144000" cy="1212850"/>
          </a:xfrm>
        </p:spPr>
        <p:txBody>
          <a:bodyPr/>
          <a:p>
            <a:r>
              <a:rPr lang="zh-CN" altLang="en-US"/>
              <a:t>优化思路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579"/>
          </a:xfrm>
        </p:spPr>
        <p:txBody>
          <a:bodyPr>
            <a:normAutofit/>
          </a:bodyPr>
          <a:lstStyle/>
          <a:p>
            <a:pPr algn="ctr"/>
            <a:r>
              <a:rPr lang="en-US" altLang="zh-CN" sz="2400" dirty="0"/>
              <a:t>sort</a:t>
            </a:r>
            <a:r>
              <a:rPr lang="zh-CN" altLang="en-US" sz="2400" dirty="0"/>
              <a:t>排序</a:t>
            </a:r>
            <a:endParaRPr lang="zh-CN" altLang="en-US" sz="2400" dirty="0"/>
          </a:p>
        </p:txBody>
      </p:sp>
      <p:sp>
        <p:nvSpPr>
          <p:cNvPr id="3" name="内容占位符 2"/>
          <p:cNvSpPr/>
          <p:nvPr>
            <p:ph idx="1"/>
          </p:nvPr>
        </p:nvSpPr>
        <p:spPr>
          <a:xfrm>
            <a:off x="838200" y="1472565"/>
            <a:ext cx="10515600" cy="4704715"/>
          </a:xfrm>
        </p:spPr>
        <p:txBody>
          <a:bodyPr/>
          <a:p>
            <a:r>
              <a:rPr lang="zh-CN" altLang="en-US"/>
              <a:t>sort函数用于C++中，对给定区间所有元素进行排序，</a:t>
            </a:r>
            <a:r>
              <a:rPr lang="zh-CN" altLang="en-US">
                <a:solidFill>
                  <a:srgbClr val="FF0000"/>
                </a:solidFill>
              </a:rPr>
              <a:t>默认为升序，也可进行降序排序</a:t>
            </a:r>
            <a:r>
              <a:rPr lang="zh-CN" altLang="en-US"/>
              <a:t>。sort函数进行排序的时间复杂度为n*log2n，比冒泡之类的排序算法效率要高</a:t>
            </a:r>
            <a:r>
              <a:rPr lang="en-US" altLang="zh-CN"/>
              <a:t>.</a:t>
            </a:r>
            <a:endParaRPr lang="en-US" altLang="zh-CN"/>
          </a:p>
          <a:p>
            <a:r>
              <a:rPr lang="zh-CN" altLang="en-US"/>
              <a:t>sort函数包含在头文件为#include&lt;algorithm&gt;的c++标准库中</a:t>
            </a:r>
            <a:endParaRPr lang="zh-CN" altLang="en-US"/>
          </a:p>
          <a:p>
            <a:r>
              <a:rPr lang="zh-CN" altLang="en-US"/>
              <a:t>使用方式</a:t>
            </a:r>
            <a:endParaRPr lang="zh-CN" altLang="en-US"/>
          </a:p>
          <a:p>
            <a:pPr lvl="1"/>
            <a:r>
              <a:rPr lang="en-US" altLang="zh-CN"/>
              <a:t>sort(</a:t>
            </a:r>
            <a:r>
              <a:rPr lang="zh-CN" altLang="en-US"/>
              <a:t>首元素地址（必填）</a:t>
            </a:r>
            <a:r>
              <a:rPr lang="en-US" altLang="zh-CN"/>
              <a:t>,</a:t>
            </a:r>
            <a:r>
              <a:rPr lang="zh-CN" altLang="en-US"/>
              <a:t>尾元素地址的下一个地址（必填），比较函数（非必填）</a:t>
            </a:r>
            <a:r>
              <a:rPr lang="en-US" altLang="zh-CN"/>
              <a:t>);</a:t>
            </a:r>
            <a:endParaRPr lang="en-US" altLang="zh-CN"/>
          </a:p>
          <a:p>
            <a:pPr lvl="1"/>
            <a:r>
              <a:rPr lang="zh-CN" altLang="en-US"/>
              <a:t>例如：给</a:t>
            </a:r>
            <a:r>
              <a:rPr lang="en-US" altLang="zh-CN"/>
              <a:t>a</a:t>
            </a:r>
            <a:r>
              <a:rPr lang="zh-CN" altLang="en-US"/>
              <a:t>数组排序，</a:t>
            </a:r>
            <a:r>
              <a:rPr lang="en-US" altLang="zh-CN"/>
              <a:t>a</a:t>
            </a:r>
            <a:r>
              <a:rPr lang="zh-CN" altLang="en-US"/>
              <a:t>数组中的元素从下标</a:t>
            </a:r>
            <a:r>
              <a:rPr lang="en-US" altLang="zh-CN"/>
              <a:t>0</a:t>
            </a:r>
            <a:r>
              <a:rPr lang="zh-CN" altLang="en-US"/>
              <a:t>开始</a:t>
            </a:r>
            <a:r>
              <a:rPr lang="en-US" altLang="zh-CN"/>
              <a:t>,</a:t>
            </a:r>
            <a:r>
              <a:rPr lang="zh-CN" altLang="en-US"/>
              <a:t>共有</a:t>
            </a:r>
            <a:r>
              <a:rPr lang="en-US" altLang="zh-CN"/>
              <a:t>n</a:t>
            </a:r>
            <a:r>
              <a:rPr lang="zh-CN" altLang="en-US"/>
              <a:t>个数</a:t>
            </a:r>
            <a:endParaRPr lang="zh-CN" altLang="en-US"/>
          </a:p>
          <a:p>
            <a:pPr lvl="1"/>
            <a:r>
              <a:rPr lang="en-US" altLang="zh-CN"/>
              <a:t>sort(a,a+n);</a:t>
            </a:r>
            <a:endParaRPr lang="en-US" altLang="zh-CN"/>
          </a:p>
          <a:p>
            <a:pPr lvl="1"/>
            <a:r>
              <a:rPr lang="zh-CN" altLang="en-US"/>
              <a:t>下标从</a:t>
            </a:r>
            <a:r>
              <a:rPr lang="en-US" altLang="zh-CN"/>
              <a:t>1</a:t>
            </a:r>
            <a:r>
              <a:rPr lang="zh-CN" altLang="en-US"/>
              <a:t>开始，共有</a:t>
            </a:r>
            <a:r>
              <a:rPr lang="en-US" altLang="zh-CN"/>
              <a:t>n</a:t>
            </a:r>
            <a:r>
              <a:rPr lang="zh-CN" altLang="en-US"/>
              <a:t>个数，</a:t>
            </a:r>
            <a:r>
              <a:rPr lang="en-US" altLang="zh-CN"/>
              <a:t>sort(a+1,a+n);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505" y="550545"/>
            <a:ext cx="9832340" cy="55822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065" y="326390"/>
            <a:ext cx="10348595" cy="57238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2090" y="548640"/>
            <a:ext cx="92278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710" y="476250"/>
            <a:ext cx="9212580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76200"/>
          </a:xfrm>
        </p:spPr>
        <p:txBody>
          <a:bodyPr/>
          <a:p>
            <a:r>
              <a:rPr lang="en-US" altLang="zh-CN" sz="2400"/>
              <a:t>cmp</a:t>
            </a:r>
            <a:r>
              <a:rPr lang="zh-CN" altLang="en-US" sz="2400"/>
              <a:t>的应用</a:t>
            </a:r>
            <a:endParaRPr lang="zh-CN" altLang="en-US" sz="24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095" y="1371600"/>
            <a:ext cx="9817100" cy="46081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518795"/>
            <a:ext cx="9144000" cy="292100"/>
          </a:xfrm>
        </p:spPr>
        <p:txBody>
          <a:bodyPr>
            <a:normAutofit fontScale="90000"/>
          </a:bodyPr>
          <a:p>
            <a:r>
              <a:rPr lang="zh-CN" altLang="en-US" sz="2400"/>
              <a:t>容器的排序</a:t>
            </a:r>
            <a:endParaRPr lang="zh-CN" altLang="en-US" sz="24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8420" y="973455"/>
            <a:ext cx="9373870" cy="53816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221615"/>
          </a:xfrm>
        </p:spPr>
        <p:txBody>
          <a:bodyPr>
            <a:normAutofit fontScale="90000"/>
          </a:bodyPr>
          <a:p>
            <a:r>
              <a:rPr lang="zh-CN" altLang="en-US" sz="2400">
                <a:sym typeface="+mn-ea"/>
              </a:rPr>
              <a:t>容器的排序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840740"/>
            <a:ext cx="9487535" cy="55479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311785"/>
          </a:xfrm>
        </p:spPr>
        <p:txBody>
          <a:bodyPr>
            <a:normAutofit fontScale="90000"/>
          </a:bodyPr>
          <a:p>
            <a:r>
              <a:rPr lang="zh-CN" altLang="en-US" sz="2400">
                <a:sym typeface="+mn-ea"/>
              </a:rPr>
              <a:t>容器的排序</a:t>
            </a:r>
            <a:br>
              <a:rPr lang="zh-CN" altLang="en-US" sz="2400"/>
            </a:br>
            <a:endParaRPr lang="zh-CN" altLang="en-US" sz="24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280" y="1615440"/>
            <a:ext cx="9858375" cy="461454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</Words>
  <Application>WPS 演示</Application>
  <PresentationFormat>宽屏</PresentationFormat>
  <Paragraphs>60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</vt:lpstr>
      <vt:lpstr>宋体</vt:lpstr>
      <vt:lpstr>Wingdings</vt:lpstr>
      <vt:lpstr>PingFang SC</vt:lpstr>
      <vt:lpstr>Segoe Print</vt:lpstr>
      <vt:lpstr>等线 Light</vt:lpstr>
      <vt:lpstr>等线</vt:lpstr>
      <vt:lpstr>微软雅黑</vt:lpstr>
      <vt:lpstr>Arial Unicode MS</vt:lpstr>
      <vt:lpstr>Calibri</vt:lpstr>
      <vt:lpstr>Office 主题​​</vt:lpstr>
      <vt:lpstr>位运算 快速幂 sort </vt:lpstr>
      <vt:lpstr>位运算概述</vt:lpstr>
      <vt:lpstr>二进制</vt:lpstr>
      <vt:lpstr>二进制</vt:lpstr>
      <vt:lpstr>位运算概览 </vt:lpstr>
      <vt:lpstr>与运算符（&amp;）</vt:lpstr>
      <vt:lpstr>按位或运算符（ | ） </vt:lpstr>
      <vt:lpstr>异或运算符（^） </vt:lpstr>
      <vt:lpstr>异或运算符（^）</vt:lpstr>
      <vt:lpstr>PowerPoint 演示文稿</vt:lpstr>
      <vt:lpstr>左移运算符(&lt;&lt;)</vt:lpstr>
      <vt:lpstr>右移运算符(&gt;&gt;)</vt:lpstr>
      <vt:lpstr>复合赋值运算符</vt:lpstr>
      <vt:lpstr>快速幂</vt:lpstr>
      <vt:lpstr>取模运算-&gt;缩指数操作-&gt;if else 代码块优化-&gt;位运算优化</vt:lpstr>
      <vt:lpstr>sort排序</vt:lpstr>
      <vt:lpstr>PowerPoint 演示文稿</vt:lpstr>
      <vt:lpstr>PowerPoint 演示文稿</vt:lpstr>
      <vt:lpstr>PowerPoint 演示文稿</vt:lpstr>
      <vt:lpstr>PowerPoint 演示文稿</vt:lpstr>
      <vt:lpstr>cmp的应用</vt:lpstr>
      <vt:lpstr>容器的排序</vt:lpstr>
      <vt:lpstr>容器的排序 </vt:lpstr>
      <vt:lpstr>容器的排序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前缀和与差分算法 </dc:title>
  <dc:creator>云哥</dc:creator>
  <cp:lastModifiedBy>不吃早餐</cp:lastModifiedBy>
  <cp:revision>5</cp:revision>
  <dcterms:created xsi:type="dcterms:W3CDTF">2022-10-23T03:35:00Z</dcterms:created>
  <dcterms:modified xsi:type="dcterms:W3CDTF">2022-10-29T14:20:19Z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2052-11.1.0.9192</vt:lpwstr>
  </property>
</Properties>
</file>